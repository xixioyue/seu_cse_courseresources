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4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notesSlides/notesSlide5.xml" ContentType="application/vnd.openxmlformats-officedocument.presentationml.notesSlide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74.xml" ContentType="application/vnd.openxmlformats-officedocument.presentationml.tags+xml"/>
  <Override PartName="/ppt/notesSlides/notesSlide10.xml" ContentType="application/vnd.openxmlformats-officedocument.presentationml.notesSlide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80.xml" ContentType="application/vnd.openxmlformats-officedocument.presentationml.tags+xml"/>
  <Override PartName="/ppt/notesSlides/notesSlide15.xml" ContentType="application/vnd.openxmlformats-officedocument.presentationml.notesSlide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notesSlides/notesSlide16.xml" ContentType="application/vnd.openxmlformats-officedocument.presentationml.notesSlide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notesSlides/notesSlide17.xml" ContentType="application/vnd.openxmlformats-officedocument.presentationml.notesSlide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notesSlides/notesSlide18.xml" ContentType="application/vnd.openxmlformats-officedocument.presentationml.notesSlide+xml"/>
  <Override PartName="/ppt/tags/tag391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392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notesSlides/notesSlide27.xml" ContentType="application/vnd.openxmlformats-officedocument.presentationml.notesSlide+xml"/>
  <Override PartName="/ppt/tags/tag395.xml" ContentType="application/vnd.openxmlformats-officedocument.presentationml.tags+xml"/>
  <Override PartName="/ppt/notesSlides/notesSlide28.xml" ContentType="application/vnd.openxmlformats-officedocument.presentationml.notesSlide+xml"/>
  <Override PartName="/ppt/tags/tag396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397.xml" ContentType="application/vnd.openxmlformats-officedocument.presentationml.tag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256" r:id="rId2"/>
    <p:sldId id="436" r:id="rId3"/>
    <p:sldId id="437" r:id="rId4"/>
    <p:sldId id="479" r:id="rId5"/>
    <p:sldId id="519" r:id="rId6"/>
    <p:sldId id="520" r:id="rId7"/>
    <p:sldId id="521" r:id="rId8"/>
    <p:sldId id="258" r:id="rId9"/>
    <p:sldId id="441" r:id="rId10"/>
    <p:sldId id="461" r:id="rId11"/>
    <p:sldId id="443" r:id="rId12"/>
    <p:sldId id="478" r:id="rId13"/>
    <p:sldId id="410" r:id="rId14"/>
    <p:sldId id="445" r:id="rId15"/>
    <p:sldId id="414" r:id="rId16"/>
    <p:sldId id="415" r:id="rId17"/>
    <p:sldId id="417" r:id="rId18"/>
    <p:sldId id="384" r:id="rId19"/>
    <p:sldId id="351" r:id="rId20"/>
    <p:sldId id="357" r:id="rId21"/>
    <p:sldId id="447" r:id="rId22"/>
    <p:sldId id="448" r:id="rId23"/>
    <p:sldId id="522" r:id="rId24"/>
    <p:sldId id="471" r:id="rId25"/>
    <p:sldId id="472" r:id="rId26"/>
    <p:sldId id="481" r:id="rId27"/>
    <p:sldId id="482" r:id="rId28"/>
    <p:sldId id="444" r:id="rId29"/>
    <p:sldId id="345" r:id="rId30"/>
    <p:sldId id="449" r:id="rId31"/>
    <p:sldId id="450" r:id="rId32"/>
    <p:sldId id="452" r:id="rId33"/>
    <p:sldId id="385" r:id="rId34"/>
    <p:sldId id="451" r:id="rId35"/>
    <p:sldId id="473" r:id="rId36"/>
    <p:sldId id="423" r:id="rId37"/>
    <p:sldId id="424" r:id="rId38"/>
    <p:sldId id="425" r:id="rId39"/>
    <p:sldId id="426" r:id="rId40"/>
    <p:sldId id="434" r:id="rId41"/>
    <p:sldId id="427" r:id="rId42"/>
    <p:sldId id="474" r:id="rId43"/>
    <p:sldId id="428" r:id="rId44"/>
    <p:sldId id="365" r:id="rId45"/>
    <p:sldId id="477" r:id="rId46"/>
    <p:sldId id="470" r:id="rId47"/>
    <p:sldId id="518" r:id="rId48"/>
    <p:sldId id="485" r:id="rId49"/>
  </p:sldIdLst>
  <p:sldSz cx="9144000" cy="6858000" type="screen4x3"/>
  <p:notesSz cx="6858000" cy="9144000"/>
  <p:custDataLst>
    <p:tags r:id="rId5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99"/>
    <a:srgbClr val="CCFFFF"/>
    <a:srgbClr val="CCCCFF"/>
    <a:srgbClr val="CCECFF"/>
    <a:srgbClr val="99CCFF"/>
    <a:srgbClr val="FF3399"/>
    <a:srgbClr val="FFCCFF"/>
    <a:srgbClr val="CC99FF"/>
    <a:srgbClr val="FFCC99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25" autoAdjust="0"/>
    <p:restoredTop sz="88500" autoAdjust="0"/>
  </p:normalViewPr>
  <p:slideViewPr>
    <p:cSldViewPr showGuides="1">
      <p:cViewPr varScale="1">
        <p:scale>
          <a:sx n="83" d="100"/>
          <a:sy n="83" d="100"/>
        </p:scale>
        <p:origin x="1328" y="68"/>
      </p:cViewPr>
      <p:guideLst>
        <p:guide orient="horz" pos="213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91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91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B9C60E3C-46FB-46DC-BD8E-DECE327E31D9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064FB4F7-8A2D-4878-9281-C3C2BF0373C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缓冲器</a:t>
            </a:r>
            <a:r>
              <a:rPr lang="en-US" altLang="zh-CN" dirty="0"/>
              <a:t>—</a:t>
            </a:r>
            <a:r>
              <a:rPr lang="zh-CN" altLang="en-US" dirty="0"/>
              <a:t>将弱逻辑型号转换为强逻辑型号的电路</a:t>
            </a:r>
            <a:endParaRPr lang="en-US" altLang="zh-CN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三态门</a:t>
            </a:r>
            <a:r>
              <a:rPr lang="en-US" altLang="zh-CN" dirty="0"/>
              <a:t>—</a:t>
            </a:r>
            <a:r>
              <a:rPr lang="zh-CN" altLang="en-US" dirty="0"/>
              <a:t>三态接口电路，仅用于数字信号的传输控制</a:t>
            </a:r>
            <a:endParaRPr lang="en-US" altLang="zh-CN" dirty="0"/>
          </a:p>
          <a:p>
            <a:r>
              <a:rPr lang="zh-CN" altLang="en-US" dirty="0"/>
              <a:t>传输门</a:t>
            </a:r>
            <a:r>
              <a:rPr lang="en-US" altLang="zh-CN" dirty="0"/>
              <a:t>—</a:t>
            </a:r>
            <a:r>
              <a:rPr lang="zh-CN" altLang="en-US" dirty="0"/>
              <a:t>逻辑控制开关，可用于模拟信号及数字信号的传输控制</a:t>
            </a:r>
            <a:endParaRPr lang="en-US" altLang="zh-CN" dirty="0"/>
          </a:p>
          <a:p>
            <a:r>
              <a:rPr lang="en-US" altLang="zh-CN" dirty="0"/>
              <a:t>JK/T</a:t>
            </a:r>
            <a:r>
              <a:rPr lang="zh-CN" altLang="en-US" dirty="0"/>
              <a:t>触发器</a:t>
            </a:r>
            <a:r>
              <a:rPr lang="en-US" altLang="zh-CN" dirty="0"/>
              <a:t>—</a:t>
            </a:r>
            <a:r>
              <a:rPr lang="zh-CN" altLang="en-US" dirty="0"/>
              <a:t>用于</a:t>
            </a:r>
            <a:r>
              <a:rPr lang="en-US" altLang="zh-CN" dirty="0" err="1"/>
              <a:t>Qn</a:t>
            </a:r>
            <a:r>
              <a:rPr lang="zh-CN" altLang="en-US" dirty="0"/>
              <a:t>状态翻转（</a:t>
            </a:r>
            <a:r>
              <a:rPr lang="en-US" altLang="zh-CN" dirty="0"/>
              <a:t>JK=11</a:t>
            </a:r>
            <a:r>
              <a:rPr lang="zh-CN" altLang="en-US" dirty="0"/>
              <a:t>、</a:t>
            </a:r>
            <a:r>
              <a:rPr lang="en-US" altLang="zh-CN" dirty="0"/>
              <a:t>T=1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(1)</a:t>
            </a:r>
            <a:r>
              <a:rPr lang="zh-CN" altLang="en-US" dirty="0"/>
              <a:t>与门</a:t>
            </a:r>
            <a:r>
              <a:rPr lang="en-US" altLang="zh-CN" dirty="0"/>
              <a:t>+</a:t>
            </a:r>
            <a:r>
              <a:rPr lang="zh-CN" altLang="en-US" dirty="0"/>
              <a:t>选择器    </a:t>
            </a:r>
            <a:r>
              <a:rPr lang="en-US" altLang="zh-CN" dirty="0"/>
              <a:t>(2)4</a:t>
            </a:r>
            <a:r>
              <a:rPr lang="zh-CN" altLang="en-US" dirty="0"/>
              <a:t>各配对逻辑电路</a:t>
            </a:r>
            <a:r>
              <a:rPr lang="en-US" altLang="zh-CN" dirty="0"/>
              <a:t>+</a:t>
            </a:r>
            <a:r>
              <a:rPr lang="zh-CN" altLang="en-US" dirty="0"/>
              <a:t>选择器，</a:t>
            </a:r>
            <a:r>
              <a:rPr lang="en-US" altLang="zh-CN" dirty="0"/>
              <a:t>Y1Y0=00-11</a:t>
            </a:r>
            <a:r>
              <a:rPr lang="zh-CN" altLang="en-US" dirty="0"/>
              <a:t>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8988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思考</a:t>
            </a:r>
            <a:r>
              <a:rPr lang="en-US" altLang="zh-CN" dirty="0"/>
              <a:t>—</a:t>
            </a:r>
            <a:r>
              <a:rPr lang="zh-CN" altLang="en-US" sz="1200" b="0" dirty="0">
                <a:solidFill>
                  <a:schemeClr val="tx1"/>
                </a:solidFill>
                <a:latin typeface="+mn-ea"/>
                <a:ea typeface="+mn-ea"/>
              </a:rPr>
              <a:t>摩尔型的输出</a:t>
            </a:r>
            <a:r>
              <a:rPr lang="en-US" altLang="zh-CN" sz="1200" b="0" dirty="0">
                <a:solidFill>
                  <a:schemeClr val="tx1"/>
                </a:solidFill>
                <a:latin typeface="+mn-ea"/>
                <a:ea typeface="+mn-ea"/>
              </a:rPr>
              <a:t>=F(</a:t>
            </a:r>
            <a:r>
              <a:rPr lang="zh-CN" altLang="en-US" sz="1200" b="0" dirty="0">
                <a:solidFill>
                  <a:schemeClr val="tx1"/>
                </a:solidFill>
                <a:latin typeface="+mn-ea"/>
                <a:ea typeface="+mn-ea"/>
              </a:rPr>
              <a:t>当前状态</a:t>
            </a:r>
            <a:r>
              <a:rPr lang="en-US" altLang="zh-CN" sz="1200" b="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1200" b="0" dirty="0">
                <a:solidFill>
                  <a:schemeClr val="tx1"/>
                </a:solidFill>
                <a:latin typeface="+mn-ea"/>
                <a:ea typeface="+mn-ea"/>
              </a:rPr>
              <a:t>，保持</a:t>
            </a:r>
            <a:r>
              <a:rPr lang="en-US" altLang="zh-CN" sz="1200" b="0" dirty="0">
                <a:solidFill>
                  <a:schemeClr val="tx1"/>
                </a:solidFill>
                <a:latin typeface="+mn-ea"/>
                <a:ea typeface="+mn-ea"/>
              </a:rPr>
              <a:t>=</a:t>
            </a:r>
            <a:r>
              <a:rPr lang="zh-CN" altLang="en-US" sz="1200" b="0" dirty="0">
                <a:solidFill>
                  <a:schemeClr val="tx1"/>
                </a:solidFill>
                <a:latin typeface="+mn-ea"/>
                <a:ea typeface="+mn-ea"/>
              </a:rPr>
              <a:t>读出</a:t>
            </a:r>
            <a:endParaRPr lang="en-US" altLang="zh-CN" sz="1400" b="0" dirty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9909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学时（</a:t>
            </a:r>
            <a:r>
              <a:rPr lang="en-US" altLang="zh-CN" dirty="0"/>
              <a:t>1.1-1.3</a:t>
            </a:r>
            <a:r>
              <a:rPr lang="zh-CN" altLang="en-US" dirty="0"/>
              <a:t>），</a:t>
            </a:r>
            <a:r>
              <a:rPr lang="en-US" altLang="zh-CN" dirty="0"/>
              <a:t>2</a:t>
            </a:r>
            <a:r>
              <a:rPr lang="zh-CN" altLang="en-US" dirty="0"/>
              <a:t>学时（</a:t>
            </a:r>
            <a:r>
              <a:rPr lang="en-US" altLang="zh-CN" dirty="0"/>
              <a:t>1.4-1.5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考核的层次：识记、领会、简单应用、综合应用</a:t>
            </a:r>
            <a:endParaRPr lang="en-US" altLang="zh-CN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</a:t>
            </a:r>
            <a:r>
              <a:rPr lang="zh-CN" altLang="en-US" dirty="0"/>
              <a:t>学时（模型</a:t>
            </a:r>
            <a:r>
              <a:rPr lang="en-US" altLang="zh-CN" dirty="0"/>
              <a:t>+</a:t>
            </a:r>
            <a:r>
              <a:rPr lang="zh-CN" altLang="en-US" dirty="0"/>
              <a:t>组成之部件组成），</a:t>
            </a:r>
            <a:r>
              <a:rPr lang="en-US" altLang="zh-CN" dirty="0"/>
              <a:t>3</a:t>
            </a:r>
            <a:r>
              <a:rPr lang="zh-CN" altLang="en-US"/>
              <a:t>学时（部件互连、工作过程、性能指标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引子：</a:t>
            </a:r>
            <a:r>
              <a:rPr lang="zh-CN" altLang="en-US" b="0" dirty="0">
                <a:latin typeface="宋体" panose="02010600030101010101" pitchFamily="2" charset="-122"/>
              </a:rPr>
              <a:t>数据处理、数据传送</a:t>
            </a:r>
            <a:r>
              <a:rPr lang="zh-CN" altLang="en-US" b="0" dirty="0">
                <a:latin typeface="宋体" panose="02010600030101010101" pitchFamily="2" charset="-122"/>
                <a:sym typeface="+mn-ea"/>
              </a:rPr>
              <a:t>、数据存储</a:t>
            </a:r>
            <a:r>
              <a:rPr lang="zh-CN" altLang="en-US" b="0" dirty="0">
                <a:latin typeface="宋体" panose="02010600030101010101" pitchFamily="2" charset="-122"/>
              </a:rPr>
              <a:t>、执行用户编制的程序，数据处理。</a:t>
            </a:r>
            <a:endParaRPr lang="en-US" altLang="zh-CN" dirty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ENIAC</a:t>
            </a:r>
            <a:r>
              <a:rPr lang="zh-CN" altLang="en-US" dirty="0"/>
              <a:t>：用改变开关及连线来编程，用打孔卡片</a:t>
            </a:r>
            <a:r>
              <a:rPr lang="en-US" altLang="zh-CN" dirty="0"/>
              <a:t>I/O</a:t>
            </a:r>
            <a:r>
              <a:rPr lang="zh-CN" altLang="en-US" dirty="0"/>
              <a:t>数据。</a:t>
            </a:r>
          </a:p>
          <a:p>
            <a:r>
              <a:rPr lang="zh-CN" altLang="en-US" b="0" dirty="0"/>
              <a:t>微型机特征为</a:t>
            </a:r>
            <a:r>
              <a:rPr lang="zh-CN" altLang="en-US" sz="1200" b="0" dirty="0">
                <a:latin typeface="宋体" panose="02010600030101010101" pitchFamily="2" charset="-122"/>
              </a:rPr>
              <a:t>微型化、网络化、智能化，大型机特征为巨型化、并行化、超高速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龙芯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CPU—MIPS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架构、扩展的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MIPS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指令集，中科院计算所，多用于政府、部队；  </a:t>
            </a:r>
            <a:r>
              <a:rPr lang="zh-CN" altLang="en-US" dirty="0"/>
              <a:t>申威</a:t>
            </a:r>
            <a:r>
              <a:rPr lang="en-US" altLang="zh-CN" dirty="0"/>
              <a:t>CPU--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Alpha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架构、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SW64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指令集，总参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56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所，机型有神威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·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太湖之光；</a:t>
            </a:r>
            <a:endParaRPr kumimoji="1" lang="en-US" altLang="zh-CN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鲲鹏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—ARMv8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授权，华为；  飞腾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—ARM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指令集，国防科大，天河系列计算机；</a:t>
            </a:r>
            <a:endParaRPr kumimoji="1" lang="en-US" altLang="zh-CN" sz="1200" b="0" i="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兆芯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—x86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架构授权，上海兆芯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C367B03-4102-4474-B271-9EE7854CDE25}" type="slidenum">
              <a:rPr lang="en-US" altLang="zh-CN"/>
              <a:t>13</a:t>
            </a:fld>
            <a:endParaRPr lang="en-US" altLang="zh-CN"/>
          </a:p>
        </p:txBody>
      </p:sp>
      <p:sp>
        <p:nvSpPr>
          <p:cNvPr id="249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9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部件功能：运算器</a:t>
            </a:r>
            <a:r>
              <a:rPr lang="en-US" altLang="zh-CN" dirty="0"/>
              <a:t>—</a:t>
            </a:r>
            <a:r>
              <a:rPr lang="zh-CN" altLang="en-US" dirty="0"/>
              <a:t>进行算术</a:t>
            </a:r>
            <a:r>
              <a:rPr lang="en-US" altLang="zh-CN" dirty="0"/>
              <a:t>/</a:t>
            </a:r>
            <a:r>
              <a:rPr lang="zh-CN" altLang="en-US" dirty="0"/>
              <a:t>逻辑运算；存储器</a:t>
            </a:r>
            <a:r>
              <a:rPr lang="en-US" altLang="zh-CN" dirty="0"/>
              <a:t>—</a:t>
            </a:r>
            <a:r>
              <a:rPr lang="zh-CN" altLang="en-US" dirty="0"/>
              <a:t>存储程序和数据；控制器</a:t>
            </a:r>
            <a:r>
              <a:rPr lang="en-US" altLang="zh-CN" dirty="0"/>
              <a:t>—</a:t>
            </a:r>
            <a:r>
              <a:rPr lang="zh-CN" altLang="en-US" dirty="0"/>
              <a:t>控制程序执行过程</a:t>
            </a:r>
            <a:r>
              <a:rPr lang="en-US" altLang="zh-CN" dirty="0"/>
              <a:t>(</a:t>
            </a:r>
            <a:r>
              <a:rPr lang="zh-CN" altLang="en-US" dirty="0"/>
              <a:t>各部件自动、协调地工作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</a:p>
          <a:p>
            <a:r>
              <a:rPr lang="zh-CN" altLang="en-US" dirty="0"/>
              <a:t>                 输入设备</a:t>
            </a:r>
            <a:r>
              <a:rPr lang="en-US" altLang="zh-CN" dirty="0"/>
              <a:t>—</a:t>
            </a:r>
            <a:r>
              <a:rPr lang="zh-CN" altLang="en-US" dirty="0"/>
              <a:t>将外部信息形式→机器内部信息形式；输出设备</a:t>
            </a:r>
            <a:r>
              <a:rPr lang="en-US" altLang="zh-CN" dirty="0"/>
              <a:t>—</a:t>
            </a:r>
            <a:r>
              <a:rPr lang="zh-CN" altLang="en-US" dirty="0"/>
              <a:t>将机器内部信息形式→外部信息形式</a:t>
            </a:r>
            <a:endParaRPr lang="en-US" altLang="zh-CN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有跳转型指令的原因：计算机具有逻辑判断功能，执行顺序会变化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P10-</a:t>
            </a:r>
            <a:r>
              <a:rPr lang="zh-CN" altLang="en-US" dirty="0"/>
              <a:t>看</a:t>
            </a:r>
            <a:r>
              <a:rPr lang="en-US" altLang="zh-CN" dirty="0"/>
              <a:t>ENIAC</a:t>
            </a:r>
            <a:r>
              <a:rPr lang="zh-CN" altLang="en-US" dirty="0"/>
              <a:t>编程方式</a:t>
            </a:r>
            <a:r>
              <a:rPr lang="en-US" altLang="zh-CN" dirty="0"/>
              <a:t>(</a:t>
            </a:r>
            <a:r>
              <a:rPr lang="zh-CN" altLang="en-US" dirty="0"/>
              <a:t>改变开关及连线</a:t>
            </a:r>
            <a:r>
              <a:rPr lang="en-US" altLang="zh-CN" dirty="0"/>
              <a:t>)</a:t>
            </a:r>
            <a:r>
              <a:rPr lang="zh-CN" altLang="en-US" dirty="0"/>
              <a:t>，放在存储器中好处：编程时卡片打孔，执行时访问电子部件</a:t>
            </a:r>
            <a:r>
              <a:rPr lang="en-US" altLang="zh-CN" dirty="0"/>
              <a:t>(</a:t>
            </a:r>
            <a:r>
              <a:rPr lang="zh-CN" altLang="en-US" dirty="0"/>
              <a:t>原来为机械部件</a:t>
            </a:r>
            <a:r>
              <a:rPr lang="en-US" altLang="zh-CN" dirty="0"/>
              <a:t>)</a:t>
            </a:r>
            <a:endParaRPr lang="zh-CN" altLang="en-US" dirty="0"/>
          </a:p>
          <a:p>
            <a:r>
              <a:rPr lang="zh-CN" altLang="en-US" dirty="0"/>
              <a:t>思考①：指令存放部件与执行部件不同</a:t>
            </a:r>
            <a:r>
              <a:rPr lang="en-US" altLang="zh-CN" dirty="0"/>
              <a:t>(</a:t>
            </a:r>
            <a:r>
              <a:rPr lang="zh-CN" altLang="en-US" dirty="0"/>
              <a:t>上页紫线</a:t>
            </a:r>
            <a:r>
              <a:rPr lang="en-US" altLang="zh-CN" dirty="0"/>
              <a:t>)</a:t>
            </a:r>
            <a:r>
              <a:rPr lang="zh-CN" altLang="en-US" dirty="0"/>
              <a:t>；下条指令地址由当前指令产生</a:t>
            </a:r>
            <a:r>
              <a:rPr lang="en-US" altLang="zh-CN" dirty="0"/>
              <a:t>(</a:t>
            </a:r>
            <a:r>
              <a:rPr lang="zh-CN" altLang="en-US" dirty="0"/>
              <a:t>存在转移型指令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思考②：指令用二进制编码表示、不同部件功能需用不同信号控制来实现，需将编码→某个信号；指令位置用指令地址表示（取指令基于指令地址），下条指令地址由当前指令产生；应为</a:t>
            </a:r>
            <a:r>
              <a:rPr lang="en-US" altLang="zh-CN" dirty="0"/>
              <a:t>MEM</a:t>
            </a:r>
            <a:r>
              <a:rPr lang="zh-CN" altLang="en-US" dirty="0"/>
              <a:t>地址</a:t>
            </a:r>
            <a:r>
              <a:rPr lang="en-US" altLang="zh-CN" dirty="0"/>
              <a:t>(</a:t>
            </a:r>
            <a:r>
              <a:rPr lang="zh-CN" altLang="en-US" dirty="0"/>
              <a:t>程序放在</a:t>
            </a:r>
            <a:r>
              <a:rPr lang="en-US" altLang="zh-CN" dirty="0"/>
              <a:t>MEM</a:t>
            </a:r>
            <a:r>
              <a:rPr lang="zh-CN" altLang="en-US" dirty="0"/>
              <a:t>中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思考③：存储单元长度＝指令及数据的最小值，指令及数据可占多个存储单元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P13-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看运算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-I/O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串行，上页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看程序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MEM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与硬件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MEM(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主存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单元长度相同</a:t>
            </a:r>
            <a:endParaRPr lang="zh-CN" altLang="en-US" dirty="0"/>
          </a:p>
          <a:p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主存（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Main Memory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）、辅存（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Secondary Memory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5D4416FB-565C-4518-B507-5ACB98AB7B93}" type="slidenum">
              <a:rPr lang="en-US" altLang="zh-CN"/>
              <a:t>16</a:t>
            </a:fld>
            <a:endParaRPr lang="en-US" altLang="zh-CN"/>
          </a:p>
        </p:txBody>
      </p:sp>
      <p:sp>
        <p:nvSpPr>
          <p:cNvPr id="286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6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/>
                </a:solidFill>
              </a:rPr>
              <a:t>思考：</a:t>
            </a:r>
            <a:r>
              <a:rPr lang="en-US" altLang="zh-CN" dirty="0">
                <a:solidFill>
                  <a:schemeClr val="accent2"/>
                </a:solidFill>
              </a:rPr>
              <a:t>A</a:t>
            </a:r>
          </a:p>
          <a:p>
            <a:r>
              <a:rPr lang="zh-CN" altLang="en-US" dirty="0">
                <a:solidFill>
                  <a:srgbClr val="990099"/>
                </a:solidFill>
              </a:rPr>
              <a:t>存储字</a:t>
            </a:r>
            <a:r>
              <a:rPr lang="en-US" altLang="zh-CN" dirty="0">
                <a:solidFill>
                  <a:srgbClr val="990099"/>
                </a:solidFill>
              </a:rPr>
              <a:t>—</a:t>
            </a:r>
            <a:r>
              <a:rPr lang="zh-CN" altLang="en-US" u="sng" dirty="0"/>
              <a:t>存储单元</a:t>
            </a:r>
            <a:r>
              <a:rPr lang="zh-CN" altLang="en-US" dirty="0"/>
              <a:t>内存储的二进制编码</a:t>
            </a:r>
            <a:r>
              <a:rPr lang="en-US" altLang="zh-CN" dirty="0"/>
              <a:t>(</a:t>
            </a:r>
            <a:r>
              <a:rPr lang="zh-CN" altLang="en-US" dirty="0"/>
              <a:t>信息内容</a:t>
            </a:r>
            <a:r>
              <a:rPr lang="en-US" altLang="zh-CN" dirty="0"/>
              <a:t>)</a:t>
            </a:r>
            <a:r>
              <a:rPr lang="zh-CN" altLang="en-US" dirty="0"/>
              <a:t>，存储字长</a:t>
            </a:r>
            <a:r>
              <a:rPr lang="en-US" altLang="zh-CN" dirty="0"/>
              <a:t>—</a:t>
            </a:r>
            <a:r>
              <a:rPr lang="zh-CN" altLang="en-US" dirty="0"/>
              <a:t>存储字所含二进制信息的位数。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2077B4B2-EC8D-495F-AF62-FCA8E5299439}" type="slidenum">
              <a:rPr lang="en-US" altLang="zh-CN"/>
              <a:t>18</a:t>
            </a:fld>
            <a:endParaRPr lang="en-US" altLang="zh-CN"/>
          </a:p>
        </p:txBody>
      </p:sp>
      <p:sp>
        <p:nvSpPr>
          <p:cNvPr id="288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思考①：指令系统支持的操作。    思考</a:t>
            </a:r>
            <a:r>
              <a:rPr lang="zh-CN" altLang="en-US" sz="1200" b="0" dirty="0">
                <a:solidFill>
                  <a:srgbClr val="990099"/>
                </a:solidFill>
                <a:latin typeface="宋体" panose="02010600030101010101" pitchFamily="2" charset="-122"/>
              </a:rPr>
              <a:t>②：</a:t>
            </a:r>
            <a:r>
              <a:rPr lang="zh-CN" altLang="en-US" dirty="0"/>
              <a:t>寄存器、计数器、存储器。      思考</a:t>
            </a:r>
            <a:r>
              <a:rPr lang="zh-CN" altLang="en-US" sz="1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③</a:t>
            </a:r>
            <a:r>
              <a:rPr lang="zh-CN" altLang="en-US" dirty="0"/>
              <a:t>：避免全部存放在主存中。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思考④：</a:t>
            </a:r>
            <a:r>
              <a:rPr lang="en-US" altLang="zh-CN" dirty="0">
                <a:sym typeface="+mn-ea"/>
              </a:rPr>
              <a:t>D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Q</a:t>
            </a:r>
            <a:r>
              <a:rPr lang="zh-CN" altLang="en-US" dirty="0">
                <a:sym typeface="+mn-ea"/>
              </a:rPr>
              <a:t>及</a:t>
            </a:r>
            <a:r>
              <a:rPr lang="en-US" altLang="zh-CN" dirty="0">
                <a:sym typeface="+mn-ea"/>
              </a:rPr>
              <a:t>CP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dirty="0">
                <a:sym typeface="+mn-ea"/>
              </a:rPr>
              <a:t>D</a:t>
            </a:r>
            <a:r>
              <a:rPr lang="zh-CN" altLang="en-US" dirty="0">
                <a:sym typeface="+mn-ea"/>
              </a:rPr>
              <a:t>及</a:t>
            </a:r>
            <a:r>
              <a:rPr lang="en-US" altLang="zh-CN" dirty="0">
                <a:sym typeface="+mn-ea"/>
              </a:rPr>
              <a:t>CP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dirty="0">
                <a:sym typeface="+mn-ea"/>
              </a:rPr>
              <a:t>CP</a:t>
            </a:r>
            <a:r>
              <a:rPr lang="zh-CN" altLang="en-US" sz="1200" b="0" u="none" dirty="0">
                <a:solidFill>
                  <a:srgbClr val="990099"/>
                </a:solidFill>
                <a:cs typeface="Times New Roman" panose="02020603050405020304" pitchFamily="18" charset="0"/>
              </a:rPr>
              <a:t>↑前稳定</a:t>
            </a:r>
            <a:r>
              <a:rPr lang="en-US" altLang="zh-CN" sz="1200" b="0" u="none" dirty="0">
                <a:solidFill>
                  <a:srgbClr val="990099"/>
                </a:solidFill>
                <a:cs typeface="Times New Roman" panose="02020603050405020304" pitchFamily="18" charset="0"/>
              </a:rPr>
              <a:t>&amp;</a:t>
            </a:r>
            <a:r>
              <a:rPr lang="zh-CN" altLang="en-US" sz="1200" b="0" u="none" dirty="0">
                <a:solidFill>
                  <a:srgbClr val="990099"/>
                </a:solidFill>
                <a:cs typeface="Times New Roman" panose="02020603050405020304" pitchFamily="18" charset="0"/>
              </a:rPr>
              <a:t>保持一点时间。  </a:t>
            </a:r>
            <a:r>
              <a:rPr lang="en-US" altLang="zh-CN" dirty="0"/>
              <a:t> </a:t>
            </a:r>
            <a:r>
              <a:rPr lang="zh-CN" altLang="en-US" dirty="0">
                <a:sym typeface="+mn-ea"/>
              </a:rPr>
              <a:t>思考</a:t>
            </a:r>
            <a:r>
              <a:rPr lang="zh-CN" altLang="en-US" sz="1200" b="0" dirty="0">
                <a:solidFill>
                  <a:srgbClr val="990099"/>
                </a:solidFill>
                <a:latin typeface="宋体" panose="02010600030101010101" pitchFamily="2" charset="-122"/>
              </a:rPr>
              <a:t>⑤</a:t>
            </a:r>
            <a:r>
              <a:rPr lang="zh-CN" altLang="en-US" dirty="0">
                <a:sym typeface="+mn-ea"/>
              </a:rPr>
              <a:t>：读为</a:t>
            </a:r>
            <a:r>
              <a:rPr lang="en-US" altLang="zh-CN" dirty="0" err="1">
                <a:sym typeface="+mn-ea"/>
              </a:rPr>
              <a:t>rR</a:t>
            </a:r>
            <a:r>
              <a:rPr lang="zh-CN" altLang="en-US" dirty="0">
                <a:sym typeface="+mn-ea"/>
              </a:rPr>
              <a:t>及</a:t>
            </a:r>
            <a:r>
              <a:rPr lang="en-US" altLang="zh-CN" dirty="0">
                <a:sym typeface="+mn-ea"/>
              </a:rPr>
              <a:t>Q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 err="1">
                <a:sym typeface="+mn-ea"/>
              </a:rPr>
              <a:t>Wr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=0</a:t>
            </a:r>
            <a:r>
              <a:rPr lang="zh-CN" altLang="en-US" dirty="0">
                <a:sym typeface="+mn-ea"/>
              </a:rPr>
              <a:t>），写为</a:t>
            </a:r>
            <a:r>
              <a:rPr lang="en-US" altLang="zh-CN" dirty="0" err="1">
                <a:sym typeface="+mn-ea"/>
              </a:rPr>
              <a:t>rW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>
                <a:sym typeface="+mn-ea"/>
              </a:rPr>
              <a:t>D</a:t>
            </a:r>
            <a:r>
              <a:rPr lang="zh-CN" altLang="en-US" dirty="0">
                <a:sym typeface="+mn-ea"/>
              </a:rPr>
              <a:t>及</a:t>
            </a:r>
            <a:r>
              <a:rPr lang="en-US" altLang="zh-CN" dirty="0">
                <a:sym typeface="+mn-ea"/>
              </a:rPr>
              <a:t>CP</a:t>
            </a:r>
            <a:r>
              <a:rPr lang="zh-CN" altLang="en-US" dirty="0">
                <a:sym typeface="+mn-ea"/>
              </a:rPr>
              <a:t>、</a:t>
            </a:r>
            <a:r>
              <a:rPr lang="en-US" altLang="zh-CN" dirty="0" err="1">
                <a:sym typeface="+mn-ea"/>
              </a:rPr>
              <a:t>Wr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=1</a:t>
            </a:r>
            <a:r>
              <a:rPr lang="zh-CN" altLang="en-US" dirty="0">
                <a:sym typeface="+mn-ea"/>
              </a:rPr>
              <a:t>），如图。</a:t>
            </a:r>
            <a:endParaRPr lang="en-US" altLang="zh-CN" dirty="0">
              <a:sym typeface="+mn-e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看功能实现</a:t>
            </a:r>
            <a:r>
              <a:rPr lang="en-US" altLang="zh-CN" dirty="0"/>
              <a:t>-</a:t>
            </a:r>
            <a:r>
              <a:rPr lang="zh-CN" altLang="en-US" dirty="0"/>
              <a:t>部件控制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思考①：每个设备有唯一的编号（地址），</a:t>
            </a:r>
            <a:r>
              <a:rPr lang="en-US" altLang="zh-CN" dirty="0"/>
              <a:t>CPU</a:t>
            </a:r>
            <a:r>
              <a:rPr lang="zh-CN" altLang="en-US" dirty="0"/>
              <a:t>按地址访问   思考②：表示从设备完成操作，使交互时延最小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21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1-BC</a:t>
            </a:r>
            <a:r>
              <a:rPr lang="zh-CN" altLang="en-US" dirty="0"/>
              <a:t>，</a:t>
            </a:r>
            <a:r>
              <a:rPr lang="en-US" altLang="zh-CN" dirty="0"/>
              <a:t>2-A</a:t>
            </a:r>
            <a:r>
              <a:rPr lang="zh-CN" altLang="en-US" dirty="0"/>
              <a:t>，</a:t>
            </a:r>
            <a:r>
              <a:rPr lang="en-US" altLang="zh-CN" dirty="0"/>
              <a:t>3-D</a:t>
            </a:r>
            <a:r>
              <a:rPr lang="zh-CN" altLang="en-US" dirty="0"/>
              <a:t>，</a:t>
            </a:r>
            <a:r>
              <a:rPr lang="en-US" altLang="zh-CN" dirty="0"/>
              <a:t>4-A</a:t>
            </a:r>
            <a:r>
              <a:rPr lang="zh-CN" altLang="en-US" dirty="0"/>
              <a:t>，</a:t>
            </a:r>
            <a:r>
              <a:rPr lang="en-US" altLang="zh-CN" dirty="0"/>
              <a:t>5-C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24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6-ABC</a:t>
            </a:r>
            <a:r>
              <a:rPr lang="zh-CN" altLang="en-US" dirty="0"/>
              <a:t>，</a:t>
            </a:r>
            <a:r>
              <a:rPr lang="en-US" altLang="zh-CN" dirty="0"/>
              <a:t>7-AB</a:t>
            </a:r>
            <a:r>
              <a:rPr lang="zh-CN" altLang="en-US" dirty="0"/>
              <a:t>，</a:t>
            </a:r>
            <a:r>
              <a:rPr lang="en-US" altLang="zh-CN" dirty="0"/>
              <a:t>8-B</a:t>
            </a:r>
            <a:r>
              <a:rPr lang="zh-CN" altLang="en-US" dirty="0"/>
              <a:t>，</a:t>
            </a:r>
            <a:r>
              <a:rPr lang="en-US" altLang="zh-CN" dirty="0"/>
              <a:t>9-B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25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实际机器</a:t>
            </a:r>
            <a:r>
              <a:rPr lang="en-US" altLang="zh-CN" dirty="0"/>
              <a:t>—</a:t>
            </a:r>
            <a:r>
              <a:rPr lang="zh-CN" altLang="en-US" dirty="0"/>
              <a:t>所写程序能够被硬件直接识别的执行的机器</a:t>
            </a:r>
            <a:endParaRPr lang="en-US" altLang="zh-CN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汇编语言级、高级语言级</a:t>
            </a:r>
            <a:r>
              <a:rPr lang="en-US" altLang="zh-CN" dirty="0"/>
              <a:t>—</a:t>
            </a:r>
            <a:r>
              <a:rPr lang="zh-CN" altLang="en-US" dirty="0"/>
              <a:t>方便程序员；</a:t>
            </a:r>
            <a:r>
              <a:rPr lang="en-US" altLang="zh-CN" dirty="0"/>
              <a:t>OS</a:t>
            </a:r>
            <a:r>
              <a:rPr lang="zh-CN" altLang="en-US" dirty="0"/>
              <a:t>级</a:t>
            </a:r>
            <a:r>
              <a:rPr lang="en-US" altLang="zh-CN" dirty="0"/>
              <a:t>—</a:t>
            </a:r>
            <a:r>
              <a:rPr lang="zh-CN" altLang="en-US" dirty="0"/>
              <a:t>提高好用性</a:t>
            </a:r>
            <a:r>
              <a:rPr lang="en-US" altLang="zh-CN" dirty="0"/>
              <a:t>(</a:t>
            </a:r>
            <a:r>
              <a:rPr lang="zh-CN" altLang="en-US" dirty="0"/>
              <a:t>非程序员用户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  <a:r>
              <a:rPr lang="en-US" altLang="zh-CN" dirty="0" err="1"/>
              <a:t>uPrg</a:t>
            </a:r>
            <a:r>
              <a:rPr lang="zh-CN" altLang="en-US" dirty="0"/>
              <a:t>级</a:t>
            </a:r>
            <a:r>
              <a:rPr lang="en-US" altLang="zh-CN" dirty="0"/>
              <a:t>—</a:t>
            </a:r>
            <a:r>
              <a:rPr lang="zh-CN" altLang="en-US" dirty="0"/>
              <a:t>提高硬件性能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27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设计角色的引入（性能与成本）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28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关系举例：乘法功能的有</a:t>
            </a:r>
            <a:r>
              <a:rPr lang="en-US" altLang="zh-CN" dirty="0"/>
              <a:t>/</a:t>
            </a:r>
            <a:r>
              <a:rPr lang="zh-CN" altLang="en-US" dirty="0"/>
              <a:t>无、乘法器</a:t>
            </a:r>
            <a:r>
              <a:rPr lang="en-US" altLang="zh-CN" dirty="0"/>
              <a:t>/</a:t>
            </a:r>
            <a:r>
              <a:rPr lang="zh-CN" altLang="en-US" dirty="0"/>
              <a:t>加法</a:t>
            </a:r>
            <a:r>
              <a:rPr lang="en-US" altLang="zh-CN" dirty="0"/>
              <a:t>+</a:t>
            </a:r>
            <a:r>
              <a:rPr lang="zh-CN" altLang="en-US" dirty="0"/>
              <a:t>移位、器件，存储系统</a:t>
            </a:r>
            <a:r>
              <a:rPr lang="en-US" altLang="zh-CN" dirty="0"/>
              <a:t>—</a:t>
            </a:r>
            <a:r>
              <a:rPr lang="zh-CN" altLang="en-US" dirty="0"/>
              <a:t>容量</a:t>
            </a:r>
            <a:r>
              <a:rPr lang="en-US" altLang="zh-CN" dirty="0"/>
              <a:t>+</a:t>
            </a:r>
            <a:r>
              <a:rPr lang="zh-CN" altLang="en-US" dirty="0"/>
              <a:t>编址、速度保证、芯片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30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上页</a:t>
            </a:r>
            <a:r>
              <a:rPr lang="en-US" altLang="zh-CN" dirty="0"/>
              <a:t>-</a:t>
            </a:r>
            <a:r>
              <a:rPr lang="zh-CN" altLang="en-US" dirty="0"/>
              <a:t>看指令地址计算的特点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31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思考：时序信号是周期性的，</a:t>
            </a:r>
            <a:r>
              <a:rPr lang="en-US" altLang="zh-CN" dirty="0"/>
              <a:t>PC</a:t>
            </a:r>
            <a:r>
              <a:rPr lang="zh-CN" altLang="en-US" dirty="0"/>
              <a:t>存放指令地址，各信号产生与时序信号绑定自可实现。  </a:t>
            </a:r>
            <a:r>
              <a:rPr lang="en-US" altLang="zh-CN" dirty="0"/>
              <a:t>P20-</a:t>
            </a:r>
            <a:r>
              <a:rPr lang="zh-CN" altLang="en-US" dirty="0"/>
              <a:t>看时序信号组成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32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P18-</a:t>
            </a:r>
            <a:r>
              <a:rPr lang="zh-CN" altLang="en-US" dirty="0"/>
              <a:t>看运算器组成，</a:t>
            </a:r>
            <a:r>
              <a:rPr lang="en-US" altLang="zh-CN" dirty="0"/>
              <a:t>P19-</a:t>
            </a:r>
            <a:r>
              <a:rPr lang="zh-CN" altLang="en-US" dirty="0"/>
              <a:t>看控制器组成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33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34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1-BC</a:t>
            </a:r>
            <a:r>
              <a:rPr lang="zh-CN" altLang="en-US" dirty="0"/>
              <a:t>，</a:t>
            </a:r>
            <a:r>
              <a:rPr lang="en-US" altLang="zh-CN" dirty="0"/>
              <a:t>2-A</a:t>
            </a:r>
            <a:r>
              <a:rPr lang="zh-CN" altLang="en-US" dirty="0"/>
              <a:t>，</a:t>
            </a:r>
            <a:r>
              <a:rPr lang="en-US" altLang="zh-CN" dirty="0"/>
              <a:t>3-B</a:t>
            </a:r>
            <a:r>
              <a:rPr lang="zh-CN" altLang="en-US" dirty="0"/>
              <a:t>，</a:t>
            </a:r>
            <a:r>
              <a:rPr lang="en-US" altLang="zh-CN" dirty="0"/>
              <a:t>4-AB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35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P33-</a:t>
            </a:r>
            <a:r>
              <a:rPr lang="zh-CN" altLang="en-US" dirty="0"/>
              <a:t>看机器字长</a:t>
            </a:r>
            <a:r>
              <a:rPr lang="en-US" altLang="zh-CN" dirty="0"/>
              <a:t>-ALU</a:t>
            </a:r>
            <a:r>
              <a:rPr lang="zh-CN" altLang="en-US" dirty="0"/>
              <a:t>宽度关系  </a:t>
            </a:r>
            <a:r>
              <a:rPr lang="en-US" altLang="zh-CN" dirty="0"/>
              <a:t>P34-</a:t>
            </a:r>
            <a:r>
              <a:rPr lang="zh-CN" altLang="en-US" dirty="0"/>
              <a:t>看原子操作示例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36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KiB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MiB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1200" b="0" i="0" kern="12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GiB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于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1999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年由国际电工协会（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IEC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）拟定，于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2008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年并入国际标准化组织（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ISO</a:t>
            </a:r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）文件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37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P20-</a:t>
            </a:r>
            <a:r>
              <a:rPr lang="zh-CN" altLang="en-US" dirty="0"/>
              <a:t>看执行周期</a:t>
            </a:r>
            <a:r>
              <a:rPr lang="en-US" altLang="zh-CN" dirty="0"/>
              <a:t>-CPI-T</a:t>
            </a:r>
            <a:r>
              <a:rPr lang="en-US" altLang="zh-CN" baseline="-25000" dirty="0"/>
              <a:t>C</a:t>
            </a:r>
            <a:r>
              <a:rPr lang="zh-CN" altLang="en-US" baseline="0" dirty="0"/>
              <a:t>的关系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38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39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40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RAS—</a:t>
            </a:r>
            <a:r>
              <a:rPr lang="en-US" altLang="zh-CN" dirty="0" err="1"/>
              <a:t>Reliablity</a:t>
            </a:r>
            <a:r>
              <a:rPr lang="en-US" altLang="zh-CN" dirty="0"/>
              <a:t>,</a:t>
            </a:r>
            <a:r>
              <a:rPr lang="en-US" altLang="zh-CN" baseline="0" dirty="0"/>
              <a:t> Availability, </a:t>
            </a:r>
            <a:r>
              <a:rPr lang="en-US" altLang="zh-CN" baseline="0" dirty="0" err="1"/>
              <a:t>Servicebility</a:t>
            </a:r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41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）优化前平均</a:t>
            </a:r>
            <a:r>
              <a:rPr lang="en-US" altLang="zh-CN" dirty="0"/>
              <a:t>CPI=0.5</a:t>
            </a:r>
            <a:r>
              <a:rPr lang="zh-CN" altLang="en-US" dirty="0"/>
              <a:t>*</a:t>
            </a:r>
            <a:r>
              <a:rPr lang="en-US" altLang="zh-CN" dirty="0"/>
              <a:t>4+0.3</a:t>
            </a:r>
            <a:r>
              <a:rPr lang="zh-CN" altLang="en-US" dirty="0"/>
              <a:t>*</a:t>
            </a:r>
            <a:r>
              <a:rPr lang="en-US" altLang="zh-CN" dirty="0"/>
              <a:t>6+0.2</a:t>
            </a:r>
            <a:r>
              <a:rPr lang="zh-CN" altLang="en-US" dirty="0"/>
              <a:t>*</a:t>
            </a:r>
            <a:r>
              <a:rPr lang="en-US" altLang="zh-CN" dirty="0"/>
              <a:t>8=5.4</a:t>
            </a:r>
            <a:r>
              <a:rPr lang="zh-CN" altLang="en-US" dirty="0"/>
              <a:t>，答案为</a:t>
            </a:r>
            <a:r>
              <a:rPr lang="en-US" altLang="zh-CN" dirty="0"/>
              <a:t>A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MIPS</a:t>
            </a:r>
            <a:r>
              <a:rPr lang="zh-CN" altLang="en-US" dirty="0"/>
              <a:t>数</a:t>
            </a:r>
            <a:r>
              <a:rPr lang="en-US" altLang="zh-CN" dirty="0"/>
              <a:t>=I</a:t>
            </a:r>
            <a:r>
              <a:rPr lang="en-US" altLang="zh-CN" baseline="-25000" dirty="0"/>
              <a:t>N</a:t>
            </a:r>
            <a:r>
              <a:rPr lang="en-US" altLang="zh-CN" dirty="0"/>
              <a:t>/[(I</a:t>
            </a:r>
            <a:r>
              <a:rPr lang="en-US" altLang="zh-CN" baseline="-25000" dirty="0"/>
              <a:t>N</a:t>
            </a:r>
            <a:r>
              <a:rPr lang="en-US" altLang="zh-CN" dirty="0"/>
              <a:t>*CPI*T</a:t>
            </a:r>
            <a:r>
              <a:rPr lang="en-US" altLang="zh-CN" baseline="-25000" dirty="0"/>
              <a:t>C</a:t>
            </a:r>
            <a:r>
              <a:rPr lang="en-US" altLang="zh-CN" dirty="0"/>
              <a:t>)*10</a:t>
            </a:r>
            <a:r>
              <a:rPr lang="en-US" altLang="zh-CN" baseline="30000" dirty="0"/>
              <a:t>6</a:t>
            </a:r>
            <a:r>
              <a:rPr lang="en-US" altLang="zh-CN" dirty="0"/>
              <a:t>]=f/(CPI</a:t>
            </a:r>
            <a:r>
              <a:rPr lang="zh-CN" altLang="en-US" dirty="0"/>
              <a:t>*</a:t>
            </a:r>
            <a:r>
              <a:rPr lang="en-US" altLang="zh-CN" dirty="0"/>
              <a:t>10</a:t>
            </a:r>
            <a:r>
              <a:rPr lang="en-US" altLang="zh-CN" baseline="30000" dirty="0"/>
              <a:t>6</a:t>
            </a:r>
            <a:r>
              <a:rPr lang="en-US" altLang="zh-CN" dirty="0"/>
              <a:t>)=50</a:t>
            </a:r>
            <a:r>
              <a:rPr lang="zh-CN" altLang="en-US" dirty="0"/>
              <a:t>*</a:t>
            </a:r>
            <a:r>
              <a:rPr lang="en-US" altLang="zh-CN" dirty="0"/>
              <a:t>10</a:t>
            </a:r>
            <a:r>
              <a:rPr lang="en-US" altLang="zh-CN" baseline="30000" dirty="0"/>
              <a:t>6</a:t>
            </a:r>
            <a:r>
              <a:rPr lang="en-US" altLang="zh-CN" dirty="0"/>
              <a:t>/(5.4</a:t>
            </a:r>
            <a:r>
              <a:rPr lang="zh-CN" altLang="en-US" dirty="0"/>
              <a:t>*</a:t>
            </a:r>
            <a:r>
              <a:rPr lang="en-US" altLang="zh-CN" dirty="0"/>
              <a:t>10</a:t>
            </a:r>
            <a:r>
              <a:rPr lang="en-US" altLang="zh-CN" baseline="30000" dirty="0"/>
              <a:t>6</a:t>
            </a:r>
            <a:r>
              <a:rPr lang="en-US" altLang="zh-CN" dirty="0"/>
              <a:t>)=9.26MIPS</a:t>
            </a:r>
            <a:r>
              <a:rPr lang="zh-CN" altLang="en-US" dirty="0"/>
              <a:t>，答案为</a:t>
            </a:r>
            <a:r>
              <a:rPr lang="en-US" altLang="zh-CN" dirty="0"/>
              <a:t>B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只可能优化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类或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类指令（否则优化后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CPI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会增加）；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若优化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类指令，则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CPI=[4*50%+6*30%+8*20%*0.8]/(50%+30%+20%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*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0.8)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≈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5.29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5.4-5.29=0.11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</a:t>
            </a:r>
            <a:endParaRPr kumimoji="1" lang="zh-CN" altLang="zh-CN" sz="1200" kern="12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若优化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类指令，则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CPI=[4*50%+6*30%*0.8+8*20%]/(50%+30%*0.8+20%)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≈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5.36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5.4-5.36=0.04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</a:t>
            </a:r>
          </a:p>
          <a:p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故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优化的是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类指令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，答案为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zh-CN" sz="120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42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43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SIMD--</a:t>
            </a:r>
            <a:r>
              <a:rPr kumimoji="1" lang="en-US" altLang="zh-CN" sz="1200" b="0" i="0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single instruction multiple data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C31B15-8AAE-400E-8B54-4B0535C6637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781408-89F6-4C5E-85F1-A62B1622164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38BAFD-D46A-4D98-B56B-A2E4045AF5F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C8CD47-3CD7-456E-8447-171C2A0CD20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0AEF4E-52FA-41DE-B29C-0FAB10F79B5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660C4A-9F48-48BC-AC32-C625B5058F9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0904" cy="360040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 lIns="18000" tIns="10800" rIns="18000" bIns="10800" anchor="ctr" anchorCtr="0"/>
          <a:lstStyle>
            <a:lvl1pPr algn="ctr">
              <a:defRPr sz="1600"/>
            </a:lvl1pPr>
          </a:lstStyle>
          <a:p>
            <a:fld id="{D4956B0B-AB87-4307-BB1D-829EC9002D4F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6" name="灯片编号占位符 3"/>
          <p:cNvSpPr txBox="1"/>
          <p:nvPr userDrawn="1"/>
        </p:nvSpPr>
        <p:spPr bwMode="auto">
          <a:xfrm>
            <a:off x="2704" y="6453336"/>
            <a:ext cx="1184920" cy="36004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 vert="horz" wrap="square" lIns="18000" tIns="10800" rIns="18000" bIns="10800" numCol="1" anchor="ctr" anchorCtr="0" compatLnSpc="1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SEU.CSE.RGL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4B0925-ED3B-4093-8760-25E736EA3E4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8EA6A-C686-4D06-B2CF-B75658A6F9C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3F9708-0814-4B5F-8625-E1D4ECA0891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A93B77-EF59-460C-BD4F-964341D8BB3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13225536-7DD7-4159-B7E6-5CC8C732343A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9" Type="http://schemas.openxmlformats.org/officeDocument/2006/relationships/tags" Target="../tags/tag40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42" Type="http://schemas.openxmlformats.org/officeDocument/2006/relationships/tags" Target="../tags/tag43.xml"/><Relationship Id="rId47" Type="http://schemas.openxmlformats.org/officeDocument/2006/relationships/tags" Target="../tags/tag48.xml"/><Relationship Id="rId50" Type="http://schemas.openxmlformats.org/officeDocument/2006/relationships/tags" Target="../tags/tag51.xml"/><Relationship Id="rId55" Type="http://schemas.openxmlformats.org/officeDocument/2006/relationships/tags" Target="../tags/tag56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9" Type="http://schemas.openxmlformats.org/officeDocument/2006/relationships/tags" Target="../tags/tag30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37" Type="http://schemas.openxmlformats.org/officeDocument/2006/relationships/tags" Target="../tags/tag38.xml"/><Relationship Id="rId40" Type="http://schemas.openxmlformats.org/officeDocument/2006/relationships/tags" Target="../tags/tag41.xml"/><Relationship Id="rId45" Type="http://schemas.openxmlformats.org/officeDocument/2006/relationships/tags" Target="../tags/tag46.xml"/><Relationship Id="rId53" Type="http://schemas.openxmlformats.org/officeDocument/2006/relationships/tags" Target="../tags/tag54.xml"/><Relationship Id="rId58" Type="http://schemas.openxmlformats.org/officeDocument/2006/relationships/notesSlide" Target="../notesSlides/notesSlide4.xml"/><Relationship Id="rId5" Type="http://schemas.openxmlformats.org/officeDocument/2006/relationships/tags" Target="../tags/tag6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43" Type="http://schemas.openxmlformats.org/officeDocument/2006/relationships/tags" Target="../tags/tag44.xml"/><Relationship Id="rId48" Type="http://schemas.openxmlformats.org/officeDocument/2006/relationships/tags" Target="../tags/tag49.xml"/><Relationship Id="rId56" Type="http://schemas.openxmlformats.org/officeDocument/2006/relationships/tags" Target="../tags/tag57.xml"/><Relationship Id="rId8" Type="http://schemas.openxmlformats.org/officeDocument/2006/relationships/tags" Target="../tags/tag9.xml"/><Relationship Id="rId51" Type="http://schemas.openxmlformats.org/officeDocument/2006/relationships/tags" Target="../tags/tag52.xml"/><Relationship Id="rId3" Type="http://schemas.openxmlformats.org/officeDocument/2006/relationships/tags" Target="../tags/tag4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38" Type="http://schemas.openxmlformats.org/officeDocument/2006/relationships/tags" Target="../tags/tag39.xml"/><Relationship Id="rId46" Type="http://schemas.openxmlformats.org/officeDocument/2006/relationships/tags" Target="../tags/tag47.xml"/><Relationship Id="rId20" Type="http://schemas.openxmlformats.org/officeDocument/2006/relationships/tags" Target="../tags/tag21.xml"/><Relationship Id="rId41" Type="http://schemas.openxmlformats.org/officeDocument/2006/relationships/tags" Target="../tags/tag42.xml"/><Relationship Id="rId54" Type="http://schemas.openxmlformats.org/officeDocument/2006/relationships/tags" Target="../tags/tag55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tags" Target="../tags/tag37.xml"/><Relationship Id="rId49" Type="http://schemas.openxmlformats.org/officeDocument/2006/relationships/tags" Target="../tags/tag50.xml"/><Relationship Id="rId57" Type="http://schemas.openxmlformats.org/officeDocument/2006/relationships/slideLayout" Target="../slideLayouts/slideLayout7.xml"/><Relationship Id="rId10" Type="http://schemas.openxmlformats.org/officeDocument/2006/relationships/tags" Target="../tags/tag11.xml"/><Relationship Id="rId31" Type="http://schemas.openxmlformats.org/officeDocument/2006/relationships/tags" Target="../tags/tag32.xml"/><Relationship Id="rId44" Type="http://schemas.openxmlformats.org/officeDocument/2006/relationships/tags" Target="../tags/tag45.xml"/><Relationship Id="rId52" Type="http://schemas.openxmlformats.org/officeDocument/2006/relationships/tags" Target="../tags/tag53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tags" Target="../tags/tag83.xml"/><Relationship Id="rId21" Type="http://schemas.openxmlformats.org/officeDocument/2006/relationships/tags" Target="../tags/tag78.xml"/><Relationship Id="rId42" Type="http://schemas.openxmlformats.org/officeDocument/2006/relationships/tags" Target="../tags/tag99.xml"/><Relationship Id="rId47" Type="http://schemas.openxmlformats.org/officeDocument/2006/relationships/tags" Target="../tags/tag104.xml"/><Relationship Id="rId63" Type="http://schemas.openxmlformats.org/officeDocument/2006/relationships/tags" Target="../tags/tag120.xml"/><Relationship Id="rId68" Type="http://schemas.openxmlformats.org/officeDocument/2006/relationships/tags" Target="../tags/tag125.xml"/><Relationship Id="rId84" Type="http://schemas.openxmlformats.org/officeDocument/2006/relationships/tags" Target="../tags/tag141.xml"/><Relationship Id="rId89" Type="http://schemas.openxmlformats.org/officeDocument/2006/relationships/tags" Target="../tags/tag146.xml"/><Relationship Id="rId16" Type="http://schemas.openxmlformats.org/officeDocument/2006/relationships/tags" Target="../tags/tag73.xml"/><Relationship Id="rId11" Type="http://schemas.openxmlformats.org/officeDocument/2006/relationships/tags" Target="../tags/tag68.xml"/><Relationship Id="rId32" Type="http://schemas.openxmlformats.org/officeDocument/2006/relationships/tags" Target="../tags/tag89.xml"/><Relationship Id="rId37" Type="http://schemas.openxmlformats.org/officeDocument/2006/relationships/tags" Target="../tags/tag94.xml"/><Relationship Id="rId53" Type="http://schemas.openxmlformats.org/officeDocument/2006/relationships/tags" Target="../tags/tag110.xml"/><Relationship Id="rId58" Type="http://schemas.openxmlformats.org/officeDocument/2006/relationships/tags" Target="../tags/tag115.xml"/><Relationship Id="rId74" Type="http://schemas.openxmlformats.org/officeDocument/2006/relationships/tags" Target="../tags/tag131.xml"/><Relationship Id="rId79" Type="http://schemas.openxmlformats.org/officeDocument/2006/relationships/tags" Target="../tags/tag136.xml"/><Relationship Id="rId102" Type="http://schemas.openxmlformats.org/officeDocument/2006/relationships/slideLayout" Target="../slideLayouts/slideLayout7.xml"/><Relationship Id="rId5" Type="http://schemas.openxmlformats.org/officeDocument/2006/relationships/tags" Target="../tags/tag62.xml"/><Relationship Id="rId90" Type="http://schemas.openxmlformats.org/officeDocument/2006/relationships/tags" Target="../tags/tag147.xml"/><Relationship Id="rId95" Type="http://schemas.openxmlformats.org/officeDocument/2006/relationships/tags" Target="../tags/tag152.xml"/><Relationship Id="rId22" Type="http://schemas.openxmlformats.org/officeDocument/2006/relationships/tags" Target="../tags/tag79.xml"/><Relationship Id="rId27" Type="http://schemas.openxmlformats.org/officeDocument/2006/relationships/tags" Target="../tags/tag84.xml"/><Relationship Id="rId43" Type="http://schemas.openxmlformats.org/officeDocument/2006/relationships/tags" Target="../tags/tag100.xml"/><Relationship Id="rId48" Type="http://schemas.openxmlformats.org/officeDocument/2006/relationships/tags" Target="../tags/tag105.xml"/><Relationship Id="rId64" Type="http://schemas.openxmlformats.org/officeDocument/2006/relationships/tags" Target="../tags/tag121.xml"/><Relationship Id="rId69" Type="http://schemas.openxmlformats.org/officeDocument/2006/relationships/tags" Target="../tags/tag126.xml"/><Relationship Id="rId80" Type="http://schemas.openxmlformats.org/officeDocument/2006/relationships/tags" Target="../tags/tag137.xml"/><Relationship Id="rId85" Type="http://schemas.openxmlformats.org/officeDocument/2006/relationships/tags" Target="../tags/tag142.xml"/><Relationship Id="rId12" Type="http://schemas.openxmlformats.org/officeDocument/2006/relationships/tags" Target="../tags/tag69.xml"/><Relationship Id="rId17" Type="http://schemas.openxmlformats.org/officeDocument/2006/relationships/tags" Target="../tags/tag74.xml"/><Relationship Id="rId33" Type="http://schemas.openxmlformats.org/officeDocument/2006/relationships/tags" Target="../tags/tag90.xml"/><Relationship Id="rId38" Type="http://schemas.openxmlformats.org/officeDocument/2006/relationships/tags" Target="../tags/tag95.xml"/><Relationship Id="rId59" Type="http://schemas.openxmlformats.org/officeDocument/2006/relationships/tags" Target="../tags/tag116.xml"/><Relationship Id="rId103" Type="http://schemas.openxmlformats.org/officeDocument/2006/relationships/notesSlide" Target="../notesSlides/notesSlide5.xml"/><Relationship Id="rId20" Type="http://schemas.openxmlformats.org/officeDocument/2006/relationships/tags" Target="../tags/tag77.xml"/><Relationship Id="rId41" Type="http://schemas.openxmlformats.org/officeDocument/2006/relationships/tags" Target="../tags/tag98.xml"/><Relationship Id="rId54" Type="http://schemas.openxmlformats.org/officeDocument/2006/relationships/tags" Target="../tags/tag111.xml"/><Relationship Id="rId62" Type="http://schemas.openxmlformats.org/officeDocument/2006/relationships/tags" Target="../tags/tag119.xml"/><Relationship Id="rId70" Type="http://schemas.openxmlformats.org/officeDocument/2006/relationships/tags" Target="../tags/tag127.xml"/><Relationship Id="rId75" Type="http://schemas.openxmlformats.org/officeDocument/2006/relationships/tags" Target="../tags/tag132.xml"/><Relationship Id="rId83" Type="http://schemas.openxmlformats.org/officeDocument/2006/relationships/tags" Target="../tags/tag140.xml"/><Relationship Id="rId88" Type="http://schemas.openxmlformats.org/officeDocument/2006/relationships/tags" Target="../tags/tag145.xml"/><Relationship Id="rId91" Type="http://schemas.openxmlformats.org/officeDocument/2006/relationships/tags" Target="../tags/tag148.xml"/><Relationship Id="rId96" Type="http://schemas.openxmlformats.org/officeDocument/2006/relationships/tags" Target="../tags/tag153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5" Type="http://schemas.openxmlformats.org/officeDocument/2006/relationships/tags" Target="../tags/tag72.xml"/><Relationship Id="rId23" Type="http://schemas.openxmlformats.org/officeDocument/2006/relationships/tags" Target="../tags/tag80.xml"/><Relationship Id="rId28" Type="http://schemas.openxmlformats.org/officeDocument/2006/relationships/tags" Target="../tags/tag85.xml"/><Relationship Id="rId36" Type="http://schemas.openxmlformats.org/officeDocument/2006/relationships/tags" Target="../tags/tag93.xml"/><Relationship Id="rId49" Type="http://schemas.openxmlformats.org/officeDocument/2006/relationships/tags" Target="../tags/tag106.xml"/><Relationship Id="rId57" Type="http://schemas.openxmlformats.org/officeDocument/2006/relationships/tags" Target="../tags/tag114.xml"/><Relationship Id="rId10" Type="http://schemas.openxmlformats.org/officeDocument/2006/relationships/tags" Target="../tags/tag67.xml"/><Relationship Id="rId31" Type="http://schemas.openxmlformats.org/officeDocument/2006/relationships/tags" Target="../tags/tag88.xml"/><Relationship Id="rId44" Type="http://schemas.openxmlformats.org/officeDocument/2006/relationships/tags" Target="../tags/tag101.xml"/><Relationship Id="rId52" Type="http://schemas.openxmlformats.org/officeDocument/2006/relationships/tags" Target="../tags/tag109.xml"/><Relationship Id="rId60" Type="http://schemas.openxmlformats.org/officeDocument/2006/relationships/tags" Target="../tags/tag117.xml"/><Relationship Id="rId65" Type="http://schemas.openxmlformats.org/officeDocument/2006/relationships/tags" Target="../tags/tag122.xml"/><Relationship Id="rId73" Type="http://schemas.openxmlformats.org/officeDocument/2006/relationships/tags" Target="../tags/tag130.xml"/><Relationship Id="rId78" Type="http://schemas.openxmlformats.org/officeDocument/2006/relationships/tags" Target="../tags/tag135.xml"/><Relationship Id="rId81" Type="http://schemas.openxmlformats.org/officeDocument/2006/relationships/tags" Target="../tags/tag138.xml"/><Relationship Id="rId86" Type="http://schemas.openxmlformats.org/officeDocument/2006/relationships/tags" Target="../tags/tag143.xml"/><Relationship Id="rId94" Type="http://schemas.openxmlformats.org/officeDocument/2006/relationships/tags" Target="../tags/tag151.xml"/><Relationship Id="rId99" Type="http://schemas.openxmlformats.org/officeDocument/2006/relationships/tags" Target="../tags/tag156.xml"/><Relationship Id="rId101" Type="http://schemas.openxmlformats.org/officeDocument/2006/relationships/tags" Target="../tags/tag158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3" Type="http://schemas.openxmlformats.org/officeDocument/2006/relationships/tags" Target="../tags/tag70.xml"/><Relationship Id="rId18" Type="http://schemas.openxmlformats.org/officeDocument/2006/relationships/tags" Target="../tags/tag75.xml"/><Relationship Id="rId39" Type="http://schemas.openxmlformats.org/officeDocument/2006/relationships/tags" Target="../tags/tag96.xml"/><Relationship Id="rId34" Type="http://schemas.openxmlformats.org/officeDocument/2006/relationships/tags" Target="../tags/tag91.xml"/><Relationship Id="rId50" Type="http://schemas.openxmlformats.org/officeDocument/2006/relationships/tags" Target="../tags/tag107.xml"/><Relationship Id="rId55" Type="http://schemas.openxmlformats.org/officeDocument/2006/relationships/tags" Target="../tags/tag112.xml"/><Relationship Id="rId76" Type="http://schemas.openxmlformats.org/officeDocument/2006/relationships/tags" Target="../tags/tag133.xml"/><Relationship Id="rId97" Type="http://schemas.openxmlformats.org/officeDocument/2006/relationships/tags" Target="../tags/tag154.xml"/><Relationship Id="rId104" Type="http://schemas.openxmlformats.org/officeDocument/2006/relationships/slide" Target="slide4.xml"/><Relationship Id="rId7" Type="http://schemas.openxmlformats.org/officeDocument/2006/relationships/tags" Target="../tags/tag64.xml"/><Relationship Id="rId71" Type="http://schemas.openxmlformats.org/officeDocument/2006/relationships/tags" Target="../tags/tag128.xml"/><Relationship Id="rId92" Type="http://schemas.openxmlformats.org/officeDocument/2006/relationships/tags" Target="../tags/tag149.xml"/><Relationship Id="rId2" Type="http://schemas.openxmlformats.org/officeDocument/2006/relationships/tags" Target="../tags/tag59.xml"/><Relationship Id="rId29" Type="http://schemas.openxmlformats.org/officeDocument/2006/relationships/tags" Target="../tags/tag86.xml"/><Relationship Id="rId24" Type="http://schemas.openxmlformats.org/officeDocument/2006/relationships/tags" Target="../tags/tag81.xml"/><Relationship Id="rId40" Type="http://schemas.openxmlformats.org/officeDocument/2006/relationships/tags" Target="../tags/tag97.xml"/><Relationship Id="rId45" Type="http://schemas.openxmlformats.org/officeDocument/2006/relationships/tags" Target="../tags/tag102.xml"/><Relationship Id="rId66" Type="http://schemas.openxmlformats.org/officeDocument/2006/relationships/tags" Target="../tags/tag123.xml"/><Relationship Id="rId87" Type="http://schemas.openxmlformats.org/officeDocument/2006/relationships/tags" Target="../tags/tag144.xml"/><Relationship Id="rId61" Type="http://schemas.openxmlformats.org/officeDocument/2006/relationships/tags" Target="../tags/tag118.xml"/><Relationship Id="rId82" Type="http://schemas.openxmlformats.org/officeDocument/2006/relationships/tags" Target="../tags/tag139.xml"/><Relationship Id="rId19" Type="http://schemas.openxmlformats.org/officeDocument/2006/relationships/tags" Target="../tags/tag76.xml"/><Relationship Id="rId14" Type="http://schemas.openxmlformats.org/officeDocument/2006/relationships/tags" Target="../tags/tag71.xml"/><Relationship Id="rId30" Type="http://schemas.openxmlformats.org/officeDocument/2006/relationships/tags" Target="../tags/tag87.xml"/><Relationship Id="rId35" Type="http://schemas.openxmlformats.org/officeDocument/2006/relationships/tags" Target="../tags/tag92.xml"/><Relationship Id="rId56" Type="http://schemas.openxmlformats.org/officeDocument/2006/relationships/tags" Target="../tags/tag113.xml"/><Relationship Id="rId77" Type="http://schemas.openxmlformats.org/officeDocument/2006/relationships/tags" Target="../tags/tag134.xml"/><Relationship Id="rId100" Type="http://schemas.openxmlformats.org/officeDocument/2006/relationships/tags" Target="../tags/tag157.xml"/><Relationship Id="rId105" Type="http://schemas.openxmlformats.org/officeDocument/2006/relationships/slide" Target="slide18.xml"/><Relationship Id="rId8" Type="http://schemas.openxmlformats.org/officeDocument/2006/relationships/tags" Target="../tags/tag65.xml"/><Relationship Id="rId51" Type="http://schemas.openxmlformats.org/officeDocument/2006/relationships/tags" Target="../tags/tag108.xml"/><Relationship Id="rId72" Type="http://schemas.openxmlformats.org/officeDocument/2006/relationships/tags" Target="../tags/tag129.xml"/><Relationship Id="rId93" Type="http://schemas.openxmlformats.org/officeDocument/2006/relationships/tags" Target="../tags/tag150.xml"/><Relationship Id="rId98" Type="http://schemas.openxmlformats.org/officeDocument/2006/relationships/tags" Target="../tags/tag155.xml"/><Relationship Id="rId3" Type="http://schemas.openxmlformats.org/officeDocument/2006/relationships/tags" Target="../tags/tag60.xml"/><Relationship Id="rId25" Type="http://schemas.openxmlformats.org/officeDocument/2006/relationships/tags" Target="../tags/tag82.xml"/><Relationship Id="rId46" Type="http://schemas.openxmlformats.org/officeDocument/2006/relationships/tags" Target="../tags/tag103.xml"/><Relationship Id="rId67" Type="http://schemas.openxmlformats.org/officeDocument/2006/relationships/tags" Target="../tags/tag12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66.xml"/><Relationship Id="rId13" Type="http://schemas.openxmlformats.org/officeDocument/2006/relationships/tags" Target="../tags/tag171.xml"/><Relationship Id="rId3" Type="http://schemas.openxmlformats.org/officeDocument/2006/relationships/tags" Target="../tags/tag161.xml"/><Relationship Id="rId7" Type="http://schemas.openxmlformats.org/officeDocument/2006/relationships/tags" Target="../tags/tag165.xml"/><Relationship Id="rId12" Type="http://schemas.openxmlformats.org/officeDocument/2006/relationships/tags" Target="../tags/tag170.xml"/><Relationship Id="rId2" Type="http://schemas.openxmlformats.org/officeDocument/2006/relationships/tags" Target="../tags/tag160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59.xml"/><Relationship Id="rId6" Type="http://schemas.openxmlformats.org/officeDocument/2006/relationships/tags" Target="../tags/tag164.xml"/><Relationship Id="rId11" Type="http://schemas.openxmlformats.org/officeDocument/2006/relationships/tags" Target="../tags/tag169.xml"/><Relationship Id="rId5" Type="http://schemas.openxmlformats.org/officeDocument/2006/relationships/tags" Target="../tags/tag163.xml"/><Relationship Id="rId15" Type="http://schemas.openxmlformats.org/officeDocument/2006/relationships/tags" Target="../tags/tag173.xml"/><Relationship Id="rId10" Type="http://schemas.openxmlformats.org/officeDocument/2006/relationships/tags" Target="../tags/tag168.xml"/><Relationship Id="rId4" Type="http://schemas.openxmlformats.org/officeDocument/2006/relationships/tags" Target="../tags/tag162.xml"/><Relationship Id="rId9" Type="http://schemas.openxmlformats.org/officeDocument/2006/relationships/tags" Target="../tags/tag167.xml"/><Relationship Id="rId14" Type="http://schemas.openxmlformats.org/officeDocument/2006/relationships/tags" Target="../tags/tag17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7" Type="http://schemas.openxmlformats.org/officeDocument/2006/relationships/slide" Target="slide3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0.xml"/><Relationship Id="rId5" Type="http://schemas.openxmlformats.org/officeDocument/2006/relationships/slide" Target="slide26.xml"/><Relationship Id="rId4" Type="http://schemas.openxmlformats.org/officeDocument/2006/relationships/slide" Target="slide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4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4.xml"/><Relationship Id="rId5" Type="http://schemas.openxmlformats.org/officeDocument/2006/relationships/slide" Target="slide47.xml"/><Relationship Id="rId4" Type="http://schemas.openxmlformats.org/officeDocument/2006/relationships/slide" Target="slide1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tags" Target="../tags/tag177.xml"/><Relationship Id="rId7" Type="http://schemas.openxmlformats.org/officeDocument/2006/relationships/notesSlide" Target="../notesSlides/notesSlide11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79.xml"/><Relationship Id="rId4" Type="http://schemas.openxmlformats.org/officeDocument/2006/relationships/tags" Target="../tags/tag17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slide" Target="slid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0.xml"/><Relationship Id="rId4" Type="http://schemas.openxmlformats.org/officeDocument/2006/relationships/slide" Target="slide3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slide" Target="slide3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88.xml"/><Relationship Id="rId13" Type="http://schemas.openxmlformats.org/officeDocument/2006/relationships/tags" Target="../tags/tag193.xml"/><Relationship Id="rId18" Type="http://schemas.openxmlformats.org/officeDocument/2006/relationships/tags" Target="../tags/tag198.xml"/><Relationship Id="rId26" Type="http://schemas.openxmlformats.org/officeDocument/2006/relationships/tags" Target="../tags/tag206.xml"/><Relationship Id="rId3" Type="http://schemas.openxmlformats.org/officeDocument/2006/relationships/tags" Target="../tags/tag183.xml"/><Relationship Id="rId21" Type="http://schemas.openxmlformats.org/officeDocument/2006/relationships/tags" Target="../tags/tag201.xml"/><Relationship Id="rId7" Type="http://schemas.openxmlformats.org/officeDocument/2006/relationships/tags" Target="../tags/tag187.xml"/><Relationship Id="rId12" Type="http://schemas.openxmlformats.org/officeDocument/2006/relationships/tags" Target="../tags/tag192.xml"/><Relationship Id="rId17" Type="http://schemas.openxmlformats.org/officeDocument/2006/relationships/tags" Target="../tags/tag197.xml"/><Relationship Id="rId25" Type="http://schemas.openxmlformats.org/officeDocument/2006/relationships/tags" Target="../tags/tag205.xml"/><Relationship Id="rId2" Type="http://schemas.openxmlformats.org/officeDocument/2006/relationships/tags" Target="../tags/tag182.xml"/><Relationship Id="rId16" Type="http://schemas.openxmlformats.org/officeDocument/2006/relationships/tags" Target="../tags/tag196.xml"/><Relationship Id="rId20" Type="http://schemas.openxmlformats.org/officeDocument/2006/relationships/tags" Target="../tags/tag200.xml"/><Relationship Id="rId1" Type="http://schemas.openxmlformats.org/officeDocument/2006/relationships/tags" Target="../tags/tag181.xml"/><Relationship Id="rId6" Type="http://schemas.openxmlformats.org/officeDocument/2006/relationships/tags" Target="../tags/tag186.xml"/><Relationship Id="rId11" Type="http://schemas.openxmlformats.org/officeDocument/2006/relationships/tags" Target="../tags/tag191.xml"/><Relationship Id="rId24" Type="http://schemas.openxmlformats.org/officeDocument/2006/relationships/tags" Target="../tags/tag204.xml"/><Relationship Id="rId5" Type="http://schemas.openxmlformats.org/officeDocument/2006/relationships/tags" Target="../tags/tag185.xml"/><Relationship Id="rId15" Type="http://schemas.openxmlformats.org/officeDocument/2006/relationships/tags" Target="../tags/tag195.xml"/><Relationship Id="rId23" Type="http://schemas.openxmlformats.org/officeDocument/2006/relationships/tags" Target="../tags/tag203.xml"/><Relationship Id="rId28" Type="http://schemas.openxmlformats.org/officeDocument/2006/relationships/notesSlide" Target="../notesSlides/notesSlide16.xml"/><Relationship Id="rId10" Type="http://schemas.openxmlformats.org/officeDocument/2006/relationships/tags" Target="../tags/tag190.xml"/><Relationship Id="rId19" Type="http://schemas.openxmlformats.org/officeDocument/2006/relationships/tags" Target="../tags/tag199.xml"/><Relationship Id="rId4" Type="http://schemas.openxmlformats.org/officeDocument/2006/relationships/tags" Target="../tags/tag184.xml"/><Relationship Id="rId9" Type="http://schemas.openxmlformats.org/officeDocument/2006/relationships/tags" Target="../tags/tag189.xml"/><Relationship Id="rId14" Type="http://schemas.openxmlformats.org/officeDocument/2006/relationships/tags" Target="../tags/tag194.xml"/><Relationship Id="rId22" Type="http://schemas.openxmlformats.org/officeDocument/2006/relationships/tags" Target="../tags/tag202.xml"/><Relationship Id="rId27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tags" Target="../tags/tag323.xml"/><Relationship Id="rId21" Type="http://schemas.openxmlformats.org/officeDocument/2006/relationships/tags" Target="../tags/tag227.xml"/><Relationship Id="rId42" Type="http://schemas.openxmlformats.org/officeDocument/2006/relationships/tags" Target="../tags/tag248.xml"/><Relationship Id="rId63" Type="http://schemas.openxmlformats.org/officeDocument/2006/relationships/tags" Target="../tags/tag269.xml"/><Relationship Id="rId84" Type="http://schemas.openxmlformats.org/officeDocument/2006/relationships/tags" Target="../tags/tag290.xml"/><Relationship Id="rId138" Type="http://schemas.openxmlformats.org/officeDocument/2006/relationships/tags" Target="../tags/tag344.xml"/><Relationship Id="rId159" Type="http://schemas.openxmlformats.org/officeDocument/2006/relationships/tags" Target="../tags/tag365.xml"/><Relationship Id="rId170" Type="http://schemas.openxmlformats.org/officeDocument/2006/relationships/tags" Target="../tags/tag376.xml"/><Relationship Id="rId107" Type="http://schemas.openxmlformats.org/officeDocument/2006/relationships/tags" Target="../tags/tag313.xml"/><Relationship Id="rId11" Type="http://schemas.openxmlformats.org/officeDocument/2006/relationships/tags" Target="../tags/tag217.xml"/><Relationship Id="rId32" Type="http://schemas.openxmlformats.org/officeDocument/2006/relationships/tags" Target="../tags/tag238.xml"/><Relationship Id="rId53" Type="http://schemas.openxmlformats.org/officeDocument/2006/relationships/tags" Target="../tags/tag259.xml"/><Relationship Id="rId74" Type="http://schemas.openxmlformats.org/officeDocument/2006/relationships/tags" Target="../tags/tag280.xml"/><Relationship Id="rId128" Type="http://schemas.openxmlformats.org/officeDocument/2006/relationships/tags" Target="../tags/tag334.xml"/><Relationship Id="rId149" Type="http://schemas.openxmlformats.org/officeDocument/2006/relationships/tags" Target="../tags/tag355.xml"/><Relationship Id="rId5" Type="http://schemas.openxmlformats.org/officeDocument/2006/relationships/tags" Target="../tags/tag211.xml"/><Relationship Id="rId95" Type="http://schemas.openxmlformats.org/officeDocument/2006/relationships/tags" Target="../tags/tag301.xml"/><Relationship Id="rId160" Type="http://schemas.openxmlformats.org/officeDocument/2006/relationships/tags" Target="../tags/tag366.xml"/><Relationship Id="rId22" Type="http://schemas.openxmlformats.org/officeDocument/2006/relationships/tags" Target="../tags/tag228.xml"/><Relationship Id="rId43" Type="http://schemas.openxmlformats.org/officeDocument/2006/relationships/tags" Target="../tags/tag249.xml"/><Relationship Id="rId64" Type="http://schemas.openxmlformats.org/officeDocument/2006/relationships/tags" Target="../tags/tag270.xml"/><Relationship Id="rId118" Type="http://schemas.openxmlformats.org/officeDocument/2006/relationships/tags" Target="../tags/tag324.xml"/><Relationship Id="rId139" Type="http://schemas.openxmlformats.org/officeDocument/2006/relationships/tags" Target="../tags/tag345.xml"/><Relationship Id="rId85" Type="http://schemas.openxmlformats.org/officeDocument/2006/relationships/tags" Target="../tags/tag291.xml"/><Relationship Id="rId150" Type="http://schemas.openxmlformats.org/officeDocument/2006/relationships/tags" Target="../tags/tag356.xml"/><Relationship Id="rId171" Type="http://schemas.openxmlformats.org/officeDocument/2006/relationships/tags" Target="../tags/tag377.xml"/><Relationship Id="rId12" Type="http://schemas.openxmlformats.org/officeDocument/2006/relationships/tags" Target="../tags/tag218.xml"/><Relationship Id="rId33" Type="http://schemas.openxmlformats.org/officeDocument/2006/relationships/tags" Target="../tags/tag239.xml"/><Relationship Id="rId108" Type="http://schemas.openxmlformats.org/officeDocument/2006/relationships/tags" Target="../tags/tag314.xml"/><Relationship Id="rId129" Type="http://schemas.openxmlformats.org/officeDocument/2006/relationships/tags" Target="../tags/tag335.xml"/><Relationship Id="rId54" Type="http://schemas.openxmlformats.org/officeDocument/2006/relationships/tags" Target="../tags/tag260.xml"/><Relationship Id="rId75" Type="http://schemas.openxmlformats.org/officeDocument/2006/relationships/tags" Target="../tags/tag281.xml"/><Relationship Id="rId96" Type="http://schemas.openxmlformats.org/officeDocument/2006/relationships/tags" Target="../tags/tag302.xml"/><Relationship Id="rId140" Type="http://schemas.openxmlformats.org/officeDocument/2006/relationships/tags" Target="../tags/tag346.xml"/><Relationship Id="rId161" Type="http://schemas.openxmlformats.org/officeDocument/2006/relationships/tags" Target="../tags/tag367.xml"/><Relationship Id="rId1" Type="http://schemas.openxmlformats.org/officeDocument/2006/relationships/tags" Target="../tags/tag207.xml"/><Relationship Id="rId6" Type="http://schemas.openxmlformats.org/officeDocument/2006/relationships/tags" Target="../tags/tag212.xml"/><Relationship Id="rId23" Type="http://schemas.openxmlformats.org/officeDocument/2006/relationships/tags" Target="../tags/tag229.xml"/><Relationship Id="rId28" Type="http://schemas.openxmlformats.org/officeDocument/2006/relationships/tags" Target="../tags/tag234.xml"/><Relationship Id="rId49" Type="http://schemas.openxmlformats.org/officeDocument/2006/relationships/tags" Target="../tags/tag255.xml"/><Relationship Id="rId114" Type="http://schemas.openxmlformats.org/officeDocument/2006/relationships/tags" Target="../tags/tag320.xml"/><Relationship Id="rId119" Type="http://schemas.openxmlformats.org/officeDocument/2006/relationships/tags" Target="../tags/tag325.xml"/><Relationship Id="rId44" Type="http://schemas.openxmlformats.org/officeDocument/2006/relationships/tags" Target="../tags/tag250.xml"/><Relationship Id="rId60" Type="http://schemas.openxmlformats.org/officeDocument/2006/relationships/tags" Target="../tags/tag266.xml"/><Relationship Id="rId65" Type="http://schemas.openxmlformats.org/officeDocument/2006/relationships/tags" Target="../tags/tag271.xml"/><Relationship Id="rId81" Type="http://schemas.openxmlformats.org/officeDocument/2006/relationships/tags" Target="../tags/tag287.xml"/><Relationship Id="rId86" Type="http://schemas.openxmlformats.org/officeDocument/2006/relationships/tags" Target="../tags/tag292.xml"/><Relationship Id="rId130" Type="http://schemas.openxmlformats.org/officeDocument/2006/relationships/tags" Target="../tags/tag336.xml"/><Relationship Id="rId135" Type="http://schemas.openxmlformats.org/officeDocument/2006/relationships/tags" Target="../tags/tag341.xml"/><Relationship Id="rId151" Type="http://schemas.openxmlformats.org/officeDocument/2006/relationships/tags" Target="../tags/tag357.xml"/><Relationship Id="rId156" Type="http://schemas.openxmlformats.org/officeDocument/2006/relationships/tags" Target="../tags/tag362.xml"/><Relationship Id="rId172" Type="http://schemas.openxmlformats.org/officeDocument/2006/relationships/tags" Target="../tags/tag378.xml"/><Relationship Id="rId13" Type="http://schemas.openxmlformats.org/officeDocument/2006/relationships/tags" Target="../tags/tag219.xml"/><Relationship Id="rId18" Type="http://schemas.openxmlformats.org/officeDocument/2006/relationships/tags" Target="../tags/tag224.xml"/><Relationship Id="rId39" Type="http://schemas.openxmlformats.org/officeDocument/2006/relationships/tags" Target="../tags/tag245.xml"/><Relationship Id="rId109" Type="http://schemas.openxmlformats.org/officeDocument/2006/relationships/tags" Target="../tags/tag315.xml"/><Relationship Id="rId34" Type="http://schemas.openxmlformats.org/officeDocument/2006/relationships/tags" Target="../tags/tag240.xml"/><Relationship Id="rId50" Type="http://schemas.openxmlformats.org/officeDocument/2006/relationships/tags" Target="../tags/tag256.xml"/><Relationship Id="rId55" Type="http://schemas.openxmlformats.org/officeDocument/2006/relationships/tags" Target="../tags/tag261.xml"/><Relationship Id="rId76" Type="http://schemas.openxmlformats.org/officeDocument/2006/relationships/tags" Target="../tags/tag282.xml"/><Relationship Id="rId97" Type="http://schemas.openxmlformats.org/officeDocument/2006/relationships/tags" Target="../tags/tag303.xml"/><Relationship Id="rId104" Type="http://schemas.openxmlformats.org/officeDocument/2006/relationships/tags" Target="../tags/tag310.xml"/><Relationship Id="rId120" Type="http://schemas.openxmlformats.org/officeDocument/2006/relationships/tags" Target="../tags/tag326.xml"/><Relationship Id="rId125" Type="http://schemas.openxmlformats.org/officeDocument/2006/relationships/tags" Target="../tags/tag331.xml"/><Relationship Id="rId141" Type="http://schemas.openxmlformats.org/officeDocument/2006/relationships/tags" Target="../tags/tag347.xml"/><Relationship Id="rId146" Type="http://schemas.openxmlformats.org/officeDocument/2006/relationships/tags" Target="../tags/tag352.xml"/><Relationship Id="rId167" Type="http://schemas.openxmlformats.org/officeDocument/2006/relationships/tags" Target="../tags/tag373.xml"/><Relationship Id="rId7" Type="http://schemas.openxmlformats.org/officeDocument/2006/relationships/tags" Target="../tags/tag213.xml"/><Relationship Id="rId71" Type="http://schemas.openxmlformats.org/officeDocument/2006/relationships/tags" Target="../tags/tag277.xml"/><Relationship Id="rId92" Type="http://schemas.openxmlformats.org/officeDocument/2006/relationships/tags" Target="../tags/tag298.xml"/><Relationship Id="rId162" Type="http://schemas.openxmlformats.org/officeDocument/2006/relationships/tags" Target="../tags/tag368.xml"/><Relationship Id="rId2" Type="http://schemas.openxmlformats.org/officeDocument/2006/relationships/tags" Target="../tags/tag208.xml"/><Relationship Id="rId29" Type="http://schemas.openxmlformats.org/officeDocument/2006/relationships/tags" Target="../tags/tag235.xml"/><Relationship Id="rId24" Type="http://schemas.openxmlformats.org/officeDocument/2006/relationships/tags" Target="../tags/tag230.xml"/><Relationship Id="rId40" Type="http://schemas.openxmlformats.org/officeDocument/2006/relationships/tags" Target="../tags/tag246.xml"/><Relationship Id="rId45" Type="http://schemas.openxmlformats.org/officeDocument/2006/relationships/tags" Target="../tags/tag251.xml"/><Relationship Id="rId66" Type="http://schemas.openxmlformats.org/officeDocument/2006/relationships/tags" Target="../tags/tag272.xml"/><Relationship Id="rId87" Type="http://schemas.openxmlformats.org/officeDocument/2006/relationships/tags" Target="../tags/tag293.xml"/><Relationship Id="rId110" Type="http://schemas.openxmlformats.org/officeDocument/2006/relationships/tags" Target="../tags/tag316.xml"/><Relationship Id="rId115" Type="http://schemas.openxmlformats.org/officeDocument/2006/relationships/tags" Target="../tags/tag321.xml"/><Relationship Id="rId131" Type="http://schemas.openxmlformats.org/officeDocument/2006/relationships/tags" Target="../tags/tag337.xml"/><Relationship Id="rId136" Type="http://schemas.openxmlformats.org/officeDocument/2006/relationships/tags" Target="../tags/tag342.xml"/><Relationship Id="rId157" Type="http://schemas.openxmlformats.org/officeDocument/2006/relationships/tags" Target="../tags/tag363.xml"/><Relationship Id="rId61" Type="http://schemas.openxmlformats.org/officeDocument/2006/relationships/tags" Target="../tags/tag267.xml"/><Relationship Id="rId82" Type="http://schemas.openxmlformats.org/officeDocument/2006/relationships/tags" Target="../tags/tag288.xml"/><Relationship Id="rId152" Type="http://schemas.openxmlformats.org/officeDocument/2006/relationships/tags" Target="../tags/tag358.xml"/><Relationship Id="rId173" Type="http://schemas.openxmlformats.org/officeDocument/2006/relationships/slideLayout" Target="../slideLayouts/slideLayout7.xml"/><Relationship Id="rId19" Type="http://schemas.openxmlformats.org/officeDocument/2006/relationships/tags" Target="../tags/tag225.xml"/><Relationship Id="rId14" Type="http://schemas.openxmlformats.org/officeDocument/2006/relationships/tags" Target="../tags/tag220.xml"/><Relationship Id="rId30" Type="http://schemas.openxmlformats.org/officeDocument/2006/relationships/tags" Target="../tags/tag236.xml"/><Relationship Id="rId35" Type="http://schemas.openxmlformats.org/officeDocument/2006/relationships/tags" Target="../tags/tag241.xml"/><Relationship Id="rId56" Type="http://schemas.openxmlformats.org/officeDocument/2006/relationships/tags" Target="../tags/tag262.xml"/><Relationship Id="rId77" Type="http://schemas.openxmlformats.org/officeDocument/2006/relationships/tags" Target="../tags/tag283.xml"/><Relationship Id="rId100" Type="http://schemas.openxmlformats.org/officeDocument/2006/relationships/tags" Target="../tags/tag306.xml"/><Relationship Id="rId105" Type="http://schemas.openxmlformats.org/officeDocument/2006/relationships/tags" Target="../tags/tag311.xml"/><Relationship Id="rId126" Type="http://schemas.openxmlformats.org/officeDocument/2006/relationships/tags" Target="../tags/tag332.xml"/><Relationship Id="rId147" Type="http://schemas.openxmlformats.org/officeDocument/2006/relationships/tags" Target="../tags/tag353.xml"/><Relationship Id="rId168" Type="http://schemas.openxmlformats.org/officeDocument/2006/relationships/tags" Target="../tags/tag374.xml"/><Relationship Id="rId8" Type="http://schemas.openxmlformats.org/officeDocument/2006/relationships/tags" Target="../tags/tag214.xml"/><Relationship Id="rId51" Type="http://schemas.openxmlformats.org/officeDocument/2006/relationships/tags" Target="../tags/tag257.xml"/><Relationship Id="rId72" Type="http://schemas.openxmlformats.org/officeDocument/2006/relationships/tags" Target="../tags/tag278.xml"/><Relationship Id="rId93" Type="http://schemas.openxmlformats.org/officeDocument/2006/relationships/tags" Target="../tags/tag299.xml"/><Relationship Id="rId98" Type="http://schemas.openxmlformats.org/officeDocument/2006/relationships/tags" Target="../tags/tag304.xml"/><Relationship Id="rId121" Type="http://schemas.openxmlformats.org/officeDocument/2006/relationships/tags" Target="../tags/tag327.xml"/><Relationship Id="rId142" Type="http://schemas.openxmlformats.org/officeDocument/2006/relationships/tags" Target="../tags/tag348.xml"/><Relationship Id="rId163" Type="http://schemas.openxmlformats.org/officeDocument/2006/relationships/tags" Target="../tags/tag369.xml"/><Relationship Id="rId3" Type="http://schemas.openxmlformats.org/officeDocument/2006/relationships/tags" Target="../tags/tag209.xml"/><Relationship Id="rId25" Type="http://schemas.openxmlformats.org/officeDocument/2006/relationships/tags" Target="../tags/tag231.xml"/><Relationship Id="rId46" Type="http://schemas.openxmlformats.org/officeDocument/2006/relationships/tags" Target="../tags/tag252.xml"/><Relationship Id="rId67" Type="http://schemas.openxmlformats.org/officeDocument/2006/relationships/tags" Target="../tags/tag273.xml"/><Relationship Id="rId116" Type="http://schemas.openxmlformats.org/officeDocument/2006/relationships/tags" Target="../tags/tag322.xml"/><Relationship Id="rId137" Type="http://schemas.openxmlformats.org/officeDocument/2006/relationships/tags" Target="../tags/tag343.xml"/><Relationship Id="rId158" Type="http://schemas.openxmlformats.org/officeDocument/2006/relationships/tags" Target="../tags/tag364.xml"/><Relationship Id="rId20" Type="http://schemas.openxmlformats.org/officeDocument/2006/relationships/tags" Target="../tags/tag226.xml"/><Relationship Id="rId41" Type="http://schemas.openxmlformats.org/officeDocument/2006/relationships/tags" Target="../tags/tag247.xml"/><Relationship Id="rId62" Type="http://schemas.openxmlformats.org/officeDocument/2006/relationships/tags" Target="../tags/tag268.xml"/><Relationship Id="rId83" Type="http://schemas.openxmlformats.org/officeDocument/2006/relationships/tags" Target="../tags/tag289.xml"/><Relationship Id="rId88" Type="http://schemas.openxmlformats.org/officeDocument/2006/relationships/tags" Target="../tags/tag294.xml"/><Relationship Id="rId111" Type="http://schemas.openxmlformats.org/officeDocument/2006/relationships/tags" Target="../tags/tag317.xml"/><Relationship Id="rId132" Type="http://schemas.openxmlformats.org/officeDocument/2006/relationships/tags" Target="../tags/tag338.xml"/><Relationship Id="rId153" Type="http://schemas.openxmlformats.org/officeDocument/2006/relationships/tags" Target="../tags/tag359.xml"/><Relationship Id="rId174" Type="http://schemas.openxmlformats.org/officeDocument/2006/relationships/notesSlide" Target="../notesSlides/notesSlide17.xml"/><Relationship Id="rId15" Type="http://schemas.openxmlformats.org/officeDocument/2006/relationships/tags" Target="../tags/tag221.xml"/><Relationship Id="rId36" Type="http://schemas.openxmlformats.org/officeDocument/2006/relationships/tags" Target="../tags/tag242.xml"/><Relationship Id="rId57" Type="http://schemas.openxmlformats.org/officeDocument/2006/relationships/tags" Target="../tags/tag263.xml"/><Relationship Id="rId106" Type="http://schemas.openxmlformats.org/officeDocument/2006/relationships/tags" Target="../tags/tag312.xml"/><Relationship Id="rId127" Type="http://schemas.openxmlformats.org/officeDocument/2006/relationships/tags" Target="../tags/tag333.xml"/><Relationship Id="rId10" Type="http://schemas.openxmlformats.org/officeDocument/2006/relationships/tags" Target="../tags/tag216.xml"/><Relationship Id="rId31" Type="http://schemas.openxmlformats.org/officeDocument/2006/relationships/tags" Target="../tags/tag237.xml"/><Relationship Id="rId52" Type="http://schemas.openxmlformats.org/officeDocument/2006/relationships/tags" Target="../tags/tag258.xml"/><Relationship Id="rId73" Type="http://schemas.openxmlformats.org/officeDocument/2006/relationships/tags" Target="../tags/tag279.xml"/><Relationship Id="rId78" Type="http://schemas.openxmlformats.org/officeDocument/2006/relationships/tags" Target="../tags/tag284.xml"/><Relationship Id="rId94" Type="http://schemas.openxmlformats.org/officeDocument/2006/relationships/tags" Target="../tags/tag300.xml"/><Relationship Id="rId99" Type="http://schemas.openxmlformats.org/officeDocument/2006/relationships/tags" Target="../tags/tag305.xml"/><Relationship Id="rId101" Type="http://schemas.openxmlformats.org/officeDocument/2006/relationships/tags" Target="../tags/tag307.xml"/><Relationship Id="rId122" Type="http://schemas.openxmlformats.org/officeDocument/2006/relationships/tags" Target="../tags/tag328.xml"/><Relationship Id="rId143" Type="http://schemas.openxmlformats.org/officeDocument/2006/relationships/tags" Target="../tags/tag349.xml"/><Relationship Id="rId148" Type="http://schemas.openxmlformats.org/officeDocument/2006/relationships/tags" Target="../tags/tag354.xml"/><Relationship Id="rId164" Type="http://schemas.openxmlformats.org/officeDocument/2006/relationships/tags" Target="../tags/tag370.xml"/><Relationship Id="rId169" Type="http://schemas.openxmlformats.org/officeDocument/2006/relationships/tags" Target="../tags/tag375.xml"/><Relationship Id="rId4" Type="http://schemas.openxmlformats.org/officeDocument/2006/relationships/tags" Target="../tags/tag210.xml"/><Relationship Id="rId9" Type="http://schemas.openxmlformats.org/officeDocument/2006/relationships/tags" Target="../tags/tag215.xml"/><Relationship Id="rId26" Type="http://schemas.openxmlformats.org/officeDocument/2006/relationships/tags" Target="../tags/tag232.xml"/><Relationship Id="rId47" Type="http://schemas.openxmlformats.org/officeDocument/2006/relationships/tags" Target="../tags/tag253.xml"/><Relationship Id="rId68" Type="http://schemas.openxmlformats.org/officeDocument/2006/relationships/tags" Target="../tags/tag274.xml"/><Relationship Id="rId89" Type="http://schemas.openxmlformats.org/officeDocument/2006/relationships/tags" Target="../tags/tag295.xml"/><Relationship Id="rId112" Type="http://schemas.openxmlformats.org/officeDocument/2006/relationships/tags" Target="../tags/tag318.xml"/><Relationship Id="rId133" Type="http://schemas.openxmlformats.org/officeDocument/2006/relationships/tags" Target="../tags/tag339.xml"/><Relationship Id="rId154" Type="http://schemas.openxmlformats.org/officeDocument/2006/relationships/tags" Target="../tags/tag360.xml"/><Relationship Id="rId175" Type="http://schemas.openxmlformats.org/officeDocument/2006/relationships/slide" Target="slide9.xml"/><Relationship Id="rId16" Type="http://schemas.openxmlformats.org/officeDocument/2006/relationships/tags" Target="../tags/tag222.xml"/><Relationship Id="rId37" Type="http://schemas.openxmlformats.org/officeDocument/2006/relationships/tags" Target="../tags/tag243.xml"/><Relationship Id="rId58" Type="http://schemas.openxmlformats.org/officeDocument/2006/relationships/tags" Target="../tags/tag264.xml"/><Relationship Id="rId79" Type="http://schemas.openxmlformats.org/officeDocument/2006/relationships/tags" Target="../tags/tag285.xml"/><Relationship Id="rId102" Type="http://schemas.openxmlformats.org/officeDocument/2006/relationships/tags" Target="../tags/tag308.xml"/><Relationship Id="rId123" Type="http://schemas.openxmlformats.org/officeDocument/2006/relationships/tags" Target="../tags/tag329.xml"/><Relationship Id="rId144" Type="http://schemas.openxmlformats.org/officeDocument/2006/relationships/tags" Target="../tags/tag350.xml"/><Relationship Id="rId90" Type="http://schemas.openxmlformats.org/officeDocument/2006/relationships/tags" Target="../tags/tag296.xml"/><Relationship Id="rId165" Type="http://schemas.openxmlformats.org/officeDocument/2006/relationships/tags" Target="../tags/tag371.xml"/><Relationship Id="rId27" Type="http://schemas.openxmlformats.org/officeDocument/2006/relationships/tags" Target="../tags/tag233.xml"/><Relationship Id="rId48" Type="http://schemas.openxmlformats.org/officeDocument/2006/relationships/tags" Target="../tags/tag254.xml"/><Relationship Id="rId69" Type="http://schemas.openxmlformats.org/officeDocument/2006/relationships/tags" Target="../tags/tag275.xml"/><Relationship Id="rId113" Type="http://schemas.openxmlformats.org/officeDocument/2006/relationships/tags" Target="../tags/tag319.xml"/><Relationship Id="rId134" Type="http://schemas.openxmlformats.org/officeDocument/2006/relationships/tags" Target="../tags/tag340.xml"/><Relationship Id="rId80" Type="http://schemas.openxmlformats.org/officeDocument/2006/relationships/tags" Target="../tags/tag286.xml"/><Relationship Id="rId155" Type="http://schemas.openxmlformats.org/officeDocument/2006/relationships/tags" Target="../tags/tag361.xml"/><Relationship Id="rId17" Type="http://schemas.openxmlformats.org/officeDocument/2006/relationships/tags" Target="../tags/tag223.xml"/><Relationship Id="rId38" Type="http://schemas.openxmlformats.org/officeDocument/2006/relationships/tags" Target="../tags/tag244.xml"/><Relationship Id="rId59" Type="http://schemas.openxmlformats.org/officeDocument/2006/relationships/tags" Target="../tags/tag265.xml"/><Relationship Id="rId103" Type="http://schemas.openxmlformats.org/officeDocument/2006/relationships/tags" Target="../tags/tag309.xml"/><Relationship Id="rId124" Type="http://schemas.openxmlformats.org/officeDocument/2006/relationships/tags" Target="../tags/tag330.xml"/><Relationship Id="rId70" Type="http://schemas.openxmlformats.org/officeDocument/2006/relationships/tags" Target="../tags/tag276.xml"/><Relationship Id="rId91" Type="http://schemas.openxmlformats.org/officeDocument/2006/relationships/tags" Target="../tags/tag297.xml"/><Relationship Id="rId145" Type="http://schemas.openxmlformats.org/officeDocument/2006/relationships/tags" Target="../tags/tag351.xml"/><Relationship Id="rId166" Type="http://schemas.openxmlformats.org/officeDocument/2006/relationships/tags" Target="../tags/tag37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386.xml"/><Relationship Id="rId3" Type="http://schemas.openxmlformats.org/officeDocument/2006/relationships/tags" Target="../tags/tag381.xml"/><Relationship Id="rId7" Type="http://schemas.openxmlformats.org/officeDocument/2006/relationships/tags" Target="../tags/tag385.xml"/><Relationship Id="rId12" Type="http://schemas.openxmlformats.org/officeDocument/2006/relationships/slideLayout" Target="../slideLayouts/slideLayout7.xml"/><Relationship Id="rId2" Type="http://schemas.openxmlformats.org/officeDocument/2006/relationships/tags" Target="../tags/tag380.xml"/><Relationship Id="rId1" Type="http://schemas.openxmlformats.org/officeDocument/2006/relationships/tags" Target="../tags/tag379.xml"/><Relationship Id="rId6" Type="http://schemas.openxmlformats.org/officeDocument/2006/relationships/tags" Target="../tags/tag384.xml"/><Relationship Id="rId11" Type="http://schemas.openxmlformats.org/officeDocument/2006/relationships/tags" Target="../tags/tag389.xml"/><Relationship Id="rId5" Type="http://schemas.openxmlformats.org/officeDocument/2006/relationships/tags" Target="../tags/tag383.xml"/><Relationship Id="rId10" Type="http://schemas.openxmlformats.org/officeDocument/2006/relationships/tags" Target="../tags/tag388.xml"/><Relationship Id="rId4" Type="http://schemas.openxmlformats.org/officeDocument/2006/relationships/tags" Target="../tags/tag382.xml"/><Relationship Id="rId9" Type="http://schemas.openxmlformats.org/officeDocument/2006/relationships/tags" Target="../tags/tag38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2.xml"/><Relationship Id="rId4" Type="http://schemas.openxmlformats.org/officeDocument/2006/relationships/slide" Target="slide2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9.xml"/><Relationship Id="rId4" Type="http://schemas.openxmlformats.org/officeDocument/2006/relationships/slide" Target="slide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94.xml"/><Relationship Id="rId1" Type="http://schemas.openxmlformats.org/officeDocument/2006/relationships/tags" Target="../tags/tag393.xml"/><Relationship Id="rId6" Type="http://schemas.openxmlformats.org/officeDocument/2006/relationships/slide" Target="slide36.xml"/><Relationship Id="rId5" Type="http://schemas.openxmlformats.org/officeDocument/2006/relationships/slide" Target="slide9.xml"/><Relationship Id="rId4" Type="http://schemas.openxmlformats.org/officeDocument/2006/relationships/notesSlide" Target="../notesSlides/notesSlide2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6.xml"/><Relationship Id="rId5" Type="http://schemas.openxmlformats.org/officeDocument/2006/relationships/slide" Target="slide34.xml"/><Relationship Id="rId4" Type="http://schemas.openxmlformats.org/officeDocument/2006/relationships/slide" Target="slide3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slide" Target="slide20.xml"/><Relationship Id="rId4" Type="http://schemas.openxmlformats.org/officeDocument/2006/relationships/slide" Target="slide4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5.wmf"/><Relationship Id="rId10" Type="http://schemas.openxmlformats.org/officeDocument/2006/relationships/slide" Target="slide38.xml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&#35745;&#31639;&#26426;&#32452;&#25104;&#21407;&#29702;&#22797;&#20064;.pptx#-1,25,PowerPoint &#28436;&#31034;&#25991;&#31295;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3" Type="http://schemas.openxmlformats.org/officeDocument/2006/relationships/tags" Target="../tags/tag400.xml"/><Relationship Id="rId7" Type="http://schemas.openxmlformats.org/officeDocument/2006/relationships/image" Target="../media/image9.png"/><Relationship Id="rId2" Type="http://schemas.openxmlformats.org/officeDocument/2006/relationships/tags" Target="../tags/tag399.xml"/><Relationship Id="rId1" Type="http://schemas.openxmlformats.org/officeDocument/2006/relationships/tags" Target="../tags/tag398.xml"/><Relationship Id="rId6" Type="http://schemas.openxmlformats.org/officeDocument/2006/relationships/image" Target="../media/image8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0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1003300" y="1916113"/>
            <a:ext cx="7240588" cy="9144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anchor="ctr" anchorCtr="1">
            <a:spAutoFit/>
          </a:bodyPr>
          <a:lstStyle/>
          <a:p>
            <a:pPr algn="ctr"/>
            <a:r>
              <a:rPr lang="zh-CN" altLang="en-US" sz="5400" b="1" dirty="0">
                <a:ea typeface="楷体_GB2312" pitchFamily="49" charset="-122"/>
              </a:rPr>
              <a:t>计算机组成原理</a:t>
            </a:r>
          </a:p>
        </p:txBody>
      </p:sp>
      <p:sp>
        <p:nvSpPr>
          <p:cNvPr id="2055" name="Text Box 7"/>
          <p:cNvSpPr txBox="1">
            <a:spLocks noChangeArrowheads="1"/>
          </p:cNvSpPr>
          <p:nvPr/>
        </p:nvSpPr>
        <p:spPr bwMode="auto">
          <a:xfrm>
            <a:off x="1403350" y="3284538"/>
            <a:ext cx="6624638" cy="1312862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CC3300"/>
                </a:solidFill>
              </a:rPr>
              <a:t>东南大学计算机学院  任国林</a:t>
            </a:r>
          </a:p>
          <a:p>
            <a:pPr algn="ctr"/>
            <a:r>
              <a:rPr lang="zh-CN" altLang="en-US" sz="800" b="1" dirty="0"/>
              <a:t> </a:t>
            </a:r>
          </a:p>
          <a:p>
            <a:pPr algn="ctr"/>
            <a:r>
              <a:rPr lang="en-US" altLang="zh-CN" sz="3600" b="1" dirty="0"/>
              <a:t>Email: </a:t>
            </a:r>
            <a:r>
              <a:rPr lang="en-US" altLang="zh-CN" sz="3600" dirty="0"/>
              <a:t>renguolin@sina.com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</a:t>
            </a:fld>
            <a:endParaRPr lang="en-US" altLang="zh-CN"/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323528" y="571480"/>
            <a:ext cx="8568952" cy="584775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宋体" panose="02010600030101010101" pitchFamily="2" charset="-122"/>
              </a:rPr>
              <a:t>课程目标</a:t>
            </a: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57279472-C7C1-45F6-BD36-967DAED0B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45" y="1293811"/>
            <a:ext cx="8356597" cy="43150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457200" indent="-457200">
              <a:lnSpc>
                <a:spcPct val="125000"/>
              </a:lnSpc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目标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1—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掌握计算机硬件的组成及工作原理</a:t>
            </a: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   *</a:t>
            </a:r>
            <a:r>
              <a:rPr lang="zh-CN" altLang="en-US" b="1" u="sng" dirty="0">
                <a:latin typeface="宋体" panose="02010600030101010101" pitchFamily="2" charset="-122"/>
              </a:rPr>
              <a:t>建立</a:t>
            </a:r>
            <a:r>
              <a:rPr lang="zh-CN" altLang="en-US" b="1" dirty="0">
                <a:latin typeface="宋体" panose="02010600030101010101" pitchFamily="2" charset="-122"/>
              </a:rPr>
              <a:t>计算机的</a:t>
            </a:r>
            <a:r>
              <a:rPr lang="zh-CN" altLang="en-US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整机概念</a:t>
            </a:r>
            <a:r>
              <a:rPr lang="zh-CN" altLang="en-US" sz="1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                 </a:t>
            </a:r>
            <a:r>
              <a: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关联软件</a:t>
            </a:r>
            <a:r>
              <a: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硬件</a:t>
            </a:r>
            <a:r>
              <a: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)</a:t>
            </a:r>
            <a:endParaRPr lang="zh-CN" altLang="en-US" sz="1800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   *</a:t>
            </a:r>
            <a:r>
              <a:rPr lang="zh-CN" altLang="en-US" b="1" u="sng" dirty="0">
                <a:latin typeface="宋体" panose="02010600030101010101" pitchFamily="2" charset="-122"/>
              </a:rPr>
              <a:t>掌握</a:t>
            </a:r>
            <a:r>
              <a:rPr lang="zh-CN" altLang="en-US" b="1" dirty="0">
                <a:latin typeface="宋体" panose="02010600030101010101" pitchFamily="2" charset="-122"/>
              </a:rPr>
              <a:t>计算机硬件的</a:t>
            </a:r>
            <a:r>
              <a:rPr lang="zh-CN" altLang="en-US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组成及工作原理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理解组成</a:t>
            </a:r>
            <a:r>
              <a: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控制</a:t>
            </a:r>
            <a:r>
              <a: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)</a:t>
            </a:r>
            <a:endParaRPr lang="zh-CN" altLang="en-US" sz="1800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   *</a:t>
            </a:r>
            <a:r>
              <a:rPr lang="zh-CN" altLang="en-US" b="1" u="sng" dirty="0">
                <a:latin typeface="宋体" panose="02010600030101010101" pitchFamily="2" charset="-122"/>
              </a:rPr>
              <a:t>了解</a:t>
            </a:r>
            <a:r>
              <a:rPr lang="zh-CN" altLang="en-US" b="1" dirty="0">
                <a:latin typeface="宋体" panose="02010600030101010101" pitchFamily="2" charset="-122"/>
              </a:rPr>
              <a:t>计算机硬件组成的</a:t>
            </a:r>
            <a:r>
              <a:rPr lang="zh-CN" altLang="en-US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新技术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 </a:t>
            </a:r>
            <a:r>
              <a: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拓展知识面</a:t>
            </a:r>
            <a:r>
              <a: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)</a:t>
            </a:r>
          </a:p>
          <a:p>
            <a:pPr marL="457200" indent="-457200">
              <a:lnSpc>
                <a:spcPct val="125000"/>
              </a:lnSpc>
              <a:spcBef>
                <a:spcPts val="600"/>
              </a:spcBef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目标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2—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培养计算机硬件的设计与开发能力</a:t>
            </a: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   *能够</a:t>
            </a:r>
            <a:r>
              <a:rPr lang="zh-CN" altLang="en-US" b="1" u="sng" dirty="0">
                <a:latin typeface="宋体" panose="02010600030101010101" pitchFamily="2" charset="-122"/>
              </a:rPr>
              <a:t>进行</a:t>
            </a:r>
            <a:r>
              <a:rPr lang="zh-CN" altLang="en-US" b="1" dirty="0">
                <a:latin typeface="宋体" panose="02010600030101010101" pitchFamily="2" charset="-122"/>
              </a:rPr>
              <a:t>计算机硬件的</a:t>
            </a:r>
            <a:r>
              <a:rPr lang="zh-CN" altLang="en-US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逻辑设计</a:t>
            </a:r>
            <a:r>
              <a:rPr lang="zh-CN" altLang="en-US" b="1" dirty="0">
                <a:latin typeface="宋体" panose="02010600030101010101" pitchFamily="2" charset="-122"/>
              </a:rPr>
              <a:t>     </a:t>
            </a:r>
            <a:r>
              <a: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分析</a:t>
            </a:r>
            <a:r>
              <a: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解决问题</a:t>
            </a:r>
            <a:r>
              <a: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)</a:t>
            </a: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   *能够</a:t>
            </a:r>
            <a:r>
              <a:rPr lang="zh-CN" altLang="en-US" b="1" u="sng" dirty="0">
                <a:latin typeface="宋体" panose="02010600030101010101" pitchFamily="2" charset="-122"/>
              </a:rPr>
              <a:t>掌握</a:t>
            </a:r>
            <a:r>
              <a:rPr lang="zh-CN" altLang="en-US" b="1" dirty="0">
                <a:latin typeface="宋体" panose="02010600030101010101" pitchFamily="2" charset="-122"/>
              </a:rPr>
              <a:t>计算机硬件的</a:t>
            </a:r>
            <a:r>
              <a:rPr lang="zh-CN" altLang="en-US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开发流程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     </a:t>
            </a:r>
            <a:r>
              <a: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工具使用</a:t>
            </a:r>
            <a:r>
              <a: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)</a:t>
            </a: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en-US" altLang="zh-CN" b="1" dirty="0">
                <a:latin typeface="宋体" panose="02010600030101010101" pitchFamily="2" charset="-122"/>
              </a:rPr>
              <a:t>   </a:t>
            </a:r>
            <a:r>
              <a:rPr lang="zh-CN" altLang="en-US" b="1" dirty="0">
                <a:latin typeface="宋体" panose="02010600030101010101" pitchFamily="2" charset="-122"/>
              </a:rPr>
              <a:t>*能够</a:t>
            </a:r>
            <a:r>
              <a:rPr lang="zh-CN" altLang="en-US" b="1" u="sng" dirty="0">
                <a:latin typeface="宋体" panose="02010600030101010101" pitchFamily="2" charset="-122"/>
              </a:rPr>
              <a:t>完成</a:t>
            </a:r>
            <a:r>
              <a:rPr lang="zh-CN" altLang="en-US" b="1" dirty="0">
                <a:latin typeface="宋体" panose="02010600030101010101" pitchFamily="2" charset="-122"/>
              </a:rPr>
              <a:t>所设计硬件的</a:t>
            </a:r>
            <a:r>
              <a:rPr lang="zh-CN" altLang="en-US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电路实现</a:t>
            </a:r>
            <a:r>
              <a:rPr lang="zh-CN" altLang="en-US" b="1" dirty="0"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工程实践</a:t>
            </a:r>
            <a:r>
              <a:rPr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</a:rPr>
              <a:t>)</a:t>
            </a:r>
            <a:endParaRPr lang="zh-CN" altLang="en-US" sz="1800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</a:pPr>
            <a:endParaRPr lang="zh-CN" altLang="en-US" sz="1800" u="sng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3</a:t>
            </a:fld>
            <a:endParaRPr lang="en-US" altLang="zh-CN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23528" y="571480"/>
            <a:ext cx="8568952" cy="584775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宋体" panose="02010600030101010101" pitchFamily="2" charset="-122"/>
              </a:rPr>
              <a:t>教学要求</a:t>
            </a:r>
          </a:p>
        </p:txBody>
      </p:sp>
      <p:sp>
        <p:nvSpPr>
          <p:cNvPr id="9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5400000">
            <a:off x="2808152" y="6056945"/>
            <a:ext cx="287337" cy="122413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270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转</a:t>
            </a:r>
            <a:r>
              <a:rPr lang="zh-CN" altLang="en-US" sz="1600" dirty="0">
                <a:solidFill>
                  <a:schemeClr val="bg2"/>
                </a:solidFill>
                <a:latin typeface="+mn-ea"/>
                <a:ea typeface="+mn-ea"/>
              </a:rPr>
              <a:t>学习思考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D7A1A72A-EFEA-4F00-AA01-635B4751B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268760"/>
            <a:ext cx="1944216" cy="38206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先修课程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教学方式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参考教材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endParaRPr lang="en-US" altLang="zh-CN" b="1" dirty="0"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考核方式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457200" indent="-457200">
              <a:lnSpc>
                <a:spcPct val="105000"/>
              </a:lnSpc>
              <a:spcBef>
                <a:spcPts val="300"/>
              </a:spcBef>
            </a:pPr>
            <a:endParaRPr lang="en-US" altLang="zh-CN" sz="1800" b="1" dirty="0"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教学进度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课外辅导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292EEC9A-55AE-42A0-8292-4F49AE7ED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704" y="1268760"/>
            <a:ext cx="7056784" cy="38206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数字逻辑电路，程序设计基础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理论教学</a:t>
            </a:r>
            <a:r>
              <a:rPr lang="en-US" altLang="zh-CN" sz="2000" b="1" dirty="0">
                <a:latin typeface="宋体" panose="02010600030101010101" pitchFamily="2" charset="-122"/>
              </a:rPr>
              <a:t>(56</a:t>
            </a:r>
            <a:r>
              <a:rPr lang="zh-CN" altLang="en-US" sz="2000" b="1" dirty="0">
                <a:latin typeface="宋体" panose="02010600030101010101" pitchFamily="2" charset="-122"/>
              </a:rPr>
              <a:t>学时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＋实验教学</a:t>
            </a:r>
            <a:r>
              <a:rPr lang="en-US" altLang="zh-CN" sz="2000" b="1" dirty="0">
                <a:latin typeface="宋体" panose="02010600030101010101" pitchFamily="2" charset="-122"/>
              </a:rPr>
              <a:t>(16</a:t>
            </a:r>
            <a:r>
              <a:rPr lang="zh-CN" altLang="en-US" sz="2000" b="1" dirty="0">
                <a:latin typeface="宋体" panose="02010600030101010101" pitchFamily="2" charset="-122"/>
              </a:rPr>
              <a:t>学时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任国林</a:t>
            </a:r>
            <a:r>
              <a:rPr lang="en-US" altLang="zh-CN" b="1" dirty="0">
                <a:latin typeface="宋体" panose="02010600030101010101" pitchFamily="2" charset="-122"/>
              </a:rPr>
              <a:t>.</a:t>
            </a:r>
            <a:r>
              <a:rPr lang="zh-CN" altLang="en-US" b="1" dirty="0">
                <a:latin typeface="宋体" panose="02010600030101010101" pitchFamily="2" charset="-122"/>
              </a:rPr>
              <a:t>计算机组成原理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</a:rPr>
              <a:t>第</a:t>
            </a:r>
            <a:r>
              <a:rPr lang="en-US" altLang="zh-CN" b="1" dirty="0"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</a:rPr>
              <a:t>版</a:t>
            </a:r>
            <a:r>
              <a:rPr lang="en-US" altLang="zh-CN" b="1" dirty="0">
                <a:latin typeface="宋体" panose="02010600030101010101" pitchFamily="2" charset="-122"/>
              </a:rPr>
              <a:t>). </a:t>
            </a:r>
            <a:r>
              <a:rPr lang="zh-CN" altLang="en-US" b="1" dirty="0">
                <a:latin typeface="宋体" panose="02010600030101010101" pitchFamily="2" charset="-122"/>
              </a:rPr>
              <a:t>电子工业出版社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任国林</a:t>
            </a:r>
            <a:r>
              <a:rPr lang="en-US" altLang="zh-CN" b="1" dirty="0">
                <a:latin typeface="宋体" panose="02010600030101010101" pitchFamily="2" charset="-122"/>
              </a:rPr>
              <a:t>.</a:t>
            </a:r>
            <a:r>
              <a:rPr lang="zh-CN" altLang="en-US" b="1" dirty="0">
                <a:latin typeface="宋体" panose="02010600030101010101" pitchFamily="2" charset="-122"/>
              </a:rPr>
              <a:t>计算机组成原理实验讲义</a:t>
            </a:r>
            <a:r>
              <a:rPr lang="en-US" altLang="zh-CN" b="1" dirty="0">
                <a:latin typeface="宋体" panose="02010600030101010101" pitchFamily="2" charset="-122"/>
              </a:rPr>
              <a:t>(2024</a:t>
            </a:r>
            <a:r>
              <a:rPr lang="zh-CN" altLang="en-US" b="1" dirty="0">
                <a:latin typeface="宋体" panose="02010600030101010101" pitchFamily="2" charset="-122"/>
              </a:rPr>
              <a:t>版</a:t>
            </a:r>
            <a:r>
              <a:rPr lang="en-US" altLang="zh-CN" b="1" dirty="0">
                <a:latin typeface="宋体" panose="02010600030101010101" pitchFamily="2" charset="-122"/>
              </a:rPr>
              <a:t>). </a:t>
            </a:r>
            <a:r>
              <a:rPr lang="zh-CN" altLang="en-US" b="1" dirty="0">
                <a:latin typeface="宋体" panose="02010600030101010101" pitchFamily="2" charset="-122"/>
              </a:rPr>
              <a:t>自编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考勤</a:t>
            </a:r>
            <a:r>
              <a:rPr lang="en-US" altLang="zh-CN" b="1" dirty="0">
                <a:latin typeface="宋体" panose="02010600030101010101" pitchFamily="2" charset="-122"/>
              </a:rPr>
              <a:t>/</a:t>
            </a:r>
            <a:r>
              <a:rPr lang="zh-CN" altLang="en-US" b="1" dirty="0">
                <a:latin typeface="宋体" panose="02010600030101010101" pitchFamily="2" charset="-122"/>
              </a:rPr>
              <a:t>作业</a:t>
            </a:r>
            <a:r>
              <a:rPr lang="en-US" altLang="zh-CN" sz="2000" b="1" dirty="0">
                <a:latin typeface="宋体" panose="02010600030101010101" pitchFamily="2" charset="-122"/>
              </a:rPr>
              <a:t>(20%)</a:t>
            </a:r>
            <a:r>
              <a:rPr lang="zh-CN" altLang="en-US" b="1" dirty="0">
                <a:latin typeface="宋体" panose="02010600030101010101" pitchFamily="2" charset="-122"/>
              </a:rPr>
              <a:t>＋实验</a:t>
            </a:r>
            <a:r>
              <a:rPr lang="en-US" altLang="zh-CN" sz="2000" b="1" dirty="0">
                <a:latin typeface="宋体" panose="02010600030101010101" pitchFamily="2" charset="-122"/>
              </a:rPr>
              <a:t>(15%)</a:t>
            </a:r>
            <a:r>
              <a:rPr lang="zh-CN" altLang="en-US" b="1" dirty="0">
                <a:latin typeface="宋体" panose="02010600030101010101" pitchFamily="2" charset="-122"/>
              </a:rPr>
              <a:t>＋测验</a:t>
            </a:r>
            <a:r>
              <a:rPr lang="en-US" altLang="zh-CN" sz="2000" b="1" dirty="0">
                <a:latin typeface="宋体" panose="02010600030101010101" pitchFamily="2" charset="-122"/>
              </a:rPr>
              <a:t>(15%)</a:t>
            </a:r>
            <a:r>
              <a:rPr lang="zh-CN" altLang="en-US" b="1" dirty="0">
                <a:latin typeface="宋体" panose="02010600030101010101" pitchFamily="2" charset="-122"/>
              </a:rPr>
              <a:t>＋考试</a:t>
            </a:r>
            <a:r>
              <a:rPr lang="en-US" altLang="zh-CN" sz="2000" b="1" dirty="0">
                <a:latin typeface="宋体" panose="02010600030101010101" pitchFamily="2" charset="-122"/>
              </a:rPr>
              <a:t>(50%)</a:t>
            </a:r>
          </a:p>
          <a:p>
            <a:pPr marL="457200" indent="-457200">
              <a:lnSpc>
                <a:spcPct val="105000"/>
              </a:lnSpc>
              <a:spcBef>
                <a:spcPts val="300"/>
              </a:spcBef>
            </a:pPr>
            <a:r>
              <a:rPr lang="en-US" altLang="zh-CN" sz="1800" b="1" dirty="0">
                <a:latin typeface="宋体" panose="02010600030101010101" pitchFamily="2" charset="-122"/>
              </a:rPr>
              <a:t>     [</a:t>
            </a:r>
            <a:r>
              <a:rPr lang="zh-CN" altLang="en-US" sz="1800" b="1" dirty="0">
                <a:latin typeface="宋体" panose="02010600030101010101" pitchFamily="2" charset="-122"/>
              </a:rPr>
              <a:t>每周首次课交</a:t>
            </a:r>
            <a:r>
              <a:rPr lang="en-US" altLang="zh-CN" sz="1800" b="1" dirty="0">
                <a:latin typeface="宋体" panose="02010600030101010101" pitchFamily="2" charset="-122"/>
              </a:rPr>
              <a:t>]  [4</a:t>
            </a:r>
            <a:r>
              <a:rPr lang="zh-CN" altLang="en-US" sz="1800" b="1" dirty="0">
                <a:latin typeface="宋体" panose="02010600030101010101" pitchFamily="2" charset="-122"/>
              </a:rPr>
              <a:t>次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随堂</a:t>
            </a:r>
            <a:r>
              <a:rPr lang="en-US" altLang="zh-CN" sz="1800" b="1" dirty="0">
                <a:latin typeface="宋体" panose="02010600030101010101" pitchFamily="2" charset="-122"/>
              </a:rPr>
              <a:t>]   [</a:t>
            </a:r>
            <a:r>
              <a:rPr lang="zh-CN" altLang="en-US" sz="1800" b="1" dirty="0">
                <a:latin typeface="宋体" panose="02010600030101010101" pitchFamily="2" charset="-122"/>
              </a:rPr>
              <a:t>期中</a:t>
            </a:r>
            <a:r>
              <a:rPr lang="en-US" altLang="zh-CN" sz="1800" b="1" dirty="0">
                <a:latin typeface="宋体" panose="02010600030101010101" pitchFamily="2" charset="-122"/>
              </a:rPr>
              <a:t>]</a:t>
            </a: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共</a:t>
            </a:r>
            <a:r>
              <a:rPr lang="en-US" altLang="zh-CN" b="1" dirty="0">
                <a:latin typeface="宋体" panose="02010600030101010101" pitchFamily="2" charset="-122"/>
              </a:rPr>
              <a:t>12</a:t>
            </a:r>
            <a:r>
              <a:rPr lang="zh-CN" altLang="en-US" b="1" dirty="0">
                <a:latin typeface="宋体" panose="02010600030101010101" pitchFamily="2" charset="-122"/>
              </a:rPr>
              <a:t>周</a:t>
            </a:r>
            <a:r>
              <a:rPr lang="en-US" altLang="zh-CN" sz="2000" b="1" dirty="0">
                <a:latin typeface="宋体" panose="02010600030101010101" pitchFamily="2" charset="-122"/>
              </a:rPr>
              <a:t>(1-9</a:t>
            </a:r>
            <a:r>
              <a:rPr lang="zh-CN" altLang="en-US" sz="2000" b="1" dirty="0">
                <a:latin typeface="宋体" panose="02010600030101010101" pitchFamily="2" charset="-122"/>
              </a:rPr>
              <a:t>周、</a:t>
            </a:r>
            <a:r>
              <a:rPr lang="en-US" altLang="zh-CN" sz="2000" b="1" dirty="0">
                <a:latin typeface="宋体" panose="02010600030101010101" pitchFamily="2" charset="-122"/>
              </a:rPr>
              <a:t>14-16</a:t>
            </a:r>
            <a:r>
              <a:rPr lang="zh-CN" altLang="en-US" sz="2000" b="1" dirty="0">
                <a:latin typeface="宋体" panose="02010600030101010101" pitchFamily="2" charset="-122"/>
              </a:rPr>
              <a:t>周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</a:p>
          <a:p>
            <a:pPr marL="457200" indent="-457200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>
                <a:latin typeface="宋体" panose="02010600030101010101" pitchFamily="2" charset="-122"/>
              </a:rPr>
              <a:t>线上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</a:rPr>
              <a:t>不限时间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zh-CN" altLang="en-US" b="1" dirty="0">
                <a:latin typeface="+mn-ea"/>
              </a:rPr>
              <a:t>课程群号</a:t>
            </a:r>
            <a:r>
              <a:rPr lang="en-US" altLang="zh-CN" b="1" dirty="0">
                <a:latin typeface="+mn-ea"/>
                <a:ea typeface="+mn-ea"/>
              </a:rPr>
              <a:t>680398072</a:t>
            </a:r>
            <a:r>
              <a:rPr lang="en-US" altLang="zh-CN" sz="2000" b="1" dirty="0">
                <a:latin typeface="+mn-ea"/>
              </a:rPr>
              <a:t>(CO-2025-Ren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4</a:t>
            </a:fld>
            <a:endParaRPr lang="en-US" altLang="zh-CN"/>
          </a:p>
        </p:txBody>
      </p:sp>
      <p:sp>
        <p:nvSpPr>
          <p:cNvPr id="8" name="Text Box 205">
            <a:extLst>
              <a:ext uri="{FF2B5EF4-FFF2-40B4-BE49-F238E27FC236}">
                <a16:creationId xmlns:a16="http://schemas.microsoft.com/office/drawing/2014/main" id="{693832E2-56D0-4A19-AB48-D6135FABC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836712"/>
            <a:ext cx="8964612" cy="55356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⑴数字逻辑基础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+mn-ea"/>
                <a:ea typeface="+mn-ea"/>
              </a:rPr>
              <a:t>   </a:t>
            </a:r>
            <a:r>
              <a:rPr lang="zh-CN" altLang="en-US" sz="2200" b="1" u="sng" dirty="0">
                <a:latin typeface="+mn-ea"/>
                <a:ea typeface="+mn-ea"/>
              </a:rPr>
              <a:t>数字抽象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物理量→逻辑值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r>
              <a:rPr lang="zh-CN" altLang="en-US" sz="2200" b="1" u="sng" dirty="0">
                <a:latin typeface="+mn-ea"/>
                <a:ea typeface="+mn-ea"/>
              </a:rPr>
              <a:t>布尔代数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基本运算、定理、运算规则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+mn-ea"/>
                <a:ea typeface="+mn-ea"/>
              </a:rPr>
              <a:t>   </a:t>
            </a:r>
            <a:r>
              <a:rPr lang="zh-CN" altLang="en-US" sz="2200" b="1" u="sng" dirty="0">
                <a:latin typeface="+mn-ea"/>
                <a:ea typeface="+mn-ea"/>
              </a:rPr>
              <a:t>逻辑关系表示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真值表</a:t>
            </a:r>
            <a:r>
              <a:rPr lang="en-US" altLang="zh-CN" sz="1800" b="1" dirty="0">
                <a:latin typeface="+mn-ea"/>
                <a:ea typeface="+mn-ea"/>
              </a:rPr>
              <a:t>/</a:t>
            </a:r>
            <a:r>
              <a:rPr lang="zh-CN" altLang="en-US" sz="1800" b="1" dirty="0">
                <a:latin typeface="+mn-ea"/>
                <a:ea typeface="+mn-ea"/>
              </a:rPr>
              <a:t>逻辑函数等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r>
              <a:rPr lang="zh-CN" altLang="en-US" sz="2200" b="1" u="sng" dirty="0">
                <a:latin typeface="+mn-ea"/>
                <a:ea typeface="+mn-ea"/>
              </a:rPr>
              <a:t>逻辑函数化简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代数法</a:t>
            </a:r>
            <a:r>
              <a:rPr lang="en-US" altLang="zh-CN" sz="1800" b="1" dirty="0">
                <a:latin typeface="+mn-ea"/>
                <a:ea typeface="+mn-ea"/>
              </a:rPr>
              <a:t>/</a:t>
            </a:r>
            <a:r>
              <a:rPr lang="zh-CN" altLang="en-US" sz="1800" b="1" dirty="0">
                <a:latin typeface="+mn-ea"/>
                <a:ea typeface="+mn-ea"/>
              </a:rPr>
              <a:t>卡诺图法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⑵组合逻辑电路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+mn-ea"/>
                <a:ea typeface="+mn-ea"/>
              </a:rPr>
              <a:t>   </a:t>
            </a:r>
            <a:r>
              <a:rPr lang="zh-CN" altLang="en-US" sz="2200" b="1" u="sng" dirty="0">
                <a:latin typeface="+mn-ea"/>
                <a:ea typeface="+mn-ea"/>
              </a:rPr>
              <a:t>基本元件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逻辑门</a:t>
            </a:r>
            <a:r>
              <a:rPr lang="en-US" altLang="zh-CN" sz="1600" b="1" dirty="0">
                <a:latin typeface="+mn-ea"/>
                <a:ea typeface="+mn-ea"/>
              </a:rPr>
              <a:t>[</a:t>
            </a:r>
            <a:r>
              <a:rPr lang="zh-CN" altLang="en-US" sz="1600" b="1" dirty="0">
                <a:latin typeface="+mn-ea"/>
                <a:ea typeface="+mn-ea"/>
              </a:rPr>
              <a:t>与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或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非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三态</a:t>
            </a:r>
            <a:r>
              <a:rPr lang="en-US" altLang="zh-CN" sz="1600" b="1" dirty="0">
                <a:latin typeface="+mn-ea"/>
                <a:ea typeface="+mn-ea"/>
              </a:rPr>
              <a:t>]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r>
              <a:rPr lang="zh-CN" altLang="en-US" sz="2200" b="1" u="sng" dirty="0">
                <a:latin typeface="+mn-ea"/>
                <a:ea typeface="+mn-ea"/>
              </a:rPr>
              <a:t>典型器件</a:t>
            </a:r>
            <a:r>
              <a:rPr lang="en-US" altLang="zh-CN" sz="1800" b="1" spc="-80" dirty="0">
                <a:latin typeface="+mn-ea"/>
                <a:ea typeface="+mn-ea"/>
              </a:rPr>
              <a:t>(</a:t>
            </a:r>
            <a:r>
              <a:rPr lang="zh-CN" altLang="en-US" sz="1800" b="1" spc="-80" dirty="0">
                <a:latin typeface="+mn-ea"/>
                <a:ea typeface="+mn-ea"/>
              </a:rPr>
              <a:t>译码器</a:t>
            </a:r>
            <a:r>
              <a:rPr lang="en-US" altLang="zh-CN" sz="1800" b="1" spc="-80" dirty="0">
                <a:latin typeface="+mn-ea"/>
                <a:ea typeface="+mn-ea"/>
              </a:rPr>
              <a:t>/</a:t>
            </a:r>
            <a:r>
              <a:rPr lang="zh-CN" altLang="en-US" sz="1800" b="1" spc="-80" dirty="0">
                <a:latin typeface="+mn-ea"/>
                <a:ea typeface="+mn-ea"/>
              </a:rPr>
              <a:t>选择器</a:t>
            </a:r>
            <a:r>
              <a:rPr lang="en-US" altLang="zh-CN" sz="1800" b="1" spc="-80" dirty="0">
                <a:latin typeface="+mn-ea"/>
                <a:ea typeface="+mn-ea"/>
              </a:rPr>
              <a:t>/</a:t>
            </a:r>
            <a:r>
              <a:rPr lang="zh-CN" altLang="en-US" sz="1800" b="1" spc="-80" dirty="0">
                <a:latin typeface="+mn-ea"/>
                <a:ea typeface="+mn-ea"/>
              </a:rPr>
              <a:t>加法器</a:t>
            </a:r>
            <a:r>
              <a:rPr lang="en-US" altLang="zh-CN" sz="1800" b="1" spc="-80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+mn-ea"/>
                <a:ea typeface="+mn-ea"/>
              </a:rPr>
              <a:t>   </a:t>
            </a:r>
            <a:r>
              <a:rPr lang="zh-CN" altLang="en-US" sz="2200" b="1" u="sng" dirty="0">
                <a:latin typeface="+mn-ea"/>
                <a:ea typeface="+mn-ea"/>
              </a:rPr>
              <a:t>电路结构</a:t>
            </a:r>
            <a:r>
              <a:rPr lang="en-US" altLang="zh-CN" sz="1800" b="1" spc="-80" dirty="0">
                <a:latin typeface="+mn-ea"/>
                <a:ea typeface="+mn-ea"/>
              </a:rPr>
              <a:t>(</a:t>
            </a:r>
            <a:r>
              <a:rPr lang="zh-CN" altLang="en-US" sz="1800" b="1" spc="-80" dirty="0">
                <a:latin typeface="+mn-ea"/>
                <a:ea typeface="+mn-ea"/>
              </a:rPr>
              <a:t>操作元件</a:t>
            </a:r>
            <a:r>
              <a:rPr lang="en-US" altLang="zh-CN" sz="1800" b="1" spc="-80" dirty="0">
                <a:latin typeface="+mn-ea"/>
                <a:ea typeface="+mn-ea"/>
              </a:rPr>
              <a:t>+</a:t>
            </a:r>
            <a:r>
              <a:rPr lang="zh-CN" altLang="en-US" sz="1800" b="1" spc="-80" dirty="0">
                <a:latin typeface="+mn-ea"/>
                <a:ea typeface="+mn-ea"/>
              </a:rPr>
              <a:t>连线</a:t>
            </a:r>
            <a:r>
              <a:rPr lang="en-US" altLang="zh-CN" sz="1600" b="1" spc="-80" dirty="0">
                <a:latin typeface="+mn-ea"/>
                <a:ea typeface="+mn-ea"/>
              </a:rPr>
              <a:t>[</a:t>
            </a:r>
            <a:r>
              <a:rPr lang="zh-CN" altLang="en-US" sz="1600" b="1" spc="-80" dirty="0">
                <a:latin typeface="+mn-ea"/>
                <a:ea typeface="+mn-ea"/>
                <a:sym typeface="+mn-ea"/>
              </a:rPr>
              <a:t>输入</a:t>
            </a:r>
            <a:r>
              <a:rPr lang="zh-CN" altLang="en-US" sz="1600" b="1" spc="-80" dirty="0">
                <a:latin typeface="+mn-ea"/>
                <a:ea typeface="+mn-ea"/>
              </a:rPr>
              <a:t>无合并</a:t>
            </a:r>
            <a:r>
              <a:rPr lang="en-US" altLang="zh-CN" sz="1600" b="1" spc="-80" dirty="0">
                <a:latin typeface="+mn-ea"/>
                <a:ea typeface="+mn-ea"/>
              </a:rPr>
              <a:t>/</a:t>
            </a:r>
            <a:r>
              <a:rPr lang="zh-CN" altLang="en-US" sz="1600" b="1" spc="-80" dirty="0">
                <a:latin typeface="+mn-ea"/>
                <a:ea typeface="+mn-ea"/>
              </a:rPr>
              <a:t>出</a:t>
            </a:r>
            <a:r>
              <a:rPr lang="en-US" altLang="zh-CN" sz="1600" b="1" spc="-80" dirty="0">
                <a:latin typeface="+mn-ea"/>
                <a:ea typeface="+mn-ea"/>
              </a:rPr>
              <a:t>-</a:t>
            </a:r>
            <a:r>
              <a:rPr lang="zh-CN" altLang="en-US" sz="1600" b="1" spc="-80" dirty="0">
                <a:latin typeface="+mn-ea"/>
                <a:ea typeface="+mn-ea"/>
              </a:rPr>
              <a:t>入无回路</a:t>
            </a:r>
            <a:r>
              <a:rPr lang="en-US" altLang="zh-CN" sz="1600" b="1" spc="-80" dirty="0">
                <a:latin typeface="+mn-ea"/>
                <a:ea typeface="+mn-ea"/>
              </a:rPr>
              <a:t>]</a:t>
            </a:r>
            <a:r>
              <a:rPr lang="en-US" altLang="zh-CN" sz="1800" b="1" spc="-80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r>
              <a:rPr lang="zh-CN" altLang="en-US" sz="1600" b="1" dirty="0">
                <a:latin typeface="宋体" panose="02010600030101010101" pitchFamily="2" charset="-122"/>
              </a:rPr>
              <a:t>  ←</a:t>
            </a:r>
            <a:r>
              <a:rPr lang="zh-CN" altLang="en-US" sz="1600" b="1" dirty="0">
                <a:solidFill>
                  <a:srgbClr val="000000"/>
                </a:solidFill>
              </a:rPr>
              <a:t>操作元件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＝</a:t>
            </a:r>
            <a:r>
              <a:rPr lang="zh-CN" altLang="en-US" sz="1600" b="1" dirty="0">
                <a:solidFill>
                  <a:srgbClr val="000000"/>
                </a:solidFill>
              </a:rPr>
              <a:t>组合逻辑元器件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+mn-ea"/>
                <a:ea typeface="+mn-ea"/>
              </a:rPr>
              <a:t>   </a:t>
            </a:r>
            <a:r>
              <a:rPr lang="zh-CN" altLang="en-US" sz="2200" b="1" u="sng" dirty="0">
                <a:latin typeface="+mn-ea"/>
                <a:ea typeface="+mn-ea"/>
              </a:rPr>
              <a:t>设计步骤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功能分析→真值表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→</a:t>
            </a:r>
            <a:r>
              <a:rPr lang="zh-CN" altLang="en-US" sz="1800" b="1" dirty="0">
                <a:latin typeface="+mn-ea"/>
                <a:ea typeface="+mn-ea"/>
              </a:rPr>
              <a:t>逻辑函数</a:t>
            </a:r>
            <a:r>
              <a:rPr lang="en-US" altLang="zh-CN" sz="1800" b="1" dirty="0">
                <a:latin typeface="+mn-ea"/>
                <a:ea typeface="+mn-ea"/>
              </a:rPr>
              <a:t>&amp;</a:t>
            </a:r>
            <a:r>
              <a:rPr lang="zh-CN" altLang="en-US" sz="1800" b="1" dirty="0">
                <a:latin typeface="+mn-ea"/>
                <a:ea typeface="+mn-ea"/>
              </a:rPr>
              <a:t>化简→电路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1800" b="1" dirty="0">
                <a:latin typeface="+mn-ea"/>
                <a:ea typeface="+mn-ea"/>
              </a:rPr>
              <a:t> </a:t>
            </a:r>
            <a:r>
              <a:rPr lang="en-US" altLang="zh-CN" sz="1800" b="1" dirty="0">
                <a:latin typeface="+mn-ea"/>
                <a:ea typeface="+mn-ea"/>
              </a:rPr>
              <a:t> </a:t>
            </a:r>
            <a:endParaRPr lang="en-US" altLang="zh-CN" sz="18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⑶时序逻辑电路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+mn-ea"/>
              </a:rPr>
              <a:t>   </a:t>
            </a:r>
            <a:r>
              <a:rPr lang="zh-CN" altLang="en-US" sz="2200" b="1" u="sng" dirty="0">
                <a:latin typeface="+mn-ea"/>
              </a:rPr>
              <a:t>基本元件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锁存器</a:t>
            </a:r>
            <a:r>
              <a:rPr lang="en-US" altLang="zh-CN" sz="1600" b="1" dirty="0">
                <a:latin typeface="+mn-ea"/>
                <a:ea typeface="+mn-ea"/>
              </a:rPr>
              <a:t>[</a:t>
            </a:r>
            <a:r>
              <a:rPr lang="en-US" altLang="zh-CN" sz="1600" b="1" dirty="0">
                <a:latin typeface="+mn-ea"/>
                <a:ea typeface="+mn-ea"/>
                <a:sym typeface="+mn-ea"/>
              </a:rPr>
              <a:t>RS/D]</a:t>
            </a:r>
            <a:r>
              <a:rPr lang="zh-CN" altLang="en-US" sz="1800" b="1" dirty="0">
                <a:latin typeface="+mn-ea"/>
                <a:ea typeface="+mn-ea"/>
              </a:rPr>
              <a:t>及触发器</a:t>
            </a:r>
            <a:r>
              <a:rPr lang="en-US" altLang="zh-CN" sz="1600" b="1" dirty="0">
                <a:latin typeface="+mn-ea"/>
                <a:ea typeface="+mn-ea"/>
              </a:rPr>
              <a:t>[D/T</a:t>
            </a:r>
            <a:r>
              <a:rPr lang="zh-CN" altLang="en-US" sz="1600" b="1" dirty="0">
                <a:latin typeface="+mn-ea"/>
                <a:ea typeface="+mn-ea"/>
              </a:rPr>
              <a:t>等</a:t>
            </a:r>
            <a:r>
              <a:rPr lang="en-US" altLang="zh-CN" sz="1600" b="1" dirty="0">
                <a:latin typeface="+mn-ea"/>
                <a:ea typeface="+mn-ea"/>
              </a:rPr>
              <a:t>]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r>
              <a:rPr lang="zh-CN" altLang="en-US" sz="2200" b="1" u="sng" dirty="0">
                <a:latin typeface="+mn-ea"/>
              </a:rPr>
              <a:t>典型器件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寄存器</a:t>
            </a:r>
            <a:r>
              <a:rPr lang="en-US" altLang="zh-CN" sz="1800" b="1" dirty="0">
                <a:latin typeface="+mn-ea"/>
                <a:ea typeface="+mn-ea"/>
              </a:rPr>
              <a:t>/</a:t>
            </a:r>
            <a:r>
              <a:rPr lang="zh-CN" altLang="en-US" sz="1800" b="1" dirty="0">
                <a:latin typeface="+mn-ea"/>
                <a:ea typeface="+mn-ea"/>
              </a:rPr>
              <a:t>计数器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+mn-ea"/>
                <a:ea typeface="+mn-ea"/>
              </a:rPr>
              <a:t>   </a:t>
            </a:r>
            <a:r>
              <a:rPr lang="zh-CN" altLang="en-US" sz="2200" b="1" u="sng" dirty="0">
                <a:latin typeface="+mn-ea"/>
                <a:ea typeface="+mn-ea"/>
              </a:rPr>
              <a:t>电路结构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状态元件</a:t>
            </a:r>
            <a:r>
              <a:rPr lang="en-US" altLang="zh-CN" sz="1800" b="1" dirty="0">
                <a:latin typeface="+mn-ea"/>
                <a:ea typeface="+mn-ea"/>
              </a:rPr>
              <a:t>+</a:t>
            </a:r>
            <a:r>
              <a:rPr lang="zh-CN" altLang="en-US" sz="1800" b="1" dirty="0">
                <a:latin typeface="+mn-ea"/>
                <a:ea typeface="+mn-ea"/>
              </a:rPr>
              <a:t>输出函数</a:t>
            </a:r>
            <a:r>
              <a:rPr lang="en-US" altLang="zh-CN" sz="1800" b="1" dirty="0">
                <a:latin typeface="+mn-ea"/>
                <a:ea typeface="+mn-ea"/>
              </a:rPr>
              <a:t>+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驱动</a:t>
            </a:r>
            <a:r>
              <a:rPr lang="zh-CN" sz="1800" b="1" dirty="0">
                <a:latin typeface="+mn-ea"/>
                <a:ea typeface="+mn-ea"/>
              </a:rPr>
              <a:t>函数</a:t>
            </a:r>
            <a:r>
              <a:rPr lang="en-US" altLang="zh-CN" sz="1800" b="1" dirty="0">
                <a:latin typeface="+mn-ea"/>
              </a:rPr>
              <a:t>+</a:t>
            </a:r>
            <a:r>
              <a:rPr lang="zh-CN" altLang="en-US" sz="1800" b="1" dirty="0">
                <a:latin typeface="+mn-ea"/>
                <a:sym typeface="+mn-ea"/>
              </a:rPr>
              <a:t>次态</a:t>
            </a:r>
            <a:r>
              <a:rPr lang="zh-CN" altLang="zh-CN" sz="1800" b="1" dirty="0">
                <a:latin typeface="+mn-ea"/>
              </a:rPr>
              <a:t>函数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 </a:t>
            </a:r>
            <a:r>
              <a:rPr lang="zh-CN" altLang="en-US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solidFill>
                  <a:srgbClr val="000000"/>
                </a:solidFill>
              </a:rPr>
              <a:t>同步时序时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  <a:ea typeface="+mn-ea"/>
              </a:rPr>
              <a:t>f</a:t>
            </a:r>
            <a:r>
              <a:rPr lang="zh-CN" altLang="en-US" sz="1600" b="1" baseline="-18000" dirty="0">
                <a:solidFill>
                  <a:srgbClr val="000000"/>
                </a:solidFill>
                <a:latin typeface="+mn-ea"/>
                <a:ea typeface="+mn-ea"/>
              </a:rPr>
              <a:t>次态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  <a:ea typeface="+mn-ea"/>
              </a:rPr>
              <a:t>＝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  <a:ea typeface="+mn-ea"/>
              </a:rPr>
              <a:t>f</a:t>
            </a:r>
            <a:r>
              <a:rPr lang="zh-CN" altLang="en-US" sz="1600" b="1" baseline="-18000" dirty="0">
                <a:solidFill>
                  <a:srgbClr val="000000"/>
                </a:solidFill>
              </a:rPr>
              <a:t>驱动</a:t>
            </a:r>
            <a:endParaRPr lang="en-US" altLang="zh-CN" sz="2200" b="1" baseline="-18000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+mn-ea"/>
                <a:ea typeface="+mn-ea"/>
              </a:rPr>
              <a:t>   </a:t>
            </a:r>
            <a:r>
              <a:rPr lang="zh-CN" altLang="en-US" sz="2200" b="1" u="sng" dirty="0">
                <a:latin typeface="+mn-ea"/>
                <a:ea typeface="+mn-ea"/>
              </a:rPr>
              <a:t>设计步骤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功能分析→</a:t>
            </a:r>
            <a:r>
              <a:rPr lang="zh-CN" altLang="en-US" sz="1800" b="1" dirty="0">
                <a:latin typeface="+mn-ea"/>
                <a:ea typeface="+mn-ea"/>
              </a:rPr>
              <a:t>状态图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→</a:t>
            </a:r>
            <a:r>
              <a:rPr lang="zh-CN" altLang="en-US" sz="1800" b="1" dirty="0">
                <a:latin typeface="+mn-ea"/>
                <a:ea typeface="+mn-ea"/>
              </a:rPr>
              <a:t>状态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化简</a:t>
            </a:r>
            <a:r>
              <a:rPr lang="en-US" altLang="zh-CN" sz="1800" b="1" dirty="0">
                <a:latin typeface="+mn-ea"/>
                <a:ea typeface="+mn-ea"/>
                <a:sym typeface="+mn-ea"/>
              </a:rPr>
              <a:t>&amp;</a:t>
            </a:r>
            <a:r>
              <a:rPr lang="zh-CN" altLang="en-US" sz="1800" b="1" dirty="0">
                <a:latin typeface="+mn-ea"/>
                <a:ea typeface="+mn-ea"/>
              </a:rPr>
              <a:t>编码→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特征方程</a:t>
            </a:r>
            <a:r>
              <a:rPr lang="zh-CN" altLang="en-US" sz="1800" b="1" dirty="0">
                <a:latin typeface="+mn-ea"/>
                <a:ea typeface="+mn-ea"/>
              </a:rPr>
              <a:t>→电路</a:t>
            </a:r>
            <a:r>
              <a:rPr lang="zh-CN" altLang="en-US" sz="1800" b="1" dirty="0">
                <a:latin typeface="+mn-ea"/>
                <a:ea typeface="+mn-ea"/>
                <a:sym typeface="+mn-ea"/>
              </a:rPr>
              <a:t>→分析</a:t>
            </a:r>
            <a:r>
              <a:rPr lang="en-US" altLang="zh-CN" sz="1600" b="1" dirty="0">
                <a:latin typeface="+mn-ea"/>
                <a:ea typeface="+mn-ea"/>
              </a:rPr>
              <a:t>[</a:t>
            </a:r>
            <a:r>
              <a:rPr lang="zh-CN" altLang="en-US" sz="1600" b="1" dirty="0">
                <a:latin typeface="+mn-ea"/>
                <a:ea typeface="+mn-ea"/>
              </a:rPr>
              <a:t>自启动</a:t>
            </a:r>
            <a:r>
              <a:rPr lang="en-US" altLang="zh-CN" sz="1600" b="1" dirty="0">
                <a:latin typeface="+mn-ea"/>
                <a:ea typeface="+mn-ea"/>
              </a:rPr>
              <a:t>]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 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⑷其他电路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+mn-ea"/>
              </a:rPr>
              <a:t>   </a:t>
            </a:r>
            <a:r>
              <a:rPr lang="zh-CN" altLang="en-US" sz="2200" b="1" u="sng" dirty="0">
                <a:latin typeface="+mn-ea"/>
              </a:rPr>
              <a:t>半导体存储器</a:t>
            </a:r>
            <a:r>
              <a:rPr lang="en-US" altLang="zh-CN" sz="1800" b="1" dirty="0">
                <a:latin typeface="+mn-ea"/>
              </a:rPr>
              <a:t>(RAM/ROM)</a:t>
            </a:r>
            <a:endParaRPr lang="en-US" altLang="zh-CN" sz="2200" b="1" dirty="0">
              <a:latin typeface="+mn-ea"/>
            </a:endParaRPr>
          </a:p>
        </p:txBody>
      </p:sp>
      <p:sp>
        <p:nvSpPr>
          <p:cNvPr id="13" name="Text Box 50">
            <a:extLst>
              <a:ext uri="{FF2B5EF4-FFF2-40B4-BE49-F238E27FC236}">
                <a16:creationId xmlns:a16="http://schemas.microsoft.com/office/drawing/2014/main" id="{BCBC5762-FB7C-45FF-8E8E-E417056A9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4488" y="5733256"/>
            <a:ext cx="5400000" cy="648000"/>
          </a:xfrm>
          <a:prstGeom prst="rect">
            <a:avLst/>
          </a:prstGeom>
          <a:noFill/>
          <a:ln w="15875">
            <a:solidFill>
              <a:srgbClr val="FF3399"/>
            </a:solidFill>
            <a:prstDash val="sysDash"/>
            <a:miter lim="800000"/>
          </a:ln>
          <a:effectLst/>
        </p:spPr>
        <p:txBody>
          <a:bodyPr lIns="36000" tIns="36000" rIns="36000" bIns="36000" anchor="ctr"/>
          <a:lstStyle/>
          <a:p>
            <a:pPr>
              <a:lnSpc>
                <a:spcPct val="114000"/>
              </a:lnSpc>
            </a:pPr>
            <a:r>
              <a:rPr lang="zh-CN" altLang="en-US" sz="1800" b="1" dirty="0">
                <a:solidFill>
                  <a:srgbClr val="FF3399"/>
                </a:solidFill>
                <a:latin typeface="+mn-ea"/>
                <a:ea typeface="+mn-ea"/>
              </a:rPr>
              <a:t>数字逻辑要求：</a:t>
            </a:r>
            <a:r>
              <a:rPr lang="zh-CN" altLang="en-US" sz="1800" b="1" u="sng" dirty="0">
                <a:solidFill>
                  <a:srgbClr val="990099"/>
                </a:solidFill>
                <a:latin typeface="+mn-ea"/>
                <a:ea typeface="+mn-ea"/>
              </a:rPr>
              <a:t>会表示</a:t>
            </a:r>
            <a:r>
              <a:rPr lang="zh-CN" altLang="en-US" sz="1800" b="1" dirty="0">
                <a:latin typeface="+mn-ea"/>
                <a:ea typeface="+mn-ea"/>
              </a:rPr>
              <a:t>逻辑关系，</a:t>
            </a:r>
            <a:r>
              <a:rPr lang="zh-CN" altLang="en-US" sz="1800" b="1" u="sng" dirty="0">
                <a:solidFill>
                  <a:srgbClr val="990099"/>
                </a:solidFill>
                <a:latin typeface="+mn-ea"/>
                <a:ea typeface="+mn-ea"/>
              </a:rPr>
              <a:t>能化简</a:t>
            </a:r>
            <a:r>
              <a:rPr lang="zh-CN" altLang="en-US" sz="1800" b="1" dirty="0">
                <a:latin typeface="+mn-ea"/>
                <a:ea typeface="+mn-ea"/>
              </a:rPr>
              <a:t>逻辑函数</a:t>
            </a:r>
            <a:endParaRPr lang="en-US" altLang="zh-CN" sz="1800" b="1" dirty="0">
              <a:latin typeface="+mn-ea"/>
              <a:ea typeface="+mn-ea"/>
            </a:endParaRPr>
          </a:p>
          <a:p>
            <a:pPr>
              <a:lnSpc>
                <a:spcPct val="114000"/>
              </a:lnSpc>
            </a:pPr>
            <a:r>
              <a:rPr lang="zh-CN" altLang="en-US" sz="1800" b="1" dirty="0">
                <a:solidFill>
                  <a:srgbClr val="FF3399"/>
                </a:solidFill>
                <a:latin typeface="+mn-ea"/>
                <a:ea typeface="+mn-ea"/>
              </a:rPr>
              <a:t>数字电路要求：</a:t>
            </a:r>
            <a:r>
              <a:rPr lang="zh-CN" altLang="en-US" sz="1800" b="1" u="sng" dirty="0">
                <a:solidFill>
                  <a:srgbClr val="990099"/>
                </a:solidFill>
                <a:latin typeface="+mn-ea"/>
                <a:ea typeface="+mn-ea"/>
              </a:rPr>
              <a:t>熟记</a:t>
            </a:r>
            <a:r>
              <a:rPr lang="zh-CN" altLang="en-US" sz="1800" b="1" dirty="0">
                <a:latin typeface="+mn-ea"/>
                <a:ea typeface="+mn-ea"/>
              </a:rPr>
              <a:t>基本元器件功能表，</a:t>
            </a:r>
            <a:r>
              <a:rPr lang="zh-CN" altLang="en-US" sz="1800" b="1" u="sng" dirty="0">
                <a:solidFill>
                  <a:srgbClr val="990099"/>
                </a:solidFill>
                <a:latin typeface="+mn-ea"/>
                <a:ea typeface="+mn-ea"/>
              </a:rPr>
              <a:t>能设计</a:t>
            </a:r>
            <a:r>
              <a:rPr lang="zh-CN" altLang="en-US" sz="1800" b="1" dirty="0">
                <a:latin typeface="+mn-ea"/>
                <a:ea typeface="+mn-ea"/>
              </a:rPr>
              <a:t>电路</a:t>
            </a:r>
            <a:endParaRPr lang="en-US" altLang="zh-CN" sz="18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8" name="Text Box 6">
            <a:extLst>
              <a:ext uri="{FF2B5EF4-FFF2-40B4-BE49-F238E27FC236}">
                <a16:creationId xmlns:a16="http://schemas.microsoft.com/office/drawing/2014/main" id="{F4554AAC-7711-4693-AA6D-9B721AFB5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332656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+mn-ea"/>
              </a:rPr>
              <a:t>※</a:t>
            </a:r>
            <a:r>
              <a:rPr lang="zh-CN" altLang="en-US" b="1" dirty="0">
                <a:solidFill>
                  <a:srgbClr val="FF3399"/>
                </a:solidFill>
                <a:latin typeface="+mn-ea"/>
              </a:rPr>
              <a:t>数字逻辑电路回顾：</a:t>
            </a:r>
            <a:endParaRPr lang="zh-CN" altLang="en-US" sz="2000" b="1" dirty="0">
              <a:latin typeface="+mn-ea"/>
              <a:ea typeface="+mn-ea"/>
            </a:endParaRPr>
          </a:p>
        </p:txBody>
      </p:sp>
      <p:sp>
        <p:nvSpPr>
          <p:cNvPr id="18" name="AutoShape 23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B1531E2-341D-4B3D-8F4E-4A0107EDF72D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AutoShape 23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6B2D651-98FA-406D-9380-FE2BE780383E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148000" y="6525344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445FF1E-89AE-4F00-AC46-ABEEADA01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5</a:t>
            </a:fld>
            <a:endParaRPr lang="en-US" altLang="zh-CN"/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B6EF897A-83D9-4560-99E2-419DE15DB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3" y="2852936"/>
            <a:ext cx="6660290" cy="21501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设计练习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en-US" altLang="zh-CN" sz="2200" b="1" dirty="0">
                <a:latin typeface="+mn-ea"/>
                <a:ea typeface="+mn-ea"/>
              </a:rPr>
              <a:t> 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尽量使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用器件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ea typeface="+mn-ea"/>
              </a:rPr>
              <a:t>简化电路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])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      ⑴设计</a:t>
            </a:r>
            <a:r>
              <a:rPr lang="zh-CN" altLang="en-US" sz="2200" b="1" dirty="0">
                <a:latin typeface="+mn-ea"/>
              </a:rPr>
              <a:t>电路：</a:t>
            </a:r>
            <a:r>
              <a:rPr lang="en-US" altLang="zh-CN" sz="2200" b="1" dirty="0">
                <a:latin typeface="+mn-ea"/>
                <a:ea typeface="+mn-ea"/>
              </a:rPr>
              <a:t>E</a:t>
            </a:r>
            <a:r>
              <a:rPr lang="zh-CN" altLang="en-US" sz="2200" b="1" dirty="0">
                <a:latin typeface="+mn-ea"/>
                <a:ea typeface="+mn-ea"/>
              </a:rPr>
              <a:t>＝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时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</a:rPr>
              <a:t>Y</a:t>
            </a:r>
            <a:r>
              <a:rPr lang="zh-CN" altLang="en-US" sz="2200" b="1" dirty="0">
                <a:latin typeface="+mn-ea"/>
              </a:rPr>
              <a:t>＝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200" dirty="0">
                <a:latin typeface="+mn-lt"/>
                <a:ea typeface="+mn-ea"/>
              </a:rPr>
              <a:t>•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</a:rPr>
              <a:t>B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200" b="1" dirty="0">
                <a:latin typeface="+mn-ea"/>
              </a:rPr>
              <a:t>E</a:t>
            </a:r>
            <a:r>
              <a:rPr lang="zh-CN" altLang="en-US" sz="2200" b="1" dirty="0">
                <a:latin typeface="+mn-ea"/>
              </a:rPr>
              <a:t>＝</a:t>
            </a:r>
            <a:r>
              <a:rPr lang="en-US" altLang="zh-CN" sz="2200" b="1" dirty="0">
                <a:latin typeface="+mn-ea"/>
              </a:rPr>
              <a:t>0</a:t>
            </a:r>
            <a:r>
              <a:rPr lang="zh-CN" altLang="en-US" sz="2200" b="1" dirty="0">
                <a:latin typeface="+mn-ea"/>
              </a:rPr>
              <a:t>时</a:t>
            </a:r>
            <a:r>
              <a:rPr lang="en-US" altLang="zh-CN" sz="2200" b="1" dirty="0">
                <a:latin typeface="+mn-ea"/>
              </a:rPr>
              <a:t>Y</a:t>
            </a:r>
            <a:r>
              <a:rPr lang="zh-CN" altLang="en-US" sz="2200" b="1" dirty="0">
                <a:latin typeface="+mn-ea"/>
              </a:rPr>
              <a:t>＝</a:t>
            </a:r>
            <a:r>
              <a:rPr lang="en-US" altLang="zh-CN" sz="2200" b="1" dirty="0">
                <a:latin typeface="+mn-ea"/>
              </a:rPr>
              <a:t>A</a:t>
            </a:r>
            <a:endParaRPr lang="en-US" altLang="zh-CN" sz="22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</a:rPr>
              <a:t>      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⑵设计血型配对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</a:rPr>
              <a:t>供血</a:t>
            </a:r>
            <a:r>
              <a:rPr lang="en-US" altLang="zh-CN" sz="1800" b="1" dirty="0">
                <a:latin typeface="+mn-ea"/>
              </a:rPr>
              <a:t>X</a:t>
            </a:r>
            <a:r>
              <a:rPr lang="en-US" altLang="zh-CN" sz="1800" b="1" baseline="-18000" dirty="0">
                <a:latin typeface="+mn-ea"/>
              </a:rPr>
              <a:t>1</a:t>
            </a:r>
            <a:r>
              <a:rPr lang="en-US" altLang="zh-CN" sz="1800" b="1" dirty="0">
                <a:latin typeface="+mn-ea"/>
              </a:rPr>
              <a:t>X</a:t>
            </a:r>
            <a:r>
              <a:rPr lang="en-US" altLang="zh-CN" sz="1800" b="1" baseline="-18000" dirty="0">
                <a:latin typeface="+mn-ea"/>
              </a:rPr>
              <a:t>0</a:t>
            </a:r>
            <a:r>
              <a:rPr lang="zh-CN" altLang="en-US" sz="1800" b="1" dirty="0">
                <a:latin typeface="+mn-ea"/>
                <a:ea typeface="+mn-ea"/>
              </a:rPr>
              <a:t>、</a:t>
            </a:r>
            <a:r>
              <a:rPr lang="zh-CN" altLang="en-US" sz="1800" b="1" dirty="0">
                <a:latin typeface="+mn-ea"/>
              </a:rPr>
              <a:t>受血</a:t>
            </a:r>
            <a:r>
              <a:rPr lang="en-US" altLang="zh-CN" sz="1800" b="1" dirty="0">
                <a:latin typeface="+mn-ea"/>
              </a:rPr>
              <a:t>Y</a:t>
            </a:r>
            <a:r>
              <a:rPr lang="en-US" altLang="zh-CN" sz="1800" b="1" baseline="-18000" dirty="0">
                <a:latin typeface="+mn-ea"/>
              </a:rPr>
              <a:t>1</a:t>
            </a:r>
            <a:r>
              <a:rPr lang="en-US" altLang="zh-CN" sz="1800" b="1" dirty="0">
                <a:latin typeface="+mn-ea"/>
              </a:rPr>
              <a:t>Y</a:t>
            </a:r>
            <a:r>
              <a:rPr lang="en-US" altLang="zh-CN" sz="1800" b="1" baseline="-18000" dirty="0">
                <a:latin typeface="+mn-ea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电路</a:t>
            </a:r>
            <a:endParaRPr lang="en-US" altLang="zh-CN" sz="2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8D45835D-C775-47D2-B97B-4F8AC04D2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32656"/>
            <a:ext cx="878522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*组合逻辑电路：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输出＝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</a:rPr>
              <a:t>F(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输入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zh-CN" altLang="en-US" sz="2200" b="1" dirty="0">
                <a:latin typeface="+mn-ea"/>
                <a:ea typeface="+mn-ea"/>
              </a:rPr>
              <a:t>又称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</a:rPr>
              <a:t>操作单元</a:t>
            </a:r>
            <a:endParaRPr lang="en-US" altLang="zh-CN" sz="22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元器件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sz="2200" b="1" dirty="0">
                <a:latin typeface="+mn-ea"/>
                <a:ea typeface="+mn-ea"/>
              </a:rPr>
              <a:t>逻辑门、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三态门，译码器、选择器、加法器等  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←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ea typeface="+mn-ea"/>
              </a:rPr>
              <a:t>教材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P48</a:t>
            </a:r>
            <a:endParaRPr lang="en-US" altLang="zh-CN" sz="2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5115254-BE12-4296-B893-AC0F78306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977983"/>
              </p:ext>
            </p:extLst>
          </p:nvPr>
        </p:nvGraphicFramePr>
        <p:xfrm>
          <a:off x="1331640" y="1268760"/>
          <a:ext cx="5760640" cy="1554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61581862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596"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</a:rPr>
                        <a:t>功能</a:t>
                      </a: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</a:rPr>
                        <a:t>输入</a:t>
                      </a: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</a:rPr>
                        <a:t>控制</a:t>
                      </a: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</a:rPr>
                        <a:t>输出</a:t>
                      </a: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2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三态门</a:t>
                      </a: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输出有</a:t>
                      </a:r>
                      <a:r>
                        <a:rPr lang="en-US" altLang="zh-CN" sz="1800" b="1" i="0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zh-CN" altLang="en-US" sz="1800" b="1" i="0" dirty="0">
                          <a:solidFill>
                            <a:srgbClr val="990099"/>
                          </a:solidFill>
                        </a:rPr>
                        <a:t>种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状态</a:t>
                      </a: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endParaRPr lang="zh-CN" altLang="en-US" sz="1800" b="1" dirty="0">
                        <a:solidFill>
                          <a:schemeClr val="accent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accent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1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译码器</a:t>
                      </a: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仅</a:t>
                      </a:r>
                      <a:r>
                        <a:rPr lang="zh-CN" altLang="en-US" sz="1800" b="1" dirty="0">
                          <a:solidFill>
                            <a:srgbClr val="990099"/>
                          </a:solidFill>
                        </a:rPr>
                        <a:t>编码对应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的输出有效</a:t>
                      </a: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altLang="zh-CN" sz="1800" b="1" baseline="-16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en-US" altLang="zh-CN" sz="1800" b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altLang="zh-CN" sz="1800" b="1" kern="1200" baseline="-16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accent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b="1" kern="1200" dirty="0">
                        <a:solidFill>
                          <a:schemeClr val="accent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b="1" kern="1200" baseline="-16000" dirty="0">
                        <a:solidFill>
                          <a:schemeClr val="accent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75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选择器</a:t>
                      </a: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输出为</a:t>
                      </a:r>
                      <a:r>
                        <a:rPr lang="zh-CN" altLang="en-US" sz="1800" b="1" dirty="0">
                          <a:solidFill>
                            <a:srgbClr val="990099"/>
                          </a:solidFill>
                        </a:rPr>
                        <a:t>所选择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的输入</a:t>
                      </a: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altLang="zh-CN" sz="1800" b="1" baseline="-16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altLang="zh-CN" sz="1800" b="1" kern="1200" baseline="-16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zh-CN" altLang="en-US" sz="1800" b="1" kern="1200" baseline="-16000" dirty="0">
                        <a:solidFill>
                          <a:schemeClr val="accent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kern="1200" baseline="-16000" dirty="0">
                        <a:solidFill>
                          <a:schemeClr val="accent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79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加法器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进行</a:t>
                      </a:r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全</a:t>
                      </a:r>
                      <a:r>
                        <a:rPr lang="zh-CN" altLang="en-US" sz="1800" b="1" dirty="0">
                          <a:solidFill>
                            <a:srgbClr val="990099"/>
                          </a:solidFill>
                        </a:rPr>
                        <a:t>加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运算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err="1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A,B,</a:t>
                      </a:r>
                      <a:r>
                        <a:rPr lang="en-US" altLang="zh-CN" sz="1800" b="1" dirty="0" err="1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</a:t>
                      </a:r>
                      <a:r>
                        <a:rPr lang="en-US" altLang="zh-CN" sz="1800" b="1" baseline="-16000" dirty="0" err="1">
                          <a:solidFill>
                            <a:schemeClr val="accent2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in</a:t>
                      </a:r>
                      <a:endParaRPr lang="zh-CN" altLang="en-US" sz="1800" b="1" kern="1200" baseline="-16000" dirty="0">
                        <a:solidFill>
                          <a:schemeClr val="accent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kern="1200" baseline="0" dirty="0">
                        <a:solidFill>
                          <a:schemeClr val="accent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b="1" kern="1200" dirty="0">
                        <a:solidFill>
                          <a:schemeClr val="accent2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01B37190-E7E8-4FF2-992F-FB624AD1AFA8}"/>
              </a:ext>
            </a:extLst>
          </p:cNvPr>
          <p:cNvGrpSpPr/>
          <p:nvPr/>
        </p:nvGrpSpPr>
        <p:grpSpPr>
          <a:xfrm>
            <a:off x="7453699" y="2800851"/>
            <a:ext cx="1295400" cy="1132205"/>
            <a:chOff x="5953" y="5813"/>
            <a:chExt cx="2040" cy="1783"/>
          </a:xfrm>
        </p:grpSpPr>
        <p:sp>
          <p:nvSpPr>
            <p:cNvPr id="28" name="梯形 27">
              <a:extLst>
                <a:ext uri="{FF2B5EF4-FFF2-40B4-BE49-F238E27FC236}">
                  <a16:creationId xmlns:a16="http://schemas.microsoft.com/office/drawing/2014/main" id="{09C03607-8255-4E79-BC99-CECD31CAB3EB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6463" y="6235"/>
              <a:ext cx="1134" cy="454"/>
            </a:xfrm>
            <a:prstGeom prst="trapezoid">
              <a:avLst>
                <a:gd name="adj" fmla="val 44268"/>
              </a:avLst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0" tIns="0" rIns="0" bIns="0" numCol="1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6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C4AF62F4-89CB-434A-954D-DEE0C616B61B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auto">
            <a:xfrm flipV="1">
              <a:off x="6350" y="6064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B4AC4C73-DCCD-407E-8306-CFFDF441A10F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 flipV="1">
              <a:off x="6350" y="6858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001F837E-8CC9-4467-8E2E-86E5025D0CB9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auto">
            <a:xfrm flipV="1">
              <a:off x="7257" y="6518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2" name="Text Box 36">
              <a:extLst>
                <a:ext uri="{FF2B5EF4-FFF2-40B4-BE49-F238E27FC236}">
                  <a16:creationId xmlns:a16="http://schemas.microsoft.com/office/drawing/2014/main" id="{BD271E07-A44D-4976-A2A9-A16B6B98C834}"/>
                </a:ext>
              </a:extLst>
            </p:cNvPr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6463" y="6239"/>
              <a:ext cx="283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vert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…</a:t>
              </a:r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EF062E8F-B3C5-4BCA-A852-47AE4BD6D253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7030" y="6916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4" name="Text Box 191">
              <a:extLst>
                <a:ext uri="{FF2B5EF4-FFF2-40B4-BE49-F238E27FC236}">
                  <a16:creationId xmlns:a16="http://schemas.microsoft.com/office/drawing/2014/main" id="{DF18282A-9DFB-457C-A4FC-BA953AD1FC60}"/>
                </a:ext>
              </a:extLst>
            </p:cNvPr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5953" y="5900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A1</a:t>
              </a:r>
            </a:p>
          </p:txBody>
        </p:sp>
        <p:sp>
          <p:nvSpPr>
            <p:cNvPr id="35" name="Text Box 191">
              <a:extLst>
                <a:ext uri="{FF2B5EF4-FFF2-40B4-BE49-F238E27FC236}">
                  <a16:creationId xmlns:a16="http://schemas.microsoft.com/office/drawing/2014/main" id="{438A8033-5873-40C6-A9AF-522F945545C2}"/>
                </a:ext>
              </a:extLst>
            </p:cNvPr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5953" y="6689"/>
              <a:ext cx="39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Am</a:t>
              </a:r>
            </a:p>
          </p:txBody>
        </p:sp>
        <p:sp>
          <p:nvSpPr>
            <p:cNvPr id="36" name="Text Box 191">
              <a:extLst>
                <a:ext uri="{FF2B5EF4-FFF2-40B4-BE49-F238E27FC236}">
                  <a16:creationId xmlns:a16="http://schemas.microsoft.com/office/drawing/2014/main" id="{1BACAC66-90B0-44D6-816C-D663D694ACC2}"/>
                </a:ext>
              </a:extLst>
            </p:cNvPr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7710" y="6349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37" name="Text Box 191">
              <a:extLst>
                <a:ext uri="{FF2B5EF4-FFF2-40B4-BE49-F238E27FC236}">
                  <a16:creationId xmlns:a16="http://schemas.microsoft.com/office/drawing/2014/main" id="{6C3F58BC-39FD-471E-865D-CF8E2B079EBB}"/>
                </a:ext>
              </a:extLst>
            </p:cNvPr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6860" y="7256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S</a:t>
              </a:r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A86955E8-54E9-4437-A15C-9DD6AB174BF9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auto">
            <a:xfrm>
              <a:off x="6973" y="7087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9" name="Text Box 191">
              <a:extLst>
                <a:ext uri="{FF2B5EF4-FFF2-40B4-BE49-F238E27FC236}">
                  <a16:creationId xmlns:a16="http://schemas.microsoft.com/office/drawing/2014/main" id="{6C5DF078-A93F-4824-BEFD-665DD399A4F5}"/>
                </a:ext>
              </a:extLst>
            </p:cNvPr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7084" y="6975"/>
              <a:ext cx="737" cy="2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log</a:t>
              </a:r>
              <a:r>
                <a:rPr lang="en-US" altLang="zh-CN" sz="14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  <a:r>
                <a:rPr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m</a:t>
              </a:r>
            </a:p>
          </p:txBody>
        </p: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FE92E1D5-8637-4E48-96B1-9AF546442DB6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 bwMode="auto">
            <a:xfrm>
              <a:off x="6407" y="6009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1" name="Text Box 191">
              <a:extLst>
                <a:ext uri="{FF2B5EF4-FFF2-40B4-BE49-F238E27FC236}">
                  <a16:creationId xmlns:a16="http://schemas.microsoft.com/office/drawing/2014/main" id="{A3DA7193-1518-4010-B79D-621707B502F9}"/>
                </a:ext>
              </a:extLst>
            </p:cNvPr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6406" y="5813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n</a:t>
              </a:r>
            </a:p>
          </p:txBody>
        </p: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BE66C7B3-D549-469F-B870-B46F0989D4F3}"/>
                </a:ext>
              </a:extLst>
            </p:cNvPr>
            <p:cNvCxnSpPr/>
            <p:nvPr>
              <p:custDataLst>
                <p:tags r:id="rId53"/>
              </p:custDataLst>
            </p:nvPr>
          </p:nvCxnSpPr>
          <p:spPr bwMode="auto">
            <a:xfrm>
              <a:off x="6407" y="6803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3" name="Text Box 191">
              <a:extLst>
                <a:ext uri="{FF2B5EF4-FFF2-40B4-BE49-F238E27FC236}">
                  <a16:creationId xmlns:a16="http://schemas.microsoft.com/office/drawing/2014/main" id="{2143D67A-8027-4F50-B991-575F3ADC2742}"/>
                </a:ext>
              </a:extLst>
            </p:cNvPr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6406" y="6604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n</a:t>
              </a:r>
            </a:p>
          </p:txBody>
        </p: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221E8990-50F9-456E-8EC0-77D8E0D27A13}"/>
                </a:ext>
              </a:extLst>
            </p:cNvPr>
            <p:cNvCxnSpPr/>
            <p:nvPr>
              <p:custDataLst>
                <p:tags r:id="rId55"/>
              </p:custDataLst>
            </p:nvPr>
          </p:nvCxnSpPr>
          <p:spPr bwMode="auto">
            <a:xfrm>
              <a:off x="7370" y="6463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5" name="Text Box 191">
              <a:extLst>
                <a:ext uri="{FF2B5EF4-FFF2-40B4-BE49-F238E27FC236}">
                  <a16:creationId xmlns:a16="http://schemas.microsoft.com/office/drawing/2014/main" id="{F1BDAE98-30F0-4345-B8C3-084A4366C1F9}"/>
                </a:ext>
              </a:extLst>
            </p:cNvPr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7370" y="6238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n</a:t>
              </a: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954F361F-164F-4974-9A22-48BEB3DC2BD1}"/>
              </a:ext>
            </a:extLst>
          </p:cNvPr>
          <p:cNvGrpSpPr/>
          <p:nvPr/>
        </p:nvGrpSpPr>
        <p:grpSpPr>
          <a:xfrm>
            <a:off x="7236043" y="3933056"/>
            <a:ext cx="1728470" cy="1117600"/>
            <a:chOff x="4932" y="5217"/>
            <a:chExt cx="2722" cy="1760"/>
          </a:xfrm>
        </p:grpSpPr>
        <p:sp>
          <p:nvSpPr>
            <p:cNvPr id="47" name="AutoShape 15">
              <a:extLst>
                <a:ext uri="{FF2B5EF4-FFF2-40B4-BE49-F238E27FC236}">
                  <a16:creationId xmlns:a16="http://schemas.microsoft.com/office/drawing/2014/main" id="{09D7B2C6-822D-4FBF-9D76-9C46F3239AAD}"/>
                </a:ext>
              </a:extLst>
            </p:cNvPr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5499" y="5896"/>
              <a:ext cx="1587" cy="454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17780" rIns="0" bIns="0" anchor="t" anchorCtr="0"/>
            <a:lstStyle/>
            <a:p>
              <a:pPr marL="0" indent="0" algn="ctr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加法器</a:t>
              </a:r>
            </a:p>
          </p:txBody>
        </p: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BEF31FE5-2088-41ED-91A0-60C22308DF68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>
              <a:off x="5839" y="5557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81B4ACDE-9C1D-47D4-90A0-4EC8009BD204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 flipH="1" flipV="1">
              <a:off x="6917" y="6123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AB395F4A-B8F5-4DA8-9139-B5E5BECBA680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>
              <a:off x="5783" y="5613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1" name="Text Box 101">
              <a:extLst>
                <a:ext uri="{FF2B5EF4-FFF2-40B4-BE49-F238E27FC236}">
                  <a16:creationId xmlns:a16="http://schemas.microsoft.com/office/drawing/2014/main" id="{82DE0DDA-E0CF-4AC5-96C1-40206EAD6BA5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5868" y="5498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</a:rPr>
                <a:t>n</a:t>
              </a:r>
              <a:endParaRPr lang="en-US" altLang="zh-CN" sz="1400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5EF30595-C064-4C70-898F-6C2B0DC34218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 flipH="1" flipV="1">
              <a:off x="5385" y="6123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3" name="Text Box 191">
              <a:extLst>
                <a:ext uri="{FF2B5EF4-FFF2-40B4-BE49-F238E27FC236}">
                  <a16:creationId xmlns:a16="http://schemas.microsoft.com/office/drawing/2014/main" id="{F19216BA-CAC7-4348-9372-728263C28339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7200" y="5953"/>
              <a:ext cx="454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in</a:t>
              </a:r>
            </a:p>
          </p:txBody>
        </p:sp>
        <p:sp>
          <p:nvSpPr>
            <p:cNvPr id="54" name="Text Box 191">
              <a:extLst>
                <a:ext uri="{FF2B5EF4-FFF2-40B4-BE49-F238E27FC236}">
                  <a16:creationId xmlns:a16="http://schemas.microsoft.com/office/drawing/2014/main" id="{E436D079-49A3-46B0-B9EE-901506ECECE2}"/>
                </a:ext>
              </a:extLst>
            </p:cNvPr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932" y="5953"/>
              <a:ext cx="56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C</a:t>
              </a:r>
              <a:r>
                <a:rPr lang="en-US" altLang="zh-CN" sz="1600" b="1" baseline="-25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out</a:t>
              </a:r>
            </a:p>
          </p:txBody>
        </p:sp>
        <p:sp>
          <p:nvSpPr>
            <p:cNvPr id="55" name="Text Box 191">
              <a:extLst>
                <a:ext uri="{FF2B5EF4-FFF2-40B4-BE49-F238E27FC236}">
                  <a16:creationId xmlns:a16="http://schemas.microsoft.com/office/drawing/2014/main" id="{77BC9429-ADC9-4CE6-BC64-71E69AC273B2}"/>
                </a:ext>
              </a:extLst>
            </p:cNvPr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5669" y="5217"/>
              <a:ext cx="340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BF724F86-478B-43D9-8A0D-EBFB65789BD7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>
              <a:off x="6691" y="5557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46DFCF84-D41F-42EE-84EB-946ADC4F0C49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>
              <a:off x="6634" y="5613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8" name="Text Box 101">
              <a:extLst>
                <a:ext uri="{FF2B5EF4-FFF2-40B4-BE49-F238E27FC236}">
                  <a16:creationId xmlns:a16="http://schemas.microsoft.com/office/drawing/2014/main" id="{A204540B-BA5C-42D9-AABD-02EBD98DCFFE}"/>
                </a:ext>
              </a:extLst>
            </p:cNvPr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719" y="5498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</a:rPr>
                <a:t>n</a:t>
              </a:r>
              <a:endParaRPr lang="en-US" altLang="zh-CN" sz="1400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9" name="Text Box 191">
              <a:extLst>
                <a:ext uri="{FF2B5EF4-FFF2-40B4-BE49-F238E27FC236}">
                  <a16:creationId xmlns:a16="http://schemas.microsoft.com/office/drawing/2014/main" id="{9D63BE6C-3BF6-4F76-8414-349AF68D2132}"/>
                </a:ext>
              </a:extLst>
            </p:cNvPr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6576" y="521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B</a:t>
              </a:r>
            </a:p>
          </p:txBody>
        </p: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ADDEA433-466B-4036-8C81-906D9324C7C2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auto">
            <a:xfrm>
              <a:off x="6293" y="6350"/>
              <a:ext cx="0" cy="34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E7DED053-278D-48E1-8629-01ADFE6759EF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auto">
            <a:xfrm>
              <a:off x="6236" y="6408"/>
              <a:ext cx="113" cy="11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62" name="Text Box 101">
              <a:extLst>
                <a:ext uri="{FF2B5EF4-FFF2-40B4-BE49-F238E27FC236}">
                  <a16:creationId xmlns:a16="http://schemas.microsoft.com/office/drawing/2014/main" id="{D91E6C24-6838-4A87-BC2C-B7D4A649F7A4}"/>
                </a:ext>
              </a:extLst>
            </p:cNvPr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6321" y="6291"/>
              <a:ext cx="227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 lIns="18000" tIns="10800" rIns="18000" bIns="1080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</a:rPr>
                <a:t>n</a:t>
              </a:r>
              <a:endParaRPr lang="en-US" altLang="zh-CN" sz="1400" baseline="-20000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3" name="Text Box 191">
              <a:extLst>
                <a:ext uri="{FF2B5EF4-FFF2-40B4-BE49-F238E27FC236}">
                  <a16:creationId xmlns:a16="http://schemas.microsoft.com/office/drawing/2014/main" id="{3E99D017-FA18-4A9C-824D-62E13417A169}"/>
                </a:ext>
              </a:extLst>
            </p:cNvPr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6180" y="6637"/>
              <a:ext cx="283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F</a:t>
              </a: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A1A46A95-CDAF-4B92-BAAF-5E9312D3A667}"/>
              </a:ext>
            </a:extLst>
          </p:cNvPr>
          <p:cNvGrpSpPr/>
          <p:nvPr/>
        </p:nvGrpSpPr>
        <p:grpSpPr>
          <a:xfrm>
            <a:off x="7488262" y="1844824"/>
            <a:ext cx="1223645" cy="865505"/>
            <a:chOff x="1701" y="3855"/>
            <a:chExt cx="1927" cy="1363"/>
          </a:xfrm>
        </p:grpSpPr>
        <p:sp>
          <p:nvSpPr>
            <p:cNvPr id="65" name="Text Box 36">
              <a:extLst>
                <a:ext uri="{FF2B5EF4-FFF2-40B4-BE49-F238E27FC236}">
                  <a16:creationId xmlns:a16="http://schemas.microsoft.com/office/drawing/2014/main" id="{9184BF77-7435-4812-96F3-B71EDE321DB0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096" y="3857"/>
              <a:ext cx="1191" cy="1361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译码器</a:t>
              </a:r>
            </a:p>
          </p:txBody>
        </p:sp>
        <p:sp>
          <p:nvSpPr>
            <p:cNvPr id="66" name="Text Box 36">
              <a:extLst>
                <a:ext uri="{FF2B5EF4-FFF2-40B4-BE49-F238E27FC236}">
                  <a16:creationId xmlns:a16="http://schemas.microsoft.com/office/drawing/2014/main" id="{61ED0A07-239C-438B-8EF0-F00C49DB926B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098" y="4310"/>
              <a:ext cx="283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67" name="Text Box 36">
              <a:extLst>
                <a:ext uri="{FF2B5EF4-FFF2-40B4-BE49-F238E27FC236}">
                  <a16:creationId xmlns:a16="http://schemas.microsoft.com/office/drawing/2014/main" id="{3FA688C3-AE85-4FB6-A562-103D4C9F2DED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891" y="3855"/>
              <a:ext cx="397" cy="136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Y0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Y1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Y2Y3</a:t>
              </a:r>
            </a:p>
          </p:txBody>
        </p: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6855CE80-8BE9-439F-9D32-DE67E418FF00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1701" y="4480"/>
              <a:ext cx="397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D6339E04-D206-4C23-89FF-7DF7A404C2AF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3288" y="4001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20F226CF-DB1C-4F9E-90B8-79F556E90310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3288" y="4341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47AB1203-539F-4CF6-AC0A-8ACA2B7DA3CE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3288" y="4706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8DA9214D-4694-4C4D-AEC6-3D9D6934160F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3288" y="5046"/>
              <a:ext cx="34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3" name="直接箭头连接符 72">
              <a:extLst>
                <a:ext uri="{FF2B5EF4-FFF2-40B4-BE49-F238E27FC236}">
                  <a16:creationId xmlns:a16="http://schemas.microsoft.com/office/drawing/2014/main" id="{4A4450C0-FE1C-4854-AD5D-104A908511C0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1701" y="4989"/>
              <a:ext cx="39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sp>
          <p:nvSpPr>
            <p:cNvPr id="74" name="Text Box 36">
              <a:extLst>
                <a:ext uri="{FF2B5EF4-FFF2-40B4-BE49-F238E27FC236}">
                  <a16:creationId xmlns:a16="http://schemas.microsoft.com/office/drawing/2014/main" id="{5097312C-6BCB-41E9-89B7-33A58267668D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098" y="4819"/>
              <a:ext cx="283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E</a:t>
              </a:r>
            </a:p>
          </p:txBody>
        </p:sp>
        <p:sp>
          <p:nvSpPr>
            <p:cNvPr id="76" name="Text Box 213">
              <a:extLst>
                <a:ext uri="{FF2B5EF4-FFF2-40B4-BE49-F238E27FC236}">
                  <a16:creationId xmlns:a16="http://schemas.microsoft.com/office/drawing/2014/main" id="{317F05FB-0A56-4D89-AF23-33AA5F6DEE4E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757" y="4193"/>
              <a:ext cx="22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latin typeface="宋体" panose="02010600030101010101" pitchFamily="2" charset="-122"/>
                  <a:cs typeface="Arial Unicode MS" panose="020B0604020202020204" charset="-122"/>
                </a:rPr>
                <a:t>2</a:t>
              </a:r>
            </a:p>
          </p:txBody>
        </p: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FC513FF1-1779-4062-8FFE-21ECF055C3D5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>
              <a:off x="1757" y="4423"/>
              <a:ext cx="113" cy="113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2578A5E5-46F4-4B88-94E6-1AE97AFE0221}"/>
              </a:ext>
            </a:extLst>
          </p:cNvPr>
          <p:cNvGrpSpPr/>
          <p:nvPr/>
        </p:nvGrpSpPr>
        <p:grpSpPr>
          <a:xfrm>
            <a:off x="7488118" y="1196752"/>
            <a:ext cx="1116330" cy="575945"/>
            <a:chOff x="7200" y="5329"/>
            <a:chExt cx="1758" cy="907"/>
          </a:xfrm>
        </p:grpSpPr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0EFBEAEC-470A-4788-9552-50CA80C74374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7824" y="5669"/>
              <a:ext cx="454" cy="567"/>
            </a:xfrm>
            <a:prstGeom prst="triangl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FFD62C25-D398-4931-9D52-C266BC9C4242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 bwMode="auto">
            <a:xfrm flipV="1">
              <a:off x="7427" y="5953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91241EE3-8C97-407E-9AD8-4205815C3D5F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 flipV="1">
              <a:off x="8334" y="5953"/>
              <a:ext cx="34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2" name="Text Box 191">
              <a:extLst>
                <a:ext uri="{FF2B5EF4-FFF2-40B4-BE49-F238E27FC236}">
                  <a16:creationId xmlns:a16="http://schemas.microsoft.com/office/drawing/2014/main" id="{CB9B45CC-5C67-46FA-8A84-DE451F0FADE9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731" y="5783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Y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3" name="Text Box 191">
              <a:extLst>
                <a:ext uri="{FF2B5EF4-FFF2-40B4-BE49-F238E27FC236}">
                  <a16:creationId xmlns:a16="http://schemas.microsoft.com/office/drawing/2014/main" id="{F64B37D0-DEEF-4694-BA05-4D229B84F148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7200" y="5783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D3BDE08C-0D3A-4FD1-87C4-5C52D222C006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>
              <a:off x="8107" y="5670"/>
              <a:ext cx="0" cy="17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5" name="Text Box 191">
              <a:extLst>
                <a:ext uri="{FF2B5EF4-FFF2-40B4-BE49-F238E27FC236}">
                  <a16:creationId xmlns:a16="http://schemas.microsoft.com/office/drawing/2014/main" id="{300B283A-6DB5-4EEA-96F6-E2C891148BC0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994" y="5329"/>
              <a:ext cx="227" cy="34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G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86" name="Text Box 191">
            <a:extLst>
              <a:ext uri="{FF2B5EF4-FFF2-40B4-BE49-F238E27FC236}">
                <a16:creationId xmlns:a16="http://schemas.microsoft.com/office/drawing/2014/main" id="{EB19F321-05E9-47ED-AC10-BB39016A9262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508104" y="1556792"/>
            <a:ext cx="1583904" cy="12964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1800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G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E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可选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baseline="-18000" dirty="0">
                <a:latin typeface="宋体" panose="02010600030101010101" pitchFamily="2" charset="-122"/>
              </a:rPr>
              <a:t> </a:t>
            </a:r>
            <a:r>
              <a:rPr lang="en-US" altLang="zh-CN" sz="1800" b="1" kern="120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Y</a:t>
            </a:r>
            <a:r>
              <a:rPr lang="en-US" altLang="zh-CN" sz="1800" b="1" kern="1200" baseline="-1600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lang="en-US" altLang="zh-CN" sz="1800" b="1" kern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kern="120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Y</a:t>
            </a:r>
            <a:r>
              <a:rPr lang="en-US" altLang="zh-CN" sz="1800" b="1" kern="1200" baseline="-1600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0</a:t>
            </a:r>
            <a:endParaRPr lang="zh-CN" altLang="en-US" sz="1800" b="1" kern="1200" baseline="-16000" dirty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en-US" altLang="zh-CN" sz="1800" b="1" kern="1200" dirty="0">
                <a:solidFill>
                  <a:srgbClr val="FF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</a:t>
            </a:r>
            <a:r>
              <a:rPr lang="en-US" altLang="zh-CN" sz="1800" b="1" kern="1200" baseline="-16000" dirty="0">
                <a:solidFill>
                  <a:srgbClr val="FF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lang="en-US" altLang="zh-CN" sz="1800" b="1" kern="1200" dirty="0">
                <a:solidFill>
                  <a:srgbClr val="FF33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kern="1200" dirty="0">
                <a:solidFill>
                  <a:srgbClr val="FF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S</a:t>
            </a:r>
            <a:r>
              <a:rPr lang="en-US" altLang="zh-CN" sz="1800" b="1" kern="1200" baseline="-16000" dirty="0">
                <a:solidFill>
                  <a:srgbClr val="FF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0</a:t>
            </a:r>
            <a:endParaRPr lang="zh-CN" altLang="en-US" sz="1800" b="1" kern="1200" baseline="-16000" dirty="0">
              <a:solidFill>
                <a:srgbClr val="FF3399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无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sz="1800" b="1" dirty="0" err="1">
                <a:solidFill>
                  <a:schemeClr val="tx1"/>
                </a:solidFill>
                <a:latin typeface="宋体" panose="02010600030101010101" pitchFamily="2" charset="-122"/>
              </a:rPr>
              <a:t>F,C</a:t>
            </a:r>
            <a:r>
              <a:rPr lang="en-US" altLang="zh-CN" sz="1800" b="1" baseline="-25000" dirty="0" err="1">
                <a:solidFill>
                  <a:schemeClr val="tx1"/>
                </a:solidFill>
                <a:latin typeface="宋体" panose="02010600030101010101" pitchFamily="2" charset="-122"/>
              </a:rPr>
              <a:t>out</a:t>
            </a:r>
            <a:endParaRPr lang="en-US" altLang="zh-CN" sz="1800" b="1" baseline="-250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6DEBCA23-46EF-4977-A78C-180648B4A552}"/>
              </a:ext>
            </a:extLst>
          </p:cNvPr>
          <p:cNvGrpSpPr/>
          <p:nvPr/>
        </p:nvGrpSpPr>
        <p:grpSpPr>
          <a:xfrm>
            <a:off x="2592000" y="3789040"/>
            <a:ext cx="1656000" cy="684000"/>
            <a:chOff x="2592000" y="5472000"/>
            <a:chExt cx="1656000" cy="684000"/>
          </a:xfrm>
        </p:grpSpPr>
        <p:sp>
          <p:nvSpPr>
            <p:cNvPr id="104" name="Text Box 419">
              <a:extLst>
                <a:ext uri="{FF2B5EF4-FFF2-40B4-BE49-F238E27FC236}">
                  <a16:creationId xmlns:a16="http://schemas.microsoft.com/office/drawing/2014/main" id="{D048FB21-13ED-4410-ADD5-ABB39D212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8000" y="5472000"/>
              <a:ext cx="864000" cy="684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62952616-77FD-465D-8662-452D549D7A20}"/>
                </a:ext>
              </a:extLst>
            </p:cNvPr>
            <p:cNvCxnSpPr/>
            <p:nvPr/>
          </p:nvCxnSpPr>
          <p:spPr bwMode="auto">
            <a:xfrm>
              <a:off x="2772000" y="56520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CC655369-7AB4-4B14-89FA-D0E78D9A0E55}"/>
                </a:ext>
              </a:extLst>
            </p:cNvPr>
            <p:cNvCxnSpPr/>
            <p:nvPr/>
          </p:nvCxnSpPr>
          <p:spPr bwMode="auto">
            <a:xfrm>
              <a:off x="2772000" y="58680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7" name="Text Box 430">
              <a:extLst>
                <a:ext uri="{FF2B5EF4-FFF2-40B4-BE49-F238E27FC236}">
                  <a16:creationId xmlns:a16="http://schemas.microsoft.com/office/drawing/2014/main" id="{677E5101-66CB-428A-AACD-95FAF99F3E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000" y="5580000"/>
              <a:ext cx="180000" cy="57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A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BE</a:t>
              </a:r>
            </a:p>
          </p:txBody>
        </p: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C1B66EEC-A854-47D3-A530-CB06925A7624}"/>
                </a:ext>
              </a:extLst>
            </p:cNvPr>
            <p:cNvCxnSpPr/>
            <p:nvPr/>
          </p:nvCxnSpPr>
          <p:spPr bwMode="auto">
            <a:xfrm>
              <a:off x="3852000" y="57600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9" name="Text Box 430">
              <a:extLst>
                <a:ext uri="{FF2B5EF4-FFF2-40B4-BE49-F238E27FC236}">
                  <a16:creationId xmlns:a16="http://schemas.microsoft.com/office/drawing/2014/main" id="{497AEFD8-1EF1-4AE6-8C10-74100A3A0C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8000" y="5652000"/>
              <a:ext cx="18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Y</a:t>
              </a:r>
            </a:p>
          </p:txBody>
        </p: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35066D31-DA9C-47E6-B697-3888CF83828D}"/>
                </a:ext>
              </a:extLst>
            </p:cNvPr>
            <p:cNvCxnSpPr/>
            <p:nvPr/>
          </p:nvCxnSpPr>
          <p:spPr bwMode="auto">
            <a:xfrm>
              <a:off x="2772000" y="60840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A66E5113-4848-4901-B517-FD8F5CBC588B}"/>
                </a:ext>
              </a:extLst>
            </p:cNvPr>
            <p:cNvCxnSpPr/>
            <p:nvPr/>
          </p:nvCxnSpPr>
          <p:spPr bwMode="auto">
            <a:xfrm>
              <a:off x="3744000" y="5760000"/>
              <a:ext cx="10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162" name="组合 161">
            <a:extLst>
              <a:ext uri="{FF2B5EF4-FFF2-40B4-BE49-F238E27FC236}">
                <a16:creationId xmlns:a16="http://schemas.microsoft.com/office/drawing/2014/main" id="{E2C17824-233A-4E58-9354-1586E18B5B5C}"/>
              </a:ext>
            </a:extLst>
          </p:cNvPr>
          <p:cNvGrpSpPr/>
          <p:nvPr/>
        </p:nvGrpSpPr>
        <p:grpSpPr>
          <a:xfrm>
            <a:off x="1763688" y="5013176"/>
            <a:ext cx="4860360" cy="1116000"/>
            <a:chOff x="2952000" y="5291083"/>
            <a:chExt cx="4860360" cy="1116000"/>
          </a:xfrm>
        </p:grpSpPr>
        <p:sp>
          <p:nvSpPr>
            <p:cNvPr id="129" name="Text Box 419">
              <a:extLst>
                <a:ext uri="{FF2B5EF4-FFF2-40B4-BE49-F238E27FC236}">
                  <a16:creationId xmlns:a16="http://schemas.microsoft.com/office/drawing/2014/main" id="{B99A7B15-4754-4453-97CC-6C4C8EA57B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8000" y="5291083"/>
              <a:ext cx="972000" cy="1044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sp>
          <p:nvSpPr>
            <p:cNvPr id="22" name="Text Box 430">
              <a:extLst>
                <a:ext uri="{FF2B5EF4-FFF2-40B4-BE49-F238E27FC236}">
                  <a16:creationId xmlns:a16="http://schemas.microsoft.com/office/drawing/2014/main" id="{235B29C7-94D6-4FA2-9F32-BF4FE7159B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360" y="5292000"/>
              <a:ext cx="3060000" cy="100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血型编码：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  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00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～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11</a:t>
              </a:r>
              <a:r>
                <a:rPr lang="zh-CN" altLang="en-US" sz="1600" b="1" dirty="0">
                  <a:latin typeface="+mn-ea"/>
                </a:rPr>
                <a:t>＝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O/A/B/AB</a:t>
              </a:r>
            </a:p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配对规则：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  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O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→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O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、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O/A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→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A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、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O/B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→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B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、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*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→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AB</a:t>
              </a:r>
            </a:p>
          </p:txBody>
        </p: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4B4500E1-6765-4581-8C3C-6B3E5EF73A7F}"/>
                </a:ext>
              </a:extLst>
            </p:cNvPr>
            <p:cNvCxnSpPr/>
            <p:nvPr/>
          </p:nvCxnSpPr>
          <p:spPr bwMode="auto">
            <a:xfrm>
              <a:off x="3168000" y="6263083"/>
              <a:ext cx="18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AE83BC95-B561-44AE-BC9A-281641B9C7F7}"/>
                </a:ext>
              </a:extLst>
            </p:cNvPr>
            <p:cNvCxnSpPr/>
            <p:nvPr/>
          </p:nvCxnSpPr>
          <p:spPr bwMode="auto">
            <a:xfrm>
              <a:off x="3168000" y="5651083"/>
              <a:ext cx="18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2" name="Text Box 430">
              <a:extLst>
                <a:ext uri="{FF2B5EF4-FFF2-40B4-BE49-F238E27FC236}">
                  <a16:creationId xmlns:a16="http://schemas.microsoft.com/office/drawing/2014/main" id="{C285A75E-CF71-414B-B751-610A8220AC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2000" y="5543083"/>
              <a:ext cx="252000" cy="86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X</a:t>
              </a:r>
              <a:r>
                <a:rPr lang="en-US" altLang="zh-CN" sz="1600" b="1" baseline="-18000" dirty="0">
                  <a:solidFill>
                    <a:schemeClr val="tx1"/>
                  </a:solidFill>
                  <a:latin typeface="+mn-ea"/>
                  <a:ea typeface="+mn-ea"/>
                </a:rPr>
                <a:t>1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X</a:t>
              </a:r>
              <a:r>
                <a:rPr lang="en-US" altLang="zh-CN" sz="1600" b="1" baseline="-18000" dirty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</a:p>
            <a:p>
              <a:pPr algn="ctr">
                <a:lnSpc>
                  <a:spcPct val="80000"/>
                </a:lnSpc>
                <a:spcBef>
                  <a:spcPts val="40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Y</a:t>
              </a:r>
              <a:r>
                <a:rPr lang="en-US" altLang="zh-CN" sz="1600" b="1" baseline="-18000" dirty="0">
                  <a:solidFill>
                    <a:schemeClr val="tx1"/>
                  </a:solidFill>
                  <a:latin typeface="+mn-ea"/>
                  <a:ea typeface="+mn-ea"/>
                </a:rPr>
                <a:t>1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Y</a:t>
              </a:r>
              <a:r>
                <a:rPr lang="en-US" altLang="zh-CN" sz="1600" b="1" baseline="-18000" dirty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endParaRPr lang="en-US" altLang="zh-CN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07332C8B-0072-496A-B4B0-E0079AEF2E3B}"/>
                </a:ext>
              </a:extLst>
            </p:cNvPr>
            <p:cNvCxnSpPr/>
            <p:nvPr/>
          </p:nvCxnSpPr>
          <p:spPr bwMode="auto">
            <a:xfrm>
              <a:off x="4320000" y="5723083"/>
              <a:ext cx="18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4" name="Text Box 430">
              <a:extLst>
                <a:ext uri="{FF2B5EF4-FFF2-40B4-BE49-F238E27FC236}">
                  <a16:creationId xmlns:a16="http://schemas.microsoft.com/office/drawing/2014/main" id="{B0962721-2451-4AAD-919E-CF2DA7AB82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000" y="5615083"/>
              <a:ext cx="18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Y</a:t>
              </a:r>
            </a:p>
          </p:txBody>
        </p: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EAB2A2B5-9D19-4C20-991C-09D4E004F26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248000" y="5723083"/>
              <a:ext cx="7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B5FBE083-15B6-4E4C-BAC2-D3650BBCA021}"/>
                </a:ext>
              </a:extLst>
            </p:cNvPr>
            <p:cNvCxnSpPr/>
            <p:nvPr/>
          </p:nvCxnSpPr>
          <p:spPr bwMode="auto">
            <a:xfrm>
              <a:off x="3168000" y="5831083"/>
              <a:ext cx="18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23442468-ABF2-42D6-AD62-A891DE20793C}"/>
                </a:ext>
              </a:extLst>
            </p:cNvPr>
            <p:cNvCxnSpPr/>
            <p:nvPr/>
          </p:nvCxnSpPr>
          <p:spPr bwMode="auto">
            <a:xfrm>
              <a:off x="3167824" y="6119083"/>
              <a:ext cx="18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31649A75-F169-411C-98FA-AB5122E5AC45}"/>
              </a:ext>
            </a:extLst>
          </p:cNvPr>
          <p:cNvGrpSpPr/>
          <p:nvPr/>
        </p:nvGrpSpPr>
        <p:grpSpPr>
          <a:xfrm>
            <a:off x="4572000" y="3815920"/>
            <a:ext cx="1440000" cy="612000"/>
            <a:chOff x="2592000" y="3888000"/>
            <a:chExt cx="1440000" cy="612000"/>
          </a:xfrm>
        </p:grpSpPr>
        <p:sp>
          <p:nvSpPr>
            <p:cNvPr id="165" name="Text Box 419">
              <a:extLst>
                <a:ext uri="{FF2B5EF4-FFF2-40B4-BE49-F238E27FC236}">
                  <a16:creationId xmlns:a16="http://schemas.microsoft.com/office/drawing/2014/main" id="{5AC73ABE-7C7D-4CA5-B05B-4A3950576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8000" y="3888000"/>
              <a:ext cx="684000" cy="612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166" name="直接箭头连接符 165">
              <a:extLst>
                <a:ext uri="{FF2B5EF4-FFF2-40B4-BE49-F238E27FC236}">
                  <a16:creationId xmlns:a16="http://schemas.microsoft.com/office/drawing/2014/main" id="{6E770F62-10F7-43A4-87CC-A2B9000CB93F}"/>
                </a:ext>
              </a:extLst>
            </p:cNvPr>
            <p:cNvCxnSpPr/>
            <p:nvPr/>
          </p:nvCxnSpPr>
          <p:spPr bwMode="auto">
            <a:xfrm>
              <a:off x="2772000" y="39960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7" name="直接箭头连接符 166">
              <a:extLst>
                <a:ext uri="{FF2B5EF4-FFF2-40B4-BE49-F238E27FC236}">
                  <a16:creationId xmlns:a16="http://schemas.microsoft.com/office/drawing/2014/main" id="{6318F10D-7F95-4209-A257-D74277B9B1CB}"/>
                </a:ext>
              </a:extLst>
            </p:cNvPr>
            <p:cNvCxnSpPr/>
            <p:nvPr/>
          </p:nvCxnSpPr>
          <p:spPr bwMode="auto">
            <a:xfrm>
              <a:off x="2772000" y="42120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8" name="Text Box 430">
              <a:extLst>
                <a:ext uri="{FF2B5EF4-FFF2-40B4-BE49-F238E27FC236}">
                  <a16:creationId xmlns:a16="http://schemas.microsoft.com/office/drawing/2014/main" id="{9A55E91B-18DF-4831-8235-31839527C9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000" y="3924000"/>
              <a:ext cx="180000" cy="57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A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BE</a:t>
              </a:r>
            </a:p>
          </p:txBody>
        </p:sp>
        <p:cxnSp>
          <p:nvCxnSpPr>
            <p:cNvPr id="169" name="直接箭头连接符 168">
              <a:extLst>
                <a:ext uri="{FF2B5EF4-FFF2-40B4-BE49-F238E27FC236}">
                  <a16:creationId xmlns:a16="http://schemas.microsoft.com/office/drawing/2014/main" id="{303F7AAC-064B-4B37-88CC-AED5448124E4}"/>
                </a:ext>
              </a:extLst>
            </p:cNvPr>
            <p:cNvCxnSpPr/>
            <p:nvPr/>
          </p:nvCxnSpPr>
          <p:spPr bwMode="auto">
            <a:xfrm>
              <a:off x="3672000" y="41040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0" name="Text Box 430">
              <a:extLst>
                <a:ext uri="{FF2B5EF4-FFF2-40B4-BE49-F238E27FC236}">
                  <a16:creationId xmlns:a16="http://schemas.microsoft.com/office/drawing/2014/main" id="{CE7BFF35-D456-4E5B-8DD1-165ACBB064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2000" y="3996000"/>
              <a:ext cx="18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Y</a:t>
              </a:r>
            </a:p>
          </p:txBody>
        </p:sp>
        <p:cxnSp>
          <p:nvCxnSpPr>
            <p:cNvPr id="171" name="直接箭头连接符 170">
              <a:extLst>
                <a:ext uri="{FF2B5EF4-FFF2-40B4-BE49-F238E27FC236}">
                  <a16:creationId xmlns:a16="http://schemas.microsoft.com/office/drawing/2014/main" id="{81424AF3-0D6C-4169-B7E6-6A766C6EB819}"/>
                </a:ext>
              </a:extLst>
            </p:cNvPr>
            <p:cNvCxnSpPr/>
            <p:nvPr/>
          </p:nvCxnSpPr>
          <p:spPr bwMode="auto">
            <a:xfrm>
              <a:off x="2772000" y="44280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2" name="Text Box 434">
              <a:extLst>
                <a:ext uri="{FF2B5EF4-FFF2-40B4-BE49-F238E27FC236}">
                  <a16:creationId xmlns:a16="http://schemas.microsoft.com/office/drawing/2014/main" id="{D1AFC569-C260-4D5E-AABC-2A5E01691A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4000" y="3960000"/>
              <a:ext cx="180000" cy="288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ea typeface="+mn-ea"/>
                </a:rPr>
                <a:t>&amp;</a:t>
              </a:r>
            </a:p>
          </p:txBody>
        </p:sp>
        <p:cxnSp>
          <p:nvCxnSpPr>
            <p:cNvPr id="173" name="直接箭头连接符 172">
              <a:extLst>
                <a:ext uri="{FF2B5EF4-FFF2-40B4-BE49-F238E27FC236}">
                  <a16:creationId xmlns:a16="http://schemas.microsoft.com/office/drawing/2014/main" id="{83C547EF-4122-44C4-BD72-049F1920FBA8}"/>
                </a:ext>
              </a:extLst>
            </p:cNvPr>
            <p:cNvCxnSpPr/>
            <p:nvPr/>
          </p:nvCxnSpPr>
          <p:spPr bwMode="auto">
            <a:xfrm>
              <a:off x="3276000" y="4211999"/>
              <a:ext cx="10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1E26BA29-4B94-4564-A704-1BFE758C0AD6}"/>
                </a:ext>
              </a:extLst>
            </p:cNvPr>
            <p:cNvCxnSpPr/>
            <p:nvPr/>
          </p:nvCxnSpPr>
          <p:spPr bwMode="auto">
            <a:xfrm>
              <a:off x="2988000" y="4212000"/>
              <a:ext cx="14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5" name="直接箭头连接符 174">
              <a:extLst>
                <a:ext uri="{FF2B5EF4-FFF2-40B4-BE49-F238E27FC236}">
                  <a16:creationId xmlns:a16="http://schemas.microsoft.com/office/drawing/2014/main" id="{6CADB1F5-3154-4D78-AFC1-C794176062B3}"/>
                </a:ext>
              </a:extLst>
            </p:cNvPr>
            <p:cNvCxnSpPr/>
            <p:nvPr/>
          </p:nvCxnSpPr>
          <p:spPr bwMode="auto">
            <a:xfrm>
              <a:off x="2988000" y="3996000"/>
              <a:ext cx="39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6" name="直接箭头连接符 175">
              <a:extLst>
                <a:ext uri="{FF2B5EF4-FFF2-40B4-BE49-F238E27FC236}">
                  <a16:creationId xmlns:a16="http://schemas.microsoft.com/office/drawing/2014/main" id="{24E71CDD-E260-494D-83BA-BE8418113AD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204000" y="4248000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7" name="直接箭头连接符 176">
              <a:extLst>
                <a:ext uri="{FF2B5EF4-FFF2-40B4-BE49-F238E27FC236}">
                  <a16:creationId xmlns:a16="http://schemas.microsoft.com/office/drawing/2014/main" id="{9679D255-CD2A-451D-AEAE-A4D4A8237D0F}"/>
                </a:ext>
              </a:extLst>
            </p:cNvPr>
            <p:cNvCxnSpPr/>
            <p:nvPr/>
          </p:nvCxnSpPr>
          <p:spPr bwMode="auto">
            <a:xfrm>
              <a:off x="2988000" y="44280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BCE67FAF-8D39-4F35-A35B-3C0A155F9DBB}"/>
                </a:ext>
              </a:extLst>
            </p:cNvPr>
            <p:cNvCxnSpPr/>
            <p:nvPr/>
          </p:nvCxnSpPr>
          <p:spPr bwMode="auto">
            <a:xfrm>
              <a:off x="3564000" y="4104000"/>
              <a:ext cx="10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9" name="等腰三角形 178">
              <a:extLst>
                <a:ext uri="{FF2B5EF4-FFF2-40B4-BE49-F238E27FC236}">
                  <a16:creationId xmlns:a16="http://schemas.microsoft.com/office/drawing/2014/main" id="{E2C33A69-B1BE-44A6-AD64-90F478A703D8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3132000" y="4139999"/>
              <a:ext cx="144000" cy="144000"/>
            </a:xfrm>
            <a:prstGeom prst="triangl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80" name="直接箭头连接符 179">
              <a:extLst>
                <a:ext uri="{FF2B5EF4-FFF2-40B4-BE49-F238E27FC236}">
                  <a16:creationId xmlns:a16="http://schemas.microsoft.com/office/drawing/2014/main" id="{CD2C8E54-9E76-4C25-924B-AA2B43EFAA7D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3130803" y="4032000"/>
              <a:ext cx="360000" cy="288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1" name="直接箭头连接符 180">
              <a:extLst>
                <a:ext uri="{FF2B5EF4-FFF2-40B4-BE49-F238E27FC236}">
                  <a16:creationId xmlns:a16="http://schemas.microsoft.com/office/drawing/2014/main" id="{E9E8C176-2D7E-47D0-A634-FE6AE095FE5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132000" y="4032000"/>
              <a:ext cx="360000" cy="288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182" name="AutoShape 45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8D985BF-72A3-48A1-9BDD-64E26DBAC89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98800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71694A0-849E-4AD1-B7DD-0BE15AD3794E}"/>
              </a:ext>
            </a:extLst>
          </p:cNvPr>
          <p:cNvGrpSpPr/>
          <p:nvPr/>
        </p:nvGrpSpPr>
        <p:grpSpPr>
          <a:xfrm>
            <a:off x="2988000" y="3843040"/>
            <a:ext cx="748800" cy="558000"/>
            <a:chOff x="2988000" y="3807112"/>
            <a:chExt cx="748800" cy="558000"/>
          </a:xfrm>
        </p:grpSpPr>
        <p:sp>
          <p:nvSpPr>
            <p:cNvPr id="192" name="Text Box 434">
              <a:extLst>
                <a:ext uri="{FF2B5EF4-FFF2-40B4-BE49-F238E27FC236}">
                  <a16:creationId xmlns:a16="http://schemas.microsoft.com/office/drawing/2014/main" id="{DB808FD7-E27D-4BCC-AD16-13C550BF2B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0000" y="4005112"/>
              <a:ext cx="180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ea typeface="+mn-ea"/>
                </a:rPr>
                <a:t>&amp;</a:t>
              </a:r>
            </a:p>
          </p:txBody>
        </p:sp>
        <p:sp>
          <p:nvSpPr>
            <p:cNvPr id="193" name="流程图: 手动操作 192">
              <a:extLst>
                <a:ext uri="{FF2B5EF4-FFF2-40B4-BE49-F238E27FC236}">
                  <a16:creationId xmlns:a16="http://schemas.microsoft.com/office/drawing/2014/main" id="{77EBBCC0-BC27-4513-BF07-8A82EB33B3F7}"/>
                </a:ext>
              </a:extLst>
            </p:cNvPr>
            <p:cNvSpPr/>
            <p:nvPr/>
          </p:nvSpPr>
          <p:spPr bwMode="auto">
            <a:xfrm rot="16200000">
              <a:off x="3430800" y="3933112"/>
              <a:ext cx="432000" cy="180000"/>
            </a:xfrm>
            <a:prstGeom prst="flowChartManualOperation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94" name="直接箭头连接符 193">
              <a:extLst>
                <a:ext uri="{FF2B5EF4-FFF2-40B4-BE49-F238E27FC236}">
                  <a16:creationId xmlns:a16="http://schemas.microsoft.com/office/drawing/2014/main" id="{6299F159-C73F-4C11-8463-9C6FE8175048}"/>
                </a:ext>
              </a:extLst>
            </p:cNvPr>
            <p:cNvCxnSpPr/>
            <p:nvPr/>
          </p:nvCxnSpPr>
          <p:spPr bwMode="auto">
            <a:xfrm>
              <a:off x="3096000" y="4041112"/>
              <a:ext cx="14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5" name="直接箭头连接符 194">
              <a:extLst>
                <a:ext uri="{FF2B5EF4-FFF2-40B4-BE49-F238E27FC236}">
                  <a16:creationId xmlns:a16="http://schemas.microsoft.com/office/drawing/2014/main" id="{7B894A38-FEFB-4431-9F68-62EDE891A8DE}"/>
                </a:ext>
              </a:extLst>
            </p:cNvPr>
            <p:cNvCxnSpPr/>
            <p:nvPr/>
          </p:nvCxnSpPr>
          <p:spPr bwMode="auto">
            <a:xfrm>
              <a:off x="2988000" y="4149112"/>
              <a:ext cx="25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6" name="直接箭头连接符 195">
              <a:extLst>
                <a:ext uri="{FF2B5EF4-FFF2-40B4-BE49-F238E27FC236}">
                  <a16:creationId xmlns:a16="http://schemas.microsoft.com/office/drawing/2014/main" id="{AF7D1C08-EF09-45DF-B60F-852827CF5785}"/>
                </a:ext>
              </a:extLst>
            </p:cNvPr>
            <p:cNvCxnSpPr/>
            <p:nvPr/>
          </p:nvCxnSpPr>
          <p:spPr bwMode="auto">
            <a:xfrm>
              <a:off x="3419784" y="4113112"/>
              <a:ext cx="14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7" name="直接箭头连接符 196">
              <a:extLst>
                <a:ext uri="{FF2B5EF4-FFF2-40B4-BE49-F238E27FC236}">
                  <a16:creationId xmlns:a16="http://schemas.microsoft.com/office/drawing/2014/main" id="{15849242-19C0-4F2F-A89C-275C61427492}"/>
                </a:ext>
              </a:extLst>
            </p:cNvPr>
            <p:cNvCxnSpPr/>
            <p:nvPr/>
          </p:nvCxnSpPr>
          <p:spPr bwMode="auto">
            <a:xfrm>
              <a:off x="2988000" y="3933112"/>
              <a:ext cx="57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8" name="直接箭头连接符 197">
              <a:extLst>
                <a:ext uri="{FF2B5EF4-FFF2-40B4-BE49-F238E27FC236}">
                  <a16:creationId xmlns:a16="http://schemas.microsoft.com/office/drawing/2014/main" id="{985453BE-551E-4141-B4D0-C565E8A6539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097906" y="3933112"/>
              <a:ext cx="0" cy="10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199" name="Text Box 430">
              <a:extLst>
                <a:ext uri="{FF2B5EF4-FFF2-40B4-BE49-F238E27FC236}">
                  <a16:creationId xmlns:a16="http://schemas.microsoft.com/office/drawing/2014/main" id="{AA239E1B-7657-4996-A959-E334D790F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474000" y="3933112"/>
              <a:ext cx="324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200" b="1" dirty="0">
                  <a:solidFill>
                    <a:schemeClr val="tx1"/>
                  </a:solidFill>
                  <a:latin typeface="+mn-ea"/>
                  <a:ea typeface="+mn-ea"/>
                </a:rPr>
                <a:t>1</a:t>
              </a:r>
              <a:r>
                <a:rPr lang="en-US" altLang="zh-CN" sz="1200" b="1" baseline="-18000" dirty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sz="1200" b="1" dirty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</a:p>
          </p:txBody>
        </p: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01F777E6-671C-47F1-ACC0-8F3F5E38367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672000" y="4185112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1" name="直接箭头连接符 200">
              <a:extLst>
                <a:ext uri="{FF2B5EF4-FFF2-40B4-BE49-F238E27FC236}">
                  <a16:creationId xmlns:a16="http://schemas.microsoft.com/office/drawing/2014/main" id="{EB4B3BA3-0FAF-44AF-AD2A-CF6C7D5FCD2B}"/>
                </a:ext>
              </a:extLst>
            </p:cNvPr>
            <p:cNvCxnSpPr/>
            <p:nvPr/>
          </p:nvCxnSpPr>
          <p:spPr bwMode="auto">
            <a:xfrm>
              <a:off x="2988000" y="4365112"/>
              <a:ext cx="68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F5EAF929-BE86-46FC-BC80-C9BF5D79E817}"/>
              </a:ext>
            </a:extLst>
          </p:cNvPr>
          <p:cNvGrpSpPr/>
          <p:nvPr/>
        </p:nvGrpSpPr>
        <p:grpSpPr>
          <a:xfrm>
            <a:off x="2159688" y="5049176"/>
            <a:ext cx="900000" cy="936000"/>
            <a:chOff x="2159688" y="5003992"/>
            <a:chExt cx="900000" cy="936000"/>
          </a:xfrm>
        </p:grpSpPr>
        <p:sp>
          <p:nvSpPr>
            <p:cNvPr id="202" name="流程图: 手动操作 201">
              <a:extLst>
                <a:ext uri="{FF2B5EF4-FFF2-40B4-BE49-F238E27FC236}">
                  <a16:creationId xmlns:a16="http://schemas.microsoft.com/office/drawing/2014/main" id="{1A4B9BFC-A1E0-4BB9-8E45-410B03A25F3C}"/>
                </a:ext>
              </a:extLst>
            </p:cNvPr>
            <p:cNvSpPr/>
            <p:nvPr/>
          </p:nvSpPr>
          <p:spPr bwMode="auto">
            <a:xfrm rot="16200000">
              <a:off x="2573688" y="5273992"/>
              <a:ext cx="756000" cy="216000"/>
            </a:xfrm>
            <a:prstGeom prst="flowChartManualOperation">
              <a:avLst/>
            </a:prstGeom>
            <a:solidFill>
              <a:srgbClr val="CCFFFF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203" name="直接箭头连接符 202">
              <a:extLst>
                <a:ext uri="{FF2B5EF4-FFF2-40B4-BE49-F238E27FC236}">
                  <a16:creationId xmlns:a16="http://schemas.microsoft.com/office/drawing/2014/main" id="{FB251B42-DD68-4AD0-9976-0303AD045728}"/>
                </a:ext>
              </a:extLst>
            </p:cNvPr>
            <p:cNvCxnSpPr/>
            <p:nvPr/>
          </p:nvCxnSpPr>
          <p:spPr bwMode="auto">
            <a:xfrm>
              <a:off x="2159688" y="5507992"/>
              <a:ext cx="18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204" name="直接箭头连接符 203">
              <a:extLst>
                <a:ext uri="{FF2B5EF4-FFF2-40B4-BE49-F238E27FC236}">
                  <a16:creationId xmlns:a16="http://schemas.microsoft.com/office/drawing/2014/main" id="{48ED07EF-9B86-47FD-A974-9628C098DFC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39688" y="5183992"/>
              <a:ext cx="0" cy="32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5" name="直接箭头连接符 204">
              <a:extLst>
                <a:ext uri="{FF2B5EF4-FFF2-40B4-BE49-F238E27FC236}">
                  <a16:creationId xmlns:a16="http://schemas.microsoft.com/office/drawing/2014/main" id="{73C0E020-3B73-41EB-A80F-6F3D2FE98518}"/>
                </a:ext>
              </a:extLst>
            </p:cNvPr>
            <p:cNvCxnSpPr/>
            <p:nvPr/>
          </p:nvCxnSpPr>
          <p:spPr bwMode="auto">
            <a:xfrm>
              <a:off x="2699544" y="5147992"/>
              <a:ext cx="14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6" name="直接箭头连接符 205">
              <a:extLst>
                <a:ext uri="{FF2B5EF4-FFF2-40B4-BE49-F238E27FC236}">
                  <a16:creationId xmlns:a16="http://schemas.microsoft.com/office/drawing/2014/main" id="{8818E892-57B0-4182-80FC-5F9B70F7C1C2}"/>
                </a:ext>
              </a:extLst>
            </p:cNvPr>
            <p:cNvCxnSpPr/>
            <p:nvPr/>
          </p:nvCxnSpPr>
          <p:spPr bwMode="auto">
            <a:xfrm>
              <a:off x="2231688" y="5075992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7" name="直接箭头连接符 206">
              <a:extLst>
                <a:ext uri="{FF2B5EF4-FFF2-40B4-BE49-F238E27FC236}">
                  <a16:creationId xmlns:a16="http://schemas.microsoft.com/office/drawing/2014/main" id="{51667F35-D00B-464A-AD9F-B6B44E94C45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231520" y="5075992"/>
              <a:ext cx="168" cy="252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208" name="Text Box 430">
              <a:extLst>
                <a:ext uri="{FF2B5EF4-FFF2-40B4-BE49-F238E27FC236}">
                  <a16:creationId xmlns:a16="http://schemas.microsoft.com/office/drawing/2014/main" id="{76B9418A-FEE7-4B84-BD22-A1BF24FA9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591688" y="5327992"/>
              <a:ext cx="648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t" anchorCtr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200" b="1" dirty="0">
                  <a:latin typeface="+mn-ea"/>
                  <a:ea typeface="+mn-ea"/>
                </a:rPr>
                <a:t>3 </a:t>
              </a:r>
              <a:r>
                <a:rPr lang="en-US" altLang="zh-CN" sz="1200" b="1" dirty="0">
                  <a:solidFill>
                    <a:schemeClr val="tx1"/>
                  </a:solidFill>
                  <a:latin typeface="+mn-ea"/>
                  <a:ea typeface="+mn-ea"/>
                </a:rPr>
                <a:t>2 1</a:t>
              </a:r>
              <a:r>
                <a:rPr lang="en-US" altLang="zh-CN" sz="1200" b="1" baseline="-18000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200" b="1" dirty="0">
                  <a:solidFill>
                    <a:schemeClr val="tx1"/>
                  </a:solidFill>
                  <a:latin typeface="+mn-ea"/>
                  <a:ea typeface="+mn-ea"/>
                </a:rPr>
                <a:t> 0</a:t>
              </a:r>
            </a:p>
          </p:txBody>
        </p:sp>
        <p:cxnSp>
          <p:nvCxnSpPr>
            <p:cNvPr id="209" name="直接箭头连接符 208">
              <a:extLst>
                <a:ext uri="{FF2B5EF4-FFF2-40B4-BE49-F238E27FC236}">
                  <a16:creationId xmlns:a16="http://schemas.microsoft.com/office/drawing/2014/main" id="{18923A86-846D-423B-B6BB-E8813E019892}"/>
                </a:ext>
              </a:extLst>
            </p:cNvPr>
            <p:cNvCxnSpPr/>
            <p:nvPr/>
          </p:nvCxnSpPr>
          <p:spPr bwMode="auto">
            <a:xfrm>
              <a:off x="2159688" y="5795992"/>
              <a:ext cx="77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0" name="直接箭头连接符 209">
              <a:extLst>
                <a:ext uri="{FF2B5EF4-FFF2-40B4-BE49-F238E27FC236}">
                  <a16:creationId xmlns:a16="http://schemas.microsoft.com/office/drawing/2014/main" id="{E16022A6-E038-4A13-BA22-652AE8D67BA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933688" y="5687992"/>
              <a:ext cx="0" cy="10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1" name="直接箭头连接符 210">
              <a:extLst>
                <a:ext uri="{FF2B5EF4-FFF2-40B4-BE49-F238E27FC236}">
                  <a16:creationId xmlns:a16="http://schemas.microsoft.com/office/drawing/2014/main" id="{AB4BE09D-0E42-45AB-8CA9-318AECEF2EC3}"/>
                </a:ext>
              </a:extLst>
            </p:cNvPr>
            <p:cNvCxnSpPr/>
            <p:nvPr/>
          </p:nvCxnSpPr>
          <p:spPr bwMode="auto">
            <a:xfrm>
              <a:off x="2339688" y="5183992"/>
              <a:ext cx="10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12" name="Text Box 434">
              <a:extLst>
                <a:ext uri="{FF2B5EF4-FFF2-40B4-BE49-F238E27FC236}">
                  <a16:creationId xmlns:a16="http://schemas.microsoft.com/office/drawing/2014/main" id="{0C4C391D-94F3-4DAB-B988-4D6729B05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7544" y="5039992"/>
              <a:ext cx="180000" cy="180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ea typeface="+mn-ea"/>
                </a:rPr>
                <a:t>+</a:t>
              </a:r>
            </a:p>
          </p:txBody>
        </p:sp>
        <p:sp>
          <p:nvSpPr>
            <p:cNvPr id="213" name="椭圆 212">
              <a:extLst>
                <a:ext uri="{FF2B5EF4-FFF2-40B4-BE49-F238E27FC236}">
                  <a16:creationId xmlns:a16="http://schemas.microsoft.com/office/drawing/2014/main" id="{172CF209-B957-4160-B308-8FF17C2DDC77}"/>
                </a:ext>
              </a:extLst>
            </p:cNvPr>
            <p:cNvSpPr/>
            <p:nvPr/>
          </p:nvSpPr>
          <p:spPr bwMode="auto">
            <a:xfrm>
              <a:off x="2627688" y="5291992"/>
              <a:ext cx="72000" cy="7200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椭圆 213">
              <a:extLst>
                <a:ext uri="{FF2B5EF4-FFF2-40B4-BE49-F238E27FC236}">
                  <a16:creationId xmlns:a16="http://schemas.microsoft.com/office/drawing/2014/main" id="{783BEFBB-3CBF-45FC-BC9E-E608A94C9D62}"/>
                </a:ext>
              </a:extLst>
            </p:cNvPr>
            <p:cNvSpPr/>
            <p:nvPr/>
          </p:nvSpPr>
          <p:spPr bwMode="auto">
            <a:xfrm>
              <a:off x="2627688" y="5111992"/>
              <a:ext cx="72000" cy="7200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5" name="直接箭头连接符 214">
              <a:extLst>
                <a:ext uri="{FF2B5EF4-FFF2-40B4-BE49-F238E27FC236}">
                  <a16:creationId xmlns:a16="http://schemas.microsoft.com/office/drawing/2014/main" id="{98601100-563E-4248-98A2-61C91586F94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159688" y="5327992"/>
              <a:ext cx="28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sp>
          <p:nvSpPr>
            <p:cNvPr id="216" name="Text Box 434">
              <a:extLst>
                <a:ext uri="{FF2B5EF4-FFF2-40B4-BE49-F238E27FC236}">
                  <a16:creationId xmlns:a16="http://schemas.microsoft.com/office/drawing/2014/main" id="{43704A9E-8472-487E-BF9B-AA39DC0999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7688" y="5255992"/>
              <a:ext cx="180000" cy="144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en-US" altLang="zh-CN" sz="18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17" name="椭圆 216">
              <a:extLst>
                <a:ext uri="{FF2B5EF4-FFF2-40B4-BE49-F238E27FC236}">
                  <a16:creationId xmlns:a16="http://schemas.microsoft.com/office/drawing/2014/main" id="{05EA0D92-E891-4E34-98C8-A9A6AB8A64D6}"/>
                </a:ext>
              </a:extLst>
            </p:cNvPr>
            <p:cNvSpPr/>
            <p:nvPr/>
          </p:nvSpPr>
          <p:spPr bwMode="auto">
            <a:xfrm>
              <a:off x="2627544" y="5471992"/>
              <a:ext cx="72000" cy="7200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Text Box 434">
              <a:extLst>
                <a:ext uri="{FF2B5EF4-FFF2-40B4-BE49-F238E27FC236}">
                  <a16:creationId xmlns:a16="http://schemas.microsoft.com/office/drawing/2014/main" id="{D6FF3665-83A5-42FE-B0E7-1629B0324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7688" y="5435992"/>
              <a:ext cx="180000" cy="144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endParaRPr lang="en-US" altLang="zh-CN" sz="18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219" name="直接箭头连接符 218">
              <a:extLst>
                <a:ext uri="{FF2B5EF4-FFF2-40B4-BE49-F238E27FC236}">
                  <a16:creationId xmlns:a16="http://schemas.microsoft.com/office/drawing/2014/main" id="{FB067335-6E1D-4378-8DC0-2A5F96026F0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39688" y="5507992"/>
              <a:ext cx="10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20" name="直接箭头连接符 219">
              <a:extLst>
                <a:ext uri="{FF2B5EF4-FFF2-40B4-BE49-F238E27FC236}">
                  <a16:creationId xmlns:a16="http://schemas.microsoft.com/office/drawing/2014/main" id="{6B2AA7FA-3A8C-441B-BEEE-90015089B4A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11688" y="5651992"/>
              <a:ext cx="43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21" name="直接箭头连接符 220">
              <a:extLst>
                <a:ext uri="{FF2B5EF4-FFF2-40B4-BE49-F238E27FC236}">
                  <a16:creationId xmlns:a16="http://schemas.microsoft.com/office/drawing/2014/main" id="{F149276A-DA78-4B67-B43C-1094FC8EE68B}"/>
                </a:ext>
              </a:extLst>
            </p:cNvPr>
            <p:cNvCxnSpPr/>
            <p:nvPr/>
          </p:nvCxnSpPr>
          <p:spPr bwMode="auto">
            <a:xfrm>
              <a:off x="2699544" y="5328052"/>
              <a:ext cx="14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2" name="直接箭头连接符 221">
              <a:extLst>
                <a:ext uri="{FF2B5EF4-FFF2-40B4-BE49-F238E27FC236}">
                  <a16:creationId xmlns:a16="http://schemas.microsoft.com/office/drawing/2014/main" id="{796FBB20-7A22-4F02-8D55-DCEA8898B327}"/>
                </a:ext>
              </a:extLst>
            </p:cNvPr>
            <p:cNvCxnSpPr/>
            <p:nvPr/>
          </p:nvCxnSpPr>
          <p:spPr bwMode="auto">
            <a:xfrm>
              <a:off x="2699544" y="5507992"/>
              <a:ext cx="14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23" name="Text Box 430">
              <a:extLst>
                <a:ext uri="{FF2B5EF4-FFF2-40B4-BE49-F238E27FC236}">
                  <a16:creationId xmlns:a16="http://schemas.microsoft.com/office/drawing/2014/main" id="{AB508ED8-438D-4F56-9EB3-DB403172A3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6482" y="5560159"/>
              <a:ext cx="144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1</a:t>
              </a:r>
            </a:p>
          </p:txBody>
        </p:sp>
        <p:cxnSp>
          <p:nvCxnSpPr>
            <p:cNvPr id="224" name="直接箭头连接符 223">
              <a:extLst>
                <a:ext uri="{FF2B5EF4-FFF2-40B4-BE49-F238E27FC236}">
                  <a16:creationId xmlns:a16="http://schemas.microsoft.com/office/drawing/2014/main" id="{9DC9D360-7F24-4566-8FBC-62EAAC53268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987688" y="5651991"/>
              <a:ext cx="0" cy="28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25" name="直接箭头连接符 224">
              <a:extLst>
                <a:ext uri="{FF2B5EF4-FFF2-40B4-BE49-F238E27FC236}">
                  <a16:creationId xmlns:a16="http://schemas.microsoft.com/office/drawing/2014/main" id="{B3F300F7-3348-4EC1-AE49-D42F12B5C168}"/>
                </a:ext>
              </a:extLst>
            </p:cNvPr>
            <p:cNvCxnSpPr/>
            <p:nvPr/>
          </p:nvCxnSpPr>
          <p:spPr bwMode="auto">
            <a:xfrm>
              <a:off x="2159688" y="5939992"/>
              <a:ext cx="82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63645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AFF193D-0150-42F3-9417-9843E054EC2B}"/>
              </a:ext>
            </a:extLst>
          </p:cNvPr>
          <p:cNvGrpSpPr/>
          <p:nvPr/>
        </p:nvGrpSpPr>
        <p:grpSpPr>
          <a:xfrm>
            <a:off x="5040553" y="5301208"/>
            <a:ext cx="3131820" cy="1405255"/>
            <a:chOff x="5040553" y="5157192"/>
            <a:chExt cx="3131820" cy="1405255"/>
          </a:xfrm>
        </p:grpSpPr>
        <p:sp>
          <p:nvSpPr>
            <p:cNvPr id="327" name="Text Box 36">
              <a:extLst>
                <a:ext uri="{FF2B5EF4-FFF2-40B4-BE49-F238E27FC236}">
                  <a16:creationId xmlns:a16="http://schemas.microsoft.com/office/drawing/2014/main" id="{A28B1771-314E-4C00-BA77-4A8C53FED1F5}"/>
                </a:ext>
              </a:extLst>
            </p:cNvPr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5472353" y="5446117"/>
              <a:ext cx="2700020" cy="82804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28" name="Text Box 191">
              <a:extLst>
                <a:ext uri="{FF2B5EF4-FFF2-40B4-BE49-F238E27FC236}">
                  <a16:creationId xmlns:a16="http://schemas.microsoft.com/office/drawing/2014/main" id="{968F0113-9540-4745-83C9-17931DDCB093}"/>
                </a:ext>
              </a:extLst>
            </p:cNvPr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5688253" y="5157192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329" name="Text Box 191">
              <a:extLst>
                <a:ext uri="{FF2B5EF4-FFF2-40B4-BE49-F238E27FC236}">
                  <a16:creationId xmlns:a16="http://schemas.microsoft.com/office/drawing/2014/main" id="{27FBDB9D-D2E1-446E-804A-F89572A3BE64}"/>
                </a:ext>
              </a:extLst>
            </p:cNvPr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5040553" y="6095087"/>
              <a:ext cx="36004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CLK</a:t>
              </a:r>
            </a:p>
          </p:txBody>
        </p:sp>
        <p:cxnSp>
          <p:nvCxnSpPr>
            <p:cNvPr id="330" name="直接箭头连接符 329">
              <a:extLst>
                <a:ext uri="{FF2B5EF4-FFF2-40B4-BE49-F238E27FC236}">
                  <a16:creationId xmlns:a16="http://schemas.microsoft.com/office/drawing/2014/main" id="{BA1E5E0C-CC8E-4DE8-8687-7AA74965A073}"/>
                </a:ext>
              </a:extLst>
            </p:cNvPr>
            <p:cNvCxnSpPr/>
            <p:nvPr>
              <p:custDataLst>
                <p:tags r:id="rId94"/>
              </p:custDataLst>
            </p:nvPr>
          </p:nvCxnSpPr>
          <p:spPr bwMode="auto">
            <a:xfrm flipV="1">
              <a:off x="5400598" y="6201132"/>
              <a:ext cx="230378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31" name="Text Box 191">
              <a:extLst>
                <a:ext uri="{FF2B5EF4-FFF2-40B4-BE49-F238E27FC236}">
                  <a16:creationId xmlns:a16="http://schemas.microsoft.com/office/drawing/2014/main" id="{23DC8883-27E3-436D-BF51-F964BA93FAC0}"/>
                </a:ext>
              </a:extLst>
            </p:cNvPr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5616498" y="6346547"/>
              <a:ext cx="14414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X</a:t>
              </a:r>
              <a:endParaRPr lang="en-US" altLang="zh-CN" sz="1600" b="1" baseline="-250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32" name="直接箭头连接符 331">
              <a:extLst>
                <a:ext uri="{FF2B5EF4-FFF2-40B4-BE49-F238E27FC236}">
                  <a16:creationId xmlns:a16="http://schemas.microsoft.com/office/drawing/2014/main" id="{719F0062-6847-4D36-9CEE-C50CBE62FF0D}"/>
                </a:ext>
              </a:extLst>
            </p:cNvPr>
            <p:cNvCxnSpPr/>
            <p:nvPr>
              <p:custDataLst>
                <p:tags r:id="rId96"/>
              </p:custDataLst>
            </p:nvPr>
          </p:nvCxnSpPr>
          <p:spPr bwMode="auto">
            <a:xfrm flipH="1" flipV="1">
              <a:off x="5688888" y="6057622"/>
              <a:ext cx="635" cy="28829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33" name="直接箭头连接符 332">
              <a:extLst>
                <a:ext uri="{FF2B5EF4-FFF2-40B4-BE49-F238E27FC236}">
                  <a16:creationId xmlns:a16="http://schemas.microsoft.com/office/drawing/2014/main" id="{F1DBDFAA-1D57-4056-A6AF-FD6357766CE0}"/>
                </a:ext>
              </a:extLst>
            </p:cNvPr>
            <p:cNvCxnSpPr/>
            <p:nvPr>
              <p:custDataLst>
                <p:tags r:id="rId97"/>
              </p:custDataLst>
            </p:nvPr>
          </p:nvCxnSpPr>
          <p:spPr bwMode="auto">
            <a:xfrm flipH="1" flipV="1">
              <a:off x="5760643" y="5374362"/>
              <a:ext cx="635" cy="2159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34" name="Text Box 191">
              <a:extLst>
                <a:ext uri="{FF2B5EF4-FFF2-40B4-BE49-F238E27FC236}">
                  <a16:creationId xmlns:a16="http://schemas.microsoft.com/office/drawing/2014/main" id="{5EA02F23-6B83-4052-B0BD-D72D908D6D1D}"/>
                </a:ext>
              </a:extLst>
            </p:cNvPr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6588683" y="5157192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335" name="直接箭头连接符 334">
              <a:extLst>
                <a:ext uri="{FF2B5EF4-FFF2-40B4-BE49-F238E27FC236}">
                  <a16:creationId xmlns:a16="http://schemas.microsoft.com/office/drawing/2014/main" id="{D035E467-119F-4CB0-91B9-D55164D23FD9}"/>
                </a:ext>
              </a:extLst>
            </p:cNvPr>
            <p:cNvCxnSpPr/>
            <p:nvPr>
              <p:custDataLst>
                <p:tags r:id="rId99"/>
              </p:custDataLst>
            </p:nvPr>
          </p:nvCxnSpPr>
          <p:spPr bwMode="auto">
            <a:xfrm flipH="1" flipV="1">
              <a:off x="6659803" y="5374362"/>
              <a:ext cx="635" cy="2159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36" name="Text Box 191">
              <a:extLst>
                <a:ext uri="{FF2B5EF4-FFF2-40B4-BE49-F238E27FC236}">
                  <a16:creationId xmlns:a16="http://schemas.microsoft.com/office/drawing/2014/main" id="{CD467498-08AB-4F7C-8A8F-D53E33E2B7CC}"/>
                </a:ext>
              </a:extLst>
            </p:cNvPr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7488478" y="5157192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337" name="直接箭头连接符 336">
              <a:extLst>
                <a:ext uri="{FF2B5EF4-FFF2-40B4-BE49-F238E27FC236}">
                  <a16:creationId xmlns:a16="http://schemas.microsoft.com/office/drawing/2014/main" id="{4054581B-8BD3-4F7A-84B2-07A94FECF76D}"/>
                </a:ext>
              </a:extLst>
            </p:cNvPr>
            <p:cNvCxnSpPr/>
            <p:nvPr>
              <p:custDataLst>
                <p:tags r:id="rId101"/>
              </p:custDataLst>
            </p:nvPr>
          </p:nvCxnSpPr>
          <p:spPr bwMode="auto">
            <a:xfrm flipH="1" flipV="1">
              <a:off x="7560233" y="5374362"/>
              <a:ext cx="635" cy="2159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9896ABDA-069E-4ECE-8129-5D68B59F3966}"/>
              </a:ext>
            </a:extLst>
          </p:cNvPr>
          <p:cNvGrpSpPr/>
          <p:nvPr/>
        </p:nvGrpSpPr>
        <p:grpSpPr>
          <a:xfrm>
            <a:off x="1404311" y="5302800"/>
            <a:ext cx="3311705" cy="1340820"/>
            <a:chOff x="1404311" y="5158784"/>
            <a:chExt cx="3311705" cy="1340820"/>
          </a:xfrm>
        </p:grpSpPr>
        <p:sp>
          <p:nvSpPr>
            <p:cNvPr id="309" name="Text Box 36">
              <a:extLst>
                <a:ext uri="{FF2B5EF4-FFF2-40B4-BE49-F238E27FC236}">
                  <a16:creationId xmlns:a16="http://schemas.microsoft.com/office/drawing/2014/main" id="{2B3A51E8-9F7F-44FC-B3AB-91C466255935}"/>
                </a:ext>
              </a:extLst>
            </p:cNvPr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1837726" y="5446784"/>
              <a:ext cx="2628000" cy="79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10" name="Text Box 191">
              <a:extLst>
                <a:ext uri="{FF2B5EF4-FFF2-40B4-BE49-F238E27FC236}">
                  <a16:creationId xmlns:a16="http://schemas.microsoft.com/office/drawing/2014/main" id="{3881164A-4166-4CF6-93FB-34979A151C09}"/>
                </a:ext>
              </a:extLst>
            </p:cNvPr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1404311" y="5986784"/>
              <a:ext cx="3600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CLK</a:t>
              </a:r>
            </a:p>
          </p:txBody>
        </p:sp>
        <p:cxnSp>
          <p:nvCxnSpPr>
            <p:cNvPr id="311" name="直接箭头连接符 310">
              <a:extLst>
                <a:ext uri="{FF2B5EF4-FFF2-40B4-BE49-F238E27FC236}">
                  <a16:creationId xmlns:a16="http://schemas.microsoft.com/office/drawing/2014/main" id="{D45E39ED-AED1-443F-9B9C-68FFAD317A93}"/>
                </a:ext>
              </a:extLst>
            </p:cNvPr>
            <p:cNvCxnSpPr/>
            <p:nvPr>
              <p:custDataLst>
                <p:tags r:id="rId75"/>
              </p:custDataLst>
            </p:nvPr>
          </p:nvCxnSpPr>
          <p:spPr bwMode="auto">
            <a:xfrm flipV="1">
              <a:off x="1764311" y="6094784"/>
              <a:ext cx="223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2" name="直接箭头连接符 311">
              <a:extLst>
                <a:ext uri="{FF2B5EF4-FFF2-40B4-BE49-F238E27FC236}">
                  <a16:creationId xmlns:a16="http://schemas.microsoft.com/office/drawing/2014/main" id="{FCA3569D-E16B-4799-945A-3561B61E23F1}"/>
                </a:ext>
              </a:extLst>
            </p:cNvPr>
            <p:cNvCxnSpPr/>
            <p:nvPr>
              <p:custDataLst>
                <p:tags r:id="rId76"/>
              </p:custDataLst>
            </p:nvPr>
          </p:nvCxnSpPr>
          <p:spPr bwMode="auto">
            <a:xfrm flipV="1">
              <a:off x="2520311" y="6166784"/>
              <a:ext cx="20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13" name="Text Box 191">
              <a:extLst>
                <a:ext uri="{FF2B5EF4-FFF2-40B4-BE49-F238E27FC236}">
                  <a16:creationId xmlns:a16="http://schemas.microsoft.com/office/drawing/2014/main" id="{5A129E89-88F8-450A-B86F-A316537CDE65}"/>
                </a:ext>
              </a:extLst>
            </p:cNvPr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2052311" y="5158784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314" name="Text Box 191">
              <a:extLst>
                <a:ext uri="{FF2B5EF4-FFF2-40B4-BE49-F238E27FC236}">
                  <a16:creationId xmlns:a16="http://schemas.microsoft.com/office/drawing/2014/main" id="{C9D4DA2D-A8CB-4DFB-9EF2-E6ACC4916955}"/>
                </a:ext>
              </a:extLst>
            </p:cNvPr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1979221" y="6283704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cxnSp>
          <p:nvCxnSpPr>
            <p:cNvPr id="315" name="直接箭头连接符 314">
              <a:extLst>
                <a:ext uri="{FF2B5EF4-FFF2-40B4-BE49-F238E27FC236}">
                  <a16:creationId xmlns:a16="http://schemas.microsoft.com/office/drawing/2014/main" id="{0878E89F-EB6C-4EDC-AF83-84D645C9CD8B}"/>
                </a:ext>
              </a:extLst>
            </p:cNvPr>
            <p:cNvCxnSpPr/>
            <p:nvPr>
              <p:custDataLst>
                <p:tags r:id="rId79"/>
              </p:custDataLst>
            </p:nvPr>
          </p:nvCxnSpPr>
          <p:spPr bwMode="auto">
            <a:xfrm flipH="1" flipV="1">
              <a:off x="2051611" y="5986514"/>
              <a:ext cx="635" cy="32385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6" name="直接箭头连接符 315">
              <a:extLst>
                <a:ext uri="{FF2B5EF4-FFF2-40B4-BE49-F238E27FC236}">
                  <a16:creationId xmlns:a16="http://schemas.microsoft.com/office/drawing/2014/main" id="{FB9B05C3-D658-4FCB-BADF-1D69569B5803}"/>
                </a:ext>
              </a:extLst>
            </p:cNvPr>
            <p:cNvCxnSpPr/>
            <p:nvPr>
              <p:custDataLst>
                <p:tags r:id="rId80"/>
              </p:custDataLst>
            </p:nvPr>
          </p:nvCxnSpPr>
          <p:spPr bwMode="auto">
            <a:xfrm flipH="1" flipV="1">
              <a:off x="2123366" y="5375009"/>
              <a:ext cx="635" cy="14414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17" name="Text Box 191">
              <a:extLst>
                <a:ext uri="{FF2B5EF4-FFF2-40B4-BE49-F238E27FC236}">
                  <a16:creationId xmlns:a16="http://schemas.microsoft.com/office/drawing/2014/main" id="{F1E8C011-03BD-465C-956B-04E9D1DFF99A}"/>
                </a:ext>
              </a:extLst>
            </p:cNvPr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2916311" y="5158784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318" name="Text Box 191">
              <a:extLst>
                <a:ext uri="{FF2B5EF4-FFF2-40B4-BE49-F238E27FC236}">
                  <a16:creationId xmlns:a16="http://schemas.microsoft.com/office/drawing/2014/main" id="{CECC7935-814B-4B16-BAA4-37484412D50B}"/>
                </a:ext>
              </a:extLst>
            </p:cNvPr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2844091" y="6283704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319" name="直接箭头连接符 318">
              <a:extLst>
                <a:ext uri="{FF2B5EF4-FFF2-40B4-BE49-F238E27FC236}">
                  <a16:creationId xmlns:a16="http://schemas.microsoft.com/office/drawing/2014/main" id="{656FD7BE-CBB3-48AF-B220-0324EC415E2D}"/>
                </a:ext>
              </a:extLst>
            </p:cNvPr>
            <p:cNvCxnSpPr/>
            <p:nvPr>
              <p:custDataLst>
                <p:tags r:id="rId83"/>
              </p:custDataLst>
            </p:nvPr>
          </p:nvCxnSpPr>
          <p:spPr bwMode="auto">
            <a:xfrm flipH="1" flipV="1">
              <a:off x="2915846" y="5986514"/>
              <a:ext cx="635" cy="32385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20" name="直接箭头连接符 319">
              <a:extLst>
                <a:ext uri="{FF2B5EF4-FFF2-40B4-BE49-F238E27FC236}">
                  <a16:creationId xmlns:a16="http://schemas.microsoft.com/office/drawing/2014/main" id="{D8516957-961E-4E30-BB36-8A04180A150E}"/>
                </a:ext>
              </a:extLst>
            </p:cNvPr>
            <p:cNvCxnSpPr/>
            <p:nvPr>
              <p:custDataLst>
                <p:tags r:id="rId84"/>
              </p:custDataLst>
            </p:nvPr>
          </p:nvCxnSpPr>
          <p:spPr bwMode="auto">
            <a:xfrm flipH="1" flipV="1">
              <a:off x="2987601" y="5375009"/>
              <a:ext cx="635" cy="14414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21" name="Text Box 191">
              <a:extLst>
                <a:ext uri="{FF2B5EF4-FFF2-40B4-BE49-F238E27FC236}">
                  <a16:creationId xmlns:a16="http://schemas.microsoft.com/office/drawing/2014/main" id="{2621B937-B4AF-4D11-94DD-F61AF78A980C}"/>
                </a:ext>
              </a:extLst>
            </p:cNvPr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3780311" y="5158784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322" name="Text Box 191">
              <a:extLst>
                <a:ext uri="{FF2B5EF4-FFF2-40B4-BE49-F238E27FC236}">
                  <a16:creationId xmlns:a16="http://schemas.microsoft.com/office/drawing/2014/main" id="{2AE81BAA-20C0-47A5-B6FF-5A51F6D90A11}"/>
                </a:ext>
              </a:extLst>
            </p:cNvPr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3707056" y="6283704"/>
              <a:ext cx="215900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r>
                <a:rPr lang="en-US" altLang="zh-CN" sz="1600" b="1" baseline="-250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cxnSp>
          <p:nvCxnSpPr>
            <p:cNvPr id="323" name="直接箭头连接符 322">
              <a:extLst>
                <a:ext uri="{FF2B5EF4-FFF2-40B4-BE49-F238E27FC236}">
                  <a16:creationId xmlns:a16="http://schemas.microsoft.com/office/drawing/2014/main" id="{506AD6C6-1310-415B-8113-F25C4B81E18B}"/>
                </a:ext>
              </a:extLst>
            </p:cNvPr>
            <p:cNvCxnSpPr/>
            <p:nvPr>
              <p:custDataLst>
                <p:tags r:id="rId87"/>
              </p:custDataLst>
            </p:nvPr>
          </p:nvCxnSpPr>
          <p:spPr bwMode="auto">
            <a:xfrm flipH="1" flipV="1">
              <a:off x="3779446" y="5986514"/>
              <a:ext cx="635" cy="32385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24" name="直接箭头连接符 323">
              <a:extLst>
                <a:ext uri="{FF2B5EF4-FFF2-40B4-BE49-F238E27FC236}">
                  <a16:creationId xmlns:a16="http://schemas.microsoft.com/office/drawing/2014/main" id="{553DB256-B667-4E8A-A4AD-D904B5E2558A}"/>
                </a:ext>
              </a:extLst>
            </p:cNvPr>
            <p:cNvCxnSpPr/>
            <p:nvPr>
              <p:custDataLst>
                <p:tags r:id="rId88"/>
              </p:custDataLst>
            </p:nvPr>
          </p:nvCxnSpPr>
          <p:spPr bwMode="auto">
            <a:xfrm flipH="1" flipV="1">
              <a:off x="3851201" y="5375009"/>
              <a:ext cx="635" cy="14414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25" name="Text Box 191">
              <a:extLst>
                <a:ext uri="{FF2B5EF4-FFF2-40B4-BE49-F238E27FC236}">
                  <a16:creationId xmlns:a16="http://schemas.microsoft.com/office/drawing/2014/main" id="{D4657654-531F-4886-8144-9208BE93C1C9}"/>
                </a:ext>
              </a:extLst>
            </p:cNvPr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4536311" y="6058784"/>
              <a:ext cx="179705" cy="2159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R</a:t>
              </a:r>
            </a:p>
          </p:txBody>
        </p:sp>
        <p:cxnSp>
          <p:nvCxnSpPr>
            <p:cNvPr id="326" name="直接箭头连接符 325">
              <a:extLst>
                <a:ext uri="{FF2B5EF4-FFF2-40B4-BE49-F238E27FC236}">
                  <a16:creationId xmlns:a16="http://schemas.microsoft.com/office/drawing/2014/main" id="{9744EB25-D0DF-4D2A-AD0B-1CB712AD31FD}"/>
                </a:ext>
              </a:extLst>
            </p:cNvPr>
            <p:cNvCxnSpPr/>
            <p:nvPr>
              <p:custDataLst>
                <p:tags r:id="rId90"/>
              </p:custDataLst>
            </p:nvPr>
          </p:nvCxnSpPr>
          <p:spPr bwMode="auto">
            <a:xfrm flipV="1">
              <a:off x="4572311" y="6065984"/>
              <a:ext cx="10795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A032823-D283-4016-993E-2D045FB96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6</a:t>
            </a:fld>
            <a:endParaRPr lang="en-US" altLang="zh-CN"/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63C0C8B0-D950-45A1-894F-6A2E59D4B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324000"/>
            <a:ext cx="8964488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*时序逻辑电路：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输出＝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</a:rPr>
              <a:t>F(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输入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</a:rPr>
              <a:t>,</a:t>
            </a:r>
            <a:r>
              <a:rPr lang="zh-CN" sz="2200" b="1" dirty="0">
                <a:solidFill>
                  <a:schemeClr val="tx1"/>
                </a:solidFill>
                <a:latin typeface="+mn-ea"/>
                <a:ea typeface="+mn-ea"/>
              </a:rPr>
              <a:t>当前状态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，次态</a:t>
            </a:r>
            <a:r>
              <a:rPr lang="en-US" altLang="zh-CN" sz="2200" b="1" dirty="0">
                <a:latin typeface="+mn-ea"/>
                <a:ea typeface="+mn-ea"/>
              </a:rPr>
              <a:t>Q*</a:t>
            </a:r>
            <a:r>
              <a:rPr lang="zh-CN" altLang="en-US" sz="2200" b="1" dirty="0">
                <a:latin typeface="+mn-ea"/>
                <a:ea typeface="+mn-ea"/>
              </a:rPr>
              <a:t>＝</a:t>
            </a:r>
            <a:r>
              <a:rPr lang="en-US" altLang="zh-CN" sz="2200" b="1" dirty="0">
                <a:latin typeface="+mn-ea"/>
                <a:ea typeface="+mn-ea"/>
              </a:rPr>
              <a:t>Y(</a:t>
            </a:r>
            <a:r>
              <a:rPr lang="zh-CN" altLang="en-US" sz="2200" b="1" dirty="0">
                <a:latin typeface="+mn-ea"/>
                <a:ea typeface="+mn-ea"/>
              </a:rPr>
              <a:t>输入</a:t>
            </a:r>
            <a:r>
              <a:rPr lang="en-US" altLang="zh-CN" sz="2200" b="1" dirty="0">
                <a:latin typeface="+mn-ea"/>
                <a:ea typeface="+mn-ea"/>
              </a:rPr>
              <a:t>,</a:t>
            </a:r>
            <a:r>
              <a:rPr lang="zh-CN" altLang="en-US" sz="2200" b="1" dirty="0">
                <a:latin typeface="+mn-ea"/>
                <a:ea typeface="+mn-ea"/>
              </a:rPr>
              <a:t>现态</a:t>
            </a:r>
            <a:r>
              <a:rPr lang="en-US" altLang="zh-CN" sz="2200" b="1" dirty="0">
                <a:latin typeface="+mn-ea"/>
                <a:ea typeface="+mn-ea"/>
              </a:rPr>
              <a:t>Q),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</a:rPr>
              <a:t>                又称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</a:rPr>
              <a:t>状态单元</a:t>
            </a:r>
            <a:endParaRPr lang="en-US" altLang="zh-CN" sz="2200" b="1" u="sng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元器件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sz="2200" b="1" dirty="0">
                <a:latin typeface="+mn-ea"/>
                <a:ea typeface="+mn-ea"/>
              </a:rPr>
              <a:t>锁存器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电平触发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、触发器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边沿触发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寄存器、计数器等</a:t>
            </a:r>
            <a:endParaRPr lang="en-US" altLang="zh-CN" sz="2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D98F4E4-745E-44D3-B109-65854744D3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010175"/>
              </p:ext>
            </p:extLst>
          </p:nvPr>
        </p:nvGraphicFramePr>
        <p:xfrm>
          <a:off x="1331639" y="1657454"/>
          <a:ext cx="6120681" cy="142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0853">
                  <a:extLst>
                    <a:ext uri="{9D8B030D-6E8A-4147-A177-3AD203B41FA5}">
                      <a16:colId xmlns:a16="http://schemas.microsoft.com/office/drawing/2014/main" val="404156894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9069"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功能</a:t>
                      </a:r>
                    </a:p>
                  </a:txBody>
                  <a:tcPr marL="36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输入</a:t>
                      </a:r>
                    </a:p>
                  </a:txBody>
                  <a:tcPr marL="36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控制</a:t>
                      </a:r>
                    </a:p>
                  </a:txBody>
                  <a:tcPr marL="36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输出</a:t>
                      </a:r>
                    </a:p>
                  </a:txBody>
                  <a:tcPr marL="36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0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锁存器</a:t>
                      </a:r>
                    </a:p>
                  </a:txBody>
                  <a:tcPr marL="36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写入、保持、清零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可选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D</a:t>
                      </a: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zh-CN" sz="1800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可选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0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触发器</a:t>
                      </a:r>
                    </a:p>
                  </a:txBody>
                  <a:tcPr marL="36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写入、保持、清零</a:t>
                      </a:r>
                    </a:p>
                  </a:txBody>
                  <a:tcPr marL="36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D</a:t>
                      </a: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800" b="1" dirty="0">
                        <a:solidFill>
                          <a:srgbClr val="FF3399"/>
                        </a:solidFill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0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寄存器</a:t>
                      </a:r>
                    </a:p>
                  </a:txBody>
                  <a:tcPr marL="36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写入、保持、清零</a:t>
                      </a:r>
                    </a:p>
                  </a:txBody>
                  <a:tcPr marL="36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en-US" altLang="zh-CN" sz="1800" b="1" baseline="-16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</a:t>
                      </a:r>
                      <a:r>
                        <a:rPr lang="en-US" altLang="zh-CN" sz="1800" b="1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en-US" altLang="zh-CN" sz="1800" b="1" kern="1200" baseline="-16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0</a:t>
                      </a:r>
                      <a:endParaRPr lang="zh-CN" altLang="en-US" sz="1800" b="1" kern="1200" dirty="0">
                        <a:solidFill>
                          <a:srgbClr val="CC3300"/>
                        </a:solidFill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b="1" kern="1200" dirty="0">
                        <a:solidFill>
                          <a:srgbClr val="FF3399"/>
                        </a:solidFill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b="1" kern="1200" dirty="0">
                        <a:solidFill>
                          <a:srgbClr val="C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0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计数器</a:t>
                      </a:r>
                    </a:p>
                  </a:txBody>
                  <a:tcPr marL="36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计数、保持、清零、置数</a:t>
                      </a:r>
                    </a:p>
                  </a:txBody>
                  <a:tcPr marL="36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en-US" altLang="zh-CN" sz="1800" b="1" baseline="-16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2</a:t>
                      </a:r>
                      <a:r>
                        <a:rPr lang="en-US" altLang="zh-CN" sz="1800" b="1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en-US" altLang="zh-CN" sz="1800" b="1" kern="1200" baseline="-16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宋体" panose="02010600030101010101" pitchFamily="2" charset="-122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kern="1200" dirty="0">
                        <a:solidFill>
                          <a:srgbClr val="FF3399"/>
                        </a:solidFill>
                        <a:latin typeface="+mn-ea"/>
                        <a:ea typeface="+mn-ea"/>
                        <a:cs typeface="宋体" panose="02010600030101010101" pitchFamily="2" charset="-122"/>
                      </a:endParaRP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36000" marT="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Box 308">
            <a:extLst>
              <a:ext uri="{FF2B5EF4-FFF2-40B4-BE49-F238E27FC236}">
                <a16:creationId xmlns:a16="http://schemas.microsoft.com/office/drawing/2014/main" id="{D4EA5CE4-702C-4E05-B345-1EE1CF635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1" y="1739062"/>
            <a:ext cx="936118" cy="1158994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b="1" dirty="0">
                <a:solidFill>
                  <a:srgbClr val="990099"/>
                </a:solidFill>
              </a:rPr>
              <a:t>思考：</a:t>
            </a:r>
            <a:endParaRPr lang="en-US" altLang="zh-CN" sz="1800" b="1" dirty="0">
              <a:solidFill>
                <a:srgbClr val="990099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800" b="1" dirty="0">
                <a:solidFill>
                  <a:srgbClr val="990099"/>
                </a:solidFill>
              </a:rPr>
              <a:t> </a:t>
            </a:r>
            <a:r>
              <a:rPr lang="zh-CN" altLang="en-US" sz="1800" b="1" dirty="0">
                <a:solidFill>
                  <a:srgbClr val="990099"/>
                </a:solidFill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</a:rPr>
              <a:t>为何</a:t>
            </a:r>
            <a:r>
              <a:rPr lang="zh-CN" altLang="en-US" sz="1800" b="1" dirty="0"/>
              <a:t>没有</a:t>
            </a:r>
            <a:r>
              <a:rPr lang="zh-CN" altLang="en-US" sz="1800" b="1" dirty="0">
                <a:solidFill>
                  <a:schemeClr val="tx1"/>
                </a:solidFill>
              </a:rPr>
              <a:t>读出</a:t>
            </a:r>
            <a:r>
              <a:rPr lang="zh-CN" altLang="en-US" sz="1800" b="1" dirty="0"/>
              <a:t>功能</a:t>
            </a:r>
            <a:r>
              <a:rPr lang="zh-CN" altLang="en-US" sz="1800" b="1" dirty="0">
                <a:solidFill>
                  <a:schemeClr val="tx1"/>
                </a:solidFill>
              </a:rPr>
              <a:t>？</a:t>
            </a:r>
            <a:endParaRPr lang="en-US" altLang="zh-CN" sz="1800" b="1" dirty="0">
              <a:solidFill>
                <a:schemeClr val="tx1"/>
              </a:solidFill>
            </a:endParaRPr>
          </a:p>
        </p:txBody>
      </p:sp>
      <p:sp>
        <p:nvSpPr>
          <p:cNvPr id="33" name="Text Box 191">
            <a:extLst>
              <a:ext uri="{FF2B5EF4-FFF2-40B4-BE49-F238E27FC236}">
                <a16:creationId xmlns:a16="http://schemas.microsoft.com/office/drawing/2014/main" id="{7074FE44-1451-4869-AB6F-78C83AEABF8A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544000" y="2213902"/>
            <a:ext cx="1908000" cy="864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C</a:t>
            </a:r>
            <a:r>
              <a:rPr lang="en-US" altLang="zh-CN" sz="1800" b="1" dirty="0">
                <a:latin typeface="宋体" panose="02010600030101010101" pitchFamily="2" charset="-122"/>
              </a:rPr>
              <a:t>,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R</a:t>
            </a:r>
            <a:r>
              <a:rPr lang="en-US" altLang="zh-CN" sz="1800" b="1" dirty="0">
                <a:latin typeface="宋体" panose="02010600030101010101" pitchFamily="2" charset="-122"/>
              </a:rPr>
              <a:t>,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E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可选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zh-CN" altLang="en-US" sz="1600" b="1" kern="1200" baseline="-16000" dirty="0">
              <a:latin typeface="宋体" panose="02010600030101010101" pitchFamily="2" charset="-122"/>
            </a:endParaRP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lang="en-US" altLang="zh-CN" sz="1800" b="1" kern="1200" dirty="0">
                <a:solidFill>
                  <a:srgbClr val="FF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</a:t>
            </a:r>
            <a:r>
              <a:rPr lang="en-US" altLang="zh-CN" sz="1800" b="1" kern="120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lang="en-US" altLang="zh-CN" sz="1800" b="1" kern="1200" dirty="0">
                <a:solidFill>
                  <a:srgbClr val="FF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R</a:t>
            </a:r>
            <a:r>
              <a:rPr lang="en-US" altLang="zh-CN" sz="1800" b="1" kern="120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,</a:t>
            </a:r>
            <a:r>
              <a:rPr lang="en-US" altLang="zh-CN" sz="1800" b="1" kern="1200" dirty="0">
                <a:solidFill>
                  <a:srgbClr val="FF3399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E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可选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kern="120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Q</a:t>
            </a:r>
            <a:r>
              <a:rPr lang="en-US" altLang="zh-CN" sz="1800" b="1" kern="1200" baseline="-1600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lang="en-US" altLang="zh-CN" sz="1800" b="1" kern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sz="1800" b="1" kern="120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Q</a:t>
            </a:r>
            <a:r>
              <a:rPr lang="en-US" altLang="zh-CN" sz="1800" b="1" kern="1200" baseline="-16000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0</a:t>
            </a:r>
            <a:endParaRPr lang="zh-CN" altLang="en-US" sz="1800" b="1" kern="1200" baseline="-16000" dirty="0"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C</a:t>
            </a:r>
            <a:r>
              <a:rPr lang="en-US" altLang="zh-CN" sz="1800" b="1" dirty="0">
                <a:latin typeface="宋体" panose="02010600030101010101" pitchFamily="2" charset="-122"/>
              </a:rPr>
              <a:t>,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R</a:t>
            </a:r>
            <a:r>
              <a:rPr lang="en-US" altLang="zh-CN" sz="1800" b="1" dirty="0">
                <a:latin typeface="宋体" panose="02010600030101010101" pitchFamily="2" charset="-122"/>
              </a:rPr>
              <a:t>,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E</a:t>
            </a:r>
            <a:r>
              <a:rPr lang="en-US" altLang="zh-CN" sz="1600" b="1" dirty="0">
                <a:latin typeface="宋体" panose="02010600030101010101" pitchFamily="2" charset="-122"/>
              </a:rPr>
              <a:t>()</a:t>
            </a:r>
            <a:r>
              <a:rPr lang="en-US" altLang="zh-CN" sz="1800" b="1" dirty="0">
                <a:latin typeface="宋体" panose="02010600030101010101" pitchFamily="2" charset="-122"/>
              </a:rPr>
              <a:t>,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LD</a:t>
            </a: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baseline="-18000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</a:rPr>
              <a:t>Q</a:t>
            </a:r>
            <a:r>
              <a:rPr lang="en-US" altLang="zh-CN" sz="1800" b="1" baseline="-16000" dirty="0">
                <a:latin typeface="宋体" panose="02010600030101010101" pitchFamily="2" charset="-122"/>
              </a:rPr>
              <a:t>2</a:t>
            </a:r>
            <a:r>
              <a:rPr lang="en-US" altLang="zh-CN" sz="1800" b="1" dirty="0">
                <a:cs typeface="Times New Roman" panose="02020603050405020304" pitchFamily="18" charset="0"/>
              </a:rPr>
              <a:t>~</a:t>
            </a:r>
            <a:r>
              <a:rPr lang="en-US" altLang="zh-CN" sz="1800" b="1" dirty="0">
                <a:latin typeface="宋体" panose="02010600030101010101" pitchFamily="2" charset="-122"/>
              </a:rPr>
              <a:t>Q</a:t>
            </a:r>
            <a:r>
              <a:rPr lang="en-US" altLang="zh-CN" sz="1800" b="1" baseline="-16000" dirty="0">
                <a:latin typeface="宋体" panose="02010600030101010101" pitchFamily="2" charset="-122"/>
              </a:rPr>
              <a:t>0</a:t>
            </a:r>
            <a:endParaRPr lang="en-US" altLang="zh-CN" sz="1800" b="1" baseline="-250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E2FF060-77BB-4383-A9DA-C1736E2DDDEE}"/>
              </a:ext>
            </a:extLst>
          </p:cNvPr>
          <p:cNvGrpSpPr/>
          <p:nvPr/>
        </p:nvGrpSpPr>
        <p:grpSpPr>
          <a:xfrm>
            <a:off x="7740352" y="1685781"/>
            <a:ext cx="864100" cy="647755"/>
            <a:chOff x="3888045" y="3564000"/>
            <a:chExt cx="864100" cy="647755"/>
          </a:xfrm>
        </p:grpSpPr>
        <p:sp>
          <p:nvSpPr>
            <p:cNvPr id="25" name="Text Box 36">
              <a:extLst>
                <a:ext uri="{FF2B5EF4-FFF2-40B4-BE49-F238E27FC236}">
                  <a16:creationId xmlns:a16="http://schemas.microsoft.com/office/drawing/2014/main" id="{E161552E-FCF6-4CA5-802E-E3119FF55336}"/>
                </a:ext>
              </a:extLst>
            </p:cNvPr>
            <p:cNvSpPr txBox="1"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>
              <a:off x="4032190" y="3564000"/>
              <a:ext cx="576000" cy="504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36000" tIns="0" rIns="36000" bIns="0" anchor="t" anchorCtr="0">
              <a:noAutofit/>
            </a:bodyPr>
            <a:lstStyle/>
            <a:p>
              <a:pPr algn="dist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D 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  <a:p>
              <a:pPr algn="di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E </a:t>
              </a:r>
              <a:r>
                <a:rPr lang="en-US" altLang="zh-CN" sz="1600" b="1" u="none" baseline="-25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408CBABF-8548-411E-8297-CDD1888EDE0F}"/>
                </a:ext>
              </a:extLst>
            </p:cNvPr>
            <p:cNvCxnSpPr/>
            <p:nvPr>
              <p:custDataLst>
                <p:tags r:id="rId66"/>
              </p:custDataLst>
            </p:nvPr>
          </p:nvCxnSpPr>
          <p:spPr bwMode="auto">
            <a:xfrm flipV="1">
              <a:off x="3888045" y="3671950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47A0F5DA-88A8-4839-9BC5-A4904C4782B3}"/>
                </a:ext>
              </a:extLst>
            </p:cNvPr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3888045" y="3923410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D05073BE-25C7-4CCA-BB85-E4566783290A}"/>
                </a:ext>
              </a:extLst>
            </p:cNvPr>
            <p:cNvCxnSpPr/>
            <p:nvPr>
              <p:custDataLst>
                <p:tags r:id="rId68"/>
              </p:custDataLst>
            </p:nvPr>
          </p:nvCxnSpPr>
          <p:spPr bwMode="auto">
            <a:xfrm flipV="1">
              <a:off x="4608000" y="3671950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E0902ED6-AEB9-4178-BDF4-AFF83D4BE877}"/>
                </a:ext>
              </a:extLst>
            </p:cNvPr>
            <p:cNvCxnSpPr/>
            <p:nvPr>
              <p:custDataLst>
                <p:tags r:id="rId69"/>
              </p:custDataLst>
            </p:nvPr>
          </p:nvCxnSpPr>
          <p:spPr bwMode="auto">
            <a:xfrm flipV="1">
              <a:off x="4680000" y="3925315"/>
              <a:ext cx="7175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06AB1945-A233-4665-BE66-B55E53DF05EE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4608000" y="3891025"/>
              <a:ext cx="71755" cy="71755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AAFFA8B7-FB22-46A4-86A4-7093D6091321}"/>
                </a:ext>
              </a:extLst>
            </p:cNvPr>
            <p:cNvCxnSpPr>
              <a:cxnSpLocks/>
            </p:cNvCxnSpPr>
            <p:nvPr>
              <p:custDataLst>
                <p:tags r:id="rId71"/>
              </p:custDataLst>
            </p:nvPr>
          </p:nvCxnSpPr>
          <p:spPr bwMode="auto">
            <a:xfrm flipV="1">
              <a:off x="4320000" y="4140000"/>
              <a:ext cx="0" cy="71755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26A891ED-8394-4A8F-97A3-9CFDBA2D519F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4284000" y="4068000"/>
              <a:ext cx="71755" cy="71755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" name="Text Box 430">
              <a:extLst>
                <a:ext uri="{FF2B5EF4-FFF2-40B4-BE49-F238E27FC236}">
                  <a16:creationId xmlns:a16="http://schemas.microsoft.com/office/drawing/2014/main" id="{6A212BD8-D15E-44CD-A3F9-8F6508C97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7768" y="3870000"/>
              <a:ext cx="144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R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9C7603C-D7FF-4121-853A-FC8E236C850B}"/>
              </a:ext>
            </a:extLst>
          </p:cNvPr>
          <p:cNvGrpSpPr/>
          <p:nvPr/>
        </p:nvGrpSpPr>
        <p:grpSpPr>
          <a:xfrm>
            <a:off x="7740352" y="2421229"/>
            <a:ext cx="864148" cy="863755"/>
            <a:chOff x="5004000" y="3564000"/>
            <a:chExt cx="864148" cy="863755"/>
          </a:xfrm>
        </p:grpSpPr>
        <p:sp>
          <p:nvSpPr>
            <p:cNvPr id="37" name="Text Box 36">
              <a:extLst>
                <a:ext uri="{FF2B5EF4-FFF2-40B4-BE49-F238E27FC236}">
                  <a16:creationId xmlns:a16="http://schemas.microsoft.com/office/drawing/2014/main" id="{9C79721A-0D57-499F-9BCD-6337D2B3AC40}"/>
                </a:ext>
              </a:extLst>
            </p:cNvPr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5148193" y="3564000"/>
              <a:ext cx="576000" cy="720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wrap="square" lIns="36000" tIns="0" rIns="36000" bIns="0" anchor="t" anchorCtr="0">
              <a:noAutofit/>
            </a:bodyPr>
            <a:lstStyle/>
            <a:p>
              <a:pPr algn="dist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D </a:t>
              </a:r>
              <a:r>
                <a:rPr lang="en-US" altLang="zh-CN" sz="1600" b="1" baseline="-250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u="none" baseline="-18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C</a:t>
              </a: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 </a:t>
              </a:r>
              <a:r>
                <a:rPr lang="en-US" altLang="zh-CN" sz="1600" b="1" u="none" baseline="-25000" dirty="0">
                  <a:solidFill>
                    <a:srgbClr val="FF3399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16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Q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E</a:t>
              </a:r>
              <a:endParaRPr lang="en-US" altLang="zh-CN" sz="16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1F9E4C49-6CD0-40C5-9B70-A790A089A33C}"/>
                </a:ext>
              </a:extLst>
            </p:cNvPr>
            <p:cNvCxnSpPr/>
            <p:nvPr>
              <p:custDataLst>
                <p:tags r:id="rId56"/>
              </p:custDataLst>
            </p:nvPr>
          </p:nvCxnSpPr>
          <p:spPr bwMode="auto">
            <a:xfrm flipV="1">
              <a:off x="5004048" y="3671950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4CCCF274-E3DF-48DC-A388-D2790E24E8A4}"/>
                </a:ext>
              </a:extLst>
            </p:cNvPr>
            <p:cNvCxnSpPr/>
            <p:nvPr>
              <p:custDataLst>
                <p:tags r:id="rId57"/>
              </p:custDataLst>
            </p:nvPr>
          </p:nvCxnSpPr>
          <p:spPr bwMode="auto">
            <a:xfrm flipV="1">
              <a:off x="5004048" y="3923410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E0145135-0279-4B02-BC81-8BB592734E38}"/>
                </a:ext>
              </a:extLst>
            </p:cNvPr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5724003" y="3671950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2BAD403F-6C8B-43BF-861F-7059F82F9CC8}"/>
                </a:ext>
              </a:extLst>
            </p:cNvPr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5796003" y="3925315"/>
              <a:ext cx="71755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B5FC7C46-9DAC-412A-B6AD-B3512CB54C65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5724003" y="3891025"/>
              <a:ext cx="71755" cy="71755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8012EB32-7621-4A9B-BBF0-C83D83077154}"/>
                </a:ext>
              </a:extLst>
            </p:cNvPr>
            <p:cNvCxnSpPr>
              <a:cxnSpLocks/>
            </p:cNvCxnSpPr>
            <p:nvPr>
              <p:custDataLst>
                <p:tags r:id="rId61"/>
              </p:custDataLst>
            </p:nvPr>
          </p:nvCxnSpPr>
          <p:spPr bwMode="auto">
            <a:xfrm flipV="1">
              <a:off x="5436003" y="4356000"/>
              <a:ext cx="0" cy="71755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E3AE39A6-BE6E-4D80-9516-FCE16D6FA8EF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5400003" y="4284000"/>
              <a:ext cx="71755" cy="71755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" name="Text Box 430">
              <a:extLst>
                <a:ext uri="{FF2B5EF4-FFF2-40B4-BE49-F238E27FC236}">
                  <a16:creationId xmlns:a16="http://schemas.microsoft.com/office/drawing/2014/main" id="{BF9B716A-71D9-4E3A-971D-1ACB569E7B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3771" y="4086000"/>
              <a:ext cx="144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R</a:t>
              </a:r>
            </a:p>
          </p:txBody>
        </p:sp>
        <p:sp>
          <p:nvSpPr>
            <p:cNvPr id="46" name="等腰三角形 45">
              <a:extLst>
                <a:ext uri="{FF2B5EF4-FFF2-40B4-BE49-F238E27FC236}">
                  <a16:creationId xmlns:a16="http://schemas.microsoft.com/office/drawing/2014/main" id="{846AEDC3-71D6-4147-BBE5-605F9C402B74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5122800" y="3888000"/>
              <a:ext cx="144145" cy="71755"/>
            </a:xfrm>
            <a:prstGeom prst="triangle">
              <a:avLst/>
            </a:prstGeom>
            <a:solidFill>
              <a:schemeClr val="bg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2539599D-C461-4737-A3FB-B2E3873757EF}"/>
                </a:ext>
              </a:extLst>
            </p:cNvPr>
            <p:cNvCxnSpPr/>
            <p:nvPr>
              <p:custDataLst>
                <p:tags r:id="rId64"/>
              </p:custDataLst>
            </p:nvPr>
          </p:nvCxnSpPr>
          <p:spPr bwMode="auto">
            <a:xfrm flipV="1">
              <a:off x="5004000" y="4176000"/>
              <a:ext cx="144145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</p:grpSp>
      <p:graphicFrame>
        <p:nvGraphicFramePr>
          <p:cNvPr id="49" name="表格 48">
            <a:extLst>
              <a:ext uri="{FF2B5EF4-FFF2-40B4-BE49-F238E27FC236}">
                <a16:creationId xmlns:a16="http://schemas.microsoft.com/office/drawing/2014/main" id="{1259DAED-E972-4534-8B32-668186C1C0E1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21834982"/>
              </p:ext>
            </p:extLst>
          </p:nvPr>
        </p:nvGraphicFramePr>
        <p:xfrm>
          <a:off x="755576" y="3225444"/>
          <a:ext cx="1790065" cy="96875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5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257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baseline="-18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r>
                        <a:rPr lang="en-US" altLang="zh-CN" sz="1600" b="1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*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aseline="-18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baseline="30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  <a:sym typeface="+mn-ea"/>
                      </a:endParaRP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  <a:sym typeface="+mn-ea"/>
                        </a:rPr>
                        <a:t>功能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置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置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855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0" marR="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×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  <a:endParaRPr lang="en-US" altLang="zh-CN" sz="1600" b="1" baseline="30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Q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保持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729806"/>
                  </a:ext>
                </a:extLst>
              </a:tr>
            </a:tbl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AA4C432E-A984-482A-97B0-FC7109AB06B7}"/>
              </a:ext>
            </a:extLst>
          </p:cNvPr>
          <p:cNvGrpSpPr/>
          <p:nvPr/>
        </p:nvGrpSpPr>
        <p:grpSpPr>
          <a:xfrm>
            <a:off x="1746759" y="3253246"/>
            <a:ext cx="107782" cy="738097"/>
            <a:chOff x="14570" y="2665"/>
            <a:chExt cx="170" cy="1161"/>
          </a:xfrm>
        </p:grpSpPr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A5488EAF-2CA6-4289-BBEB-1E5820768DCC}"/>
                </a:ext>
              </a:extLst>
            </p:cNvPr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14570" y="2665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B6E8B7B6-5A87-4C36-B1EB-94D520B5019F}"/>
                </a:ext>
              </a:extLst>
            </p:cNvPr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14570" y="3826"/>
              <a:ext cx="17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aphicFrame>
        <p:nvGraphicFramePr>
          <p:cNvPr id="53" name="表格 52">
            <a:extLst>
              <a:ext uri="{FF2B5EF4-FFF2-40B4-BE49-F238E27FC236}">
                <a16:creationId xmlns:a16="http://schemas.microsoft.com/office/drawing/2014/main" id="{52215A95-0375-4520-97D4-3329DD31B3DB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812510600"/>
              </p:ext>
            </p:extLst>
          </p:nvPr>
        </p:nvGraphicFramePr>
        <p:xfrm>
          <a:off x="4355976" y="3186088"/>
          <a:ext cx="2160240" cy="12341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8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655785390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3399098481"/>
                    </a:ext>
                  </a:extLst>
                </a:gridCol>
              </a:tblGrid>
              <a:tr h="25781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</a:t>
                      </a:r>
                      <a:endParaRPr lang="en-US" altLang="zh-CN" sz="1600" b="1" baseline="-25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D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r>
                        <a:rPr lang="en-US" altLang="zh-CN" sz="1600" baseline="3000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*</a:t>
                      </a:r>
                      <a:endParaRPr lang="en-US" altLang="zh-CN" sz="1600" b="1" baseline="3000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功能</a:t>
                      </a:r>
                      <a:endParaRPr lang="en-US" altLang="zh-CN" sz="1600" b="1" baseline="0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↑</a:t>
                      </a: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latin typeface="宋体" panose="02010600030101010101" pitchFamily="2" charset="-122"/>
                          <a:sym typeface="+mn-ea"/>
                        </a:rPr>
                        <a:t>0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置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↑</a:t>
                      </a: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置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</a:t>
                      </a: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非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↑</a:t>
                      </a:r>
                    </a:p>
                  </a:txBody>
                  <a:tcPr marL="0" marR="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sym typeface="+mn-ea"/>
                        </a:rPr>
                        <a:t>×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</a:t>
                      </a: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保持</a:t>
                      </a: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044591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0</a:t>
                      </a:r>
                    </a:p>
                  </a:txBody>
                  <a:tcPr marL="36000" marR="36000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sym typeface="+mn-ea"/>
                        </a:rPr>
                        <a:t>×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ysDash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80000"/>
                        </a:lnSpc>
                        <a:buNone/>
                      </a:pPr>
                      <a:r>
                        <a:rPr lang="zh-CN" altLang="en-US" sz="1600" b="1" dirty="0">
                          <a:latin typeface="宋体" panose="02010600030101010101" pitchFamily="2" charset="-122"/>
                          <a:sym typeface="+mn-ea"/>
                        </a:rPr>
                        <a:t>×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sym typeface="+mn-ea"/>
                        </a:rPr>
                        <a:t>Q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indent="0" algn="ctr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</a:t>
                      </a: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保持</a:t>
                      </a:r>
                    </a:p>
                  </a:txBody>
                  <a:tcPr marL="36000" marR="36000" marT="1778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4" name="组合 53">
            <a:extLst>
              <a:ext uri="{FF2B5EF4-FFF2-40B4-BE49-F238E27FC236}">
                <a16:creationId xmlns:a16="http://schemas.microsoft.com/office/drawing/2014/main" id="{753B3214-DB1B-4EA7-AD98-7F822FF3483C}"/>
              </a:ext>
            </a:extLst>
          </p:cNvPr>
          <p:cNvGrpSpPr/>
          <p:nvPr/>
        </p:nvGrpSpPr>
        <p:grpSpPr>
          <a:xfrm>
            <a:off x="5705968" y="3222478"/>
            <a:ext cx="144444" cy="854698"/>
            <a:chOff x="6230123" y="2673302"/>
            <a:chExt cx="144444" cy="854698"/>
          </a:xfrm>
        </p:grpSpPr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B697A411-2B7D-4EAD-A4CB-10012B783614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6230123" y="2673302"/>
              <a:ext cx="1081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7EB972A2-DD73-4EB4-A4FF-7191645B1AE8}"/>
                </a:ext>
              </a:extLst>
            </p:cNvPr>
            <p:cNvCxnSpPr/>
            <p:nvPr>
              <p:custDataLst>
                <p:tags r:id="rId52"/>
              </p:custDataLst>
            </p:nvPr>
          </p:nvCxnSpPr>
          <p:spPr bwMode="auto">
            <a:xfrm flipV="1">
              <a:off x="6266393" y="3528000"/>
              <a:ext cx="10817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167" name="组合 166">
            <a:extLst>
              <a:ext uri="{FF2B5EF4-FFF2-40B4-BE49-F238E27FC236}">
                <a16:creationId xmlns:a16="http://schemas.microsoft.com/office/drawing/2014/main" id="{23BA6906-6D7E-4EE6-840F-162FEDBEE01C}"/>
              </a:ext>
            </a:extLst>
          </p:cNvPr>
          <p:cNvGrpSpPr/>
          <p:nvPr/>
        </p:nvGrpSpPr>
        <p:grpSpPr>
          <a:xfrm>
            <a:off x="2664000" y="3285112"/>
            <a:ext cx="1476000" cy="756003"/>
            <a:chOff x="3024000" y="2952000"/>
            <a:chExt cx="1476000" cy="756003"/>
          </a:xfrm>
        </p:grpSpPr>
        <p:sp>
          <p:nvSpPr>
            <p:cNvPr id="163" name="Text Box 430">
              <a:extLst>
                <a:ext uri="{FF2B5EF4-FFF2-40B4-BE49-F238E27FC236}">
                  <a16:creationId xmlns:a16="http://schemas.microsoft.com/office/drawing/2014/main" id="{C43D7ADC-A81C-4A60-84FA-149EAC6CB6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4000" y="3276000"/>
              <a:ext cx="216000" cy="180000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161" name="Text Box 430">
              <a:extLst>
                <a:ext uri="{FF2B5EF4-FFF2-40B4-BE49-F238E27FC236}">
                  <a16:creationId xmlns:a16="http://schemas.microsoft.com/office/drawing/2014/main" id="{F23A1AB4-B6D4-4215-9856-FD6F99E967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000" y="3276000"/>
              <a:ext cx="324000" cy="180000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 </a:t>
              </a:r>
              <a:endParaRPr lang="en-US" altLang="zh-CN" sz="1800" baseline="-16000" dirty="0">
                <a:solidFill>
                  <a:schemeClr val="tx1"/>
                </a:solidFill>
              </a:endParaRPr>
            </a:p>
          </p:txBody>
        </p:sp>
        <p:sp>
          <p:nvSpPr>
            <p:cNvPr id="60" name="Text Box 430">
              <a:extLst>
                <a:ext uri="{FF2B5EF4-FFF2-40B4-BE49-F238E27FC236}">
                  <a16:creationId xmlns:a16="http://schemas.microsoft.com/office/drawing/2014/main" id="{DB1B9E6A-4788-4BE3-93DF-F0D9232A5D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0000" y="3276000"/>
              <a:ext cx="756000" cy="180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80000"/>
                </a:lnSpc>
              </a:pPr>
              <a:endParaRPr lang="en-US" altLang="zh-CN" sz="18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58" name="Text Box 430">
              <a:extLst>
                <a:ext uri="{FF2B5EF4-FFF2-40B4-BE49-F238E27FC236}">
                  <a16:creationId xmlns:a16="http://schemas.microsoft.com/office/drawing/2014/main" id="{CEA360D7-9470-4B88-A9A5-581882B24E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4477" y="3284870"/>
              <a:ext cx="288032" cy="2160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endParaRPr lang="en-US" altLang="zh-CN" sz="18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59" name="Text Box 430">
              <a:extLst>
                <a:ext uri="{FF2B5EF4-FFF2-40B4-BE49-F238E27FC236}">
                  <a16:creationId xmlns:a16="http://schemas.microsoft.com/office/drawing/2014/main" id="{9679BC4B-CB00-4628-AA8B-F127F3DBE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8000" y="3528000"/>
              <a:ext cx="972000" cy="180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80000"/>
                </a:lnSpc>
              </a:pPr>
              <a:endParaRPr lang="en-US" altLang="zh-CN" sz="18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62" name="Text Box 430">
              <a:extLst>
                <a:ext uri="{FF2B5EF4-FFF2-40B4-BE49-F238E27FC236}">
                  <a16:creationId xmlns:a16="http://schemas.microsoft.com/office/drawing/2014/main" id="{9EF350DB-1F4F-40E1-A5A4-AA5C170505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4000" y="3528000"/>
              <a:ext cx="324000" cy="18000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endParaRPr lang="en-US" altLang="zh-CN" sz="18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63" name="Line 425">
              <a:extLst>
                <a:ext uri="{FF2B5EF4-FFF2-40B4-BE49-F238E27FC236}">
                  <a16:creationId xmlns:a16="http://schemas.microsoft.com/office/drawing/2014/main" id="{48CAA8D1-F280-4091-9ABA-A896C2A1AA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000" y="2988000"/>
              <a:ext cx="0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4" name="Line 425">
              <a:extLst>
                <a:ext uri="{FF2B5EF4-FFF2-40B4-BE49-F238E27FC236}">
                  <a16:creationId xmlns:a16="http://schemas.microsoft.com/office/drawing/2014/main" id="{7BDF16DA-54A2-4CD9-8775-C0219E66F6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4000" y="3168000"/>
              <a:ext cx="21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5" name="Text Box 430">
              <a:extLst>
                <a:ext uri="{FF2B5EF4-FFF2-40B4-BE49-F238E27FC236}">
                  <a16:creationId xmlns:a16="http://schemas.microsoft.com/office/drawing/2014/main" id="{5B86E7A3-53A9-4E22-9F51-77FB80F740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000" y="3276000"/>
              <a:ext cx="180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D</a:t>
              </a:r>
              <a:endParaRPr lang="en-US" altLang="zh-CN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66" name="Line 425">
              <a:extLst>
                <a:ext uri="{FF2B5EF4-FFF2-40B4-BE49-F238E27FC236}">
                  <a16:creationId xmlns:a16="http://schemas.microsoft.com/office/drawing/2014/main" id="{D735C9EA-FCCA-413C-B924-1637910C5E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0000" y="3456000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7" name="Line 425">
              <a:extLst>
                <a:ext uri="{FF2B5EF4-FFF2-40B4-BE49-F238E27FC236}">
                  <a16:creationId xmlns:a16="http://schemas.microsoft.com/office/drawing/2014/main" id="{C12F0CE3-238C-4D94-9205-373863BFEC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2510" y="2988000"/>
              <a:ext cx="0" cy="18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8" name="Line 425">
              <a:extLst>
                <a:ext uri="{FF2B5EF4-FFF2-40B4-BE49-F238E27FC236}">
                  <a16:creationId xmlns:a16="http://schemas.microsoft.com/office/drawing/2014/main" id="{51BC7DF1-B7B5-4E8C-835D-C12343E96E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2510" y="2988000"/>
              <a:ext cx="756000" cy="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9" name="Line 425">
              <a:extLst>
                <a:ext uri="{FF2B5EF4-FFF2-40B4-BE49-F238E27FC236}">
                  <a16:creationId xmlns:a16="http://schemas.microsoft.com/office/drawing/2014/main" id="{7BBD0031-7B9A-4850-A405-4A2416935E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4000" y="3528000"/>
              <a:ext cx="32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0" name="Line 425">
              <a:extLst>
                <a:ext uri="{FF2B5EF4-FFF2-40B4-BE49-F238E27FC236}">
                  <a16:creationId xmlns:a16="http://schemas.microsoft.com/office/drawing/2014/main" id="{F7D1B860-9D87-418E-9588-37F0E42587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28000" y="3528000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1" name="Line 425">
              <a:extLst>
                <a:ext uri="{FF2B5EF4-FFF2-40B4-BE49-F238E27FC236}">
                  <a16:creationId xmlns:a16="http://schemas.microsoft.com/office/drawing/2014/main" id="{7BC9B334-95EF-4916-B538-DB8143099D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000" y="3168000"/>
              <a:ext cx="324000" cy="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2" name="Line 425">
              <a:extLst>
                <a:ext uri="{FF2B5EF4-FFF2-40B4-BE49-F238E27FC236}">
                  <a16:creationId xmlns:a16="http://schemas.microsoft.com/office/drawing/2014/main" id="{09A419E8-C853-420A-B3A3-59EF087D7A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6000" y="3168000"/>
              <a:ext cx="0" cy="540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3" name="Line 425">
              <a:extLst>
                <a:ext uri="{FF2B5EF4-FFF2-40B4-BE49-F238E27FC236}">
                  <a16:creationId xmlns:a16="http://schemas.microsoft.com/office/drawing/2014/main" id="{A92F859A-D15A-4B1C-BBF8-BB9263275C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20000" y="3168000"/>
              <a:ext cx="0" cy="540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4" name="Text Box 430">
              <a:extLst>
                <a:ext uri="{FF2B5EF4-FFF2-40B4-BE49-F238E27FC236}">
                  <a16:creationId xmlns:a16="http://schemas.microsoft.com/office/drawing/2014/main" id="{BA34D0B4-20E2-4E98-B681-60CB869B97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000" y="3528000"/>
              <a:ext cx="180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Q</a:t>
              </a:r>
              <a:endParaRPr lang="en-US" altLang="zh-CN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75" name="Text Box 430">
              <a:extLst>
                <a:ext uri="{FF2B5EF4-FFF2-40B4-BE49-F238E27FC236}">
                  <a16:creationId xmlns:a16="http://schemas.microsoft.com/office/drawing/2014/main" id="{E2AAAE6B-C33F-446E-BA48-90A8D2D3C6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000" y="2952000"/>
              <a:ext cx="18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E</a:t>
              </a:r>
            </a:p>
          </p:txBody>
        </p:sp>
        <p:sp>
          <p:nvSpPr>
            <p:cNvPr id="76" name="Line 425">
              <a:extLst>
                <a:ext uri="{FF2B5EF4-FFF2-40B4-BE49-F238E27FC236}">
                  <a16:creationId xmlns:a16="http://schemas.microsoft.com/office/drawing/2014/main" id="{72D46A34-34D9-4360-80DD-A87CCA96E2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4000" y="3276038"/>
              <a:ext cx="216000" cy="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7" name="Line 425">
              <a:extLst>
                <a:ext uri="{FF2B5EF4-FFF2-40B4-BE49-F238E27FC236}">
                  <a16:creationId xmlns:a16="http://schemas.microsoft.com/office/drawing/2014/main" id="{BDFB7F94-D99C-4826-ADC0-DACCBDEB29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0000" y="3276041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8" name="Line 425">
              <a:extLst>
                <a:ext uri="{FF2B5EF4-FFF2-40B4-BE49-F238E27FC236}">
                  <a16:creationId xmlns:a16="http://schemas.microsoft.com/office/drawing/2014/main" id="{2B91AC7A-6CB3-4DF4-937C-2DBC51247E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08000" y="3276041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79" name="Line 425">
              <a:extLst>
                <a:ext uri="{FF2B5EF4-FFF2-40B4-BE49-F238E27FC236}">
                  <a16:creationId xmlns:a16="http://schemas.microsoft.com/office/drawing/2014/main" id="{21FD49BC-F6B6-4BBD-AEF2-A748330462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6000" y="3274783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0" name="Line 425">
              <a:extLst>
                <a:ext uri="{FF2B5EF4-FFF2-40B4-BE49-F238E27FC236}">
                  <a16:creationId xmlns:a16="http://schemas.microsoft.com/office/drawing/2014/main" id="{2E8C008B-1A23-4C26-9EDD-F5AFD8F4F6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6000" y="3456000"/>
              <a:ext cx="14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1" name="Line 425">
              <a:extLst>
                <a:ext uri="{FF2B5EF4-FFF2-40B4-BE49-F238E27FC236}">
                  <a16:creationId xmlns:a16="http://schemas.microsoft.com/office/drawing/2014/main" id="{727A3B10-3855-4D3C-AAC4-A55F9D5526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000" y="3277299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2" name="Line 425">
              <a:extLst>
                <a:ext uri="{FF2B5EF4-FFF2-40B4-BE49-F238E27FC236}">
                  <a16:creationId xmlns:a16="http://schemas.microsoft.com/office/drawing/2014/main" id="{B29BB765-0E68-45CC-8ADF-73815B911E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000" y="3276041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3" name="Line 425">
              <a:extLst>
                <a:ext uri="{FF2B5EF4-FFF2-40B4-BE49-F238E27FC236}">
                  <a16:creationId xmlns:a16="http://schemas.microsoft.com/office/drawing/2014/main" id="{8879A049-C76B-4792-9C3F-71B0CADD22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0000" y="3279544"/>
              <a:ext cx="7201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4" name="Line 425">
              <a:extLst>
                <a:ext uri="{FF2B5EF4-FFF2-40B4-BE49-F238E27FC236}">
                  <a16:creationId xmlns:a16="http://schemas.microsoft.com/office/drawing/2014/main" id="{D45F7E9B-BEE7-4DB6-9735-4CB2560E3D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000" y="3456000"/>
              <a:ext cx="18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5" name="Line 425">
              <a:extLst>
                <a:ext uri="{FF2B5EF4-FFF2-40B4-BE49-F238E27FC236}">
                  <a16:creationId xmlns:a16="http://schemas.microsoft.com/office/drawing/2014/main" id="{05E4B124-AD7B-4192-889E-246A332816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12000" y="3277299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6" name="Line 425">
              <a:extLst>
                <a:ext uri="{FF2B5EF4-FFF2-40B4-BE49-F238E27FC236}">
                  <a16:creationId xmlns:a16="http://schemas.microsoft.com/office/drawing/2014/main" id="{4A041B89-4924-41F4-A37C-E6950AB456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000" y="3276041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7" name="Line 425">
              <a:extLst>
                <a:ext uri="{FF2B5EF4-FFF2-40B4-BE49-F238E27FC236}">
                  <a16:creationId xmlns:a16="http://schemas.microsoft.com/office/drawing/2014/main" id="{47EA9AB4-9A9F-4198-9443-0EE87AAE2C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12000" y="3279544"/>
              <a:ext cx="10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8" name="Line 425">
              <a:extLst>
                <a:ext uri="{FF2B5EF4-FFF2-40B4-BE49-F238E27FC236}">
                  <a16:creationId xmlns:a16="http://schemas.microsoft.com/office/drawing/2014/main" id="{F526265F-FEA4-4E02-B55A-01768A46D4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000" y="3456000"/>
              <a:ext cx="18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89" name="Line 425">
              <a:extLst>
                <a:ext uri="{FF2B5EF4-FFF2-40B4-BE49-F238E27FC236}">
                  <a16:creationId xmlns:a16="http://schemas.microsoft.com/office/drawing/2014/main" id="{825B5CD4-CB2C-4314-95A8-C16A27E54B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6000" y="3528000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0" name="Line 425">
              <a:extLst>
                <a:ext uri="{FF2B5EF4-FFF2-40B4-BE49-F238E27FC236}">
                  <a16:creationId xmlns:a16="http://schemas.microsoft.com/office/drawing/2014/main" id="{8F31E725-85CB-401F-A845-1E0E980079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4000" y="3528000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1" name="Line 425">
              <a:extLst>
                <a:ext uri="{FF2B5EF4-FFF2-40B4-BE49-F238E27FC236}">
                  <a16:creationId xmlns:a16="http://schemas.microsoft.com/office/drawing/2014/main" id="{E3CCDDE4-38A1-4B93-80AA-678E1333B2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4000" y="3708000"/>
              <a:ext cx="14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2" name="Line 425">
              <a:extLst>
                <a:ext uri="{FF2B5EF4-FFF2-40B4-BE49-F238E27FC236}">
                  <a16:creationId xmlns:a16="http://schemas.microsoft.com/office/drawing/2014/main" id="{5BE77E8C-8331-4208-AE8F-FFC79378A8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8000" y="3528000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3" name="Line 425">
              <a:extLst>
                <a:ext uri="{FF2B5EF4-FFF2-40B4-BE49-F238E27FC236}">
                  <a16:creationId xmlns:a16="http://schemas.microsoft.com/office/drawing/2014/main" id="{DF99E7DB-73C0-4C23-AE39-7934DD3C11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0000" y="3528000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4" name="Line 425">
              <a:extLst>
                <a:ext uri="{FF2B5EF4-FFF2-40B4-BE49-F238E27FC236}">
                  <a16:creationId xmlns:a16="http://schemas.microsoft.com/office/drawing/2014/main" id="{0CE64049-F115-45D0-A673-A47F233973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8000" y="3528000"/>
              <a:ext cx="7201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5" name="Line 425">
              <a:extLst>
                <a:ext uri="{FF2B5EF4-FFF2-40B4-BE49-F238E27FC236}">
                  <a16:creationId xmlns:a16="http://schemas.microsoft.com/office/drawing/2014/main" id="{41A0AF1D-EC44-46A5-B481-601F43C5EF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0000" y="3708000"/>
              <a:ext cx="36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6" name="Line 425">
              <a:extLst>
                <a:ext uri="{FF2B5EF4-FFF2-40B4-BE49-F238E27FC236}">
                  <a16:creationId xmlns:a16="http://schemas.microsoft.com/office/drawing/2014/main" id="{B5C94659-B3BA-4A2D-B431-FDD335DB57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08000" y="3276041"/>
              <a:ext cx="10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7" name="Line 425">
              <a:extLst>
                <a:ext uri="{FF2B5EF4-FFF2-40B4-BE49-F238E27FC236}">
                  <a16:creationId xmlns:a16="http://schemas.microsoft.com/office/drawing/2014/main" id="{B4E41D77-AA56-4EA6-934D-B21D40A9BC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6000" y="3528000"/>
              <a:ext cx="10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8" name="Line 425">
              <a:extLst>
                <a:ext uri="{FF2B5EF4-FFF2-40B4-BE49-F238E27FC236}">
                  <a16:creationId xmlns:a16="http://schemas.microsoft.com/office/drawing/2014/main" id="{4815D50B-5B68-4FFB-9B27-D6321A769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8000" y="3708000"/>
              <a:ext cx="288000" cy="3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99" name="Line 425">
              <a:extLst>
                <a:ext uri="{FF2B5EF4-FFF2-40B4-BE49-F238E27FC236}">
                  <a16:creationId xmlns:a16="http://schemas.microsoft.com/office/drawing/2014/main" id="{954EFEA6-D48A-4C01-AE1C-345CE77306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04000" y="3276000"/>
              <a:ext cx="108000" cy="1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1" name="Line 425">
              <a:extLst>
                <a:ext uri="{FF2B5EF4-FFF2-40B4-BE49-F238E27FC236}">
                  <a16:creationId xmlns:a16="http://schemas.microsoft.com/office/drawing/2014/main" id="{62FFB644-C426-42D1-BCD7-6E7CC150C5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2000" y="3276000"/>
              <a:ext cx="108000" cy="1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02" name="Line 425">
              <a:extLst>
                <a:ext uri="{FF2B5EF4-FFF2-40B4-BE49-F238E27FC236}">
                  <a16:creationId xmlns:a16="http://schemas.microsoft.com/office/drawing/2014/main" id="{7EDA44D9-BFD7-4046-A3C4-83D4DA2F6F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4000" y="3456000"/>
              <a:ext cx="216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66" name="Line 425">
              <a:extLst>
                <a:ext uri="{FF2B5EF4-FFF2-40B4-BE49-F238E27FC236}">
                  <a16:creationId xmlns:a16="http://schemas.microsoft.com/office/drawing/2014/main" id="{EC1EED2B-3459-45E9-A5C1-9155421AB0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4000" y="3708000"/>
              <a:ext cx="32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71" name="组合 170">
            <a:extLst>
              <a:ext uri="{FF2B5EF4-FFF2-40B4-BE49-F238E27FC236}">
                <a16:creationId xmlns:a16="http://schemas.microsoft.com/office/drawing/2014/main" id="{012A4284-A558-4FE6-B544-1F2A630D3F55}"/>
              </a:ext>
            </a:extLst>
          </p:cNvPr>
          <p:cNvGrpSpPr/>
          <p:nvPr/>
        </p:nvGrpSpPr>
        <p:grpSpPr>
          <a:xfrm>
            <a:off x="6625111" y="3321152"/>
            <a:ext cx="2335218" cy="1080000"/>
            <a:chOff x="6625111" y="3096000"/>
            <a:chExt cx="2335218" cy="1080000"/>
          </a:xfrm>
        </p:grpSpPr>
        <p:sp>
          <p:nvSpPr>
            <p:cNvPr id="104" name="Text Box 430">
              <a:extLst>
                <a:ext uri="{FF2B5EF4-FFF2-40B4-BE49-F238E27FC236}">
                  <a16:creationId xmlns:a16="http://schemas.microsoft.com/office/drawing/2014/main" id="{3FB0FA4F-F539-448F-ABFF-C2CA36F615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1111" y="3492048"/>
              <a:ext cx="504000" cy="180000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baseline="-18000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1</a:t>
              </a:r>
              <a:endParaRPr lang="en-US" altLang="zh-CN" sz="16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05" name="Text Box 430">
              <a:extLst>
                <a:ext uri="{FF2B5EF4-FFF2-40B4-BE49-F238E27FC236}">
                  <a16:creationId xmlns:a16="http://schemas.microsoft.com/office/drawing/2014/main" id="{3BF0AB79-B972-4F2D-B7D5-CBE60A2540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49111" y="3744000"/>
              <a:ext cx="180000" cy="180000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1</a:t>
              </a:r>
              <a:endParaRPr lang="en-US" altLang="zh-CN" sz="16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07" name="Text Box 430">
              <a:extLst>
                <a:ext uri="{FF2B5EF4-FFF2-40B4-BE49-F238E27FC236}">
                  <a16:creationId xmlns:a16="http://schemas.microsoft.com/office/drawing/2014/main" id="{37F96D6D-FB6E-4A20-A71E-0FF7A9406B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5112" y="3494868"/>
              <a:ext cx="288032" cy="2160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endParaRPr lang="en-US" altLang="zh-CN" sz="18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08" name="Text Box 430">
              <a:extLst>
                <a:ext uri="{FF2B5EF4-FFF2-40B4-BE49-F238E27FC236}">
                  <a16:creationId xmlns:a16="http://schemas.microsoft.com/office/drawing/2014/main" id="{1A10B59A-E758-4DD2-9E71-30B589D5AE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5111" y="3744000"/>
              <a:ext cx="684000" cy="18000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endParaRPr lang="en-US" altLang="zh-CN" sz="18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09" name="Text Box 430">
              <a:extLst>
                <a:ext uri="{FF2B5EF4-FFF2-40B4-BE49-F238E27FC236}">
                  <a16:creationId xmlns:a16="http://schemas.microsoft.com/office/drawing/2014/main" id="{55F9EF6E-0EEF-42F3-9412-01FC784B34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1111" y="3492072"/>
              <a:ext cx="504000" cy="180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baseline="-18000" dirty="0">
                  <a:latin typeface="+mn-ea"/>
                  <a:ea typeface="+mn-ea"/>
                </a:rPr>
                <a:t> 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0</a:t>
              </a:r>
              <a:endParaRPr lang="en-US" altLang="zh-CN" sz="16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10" name="Line 425">
              <a:extLst>
                <a:ext uri="{FF2B5EF4-FFF2-40B4-BE49-F238E27FC236}">
                  <a16:creationId xmlns:a16="http://schemas.microsoft.com/office/drawing/2014/main" id="{619DB998-67A1-4F6C-B014-1BCFDA985D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21111" y="3096000"/>
              <a:ext cx="0" cy="1800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1" name="Line 425">
              <a:extLst>
                <a:ext uri="{FF2B5EF4-FFF2-40B4-BE49-F238E27FC236}">
                  <a16:creationId xmlns:a16="http://schemas.microsoft.com/office/drawing/2014/main" id="{9E994F68-0706-4ADC-9CEC-C735FE9E35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5111" y="3277284"/>
              <a:ext cx="504000" cy="1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2" name="Line 425">
              <a:extLst>
                <a:ext uri="{FF2B5EF4-FFF2-40B4-BE49-F238E27FC236}">
                  <a16:creationId xmlns:a16="http://schemas.microsoft.com/office/drawing/2014/main" id="{C0F5BC97-8280-4452-8892-5CCED2870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5111" y="3492046"/>
              <a:ext cx="756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3" name="Text Box 430">
              <a:extLst>
                <a:ext uri="{FF2B5EF4-FFF2-40B4-BE49-F238E27FC236}">
                  <a16:creationId xmlns:a16="http://schemas.microsoft.com/office/drawing/2014/main" id="{9CF80B1E-B15A-4D2B-9FD0-E997B3E09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5111" y="3492048"/>
              <a:ext cx="180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D</a:t>
              </a:r>
            </a:p>
          </p:txBody>
        </p:sp>
        <p:sp>
          <p:nvSpPr>
            <p:cNvPr id="114" name="Line 425">
              <a:extLst>
                <a:ext uri="{FF2B5EF4-FFF2-40B4-BE49-F238E27FC236}">
                  <a16:creationId xmlns:a16="http://schemas.microsoft.com/office/drawing/2014/main" id="{38A1FB1A-40FB-4B6F-B64F-199B6826BC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5111" y="3492000"/>
              <a:ext cx="216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5" name="Line 425">
              <a:extLst>
                <a:ext uri="{FF2B5EF4-FFF2-40B4-BE49-F238E27FC236}">
                  <a16:creationId xmlns:a16="http://schemas.microsoft.com/office/drawing/2014/main" id="{6F21F861-A026-4EF3-8969-BF6856DE78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21111" y="3672000"/>
              <a:ext cx="576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6" name="Line 425">
              <a:extLst>
                <a:ext uri="{FF2B5EF4-FFF2-40B4-BE49-F238E27FC236}">
                  <a16:creationId xmlns:a16="http://schemas.microsoft.com/office/drawing/2014/main" id="{0FDE3929-05DE-4865-BDF9-0CA2F726DD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281111" y="3492048"/>
              <a:ext cx="50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7" name="Text Box 430">
              <a:extLst>
                <a:ext uri="{FF2B5EF4-FFF2-40B4-BE49-F238E27FC236}">
                  <a16:creationId xmlns:a16="http://schemas.microsoft.com/office/drawing/2014/main" id="{BC94D97E-2686-44FC-8CC7-E29C18215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9111" y="3744000"/>
              <a:ext cx="1260000" cy="1800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 0</a:t>
              </a:r>
              <a:endParaRPr lang="en-US" altLang="zh-CN" sz="16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18" name="Line 425">
              <a:extLst>
                <a:ext uri="{FF2B5EF4-FFF2-40B4-BE49-F238E27FC236}">
                  <a16:creationId xmlns:a16="http://schemas.microsoft.com/office/drawing/2014/main" id="{0E390870-9ADF-4B42-B0E8-40501FCD10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89111" y="3924000"/>
              <a:ext cx="126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19" name="Line 425">
              <a:extLst>
                <a:ext uri="{FF2B5EF4-FFF2-40B4-BE49-F238E27FC236}">
                  <a16:creationId xmlns:a16="http://schemas.microsoft.com/office/drawing/2014/main" id="{42951230-3CE1-4680-8ACD-AC4FC01EC3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69111" y="3096000"/>
              <a:ext cx="0" cy="1800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20" name="Line 425">
              <a:extLst>
                <a:ext uri="{FF2B5EF4-FFF2-40B4-BE49-F238E27FC236}">
                  <a16:creationId xmlns:a16="http://schemas.microsoft.com/office/drawing/2014/main" id="{D744C34A-7F7D-4940-B370-9C996AE5B7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09111" y="3096000"/>
              <a:ext cx="0" cy="1800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21" name="Line 425">
              <a:extLst>
                <a:ext uri="{FF2B5EF4-FFF2-40B4-BE49-F238E27FC236}">
                  <a16:creationId xmlns:a16="http://schemas.microsoft.com/office/drawing/2014/main" id="{0A012698-D562-4922-B213-D93C86E42D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09111" y="3096000"/>
              <a:ext cx="612000" cy="3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22" name="Line 425">
              <a:extLst>
                <a:ext uri="{FF2B5EF4-FFF2-40B4-BE49-F238E27FC236}">
                  <a16:creationId xmlns:a16="http://schemas.microsoft.com/office/drawing/2014/main" id="{64CE81C4-C445-472D-B32C-7DAF96D907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69111" y="3096000"/>
              <a:ext cx="360000" cy="3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23" name="Line 425">
              <a:extLst>
                <a:ext uri="{FF2B5EF4-FFF2-40B4-BE49-F238E27FC236}">
                  <a16:creationId xmlns:a16="http://schemas.microsoft.com/office/drawing/2014/main" id="{4A292E27-ECF6-40D9-AD01-8E33AF689D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21111" y="3494867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24" name="Line 425">
              <a:extLst>
                <a:ext uri="{FF2B5EF4-FFF2-40B4-BE49-F238E27FC236}">
                  <a16:creationId xmlns:a16="http://schemas.microsoft.com/office/drawing/2014/main" id="{0D8076B3-27B3-4556-A739-ADE9AD4E32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25111" y="3494867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25" name="Line 425">
              <a:extLst>
                <a:ext uri="{FF2B5EF4-FFF2-40B4-BE49-F238E27FC236}">
                  <a16:creationId xmlns:a16="http://schemas.microsoft.com/office/drawing/2014/main" id="{FB44C56C-B353-4B88-A559-408AFC8A1E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5111" y="3744000"/>
              <a:ext cx="68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26" name="Line 425">
              <a:extLst>
                <a:ext uri="{FF2B5EF4-FFF2-40B4-BE49-F238E27FC236}">
                  <a16:creationId xmlns:a16="http://schemas.microsoft.com/office/drawing/2014/main" id="{2BA33E68-178F-4B93-AAE0-37FAB6DD87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89111" y="3744000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27" name="Line 425">
              <a:extLst>
                <a:ext uri="{FF2B5EF4-FFF2-40B4-BE49-F238E27FC236}">
                  <a16:creationId xmlns:a16="http://schemas.microsoft.com/office/drawing/2014/main" id="{F89AD6F5-6F28-439B-A030-1C67E56CA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21111" y="3277287"/>
              <a:ext cx="648000" cy="1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28" name="Line 425">
              <a:extLst>
                <a:ext uri="{FF2B5EF4-FFF2-40B4-BE49-F238E27FC236}">
                  <a16:creationId xmlns:a16="http://schemas.microsoft.com/office/drawing/2014/main" id="{5C0CF907-AEEA-46C2-AB49-16C894F3A8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81111" y="3493610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29" name="Line 425">
              <a:extLst>
                <a:ext uri="{FF2B5EF4-FFF2-40B4-BE49-F238E27FC236}">
                  <a16:creationId xmlns:a16="http://schemas.microsoft.com/office/drawing/2014/main" id="{ACA40BA4-BDA0-45E8-B009-0BF5FAAC7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49111" y="3744000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0" name="Line 425">
              <a:extLst>
                <a:ext uri="{FF2B5EF4-FFF2-40B4-BE49-F238E27FC236}">
                  <a16:creationId xmlns:a16="http://schemas.microsoft.com/office/drawing/2014/main" id="{2E9131E6-03FB-45AE-939E-F9F91AC424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85111" y="3490790"/>
              <a:ext cx="0" cy="180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1" name="Line 425">
              <a:extLst>
                <a:ext uri="{FF2B5EF4-FFF2-40B4-BE49-F238E27FC236}">
                  <a16:creationId xmlns:a16="http://schemas.microsoft.com/office/drawing/2014/main" id="{BE11AE86-5D88-4918-B8BA-701B64BFEE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85111" y="3672000"/>
              <a:ext cx="14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2" name="Line 425">
              <a:extLst>
                <a:ext uri="{FF2B5EF4-FFF2-40B4-BE49-F238E27FC236}">
                  <a16:creationId xmlns:a16="http://schemas.microsoft.com/office/drawing/2014/main" id="{C27F1C97-41B8-4A48-9156-A940B07D85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05111" y="3672000"/>
              <a:ext cx="216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3" name="Line 425">
              <a:extLst>
                <a:ext uri="{FF2B5EF4-FFF2-40B4-BE49-F238E27FC236}">
                  <a16:creationId xmlns:a16="http://schemas.microsoft.com/office/drawing/2014/main" id="{A7AE600E-65D9-4F07-B65D-D258C30D3E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25111" y="3672000"/>
              <a:ext cx="756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4" name="Line 425">
              <a:extLst>
                <a:ext uri="{FF2B5EF4-FFF2-40B4-BE49-F238E27FC236}">
                  <a16:creationId xmlns:a16="http://schemas.microsoft.com/office/drawing/2014/main" id="{77044A9F-007C-476D-A596-23FD21B653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13111" y="3494866"/>
              <a:ext cx="108000" cy="1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5" name="Line 425">
              <a:extLst>
                <a:ext uri="{FF2B5EF4-FFF2-40B4-BE49-F238E27FC236}">
                  <a16:creationId xmlns:a16="http://schemas.microsoft.com/office/drawing/2014/main" id="{09B739DA-B056-49D5-94C3-ACA58A0DCA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05111" y="3492048"/>
              <a:ext cx="108000" cy="1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6" name="Line 425">
              <a:extLst>
                <a:ext uri="{FF2B5EF4-FFF2-40B4-BE49-F238E27FC236}">
                  <a16:creationId xmlns:a16="http://schemas.microsoft.com/office/drawing/2014/main" id="{8435F0FA-CF4C-4984-B2A2-A8EE3927C3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33111" y="3492000"/>
              <a:ext cx="108000" cy="1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7" name="Line 425">
              <a:extLst>
                <a:ext uri="{FF2B5EF4-FFF2-40B4-BE49-F238E27FC236}">
                  <a16:creationId xmlns:a16="http://schemas.microsoft.com/office/drawing/2014/main" id="{F02D8D78-5B23-48BF-9B51-E52CBCD463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25111" y="3492000"/>
              <a:ext cx="108000" cy="1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8" name="Line 425">
              <a:extLst>
                <a:ext uri="{FF2B5EF4-FFF2-40B4-BE49-F238E27FC236}">
                  <a16:creationId xmlns:a16="http://schemas.microsoft.com/office/drawing/2014/main" id="{78BD4B7D-AC6E-4D63-A40B-B159AA283C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49111" y="3492000"/>
              <a:ext cx="108000" cy="1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9" name="Line 425">
              <a:extLst>
                <a:ext uri="{FF2B5EF4-FFF2-40B4-BE49-F238E27FC236}">
                  <a16:creationId xmlns:a16="http://schemas.microsoft.com/office/drawing/2014/main" id="{1C187E25-3748-499D-B0A8-921F3E3E13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41111" y="3492000"/>
              <a:ext cx="108000" cy="1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40" name="Line 425">
              <a:extLst>
                <a:ext uri="{FF2B5EF4-FFF2-40B4-BE49-F238E27FC236}">
                  <a16:creationId xmlns:a16="http://schemas.microsoft.com/office/drawing/2014/main" id="{B277370F-7B71-4ED0-B742-533AEB5CBB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65111" y="3492000"/>
              <a:ext cx="108000" cy="1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41" name="Line 425">
              <a:extLst>
                <a:ext uri="{FF2B5EF4-FFF2-40B4-BE49-F238E27FC236}">
                  <a16:creationId xmlns:a16="http://schemas.microsoft.com/office/drawing/2014/main" id="{B178299A-0E84-487A-BB17-F1F51BF8BD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57111" y="3492000"/>
              <a:ext cx="108000" cy="1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43" name="Line 425">
              <a:extLst>
                <a:ext uri="{FF2B5EF4-FFF2-40B4-BE49-F238E27FC236}">
                  <a16:creationId xmlns:a16="http://schemas.microsoft.com/office/drawing/2014/main" id="{7D72774A-807C-4FA5-97AF-5105E3154B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73111" y="3492000"/>
              <a:ext cx="108000" cy="1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46" name="Line 425">
              <a:extLst>
                <a:ext uri="{FF2B5EF4-FFF2-40B4-BE49-F238E27FC236}">
                  <a16:creationId xmlns:a16="http://schemas.microsoft.com/office/drawing/2014/main" id="{18C6D69E-78F4-47F0-98EE-DF26B40357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09111" y="3276000"/>
              <a:ext cx="0" cy="648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47" name="Line 425">
              <a:extLst>
                <a:ext uri="{FF2B5EF4-FFF2-40B4-BE49-F238E27FC236}">
                  <a16:creationId xmlns:a16="http://schemas.microsoft.com/office/drawing/2014/main" id="{684AC229-0812-4D2B-BBF1-EE2651BED7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25111" y="3276000"/>
              <a:ext cx="0" cy="216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48" name="Line 425">
              <a:extLst>
                <a:ext uri="{FF2B5EF4-FFF2-40B4-BE49-F238E27FC236}">
                  <a16:creationId xmlns:a16="http://schemas.microsoft.com/office/drawing/2014/main" id="{0CAACF2B-6931-482E-BA49-C436BE30DF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21111" y="3276000"/>
              <a:ext cx="0" cy="216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49" name="Line 425">
              <a:extLst>
                <a:ext uri="{FF2B5EF4-FFF2-40B4-BE49-F238E27FC236}">
                  <a16:creationId xmlns:a16="http://schemas.microsoft.com/office/drawing/2014/main" id="{622A80CF-89C6-47B9-ABDE-3C980C4F4C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749111" y="3744000"/>
              <a:ext cx="18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50" name="Text Box 430">
              <a:extLst>
                <a:ext uri="{FF2B5EF4-FFF2-40B4-BE49-F238E27FC236}">
                  <a16:creationId xmlns:a16="http://schemas.microsoft.com/office/drawing/2014/main" id="{67BE88DA-6504-4BAC-810B-4A82EF1A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5111" y="3744000"/>
              <a:ext cx="180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Q</a:t>
              </a:r>
            </a:p>
          </p:txBody>
        </p:sp>
        <p:sp>
          <p:nvSpPr>
            <p:cNvPr id="151" name="Text Box 430">
              <a:extLst>
                <a:ext uri="{FF2B5EF4-FFF2-40B4-BE49-F238E27FC236}">
                  <a16:creationId xmlns:a16="http://schemas.microsoft.com/office/drawing/2014/main" id="{64A0A10C-4168-485D-8257-8D7A1B7D7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5111" y="3096000"/>
              <a:ext cx="180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C</a:t>
              </a:r>
            </a:p>
          </p:txBody>
        </p:sp>
        <p:sp>
          <p:nvSpPr>
            <p:cNvPr id="152" name="Text Box 430">
              <a:extLst>
                <a:ext uri="{FF2B5EF4-FFF2-40B4-BE49-F238E27FC236}">
                  <a16:creationId xmlns:a16="http://schemas.microsoft.com/office/drawing/2014/main" id="{BEC3777E-08D1-431E-9D22-E9047A22E8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7111" y="3276024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+mn-ea"/>
                  <a:ea typeface="+mn-ea"/>
                </a:rPr>
                <a:t>①</a:t>
              </a:r>
              <a:endParaRPr lang="en-US" altLang="zh-CN" sz="1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53" name="Text Box 430">
              <a:extLst>
                <a:ext uri="{FF2B5EF4-FFF2-40B4-BE49-F238E27FC236}">
                  <a16:creationId xmlns:a16="http://schemas.microsoft.com/office/drawing/2014/main" id="{3C10D0EE-B5C9-4153-B380-03D3F8117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9111" y="3276024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+mn-ea"/>
                  <a:ea typeface="+mn-ea"/>
                </a:rPr>
                <a:t>②</a:t>
              </a:r>
              <a:endParaRPr lang="en-US" altLang="zh-CN" sz="1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54" name="Line 425">
              <a:extLst>
                <a:ext uri="{FF2B5EF4-FFF2-40B4-BE49-F238E27FC236}">
                  <a16:creationId xmlns:a16="http://schemas.microsoft.com/office/drawing/2014/main" id="{EA33765E-AF57-4AAB-8243-9A7905F045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09111" y="3132000"/>
              <a:ext cx="0" cy="144016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55" name="Line 425">
              <a:extLst>
                <a:ext uri="{FF2B5EF4-FFF2-40B4-BE49-F238E27FC236}">
                  <a16:creationId xmlns:a16="http://schemas.microsoft.com/office/drawing/2014/main" id="{2354EED2-B0FE-4C76-8BB5-BE60304E20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69111" y="3132000"/>
              <a:ext cx="0" cy="144016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56" name="Line 425">
              <a:extLst>
                <a:ext uri="{FF2B5EF4-FFF2-40B4-BE49-F238E27FC236}">
                  <a16:creationId xmlns:a16="http://schemas.microsoft.com/office/drawing/2014/main" id="{D019DE25-A06A-41BE-88EE-ACC01BAA14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69111" y="3276000"/>
              <a:ext cx="0" cy="648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57" name="Line 425">
              <a:extLst>
                <a:ext uri="{FF2B5EF4-FFF2-40B4-BE49-F238E27FC236}">
                  <a16:creationId xmlns:a16="http://schemas.microsoft.com/office/drawing/2014/main" id="{BB19D9DB-93D7-463D-82F0-AF609491CC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785111" y="3312048"/>
              <a:ext cx="0" cy="180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58" name="Line 425">
              <a:extLst>
                <a:ext uri="{FF2B5EF4-FFF2-40B4-BE49-F238E27FC236}">
                  <a16:creationId xmlns:a16="http://schemas.microsoft.com/office/drawing/2014/main" id="{D4691C49-5F93-4489-923B-9DB9D4811D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81111" y="3276000"/>
              <a:ext cx="0" cy="216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59" name="Text Box 430">
              <a:extLst>
                <a:ext uri="{FF2B5EF4-FFF2-40B4-BE49-F238E27FC236}">
                  <a16:creationId xmlns:a16="http://schemas.microsoft.com/office/drawing/2014/main" id="{570C31A3-81AE-43F0-BFA3-582837478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17111" y="3276024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+mn-ea"/>
                  <a:ea typeface="+mn-ea"/>
                </a:rPr>
                <a:t>①</a:t>
              </a:r>
              <a:endParaRPr lang="en-US" altLang="zh-CN" sz="1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60" name="Text Box 430">
              <a:extLst>
                <a:ext uri="{FF2B5EF4-FFF2-40B4-BE49-F238E27FC236}">
                  <a16:creationId xmlns:a16="http://schemas.microsoft.com/office/drawing/2014/main" id="{754B5D02-026D-4AF1-B69E-2D3AD6753E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69111" y="3276024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400" dirty="0">
                  <a:solidFill>
                    <a:schemeClr val="tx1"/>
                  </a:solidFill>
                  <a:latin typeface="+mn-ea"/>
                  <a:ea typeface="+mn-ea"/>
                </a:rPr>
                <a:t>②</a:t>
              </a:r>
              <a:endParaRPr lang="en-US" altLang="zh-CN" sz="1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68" name="Line 425">
              <a:extLst>
                <a:ext uri="{FF2B5EF4-FFF2-40B4-BE49-F238E27FC236}">
                  <a16:creationId xmlns:a16="http://schemas.microsoft.com/office/drawing/2014/main" id="{551548B4-4771-4728-A448-1EDCEBF863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5111" y="3924000"/>
              <a:ext cx="68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70" name="Text Box 430">
              <a:extLst>
                <a:ext uri="{FF2B5EF4-FFF2-40B4-BE49-F238E27FC236}">
                  <a16:creationId xmlns:a16="http://schemas.microsoft.com/office/drawing/2014/main" id="{FF604CDD-75F6-4A83-B4E5-D79DB7C05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4329" y="3960000"/>
              <a:ext cx="219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①建立时间 ②</a:t>
              </a:r>
              <a:r>
                <a:rPr lang="zh-CN" altLang="en-US" sz="1600" dirty="0">
                  <a:latin typeface="+mn-ea"/>
                  <a:ea typeface="+mn-ea"/>
                </a:rPr>
                <a:t>保持时间</a:t>
              </a:r>
              <a:endParaRPr lang="en-US" altLang="zh-CN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72" name="Line 425">
            <a:extLst>
              <a:ext uri="{FF2B5EF4-FFF2-40B4-BE49-F238E27FC236}">
                <a16:creationId xmlns:a16="http://schemas.microsoft.com/office/drawing/2014/main" id="{38EA32C5-353E-42C3-9F58-8B0C91CDA3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7999" y="1576702"/>
            <a:ext cx="288000" cy="2268000"/>
          </a:xfrm>
          <a:prstGeom prst="line">
            <a:avLst/>
          </a:prstGeom>
          <a:noFill/>
          <a:ln w="12700">
            <a:solidFill>
              <a:srgbClr val="0070C0"/>
            </a:solidFill>
            <a:prstDash val="sysDash"/>
            <a:round/>
            <a:tailEnd type="triangle" w="med" len="sm"/>
          </a:ln>
          <a:effectLst/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73" name="Text Box 7">
            <a:extLst>
              <a:ext uri="{FF2B5EF4-FFF2-40B4-BE49-F238E27FC236}">
                <a16:creationId xmlns:a16="http://schemas.microsoft.com/office/drawing/2014/main" id="{9233A017-D1BD-4F13-B2CC-E45E3D509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492654"/>
            <a:ext cx="8928992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设计练习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en-US" altLang="zh-CN" sz="2200" b="1" dirty="0">
                <a:latin typeface="+mn-ea"/>
                <a:ea typeface="+mn-ea"/>
              </a:rPr>
              <a:t>(1)</a:t>
            </a:r>
            <a:r>
              <a:rPr lang="zh-CN" altLang="en-US" sz="2200" b="1" dirty="0">
                <a:latin typeface="+mn-ea"/>
                <a:ea typeface="+mn-ea"/>
              </a:rPr>
              <a:t>用</a:t>
            </a:r>
            <a:r>
              <a:rPr lang="en-US" altLang="zh-CN" sz="2200" b="1" dirty="0">
                <a:latin typeface="+mn-ea"/>
                <a:ea typeface="+mn-ea"/>
              </a:rPr>
              <a:t>D</a:t>
            </a:r>
            <a:r>
              <a:rPr lang="zh-CN" altLang="en-US" sz="2200" b="1" dirty="0">
                <a:latin typeface="+mn-ea"/>
                <a:ea typeface="+mn-ea"/>
              </a:rPr>
              <a:t>触发器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设计</a:t>
            </a:r>
            <a:r>
              <a:rPr lang="zh-CN" altLang="en-US" sz="2200" b="1" dirty="0">
                <a:latin typeface="+mn-ea"/>
                <a:ea typeface="+mn-ea"/>
              </a:rPr>
              <a:t>带清零端的</a:t>
            </a:r>
            <a:r>
              <a:rPr lang="en-US" altLang="zh-CN" sz="2200" b="1" dirty="0">
                <a:latin typeface="+mn-ea"/>
                <a:ea typeface="+mn-ea"/>
              </a:rPr>
              <a:t>3</a:t>
            </a:r>
            <a:r>
              <a:rPr lang="zh-CN" altLang="en-US" sz="2200" b="1" dirty="0">
                <a:latin typeface="+mn-ea"/>
                <a:ea typeface="+mn-ea"/>
              </a:rPr>
              <a:t>位寄存器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</a:rPr>
              <a:t>              (2)</a:t>
            </a:r>
            <a:r>
              <a:rPr lang="zh-CN" altLang="en-US" sz="2200" b="1" dirty="0">
                <a:latin typeface="+mn-ea"/>
              </a:rPr>
              <a:t>用</a:t>
            </a:r>
            <a:r>
              <a:rPr lang="en-US" altLang="zh-CN" sz="2200" b="1" dirty="0">
                <a:latin typeface="+mn-ea"/>
              </a:rPr>
              <a:t>D</a:t>
            </a:r>
            <a:r>
              <a:rPr lang="zh-CN" altLang="en-US" sz="2200" b="1" dirty="0">
                <a:latin typeface="+mn-ea"/>
              </a:rPr>
              <a:t>触发器设计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串行输入的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</a:rPr>
              <a:t>3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位右移</a:t>
            </a:r>
            <a:r>
              <a:rPr lang="zh-CN" altLang="en-US" sz="2200" b="1" dirty="0">
                <a:latin typeface="+mn-ea"/>
              </a:rPr>
              <a:t>移位寄存器</a:t>
            </a:r>
            <a:endParaRPr lang="en-US" altLang="zh-CN" sz="22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9" name="AutoShape 338">
            <a:extLst>
              <a:ext uri="{FF2B5EF4-FFF2-40B4-BE49-F238E27FC236}">
                <a16:creationId xmlns:a16="http://schemas.microsoft.com/office/drawing/2014/main" id="{9F7DD651-A996-40CF-A879-91AB1E335F5A}"/>
              </a:ext>
            </a:extLst>
          </p:cNvPr>
          <p:cNvSpPr/>
          <p:nvPr/>
        </p:nvSpPr>
        <p:spPr bwMode="auto">
          <a:xfrm>
            <a:off x="3173169" y="4185112"/>
            <a:ext cx="936000" cy="252000"/>
          </a:xfrm>
          <a:prstGeom prst="borderCallout2">
            <a:avLst>
              <a:gd name="adj1" fmla="val 51438"/>
              <a:gd name="adj2" fmla="val -167"/>
              <a:gd name="adj3" fmla="val 46553"/>
              <a:gd name="adj4" fmla="val -18463"/>
              <a:gd name="adj5" fmla="val -49541"/>
              <a:gd name="adj6" fmla="val -5703"/>
            </a:avLst>
          </a:prstGeom>
          <a:noFill/>
          <a:ln w="15875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54000" tIns="10800" rIns="54000" bIns="10800" anchor="ctr" anchorCtr="0"/>
          <a:lstStyle/>
          <a:p>
            <a:pPr lvl="0" algn="ctr">
              <a:lnSpc>
                <a:spcPct val="90000"/>
              </a:lnSpc>
            </a:pPr>
            <a:r>
              <a:rPr lang="zh-CN" altLang="en-US" sz="1600" b="1" dirty="0">
                <a:solidFill>
                  <a:srgbClr val="000000"/>
                </a:solidFill>
              </a:rPr>
              <a:t>电路延迟</a:t>
            </a:r>
            <a:endParaRPr lang="zh-CN" altLang="en-US" sz="1600" b="1" i="1" baseline="-18000" dirty="0">
              <a:solidFill>
                <a:srgbClr val="000000"/>
              </a:solidFill>
            </a:endParaRPr>
          </a:p>
        </p:txBody>
      </p:sp>
      <p:grpSp>
        <p:nvGrpSpPr>
          <p:cNvPr id="220" name="组合 219">
            <a:extLst>
              <a:ext uri="{FF2B5EF4-FFF2-40B4-BE49-F238E27FC236}">
                <a16:creationId xmlns:a16="http://schemas.microsoft.com/office/drawing/2014/main" id="{A26BCC14-4009-4966-BE77-1475AD307440}"/>
              </a:ext>
            </a:extLst>
          </p:cNvPr>
          <p:cNvGrpSpPr/>
          <p:nvPr/>
        </p:nvGrpSpPr>
        <p:grpSpPr>
          <a:xfrm>
            <a:off x="1907466" y="5626975"/>
            <a:ext cx="2484120" cy="683895"/>
            <a:chOff x="5939155" y="1908175"/>
            <a:chExt cx="2484120" cy="683895"/>
          </a:xfrm>
        </p:grpSpPr>
        <p:grpSp>
          <p:nvGrpSpPr>
            <p:cNvPr id="227" name="组合 226">
              <a:extLst>
                <a:ext uri="{FF2B5EF4-FFF2-40B4-BE49-F238E27FC236}">
                  <a16:creationId xmlns:a16="http://schemas.microsoft.com/office/drawing/2014/main" id="{97FE438D-06AC-4227-A715-2CF428FF3DB2}"/>
                </a:ext>
              </a:extLst>
            </p:cNvPr>
            <p:cNvGrpSpPr/>
            <p:nvPr/>
          </p:nvGrpSpPr>
          <p:grpSpPr>
            <a:xfrm>
              <a:off x="5939155" y="1908175"/>
              <a:ext cx="756285" cy="683895"/>
              <a:chOff x="5159" y="5839"/>
              <a:chExt cx="1191" cy="1077"/>
            </a:xfrm>
          </p:grpSpPr>
          <p:sp>
            <p:nvSpPr>
              <p:cNvPr id="256" name="Text Box 36">
                <a:extLst>
                  <a:ext uri="{FF2B5EF4-FFF2-40B4-BE49-F238E27FC236}">
                    <a16:creationId xmlns:a16="http://schemas.microsoft.com/office/drawing/2014/main" id="{0667D8D8-75F7-4042-9BD0-BCEE1DD76EB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5159" y="5895"/>
                <a:ext cx="1191" cy="73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l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 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95000"/>
                  </a:lnSpc>
                  <a:spcBef>
                    <a:spcPts val="10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D  </a:t>
                </a:r>
                <a:r>
                  <a:rPr lang="en-US" altLang="zh-CN" sz="14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258" name="直接箭头连接符 257">
                <a:extLst>
                  <a:ext uri="{FF2B5EF4-FFF2-40B4-BE49-F238E27FC236}">
                    <a16:creationId xmlns:a16="http://schemas.microsoft.com/office/drawing/2014/main" id="{3833CAE4-B51C-4A6F-8C74-60E42B9C8F77}"/>
                  </a:ext>
                </a:extLst>
              </p:cNvPr>
              <p:cNvCxnSpPr/>
              <p:nvPr>
                <p:custDataLst>
                  <p:tags r:id="rId44"/>
                </p:custDataLst>
              </p:nvPr>
            </p:nvCxnSpPr>
            <p:spPr bwMode="auto">
              <a:xfrm flipV="1">
                <a:off x="5938" y="5937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59" name="Text Box 191">
                <a:extLst>
                  <a:ext uri="{FF2B5EF4-FFF2-40B4-BE49-F238E27FC236}">
                    <a16:creationId xmlns:a16="http://schemas.microsoft.com/office/drawing/2014/main" id="{DF733C80-1225-4240-A955-58F093C0000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5614" y="6219"/>
                <a:ext cx="22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260" name="等腰三角形 259">
                <a:extLst>
                  <a:ext uri="{FF2B5EF4-FFF2-40B4-BE49-F238E27FC236}">
                    <a16:creationId xmlns:a16="http://schemas.microsoft.com/office/drawing/2014/main" id="{C205E95A-66AF-4B66-B439-83E83AD7291A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5613" y="6519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61" name="直接箭头连接符 260">
                <a:extLst>
                  <a:ext uri="{FF2B5EF4-FFF2-40B4-BE49-F238E27FC236}">
                    <a16:creationId xmlns:a16="http://schemas.microsoft.com/office/drawing/2014/main" id="{CB6D7DB5-9676-4FAF-8BED-D26B80BF6043}"/>
                  </a:ext>
                </a:extLst>
              </p:cNvPr>
              <p:cNvCxnSpPr/>
              <p:nvPr>
                <p:custDataLst>
                  <p:tags r:id="rId47"/>
                </p:custDataLst>
              </p:nvPr>
            </p:nvCxnSpPr>
            <p:spPr bwMode="auto">
              <a:xfrm flipH="1" flipV="1">
                <a:off x="6123" y="6746"/>
                <a:ext cx="1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  <p:sp>
            <p:nvSpPr>
              <p:cNvPr id="262" name="椭圆 261">
                <a:extLst>
                  <a:ext uri="{FF2B5EF4-FFF2-40B4-BE49-F238E27FC236}">
                    <a16:creationId xmlns:a16="http://schemas.microsoft.com/office/drawing/2014/main" id="{B07E66DA-0093-4F27-A1BF-ECF7C0CFCA55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6066" y="6633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64" name="直接箭头连接符 263">
                <a:extLst>
                  <a:ext uri="{FF2B5EF4-FFF2-40B4-BE49-F238E27FC236}">
                    <a16:creationId xmlns:a16="http://schemas.microsoft.com/office/drawing/2014/main" id="{BA21F4A8-7458-4639-8579-413BA56E6EEF}"/>
                  </a:ext>
                </a:extLst>
              </p:cNvPr>
              <p:cNvCxnSpPr/>
              <p:nvPr>
                <p:custDataLst>
                  <p:tags r:id="rId49"/>
                </p:custDataLst>
              </p:nvPr>
            </p:nvCxnSpPr>
            <p:spPr bwMode="auto">
              <a:xfrm flipH="1" flipV="1">
                <a:off x="6010" y="5839"/>
                <a:ext cx="1" cy="5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65" name="直接箭头连接符 264">
                <a:extLst>
                  <a:ext uri="{FF2B5EF4-FFF2-40B4-BE49-F238E27FC236}">
                    <a16:creationId xmlns:a16="http://schemas.microsoft.com/office/drawing/2014/main" id="{560828E8-A6FB-4BD3-AAF8-0AAE7BEC86A9}"/>
                  </a:ext>
                </a:extLst>
              </p:cNvPr>
              <p:cNvCxnSpPr/>
              <p:nvPr>
                <p:custDataLst>
                  <p:tags r:id="rId50"/>
                </p:custDataLst>
              </p:nvPr>
            </p:nvCxnSpPr>
            <p:spPr bwMode="auto">
              <a:xfrm flipH="1" flipV="1">
                <a:off x="5726" y="6633"/>
                <a:ext cx="1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grpSp>
          <p:nvGrpSpPr>
            <p:cNvPr id="230" name="组合 229">
              <a:extLst>
                <a:ext uri="{FF2B5EF4-FFF2-40B4-BE49-F238E27FC236}">
                  <a16:creationId xmlns:a16="http://schemas.microsoft.com/office/drawing/2014/main" id="{C2B9B50B-B64B-42FA-9D17-73D35FE4F566}"/>
                </a:ext>
              </a:extLst>
            </p:cNvPr>
            <p:cNvGrpSpPr/>
            <p:nvPr/>
          </p:nvGrpSpPr>
          <p:grpSpPr>
            <a:xfrm>
              <a:off x="6803390" y="1908175"/>
              <a:ext cx="756285" cy="683895"/>
              <a:chOff x="6576" y="5839"/>
              <a:chExt cx="1191" cy="1077"/>
            </a:xfrm>
          </p:grpSpPr>
          <p:sp>
            <p:nvSpPr>
              <p:cNvPr id="246" name="Text Box 36">
                <a:extLst>
                  <a:ext uri="{FF2B5EF4-FFF2-40B4-BE49-F238E27FC236}">
                    <a16:creationId xmlns:a16="http://schemas.microsoft.com/office/drawing/2014/main" id="{C68E59A7-7B14-43D1-B360-1AB6E7840EB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6576" y="5895"/>
                <a:ext cx="1191" cy="73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l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 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95000"/>
                  </a:lnSpc>
                  <a:spcBef>
                    <a:spcPts val="10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D  </a:t>
                </a:r>
                <a:r>
                  <a:rPr lang="en-US" altLang="zh-CN" sz="14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248" name="直接箭头连接符 247">
                <a:extLst>
                  <a:ext uri="{FF2B5EF4-FFF2-40B4-BE49-F238E27FC236}">
                    <a16:creationId xmlns:a16="http://schemas.microsoft.com/office/drawing/2014/main" id="{7B248810-8C6A-4051-981D-1E5F9F74AE3A}"/>
                  </a:ext>
                </a:extLst>
              </p:cNvPr>
              <p:cNvCxnSpPr/>
              <p:nvPr>
                <p:custDataLst>
                  <p:tags r:id="rId36"/>
                </p:custDataLst>
              </p:nvPr>
            </p:nvCxnSpPr>
            <p:spPr bwMode="auto">
              <a:xfrm flipV="1">
                <a:off x="7355" y="5937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49" name="Text Box 191">
                <a:extLst>
                  <a:ext uri="{FF2B5EF4-FFF2-40B4-BE49-F238E27FC236}">
                    <a16:creationId xmlns:a16="http://schemas.microsoft.com/office/drawing/2014/main" id="{9705C06C-D708-4E43-B73C-A548F494B10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7031" y="6219"/>
                <a:ext cx="22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250" name="等腰三角形 249">
                <a:extLst>
                  <a:ext uri="{FF2B5EF4-FFF2-40B4-BE49-F238E27FC236}">
                    <a16:creationId xmlns:a16="http://schemas.microsoft.com/office/drawing/2014/main" id="{3052FF2D-6FD8-4A33-9E80-D7EECB9196D3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030" y="6519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51" name="直接箭头连接符 250">
                <a:extLst>
                  <a:ext uri="{FF2B5EF4-FFF2-40B4-BE49-F238E27FC236}">
                    <a16:creationId xmlns:a16="http://schemas.microsoft.com/office/drawing/2014/main" id="{B99B17A7-4981-4795-8134-555692A69A10}"/>
                  </a:ext>
                </a:extLst>
              </p:cNvPr>
              <p:cNvCxnSpPr/>
              <p:nvPr>
                <p:custDataLst>
                  <p:tags r:id="rId39"/>
                </p:custDataLst>
              </p:nvPr>
            </p:nvCxnSpPr>
            <p:spPr bwMode="auto">
              <a:xfrm flipH="1" flipV="1">
                <a:off x="7540" y="6746"/>
                <a:ext cx="1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sp>
            <p:nvSpPr>
              <p:cNvPr id="252" name="椭圆 251">
                <a:extLst>
                  <a:ext uri="{FF2B5EF4-FFF2-40B4-BE49-F238E27FC236}">
                    <a16:creationId xmlns:a16="http://schemas.microsoft.com/office/drawing/2014/main" id="{B9166A73-53F7-4B3E-B70C-C39C7CE41AD7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483" y="6633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54" name="直接箭头连接符 253">
                <a:extLst>
                  <a:ext uri="{FF2B5EF4-FFF2-40B4-BE49-F238E27FC236}">
                    <a16:creationId xmlns:a16="http://schemas.microsoft.com/office/drawing/2014/main" id="{F94A0FFE-F552-4165-8EAA-82C6A537DBAD}"/>
                  </a:ext>
                </a:extLst>
              </p:cNvPr>
              <p:cNvCxnSpPr/>
              <p:nvPr>
                <p:custDataLst>
                  <p:tags r:id="rId41"/>
                </p:custDataLst>
              </p:nvPr>
            </p:nvCxnSpPr>
            <p:spPr bwMode="auto">
              <a:xfrm flipH="1" flipV="1">
                <a:off x="7427" y="5839"/>
                <a:ext cx="1" cy="5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55" name="直接箭头连接符 254">
                <a:extLst>
                  <a:ext uri="{FF2B5EF4-FFF2-40B4-BE49-F238E27FC236}">
                    <a16:creationId xmlns:a16="http://schemas.microsoft.com/office/drawing/2014/main" id="{91CDC132-0524-4956-92A5-F8FFC6119D43}"/>
                  </a:ext>
                </a:extLst>
              </p:cNvPr>
              <p:cNvCxnSpPr/>
              <p:nvPr>
                <p:custDataLst>
                  <p:tags r:id="rId42"/>
                </p:custDataLst>
              </p:nvPr>
            </p:nvCxnSpPr>
            <p:spPr bwMode="auto">
              <a:xfrm flipH="1" flipV="1">
                <a:off x="7143" y="6633"/>
                <a:ext cx="1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grpSp>
          <p:nvGrpSpPr>
            <p:cNvPr id="233" name="组合 232">
              <a:extLst>
                <a:ext uri="{FF2B5EF4-FFF2-40B4-BE49-F238E27FC236}">
                  <a16:creationId xmlns:a16="http://schemas.microsoft.com/office/drawing/2014/main" id="{74BD58D9-1040-4889-9DD9-45A7899D1D3F}"/>
                </a:ext>
              </a:extLst>
            </p:cNvPr>
            <p:cNvGrpSpPr/>
            <p:nvPr/>
          </p:nvGrpSpPr>
          <p:grpSpPr>
            <a:xfrm>
              <a:off x="7666990" y="1908175"/>
              <a:ext cx="756285" cy="683895"/>
              <a:chOff x="7994" y="5839"/>
              <a:chExt cx="1191" cy="1077"/>
            </a:xfrm>
          </p:grpSpPr>
          <p:sp>
            <p:nvSpPr>
              <p:cNvPr id="236" name="Text Box 36">
                <a:extLst>
                  <a:ext uri="{FF2B5EF4-FFF2-40B4-BE49-F238E27FC236}">
                    <a16:creationId xmlns:a16="http://schemas.microsoft.com/office/drawing/2014/main" id="{B1CFDD1C-9700-4D9D-82E1-492F3B34148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7994" y="5895"/>
                <a:ext cx="1191" cy="73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l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 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95000"/>
                  </a:lnSpc>
                  <a:spcBef>
                    <a:spcPts val="10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D  </a:t>
                </a:r>
                <a:r>
                  <a:rPr lang="en-US" altLang="zh-CN" sz="14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238" name="直接箭头连接符 237">
                <a:extLst>
                  <a:ext uri="{FF2B5EF4-FFF2-40B4-BE49-F238E27FC236}">
                    <a16:creationId xmlns:a16="http://schemas.microsoft.com/office/drawing/2014/main" id="{CF17D8AA-C197-452C-A25E-DC770FD34B82}"/>
                  </a:ext>
                </a:extLst>
              </p:cNvPr>
              <p:cNvCxnSpPr/>
              <p:nvPr>
                <p:custDataLst>
                  <p:tags r:id="rId28"/>
                </p:custDataLst>
              </p:nvPr>
            </p:nvCxnSpPr>
            <p:spPr bwMode="auto">
              <a:xfrm flipV="1">
                <a:off x="8773" y="5937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39" name="Text Box 191">
                <a:extLst>
                  <a:ext uri="{FF2B5EF4-FFF2-40B4-BE49-F238E27FC236}">
                    <a16:creationId xmlns:a16="http://schemas.microsoft.com/office/drawing/2014/main" id="{EC8B690F-7DBC-4D1B-BC55-19B527B5AE6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8449" y="6219"/>
                <a:ext cx="22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240" name="等腰三角形 239">
                <a:extLst>
                  <a:ext uri="{FF2B5EF4-FFF2-40B4-BE49-F238E27FC236}">
                    <a16:creationId xmlns:a16="http://schemas.microsoft.com/office/drawing/2014/main" id="{33983B20-9999-48B7-9B59-8D56F7EBE622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8448" y="6519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41" name="直接箭头连接符 240">
                <a:extLst>
                  <a:ext uri="{FF2B5EF4-FFF2-40B4-BE49-F238E27FC236}">
                    <a16:creationId xmlns:a16="http://schemas.microsoft.com/office/drawing/2014/main" id="{B420D555-4FB1-48E1-B41C-98DC6B739C2B}"/>
                  </a:ext>
                </a:extLst>
              </p:cNvPr>
              <p:cNvCxnSpPr/>
              <p:nvPr>
                <p:custDataLst>
                  <p:tags r:id="rId31"/>
                </p:custDataLst>
              </p:nvPr>
            </p:nvCxnSpPr>
            <p:spPr bwMode="auto">
              <a:xfrm flipH="1" flipV="1">
                <a:off x="8958" y="6746"/>
                <a:ext cx="1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  <p:sp>
            <p:nvSpPr>
              <p:cNvPr id="242" name="椭圆 241">
                <a:extLst>
                  <a:ext uri="{FF2B5EF4-FFF2-40B4-BE49-F238E27FC236}">
                    <a16:creationId xmlns:a16="http://schemas.microsoft.com/office/drawing/2014/main" id="{0E07B432-CFD3-4D32-8D42-1B2C9B1739AA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8901" y="6633"/>
                <a:ext cx="113" cy="113"/>
              </a:xfrm>
              <a:prstGeom prst="ellipse">
                <a:avLst/>
              </a:prstGeom>
              <a:solidFill>
                <a:schemeClr val="bg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44" name="直接箭头连接符 243">
                <a:extLst>
                  <a:ext uri="{FF2B5EF4-FFF2-40B4-BE49-F238E27FC236}">
                    <a16:creationId xmlns:a16="http://schemas.microsoft.com/office/drawing/2014/main" id="{AF6F5380-71C9-4153-9130-A56B497A11E6}"/>
                  </a:ext>
                </a:extLst>
              </p:cNvPr>
              <p:cNvCxnSpPr/>
              <p:nvPr>
                <p:custDataLst>
                  <p:tags r:id="rId33"/>
                </p:custDataLst>
              </p:nvPr>
            </p:nvCxnSpPr>
            <p:spPr bwMode="auto">
              <a:xfrm flipH="1" flipV="1">
                <a:off x="8845" y="5839"/>
                <a:ext cx="1" cy="5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45" name="直接箭头连接符 244">
                <a:extLst>
                  <a:ext uri="{FF2B5EF4-FFF2-40B4-BE49-F238E27FC236}">
                    <a16:creationId xmlns:a16="http://schemas.microsoft.com/office/drawing/2014/main" id="{FC30F388-637A-4581-8028-A0AA74594919}"/>
                  </a:ext>
                </a:extLst>
              </p:cNvPr>
              <p:cNvCxnSpPr/>
              <p:nvPr>
                <p:custDataLst>
                  <p:tags r:id="rId34"/>
                </p:custDataLst>
              </p:nvPr>
            </p:nvCxnSpPr>
            <p:spPr bwMode="auto">
              <a:xfrm flipH="1" flipV="1">
                <a:off x="8561" y="6633"/>
                <a:ext cx="1" cy="17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</p:grpSp>
      <p:grpSp>
        <p:nvGrpSpPr>
          <p:cNvPr id="266" name="组合 265">
            <a:extLst>
              <a:ext uri="{FF2B5EF4-FFF2-40B4-BE49-F238E27FC236}">
                <a16:creationId xmlns:a16="http://schemas.microsoft.com/office/drawing/2014/main" id="{8931E689-4B30-4863-95C5-346F24507B21}"/>
              </a:ext>
            </a:extLst>
          </p:cNvPr>
          <p:cNvGrpSpPr/>
          <p:nvPr/>
        </p:nvGrpSpPr>
        <p:grpSpPr>
          <a:xfrm>
            <a:off x="5544743" y="5661888"/>
            <a:ext cx="2555875" cy="684530"/>
            <a:chOff x="8901" y="3970"/>
            <a:chExt cx="4025" cy="1078"/>
          </a:xfrm>
        </p:grpSpPr>
        <p:grpSp>
          <p:nvGrpSpPr>
            <p:cNvPr id="272" name="组合 271">
              <a:extLst>
                <a:ext uri="{FF2B5EF4-FFF2-40B4-BE49-F238E27FC236}">
                  <a16:creationId xmlns:a16="http://schemas.microsoft.com/office/drawing/2014/main" id="{1CFDFB97-7A1C-4A55-ACFE-B12B6B6018DC}"/>
                </a:ext>
              </a:extLst>
            </p:cNvPr>
            <p:cNvGrpSpPr/>
            <p:nvPr/>
          </p:nvGrpSpPr>
          <p:grpSpPr>
            <a:xfrm>
              <a:off x="8901" y="4083"/>
              <a:ext cx="1191" cy="965"/>
              <a:chOff x="3742" y="5895"/>
              <a:chExt cx="1191" cy="965"/>
            </a:xfrm>
          </p:grpSpPr>
          <p:sp>
            <p:nvSpPr>
              <p:cNvPr id="300" name="Text Box 36">
                <a:extLst>
                  <a:ext uri="{FF2B5EF4-FFF2-40B4-BE49-F238E27FC236}">
                    <a16:creationId xmlns:a16="http://schemas.microsoft.com/office/drawing/2014/main" id="{7B328A43-C573-4EB1-98F6-4D99C8101CF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742" y="5895"/>
                <a:ext cx="1191" cy="73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 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90000"/>
                  </a:lnSpc>
                  <a:spcBef>
                    <a:spcPts val="10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D  </a:t>
                </a:r>
                <a:r>
                  <a:rPr lang="en-US" altLang="zh-CN" sz="14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302" name="直接箭头连接符 301">
                <a:extLst>
                  <a:ext uri="{FF2B5EF4-FFF2-40B4-BE49-F238E27FC236}">
                    <a16:creationId xmlns:a16="http://schemas.microsoft.com/office/drawing/2014/main" id="{585A237E-8A9D-41CD-8F0B-2E58CC91809A}"/>
                  </a:ext>
                </a:extLst>
              </p:cNvPr>
              <p:cNvCxnSpPr/>
              <p:nvPr>
                <p:custDataLst>
                  <p:tags r:id="rId23"/>
                </p:custDataLst>
              </p:nvPr>
            </p:nvCxnSpPr>
            <p:spPr bwMode="auto">
              <a:xfrm flipV="1">
                <a:off x="4521" y="5937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03" name="Text Box 191">
                <a:extLst>
                  <a:ext uri="{FF2B5EF4-FFF2-40B4-BE49-F238E27FC236}">
                    <a16:creationId xmlns:a16="http://schemas.microsoft.com/office/drawing/2014/main" id="{EB13573B-E56B-4F99-9CED-49FC917F1DF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4195" y="6206"/>
                <a:ext cx="22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304" name="等腰三角形 303">
                <a:extLst>
                  <a:ext uri="{FF2B5EF4-FFF2-40B4-BE49-F238E27FC236}">
                    <a16:creationId xmlns:a16="http://schemas.microsoft.com/office/drawing/2014/main" id="{9BC2C8E9-59CA-4656-B19F-0C377E326454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4196" y="6519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06" name="直接箭头连接符 305">
                <a:extLst>
                  <a:ext uri="{FF2B5EF4-FFF2-40B4-BE49-F238E27FC236}">
                    <a16:creationId xmlns:a16="http://schemas.microsoft.com/office/drawing/2014/main" id="{6674B576-FA84-4C65-AF26-38FF0CD5B378}"/>
                  </a:ext>
                </a:extLst>
              </p:cNvPr>
              <p:cNvCxnSpPr/>
              <p:nvPr>
                <p:custDataLst>
                  <p:tags r:id="rId26"/>
                </p:custDataLst>
              </p:nvPr>
            </p:nvCxnSpPr>
            <p:spPr bwMode="auto">
              <a:xfrm flipH="1" flipV="1">
                <a:off x="4309" y="6633"/>
                <a:ext cx="1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grpSp>
          <p:nvGrpSpPr>
            <p:cNvPr id="274" name="组合 273">
              <a:extLst>
                <a:ext uri="{FF2B5EF4-FFF2-40B4-BE49-F238E27FC236}">
                  <a16:creationId xmlns:a16="http://schemas.microsoft.com/office/drawing/2014/main" id="{F91DF22A-DB5C-4972-A847-A8354894A208}"/>
                </a:ext>
              </a:extLst>
            </p:cNvPr>
            <p:cNvGrpSpPr/>
            <p:nvPr/>
          </p:nvGrpSpPr>
          <p:grpSpPr>
            <a:xfrm>
              <a:off x="10317" y="4083"/>
              <a:ext cx="1191" cy="965"/>
              <a:chOff x="5159" y="5895"/>
              <a:chExt cx="1191" cy="965"/>
            </a:xfrm>
          </p:grpSpPr>
          <p:sp>
            <p:nvSpPr>
              <p:cNvPr id="293" name="Text Box 36">
                <a:extLst>
                  <a:ext uri="{FF2B5EF4-FFF2-40B4-BE49-F238E27FC236}">
                    <a16:creationId xmlns:a16="http://schemas.microsoft.com/office/drawing/2014/main" id="{61CF878F-4C19-4A5A-B495-5F477C67BC9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5159" y="5895"/>
                <a:ext cx="1191" cy="73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 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90000"/>
                  </a:lnSpc>
                  <a:spcBef>
                    <a:spcPts val="10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D  </a:t>
                </a:r>
                <a:r>
                  <a:rPr lang="en-US" altLang="zh-CN" sz="14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294" name="直接箭头连接符 293">
                <a:extLst>
                  <a:ext uri="{FF2B5EF4-FFF2-40B4-BE49-F238E27FC236}">
                    <a16:creationId xmlns:a16="http://schemas.microsoft.com/office/drawing/2014/main" id="{F32AD3E0-1F18-41BB-AD5E-5B577629588F}"/>
                  </a:ext>
                </a:extLst>
              </p:cNvPr>
              <p:cNvCxnSpPr/>
              <p:nvPr>
                <p:custDataLst>
                  <p:tags r:id="rId17"/>
                </p:custDataLst>
              </p:nvPr>
            </p:nvCxnSpPr>
            <p:spPr bwMode="auto">
              <a:xfrm flipH="1" flipV="1">
                <a:off x="5386" y="6632"/>
                <a:ext cx="1" cy="11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95" name="直接箭头连接符 294">
                <a:extLst>
                  <a:ext uri="{FF2B5EF4-FFF2-40B4-BE49-F238E27FC236}">
                    <a16:creationId xmlns:a16="http://schemas.microsoft.com/office/drawing/2014/main" id="{F07BC9C3-3282-4239-B8DB-E2BDD3B597BF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V="1">
                <a:off x="5938" y="5937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96" name="Text Box 191">
                <a:extLst>
                  <a:ext uri="{FF2B5EF4-FFF2-40B4-BE49-F238E27FC236}">
                    <a16:creationId xmlns:a16="http://schemas.microsoft.com/office/drawing/2014/main" id="{F80EA83C-9C59-4337-9E58-620F34B3B69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5613" y="6206"/>
                <a:ext cx="22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297" name="等腰三角形 296">
                <a:extLst>
                  <a:ext uri="{FF2B5EF4-FFF2-40B4-BE49-F238E27FC236}">
                    <a16:creationId xmlns:a16="http://schemas.microsoft.com/office/drawing/2014/main" id="{558E7DCD-3EC4-48EB-8F75-1B58A4F9D547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5613" y="6519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99" name="直接箭头连接符 298">
                <a:extLst>
                  <a:ext uri="{FF2B5EF4-FFF2-40B4-BE49-F238E27FC236}">
                    <a16:creationId xmlns:a16="http://schemas.microsoft.com/office/drawing/2014/main" id="{B80A1D42-2EA5-4BE3-BB9A-D553C621C335}"/>
                  </a:ext>
                </a:extLst>
              </p:cNvPr>
              <p:cNvCxnSpPr/>
              <p:nvPr>
                <p:custDataLst>
                  <p:tags r:id="rId21"/>
                </p:custDataLst>
              </p:nvPr>
            </p:nvCxnSpPr>
            <p:spPr bwMode="auto">
              <a:xfrm flipH="1" flipV="1">
                <a:off x="5726" y="6633"/>
                <a:ext cx="1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oval" w="sm" len="sm"/>
                <a:tailEnd type="none"/>
              </a:ln>
              <a:effectLst/>
            </p:spPr>
          </p:cxnSp>
        </p:grpSp>
        <p:grpSp>
          <p:nvGrpSpPr>
            <p:cNvPr id="276" name="组合 275">
              <a:extLst>
                <a:ext uri="{FF2B5EF4-FFF2-40B4-BE49-F238E27FC236}">
                  <a16:creationId xmlns:a16="http://schemas.microsoft.com/office/drawing/2014/main" id="{9A4785B2-1E5A-4830-88B5-031525AA67BD}"/>
                </a:ext>
              </a:extLst>
            </p:cNvPr>
            <p:cNvGrpSpPr/>
            <p:nvPr/>
          </p:nvGrpSpPr>
          <p:grpSpPr>
            <a:xfrm>
              <a:off x="11735" y="4083"/>
              <a:ext cx="1191" cy="965"/>
              <a:chOff x="6576" y="5895"/>
              <a:chExt cx="1191" cy="965"/>
            </a:xfrm>
          </p:grpSpPr>
          <p:sp>
            <p:nvSpPr>
              <p:cNvPr id="286" name="Text Box 36">
                <a:extLst>
                  <a:ext uri="{FF2B5EF4-FFF2-40B4-BE49-F238E27FC236}">
                    <a16:creationId xmlns:a16="http://schemas.microsoft.com/office/drawing/2014/main" id="{EB3AD02D-3E42-4B60-B66B-59C050A2BA6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6576" y="5895"/>
                <a:ext cx="1191" cy="737"/>
              </a:xfrm>
              <a:prstGeom prst="rect">
                <a:avLst/>
              </a:prstGeom>
              <a:solidFill>
                <a:srgbClr val="FFCC99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vert="horz" wrap="square" lIns="0" tIns="0" rIns="0" bIns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200" b="1" u="none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 </a:t>
                </a:r>
                <a:r>
                  <a:rPr lang="en-US" altLang="zh-CN" sz="1600" b="1" u="none" baseline="-25000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Q</a:t>
                </a:r>
              </a:p>
              <a:p>
                <a:pPr algn="l">
                  <a:lnSpc>
                    <a:spcPct val="90000"/>
                  </a:lnSpc>
                  <a:spcBef>
                    <a:spcPts val="100"/>
                  </a:spcBef>
                  <a:spcAft>
                    <a:spcPts val="0"/>
                  </a:spcAft>
                </a:pPr>
                <a:r>
                  <a:rPr lang="en-US" altLang="zh-CN" sz="12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D  </a:t>
                </a:r>
                <a:r>
                  <a:rPr lang="en-US" altLang="zh-CN" sz="14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  </a:t>
                </a:r>
                <a:r>
                  <a:rPr lang="en-US" altLang="zh-CN" sz="1600" b="1" dirty="0">
                    <a:solidFill>
                      <a:schemeClr val="tx1"/>
                    </a:solidFill>
                    <a:uFillTx/>
                    <a:latin typeface="宋体" panose="02010600030101010101" pitchFamily="2" charset="-122"/>
                    <a:sym typeface="+mn-ea"/>
                  </a:rPr>
                  <a:t>R</a:t>
                </a:r>
                <a:endParaRPr lang="en-US" altLang="zh-CN" sz="1600" b="1" u="none" dirty="0">
                  <a:latin typeface="宋体" panose="02010600030101010101" pitchFamily="2" charset="-122"/>
                  <a:sym typeface="+mn-ea"/>
                </a:endParaRPr>
              </a:p>
            </p:txBody>
          </p:sp>
          <p:cxnSp>
            <p:nvCxnSpPr>
              <p:cNvPr id="287" name="直接箭头连接符 286">
                <a:extLst>
                  <a:ext uri="{FF2B5EF4-FFF2-40B4-BE49-F238E27FC236}">
                    <a16:creationId xmlns:a16="http://schemas.microsoft.com/office/drawing/2014/main" id="{0BC2E37F-DFB3-4FE7-814D-B24E4A9AF2CB}"/>
                  </a:ext>
                </a:extLst>
              </p:cNvPr>
              <p:cNvCxnSpPr/>
              <p:nvPr>
                <p:custDataLst>
                  <p:tags r:id="rId11"/>
                </p:custDataLst>
              </p:nvPr>
            </p:nvCxnSpPr>
            <p:spPr bwMode="auto">
              <a:xfrm flipH="1" flipV="1">
                <a:off x="6803" y="6632"/>
                <a:ext cx="1" cy="113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88" name="直接箭头连接符 287">
                <a:extLst>
                  <a:ext uri="{FF2B5EF4-FFF2-40B4-BE49-F238E27FC236}">
                    <a16:creationId xmlns:a16="http://schemas.microsoft.com/office/drawing/2014/main" id="{165E7FCE-2ACD-43C4-9400-89A47DD3FEF8}"/>
                  </a:ext>
                </a:extLst>
              </p:cNvPr>
              <p:cNvCxnSpPr/>
              <p:nvPr>
                <p:custDataLst>
                  <p:tags r:id="rId12"/>
                </p:custDataLst>
              </p:nvPr>
            </p:nvCxnSpPr>
            <p:spPr bwMode="auto">
              <a:xfrm flipV="1">
                <a:off x="7355" y="5937"/>
                <a:ext cx="17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89" name="Text Box 191">
                <a:extLst>
                  <a:ext uri="{FF2B5EF4-FFF2-40B4-BE49-F238E27FC236}">
                    <a16:creationId xmlns:a16="http://schemas.microsoft.com/office/drawing/2014/main" id="{3126230A-C6BC-47CC-9E88-361AABB7E47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7030" y="6206"/>
                <a:ext cx="227" cy="28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C</a:t>
                </a:r>
              </a:p>
            </p:txBody>
          </p:sp>
          <p:sp>
            <p:nvSpPr>
              <p:cNvPr id="290" name="等腰三角形 289">
                <a:extLst>
                  <a:ext uri="{FF2B5EF4-FFF2-40B4-BE49-F238E27FC236}">
                    <a16:creationId xmlns:a16="http://schemas.microsoft.com/office/drawing/2014/main" id="{A6C78DAD-9478-4CB9-B419-24C1776A1F37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>
              <a:xfrm>
                <a:off x="7030" y="6519"/>
                <a:ext cx="227" cy="113"/>
              </a:xfrm>
              <a:prstGeom prst="triangl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scene3d>
                <a:camera prst="orthographicFront">
                  <a:rot lat="0" lon="0" rev="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92" name="直接箭头连接符 291">
                <a:extLst>
                  <a:ext uri="{FF2B5EF4-FFF2-40B4-BE49-F238E27FC236}">
                    <a16:creationId xmlns:a16="http://schemas.microsoft.com/office/drawing/2014/main" id="{843A0AA2-4570-4477-AC86-35603A373123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7143" y="6633"/>
                <a:ext cx="1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/>
              </a:ln>
              <a:effectLst/>
            </p:spPr>
          </p:cxnSp>
        </p:grpSp>
        <p:grpSp>
          <p:nvGrpSpPr>
            <p:cNvPr id="277" name="组合 276">
              <a:extLst>
                <a:ext uri="{FF2B5EF4-FFF2-40B4-BE49-F238E27FC236}">
                  <a16:creationId xmlns:a16="http://schemas.microsoft.com/office/drawing/2014/main" id="{BAF3530F-5E65-4088-9415-372B31DA1D99}"/>
                </a:ext>
              </a:extLst>
            </p:cNvPr>
            <p:cNvGrpSpPr/>
            <p:nvPr/>
          </p:nvGrpSpPr>
          <p:grpSpPr>
            <a:xfrm>
              <a:off x="9241" y="3970"/>
              <a:ext cx="1304" cy="964"/>
              <a:chOff x="6237" y="3741"/>
              <a:chExt cx="1304" cy="964"/>
            </a:xfrm>
          </p:grpSpPr>
          <p:cxnSp>
            <p:nvCxnSpPr>
              <p:cNvPr id="283" name="直接箭头连接符 282">
                <a:extLst>
                  <a:ext uri="{FF2B5EF4-FFF2-40B4-BE49-F238E27FC236}">
                    <a16:creationId xmlns:a16="http://schemas.microsoft.com/office/drawing/2014/main" id="{5128E40D-58A0-497A-8D4D-C70909CA662D}"/>
                  </a:ext>
                </a:extLst>
              </p:cNvPr>
              <p:cNvCxnSpPr/>
              <p:nvPr>
                <p:custDataLst>
                  <p:tags r:id="rId7"/>
                </p:custDataLst>
              </p:nvPr>
            </p:nvCxnSpPr>
            <p:spPr bwMode="auto">
              <a:xfrm flipH="1" flipV="1">
                <a:off x="7200" y="3741"/>
                <a:ext cx="1" cy="96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84" name="直接箭头连接符 283">
                <a:extLst>
                  <a:ext uri="{FF2B5EF4-FFF2-40B4-BE49-F238E27FC236}">
                    <a16:creationId xmlns:a16="http://schemas.microsoft.com/office/drawing/2014/main" id="{0350361C-4046-4A0F-BC2C-3EB060E8B423}"/>
                  </a:ext>
                </a:extLst>
              </p:cNvPr>
              <p:cNvCxnSpPr/>
              <p:nvPr>
                <p:custDataLst>
                  <p:tags r:id="rId8"/>
                </p:custDataLst>
              </p:nvPr>
            </p:nvCxnSpPr>
            <p:spPr bwMode="auto">
              <a:xfrm flipH="1">
                <a:off x="6237" y="3741"/>
                <a:ext cx="96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cxnSp>
            <p:nvCxnSpPr>
              <p:cNvPr id="285" name="直接箭头连接符 284">
                <a:extLst>
                  <a:ext uri="{FF2B5EF4-FFF2-40B4-BE49-F238E27FC236}">
                    <a16:creationId xmlns:a16="http://schemas.microsoft.com/office/drawing/2014/main" id="{0F8B1F5A-B9CB-4F33-B4B2-71D1D0D8849A}"/>
                  </a:ext>
                </a:extLst>
              </p:cNvPr>
              <p:cNvCxnSpPr/>
              <p:nvPr>
                <p:custDataLst>
                  <p:tags r:id="rId9"/>
                </p:custDataLst>
              </p:nvPr>
            </p:nvCxnSpPr>
            <p:spPr bwMode="auto">
              <a:xfrm flipH="1" flipV="1">
                <a:off x="7201" y="4704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278" name="组合 277">
              <a:extLst>
                <a:ext uri="{FF2B5EF4-FFF2-40B4-BE49-F238E27FC236}">
                  <a16:creationId xmlns:a16="http://schemas.microsoft.com/office/drawing/2014/main" id="{B35DAF85-97C6-44ED-8163-D1D6F0C8EE7E}"/>
                </a:ext>
              </a:extLst>
            </p:cNvPr>
            <p:cNvGrpSpPr/>
            <p:nvPr/>
          </p:nvGrpSpPr>
          <p:grpSpPr>
            <a:xfrm>
              <a:off x="10658" y="3971"/>
              <a:ext cx="1304" cy="964"/>
              <a:chOff x="6237" y="3741"/>
              <a:chExt cx="1304" cy="964"/>
            </a:xfrm>
          </p:grpSpPr>
          <p:cxnSp>
            <p:nvCxnSpPr>
              <p:cNvPr id="280" name="直接箭头连接符 279">
                <a:extLst>
                  <a:ext uri="{FF2B5EF4-FFF2-40B4-BE49-F238E27FC236}">
                    <a16:creationId xmlns:a16="http://schemas.microsoft.com/office/drawing/2014/main" id="{B5DDE8CE-AC7E-4166-A888-ECBDBACD97EA}"/>
                  </a:ext>
                </a:extLst>
              </p:cNvPr>
              <p:cNvCxnSpPr/>
              <p:nvPr>
                <p:custDataLst>
                  <p:tags r:id="rId4"/>
                </p:custDataLst>
              </p:nvPr>
            </p:nvCxnSpPr>
            <p:spPr bwMode="auto">
              <a:xfrm flipH="1" flipV="1">
                <a:off x="7200" y="3741"/>
                <a:ext cx="1" cy="964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81" name="直接箭头连接符 280">
                <a:extLst>
                  <a:ext uri="{FF2B5EF4-FFF2-40B4-BE49-F238E27FC236}">
                    <a16:creationId xmlns:a16="http://schemas.microsoft.com/office/drawing/2014/main" id="{A5A7DF51-2EA2-42A7-BD8B-73634027E04B}"/>
                  </a:ext>
                </a:extLst>
              </p:cNvPr>
              <p:cNvCxnSpPr/>
              <p:nvPr>
                <p:custDataLst>
                  <p:tags r:id="rId5"/>
                </p:custDataLst>
              </p:nvPr>
            </p:nvCxnSpPr>
            <p:spPr bwMode="auto">
              <a:xfrm flipH="1">
                <a:off x="6237" y="3741"/>
                <a:ext cx="964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  <a:effectLst/>
            </p:spPr>
          </p:cxnSp>
          <p:cxnSp>
            <p:nvCxnSpPr>
              <p:cNvPr id="282" name="直接箭头连接符 281">
                <a:extLst>
                  <a:ext uri="{FF2B5EF4-FFF2-40B4-BE49-F238E27FC236}">
                    <a16:creationId xmlns:a16="http://schemas.microsoft.com/office/drawing/2014/main" id="{2285DCC3-ACD7-4BDD-9C2F-8B05C940D142}"/>
                  </a:ext>
                </a:extLst>
              </p:cNvPr>
              <p:cNvCxnSpPr/>
              <p:nvPr>
                <p:custDataLst>
                  <p:tags r:id="rId6"/>
                </p:custDataLst>
              </p:nvPr>
            </p:nvCxnSpPr>
            <p:spPr bwMode="auto">
              <a:xfrm flipH="1" flipV="1">
                <a:off x="7201" y="4703"/>
                <a:ext cx="340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</p:grpSp>
      <p:sp>
        <p:nvSpPr>
          <p:cNvPr id="279" name="AutoShape 62">
            <a:hlinkClick r:id="rId104" action="ppaction://hlinksldjump"/>
            <a:extLst>
              <a:ext uri="{FF2B5EF4-FFF2-40B4-BE49-F238E27FC236}">
                <a16:creationId xmlns:a16="http://schemas.microsoft.com/office/drawing/2014/main" id="{67E28AE1-A8DC-4FEE-8C0E-74FE5F33F2C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148000" y="652410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308" name="AutoShape 230">
            <a:hlinkClick r:id="rId105" action="ppaction://hlinksldjump" highlightClick="1"/>
            <a:extLst>
              <a:ext uri="{FF2B5EF4-FFF2-40B4-BE49-F238E27FC236}">
                <a16:creationId xmlns:a16="http://schemas.microsoft.com/office/drawing/2014/main" id="{E07A6B8F-D25C-4A91-94AB-298F8F20486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068000" y="6525344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50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2" grpId="0" animBg="1"/>
      <p:bldP spid="219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EDBB9EF-6320-4DCB-BA23-1753F9A51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7</a:t>
            </a:fld>
            <a:endParaRPr lang="en-US" altLang="zh-CN"/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309A01AA-447B-40A9-B508-CFDED6E27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332656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+mn-ea"/>
              </a:rPr>
              <a:t>※</a:t>
            </a:r>
            <a:r>
              <a:rPr lang="zh-CN" altLang="en-US" b="1" dirty="0">
                <a:solidFill>
                  <a:srgbClr val="FF3399"/>
                </a:solidFill>
                <a:latin typeface="+mn-ea"/>
              </a:rPr>
              <a:t>程序设计基础回顾：</a:t>
            </a:r>
            <a:endParaRPr lang="zh-CN" altLang="en-US" sz="2000" b="1" dirty="0">
              <a:latin typeface="+mn-ea"/>
              <a:ea typeface="+mn-ea"/>
            </a:endParaRPr>
          </a:p>
        </p:txBody>
      </p:sp>
      <p:sp>
        <p:nvSpPr>
          <p:cNvPr id="5" name="Text Box 205">
            <a:extLst>
              <a:ext uri="{FF2B5EF4-FFF2-40B4-BE49-F238E27FC236}">
                <a16:creationId xmlns:a16="http://schemas.microsoft.com/office/drawing/2014/main" id="{D5A7BC2D-9EB9-4ED6-BDF0-73F83F639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836712"/>
            <a:ext cx="8785225" cy="42661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 ⑴软件开发流程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⑵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高级语言编程基础  </a:t>
            </a:r>
            <a:r>
              <a:rPr lang="en-US" altLang="zh-CN" sz="1800" b="1" dirty="0">
                <a:latin typeface="+mn-ea"/>
                <a:ea typeface="+mn-ea"/>
              </a:rPr>
              <a:t>(C</a:t>
            </a:r>
            <a:r>
              <a:rPr lang="zh-CN" altLang="en-US" sz="1800" b="1" dirty="0">
                <a:latin typeface="+mn-ea"/>
                <a:ea typeface="+mn-ea"/>
              </a:rPr>
              <a:t>语言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+mn-ea"/>
                <a:ea typeface="+mn-ea"/>
              </a:rPr>
              <a:t>   </a:t>
            </a:r>
            <a:r>
              <a:rPr lang="zh-CN" altLang="en-US" sz="2200" b="1" u="sng" dirty="0">
                <a:latin typeface="+mn-ea"/>
                <a:ea typeface="+mn-ea"/>
              </a:rPr>
              <a:t>数据类型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基本</a:t>
            </a:r>
            <a:r>
              <a:rPr lang="en-US" altLang="zh-CN" sz="1800" b="1" dirty="0">
                <a:latin typeface="+mn-ea"/>
                <a:ea typeface="+mn-ea"/>
              </a:rPr>
              <a:t>+</a:t>
            </a:r>
            <a:r>
              <a:rPr lang="zh-CN" altLang="en-US" sz="1800" b="1" dirty="0">
                <a:latin typeface="+mn-ea"/>
                <a:ea typeface="+mn-ea"/>
              </a:rPr>
              <a:t>复合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r>
              <a:rPr lang="zh-CN" altLang="en-US" sz="2200" b="1" u="sng" dirty="0">
                <a:latin typeface="+mn-ea"/>
                <a:ea typeface="+mn-ea"/>
              </a:rPr>
              <a:t>数据运算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表达式</a:t>
            </a:r>
            <a:r>
              <a:rPr lang="en-US" altLang="zh-CN" sz="1800" b="1" dirty="0">
                <a:latin typeface="+mn-ea"/>
                <a:ea typeface="+mn-ea"/>
              </a:rPr>
              <a:t>[3</a:t>
            </a:r>
            <a:r>
              <a:rPr lang="zh-CN" altLang="en-US" sz="1800" b="1" dirty="0">
                <a:latin typeface="+mn-ea"/>
                <a:ea typeface="+mn-ea"/>
              </a:rPr>
              <a:t>类</a:t>
            </a:r>
            <a:r>
              <a:rPr lang="en-US" altLang="zh-CN" sz="1800" b="1" dirty="0">
                <a:latin typeface="+mn-ea"/>
                <a:ea typeface="+mn-ea"/>
              </a:rPr>
              <a:t>])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+mn-ea"/>
                <a:ea typeface="+mn-ea"/>
              </a:rPr>
              <a:t>   </a:t>
            </a:r>
            <a:r>
              <a:rPr lang="zh-CN" altLang="en-US" sz="2200" b="1" u="sng" dirty="0">
                <a:latin typeface="+mn-ea"/>
                <a:ea typeface="+mn-ea"/>
              </a:rPr>
              <a:t>语句功能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声明</a:t>
            </a:r>
            <a:r>
              <a:rPr lang="en-US" altLang="zh-CN" sz="1800" b="1" dirty="0">
                <a:latin typeface="+mn-ea"/>
                <a:ea typeface="+mn-ea"/>
              </a:rPr>
              <a:t>/</a:t>
            </a:r>
            <a:r>
              <a:rPr lang="zh-CN" altLang="en-US" sz="1800" b="1" dirty="0">
                <a:latin typeface="+mn-ea"/>
                <a:ea typeface="+mn-ea"/>
              </a:rPr>
              <a:t>赋值</a:t>
            </a:r>
            <a:r>
              <a:rPr lang="en-US" altLang="zh-CN" sz="1800" b="1" dirty="0">
                <a:latin typeface="+mn-ea"/>
                <a:ea typeface="+mn-ea"/>
              </a:rPr>
              <a:t>/</a:t>
            </a:r>
            <a:r>
              <a:rPr lang="zh-CN" altLang="en-US" sz="1800" b="1" dirty="0">
                <a:latin typeface="+mn-ea"/>
                <a:ea typeface="+mn-ea"/>
              </a:rPr>
              <a:t>分支</a:t>
            </a:r>
            <a:r>
              <a:rPr lang="en-US" altLang="zh-CN" sz="1800" b="1" dirty="0">
                <a:latin typeface="+mn-ea"/>
                <a:ea typeface="+mn-ea"/>
              </a:rPr>
              <a:t>/</a:t>
            </a:r>
            <a:r>
              <a:rPr lang="zh-CN" altLang="en-US" sz="1800" b="1" dirty="0">
                <a:latin typeface="+mn-ea"/>
                <a:ea typeface="+mn-ea"/>
              </a:rPr>
              <a:t>循环</a:t>
            </a:r>
            <a:r>
              <a:rPr lang="en-US" altLang="zh-CN" sz="1800" b="1" dirty="0">
                <a:latin typeface="+mn-ea"/>
                <a:ea typeface="+mn-ea"/>
              </a:rPr>
              <a:t>/</a:t>
            </a:r>
            <a:r>
              <a:rPr lang="zh-CN" altLang="en-US" sz="1800" b="1" dirty="0">
                <a:latin typeface="+mn-ea"/>
                <a:ea typeface="+mn-ea"/>
              </a:rPr>
              <a:t>调用</a:t>
            </a:r>
            <a:r>
              <a:rPr lang="en-US" altLang="zh-CN" sz="1800" b="1" dirty="0">
                <a:latin typeface="+mn-ea"/>
                <a:ea typeface="+mn-ea"/>
              </a:rPr>
              <a:t>/</a:t>
            </a:r>
            <a:r>
              <a:rPr lang="zh-CN" altLang="en-US" sz="1800" b="1" dirty="0">
                <a:latin typeface="+mn-ea"/>
                <a:ea typeface="+mn-ea"/>
              </a:rPr>
              <a:t>返回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+mn-ea"/>
                <a:ea typeface="+mn-ea"/>
              </a:rPr>
              <a:t>   </a:t>
            </a:r>
            <a:r>
              <a:rPr lang="zh-CN" altLang="en-US" sz="2200" b="1" u="sng" dirty="0">
                <a:solidFill>
                  <a:srgbClr val="000000"/>
                </a:solidFill>
                <a:latin typeface="宋体"/>
                <a:ea typeface="宋体"/>
              </a:rPr>
              <a:t>程序结构</a:t>
            </a:r>
            <a:r>
              <a:rPr lang="en-US" altLang="zh-CN" sz="1800" b="1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数据声明</a:t>
            </a:r>
            <a:r>
              <a:rPr lang="en-US" altLang="zh-CN" sz="1800" b="1" dirty="0">
                <a:solidFill>
                  <a:srgbClr val="000000"/>
                </a:solidFill>
                <a:latin typeface="宋体"/>
                <a:ea typeface="宋体"/>
              </a:rPr>
              <a:t>+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语句序列</a:t>
            </a:r>
            <a:r>
              <a:rPr lang="en-US" altLang="zh-CN" sz="1800" b="1" dirty="0">
                <a:solidFill>
                  <a:srgbClr val="000000"/>
                </a:solidFill>
                <a:latin typeface="宋体"/>
                <a:ea typeface="宋体"/>
              </a:rPr>
              <a:t>+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唯一入口</a:t>
            </a:r>
            <a:r>
              <a:rPr lang="en-US" altLang="zh-CN" sz="1800" b="1" dirty="0">
                <a:solidFill>
                  <a:srgbClr val="000000"/>
                </a:solidFill>
                <a:latin typeface="宋体"/>
                <a:ea typeface="宋体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</a:rPr>
              <a:t>⑶机器语言程序组成与执行</a:t>
            </a:r>
            <a:endParaRPr lang="en-US" altLang="zh-CN" sz="2200" b="1" dirty="0">
              <a:solidFill>
                <a:srgbClr val="C00000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000000"/>
                </a:solidFill>
                <a:latin typeface="宋体"/>
                <a:ea typeface="宋体"/>
              </a:rPr>
              <a:t>   </a:t>
            </a:r>
            <a:r>
              <a:rPr lang="zh-CN" altLang="en-US" sz="2200" b="1" u="sng" dirty="0">
                <a:solidFill>
                  <a:srgbClr val="000000"/>
                </a:solidFill>
                <a:latin typeface="宋体"/>
                <a:ea typeface="宋体"/>
              </a:rPr>
              <a:t>程序组成</a:t>
            </a:r>
            <a:r>
              <a:rPr lang="en-US" altLang="zh-CN" sz="1800" b="1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指令序列</a:t>
            </a:r>
            <a:r>
              <a:rPr lang="en-US" altLang="zh-CN" sz="1800" b="1" dirty="0">
                <a:solidFill>
                  <a:srgbClr val="000000"/>
                </a:solidFill>
                <a:latin typeface="宋体"/>
                <a:ea typeface="宋体"/>
              </a:rPr>
              <a:t>)</a:t>
            </a:r>
            <a:r>
              <a:rPr lang="zh-CN" altLang="en-US" sz="2200" b="1" dirty="0">
                <a:solidFill>
                  <a:srgbClr val="000000"/>
                </a:solidFill>
                <a:latin typeface="宋体"/>
                <a:ea typeface="宋体"/>
              </a:rPr>
              <a:t>，   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宋体"/>
                <a:ea typeface="宋体"/>
              </a:rPr>
              <a:t>←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语句</a:t>
            </a:r>
            <a:r>
              <a:rPr lang="en-US" altLang="zh-CN" sz="1800" b="1" dirty="0">
                <a:solidFill>
                  <a:srgbClr val="000000"/>
                </a:solidFill>
                <a:latin typeface="宋体"/>
                <a:ea typeface="宋体"/>
              </a:rPr>
              <a:t>: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指令＝</a:t>
            </a:r>
            <a:r>
              <a:rPr lang="en-US" altLang="zh-CN" sz="1800" b="1" dirty="0">
                <a:solidFill>
                  <a:srgbClr val="000000"/>
                </a:solidFill>
                <a:latin typeface="宋体"/>
                <a:ea typeface="宋体"/>
              </a:rPr>
              <a:t>1:n</a:t>
            </a:r>
            <a:endParaRPr lang="en-US" altLang="zh-CN" sz="1800" b="1" u="sng" dirty="0">
              <a:solidFill>
                <a:srgbClr val="000000"/>
              </a:solidFill>
              <a:latin typeface="宋体"/>
              <a:ea typeface="宋体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000000"/>
                </a:solidFill>
                <a:latin typeface="宋体"/>
                <a:ea typeface="宋体"/>
              </a:rPr>
              <a:t>   </a:t>
            </a:r>
            <a:r>
              <a:rPr lang="zh-CN" altLang="en-US" sz="2200" b="1" u="sng" dirty="0">
                <a:solidFill>
                  <a:srgbClr val="000000"/>
                </a:solidFill>
                <a:latin typeface="宋体"/>
                <a:ea typeface="宋体"/>
              </a:rPr>
              <a:t>程序存放</a:t>
            </a:r>
            <a:r>
              <a:rPr lang="en-US" altLang="zh-CN" sz="1800" b="1" dirty="0">
                <a:solidFill>
                  <a:srgbClr val="000000"/>
                </a:solidFill>
                <a:latin typeface="宋体"/>
                <a:ea typeface="宋体"/>
              </a:rPr>
              <a:t>(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内存中</a:t>
            </a:r>
            <a:r>
              <a:rPr lang="en-US" altLang="zh-CN" sz="1800" b="1" dirty="0">
                <a:solidFill>
                  <a:srgbClr val="000000"/>
                </a:solidFill>
                <a:latin typeface="宋体"/>
                <a:ea typeface="宋体"/>
              </a:rPr>
              <a:t>)</a:t>
            </a:r>
            <a:r>
              <a:rPr lang="zh-CN" altLang="en-US" sz="2200" b="1" dirty="0">
                <a:solidFill>
                  <a:srgbClr val="000000"/>
                </a:solidFill>
                <a:latin typeface="宋体"/>
                <a:ea typeface="宋体"/>
              </a:rPr>
              <a:t>，</a:t>
            </a:r>
            <a:r>
              <a:rPr lang="en-US" altLang="zh-CN" sz="2200" b="1" dirty="0">
                <a:solidFill>
                  <a:srgbClr val="000000"/>
                </a:solidFill>
                <a:latin typeface="宋体"/>
                <a:ea typeface="宋体"/>
              </a:rPr>
              <a:t>    </a:t>
            </a:r>
            <a:r>
              <a:rPr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  </a:t>
            </a:r>
            <a:r>
              <a:rPr lang="en-US" altLang="zh-CN" sz="1800" b="1" dirty="0">
                <a:solidFill>
                  <a:srgbClr val="000000"/>
                </a:solidFill>
                <a:latin typeface="宋体"/>
                <a:ea typeface="宋体"/>
              </a:rPr>
              <a:t>←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如指针类型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+mn-ea"/>
                <a:ea typeface="+mn-ea"/>
              </a:rPr>
              <a:t>   </a:t>
            </a:r>
            <a:r>
              <a:rPr lang="zh-CN" altLang="en-US" sz="2200" b="1" u="sng" dirty="0">
                <a:latin typeface="+mn-ea"/>
                <a:ea typeface="+mn-ea"/>
              </a:rPr>
              <a:t>程序执行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串行执行指令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solidFill>
                  <a:srgbClr val="000000"/>
                </a:solidFill>
                <a:latin typeface="宋体"/>
                <a:ea typeface="宋体"/>
              </a:rPr>
              <a:t> </a:t>
            </a:r>
            <a:r>
              <a:rPr lang="zh-CN" altLang="en-US" sz="1800" b="1" dirty="0">
                <a:solidFill>
                  <a:srgbClr val="000000"/>
                </a:solidFill>
                <a:latin typeface="宋体"/>
                <a:ea typeface="宋体"/>
              </a:rPr>
              <a:t>  ←有转移型指令</a:t>
            </a:r>
            <a:endParaRPr lang="en-US" altLang="zh-CN" sz="20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6A5435D-7636-4ACE-933A-0C98C9EAD5F1}"/>
              </a:ext>
            </a:extLst>
          </p:cNvPr>
          <p:cNvGrpSpPr/>
          <p:nvPr/>
        </p:nvGrpSpPr>
        <p:grpSpPr>
          <a:xfrm>
            <a:off x="1116000" y="872800"/>
            <a:ext cx="6984392" cy="756000"/>
            <a:chOff x="1116000" y="2664000"/>
            <a:chExt cx="6984392" cy="756000"/>
          </a:xfrm>
        </p:grpSpPr>
        <p:sp>
          <p:nvSpPr>
            <p:cNvPr id="7" name="Text Box 77">
              <a:extLst>
                <a:ext uri="{FF2B5EF4-FFF2-40B4-BE49-F238E27FC236}">
                  <a16:creationId xmlns:a16="http://schemas.microsoft.com/office/drawing/2014/main" id="{7EED3C90-640D-4867-A081-9CE7DDE576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392" y="3132000"/>
              <a:ext cx="720000" cy="2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lIns="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zh-CN" altLang="en-US" sz="1600" b="1" dirty="0">
                  <a:latin typeface="宋体" pitchFamily="2" charset="-122"/>
                </a:rPr>
                <a:t>源程序</a:t>
              </a:r>
              <a:endParaRPr lang="en-US" altLang="zh-CN" sz="1600" b="1" dirty="0">
                <a:latin typeface="宋体" pitchFamily="2" charset="-122"/>
              </a:endParaRP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841C2135-809B-4EF1-86F0-2D777157AF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8392" y="3132000"/>
              <a:ext cx="936000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10800" rIns="18000" bIns="10800" anchor="ctr" anchorCtr="0">
              <a:noAutofit/>
            </a:bodyPr>
            <a:lstStyle>
              <a:lvl1pPr eaLnBrk="0" hangingPunct="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0"/>
                </a:spcBef>
                <a:buFontTx/>
                <a:buNone/>
              </a:pPr>
              <a:r>
                <a:rPr lang="zh-CN" altLang="en-US" sz="1600" dirty="0">
                  <a:latin typeface="+mn-ea"/>
                  <a:ea typeface="+mn-ea"/>
                </a:rPr>
                <a:t>编译器</a:t>
              </a: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97A8D621-2124-4FF9-8B9F-B22C844A94E0}"/>
                </a:ext>
              </a:extLst>
            </p:cNvPr>
            <p:cNvCxnSpPr/>
            <p:nvPr/>
          </p:nvCxnSpPr>
          <p:spPr bwMode="auto">
            <a:xfrm flipV="1">
              <a:off x="3060392" y="3276000"/>
              <a:ext cx="288000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6FAF7B5A-6AFB-45CC-ABF3-80FF1C6F9CD8}"/>
                </a:ext>
              </a:extLst>
            </p:cNvPr>
            <p:cNvCxnSpPr/>
            <p:nvPr/>
          </p:nvCxnSpPr>
          <p:spPr bwMode="auto">
            <a:xfrm flipV="1">
              <a:off x="4285326" y="3276000"/>
              <a:ext cx="288000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" name="Text Box 77">
              <a:extLst>
                <a:ext uri="{FF2B5EF4-FFF2-40B4-BE49-F238E27FC236}">
                  <a16:creationId xmlns:a16="http://schemas.microsoft.com/office/drawing/2014/main" id="{CC76CA02-03C2-41A7-82C0-CB576B88CC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392" y="3132000"/>
              <a:ext cx="900000" cy="2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lIns="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zh-CN" altLang="en-US" sz="1600" b="1" dirty="0">
                  <a:latin typeface="宋体" pitchFamily="2" charset="-122"/>
                </a:rPr>
                <a:t>目标程序</a:t>
              </a:r>
              <a:endParaRPr lang="en-US" altLang="zh-CN" sz="1600" b="1" dirty="0">
                <a:latin typeface="宋体" pitchFamily="2" charset="-122"/>
              </a:endParaRPr>
            </a:p>
          </p:txBody>
        </p:sp>
        <p:sp>
          <p:nvSpPr>
            <p:cNvPr id="12" name="Text Box 8">
              <a:extLst>
                <a:ext uri="{FF2B5EF4-FFF2-40B4-BE49-F238E27FC236}">
                  <a16:creationId xmlns:a16="http://schemas.microsoft.com/office/drawing/2014/main" id="{9ED8BBBE-062F-4DD4-B125-72DD2E08CB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0392" y="3132000"/>
              <a:ext cx="936000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10800" rIns="18000" bIns="10800" anchor="ctr" anchorCtr="0">
              <a:noAutofit/>
            </a:bodyPr>
            <a:lstStyle>
              <a:lvl1pPr eaLnBrk="0" hangingPunct="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0"/>
                </a:spcBef>
                <a:buFontTx/>
                <a:buNone/>
              </a:pPr>
              <a:r>
                <a:rPr lang="zh-CN" altLang="en-US" sz="1600" dirty="0">
                  <a:latin typeface="+mn-ea"/>
                  <a:ea typeface="+mn-ea"/>
                </a:rPr>
                <a:t>链接器</a:t>
              </a: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DC21F461-65BC-4154-963F-ED75F9E5754A}"/>
                </a:ext>
              </a:extLst>
            </p:cNvPr>
            <p:cNvCxnSpPr/>
            <p:nvPr/>
          </p:nvCxnSpPr>
          <p:spPr bwMode="auto">
            <a:xfrm flipV="1">
              <a:off x="5471458" y="3276000"/>
              <a:ext cx="288000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" name="Text Box 77">
              <a:extLst>
                <a:ext uri="{FF2B5EF4-FFF2-40B4-BE49-F238E27FC236}">
                  <a16:creationId xmlns:a16="http://schemas.microsoft.com/office/drawing/2014/main" id="{58F591D9-B97A-4323-9CCD-984EC8768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84392" y="3132000"/>
              <a:ext cx="1116000" cy="2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lIns="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zh-CN" altLang="en-US" sz="1600" b="1" dirty="0">
                  <a:latin typeface="宋体" pitchFamily="2" charset="-122"/>
                </a:rPr>
                <a:t>可执行程序</a:t>
              </a:r>
              <a:endParaRPr lang="en-US" altLang="zh-CN" sz="1600" b="1" dirty="0">
                <a:latin typeface="宋体" pitchFamily="2" charset="-122"/>
              </a:endParaRP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BAB53237-938E-470E-8D09-84CF341F22EC}"/>
                </a:ext>
              </a:extLst>
            </p:cNvPr>
            <p:cNvCxnSpPr/>
            <p:nvPr/>
          </p:nvCxnSpPr>
          <p:spPr bwMode="auto">
            <a:xfrm flipV="1">
              <a:off x="6696392" y="3276000"/>
              <a:ext cx="288000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" name="Text Box 77">
              <a:extLst>
                <a:ext uri="{FF2B5EF4-FFF2-40B4-BE49-F238E27FC236}">
                  <a16:creationId xmlns:a16="http://schemas.microsoft.com/office/drawing/2014/main" id="{5CAC12E2-5320-4A6F-BCCB-569849C3F1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0000" y="2664000"/>
              <a:ext cx="720000" cy="2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lIns="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zh-CN" altLang="en-US" sz="1600" b="1" dirty="0">
                  <a:latin typeface="宋体" pitchFamily="2" charset="-122"/>
                </a:rPr>
                <a:t>库函数</a:t>
              </a:r>
              <a:endParaRPr lang="en-US" altLang="zh-CN" sz="1600" b="1" dirty="0">
                <a:latin typeface="宋体" pitchFamily="2" charset="-122"/>
              </a:endParaRPr>
            </a:p>
          </p:txBody>
        </p:sp>
        <p:sp>
          <p:nvSpPr>
            <p:cNvPr id="17" name="Text Box 77">
              <a:extLst>
                <a:ext uri="{FF2B5EF4-FFF2-40B4-BE49-F238E27FC236}">
                  <a16:creationId xmlns:a16="http://schemas.microsoft.com/office/drawing/2014/main" id="{E4166188-49B7-4292-8E55-F96777E33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6000" y="2664000"/>
              <a:ext cx="900000" cy="2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  <a:headEnd/>
              <a:tailEnd/>
            </a:ln>
            <a:effectLst/>
          </p:spPr>
          <p:txBody>
            <a:bodyPr lIns="0" tIns="10800" rIns="18000" bIns="1080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zh-CN" altLang="en-US" sz="1600" b="1" dirty="0">
                  <a:latin typeface="宋体" pitchFamily="2" charset="-122"/>
                </a:rPr>
                <a:t>启动函数</a:t>
              </a:r>
              <a:endParaRPr lang="en-US" altLang="zh-CN" sz="1600" b="1" dirty="0">
                <a:latin typeface="宋体" pitchFamily="2" charset="-122"/>
              </a:endParaRPr>
            </a:p>
          </p:txBody>
        </p: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B71AE393-C328-4274-9CF4-94D74799464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976408" y="2952000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830F90A8-88D2-42AC-A2D4-B28260D3BD7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480392" y="2952000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0" name="Text Box 8">
              <a:extLst>
                <a:ext uri="{FF2B5EF4-FFF2-40B4-BE49-F238E27FC236}">
                  <a16:creationId xmlns:a16="http://schemas.microsoft.com/office/drawing/2014/main" id="{1521539A-2BDA-4444-A871-29E4B57B35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000" y="3132000"/>
              <a:ext cx="936000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0" tIns="10800" rIns="18000" bIns="10800" anchor="ctr" anchorCtr="0">
              <a:noAutofit/>
            </a:bodyPr>
            <a:lstStyle>
              <a:lvl1pPr eaLnBrk="0" hangingPunct="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ts val="0"/>
                </a:spcBef>
                <a:buFontTx/>
                <a:buNone/>
              </a:pPr>
              <a:r>
                <a:rPr lang="zh-CN" altLang="en-US" sz="1600" dirty="0">
                  <a:latin typeface="+mn-ea"/>
                  <a:ea typeface="+mn-ea"/>
                </a:rPr>
                <a:t>编辑器</a:t>
              </a:r>
            </a:p>
          </p:txBody>
        </p: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48E6CEE9-013A-4760-B71D-E2CCCE7A0F8B}"/>
                </a:ext>
              </a:extLst>
            </p:cNvPr>
            <p:cNvCxnSpPr/>
            <p:nvPr/>
          </p:nvCxnSpPr>
          <p:spPr bwMode="auto">
            <a:xfrm flipV="1">
              <a:off x="2052392" y="3275998"/>
              <a:ext cx="288000" cy="2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39" name="Text Box 36">
            <a:extLst>
              <a:ext uri="{FF2B5EF4-FFF2-40B4-BE49-F238E27FC236}">
                <a16:creationId xmlns:a16="http://schemas.microsoft.com/office/drawing/2014/main" id="{0944D8C8-50BF-42A2-A7C5-91CEB2FA3BDB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76256" y="1916832"/>
            <a:ext cx="1440000" cy="18000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</a:ln>
          <a:effectLst/>
        </p:spPr>
        <p:txBody>
          <a:bodyPr wrap="square" lIns="36195" tIns="18000" rIns="0" bIns="0">
            <a:noAutofit/>
          </a:bodyPr>
          <a:lstStyle/>
          <a:p>
            <a:pPr>
              <a:lnSpc>
                <a:spcPct val="8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1600" b="1" u="none" dirty="0">
                <a:latin typeface="宋体" panose="02010600030101010101" pitchFamily="2" charset="-122"/>
              </a:rPr>
              <a:t>#include </a:t>
            </a:r>
            <a:r>
              <a:rPr lang="en-US" altLang="zh-CN" sz="1600" b="1" dirty="0">
                <a:latin typeface="宋体" panose="02010600030101010101" pitchFamily="2" charset="-122"/>
              </a:rPr>
              <a:t>…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>
                <a:latin typeface="宋体" panose="02010600030101010101" pitchFamily="2" charset="-122"/>
              </a:rPr>
              <a:t>void main() 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>
                <a:latin typeface="宋体" panose="02010600030101010101" pitchFamily="2" charset="-122"/>
              </a:rPr>
              <a:t>{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>
                <a:latin typeface="宋体" panose="02010600030101010101" pitchFamily="2" charset="-122"/>
              </a:rPr>
              <a:t>  int x,b,y;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>
                <a:latin typeface="宋体" panose="02010600030101010101" pitchFamily="2" charset="-122"/>
              </a:rPr>
              <a:t>  if (x==0)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>
                <a:latin typeface="宋体" panose="02010600030101010101" pitchFamily="2" charset="-122"/>
              </a:rPr>
              <a:t>     y=b;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>
                <a:latin typeface="宋体" panose="02010600030101010101" pitchFamily="2" charset="-122"/>
              </a:rPr>
              <a:t>  else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>
                <a:latin typeface="宋体" panose="02010600030101010101" pitchFamily="2" charset="-122"/>
              </a:rPr>
              <a:t>     y=b+2;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u="none" dirty="0">
                <a:latin typeface="宋体" panose="02010600030101010101" pitchFamily="2" charset="-122"/>
              </a:rPr>
              <a:t>}</a:t>
            </a: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FFFEC74A-03BC-4F70-A9D9-6E0C0A426430}"/>
              </a:ext>
            </a:extLst>
          </p:cNvPr>
          <p:cNvGrpSpPr/>
          <p:nvPr/>
        </p:nvGrpSpPr>
        <p:grpSpPr>
          <a:xfrm>
            <a:off x="6083855" y="3861048"/>
            <a:ext cx="2520315" cy="2016125"/>
            <a:chOff x="3457" y="5089"/>
            <a:chExt cx="3969" cy="3175"/>
          </a:xfrm>
        </p:grpSpPr>
        <p:sp>
          <p:nvSpPr>
            <p:cNvPr id="41" name="Text Box 36">
              <a:extLst>
                <a:ext uri="{FF2B5EF4-FFF2-40B4-BE49-F238E27FC236}">
                  <a16:creationId xmlns:a16="http://schemas.microsoft.com/office/drawing/2014/main" id="{D1A88190-1475-4842-A015-398E14CF216A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762" y="5486"/>
              <a:ext cx="2154" cy="277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36195" tIns="10800" rIns="36195" bIns="1080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R[1]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←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M[</a:t>
              </a:r>
              <a:r>
                <a:rPr lang="en-US" altLang="zh-CN" sz="14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1000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]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R[2]</a:t>
              </a:r>
              <a:r>
                <a:rPr lang="zh-CN" altLang="en-US" sz="1400" b="1" u="none" dirty="0">
                  <a:latin typeface="宋体" panose="02010600030101010101" pitchFamily="2" charset="-122"/>
                  <a:sym typeface="+mn-ea"/>
                </a:rPr>
                <a:t>←</a:t>
              </a:r>
              <a:r>
                <a:rPr lang="en-US" altLang="zh-CN" sz="1400" b="1" u="none" dirty="0">
                  <a:latin typeface="宋体" panose="02010600030101010101" pitchFamily="2" charset="-122"/>
                  <a:sym typeface="+mn-ea"/>
                </a:rPr>
                <a:t>M[</a:t>
              </a:r>
              <a:r>
                <a:rPr lang="en-US" altLang="zh-CN" sz="1400" b="1" u="none" dirty="0">
                  <a:solidFill>
                    <a:srgbClr val="0070C0"/>
                  </a:solidFill>
                  <a:latin typeface="宋体" panose="02010600030101010101" pitchFamily="2" charset="-122"/>
                  <a:sym typeface="+mn-ea"/>
                </a:rPr>
                <a:t>1001</a:t>
              </a:r>
              <a:r>
                <a:rPr lang="en-US" altLang="zh-CN" sz="1400" b="1" u="none" dirty="0">
                  <a:latin typeface="宋体" panose="02010600030101010101" pitchFamily="2" charset="-122"/>
                  <a:sym typeface="+mn-ea"/>
                </a:rPr>
                <a:t>]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  <a:sym typeface="+mn-ea"/>
                </a:rPr>
                <a:t>JNE R[1], </a:t>
              </a:r>
              <a:r>
                <a:rPr lang="en-US" altLang="zh-CN" sz="1400" b="1" u="none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0004</a:t>
              </a:r>
              <a:endParaRPr lang="en-US" altLang="zh-CN" sz="1400" b="1" u="none" dirty="0">
                <a:latin typeface="宋体" panose="02010600030101010101" pitchFamily="2" charset="-122"/>
                <a:sym typeface="+mn-ea"/>
              </a:endParaRPr>
            </a:p>
            <a:p>
              <a:pPr>
                <a:lnSpc>
                  <a:spcPct val="90000"/>
                </a:lnSpc>
                <a:spcBef>
                  <a:spcPts val="100"/>
                </a:spcBef>
              </a:pPr>
              <a:r>
                <a:rPr lang="en-US" altLang="zh-CN" sz="1400" b="1" u="none" dirty="0">
                  <a:latin typeface="宋体" panose="02010600030101010101" pitchFamily="2" charset="-122"/>
                  <a:sym typeface="+mn-ea"/>
                </a:rPr>
                <a:t>R[2]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←</a:t>
              </a:r>
              <a:r>
                <a:rPr lang="en-US" altLang="zh-CN" sz="1400" b="1" u="none" dirty="0">
                  <a:latin typeface="宋体" panose="02010600030101010101" pitchFamily="2" charset="-122"/>
                  <a:sym typeface="+mn-ea"/>
                </a:rPr>
                <a:t>R[2]</a:t>
              </a:r>
              <a:r>
                <a:rPr lang="en-US" sz="1400" b="1" u="none" dirty="0">
                  <a:latin typeface="宋体" panose="02010600030101010101" pitchFamily="2" charset="-122"/>
                </a:rPr>
                <a:t>+2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M[</a:t>
              </a:r>
              <a:r>
                <a:rPr lang="en-US" altLang="zh-CN" sz="14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1002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]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←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R[2]</a:t>
              </a:r>
            </a:p>
            <a:p>
              <a:pPr>
                <a:lnSpc>
                  <a:spcPct val="90000"/>
                </a:lnSpc>
                <a:spcBef>
                  <a:spcPts val="100"/>
                </a:spcBef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HALT(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程序结束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)</a:t>
              </a:r>
            </a:p>
            <a:p>
              <a:pPr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 x</a:t>
              </a:r>
            </a:p>
            <a:p>
              <a:pPr>
                <a:lnSpc>
                  <a:spcPct val="90000"/>
                </a:lnSpc>
                <a:spcBef>
                  <a:spcPts val="200"/>
                </a:spcBef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 b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 y</a:t>
              </a:r>
            </a:p>
          </p:txBody>
        </p: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21207ACD-C738-421E-B28D-BEAD92C4D796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 bwMode="auto">
            <a:xfrm>
              <a:off x="4762" y="5798"/>
              <a:ext cx="2154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3" name="右大括号 42">
              <a:extLst>
                <a:ext uri="{FF2B5EF4-FFF2-40B4-BE49-F238E27FC236}">
                  <a16:creationId xmlns:a16="http://schemas.microsoft.com/office/drawing/2014/main" id="{00ECD55F-2C26-4CB4-A184-DAA6E222D846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6973" y="7414"/>
              <a:ext cx="113" cy="794"/>
            </a:xfrm>
            <a:prstGeom prst="rightBrace">
              <a:avLst>
                <a:gd name="adj1" fmla="val 25356"/>
                <a:gd name="adj2" fmla="val 50000"/>
              </a:avLst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右大括号 43">
              <a:extLst>
                <a:ext uri="{FF2B5EF4-FFF2-40B4-BE49-F238E27FC236}">
                  <a16:creationId xmlns:a16="http://schemas.microsoft.com/office/drawing/2014/main" id="{B3DFB57A-440A-4B33-9781-3B16D0F89368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973" y="5543"/>
              <a:ext cx="113" cy="1757"/>
            </a:xfrm>
            <a:prstGeom prst="rightBrace">
              <a:avLst>
                <a:gd name="adj1" fmla="val 27788"/>
                <a:gd name="adj2" fmla="val 50000"/>
              </a:avLst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" name="Text Box 36">
              <a:extLst>
                <a:ext uri="{FF2B5EF4-FFF2-40B4-BE49-F238E27FC236}">
                  <a16:creationId xmlns:a16="http://schemas.microsoft.com/office/drawing/2014/main" id="{4796D850-4180-43D0-8DA5-49F128EA6506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086" y="6113"/>
              <a:ext cx="340" cy="181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36195" rIns="0" bIns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代</a:t>
              </a:r>
              <a:endParaRPr lang="en-US" altLang="zh-CN" sz="1400" b="1" u="none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码</a:t>
              </a:r>
            </a:p>
            <a:p>
              <a:pPr algn="ctr">
                <a:lnSpc>
                  <a:spcPct val="90000"/>
                </a:lnSpc>
              </a:pPr>
              <a:endParaRPr lang="zh-CN" altLang="en-US" sz="1400" b="1" u="none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endParaRPr lang="zh-CN" altLang="en-US" sz="1400" b="1" u="none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0"/>
                </a:spcAft>
              </a:pPr>
              <a:r>
                <a:rPr lang="zh-CN" altLang="en-US" sz="14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数</a:t>
              </a:r>
              <a:endParaRPr lang="en-US" altLang="zh-CN" sz="1400" b="1" u="none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据</a:t>
              </a:r>
            </a:p>
          </p:txBody>
        </p:sp>
        <p:sp>
          <p:nvSpPr>
            <p:cNvPr id="46" name="Text Box 36">
              <a:extLst>
                <a:ext uri="{FF2B5EF4-FFF2-40B4-BE49-F238E27FC236}">
                  <a16:creationId xmlns:a16="http://schemas.microsoft.com/office/drawing/2014/main" id="{4CA07F03-5F1E-4A43-A1CD-D3070E7176DD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961" y="5486"/>
              <a:ext cx="737" cy="277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36195" tIns="10800" rIns="36195" bIns="1080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0000</a:t>
              </a:r>
              <a:endParaRPr lang="en-US" altLang="zh-CN" sz="1400" b="1" u="none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sz="14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0001</a:t>
              </a:r>
              <a:endParaRPr lang="en-US" altLang="zh-CN" sz="1400" b="1" u="none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0002</a:t>
              </a:r>
            </a:p>
            <a:p>
              <a:pPr>
                <a:lnSpc>
                  <a:spcPct val="90000"/>
                </a:lnSpc>
              </a:pPr>
              <a:r>
                <a:rPr lang="en-US" sz="1400" b="1" u="none" dirty="0">
                  <a:solidFill>
                    <a:srgbClr val="C00000"/>
                  </a:solidFill>
                  <a:latin typeface="宋体" panose="02010600030101010101" pitchFamily="2" charset="-122"/>
                  <a:sym typeface="+mn-ea"/>
                </a:rPr>
                <a:t>0003</a:t>
              </a:r>
              <a:endParaRPr lang="en-US" altLang="zh-CN" sz="1400" b="1" u="none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sz="14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0004</a:t>
              </a:r>
              <a:endParaRPr lang="en-US" altLang="zh-CN" sz="1400" b="1" u="none" dirty="0">
                <a:solidFill>
                  <a:srgbClr val="C0000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sz="1400" b="1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0005</a:t>
              </a:r>
              <a:endParaRPr lang="en-US" altLang="zh-CN" sz="14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200"/>
                </a:spcBef>
              </a:pPr>
              <a:r>
                <a:rPr lang="en-US" altLang="zh-CN" sz="14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1000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1001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rgbClr val="0070C0"/>
                  </a:solidFill>
                  <a:latin typeface="宋体" panose="02010600030101010101" pitchFamily="2" charset="-122"/>
                </a:rPr>
                <a:t>1002</a:t>
              </a:r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989680F-F079-40DB-B44F-ACE7E0C913A1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>
              <a:off x="4762" y="6110"/>
              <a:ext cx="2154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B33044D4-7C35-47EC-9425-7C380969A9C7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>
              <a:off x="4762" y="6423"/>
              <a:ext cx="2154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CB26A713-E17D-41DC-9F7C-F42248560575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>
              <a:off x="4762" y="6733"/>
              <a:ext cx="2154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EDBD9D2-ED9B-4EF8-A4C2-7271E019EF21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4762" y="7045"/>
              <a:ext cx="2154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7BD7F13A-89BB-4311-A2A6-4324E64E9CF5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>
              <a:off x="4762" y="7357"/>
              <a:ext cx="2154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2B1EC480-DE8F-4B98-9FB8-A3B91F5D04AC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4762" y="7669"/>
              <a:ext cx="2154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820F708E-1711-4616-B5F2-10A046E2E5BD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>
              <a:off x="4762" y="7981"/>
              <a:ext cx="2154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4" name="Text Box 36">
              <a:extLst>
                <a:ext uri="{FF2B5EF4-FFF2-40B4-BE49-F238E27FC236}">
                  <a16:creationId xmlns:a16="http://schemas.microsoft.com/office/drawing/2014/main" id="{D647433D-1A2B-46B2-B1B9-87046F01D67D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457" y="5089"/>
              <a:ext cx="3458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36195" tIns="0" rIns="36195" bIns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内存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可执行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程序</a:t>
              </a:r>
            </a:p>
          </p:txBody>
        </p:sp>
      </p:grpSp>
      <p:sp>
        <p:nvSpPr>
          <p:cNvPr id="55" name="Text Box 50">
            <a:extLst>
              <a:ext uri="{FF2B5EF4-FFF2-40B4-BE49-F238E27FC236}">
                <a16:creationId xmlns:a16="http://schemas.microsoft.com/office/drawing/2014/main" id="{0CDDFF8A-AD38-4ABB-8A75-7DA504572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160" y="5157192"/>
            <a:ext cx="5076000" cy="972000"/>
          </a:xfrm>
          <a:prstGeom prst="rect">
            <a:avLst/>
          </a:prstGeom>
          <a:noFill/>
          <a:ln w="15875">
            <a:solidFill>
              <a:srgbClr val="FF3399"/>
            </a:solidFill>
            <a:prstDash val="sysDash"/>
            <a:miter lim="800000"/>
          </a:ln>
          <a:effectLst/>
        </p:spPr>
        <p:txBody>
          <a:bodyPr lIns="36000" tIns="36000" rIns="36000" bIns="36000" anchor="ctr"/>
          <a:lstStyle/>
          <a:p>
            <a:pPr>
              <a:lnSpc>
                <a:spcPct val="114000"/>
              </a:lnSpc>
            </a:pPr>
            <a:r>
              <a:rPr lang="zh-CN" altLang="en-US" sz="1800" b="1" dirty="0">
                <a:solidFill>
                  <a:srgbClr val="FF3399"/>
                </a:solidFill>
                <a:latin typeface="+mn-ea"/>
                <a:ea typeface="+mn-ea"/>
              </a:rPr>
              <a:t>基本要求：</a:t>
            </a:r>
            <a:endParaRPr lang="en-US" altLang="zh-CN" sz="18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14000"/>
              </a:lnSpc>
            </a:pPr>
            <a:r>
              <a:rPr lang="en-US" altLang="zh-CN" sz="1800" b="1" dirty="0">
                <a:solidFill>
                  <a:srgbClr val="FF3399"/>
                </a:solidFill>
                <a:latin typeface="+mn-ea"/>
                <a:ea typeface="+mn-ea"/>
              </a:rPr>
              <a:t>  </a:t>
            </a:r>
            <a:r>
              <a:rPr lang="zh-CN" altLang="en-US" sz="1800" b="1" u="sng" dirty="0">
                <a:latin typeface="+mn-ea"/>
                <a:ea typeface="+mn-ea"/>
              </a:rPr>
              <a:t>了解</a:t>
            </a:r>
            <a:r>
              <a:rPr lang="en-US" altLang="zh-CN" sz="1800" b="1" dirty="0">
                <a:latin typeface="+mn-ea"/>
                <a:ea typeface="+mn-ea"/>
              </a:rPr>
              <a:t>C</a:t>
            </a:r>
            <a:r>
              <a:rPr lang="zh-CN" altLang="en-US" sz="1800" b="1" dirty="0">
                <a:latin typeface="+mn-ea"/>
                <a:ea typeface="+mn-ea"/>
              </a:rPr>
              <a:t>语言的数据类型、语句功能、程序组成，</a:t>
            </a:r>
            <a:endParaRPr lang="en-US" altLang="zh-CN" sz="1800" b="1" dirty="0">
              <a:latin typeface="+mn-ea"/>
              <a:ea typeface="+mn-ea"/>
            </a:endParaRPr>
          </a:p>
          <a:p>
            <a:pPr>
              <a:lnSpc>
                <a:spcPct val="114000"/>
              </a:lnSpc>
            </a:pPr>
            <a:r>
              <a:rPr lang="en-US" altLang="zh-CN" sz="1800" b="1" dirty="0">
                <a:latin typeface="+mn-ea"/>
                <a:ea typeface="+mn-ea"/>
              </a:rPr>
              <a:t>  </a:t>
            </a:r>
            <a:r>
              <a:rPr lang="zh-CN" altLang="en-US" sz="1800" b="1" u="sng" dirty="0">
                <a:latin typeface="+mn-ea"/>
                <a:ea typeface="+mn-ea"/>
              </a:rPr>
              <a:t>了解</a:t>
            </a:r>
            <a:r>
              <a:rPr lang="zh-CN" altLang="en-US" sz="1800" b="1" dirty="0">
                <a:latin typeface="+mn-ea"/>
                <a:ea typeface="+mn-ea"/>
              </a:rPr>
              <a:t>目标程序的组成、执行方式</a:t>
            </a:r>
            <a:endParaRPr lang="en-US" altLang="zh-CN" sz="18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91536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5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4D137-C19B-469C-BA78-A0BD1EA0AC38}" type="slidenum">
              <a:rPr lang="en-US" altLang="zh-CN"/>
              <a:t>8</a:t>
            </a:fld>
            <a:endParaRPr lang="en-US" altLang="zh-CN"/>
          </a:p>
        </p:txBody>
      </p:sp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762000" y="2589213"/>
            <a:ext cx="7467600" cy="822341"/>
          </a:xfrm>
          <a:prstGeom prst="rect">
            <a:avLst/>
          </a:prstGeom>
          <a:solidFill>
            <a:srgbClr val="CC99FF">
              <a:alpha val="80000"/>
            </a:srgbClr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第</a:t>
            </a:r>
            <a:r>
              <a:rPr lang="en-US" altLang="zh-CN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章 计算机系统概述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9</a:t>
            </a:fld>
            <a:endParaRPr lang="en-US" altLang="zh-CN"/>
          </a:p>
        </p:txBody>
      </p:sp>
      <p:sp>
        <p:nvSpPr>
          <p:cNvPr id="4" name="Text Box 108"/>
          <p:cNvSpPr txBox="1">
            <a:spLocks noChangeArrowheads="1"/>
          </p:cNvSpPr>
          <p:nvPr/>
        </p:nvSpPr>
        <p:spPr bwMode="auto">
          <a:xfrm>
            <a:off x="142844" y="332656"/>
            <a:ext cx="8821644" cy="6092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主要内容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⑴ 计算机的发展历程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△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                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←△表示要求为识记层次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</a:rPr>
              <a:t>计算机的产生与发展，国内发展现状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⑵ 计算机硬件组成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</a:rPr>
              <a:t>计算机模型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硬件结构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软件组成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工作方式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</a:rPr>
              <a:t>基本结构，部件组成，部件互连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总线方式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操作过程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⑶ 计算机层次结构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△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</a:rPr>
              <a:t>                   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</a:rPr>
              <a:t>系统的层次结构，结构与组成的关系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组成的任务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⑷ 计算机工作过程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</a:rPr>
              <a:t>工作方式的实现方案，程序执行的过程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准备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执行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⑸ 计算机性能指标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</a:rPr>
              <a:t>硬件技术指标，计算机性能指标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总体要求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271780" indent="-2717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+mn-ea"/>
              </a:rPr>
              <a:t>    </a:t>
            </a:r>
            <a:r>
              <a:rPr lang="zh-CN" altLang="en-US" sz="2200" b="1" u="sng" dirty="0">
                <a:solidFill>
                  <a:schemeClr val="accent2"/>
                </a:solidFill>
                <a:latin typeface="+mn-ea"/>
              </a:rPr>
              <a:t>了解</a:t>
            </a:r>
            <a:r>
              <a:rPr lang="zh-CN" altLang="en-US" sz="2200" b="1" dirty="0">
                <a:latin typeface="+mn-ea"/>
              </a:rPr>
              <a:t>硬件组成，</a:t>
            </a:r>
            <a:r>
              <a:rPr lang="zh-CN" altLang="en-US" sz="2200" b="1" u="sng" dirty="0">
                <a:solidFill>
                  <a:schemeClr val="accent2"/>
                </a:solidFill>
                <a:latin typeface="+mn-ea"/>
              </a:rPr>
              <a:t>理解</a:t>
            </a:r>
            <a:r>
              <a:rPr lang="zh-CN" altLang="en-US" sz="2200" b="1" dirty="0">
                <a:latin typeface="+mn-ea"/>
              </a:rPr>
              <a:t>硬件工作过程，</a:t>
            </a:r>
            <a:r>
              <a:rPr lang="zh-CN" altLang="en-US" sz="2200" b="1" u="sng" dirty="0">
                <a:solidFill>
                  <a:schemeClr val="accent2"/>
                </a:solidFill>
                <a:latin typeface="+mn-ea"/>
              </a:rPr>
              <a:t>可计算</a:t>
            </a:r>
            <a:r>
              <a:rPr lang="zh-CN" altLang="en-US" sz="2200" b="1" dirty="0">
                <a:latin typeface="+mn-ea"/>
              </a:rPr>
              <a:t>程序执行性能</a:t>
            </a:r>
            <a:endParaRPr lang="en-US" altLang="zh-CN" sz="2200" b="1" dirty="0">
              <a:latin typeface="+mn-ea"/>
            </a:endParaRPr>
          </a:p>
        </p:txBody>
      </p:sp>
      <p:sp>
        <p:nvSpPr>
          <p:cNvPr id="5" name="AutoShape 452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7597030" y="2132856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AutoShape 452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7596336" y="2564904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452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7597030" y="2997646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452">
            <a:hlinkClick r:id="rId6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7597030" y="3861742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452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7597030" y="47258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10</a:t>
            </a:fld>
            <a:endParaRPr lang="en-US" altLang="zh-CN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776808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§1.1 </a:t>
            </a:r>
            <a:r>
              <a:rPr lang="zh-CN" altLang="en-US" sz="2800" b="1" dirty="0">
                <a:latin typeface="宋体" panose="02010600030101010101" pitchFamily="2" charset="-122"/>
              </a:rPr>
              <a:t>计算机的发展历程</a:t>
            </a:r>
          </a:p>
        </p:txBody>
      </p:sp>
      <p:sp>
        <p:nvSpPr>
          <p:cNvPr id="10" name="Text Box 275"/>
          <p:cNvSpPr txBox="1">
            <a:spLocks noChangeArrowheads="1"/>
          </p:cNvSpPr>
          <p:nvPr/>
        </p:nvSpPr>
        <p:spPr bwMode="auto">
          <a:xfrm>
            <a:off x="179512" y="764704"/>
            <a:ext cx="8785225" cy="4241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主要内容：</a:t>
            </a:r>
            <a:r>
              <a:rPr lang="zh-CN" altLang="en-US" sz="2000" b="1" dirty="0">
                <a:latin typeface="宋体" panose="02010600030101010101" pitchFamily="2" charset="-122"/>
              </a:rPr>
              <a:t>计算机的产生与发展，国内计算机的发展现状</a:t>
            </a:r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4211960" y="1268760"/>
            <a:ext cx="4284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引子：</a:t>
            </a:r>
            <a:r>
              <a:rPr lang="zh-CN" altLang="en-US" sz="1800" b="1" dirty="0">
                <a:latin typeface="宋体" panose="02010600030101010101" pitchFamily="2" charset="-122"/>
              </a:rPr>
              <a:t>计算机的功能有哪些？计算器呢？</a:t>
            </a:r>
            <a:endParaRPr lang="en-US" altLang="zh-CN" sz="1800" dirty="0">
              <a:latin typeface="宋体" panose="02010600030101010101" pitchFamily="2" charset="-122"/>
            </a:endParaRPr>
          </a:p>
        </p:txBody>
      </p:sp>
      <p:sp>
        <p:nvSpPr>
          <p:cNvPr id="9" name="Text Box 275">
            <a:extLst>
              <a:ext uri="{FF2B5EF4-FFF2-40B4-BE49-F238E27FC236}">
                <a16:creationId xmlns:a16="http://schemas.microsoft.com/office/drawing/2014/main" id="{CF0506FB-50C8-461D-9087-363482B81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3" y="1196752"/>
            <a:ext cx="3672408" cy="534332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、计算机的产生与发展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*产生：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*发展：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4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趋势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graphicFrame>
        <p:nvGraphicFramePr>
          <p:cNvPr id="12" name="Group 331">
            <a:extLst>
              <a:ext uri="{FF2B5EF4-FFF2-40B4-BE49-F238E27FC236}">
                <a16:creationId xmlns:a16="http://schemas.microsoft.com/office/drawing/2014/main" id="{CAF50716-FE21-4084-ABFE-E793E2D0F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321079"/>
              </p:ext>
            </p:extLst>
          </p:nvPr>
        </p:nvGraphicFramePr>
        <p:xfrm>
          <a:off x="1547663" y="3861048"/>
          <a:ext cx="7272809" cy="2119104"/>
        </p:xfrm>
        <a:graphic>
          <a:graphicData uri="http://schemas.openxmlformats.org/drawingml/2006/table">
            <a:tbl>
              <a:tblPr/>
              <a:tblGrid>
                <a:gridCol w="1296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0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45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第一代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第二代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第三代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第四代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2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年代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1946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1958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1958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1964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1964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~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1971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1971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至今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2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元器件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电子管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晶体管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SSI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MSI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LSI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VLSI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ULSI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99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2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主存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磁心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半导体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2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辅存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纸带、磁带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磁盘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光盘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2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字长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4/8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8/16/32/64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2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操作系统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单道批处理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多道、分时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多种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2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速度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/s)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40,000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200,000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1,000,000</a:t>
                      </a: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2500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亿万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4" name="图片 13">
            <a:extLst>
              <a:ext uri="{FF2B5EF4-FFF2-40B4-BE49-F238E27FC236}">
                <a16:creationId xmlns:a16="http://schemas.microsoft.com/office/drawing/2014/main" id="{CD12E29D-F816-459B-AF4C-40FE829372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2132856"/>
            <a:ext cx="3240360" cy="1584176"/>
          </a:xfrm>
          <a:prstGeom prst="rect">
            <a:avLst/>
          </a:prstGeom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693ED493-4978-4020-921B-D8B210582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448" y="2132856"/>
            <a:ext cx="1120880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 Box 275">
            <a:extLst>
              <a:ext uri="{FF2B5EF4-FFF2-40B4-BE49-F238E27FC236}">
                <a16:creationId xmlns:a16="http://schemas.microsoft.com/office/drawing/2014/main" id="{98949347-C10A-423A-852E-B25A06F33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1700808"/>
            <a:ext cx="7489080" cy="42210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108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ENIAC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编程</a:t>
            </a:r>
            <a:r>
              <a:rPr lang="zh-CN" altLang="en-US" sz="2200" b="1" dirty="0">
                <a:latin typeface="宋体" panose="02010600030101010101" pitchFamily="2" charset="-122"/>
              </a:rPr>
              <a:t>为改变开关及连线，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存放数据</a:t>
            </a:r>
            <a:r>
              <a:rPr lang="zh-CN" altLang="en-US" sz="2200" b="1" dirty="0">
                <a:latin typeface="宋体" panose="02010600030101010101" pitchFamily="2" charset="-122"/>
              </a:rPr>
              <a:t>使用打孔卡片</a:t>
            </a:r>
            <a:endParaRPr lang="zh-CN" altLang="en-US" sz="2200" b="1" u="sng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7" name="Text Box 320">
            <a:extLst>
              <a:ext uri="{FF2B5EF4-FFF2-40B4-BE49-F238E27FC236}">
                <a16:creationId xmlns:a16="http://schemas.microsoft.com/office/drawing/2014/main" id="{C811D85F-23D1-4282-9434-89E31E2DA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6021288"/>
            <a:ext cx="7488831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向</a:t>
            </a:r>
            <a:r>
              <a:rPr lang="zh-CN" altLang="en-US" sz="2200" b="1" u="sng" dirty="0">
                <a:latin typeface="宋体" panose="02010600030101010101" pitchFamily="2" charset="-122"/>
              </a:rPr>
              <a:t>两极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微型机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大型机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发展</a:t>
            </a:r>
            <a:r>
              <a:rPr lang="en-US" altLang="zh-CN" sz="2200" b="1" dirty="0">
                <a:latin typeface="宋体" panose="02010600030101010101" pitchFamily="2" charset="-122"/>
              </a:rPr>
              <a:t>            </a:t>
            </a:r>
            <a:r>
              <a:rPr lang="zh-CN" altLang="en-US" sz="1600" b="1" dirty="0">
                <a:latin typeface="宋体" panose="02010600030101010101" pitchFamily="2" charset="-122"/>
              </a:rPr>
              <a:t>←面向各种应用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18" name="AutoShape 23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9F8EA709-1D04-4B0B-B26F-DA4D5FA28ED2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9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3B744-7E1B-4FE2-A17F-CE2EE61751D9}" type="slidenum">
              <a:rPr lang="en-US" altLang="zh-CN"/>
              <a:t>11</a:t>
            </a:fld>
            <a:endParaRPr lang="en-US" altLang="zh-CN"/>
          </a:p>
        </p:txBody>
      </p:sp>
      <p:sp>
        <p:nvSpPr>
          <p:cNvPr id="230503" name="Text Box 103"/>
          <p:cNvSpPr txBox="1">
            <a:spLocks noChangeArrowheads="1"/>
          </p:cNvSpPr>
          <p:nvPr/>
        </p:nvSpPr>
        <p:spPr bwMode="auto">
          <a:xfrm>
            <a:off x="179388" y="332656"/>
            <a:ext cx="6408835" cy="526637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微型计算机的产生与发展：  </a:t>
            </a:r>
            <a:r>
              <a:rPr lang="en-US" altLang="zh-CN" sz="1800" b="1" dirty="0">
                <a:latin typeface="宋体" panose="02010600030101010101" pitchFamily="2" charset="-122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</a:rPr>
              <a:t>核心是处理器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趋势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230855" name="Group 4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595698"/>
              </p:ext>
            </p:extLst>
          </p:nvPr>
        </p:nvGraphicFramePr>
        <p:xfrm>
          <a:off x="1041142" y="836712"/>
          <a:ext cx="7779330" cy="3696945"/>
        </p:xfrm>
        <a:graphic>
          <a:graphicData uri="http://schemas.openxmlformats.org/drawingml/2006/table">
            <a:tbl>
              <a:tblPr/>
              <a:tblGrid>
                <a:gridCol w="1368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6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微处理器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字长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主频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存储器空间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其他特点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年代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0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8080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2MHz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1974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8086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4.77MHz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实模式     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(16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I/O)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1978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8088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4.77MHz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20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       ( 8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I/O)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1979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80286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6MHz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24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保护模式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段式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VM)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1982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80386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12.5MHz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保护模式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页式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VM)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Cache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1985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80486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25MHz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RISC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流水线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1989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Pentium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66MHz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超标量流水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MMX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1993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Pentium Pro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133MHz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超级流水、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动态执行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1995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Pentium Ⅱ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200MHz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DIB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1997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Pentium Ⅲ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450MHz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SSE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、非阻塞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Cache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1999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Pentium 4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3.2GHz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36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SSE2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Trace Cache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2000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Core 2 Duo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64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1.6GHz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双核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2006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30744" name="Text Box 344"/>
          <p:cNvSpPr txBox="1">
            <a:spLocks noChangeArrowheads="1"/>
          </p:cNvSpPr>
          <p:nvPr/>
        </p:nvSpPr>
        <p:spPr bwMode="auto">
          <a:xfrm>
            <a:off x="1619672" y="4603520"/>
            <a:ext cx="5904905" cy="913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rIns="18000">
            <a:spAutoFit/>
          </a:bodyPr>
          <a:lstStyle/>
          <a:p>
            <a:pPr marL="2155825" indent="-2155825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开发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并行性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操作级→指令级→线程级→内核级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2155825" indent="-2155825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面向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应用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桌面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服务器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嵌入式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 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7" name="Text Box 344"/>
          <p:cNvSpPr txBox="1">
            <a:spLocks noChangeArrowheads="1"/>
          </p:cNvSpPr>
          <p:nvPr/>
        </p:nvSpPr>
        <p:spPr bwMode="auto">
          <a:xfrm>
            <a:off x="179512" y="5517232"/>
            <a:ext cx="8785225" cy="8141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pPr marL="2155825" indent="-2155825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本课程的目标：</a:t>
            </a:r>
            <a:r>
              <a:rPr lang="zh-CN" altLang="en-US" sz="2200" b="1" dirty="0">
                <a:latin typeface="宋体" panose="02010600030101010101" pitchFamily="2" charset="-122"/>
              </a:rPr>
              <a:t>≤</a:t>
            </a:r>
            <a:r>
              <a:rPr lang="en-US" altLang="zh-CN" sz="2200" b="1" dirty="0">
                <a:latin typeface="宋体" panose="02010600030101010101" pitchFamily="2" charset="-122"/>
              </a:rPr>
              <a:t>80386</a:t>
            </a:r>
            <a:r>
              <a:rPr lang="zh-CN" altLang="en-US" sz="2200" b="1" dirty="0">
                <a:latin typeface="宋体" panose="02010600030101010101" pitchFamily="2" charset="-122"/>
              </a:rPr>
              <a:t>级   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←为硬件基础课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marL="2155825" indent="-2155825">
              <a:lnSpc>
                <a:spcPct val="12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         (</a:t>
            </a:r>
            <a:r>
              <a:rPr lang="zh-CN" altLang="en-US" sz="1800" b="1" dirty="0">
                <a:latin typeface="宋体" panose="02010600030101010101" pitchFamily="2" charset="-122"/>
              </a:rPr>
              <a:t>计算机系统结构课程将讨论＞</a:t>
            </a:r>
            <a:r>
              <a:rPr lang="en-US" altLang="zh-CN" sz="1800" b="1" dirty="0">
                <a:latin typeface="宋体" panose="02010600030101010101" pitchFamily="2" charset="-122"/>
              </a:rPr>
              <a:t>80386</a:t>
            </a:r>
            <a:r>
              <a:rPr lang="zh-CN" altLang="en-US" sz="1800" b="1" dirty="0">
                <a:latin typeface="宋体" panose="02010600030101010101" pitchFamily="2" charset="-122"/>
              </a:rPr>
              <a:t>级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744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12</a:t>
            </a:fld>
            <a:endParaRPr lang="en-US" altLang="zh-CN"/>
          </a:p>
        </p:txBody>
      </p:sp>
      <p:sp>
        <p:nvSpPr>
          <p:cNvPr id="3" name="Text Box 103"/>
          <p:cNvSpPr txBox="1">
            <a:spLocks noChangeArrowheads="1"/>
          </p:cNvSpPr>
          <p:nvPr/>
        </p:nvSpPr>
        <p:spPr bwMode="auto">
          <a:xfrm>
            <a:off x="179389" y="357166"/>
            <a:ext cx="5040684" cy="436459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、国内计算机发展的现状及危机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50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*现状：        </a:t>
            </a:r>
            <a:r>
              <a:rPr lang="en-US" altLang="zh-CN" sz="1800" b="1" dirty="0">
                <a:latin typeface="宋体" panose="02010600030101010101" pitchFamily="2" charset="-122"/>
              </a:rPr>
              <a:t>--</a:t>
            </a:r>
            <a:r>
              <a:rPr lang="zh-CN" altLang="en-US" sz="1800" b="1" dirty="0">
                <a:latin typeface="宋体" panose="02010600030101010101" pitchFamily="2" charset="-122"/>
              </a:rPr>
              <a:t>关键是</a:t>
            </a:r>
            <a:r>
              <a:rPr lang="en-US" altLang="zh-CN" sz="1800" b="1" dirty="0">
                <a:highlight>
                  <a:srgbClr val="FFFF00"/>
                </a:highlight>
                <a:latin typeface="宋体" panose="02010600030101010101" pitchFamily="2" charset="-122"/>
              </a:rPr>
              <a:t>CPU</a:t>
            </a:r>
            <a:r>
              <a:rPr lang="zh-CN" altLang="en-US" sz="1800" b="1" dirty="0">
                <a:highlight>
                  <a:srgbClr val="FFFF00"/>
                </a:highlight>
                <a:latin typeface="宋体" panose="02010600030101010101" pitchFamily="2" charset="-122"/>
              </a:rPr>
              <a:t>技术</a:t>
            </a:r>
            <a:endParaRPr lang="en-US" altLang="zh-CN" sz="2200" b="1" dirty="0">
              <a:highlight>
                <a:srgbClr val="FFFF00"/>
              </a:highlight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</a:rPr>
              <a:t>    CPU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</a:rPr>
              <a:t>设计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CPU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制造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*危机：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*应对：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</a:rPr>
              <a:t>    宏观层面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微观层面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</a:p>
        </p:txBody>
      </p:sp>
      <p:sp>
        <p:nvSpPr>
          <p:cNvPr id="5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sp>
        <p:nvSpPr>
          <p:cNvPr id="6" name="Text Box 103"/>
          <p:cNvSpPr txBox="1">
            <a:spLocks noChangeArrowheads="1"/>
          </p:cNvSpPr>
          <p:nvPr/>
        </p:nvSpPr>
        <p:spPr bwMode="auto">
          <a:xfrm>
            <a:off x="755576" y="1268760"/>
            <a:ext cx="8208912" cy="38813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</a:rPr>
              <a:t>         有龙芯、申威等，鲲鹏、飞腾等，兆芯等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dirty="0">
                <a:latin typeface="+mn-ea"/>
                <a:ea typeface="+mn-ea"/>
              </a:rPr>
              <a:t>               (</a:t>
            </a:r>
            <a:r>
              <a:rPr lang="zh-CN" altLang="en-US" sz="1800" b="1" dirty="0">
                <a:latin typeface="+mn-ea"/>
                <a:ea typeface="+mn-ea"/>
              </a:rPr>
              <a:t>自主产权</a:t>
            </a:r>
            <a:r>
              <a:rPr lang="en-US" altLang="zh-CN" sz="1800" b="1" dirty="0">
                <a:latin typeface="+mn-ea"/>
                <a:ea typeface="+mn-ea"/>
              </a:rPr>
              <a:t>)        (ISA</a:t>
            </a:r>
            <a:r>
              <a:rPr lang="zh-CN" altLang="en-US" sz="1800" b="1" dirty="0">
                <a:latin typeface="+mn-ea"/>
                <a:ea typeface="+mn-ea"/>
              </a:rPr>
              <a:t>授权</a:t>
            </a:r>
            <a:r>
              <a:rPr lang="en-US" altLang="zh-CN" sz="1800" b="1" dirty="0">
                <a:latin typeface="+mn-ea"/>
                <a:ea typeface="+mn-ea"/>
              </a:rPr>
              <a:t>)    (IP</a:t>
            </a:r>
            <a:r>
              <a:rPr lang="zh-CN" altLang="en-US" sz="1800" b="1" dirty="0">
                <a:latin typeface="+mn-ea"/>
                <a:ea typeface="+mn-ea"/>
              </a:rPr>
              <a:t>核授权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endParaRPr lang="en-US" altLang="zh-CN" sz="18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        7nm</a:t>
            </a:r>
            <a:r>
              <a:rPr lang="zh-CN" altLang="en-US" sz="2200" b="1" dirty="0">
                <a:latin typeface="+mn-ea"/>
                <a:ea typeface="+mn-ea"/>
              </a:rPr>
              <a:t>级自产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中芯国际等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，＜</a:t>
            </a:r>
            <a:r>
              <a:rPr lang="en-US" altLang="zh-CN" sz="2200" b="1" dirty="0">
                <a:latin typeface="+mn-ea"/>
              </a:rPr>
              <a:t>7nm</a:t>
            </a:r>
            <a:r>
              <a:rPr lang="zh-CN" altLang="en-US" sz="2200" b="1" dirty="0">
                <a:latin typeface="+mn-ea"/>
              </a:rPr>
              <a:t>级</a:t>
            </a:r>
            <a:r>
              <a:rPr lang="zh-CN" altLang="en-US" sz="2200" b="1" dirty="0">
                <a:latin typeface="+mn-ea"/>
                <a:ea typeface="+mn-ea"/>
              </a:rPr>
              <a:t>外包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台积电、三星等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en-US" altLang="zh-CN" b="1" dirty="0">
                <a:latin typeface="+mn-ea"/>
                <a:ea typeface="+mn-ea"/>
              </a:rPr>
              <a:t> </a:t>
            </a:r>
            <a:endParaRPr lang="en-US" altLang="zh-CN" sz="18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+mn-ea"/>
                <a:ea typeface="+mn-ea"/>
              </a:rPr>
              <a:t>           </a:t>
            </a:r>
            <a:r>
              <a:rPr lang="en-US" altLang="zh-CN" sz="1800" b="1" dirty="0">
                <a:latin typeface="+mn-ea"/>
                <a:ea typeface="+mn-ea"/>
              </a:rPr>
              <a:t>--</a:t>
            </a:r>
            <a:r>
              <a:rPr lang="zh-CN" altLang="en-US" sz="1800" b="1" dirty="0">
                <a:latin typeface="+mn-ea"/>
                <a:ea typeface="+mn-ea"/>
              </a:rPr>
              <a:t>被打压而非竞争</a:t>
            </a:r>
            <a:endParaRPr lang="en-US" altLang="zh-CN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zh-CN" altLang="en-US" sz="2200" b="1" dirty="0">
                <a:latin typeface="+mn-ea"/>
                <a:ea typeface="+mn-ea"/>
              </a:rPr>
              <a:t>技术封锁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不给授权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，国家霸权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不许生产</a:t>
            </a:r>
            <a:r>
              <a:rPr lang="en-US" altLang="zh-CN" sz="1800" b="1" dirty="0">
                <a:latin typeface="+mn-ea"/>
                <a:ea typeface="+mn-ea"/>
              </a:rPr>
              <a:t>/</a:t>
            </a:r>
            <a:r>
              <a:rPr lang="zh-CN" altLang="en-US" sz="1800" b="1" dirty="0">
                <a:latin typeface="+mn-ea"/>
                <a:ea typeface="+mn-ea"/>
              </a:rPr>
              <a:t>销售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+mn-ea"/>
                <a:ea typeface="+mn-ea"/>
              </a:rPr>
              <a:t>           </a:t>
            </a:r>
            <a:r>
              <a:rPr lang="en-US" altLang="zh-CN" sz="1800" b="1" dirty="0">
                <a:latin typeface="+mn-ea"/>
                <a:ea typeface="+mn-ea"/>
              </a:rPr>
              <a:t>--</a:t>
            </a:r>
            <a:r>
              <a:rPr lang="zh-CN" altLang="en-US" sz="1800" b="1" dirty="0">
                <a:highlight>
                  <a:srgbClr val="FFFF00"/>
                </a:highlight>
                <a:latin typeface="+mn-ea"/>
                <a:ea typeface="+mn-ea"/>
              </a:rPr>
              <a:t>自主创新</a:t>
            </a:r>
            <a:endParaRPr lang="en-US" altLang="zh-CN" b="1" dirty="0">
              <a:highlight>
                <a:srgbClr val="FFFF00"/>
              </a:highlight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         </a:t>
            </a:r>
            <a:r>
              <a:rPr lang="zh-CN" altLang="en-US" sz="2200" b="1" dirty="0">
                <a:latin typeface="+mn-ea"/>
                <a:ea typeface="+mn-ea"/>
              </a:rPr>
              <a:t>长远布局、增大投入、强化基础教育等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         </a:t>
            </a:r>
            <a:r>
              <a:rPr lang="zh-CN" altLang="en-US" sz="2200" b="1" dirty="0">
                <a:latin typeface="+mn-ea"/>
                <a:ea typeface="+mn-ea"/>
              </a:rPr>
              <a:t>我是中国人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站着做人</a:t>
            </a:r>
            <a:r>
              <a:rPr lang="en-US" altLang="zh-CN" sz="1800" b="1" dirty="0">
                <a:latin typeface="+mn-ea"/>
                <a:ea typeface="+mn-ea"/>
              </a:rPr>
              <a:t>/</a:t>
            </a:r>
            <a:r>
              <a:rPr lang="zh-CN" altLang="en-US" sz="1800" b="1" dirty="0">
                <a:latin typeface="+mn-ea"/>
                <a:ea typeface="+mn-ea"/>
              </a:rPr>
              <a:t>国盛我荣</a:t>
            </a:r>
            <a:r>
              <a:rPr lang="en-US" altLang="zh-CN" sz="1800" b="1" dirty="0">
                <a:latin typeface="+mn-ea"/>
                <a:ea typeface="+mn-ea"/>
              </a:rPr>
              <a:t>/</a:t>
            </a:r>
            <a:r>
              <a:rPr lang="zh-CN" altLang="en-US" sz="1800" b="1" dirty="0">
                <a:latin typeface="+mn-ea"/>
                <a:ea typeface="+mn-ea"/>
              </a:rPr>
              <a:t>匹夫有责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、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</a:rPr>
              <a:t>          我是践行者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有理想</a:t>
            </a:r>
            <a:r>
              <a:rPr lang="en-US" altLang="zh-CN" sz="1800" b="1" dirty="0">
                <a:latin typeface="+mn-ea"/>
                <a:ea typeface="+mn-ea"/>
              </a:rPr>
              <a:t>/</a:t>
            </a:r>
            <a:r>
              <a:rPr lang="zh-CN" altLang="en-US" sz="1800" b="1" dirty="0">
                <a:latin typeface="+mn-ea"/>
                <a:ea typeface="+mn-ea"/>
              </a:rPr>
              <a:t>学文化</a:t>
            </a:r>
            <a:r>
              <a:rPr lang="en-US" altLang="zh-CN" sz="1800" b="1" dirty="0">
                <a:latin typeface="+mn-ea"/>
                <a:ea typeface="+mn-ea"/>
              </a:rPr>
              <a:t>/</a:t>
            </a:r>
            <a:r>
              <a:rPr lang="zh-CN" altLang="en-US" sz="1800" b="1" dirty="0">
                <a:latin typeface="+mn-ea"/>
                <a:ea typeface="+mn-ea"/>
              </a:rPr>
              <a:t>肯付出</a:t>
            </a:r>
            <a:r>
              <a:rPr lang="en-US" altLang="zh-CN" sz="1800" b="1" dirty="0">
                <a:latin typeface="+mn-ea"/>
                <a:ea typeface="+mn-ea"/>
              </a:rPr>
              <a:t>/</a:t>
            </a:r>
            <a:r>
              <a:rPr lang="zh-CN" altLang="en-US" sz="1800" b="1" dirty="0">
                <a:latin typeface="+mn-ea"/>
                <a:ea typeface="+mn-ea"/>
              </a:rPr>
              <a:t>能坚持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endParaRPr lang="en-US" altLang="zh-CN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Box 7"/>
          <p:cNvSpPr txBox="1">
            <a:spLocks noChangeArrowheads="1"/>
          </p:cNvSpPr>
          <p:nvPr/>
        </p:nvSpPr>
        <p:spPr bwMode="auto">
          <a:xfrm>
            <a:off x="179705" y="5949280"/>
            <a:ext cx="4102735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工作方式：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即软件执行方式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60" name="Text Box 7"/>
          <p:cNvSpPr txBox="1">
            <a:spLocks noChangeArrowheads="1"/>
          </p:cNvSpPr>
          <p:nvPr/>
        </p:nvSpPr>
        <p:spPr bwMode="auto">
          <a:xfrm>
            <a:off x="179263" y="1700808"/>
            <a:ext cx="3214700" cy="38882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硬件结构：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1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软件组成：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指令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数据表示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指令组成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程序的执行顺序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4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35B10-0008-445D-855C-F301CD0F2A55}" type="slidenum">
              <a:rPr lang="en-US" altLang="zh-CN"/>
              <a:t>13</a:t>
            </a:fld>
            <a:endParaRPr lang="en-US" altLang="zh-CN"/>
          </a:p>
        </p:txBody>
      </p:sp>
      <p:sp>
        <p:nvSpPr>
          <p:cNvPr id="243716" name="Text Box 4"/>
          <p:cNvSpPr txBox="1">
            <a:spLocks noChangeArrowheads="1"/>
          </p:cNvSpPr>
          <p:nvPr/>
        </p:nvSpPr>
        <p:spPr bwMode="auto">
          <a:xfrm>
            <a:off x="762000" y="188640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§1.2 </a:t>
            </a:r>
            <a:r>
              <a:rPr lang="zh-CN" altLang="en-US" sz="2800" b="1" dirty="0">
                <a:latin typeface="宋体" panose="02010600030101010101" pitchFamily="2" charset="-122"/>
              </a:rPr>
              <a:t>计算机的硬件组成</a:t>
            </a:r>
          </a:p>
        </p:txBody>
      </p:sp>
      <p:sp>
        <p:nvSpPr>
          <p:cNvPr id="243718" name="Text Box 6"/>
          <p:cNvSpPr txBox="1">
            <a:spLocks noChangeArrowheads="1"/>
          </p:cNvSpPr>
          <p:nvPr/>
        </p:nvSpPr>
        <p:spPr bwMode="auto">
          <a:xfrm>
            <a:off x="179263" y="1304020"/>
            <a:ext cx="8785225" cy="391143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tIns="10800" bIns="10800" anchor="ctr" anchorCtr="0">
            <a:spAutoFit/>
          </a:bodyPr>
          <a:lstStyle/>
          <a:p>
            <a:r>
              <a:rPr lang="zh-CN" altLang="en-US" b="1" dirty="0">
                <a:solidFill>
                  <a:srgbClr val="FF3300"/>
                </a:solidFill>
                <a:latin typeface="+mn-ea"/>
                <a:ea typeface="+mn-ea"/>
              </a:rPr>
              <a:t>一、计算机模型 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又称冯</a:t>
            </a:r>
            <a:r>
              <a:rPr lang="en-US" altLang="zh-CN" sz="1800" b="1" dirty="0">
                <a:latin typeface="+mn-lt"/>
                <a:ea typeface="+mn-ea"/>
              </a:rPr>
              <a:t>·</a:t>
            </a:r>
            <a:r>
              <a:rPr lang="zh-CN" altLang="en-US" sz="1800" b="1" dirty="0">
                <a:latin typeface="+mn-ea"/>
                <a:ea typeface="+mn-ea"/>
              </a:rPr>
              <a:t>诺依曼计算机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endParaRPr lang="zh-CN" altLang="en-US" sz="2000" b="1" dirty="0">
              <a:latin typeface="+mn-ea"/>
              <a:ea typeface="+mn-ea"/>
            </a:endParaRPr>
          </a:p>
        </p:txBody>
      </p:sp>
      <p:sp>
        <p:nvSpPr>
          <p:cNvPr id="243719" name="Text Box 7"/>
          <p:cNvSpPr txBox="1">
            <a:spLocks noChangeArrowheads="1"/>
          </p:cNvSpPr>
          <p:nvPr/>
        </p:nvSpPr>
        <p:spPr bwMode="auto">
          <a:xfrm>
            <a:off x="1907704" y="1700808"/>
            <a:ext cx="6958868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由</a:t>
            </a:r>
            <a:r>
              <a:rPr lang="en-US" altLang="zh-CN" sz="2200" b="1" u="sng" dirty="0">
                <a:latin typeface="宋体" panose="02010600030101010101" pitchFamily="2" charset="-122"/>
              </a:rPr>
              <a:t>5</a:t>
            </a:r>
            <a:r>
              <a:rPr lang="zh-CN" altLang="en-US" sz="2200" b="1" u="sng" dirty="0">
                <a:latin typeface="宋体" panose="02010600030101010101" pitchFamily="2" charset="-122"/>
              </a:rPr>
              <a:t>种部件</a:t>
            </a:r>
            <a:r>
              <a:rPr lang="zh-CN" altLang="en-US" sz="2200" b="1" dirty="0">
                <a:latin typeface="宋体" panose="02010600030101010101" pitchFamily="2" charset="-122"/>
              </a:rPr>
              <a:t>组成，以</a:t>
            </a:r>
            <a:r>
              <a:rPr lang="zh-CN" altLang="en-US" sz="2200" b="1" u="sng" dirty="0">
                <a:latin typeface="宋体" panose="02010600030101010101" pitchFamily="2" charset="-122"/>
              </a:rPr>
              <a:t>运算器</a:t>
            </a:r>
            <a:r>
              <a:rPr lang="zh-CN" altLang="en-US" sz="2200" b="1" dirty="0">
                <a:latin typeface="宋体" panose="02010600030101010101" pitchFamily="2" charset="-122"/>
              </a:rPr>
              <a:t>为中心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运算与</a:t>
            </a:r>
            <a:r>
              <a:rPr lang="en-US" altLang="zh-CN" sz="1800" b="1" dirty="0">
                <a:latin typeface="宋体" panose="02010600030101010101" pitchFamily="2" charset="-122"/>
              </a:rPr>
              <a:t>I/O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串行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243806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3995937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AutoShape 230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Text Box 526"/>
          <p:cNvSpPr txBox="1">
            <a:spLocks noChangeArrowheads="1"/>
          </p:cNvSpPr>
          <p:nvPr/>
        </p:nvSpPr>
        <p:spPr bwMode="auto">
          <a:xfrm>
            <a:off x="179512" y="764704"/>
            <a:ext cx="8785225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000" b="1" u="none" dirty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sz="2000" b="1" u="none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dirty="0">
                <a:latin typeface="+mn-ea"/>
                <a:ea typeface="+mn-ea"/>
              </a:rPr>
              <a:t>计算机模型，计算机硬件组成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zh-CN" altLang="en-US" sz="2000" b="1" dirty="0">
                <a:latin typeface="+mn-ea"/>
                <a:ea typeface="+mn-ea"/>
              </a:rPr>
              <a:t>结构</a:t>
            </a:r>
            <a:r>
              <a:rPr lang="en-US" altLang="zh-CN" sz="2000" b="1" dirty="0">
                <a:latin typeface="+mn-ea"/>
                <a:ea typeface="+mn-ea"/>
              </a:rPr>
              <a:t>/</a:t>
            </a:r>
            <a:r>
              <a:rPr lang="zh-CN" altLang="en-US" sz="2000" b="1" dirty="0">
                <a:latin typeface="+mn-ea"/>
                <a:ea typeface="+mn-ea"/>
              </a:rPr>
              <a:t>部件</a:t>
            </a:r>
            <a:r>
              <a:rPr lang="en-US" altLang="zh-CN" sz="2000" b="1" dirty="0">
                <a:latin typeface="+mn-ea"/>
                <a:ea typeface="+mn-ea"/>
              </a:rPr>
              <a:t>/</a:t>
            </a:r>
            <a:r>
              <a:rPr lang="zh-CN" altLang="en-US" sz="2000" b="1" dirty="0">
                <a:latin typeface="+mn-ea"/>
                <a:ea typeface="+mn-ea"/>
              </a:rPr>
              <a:t>部件互连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endParaRPr lang="en-US" altLang="zh-CN" sz="2000" b="1" u="none" dirty="0">
              <a:latin typeface="+mn-ea"/>
              <a:ea typeface="+mn-ea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2268000" y="2204864"/>
            <a:ext cx="5616392" cy="864000"/>
            <a:chOff x="1933901" y="2484016"/>
            <a:chExt cx="5616392" cy="864000"/>
          </a:xfrm>
        </p:grpSpPr>
        <p:sp>
          <p:nvSpPr>
            <p:cNvPr id="85" name="Text Box 36"/>
            <p:cNvSpPr txBox="1">
              <a:spLocks noChangeArrowheads="1"/>
            </p:cNvSpPr>
            <p:nvPr/>
          </p:nvSpPr>
          <p:spPr bwMode="auto">
            <a:xfrm>
              <a:off x="3662181" y="2484016"/>
              <a:ext cx="1152000" cy="864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84" name="Text Box 36"/>
            <p:cNvSpPr txBox="1">
              <a:spLocks noChangeArrowheads="1"/>
            </p:cNvSpPr>
            <p:nvPr/>
          </p:nvSpPr>
          <p:spPr bwMode="auto">
            <a:xfrm>
              <a:off x="5822293" y="2564904"/>
              <a:ext cx="1728000" cy="75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>
                <a:lnSpc>
                  <a:spcPct val="105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注：    数据信息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        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指令信息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105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     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控制信息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4" name="Text Box 36"/>
            <p:cNvSpPr txBox="1">
              <a:spLocks noChangeArrowheads="1"/>
            </p:cNvSpPr>
            <p:nvPr/>
          </p:nvSpPr>
          <p:spPr bwMode="auto">
            <a:xfrm>
              <a:off x="3806165" y="3024016"/>
              <a:ext cx="864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控制器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65" name="Text Box 36"/>
            <p:cNvSpPr txBox="1">
              <a:spLocks noChangeArrowheads="1"/>
            </p:cNvSpPr>
            <p:nvPr/>
          </p:nvSpPr>
          <p:spPr bwMode="auto">
            <a:xfrm>
              <a:off x="3806165" y="2564936"/>
              <a:ext cx="864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运算器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66" name="直接箭头连接符 65"/>
            <p:cNvCxnSpPr/>
            <p:nvPr/>
          </p:nvCxnSpPr>
          <p:spPr bwMode="auto">
            <a:xfrm flipV="1">
              <a:off x="4211960" y="2808016"/>
              <a:ext cx="0" cy="216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67" name="直接箭头连接符 66"/>
            <p:cNvCxnSpPr/>
            <p:nvPr/>
          </p:nvCxnSpPr>
          <p:spPr bwMode="auto">
            <a:xfrm flipV="1">
              <a:off x="4670221" y="2628016"/>
              <a:ext cx="504000" cy="2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8" name="Text Box 36"/>
            <p:cNvSpPr txBox="1">
              <a:spLocks noChangeArrowheads="1"/>
            </p:cNvSpPr>
            <p:nvPr/>
          </p:nvSpPr>
          <p:spPr bwMode="auto">
            <a:xfrm>
              <a:off x="5174253" y="2564904"/>
              <a:ext cx="288000" cy="72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存储器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69" name="直接箭头连接符 68"/>
            <p:cNvCxnSpPr/>
            <p:nvPr/>
          </p:nvCxnSpPr>
          <p:spPr bwMode="auto">
            <a:xfrm flipH="1">
              <a:off x="4670221" y="2772016"/>
              <a:ext cx="504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0" name="直接箭头连接符 69"/>
            <p:cNvCxnSpPr/>
            <p:nvPr/>
          </p:nvCxnSpPr>
          <p:spPr bwMode="auto">
            <a:xfrm flipH="1">
              <a:off x="4670221" y="3096016"/>
              <a:ext cx="50400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1" name="直接箭头连接符 70"/>
            <p:cNvCxnSpPr/>
            <p:nvPr/>
          </p:nvCxnSpPr>
          <p:spPr bwMode="auto">
            <a:xfrm>
              <a:off x="4670221" y="3204016"/>
              <a:ext cx="50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sp>
          <p:nvSpPr>
            <p:cNvPr id="72" name="Text Box 36"/>
            <p:cNvSpPr txBox="1">
              <a:spLocks noChangeArrowheads="1"/>
            </p:cNvSpPr>
            <p:nvPr/>
          </p:nvSpPr>
          <p:spPr bwMode="auto">
            <a:xfrm>
              <a:off x="2294013" y="2484016"/>
              <a:ext cx="100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输入设备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73" name="直接箭头连接符 72"/>
            <p:cNvCxnSpPr/>
            <p:nvPr/>
          </p:nvCxnSpPr>
          <p:spPr bwMode="auto">
            <a:xfrm>
              <a:off x="3302069" y="2628016"/>
              <a:ext cx="504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4" name="直接箭头连接符 78"/>
            <p:cNvCxnSpPr/>
            <p:nvPr/>
          </p:nvCxnSpPr>
          <p:spPr bwMode="auto">
            <a:xfrm rot="10800000" flipV="1">
              <a:off x="3518069" y="2772016"/>
              <a:ext cx="288000" cy="180000"/>
            </a:xfrm>
            <a:prstGeom prst="bentConnector3">
              <a:avLst>
                <a:gd name="adj1" fmla="val 98841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5" name="直接箭头连接符 74"/>
            <p:cNvCxnSpPr/>
            <p:nvPr/>
          </p:nvCxnSpPr>
          <p:spPr bwMode="auto">
            <a:xfrm flipH="1">
              <a:off x="3302045" y="2952016"/>
              <a:ext cx="216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6" name="Text Box 36"/>
            <p:cNvSpPr txBox="1">
              <a:spLocks noChangeArrowheads="1"/>
            </p:cNvSpPr>
            <p:nvPr/>
          </p:nvSpPr>
          <p:spPr bwMode="auto">
            <a:xfrm>
              <a:off x="2294013" y="2808016"/>
              <a:ext cx="100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输出设备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77" name="直接箭头连接符 76"/>
            <p:cNvCxnSpPr/>
            <p:nvPr/>
          </p:nvCxnSpPr>
          <p:spPr bwMode="auto">
            <a:xfrm flipV="1">
              <a:off x="1933901" y="2628016"/>
              <a:ext cx="36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78" name="直接箭头连接符 77"/>
            <p:cNvCxnSpPr/>
            <p:nvPr/>
          </p:nvCxnSpPr>
          <p:spPr bwMode="auto">
            <a:xfrm>
              <a:off x="2077901" y="2952016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79" name="直接箭头连接符 93"/>
            <p:cNvCxnSpPr/>
            <p:nvPr/>
          </p:nvCxnSpPr>
          <p:spPr bwMode="auto">
            <a:xfrm rot="10800000">
              <a:off x="2078069" y="2952016"/>
              <a:ext cx="1728000" cy="180000"/>
            </a:xfrm>
            <a:prstGeom prst="bentConnector3">
              <a:avLst>
                <a:gd name="adj1" fmla="val 100469"/>
              </a:avLst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80" name="直接箭头连接符 96"/>
            <p:cNvCxnSpPr/>
            <p:nvPr/>
          </p:nvCxnSpPr>
          <p:spPr bwMode="auto">
            <a:xfrm rot="10800000">
              <a:off x="1934069" y="2628016"/>
              <a:ext cx="1872000" cy="576000"/>
            </a:xfrm>
            <a:prstGeom prst="bentConnector3">
              <a:avLst>
                <a:gd name="adj1" fmla="val 100348"/>
              </a:avLst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81" name="直接箭头连接符 80"/>
            <p:cNvCxnSpPr/>
            <p:nvPr/>
          </p:nvCxnSpPr>
          <p:spPr bwMode="auto">
            <a:xfrm>
              <a:off x="6254341" y="3179108"/>
              <a:ext cx="32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  <a:effectLst/>
          </p:spPr>
        </p:cxnSp>
        <p:cxnSp>
          <p:nvCxnSpPr>
            <p:cNvPr id="82" name="直接箭头连接符 81"/>
            <p:cNvCxnSpPr/>
            <p:nvPr/>
          </p:nvCxnSpPr>
          <p:spPr bwMode="auto">
            <a:xfrm flipV="1">
              <a:off x="6254341" y="2708920"/>
              <a:ext cx="324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3" name="直接箭头连接符 82"/>
            <p:cNvCxnSpPr/>
            <p:nvPr/>
          </p:nvCxnSpPr>
          <p:spPr bwMode="auto">
            <a:xfrm flipV="1">
              <a:off x="6255160" y="2936756"/>
              <a:ext cx="32400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54" name="Text Box 83"/>
          <p:cNvSpPr txBox="1">
            <a:spLocks noChangeArrowheads="1"/>
          </p:cNvSpPr>
          <p:nvPr/>
        </p:nvSpPr>
        <p:spPr bwMode="auto">
          <a:xfrm>
            <a:off x="755576" y="3068960"/>
            <a:ext cx="8285326" cy="32510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spc="-50" dirty="0">
                <a:latin typeface="宋体" panose="02010600030101010101" pitchFamily="2" charset="-122"/>
              </a:rPr>
              <a:t>        程序由</a:t>
            </a:r>
            <a:r>
              <a:rPr lang="zh-CN" altLang="en-US" sz="2200" b="1" u="sng" spc="-50" dirty="0">
                <a:latin typeface="宋体" panose="02010600030101010101" pitchFamily="2" charset="-122"/>
              </a:rPr>
              <a:t>指令序列</a:t>
            </a:r>
            <a:r>
              <a:rPr lang="zh-CN" altLang="en-US" sz="2200" b="1" spc="-50" dirty="0">
                <a:latin typeface="宋体" panose="02010600030101010101" pitchFamily="2" charset="-122"/>
              </a:rPr>
              <a:t>组成，</a:t>
            </a:r>
            <a:r>
              <a:rPr lang="zh-CN" altLang="en-US" sz="2200" b="1" spc="-50" dirty="0">
                <a:latin typeface="宋体" panose="02010600030101010101" pitchFamily="2" charset="-122"/>
                <a:sym typeface="+mn-ea"/>
              </a:rPr>
              <a:t>用</a:t>
            </a:r>
            <a:r>
              <a:rPr lang="zh-CN" altLang="en-US" sz="2200" b="1" u="sng" spc="-50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指令地址</a:t>
            </a:r>
            <a:r>
              <a:rPr lang="zh-CN" altLang="en-US" sz="2200" b="1" spc="-50" dirty="0">
                <a:latin typeface="宋体" panose="02010600030101010101" pitchFamily="2" charset="-122"/>
                <a:sym typeface="+mn-ea"/>
              </a:rPr>
              <a:t>表示指令位置</a:t>
            </a:r>
            <a:endParaRPr lang="en-US" altLang="zh-CN" sz="2200" b="1" spc="-5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90000"/>
              </a:lnSpc>
            </a:pPr>
            <a:r>
              <a:rPr lang="en-US" altLang="zh-CN" sz="1800" spc="-50" dirty="0">
                <a:latin typeface="宋体" panose="02010600030101010101" pitchFamily="2" charset="-122"/>
                <a:sym typeface="+mn-ea"/>
              </a:rPr>
              <a:t>                   └</a:t>
            </a:r>
            <a:r>
              <a:rPr lang="en-US" altLang="zh-CN" sz="1800" b="1" spc="-50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spc="-50" dirty="0">
                <a:latin typeface="宋体" panose="02010600030101010101" pitchFamily="2" charset="-122"/>
                <a:sym typeface="+mn-ea"/>
              </a:rPr>
              <a:t>指令有顺序型</a:t>
            </a:r>
            <a:r>
              <a:rPr lang="en-US" altLang="zh-CN" sz="1800" b="1" spc="-50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spc="-50" dirty="0">
                <a:latin typeface="宋体" panose="02010600030101010101" pitchFamily="2" charset="-122"/>
                <a:sym typeface="+mn-ea"/>
              </a:rPr>
              <a:t>转移型→</a:t>
            </a:r>
            <a:r>
              <a:rPr lang="zh-CN" altLang="en-US" sz="1800" spc="-50" dirty="0">
                <a:latin typeface="宋体" panose="02010600030101010101" pitchFamily="2" charset="-122"/>
                <a:sym typeface="+mn-ea"/>
              </a:rPr>
              <a:t>┘</a:t>
            </a:r>
            <a:endParaRPr lang="en-US" altLang="zh-CN" sz="1800" spc="-5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         </a:t>
            </a:r>
            <a:r>
              <a:rPr lang="zh-CN" altLang="en-US" sz="2200" b="1" u="sng" dirty="0">
                <a:latin typeface="宋体" panose="02010600030101010101" pitchFamily="2" charset="-122"/>
              </a:rPr>
              <a:t>二进制</a:t>
            </a:r>
            <a:r>
              <a:rPr lang="zh-CN" altLang="en-US" sz="2200" b="1" dirty="0">
                <a:latin typeface="宋体" panose="02010600030101010101" pitchFamily="2" charset="-122"/>
              </a:rPr>
              <a:t>形式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二进制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运算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          操作码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操作功能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＋地址码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数据位置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600" b="1" u="sng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spc="-5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spc="-50" dirty="0">
                <a:latin typeface="宋体" panose="02010600030101010101" pitchFamily="2" charset="-122"/>
              </a:rPr>
              <a:t>                 用</a:t>
            </a:r>
            <a:r>
              <a:rPr lang="zh-CN" altLang="en-US" sz="2200" b="1" u="sng" spc="-50" dirty="0">
                <a:latin typeface="宋体" panose="02010600030101010101" pitchFamily="2" charset="-122"/>
              </a:rPr>
              <a:t>下条指令地址</a:t>
            </a:r>
            <a:r>
              <a:rPr lang="zh-CN" altLang="en-US" sz="2200" b="1" spc="-50" dirty="0">
                <a:latin typeface="宋体" panose="02010600030101010101" pitchFamily="2" charset="-122"/>
              </a:rPr>
              <a:t>序列表示  </a:t>
            </a:r>
            <a:r>
              <a:rPr lang="zh-CN" altLang="en-US" sz="1600" b="1" spc="-50" dirty="0">
                <a:latin typeface="宋体" panose="02010600030101010101" pitchFamily="2" charset="-122"/>
              </a:rPr>
              <a:t>  </a:t>
            </a:r>
            <a:r>
              <a:rPr lang="zh-CN" altLang="en-US" sz="1800" b="1" spc="-50" dirty="0">
                <a:latin typeface="宋体" panose="02010600030101010101" pitchFamily="2" charset="-122"/>
              </a:rPr>
              <a:t>←</a:t>
            </a:r>
            <a:r>
              <a:rPr lang="zh-CN" altLang="en-US" sz="1800" b="1" spc="-50" dirty="0">
                <a:solidFill>
                  <a:srgbClr val="0070C0"/>
                </a:solidFill>
                <a:latin typeface="宋体" panose="02010600030101010101" pitchFamily="2" charset="-122"/>
              </a:rPr>
              <a:t>不总是顺序</a:t>
            </a:r>
            <a:r>
              <a:rPr lang="zh-CN" altLang="en-US" sz="1800" b="1" spc="-50" dirty="0">
                <a:latin typeface="宋体" panose="02010600030101010101" pitchFamily="2" charset="-122"/>
              </a:rPr>
              <a:t>执行</a:t>
            </a:r>
            <a:endParaRPr lang="en-US" altLang="zh-CN" sz="1800" b="1" spc="-5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spc="-50" dirty="0">
                <a:latin typeface="宋体" panose="02010600030101010101" pitchFamily="2" charset="-122"/>
              </a:rPr>
              <a:t>                 </a:t>
            </a:r>
            <a:r>
              <a:rPr lang="zh-CN" altLang="en-US" sz="2000" b="1" spc="-50" dirty="0">
                <a:latin typeface="宋体" panose="02010600030101010101" pitchFamily="2" charset="-122"/>
              </a:rPr>
              <a:t>        </a:t>
            </a:r>
            <a:r>
              <a:rPr lang="zh-CN" altLang="en-US" sz="2000" spc="-50" dirty="0">
                <a:latin typeface="宋体" panose="02010600030101010101" pitchFamily="2" charset="-122"/>
              </a:rPr>
              <a:t>└</a:t>
            </a:r>
            <a:r>
              <a:rPr lang="zh-CN" altLang="en-US" sz="2000" b="1" spc="-50" dirty="0">
                <a:latin typeface="宋体" panose="02010600030101010101" pitchFamily="2" charset="-122"/>
              </a:rPr>
              <a:t>←由</a:t>
            </a:r>
            <a:r>
              <a:rPr lang="zh-CN" altLang="en-US" sz="2000" b="1" u="sng" spc="-50" dirty="0">
                <a:solidFill>
                  <a:srgbClr val="990099"/>
                </a:solidFill>
                <a:latin typeface="宋体" panose="02010600030101010101" pitchFamily="2" charset="-122"/>
              </a:rPr>
              <a:t>当前指令</a:t>
            </a:r>
            <a:r>
              <a:rPr lang="zh-CN" altLang="en-US" sz="2000" b="1" spc="-50" dirty="0">
                <a:latin typeface="宋体" panose="02010600030101010101" pitchFamily="2" charset="-122"/>
              </a:rPr>
              <a:t>产生    </a:t>
            </a:r>
            <a:r>
              <a:rPr lang="zh-CN" altLang="en-US" sz="1800" b="1" spc="-50" dirty="0">
                <a:latin typeface="宋体" panose="02010600030101010101" pitchFamily="2" charset="-122"/>
              </a:rPr>
              <a:t>←取决于</a:t>
            </a:r>
            <a:r>
              <a:rPr lang="zh-CN" altLang="en-US" sz="1800" b="1" spc="-50" dirty="0">
                <a:solidFill>
                  <a:srgbClr val="0070C0"/>
                </a:solidFill>
                <a:latin typeface="宋体" panose="02010600030101010101" pitchFamily="2" charset="-122"/>
              </a:rPr>
              <a:t>类型</a:t>
            </a:r>
            <a:r>
              <a:rPr lang="en-US" altLang="zh-CN" sz="1800" b="1" spc="-50" dirty="0">
                <a:solidFill>
                  <a:srgbClr val="0070C0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1800" b="1" spc="-50" dirty="0">
                <a:solidFill>
                  <a:srgbClr val="0070C0"/>
                </a:solidFill>
                <a:latin typeface="宋体" panose="02010600030101010101" pitchFamily="2" charset="-122"/>
              </a:rPr>
              <a:t>结果</a:t>
            </a:r>
            <a:endParaRPr lang="en-US" altLang="zh-CN" sz="1800" b="1" spc="-50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spc="-50" dirty="0">
                <a:latin typeface="宋体" panose="02010600030101010101" pitchFamily="2" charset="-122"/>
              </a:rPr>
              <a:t>                                 </a:t>
            </a:r>
            <a:r>
              <a:rPr lang="zh-CN" altLang="en-US" sz="2000" spc="-50" dirty="0">
                <a:latin typeface="宋体" panose="02010600030101010101" pitchFamily="2" charset="-122"/>
              </a:rPr>
              <a:t>└</a:t>
            </a:r>
            <a:r>
              <a:rPr lang="zh-CN" altLang="en-US" sz="2000" b="1" dirty="0">
                <a:latin typeface="宋体" panose="02010600030101010101" pitchFamily="2" charset="-122"/>
              </a:rPr>
              <a:t>→程序中指令须</a:t>
            </a:r>
            <a:r>
              <a:rPr lang="zh-CN" altLang="en-US" sz="20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串行执行</a:t>
            </a:r>
            <a:endParaRPr lang="en-US" altLang="zh-CN" sz="2000" u="sng" spc="-50" dirty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2607B85-D7D4-454F-B5F6-1F52A0C31E8B}"/>
              </a:ext>
            </a:extLst>
          </p:cNvPr>
          <p:cNvGrpSpPr/>
          <p:nvPr/>
        </p:nvGrpSpPr>
        <p:grpSpPr>
          <a:xfrm>
            <a:off x="6156000" y="3645024"/>
            <a:ext cx="2884902" cy="1008023"/>
            <a:chOff x="6151138" y="3789041"/>
            <a:chExt cx="2884902" cy="1008023"/>
          </a:xfrm>
        </p:grpSpPr>
        <p:sp>
          <p:nvSpPr>
            <p:cNvPr id="91" name="Text Box 36"/>
            <p:cNvSpPr txBox="1">
              <a:spLocks noChangeArrowheads="1"/>
            </p:cNvSpPr>
            <p:nvPr/>
          </p:nvSpPr>
          <p:spPr bwMode="auto">
            <a:xfrm>
              <a:off x="7020376" y="4077144"/>
              <a:ext cx="864000" cy="648000"/>
            </a:xfrm>
            <a:prstGeom prst="rect">
              <a:avLst/>
            </a:prstGeom>
            <a:solidFill>
              <a:srgbClr val="99CCFF"/>
            </a:solidFill>
            <a:ln w="19050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en-US" altLang="zh-CN" sz="1600" b="1" u="none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92" name="直接连接符 91"/>
            <p:cNvCxnSpPr/>
            <p:nvPr/>
          </p:nvCxnSpPr>
          <p:spPr bwMode="auto">
            <a:xfrm>
              <a:off x="7020272" y="4293096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直接连接符 92"/>
            <p:cNvCxnSpPr/>
            <p:nvPr/>
          </p:nvCxnSpPr>
          <p:spPr bwMode="auto">
            <a:xfrm>
              <a:off x="7020272" y="4005064"/>
              <a:ext cx="0" cy="792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4" name="直接连接符 93"/>
            <p:cNvCxnSpPr/>
            <p:nvPr/>
          </p:nvCxnSpPr>
          <p:spPr bwMode="auto">
            <a:xfrm>
              <a:off x="7884040" y="4005064"/>
              <a:ext cx="0" cy="792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" name="直接连接符 94"/>
            <p:cNvCxnSpPr/>
            <p:nvPr/>
          </p:nvCxnSpPr>
          <p:spPr bwMode="auto">
            <a:xfrm>
              <a:off x="7020272" y="4077072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直接连接符 95"/>
            <p:cNvCxnSpPr/>
            <p:nvPr/>
          </p:nvCxnSpPr>
          <p:spPr bwMode="auto">
            <a:xfrm>
              <a:off x="7020272" y="4725144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7" name="Text Box 36"/>
            <p:cNvSpPr txBox="1">
              <a:spLocks noChangeArrowheads="1"/>
            </p:cNvSpPr>
            <p:nvPr/>
          </p:nvSpPr>
          <p:spPr bwMode="auto">
            <a:xfrm>
              <a:off x="6444040" y="4077072"/>
              <a:ext cx="540000" cy="64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0070C0"/>
                  </a:solidFill>
                  <a:latin typeface="+mn-ea"/>
                  <a:ea typeface="+mn-ea"/>
                </a:rPr>
                <a:t>1…00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0070C0"/>
                  </a:solidFill>
                  <a:latin typeface="+mn-ea"/>
                </a:rPr>
                <a:t>1</a:t>
              </a:r>
              <a:r>
                <a:rPr lang="en-US" altLang="zh-CN" sz="1600" b="1" dirty="0">
                  <a:solidFill>
                    <a:srgbClr val="0070C0"/>
                  </a:solidFill>
                  <a:latin typeface="+mn-ea"/>
                  <a:ea typeface="+mn-ea"/>
                </a:rPr>
                <a:t>…</a:t>
              </a:r>
              <a:r>
                <a:rPr lang="en-US" altLang="zh-CN" sz="1600" b="1" u="none" dirty="0">
                  <a:solidFill>
                    <a:srgbClr val="0070C0"/>
                  </a:solidFill>
                  <a:latin typeface="+mn-ea"/>
                  <a:ea typeface="+mn-ea"/>
                </a:rPr>
                <a:t>01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0070C0"/>
                  </a:solidFill>
                  <a:latin typeface="+mn-ea"/>
                </a:rPr>
                <a:t>1</a:t>
              </a:r>
              <a:r>
                <a:rPr lang="en-US" altLang="zh-CN" sz="1600" b="1" dirty="0">
                  <a:solidFill>
                    <a:srgbClr val="0070C0"/>
                  </a:solidFill>
                  <a:latin typeface="+mn-ea"/>
                  <a:ea typeface="+mn-ea"/>
                </a:rPr>
                <a:t>…</a:t>
              </a:r>
              <a:r>
                <a:rPr lang="en-US" altLang="zh-CN" sz="1600" b="1" dirty="0">
                  <a:solidFill>
                    <a:srgbClr val="0070C0"/>
                  </a:solidFill>
                  <a:latin typeface="+mn-ea"/>
                </a:rPr>
                <a:t>10</a:t>
              </a:r>
              <a:endParaRPr lang="en-US" altLang="zh-CN" sz="1600" b="1" dirty="0">
                <a:solidFill>
                  <a:srgbClr val="0070C0"/>
                </a:solidFill>
                <a:latin typeface="+mn-ea"/>
                <a:ea typeface="+mn-ea"/>
              </a:endParaRPr>
            </a:p>
          </p:txBody>
        </p:sp>
        <p:cxnSp>
          <p:nvCxnSpPr>
            <p:cNvPr id="98" name="直接连接符 97"/>
            <p:cNvCxnSpPr/>
            <p:nvPr/>
          </p:nvCxnSpPr>
          <p:spPr bwMode="auto">
            <a:xfrm>
              <a:off x="7020272" y="4509120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9" name="Text Box 261"/>
            <p:cNvSpPr txBox="1">
              <a:spLocks noChangeArrowheads="1"/>
            </p:cNvSpPr>
            <p:nvPr/>
          </p:nvSpPr>
          <p:spPr bwMode="auto">
            <a:xfrm>
              <a:off x="6151138" y="3789041"/>
              <a:ext cx="28080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/>
                <a:t>指令地址</a:t>
              </a:r>
              <a:r>
                <a:rPr lang="zh-CN" altLang="en-US" sz="1600" b="1" baseline="-18000" dirty="0"/>
                <a:t>  </a:t>
              </a:r>
              <a:r>
                <a:rPr lang="zh-CN" altLang="en-US" sz="1600" b="1" dirty="0"/>
                <a:t>指令内容   指令功能 </a:t>
              </a:r>
              <a:endParaRPr lang="en-US" altLang="zh-CN" sz="1600" b="1" baseline="-20000" dirty="0"/>
            </a:p>
          </p:txBody>
        </p:sp>
        <p:sp>
          <p:nvSpPr>
            <p:cNvPr id="100" name="Text Box 36"/>
            <p:cNvSpPr txBox="1">
              <a:spLocks noChangeArrowheads="1"/>
            </p:cNvSpPr>
            <p:nvPr/>
          </p:nvSpPr>
          <p:spPr bwMode="auto">
            <a:xfrm>
              <a:off x="7920040" y="4077144"/>
              <a:ext cx="1116000" cy="648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wrap="square" lIns="0" tIns="0" rIns="0" bIns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R1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R1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+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R0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R2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R2</a:t>
              </a: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&amp;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R1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R2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=0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时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转</a:t>
              </a:r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4#</a:t>
              </a:r>
              <a:endParaRPr lang="en-US" altLang="zh-CN" sz="1600" b="1" u="none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01" name="Text Box 36"/>
          <p:cNvSpPr txBox="1">
            <a:spLocks noChangeArrowheads="1"/>
          </p:cNvSpPr>
          <p:nvPr/>
        </p:nvSpPr>
        <p:spPr bwMode="auto">
          <a:xfrm>
            <a:off x="7020272" y="3933023"/>
            <a:ext cx="864000" cy="648000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0001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01</a:t>
            </a:r>
            <a:r>
              <a:rPr lang="en-US" altLang="zh-CN" sz="1600" b="1" dirty="0">
                <a:latin typeface="宋体" panose="02010600030101010101" pitchFamily="2" charset="-122"/>
              </a:rPr>
              <a:t>00</a:t>
            </a:r>
          </a:p>
          <a:p>
            <a:pPr algn="ctr">
              <a:lnSpc>
                <a:spcPct val="90000"/>
              </a:lnSpc>
            </a:pPr>
            <a:r>
              <a: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0100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10</a:t>
            </a:r>
            <a:r>
              <a:rPr lang="en-US" altLang="zh-CN" sz="1600" b="1" dirty="0">
                <a:latin typeface="宋体" panose="02010600030101010101" pitchFamily="2" charset="-122"/>
              </a:rPr>
              <a:t>01</a:t>
            </a:r>
          </a:p>
          <a:p>
            <a:pPr algn="ctr">
              <a:lnSpc>
                <a:spcPct val="90000"/>
              </a:lnSpc>
            </a:pPr>
            <a:r>
              <a: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10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10</a:t>
            </a:r>
            <a:r>
              <a: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0100</a:t>
            </a:r>
            <a:endParaRPr lang="en-US" altLang="zh-CN" sz="1600" b="1" u="none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AutoShape 62">
            <a:hlinkClick r:id="rId5" action="ppaction://hlinksldjump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5400000">
            <a:off x="5536697" y="5913707"/>
            <a:ext cx="287337" cy="1512000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270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转</a:t>
            </a:r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PPT</a:t>
            </a:r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界面组织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C90D828-1ED1-466E-9368-6C54FA6F6A6A}"/>
              </a:ext>
            </a:extLst>
          </p:cNvPr>
          <p:cNvGrpSpPr/>
          <p:nvPr/>
        </p:nvGrpSpPr>
        <p:grpSpPr>
          <a:xfrm>
            <a:off x="2339752" y="4797152"/>
            <a:ext cx="6480720" cy="252000"/>
            <a:chOff x="2339752" y="4797152"/>
            <a:chExt cx="6480720" cy="252000"/>
          </a:xfrm>
        </p:grpSpPr>
        <p:sp>
          <p:nvSpPr>
            <p:cNvPr id="87" name="Text Box 65"/>
            <p:cNvSpPr txBox="1">
              <a:spLocks noChangeArrowheads="1"/>
            </p:cNvSpPr>
            <p:nvPr/>
          </p:nvSpPr>
          <p:spPr bwMode="auto">
            <a:xfrm>
              <a:off x="2339752" y="4797152"/>
              <a:ext cx="504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</a:p>
          </p:txBody>
        </p:sp>
        <p:sp>
          <p:nvSpPr>
            <p:cNvPr id="88" name="Text Box 65"/>
            <p:cNvSpPr txBox="1">
              <a:spLocks noChangeArrowheads="1"/>
            </p:cNvSpPr>
            <p:nvPr/>
          </p:nvSpPr>
          <p:spPr bwMode="auto">
            <a:xfrm>
              <a:off x="2843512" y="4797152"/>
              <a:ext cx="324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A1</a:t>
              </a:r>
            </a:p>
          </p:txBody>
        </p:sp>
        <p:sp>
          <p:nvSpPr>
            <p:cNvPr id="89" name="Text Box 65"/>
            <p:cNvSpPr txBox="1">
              <a:spLocks noChangeArrowheads="1"/>
            </p:cNvSpPr>
            <p:nvPr/>
          </p:nvSpPr>
          <p:spPr bwMode="auto">
            <a:xfrm>
              <a:off x="3167512" y="4797152"/>
              <a:ext cx="46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A2</a:t>
              </a:r>
            </a:p>
          </p:txBody>
        </p:sp>
        <p:sp>
          <p:nvSpPr>
            <p:cNvPr id="55" name="Text Box 261">
              <a:extLst>
                <a:ext uri="{FF2B5EF4-FFF2-40B4-BE49-F238E27FC236}">
                  <a16:creationId xmlns:a16="http://schemas.microsoft.com/office/drawing/2014/main" id="{0C2CE7CA-FF39-4406-9D7B-34D416FD26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0472" y="4798480"/>
              <a:ext cx="504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spc="-50" dirty="0">
                  <a:latin typeface="宋体" panose="02010600030101010101" pitchFamily="2" charset="-122"/>
                </a:rPr>
                <a:t>如：用</a:t>
              </a:r>
              <a:r>
                <a:rPr lang="en-US" altLang="zh-CN" sz="1600" b="1" spc="-50" dirty="0">
                  <a:latin typeface="宋体" panose="02010600030101010101" pitchFamily="2" charset="-122"/>
                </a:rPr>
                <a:t>0001</a:t>
              </a:r>
              <a:r>
                <a:rPr lang="zh-CN" altLang="en-US" sz="1600" b="1" spc="-50" dirty="0">
                  <a:latin typeface="宋体" panose="02010600030101010101" pitchFamily="2" charset="-122"/>
                </a:rPr>
                <a:t>、</a:t>
              </a:r>
              <a:r>
                <a:rPr lang="en-US" altLang="zh-CN" sz="1600" b="1" spc="-50" dirty="0">
                  <a:latin typeface="宋体" panose="02010600030101010101" pitchFamily="2" charset="-122"/>
                </a:rPr>
                <a:t>0100</a:t>
              </a:r>
              <a:r>
                <a:rPr lang="zh-CN" altLang="en-US" sz="1600" b="1" spc="-50" dirty="0">
                  <a:latin typeface="宋体" panose="02010600030101010101" pitchFamily="2" charset="-122"/>
                </a:rPr>
                <a:t>表示</a:t>
              </a:r>
              <a:r>
                <a:rPr lang="en-US" altLang="zh-CN" sz="1600" b="1" spc="-50" dirty="0">
                  <a:latin typeface="宋体" panose="02010600030101010101" pitchFamily="2" charset="-122"/>
                </a:rPr>
                <a:t>+</a:t>
              </a:r>
              <a:r>
                <a:rPr lang="zh-CN" altLang="en-US" sz="1600" b="1" spc="-50" dirty="0">
                  <a:latin typeface="宋体" panose="02010600030101010101" pitchFamily="2" charset="-122"/>
                </a:rPr>
                <a:t>、</a:t>
              </a:r>
              <a:r>
                <a:rPr lang="en-US" altLang="zh-CN" sz="1600" b="1" spc="-50" dirty="0">
                  <a:latin typeface="宋体" panose="02010600030101010101" pitchFamily="2" charset="-122"/>
                </a:rPr>
                <a:t>&amp;</a:t>
              </a:r>
              <a:r>
                <a:rPr lang="zh-CN" altLang="en-US" sz="1600" b="1" spc="-50" dirty="0">
                  <a:latin typeface="宋体" panose="02010600030101010101" pitchFamily="2" charset="-122"/>
                </a:rPr>
                <a:t>，用寄存器编号表示数据位置</a:t>
              </a:r>
              <a:endParaRPr lang="en-US" altLang="zh-CN" sz="1600" b="1" baseline="-20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  <p:bldP spid="243718" grpId="0" animBg="1"/>
      <p:bldP spid="243719" grpId="0"/>
      <p:bldP spid="10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899592" y="5013176"/>
            <a:ext cx="1680526" cy="1521034"/>
            <a:chOff x="7272704" y="3500162"/>
            <a:chExt cx="1680526" cy="1521034"/>
          </a:xfrm>
        </p:grpSpPr>
        <p:sp>
          <p:nvSpPr>
            <p:cNvPr id="57" name="Rectangle 251"/>
            <p:cNvSpPr>
              <a:spLocks noChangeArrowheads="1"/>
            </p:cNvSpPr>
            <p:nvPr/>
          </p:nvSpPr>
          <p:spPr bwMode="auto">
            <a:xfrm>
              <a:off x="7668798" y="3501750"/>
              <a:ext cx="792163" cy="107950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Line 252"/>
            <p:cNvSpPr>
              <a:spLocks noChangeShapeType="1"/>
            </p:cNvSpPr>
            <p:nvPr/>
          </p:nvSpPr>
          <p:spPr bwMode="auto">
            <a:xfrm>
              <a:off x="7668798" y="3716064"/>
              <a:ext cx="79216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254"/>
            <p:cNvSpPr>
              <a:spLocks noChangeShapeType="1"/>
            </p:cNvSpPr>
            <p:nvPr/>
          </p:nvSpPr>
          <p:spPr bwMode="auto">
            <a:xfrm>
              <a:off x="7668798" y="4149450"/>
              <a:ext cx="7921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255"/>
            <p:cNvSpPr>
              <a:spLocks noChangeShapeType="1"/>
            </p:cNvSpPr>
            <p:nvPr/>
          </p:nvSpPr>
          <p:spPr bwMode="auto">
            <a:xfrm>
              <a:off x="7667212" y="4365350"/>
              <a:ext cx="79375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Text Box 256"/>
            <p:cNvSpPr txBox="1">
              <a:spLocks noChangeArrowheads="1"/>
            </p:cNvSpPr>
            <p:nvPr/>
          </p:nvSpPr>
          <p:spPr bwMode="auto">
            <a:xfrm>
              <a:off x="7272704" y="3500162"/>
              <a:ext cx="396000" cy="108108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5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  0</a:t>
              </a:r>
            </a:p>
            <a:p>
              <a:pPr algn="ctr">
                <a:lnSpc>
                  <a:spcPct val="170000"/>
                </a:lnSpc>
                <a:spcBef>
                  <a:spcPts val="900"/>
                </a:spcBef>
              </a:pPr>
              <a:r>
                <a:rPr lang="en-US" altLang="zh-CN" sz="14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spcBef>
                  <a:spcPts val="1500"/>
                </a:spcBef>
              </a:pPr>
              <a:r>
                <a:rPr lang="en-US" altLang="zh-CN" sz="1400" b="1" dirty="0"/>
                <a:t>2</a:t>
              </a:r>
              <a:r>
                <a:rPr lang="en-US" altLang="zh-CN" sz="1400" b="1" i="1" baseline="30000" dirty="0"/>
                <a:t>n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-1</a:t>
              </a:r>
            </a:p>
          </p:txBody>
        </p:sp>
        <p:sp>
          <p:nvSpPr>
            <p:cNvPr id="98" name="Text Box 257"/>
            <p:cNvSpPr txBox="1">
              <a:spLocks noChangeArrowheads="1"/>
            </p:cNvSpPr>
            <p:nvPr/>
          </p:nvSpPr>
          <p:spPr bwMode="auto">
            <a:xfrm>
              <a:off x="7988795" y="3832631"/>
              <a:ext cx="288925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/>
            <a:lstStyle/>
            <a:p>
              <a:r>
                <a:rPr lang="en-US" altLang="zh-CN" sz="1800" b="1" dirty="0"/>
                <a:t>…</a:t>
              </a:r>
              <a:endParaRPr lang="en-US" altLang="zh-CN" sz="1800" b="1" baseline="-20000" dirty="0"/>
            </a:p>
          </p:txBody>
        </p:sp>
        <p:sp>
          <p:nvSpPr>
            <p:cNvPr id="99" name="Line 258"/>
            <p:cNvSpPr>
              <a:spLocks noChangeShapeType="1"/>
            </p:cNvSpPr>
            <p:nvPr/>
          </p:nvSpPr>
          <p:spPr bwMode="auto">
            <a:xfrm flipH="1">
              <a:off x="8316499" y="3501750"/>
              <a:ext cx="0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259"/>
            <p:cNvSpPr>
              <a:spLocks noChangeShapeType="1"/>
            </p:cNvSpPr>
            <p:nvPr/>
          </p:nvSpPr>
          <p:spPr bwMode="auto">
            <a:xfrm>
              <a:off x="7811674" y="3501750"/>
              <a:ext cx="0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Text Box 260"/>
            <p:cNvSpPr txBox="1">
              <a:spLocks noChangeArrowheads="1"/>
            </p:cNvSpPr>
            <p:nvPr/>
          </p:nvSpPr>
          <p:spPr bwMode="auto">
            <a:xfrm>
              <a:off x="7884699" y="3501750"/>
              <a:ext cx="360363" cy="2286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  <a:endParaRPr lang="en-US" altLang="zh-CN" sz="1600" b="1" baseline="-20000" dirty="0">
                <a:latin typeface="+mn-ea"/>
                <a:ea typeface="+mn-ea"/>
              </a:endParaRPr>
            </a:p>
          </p:txBody>
        </p:sp>
        <p:sp>
          <p:nvSpPr>
            <p:cNvPr id="102" name="Text Box 261"/>
            <p:cNvSpPr txBox="1">
              <a:spLocks noChangeArrowheads="1"/>
            </p:cNvSpPr>
            <p:nvPr/>
          </p:nvSpPr>
          <p:spPr bwMode="auto">
            <a:xfrm>
              <a:off x="7880562" y="4618801"/>
              <a:ext cx="4318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400" b="1" i="1" dirty="0"/>
                <a:t>w</a:t>
              </a:r>
              <a:r>
                <a:rPr lang="zh-CN" altLang="en-US" sz="1400" b="1" dirty="0"/>
                <a:t>位</a:t>
              </a:r>
              <a:endParaRPr lang="en-US" altLang="zh-CN" sz="1400" b="1" baseline="-20000" dirty="0"/>
            </a:p>
          </p:txBody>
        </p:sp>
        <p:sp>
          <p:nvSpPr>
            <p:cNvPr id="103" name="Text Box 263"/>
            <p:cNvSpPr txBox="1">
              <a:spLocks noChangeArrowheads="1"/>
            </p:cNvSpPr>
            <p:nvPr/>
          </p:nvSpPr>
          <p:spPr bwMode="auto">
            <a:xfrm>
              <a:off x="7668799" y="4149450"/>
              <a:ext cx="792163" cy="2159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400" b="1" dirty="0">
                  <a:latin typeface="宋体" panose="02010600030101010101" pitchFamily="2" charset="-122"/>
                </a:rPr>
                <a:t>存储单元</a:t>
              </a:r>
              <a:endParaRPr lang="zh-CN" altLang="en-US" sz="14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04" name="右大括号 103"/>
            <p:cNvSpPr/>
            <p:nvPr/>
          </p:nvSpPr>
          <p:spPr bwMode="auto">
            <a:xfrm>
              <a:off x="8476596" y="3500923"/>
              <a:ext cx="45719" cy="1080322"/>
            </a:xfrm>
            <a:prstGeom prst="rightBrace">
              <a:avLst>
                <a:gd name="adj1" fmla="val 53467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9" name="Text Box 256"/>
            <p:cNvSpPr txBox="1">
              <a:spLocks noChangeArrowheads="1"/>
            </p:cNvSpPr>
            <p:nvPr/>
          </p:nvSpPr>
          <p:spPr bwMode="auto">
            <a:xfrm>
              <a:off x="8522315" y="3932971"/>
              <a:ext cx="430915" cy="2167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spcBef>
                  <a:spcPts val="1500"/>
                </a:spcBef>
              </a:pPr>
              <a:r>
                <a:rPr lang="en-US" altLang="zh-CN" sz="1400" b="1" dirty="0"/>
                <a:t>2</a:t>
              </a:r>
              <a:r>
                <a:rPr lang="en-US" altLang="zh-CN" sz="1400" b="1" i="1" baseline="30000" dirty="0"/>
                <a:t>n 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个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49" name="右大括号 48"/>
            <p:cNvSpPr/>
            <p:nvPr/>
          </p:nvSpPr>
          <p:spPr bwMode="auto">
            <a:xfrm>
              <a:off x="8040546" y="4229196"/>
              <a:ext cx="46800" cy="792000"/>
            </a:xfrm>
            <a:prstGeom prst="rightBrace">
              <a:avLst>
                <a:gd name="adj1" fmla="val 53467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6200000"/>
              </a:camera>
              <a:lightRig rig="threePt" dir="t"/>
            </a:scene3d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2" name="Text Box 16"/>
          <p:cNvSpPr txBox="1">
            <a:spLocks noChangeArrowheads="1"/>
          </p:cNvSpPr>
          <p:nvPr/>
        </p:nvSpPr>
        <p:spPr bwMode="auto">
          <a:xfrm>
            <a:off x="142844" y="332656"/>
            <a:ext cx="8821644" cy="21886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工作方式： </a:t>
            </a:r>
            <a:r>
              <a:rPr lang="en-US" altLang="zh-CN" sz="1800" dirty="0">
                <a:latin typeface="+mn-ea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</a:rPr>
              <a:t>采用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存储程序</a:t>
            </a:r>
            <a:r>
              <a:rPr lang="zh-CN" altLang="en-US" sz="1800" b="1" dirty="0">
                <a:latin typeface="宋体" panose="02010600030101010101" pitchFamily="2" charset="-122"/>
              </a:rPr>
              <a:t>方式                ←即</a:t>
            </a:r>
            <a:r>
              <a:rPr lang="zh-CN" altLang="en-US" sz="1800" b="1" dirty="0">
                <a:highlight>
                  <a:srgbClr val="CCFFFF"/>
                </a:highlight>
                <a:latin typeface="宋体" panose="02010600030101010101" pitchFamily="2" charset="-122"/>
              </a:rPr>
              <a:t>软件执行方式</a:t>
            </a:r>
            <a:endParaRPr lang="en-US" altLang="zh-CN" sz="1800" b="1" dirty="0">
              <a:highlight>
                <a:srgbClr val="CCFFFF"/>
              </a:highlight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    ⑴程序和数据</a:t>
            </a:r>
            <a:r>
              <a:rPr lang="zh-CN" altLang="en-US" sz="2200" b="1" dirty="0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预先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存放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存储器</a:t>
            </a:r>
            <a:r>
              <a:rPr lang="zh-CN" altLang="en-US" sz="2200" b="1" dirty="0">
                <a:latin typeface="宋体" panose="02010600030101010101" pitchFamily="2" charset="-122"/>
              </a:rPr>
              <a:t>中       </a:t>
            </a:r>
            <a:r>
              <a:rPr lang="zh-CN" altLang="en-US" sz="1800" b="1" dirty="0">
                <a:latin typeface="宋体" panose="02010600030101010101" pitchFamily="2" charset="-122"/>
              </a:rPr>
              <a:t>←提高编程效率</a:t>
            </a:r>
            <a:r>
              <a:rPr lang="en-US" altLang="zh-CN" sz="1800" b="1" dirty="0">
                <a:latin typeface="宋体" panose="02010600030101010101" pitchFamily="2" charset="-122"/>
              </a:rPr>
              <a:t>&amp;</a:t>
            </a:r>
            <a:r>
              <a:rPr lang="zh-CN" altLang="en-US" sz="1800" b="1" dirty="0">
                <a:latin typeface="宋体" panose="02010600030101010101" pitchFamily="2" charset="-122"/>
              </a:rPr>
              <a:t>执行效率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</a:rPr>
              <a:t>⑵机器</a:t>
            </a:r>
            <a:r>
              <a:rPr lang="zh-CN" altLang="en-US" sz="2200" b="1" dirty="0">
                <a:solidFill>
                  <a:srgbClr val="0070C0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工作时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zh-CN" altLang="en-US" sz="2200" b="1" u="sng" dirty="0">
                <a:latin typeface="宋体" panose="02010600030101010101" pitchFamily="2" charset="-122"/>
              </a:rPr>
              <a:t>自动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</a:rPr>
              <a:t>逐条</a:t>
            </a:r>
            <a:r>
              <a:rPr lang="zh-CN" altLang="en-US" sz="2200" b="1" dirty="0">
                <a:latin typeface="宋体" panose="02010600030101010101" pitchFamily="2" charset="-122"/>
              </a:rPr>
              <a:t>地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取出</a:t>
            </a:r>
            <a:r>
              <a:rPr lang="zh-CN" altLang="en-US" sz="2200" b="1" u="sng" dirty="0">
                <a:latin typeface="宋体" panose="02010600030101010101" pitchFamily="2" charset="-122"/>
              </a:rPr>
              <a:t>指令并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执行</a:t>
            </a:r>
            <a:r>
              <a:rPr lang="zh-CN" altLang="en-US" sz="2200" b="1" dirty="0">
                <a:latin typeface="宋体" panose="02010600030101010101" pitchFamily="2" charset="-122"/>
              </a:rPr>
              <a:t> 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程序的执行过程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u="sng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14</a:t>
            </a:fld>
            <a:endParaRPr lang="en-US" altLang="zh-CN"/>
          </a:p>
        </p:txBody>
      </p:sp>
      <p:sp>
        <p:nvSpPr>
          <p:cNvPr id="114" name="Text Box 83"/>
          <p:cNvSpPr txBox="1">
            <a:spLocks noChangeArrowheads="1"/>
          </p:cNvSpPr>
          <p:nvPr/>
        </p:nvSpPr>
        <p:spPr bwMode="auto">
          <a:xfrm>
            <a:off x="2987824" y="1988840"/>
            <a:ext cx="3096344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是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循环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指令执行过程</a:t>
            </a:r>
            <a:r>
              <a:rPr lang="zh-CN" altLang="en-US" sz="2200" b="1" dirty="0">
                <a:latin typeface="宋体" panose="02010600030101010101" pitchFamily="2" charset="-122"/>
              </a:rPr>
              <a:t>   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56" name="AutoShape 45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3996630" y="6525890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Text Box 16"/>
          <p:cNvSpPr txBox="1">
            <a:spLocks noChangeArrowheads="1"/>
          </p:cNvSpPr>
          <p:nvPr/>
        </p:nvSpPr>
        <p:spPr bwMode="auto">
          <a:xfrm>
            <a:off x="1404248" y="1664840"/>
            <a:ext cx="5400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dirty="0">
                <a:latin typeface="宋体" panose="02010600030101010101" pitchFamily="2" charset="-122"/>
              </a:rPr>
              <a:t>需取指令的原因是？需逐条执行的原因是？</a:t>
            </a:r>
            <a:r>
              <a:rPr lang="zh-CN" altLang="en-US" sz="1800" b="1" u="sng" dirty="0">
                <a:latin typeface="宋体" panose="02010600030101010101" pitchFamily="2" charset="-122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</a:rPr>
              <a:t> </a:t>
            </a:r>
            <a:endParaRPr lang="en-US" altLang="zh-CN" sz="1800" dirty="0">
              <a:latin typeface="宋体" panose="02010600030101010101" pitchFamily="2" charset="-122"/>
            </a:endParaRPr>
          </a:p>
        </p:txBody>
      </p:sp>
      <p:sp>
        <p:nvSpPr>
          <p:cNvPr id="64" name="Text Box 349"/>
          <p:cNvSpPr txBox="1">
            <a:spLocks noChangeArrowheads="1"/>
          </p:cNvSpPr>
          <p:nvPr/>
        </p:nvSpPr>
        <p:spPr bwMode="auto">
          <a:xfrm>
            <a:off x="6984488" y="1556792"/>
            <a:ext cx="1980000" cy="504000"/>
          </a:xfrm>
          <a:prstGeom prst="rect">
            <a:avLst/>
          </a:prstGeom>
          <a:solidFill>
            <a:srgbClr val="CCFFFF">
              <a:alpha val="80000"/>
            </a:srgbClr>
          </a:solidFill>
          <a:ln w="12700">
            <a:solidFill>
              <a:srgbClr val="FF33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6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提示：</a:t>
            </a:r>
            <a:r>
              <a:rPr lang="zh-CN" altLang="en-US" sz="1600" b="1" dirty="0">
                <a:latin typeface="宋体" panose="02010600030101010101" pitchFamily="2" charset="-122"/>
              </a:rPr>
              <a:t>思考均有答案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        (</a:t>
            </a:r>
            <a:r>
              <a:rPr lang="zh-CN" altLang="en-US" sz="1600" b="1" u="sng" dirty="0">
                <a:latin typeface="宋体" panose="02010600030101010101" pitchFamily="2" charset="-122"/>
              </a:rPr>
              <a:t>备注栏</a:t>
            </a:r>
            <a:r>
              <a:rPr lang="zh-CN" altLang="en-US" sz="1600" b="1" dirty="0">
                <a:latin typeface="宋体" panose="02010600030101010101" pitchFamily="2" charset="-122"/>
              </a:rPr>
              <a:t>中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47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AutoShape 62">
            <a:hlinkClick r:id="rId8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1" y="652410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2" name="Text Box 17"/>
          <p:cNvSpPr txBox="1">
            <a:spLocks noChangeArrowheads="1"/>
          </p:cNvSpPr>
          <p:nvPr/>
        </p:nvSpPr>
        <p:spPr bwMode="auto">
          <a:xfrm>
            <a:off x="142844" y="4084623"/>
            <a:ext cx="2547039" cy="9062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存储器结构：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参数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53" name="Text Box 16"/>
          <p:cNvSpPr txBox="1">
            <a:spLocks noChangeArrowheads="1"/>
          </p:cNvSpPr>
          <p:nvPr/>
        </p:nvSpPr>
        <p:spPr bwMode="auto">
          <a:xfrm>
            <a:off x="1547664" y="4077072"/>
            <a:ext cx="7081588" cy="9062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由</a:t>
            </a:r>
            <a:r>
              <a:rPr lang="zh-CN" altLang="en-US" sz="2200" b="1" u="sng" dirty="0">
                <a:latin typeface="宋体" panose="02010600030101010101" pitchFamily="2" charset="-122"/>
              </a:rPr>
              <a:t>定长单元</a:t>
            </a:r>
            <a:r>
              <a:rPr lang="zh-CN" altLang="en-US" sz="2200" b="1" dirty="0">
                <a:latin typeface="宋体" panose="02010600030101010101" pitchFamily="2" charset="-122"/>
              </a:rPr>
              <a:t>构成的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一维</a:t>
            </a:r>
            <a:r>
              <a:rPr lang="zh-CN" altLang="en-US" sz="2200" b="1" dirty="0">
                <a:latin typeface="宋体" panose="02010600030101010101" pitchFamily="2" charset="-122"/>
              </a:rPr>
              <a:t>线性空间，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按地址</a:t>
            </a:r>
            <a:r>
              <a:rPr lang="zh-CN" altLang="en-US" sz="2200" b="1" dirty="0">
                <a:latin typeface="宋体" panose="02010600030101010101" pitchFamily="2" charset="-122"/>
              </a:rPr>
              <a:t>访问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spc="-100" dirty="0">
                <a:latin typeface="宋体" panose="02010600030101010101" pitchFamily="2" charset="-122"/>
              </a:rPr>
              <a:t>存储单元长度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即编址单位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、存储单元个数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即地址位数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  <a:endParaRPr lang="zh-CN" altLang="en-US" sz="2200" b="1" spc="-100" dirty="0">
              <a:latin typeface="宋体" panose="02010600030101010101" pitchFamily="2" charset="-122"/>
            </a:endParaRPr>
          </a:p>
        </p:txBody>
      </p:sp>
      <p:sp>
        <p:nvSpPr>
          <p:cNvPr id="110" name="Text Box 349"/>
          <p:cNvSpPr txBox="1">
            <a:spLocks noChangeArrowheads="1"/>
          </p:cNvSpPr>
          <p:nvPr/>
        </p:nvSpPr>
        <p:spPr bwMode="auto">
          <a:xfrm>
            <a:off x="5613754" y="6309336"/>
            <a:ext cx="2808000" cy="288000"/>
          </a:xfrm>
          <a:prstGeom prst="rect">
            <a:avLst/>
          </a:prstGeom>
          <a:solidFill>
            <a:srgbClr val="CCFFFF">
              <a:alpha val="80000"/>
            </a:srgbClr>
          </a:solidFill>
          <a:ln w="12700">
            <a:solidFill>
              <a:srgbClr val="FF33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6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PPT</a:t>
            </a:r>
            <a:r>
              <a:rPr lang="zh-CN" altLang="en-US" sz="16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约定：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存储器</a:t>
            </a:r>
            <a:r>
              <a:rPr lang="zh-CN" altLang="en-US" sz="1600" b="1" dirty="0">
                <a:latin typeface="宋体" panose="02010600030101010101" pitchFamily="2" charset="-122"/>
              </a:rPr>
              <a:t>常</a:t>
            </a:r>
            <a:r>
              <a:rPr lang="zh-CN" altLang="en-US" sz="1600" b="1" u="none" dirty="0">
                <a:solidFill>
                  <a:schemeClr val="tx1"/>
                </a:solidFill>
                <a:latin typeface="宋体" panose="02010600030101010101" pitchFamily="2" charset="-122"/>
              </a:rPr>
              <a:t>简写</a:t>
            </a:r>
            <a:r>
              <a:rPr lang="zh-CN" altLang="en-US" sz="1600" b="1" dirty="0">
                <a:latin typeface="宋体" panose="02010600030101010101" pitchFamily="2" charset="-122"/>
              </a:rPr>
              <a:t>为</a:t>
            </a:r>
            <a:r>
              <a:rPr lang="en-US" altLang="zh-CN" sz="1600" b="1" dirty="0">
                <a:latin typeface="宋体" panose="02010600030101010101" pitchFamily="2" charset="-122"/>
              </a:rPr>
              <a:t>MEM</a:t>
            </a:r>
            <a:endParaRPr lang="en-US" altLang="zh-CN" sz="1600" b="1" u="none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43" name="Text Box 16"/>
          <p:cNvSpPr txBox="1">
            <a:spLocks noChangeArrowheads="1"/>
          </p:cNvSpPr>
          <p:nvPr/>
        </p:nvSpPr>
        <p:spPr bwMode="auto">
          <a:xfrm>
            <a:off x="2699792" y="5625312"/>
            <a:ext cx="6289400" cy="61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266700" indent="-266700"/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思考③：</a:t>
            </a:r>
            <a:r>
              <a:rPr lang="zh-CN" altLang="en-US" sz="1800" b="1" dirty="0">
                <a:latin typeface="宋体" panose="02010600030101010101" pitchFamily="2" charset="-122"/>
              </a:rPr>
              <a:t>指令与数据长度可能不同、均放在</a:t>
            </a:r>
            <a:r>
              <a:rPr lang="en-US" altLang="zh-CN" sz="1800" b="1" dirty="0">
                <a:latin typeface="宋体" panose="02010600030101010101" pitchFamily="2" charset="-122"/>
              </a:rPr>
              <a:t>MEM</a:t>
            </a:r>
            <a:r>
              <a:rPr lang="zh-CN" altLang="en-US" sz="1800" b="1" dirty="0">
                <a:latin typeface="宋体" panose="02010600030101010101" pitchFamily="2" charset="-122"/>
              </a:rPr>
              <a:t>中，为使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存储效率</a:t>
            </a:r>
            <a:r>
              <a:rPr lang="en-US" altLang="zh-CN" sz="1600" b="1" dirty="0">
                <a:latin typeface="宋体" panose="02010600030101010101" pitchFamily="2" charset="-122"/>
              </a:rPr>
              <a:t>(=</a:t>
            </a:r>
            <a:r>
              <a:rPr lang="zh-CN" altLang="en-US" sz="1600" b="1" dirty="0">
                <a:latin typeface="宋体" panose="02010600030101010101" pitchFamily="2" charset="-122"/>
              </a:rPr>
              <a:t>有效位数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总位数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最高，存储单元长度应如何约定？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44" name="Text Box 16"/>
          <p:cNvSpPr txBox="1">
            <a:spLocks noChangeArrowheads="1"/>
          </p:cNvSpPr>
          <p:nvPr/>
        </p:nvSpPr>
        <p:spPr bwMode="auto">
          <a:xfrm>
            <a:off x="1403568" y="3429000"/>
            <a:ext cx="6840840" cy="61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900113" indent="-900113"/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altLang="en-US" sz="1800" b="1" dirty="0">
                <a:latin typeface="宋体" panose="02010600030101010101" pitchFamily="2" charset="-122"/>
              </a:rPr>
              <a:t>为什么需要分析指令？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marL="900113" indent="-900113"/>
            <a:r>
              <a:rPr lang="zh-CN" altLang="en-US" sz="1800" b="1" dirty="0">
                <a:latin typeface="宋体" panose="02010600030101010101" pitchFamily="2" charset="-122"/>
              </a:rPr>
              <a:t>        循环变量为何是指令地址？指令地址应为什么部件地址？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45" name="Text Box 140">
            <a:extLst>
              <a:ext uri="{FF2B5EF4-FFF2-40B4-BE49-F238E27FC236}">
                <a16:creationId xmlns:a16="http://schemas.microsoft.com/office/drawing/2014/main" id="{CD1BC4C2-7153-4567-A070-84556EE8A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792" y="4977232"/>
            <a:ext cx="5364000" cy="540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54000" tIns="10800" rIns="54000" bIns="10800" anchor="t" anchorCtr="0"/>
          <a:lstStyle/>
          <a:p>
            <a:pPr marL="271780" indent="-271780"/>
            <a:r>
              <a:rPr lang="zh-CN" altLang="en-US" sz="16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    地址空间</a:t>
            </a:r>
            <a:r>
              <a:rPr lang="en-US" altLang="zh-CN" sz="16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600" b="1" dirty="0">
                <a:latin typeface="宋体" panose="02010600030101010101" pitchFamily="2" charset="-122"/>
              </a:rPr>
              <a:t>非负整数地址的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有序集合</a:t>
            </a:r>
            <a:endParaRPr lang="en-US" altLang="zh-CN" sz="16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marL="271780" indent="-271780"/>
            <a:r>
              <a:rPr lang="zh-CN" altLang="en-US" sz="16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线性地址空间</a:t>
            </a:r>
            <a:r>
              <a:rPr lang="en-US" altLang="zh-CN" sz="1600" b="1" u="none" dirty="0">
                <a:solidFill>
                  <a:srgbClr val="C000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600" b="1" dirty="0"/>
              <a:t>地址空间中的</a:t>
            </a:r>
            <a:r>
              <a:rPr lang="zh-CN" altLang="en-US" sz="1600" b="1" dirty="0">
                <a:solidFill>
                  <a:srgbClr val="0070C0"/>
                </a:solidFill>
              </a:rPr>
              <a:t>地址连续</a:t>
            </a:r>
            <a:r>
              <a:rPr lang="zh-CN" altLang="en-US" sz="1600" b="1" dirty="0"/>
              <a:t>，用</a:t>
            </a:r>
            <a:r>
              <a:rPr lang="en-US" altLang="zh-CN" sz="1600" i="1" dirty="0"/>
              <a:t>n</a:t>
            </a:r>
            <a:r>
              <a:rPr lang="zh-CN" altLang="en-US" sz="1600" b="1" dirty="0">
                <a:latin typeface="宋体" panose="02010600030101010101" pitchFamily="2" charset="-122"/>
              </a:rPr>
              <a:t>位或</a:t>
            </a:r>
            <a:r>
              <a:rPr lang="en-US" altLang="zh-CN" sz="1600" b="1" dirty="0">
                <a:latin typeface="宋体" panose="02010600030101010101" pitchFamily="2" charset="-122"/>
              </a:rPr>
              <a:t>2</a:t>
            </a:r>
            <a:r>
              <a:rPr lang="en-US" altLang="zh-CN" sz="1600" b="1" i="1" baseline="30000" dirty="0"/>
              <a:t>n</a:t>
            </a:r>
            <a:r>
              <a:rPr lang="zh-CN" altLang="en-US" sz="1600" b="1" dirty="0">
                <a:latin typeface="宋体" panose="02010600030101010101" pitchFamily="2" charset="-122"/>
              </a:rPr>
              <a:t>个表示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E8D21F5-53D1-4302-9F64-9906420303C5}"/>
              </a:ext>
            </a:extLst>
          </p:cNvPr>
          <p:cNvGrpSpPr/>
          <p:nvPr/>
        </p:nvGrpSpPr>
        <p:grpSpPr>
          <a:xfrm>
            <a:off x="1476000" y="2492896"/>
            <a:ext cx="5868000" cy="792000"/>
            <a:chOff x="1476000" y="2484000"/>
            <a:chExt cx="5868000" cy="792000"/>
          </a:xfrm>
        </p:grpSpPr>
        <p:sp>
          <p:nvSpPr>
            <p:cNvPr id="112" name="矩形 111"/>
            <p:cNvSpPr/>
            <p:nvPr/>
          </p:nvSpPr>
          <p:spPr bwMode="auto">
            <a:xfrm>
              <a:off x="1583968" y="2592000"/>
              <a:ext cx="3420000" cy="39600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4" name="Text Box 311"/>
            <p:cNvSpPr txBox="1">
              <a:spLocks noChangeArrowheads="1"/>
            </p:cNvSpPr>
            <p:nvPr/>
          </p:nvSpPr>
          <p:spPr bwMode="auto">
            <a:xfrm>
              <a:off x="1693046" y="2663059"/>
              <a:ext cx="75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取指令</a:t>
              </a:r>
            </a:p>
          </p:txBody>
        </p:sp>
        <p:sp>
          <p:nvSpPr>
            <p:cNvPr id="75" name="Text Box 314"/>
            <p:cNvSpPr txBox="1">
              <a:spLocks noChangeArrowheads="1"/>
            </p:cNvSpPr>
            <p:nvPr/>
          </p:nvSpPr>
          <p:spPr bwMode="auto">
            <a:xfrm>
              <a:off x="2736000" y="2663059"/>
              <a:ext cx="93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分析指令</a:t>
              </a:r>
            </a:p>
          </p:txBody>
        </p:sp>
        <p:sp>
          <p:nvSpPr>
            <p:cNvPr id="76" name="Text Box 316"/>
            <p:cNvSpPr txBox="1">
              <a:spLocks noChangeArrowheads="1"/>
            </p:cNvSpPr>
            <p:nvPr/>
          </p:nvSpPr>
          <p:spPr bwMode="auto">
            <a:xfrm>
              <a:off x="3960000" y="2663059"/>
              <a:ext cx="936000" cy="252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执行指令</a:t>
              </a:r>
            </a:p>
          </p:txBody>
        </p:sp>
        <p:cxnSp>
          <p:nvCxnSpPr>
            <p:cNvPr id="77" name="直接箭头连接符 76"/>
            <p:cNvCxnSpPr>
              <a:cxnSpLocks/>
            </p:cNvCxnSpPr>
            <p:nvPr/>
          </p:nvCxnSpPr>
          <p:spPr bwMode="auto">
            <a:xfrm>
              <a:off x="2449046" y="2772000"/>
              <a:ext cx="2869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8" name="直接箭头连接符 77"/>
            <p:cNvCxnSpPr>
              <a:cxnSpLocks/>
            </p:cNvCxnSpPr>
            <p:nvPr/>
          </p:nvCxnSpPr>
          <p:spPr bwMode="auto">
            <a:xfrm>
              <a:off x="3672000" y="2772000"/>
              <a:ext cx="288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9" name="Text Box 316"/>
            <p:cNvSpPr txBox="1">
              <a:spLocks noChangeArrowheads="1"/>
            </p:cNvSpPr>
            <p:nvPr/>
          </p:nvSpPr>
          <p:spPr bwMode="auto">
            <a:xfrm>
              <a:off x="5184000" y="2664644"/>
              <a:ext cx="2016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计算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下条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指令地址</a:t>
              </a:r>
            </a:p>
          </p:txBody>
        </p:sp>
        <p:cxnSp>
          <p:nvCxnSpPr>
            <p:cNvPr id="80" name="直接箭头连接符 79"/>
            <p:cNvCxnSpPr>
              <a:cxnSpLocks/>
            </p:cNvCxnSpPr>
            <p:nvPr/>
          </p:nvCxnSpPr>
          <p:spPr bwMode="auto">
            <a:xfrm>
              <a:off x="4896000" y="2772000"/>
              <a:ext cx="288000" cy="1585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2" name="Text Box 316"/>
            <p:cNvSpPr txBox="1">
              <a:spLocks noChangeArrowheads="1"/>
            </p:cNvSpPr>
            <p:nvPr/>
          </p:nvSpPr>
          <p:spPr bwMode="auto">
            <a:xfrm>
              <a:off x="1728264" y="3060000"/>
              <a:ext cx="93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highlight>
                    <a:srgbClr val="CCCCFF"/>
                  </a:highlight>
                  <a:latin typeface="宋体" panose="02010600030101010101" pitchFamily="2" charset="-122"/>
                </a:rPr>
                <a:t>指令地址</a:t>
              </a:r>
            </a:p>
          </p:txBody>
        </p:sp>
        <p:sp>
          <p:nvSpPr>
            <p:cNvPr id="83" name="Line 97"/>
            <p:cNvSpPr>
              <a:spLocks noChangeShapeType="1"/>
            </p:cNvSpPr>
            <p:nvPr/>
          </p:nvSpPr>
          <p:spPr bwMode="auto">
            <a:xfrm flipH="1" flipV="1">
              <a:off x="2088000" y="2914288"/>
              <a:ext cx="0" cy="162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prstDash val="solid"/>
              <a:round/>
              <a:headEnd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BBBB6822-FA98-4341-90C7-0E1D8DB41BB6}"/>
                </a:ext>
              </a:extLst>
            </p:cNvPr>
            <p:cNvCxnSpPr/>
            <p:nvPr>
              <p:custDataLst>
                <p:tags r:id="rId1"/>
              </p:custDataLst>
            </p:nvPr>
          </p:nvCxnSpPr>
          <p:spPr bwMode="auto">
            <a:xfrm flipH="1">
              <a:off x="1476000" y="2484000"/>
              <a:ext cx="0" cy="288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3038F4CD-9F98-4A97-B35F-B70E7C2CCDAF}"/>
                </a:ext>
              </a:extLst>
            </p:cNvPr>
            <p:cNvCxnSpPr>
              <a:cxnSpLocks/>
            </p:cNvCxnSpPr>
            <p:nvPr>
              <p:custDataLst>
                <p:tags r:id="rId2"/>
              </p:custDataLst>
            </p:nvPr>
          </p:nvCxnSpPr>
          <p:spPr bwMode="auto">
            <a:xfrm flipH="1" flipV="1">
              <a:off x="1476000" y="2484000"/>
              <a:ext cx="5868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A567DA07-1145-4B54-A6B9-6D8614231ED7}"/>
                </a:ext>
              </a:extLst>
            </p:cNvPr>
            <p:cNvCxnSpPr/>
            <p:nvPr/>
          </p:nvCxnSpPr>
          <p:spPr bwMode="auto">
            <a:xfrm>
              <a:off x="1476000" y="2772953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18D4C987-5539-4666-9B2D-88A6343A4691}"/>
                </a:ext>
              </a:extLst>
            </p:cNvPr>
            <p:cNvCxnSpPr>
              <a:cxnSpLocks/>
            </p:cNvCxnSpPr>
            <p:nvPr>
              <p:custDataLst>
                <p:tags r:id="rId3"/>
              </p:custDataLst>
            </p:nvPr>
          </p:nvCxnSpPr>
          <p:spPr bwMode="auto">
            <a:xfrm>
              <a:off x="7200000" y="2772000"/>
              <a:ext cx="144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70AEE4C0-81FB-4986-9023-06A691FF650F}"/>
                </a:ext>
              </a:extLst>
            </p:cNvPr>
            <p:cNvCxnSpPr>
              <a:cxnSpLocks/>
            </p:cNvCxnSpPr>
            <p:nvPr>
              <p:custDataLst>
                <p:tags r:id="rId4"/>
              </p:custDataLst>
            </p:nvPr>
          </p:nvCxnSpPr>
          <p:spPr bwMode="auto">
            <a:xfrm flipV="1">
              <a:off x="7344000" y="2484000"/>
              <a:ext cx="0" cy="288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4A423742-B66F-4F7D-9483-7F081D83B27A}"/>
                </a:ext>
              </a:extLst>
            </p:cNvPr>
            <p:cNvCxnSpPr>
              <a:cxnSpLocks/>
            </p:cNvCxnSpPr>
            <p:nvPr>
              <p:custDataLst>
                <p:tags r:id="rId5"/>
              </p:custDataLst>
            </p:nvPr>
          </p:nvCxnSpPr>
          <p:spPr bwMode="auto">
            <a:xfrm>
              <a:off x="6228184" y="2917904"/>
              <a:ext cx="0" cy="28800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62" name="Line 97">
              <a:extLst>
                <a:ext uri="{FF2B5EF4-FFF2-40B4-BE49-F238E27FC236}">
                  <a16:creationId xmlns:a16="http://schemas.microsoft.com/office/drawing/2014/main" id="{53BCC560-E937-4546-A0E9-24A7E9CA3A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28000" y="3204000"/>
              <a:ext cx="3600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prstDash val="solid"/>
              <a:round/>
              <a:headEnd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  <p:bldP spid="54" grpId="0" animBg="1"/>
      <p:bldP spid="64" grpId="0" animBg="1"/>
      <p:bldP spid="110" grpId="0" animBg="1"/>
      <p:bldP spid="43" grpId="0" animBg="1"/>
      <p:bldP spid="44" grpId="0" animBg="1"/>
      <p:bldP spid="4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D1D41-3C5C-4D6A-BD81-623F87B6C384}" type="slidenum">
              <a:rPr lang="en-US" altLang="zh-CN"/>
              <a:t>15</a:t>
            </a:fld>
            <a:endParaRPr lang="en-US" altLang="zh-CN"/>
          </a:p>
        </p:txBody>
      </p:sp>
      <p:sp>
        <p:nvSpPr>
          <p:cNvPr id="248944" name="Text Box 112"/>
          <p:cNvSpPr txBox="1">
            <a:spLocks noChangeArrowheads="1"/>
          </p:cNvSpPr>
          <p:nvPr/>
        </p:nvSpPr>
        <p:spPr bwMode="auto">
          <a:xfrm>
            <a:off x="179388" y="439924"/>
            <a:ext cx="8785225" cy="391143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tIns="10800" bIns="10800" anchor="ctr" anchorCtr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二、计算机硬件组成 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指现代计算机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endParaRPr lang="zh-CN" altLang="en-US" sz="2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49120" name="Text Box 288"/>
          <p:cNvSpPr txBox="1">
            <a:spLocks noChangeArrowheads="1"/>
          </p:cNvSpPr>
          <p:nvPr/>
        </p:nvSpPr>
        <p:spPr bwMode="auto">
          <a:xfrm>
            <a:off x="179388" y="1340768"/>
            <a:ext cx="8785225" cy="9190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、计算机的基本结构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*组织方法：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65" name="Text Box 72"/>
          <p:cNvSpPr txBox="1">
            <a:spLocks noChangeArrowheads="1"/>
          </p:cNvSpPr>
          <p:nvPr/>
        </p:nvSpPr>
        <p:spPr bwMode="auto">
          <a:xfrm>
            <a:off x="179388" y="2544788"/>
            <a:ext cx="8785225" cy="11957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改进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多种存储器共存</a:t>
            </a:r>
            <a:r>
              <a:rPr lang="zh-CN" altLang="en-US" sz="2200" b="1" dirty="0">
                <a:latin typeface="宋体" panose="02010600030101010101" pitchFamily="2" charset="-122"/>
              </a:rPr>
              <a:t>的存储器结构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←提高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的性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价</a:t>
            </a:r>
            <a:endParaRPr lang="en-US" altLang="zh-CN" sz="18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b="1" dirty="0">
                <a:latin typeface="宋体" panose="02010600030101010101" pitchFamily="2" charset="-122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</a:rPr>
              <a:t>由主存＋辅存构成，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    (</a:t>
            </a:r>
            <a:r>
              <a:rPr lang="zh-CN" altLang="en-US" sz="1800" b="1" dirty="0">
                <a:latin typeface="宋体" panose="02010600030101010101" pitchFamily="2" charset="-122"/>
              </a:rPr>
              <a:t>层次结构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28" name="Text Box 72"/>
          <p:cNvSpPr txBox="1">
            <a:spLocks noChangeArrowheads="1"/>
          </p:cNvSpPr>
          <p:nvPr/>
        </p:nvSpPr>
        <p:spPr bwMode="auto">
          <a:xfrm>
            <a:off x="179512" y="5137076"/>
            <a:ext cx="8856984" cy="11722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改进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以存储器为中心</a:t>
            </a:r>
            <a:r>
              <a:rPr lang="zh-CN" altLang="en-US" sz="2200" b="1" dirty="0">
                <a:latin typeface="宋体" panose="02010600030101010101" pitchFamily="2" charset="-122"/>
              </a:rPr>
              <a:t>的硬件结构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←提高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的性能</a:t>
            </a:r>
            <a:endParaRPr lang="en-US" altLang="zh-CN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(</a:t>
            </a:r>
            <a:r>
              <a:rPr lang="zh-CN" altLang="en-US" sz="1800" b="1" dirty="0">
                <a:latin typeface="宋体" panose="02010600030101010101" pitchFamily="2" charset="-122"/>
              </a:rPr>
              <a:t>运算与</a:t>
            </a:r>
            <a:r>
              <a:rPr lang="en-US" altLang="zh-CN" sz="1800" b="1" dirty="0">
                <a:latin typeface="宋体" panose="02010600030101010101" pitchFamily="2" charset="-122"/>
              </a:rPr>
              <a:t>I/O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并行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缓冲技术＋</a:t>
            </a:r>
            <a:r>
              <a:rPr lang="en-US" altLang="zh-CN" sz="2200" b="1" dirty="0">
                <a:latin typeface="宋体" panose="02010600030101010101" pitchFamily="2" charset="-122"/>
              </a:rPr>
              <a:t>DMA</a:t>
            </a:r>
            <a:r>
              <a:rPr lang="zh-CN" altLang="en-US" sz="2200" b="1" dirty="0">
                <a:latin typeface="宋体" panose="02010600030101010101" pitchFamily="2" charset="-122"/>
              </a:rPr>
              <a:t>技术</a:t>
            </a:r>
            <a:r>
              <a:rPr lang="en-US" altLang="zh-CN" sz="2200" b="1" dirty="0">
                <a:latin typeface="宋体" panose="02010600030101010101" pitchFamily="2" charset="-122"/>
              </a:rPr>
              <a:t> 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←第</a:t>
            </a:r>
            <a:r>
              <a:rPr lang="en-US" altLang="zh-CN" sz="1800" b="1" dirty="0">
                <a:latin typeface="宋体" panose="02010600030101010101" pitchFamily="2" charset="-122"/>
              </a:rPr>
              <a:t>3</a:t>
            </a:r>
            <a:r>
              <a:rPr lang="zh-CN" altLang="en-US" sz="1800" b="1" dirty="0">
                <a:latin typeface="宋体" panose="02010600030101010101" pitchFamily="2" charset="-122"/>
              </a:rPr>
              <a:t>章、第</a:t>
            </a:r>
            <a:r>
              <a:rPr lang="en-US" altLang="zh-CN" sz="1800" b="1" dirty="0">
                <a:latin typeface="宋体" panose="02010600030101010101" pitchFamily="2" charset="-122"/>
              </a:rPr>
              <a:t>7</a:t>
            </a:r>
            <a:r>
              <a:rPr lang="zh-CN" altLang="en-US" sz="1800" b="1" dirty="0">
                <a:latin typeface="宋体" panose="02010600030101010101" pitchFamily="2" charset="-122"/>
              </a:rPr>
              <a:t>章讨论</a:t>
            </a:r>
            <a:endParaRPr lang="zh-CN" altLang="en-US" sz="1800" b="1" dirty="0">
              <a:solidFill>
                <a:schemeClr val="accent2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32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1" y="6525690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9" name="Text Box 288"/>
          <p:cNvSpPr txBox="1">
            <a:spLocks noChangeArrowheads="1"/>
          </p:cNvSpPr>
          <p:nvPr/>
        </p:nvSpPr>
        <p:spPr bwMode="auto">
          <a:xfrm>
            <a:off x="179512" y="883399"/>
            <a:ext cx="8785225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硬件组成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包括结构、部件、部件互连       </a:t>
            </a:r>
            <a:r>
              <a:rPr lang="zh-CN" altLang="en-US" sz="1800" b="1" dirty="0">
                <a:latin typeface="宋体" panose="02010600030101010101" pitchFamily="2" charset="-122"/>
              </a:rPr>
              <a:t>←部件组成受结构影响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547664" y="3789040"/>
            <a:ext cx="4608064" cy="1296893"/>
            <a:chOff x="1691959" y="4932724"/>
            <a:chExt cx="4608064" cy="1296893"/>
          </a:xfrm>
        </p:grpSpPr>
        <p:sp>
          <p:nvSpPr>
            <p:cNvPr id="33" name="Rectangle 93"/>
            <p:cNvSpPr>
              <a:spLocks noChangeArrowheads="1"/>
            </p:cNvSpPr>
            <p:nvPr/>
          </p:nvSpPr>
          <p:spPr bwMode="auto">
            <a:xfrm>
              <a:off x="1691959" y="4933617"/>
              <a:ext cx="2448000" cy="1296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Text Box 88"/>
            <p:cNvSpPr txBox="1">
              <a:spLocks noChangeArrowheads="1"/>
            </p:cNvSpPr>
            <p:nvPr/>
          </p:nvSpPr>
          <p:spPr bwMode="auto">
            <a:xfrm>
              <a:off x="4788023" y="4933617"/>
              <a:ext cx="1512000" cy="129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spcAft>
                  <a:spcPts val="300"/>
                </a:spcAft>
              </a:pPr>
              <a:r>
                <a:rPr lang="zh-CN" altLang="en-US" sz="1800" b="1" dirty="0">
                  <a:solidFill>
                    <a:srgbClr val="C00000"/>
                  </a:solidFill>
                  <a:highlight>
                    <a:srgbClr val="FFFF00"/>
                  </a:highlight>
                </a:rPr>
                <a:t>外部设备</a:t>
              </a:r>
              <a:endParaRPr lang="en-US" altLang="zh-CN" sz="1800" b="1" dirty="0">
                <a:solidFill>
                  <a:srgbClr val="C00000"/>
                </a:solidFill>
                <a:highlight>
                  <a:srgbClr val="FFFF00"/>
                </a:highlight>
              </a:endParaRPr>
            </a:p>
            <a:p>
              <a:pPr>
                <a:spcBef>
                  <a:spcPts val="300"/>
                </a:spcBef>
              </a:pPr>
              <a:r>
                <a:rPr lang="en-US" altLang="zh-CN" sz="1800" b="1" dirty="0"/>
                <a:t>  ·</a:t>
              </a:r>
              <a:r>
                <a:rPr lang="zh-CN" altLang="en-US" sz="1800" b="1" dirty="0"/>
                <a:t>输入设备</a:t>
              </a:r>
              <a:endParaRPr lang="en-US" altLang="zh-CN" sz="1800" b="1" dirty="0"/>
            </a:p>
            <a:p>
              <a:r>
                <a:rPr lang="en-US" altLang="zh-CN" sz="1800" b="1" dirty="0"/>
                <a:t>  ·</a:t>
              </a:r>
              <a:r>
                <a:rPr lang="zh-CN" altLang="en-US" sz="1800" b="1" dirty="0"/>
                <a:t>输出设备</a:t>
              </a:r>
            </a:p>
            <a:p>
              <a:r>
                <a:rPr lang="en-US" altLang="zh-CN" sz="1800" b="1" dirty="0"/>
                <a:t>  ·</a:t>
              </a:r>
              <a:r>
                <a:rPr lang="zh-CN" altLang="en-US" sz="1800" b="1" dirty="0">
                  <a:solidFill>
                    <a:srgbClr val="990099"/>
                  </a:solidFill>
                </a:rPr>
                <a:t>辅助存储器</a:t>
              </a:r>
              <a:endParaRPr lang="en-US" altLang="zh-CN" sz="1800" b="1" dirty="0">
                <a:solidFill>
                  <a:srgbClr val="990099"/>
                </a:solidFill>
              </a:endParaRPr>
            </a:p>
          </p:txBody>
        </p:sp>
        <p:sp>
          <p:nvSpPr>
            <p:cNvPr id="35" name="Line 89"/>
            <p:cNvSpPr>
              <a:spLocks noChangeShapeType="1"/>
            </p:cNvSpPr>
            <p:nvPr/>
          </p:nvSpPr>
          <p:spPr bwMode="auto">
            <a:xfrm>
              <a:off x="2987823" y="5301208"/>
              <a:ext cx="720000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Rectangle 90"/>
            <p:cNvSpPr>
              <a:spLocks noChangeArrowheads="1"/>
            </p:cNvSpPr>
            <p:nvPr/>
          </p:nvSpPr>
          <p:spPr bwMode="auto">
            <a:xfrm>
              <a:off x="1763687" y="5041753"/>
              <a:ext cx="1224000" cy="11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Text Box 91"/>
            <p:cNvSpPr txBox="1">
              <a:spLocks noChangeArrowheads="1"/>
            </p:cNvSpPr>
            <p:nvPr/>
          </p:nvSpPr>
          <p:spPr bwMode="auto">
            <a:xfrm>
              <a:off x="3707903" y="5077633"/>
              <a:ext cx="360000" cy="108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5000"/>
                </a:lnSpc>
              </a:pPr>
              <a:r>
                <a:rPr lang="zh-CN" altLang="en-US" sz="1800" b="1" dirty="0">
                  <a:solidFill>
                    <a:srgbClr val="990099"/>
                  </a:solidFill>
                </a:rPr>
                <a:t>主</a:t>
              </a:r>
            </a:p>
            <a:p>
              <a:pPr algn="ctr">
                <a:lnSpc>
                  <a:spcPct val="95000"/>
                </a:lnSpc>
              </a:pPr>
              <a:r>
                <a:rPr lang="zh-CN" altLang="en-US" sz="1800" b="1" dirty="0">
                  <a:solidFill>
                    <a:srgbClr val="990099"/>
                  </a:solidFill>
                </a:rPr>
                <a:t>存</a:t>
              </a:r>
            </a:p>
            <a:p>
              <a:pPr algn="ctr">
                <a:lnSpc>
                  <a:spcPct val="95000"/>
                </a:lnSpc>
              </a:pPr>
              <a:r>
                <a:rPr lang="zh-CN" altLang="en-US" sz="1800" b="1" dirty="0">
                  <a:solidFill>
                    <a:srgbClr val="990099"/>
                  </a:solidFill>
                </a:rPr>
                <a:t>储</a:t>
              </a:r>
            </a:p>
            <a:p>
              <a:pPr algn="ctr">
                <a:lnSpc>
                  <a:spcPct val="95000"/>
                </a:lnSpc>
              </a:pPr>
              <a:r>
                <a:rPr lang="zh-CN" altLang="en-US" sz="1800" b="1" dirty="0">
                  <a:solidFill>
                    <a:srgbClr val="990099"/>
                  </a:solidFill>
                </a:rPr>
                <a:t>器</a:t>
              </a:r>
            </a:p>
          </p:txBody>
        </p:sp>
        <p:sp>
          <p:nvSpPr>
            <p:cNvPr id="38" name="Line 92"/>
            <p:cNvSpPr>
              <a:spLocks noChangeShapeType="1"/>
            </p:cNvSpPr>
            <p:nvPr/>
          </p:nvSpPr>
          <p:spPr bwMode="auto">
            <a:xfrm flipV="1">
              <a:off x="2987823" y="5941729"/>
              <a:ext cx="72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94"/>
            <p:cNvSpPr>
              <a:spLocks noChangeShapeType="1"/>
            </p:cNvSpPr>
            <p:nvPr/>
          </p:nvSpPr>
          <p:spPr bwMode="auto">
            <a:xfrm flipV="1">
              <a:off x="4141538" y="5301208"/>
              <a:ext cx="646113" cy="0"/>
            </a:xfrm>
            <a:prstGeom prst="line">
              <a:avLst/>
            </a:prstGeom>
            <a:noFill/>
            <a:ln w="19050" cmpd="sng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95"/>
            <p:cNvSpPr>
              <a:spLocks noChangeShapeType="1"/>
            </p:cNvSpPr>
            <p:nvPr/>
          </p:nvSpPr>
          <p:spPr bwMode="auto">
            <a:xfrm flipV="1">
              <a:off x="4139951" y="5878165"/>
              <a:ext cx="6477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96"/>
            <p:cNvSpPr>
              <a:spLocks noChangeShapeType="1"/>
            </p:cNvSpPr>
            <p:nvPr/>
          </p:nvSpPr>
          <p:spPr bwMode="auto">
            <a:xfrm flipH="1" flipV="1">
              <a:off x="4139951" y="6022181"/>
              <a:ext cx="6477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 Box 97"/>
            <p:cNvSpPr txBox="1">
              <a:spLocks noChangeArrowheads="1"/>
            </p:cNvSpPr>
            <p:nvPr/>
          </p:nvSpPr>
          <p:spPr bwMode="auto">
            <a:xfrm>
              <a:off x="1907704" y="5797745"/>
              <a:ext cx="936000" cy="28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/>
                <a:t>控制器</a:t>
              </a:r>
              <a:endParaRPr lang="en-US" altLang="zh-CN" sz="1800" b="1" dirty="0"/>
            </a:p>
          </p:txBody>
        </p:sp>
        <p:sp>
          <p:nvSpPr>
            <p:cNvPr id="43" name="Text Box 98"/>
            <p:cNvSpPr txBox="1">
              <a:spLocks noChangeArrowheads="1"/>
            </p:cNvSpPr>
            <p:nvPr/>
          </p:nvSpPr>
          <p:spPr bwMode="auto">
            <a:xfrm>
              <a:off x="2123727" y="5041513"/>
              <a:ext cx="576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CPU</a:t>
              </a:r>
            </a:p>
          </p:txBody>
        </p:sp>
        <p:sp>
          <p:nvSpPr>
            <p:cNvPr id="44" name="Line 99"/>
            <p:cNvSpPr>
              <a:spLocks noChangeShapeType="1"/>
            </p:cNvSpPr>
            <p:nvPr/>
          </p:nvSpPr>
          <p:spPr bwMode="auto">
            <a:xfrm flipH="1" flipV="1">
              <a:off x="2411758" y="5574879"/>
              <a:ext cx="1" cy="2160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 Box 100"/>
            <p:cNvSpPr txBox="1">
              <a:spLocks noChangeArrowheads="1"/>
            </p:cNvSpPr>
            <p:nvPr/>
          </p:nvSpPr>
          <p:spPr bwMode="auto">
            <a:xfrm>
              <a:off x="1907704" y="5293689"/>
              <a:ext cx="936000" cy="288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/>
                <a:t>运算器</a:t>
              </a:r>
              <a:endParaRPr lang="en-US" altLang="zh-CN" sz="1800" b="1" dirty="0"/>
            </a:p>
          </p:txBody>
        </p:sp>
        <p:sp>
          <p:nvSpPr>
            <p:cNvPr id="46" name="Text Box 101"/>
            <p:cNvSpPr txBox="1">
              <a:spLocks noChangeArrowheads="1"/>
            </p:cNvSpPr>
            <p:nvPr/>
          </p:nvSpPr>
          <p:spPr bwMode="auto">
            <a:xfrm>
              <a:off x="3059831" y="4932724"/>
              <a:ext cx="576000" cy="2889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solidFill>
                    <a:srgbClr val="C00000"/>
                  </a:solidFill>
                  <a:highlight>
                    <a:srgbClr val="FFFF00"/>
                  </a:highlight>
                </a:rPr>
                <a:t>主机</a:t>
              </a:r>
            </a:p>
          </p:txBody>
        </p:sp>
        <p:sp>
          <p:nvSpPr>
            <p:cNvPr id="47" name="Line 116"/>
            <p:cNvSpPr>
              <a:spLocks noChangeShapeType="1"/>
            </p:cNvSpPr>
            <p:nvPr/>
          </p:nvSpPr>
          <p:spPr bwMode="auto">
            <a:xfrm flipH="1" flipV="1">
              <a:off x="2987823" y="6022181"/>
              <a:ext cx="720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119"/>
            <p:cNvSpPr>
              <a:spLocks noChangeShapeType="1"/>
            </p:cNvSpPr>
            <p:nvPr/>
          </p:nvSpPr>
          <p:spPr bwMode="auto">
            <a:xfrm>
              <a:off x="2987823" y="5659660"/>
              <a:ext cx="720000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120"/>
            <p:cNvSpPr>
              <a:spLocks noChangeShapeType="1"/>
            </p:cNvSpPr>
            <p:nvPr/>
          </p:nvSpPr>
          <p:spPr bwMode="auto">
            <a:xfrm>
              <a:off x="4139951" y="5661248"/>
              <a:ext cx="647700" cy="0"/>
            </a:xfrm>
            <a:prstGeom prst="line">
              <a:avLst/>
            </a:prstGeom>
            <a:noFill/>
            <a:ln w="19050" cmpd="sng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" name="AutoShape 45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75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Text Box 288"/>
          <p:cNvSpPr txBox="1">
            <a:spLocks noChangeArrowheads="1"/>
          </p:cNvSpPr>
          <p:nvPr/>
        </p:nvSpPr>
        <p:spPr bwMode="auto">
          <a:xfrm>
            <a:off x="1907704" y="1804435"/>
            <a:ext cx="7056908" cy="7725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改进</a:t>
            </a:r>
            <a:r>
              <a:rPr lang="zh-CN" altLang="en-US" sz="2200" b="1" u="sng" dirty="0">
                <a:latin typeface="宋体" panose="02010600030101010101" pitchFamily="2" charset="-122"/>
              </a:rPr>
              <a:t>冯</a:t>
            </a:r>
            <a:r>
              <a:rPr lang="en-US" altLang="zh-CN" sz="2200" b="1" u="sng" dirty="0">
                <a:latin typeface="+mn-lt"/>
              </a:rPr>
              <a:t>·</a:t>
            </a:r>
            <a:r>
              <a:rPr lang="zh-CN" altLang="en-US" sz="2200" b="1" u="sng" dirty="0">
                <a:latin typeface="宋体" panose="02010600030101010101" pitchFamily="2" charset="-122"/>
              </a:rPr>
              <a:t>诺依曼计算机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highlight>
                  <a:srgbClr val="CCFFFF"/>
                </a:highlight>
                <a:latin typeface="宋体" panose="02010600030101010101" pitchFamily="2" charset="-122"/>
              </a:rPr>
              <a:t>尚无更好</a:t>
            </a:r>
            <a:r>
              <a:rPr lang="zh-CN" altLang="en-US" sz="1800" b="1" dirty="0">
                <a:latin typeface="宋体" panose="02010600030101010101" pitchFamily="2" charset="-122"/>
              </a:rPr>
              <a:t>的模型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        </a:t>
            </a:r>
            <a:r>
              <a:rPr lang="zh-CN" altLang="en-US" sz="1800" dirty="0">
                <a:latin typeface="宋体" panose="02010600030101010101" pitchFamily="2" charset="-122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瓶颈：</a:t>
            </a:r>
            <a:r>
              <a:rPr lang="en-US" altLang="zh-CN" sz="1800" b="1" dirty="0">
                <a:latin typeface="宋体" panose="02010600030101010101" pitchFamily="2" charset="-122"/>
              </a:rPr>
              <a:t>MEM</a:t>
            </a:r>
            <a:r>
              <a:rPr lang="zh-CN" altLang="en-US" sz="1800" b="1" dirty="0">
                <a:latin typeface="宋体" panose="02010600030101010101" pitchFamily="2" charset="-122"/>
              </a:rPr>
              <a:t>需求</a:t>
            </a:r>
            <a:r>
              <a:rPr lang="zh-CN" altLang="en-US" sz="18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矛盾</a:t>
            </a:r>
            <a:r>
              <a:rPr lang="zh-CN" altLang="en-US" sz="1800" b="1" dirty="0">
                <a:latin typeface="宋体" panose="02010600030101010101" pitchFamily="2" charset="-122"/>
              </a:rPr>
              <a:t>、运算与</a:t>
            </a:r>
            <a:r>
              <a:rPr lang="en-US" altLang="zh-CN" sz="1800" b="1" dirty="0">
                <a:latin typeface="宋体" panose="02010600030101010101" pitchFamily="2" charset="-122"/>
              </a:rPr>
              <a:t>I/O</a:t>
            </a:r>
            <a:r>
              <a:rPr lang="zh-CN" altLang="en-US" sz="18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串行</a:t>
            </a:r>
          </a:p>
        </p:txBody>
      </p:sp>
      <p:sp>
        <p:nvSpPr>
          <p:cNvPr id="50" name="Text Box 72"/>
          <p:cNvSpPr txBox="1">
            <a:spLocks noChangeArrowheads="1"/>
          </p:cNvSpPr>
          <p:nvPr/>
        </p:nvSpPr>
        <p:spPr bwMode="auto">
          <a:xfrm>
            <a:off x="4427984" y="2978716"/>
            <a:ext cx="4032448" cy="7725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CPU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只直接访问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主存</a:t>
            </a:r>
          </a:p>
          <a:p>
            <a:pPr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冯氏模型的存储器→</a:t>
            </a:r>
            <a:r>
              <a:rPr lang="zh-CN" altLang="en-US" sz="1800" dirty="0">
                <a:latin typeface="宋体" panose="02010600030101010101" pitchFamily="2" charset="-122"/>
              </a:rPr>
              <a:t>┴</a:t>
            </a:r>
            <a:r>
              <a:rPr lang="zh-CN" altLang="en-US" sz="1800" b="1" dirty="0">
                <a:latin typeface="宋体" panose="02010600030101010101" pitchFamily="2" charset="-122"/>
              </a:rPr>
              <a:t>→辅存∈外设</a:t>
            </a:r>
            <a:endParaRPr lang="en-US" altLang="zh-CN" sz="1800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51" name="Text Box 349"/>
          <p:cNvSpPr txBox="1">
            <a:spLocks noChangeArrowheads="1"/>
          </p:cNvSpPr>
          <p:nvPr/>
        </p:nvSpPr>
        <p:spPr bwMode="auto">
          <a:xfrm>
            <a:off x="6516488" y="3861933"/>
            <a:ext cx="2231976" cy="1080128"/>
          </a:xfrm>
          <a:prstGeom prst="rect">
            <a:avLst/>
          </a:prstGeom>
          <a:solidFill>
            <a:srgbClr val="CCFFFF">
              <a:alpha val="80000"/>
            </a:srgbClr>
          </a:solidFill>
          <a:ln w="12700">
            <a:solidFill>
              <a:srgbClr val="FF33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r>
              <a:rPr lang="en-US" altLang="zh-CN" sz="16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PPT</a:t>
            </a:r>
            <a:r>
              <a:rPr lang="zh-CN" altLang="en-US" sz="1600" b="1" u="none" dirty="0">
                <a:solidFill>
                  <a:srgbClr val="FF3399"/>
                </a:solidFill>
                <a:latin typeface="宋体" panose="02010600030101010101" pitchFamily="2" charset="-122"/>
              </a:rPr>
              <a:t>约定：</a:t>
            </a:r>
            <a:r>
              <a:rPr lang="zh-CN" altLang="en-US" sz="1600" b="1" u="none" dirty="0">
                <a:latin typeface="宋体" panose="02010600030101010101" pitchFamily="2" charset="-122"/>
              </a:rPr>
              <a:t>原理图中，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r>
              <a:rPr lang="en-US" altLang="zh-CN" sz="1600" b="1" dirty="0">
                <a:latin typeface="宋体" panose="02010600030101010101" pitchFamily="2" charset="-122"/>
              </a:rPr>
              <a:t>  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地址线</a:t>
            </a:r>
            <a:r>
              <a:rPr lang="zh-CN" altLang="en-US" sz="1600" b="1" u="none" dirty="0">
                <a:latin typeface="宋体" panose="02010600030101010101" pitchFamily="2" charset="-122"/>
              </a:rPr>
              <a:t>为深红色线、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r>
              <a:rPr lang="en-US" altLang="zh-CN" sz="1600" b="1" dirty="0">
                <a:latin typeface="宋体" panose="02010600030101010101" pitchFamily="2" charset="-122"/>
              </a:rPr>
              <a:t>  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数据线</a:t>
            </a:r>
            <a:r>
              <a:rPr lang="zh-CN" altLang="en-US" sz="1600" b="1" u="none" dirty="0">
                <a:latin typeface="宋体" panose="02010600030101010101" pitchFamily="2" charset="-122"/>
              </a:rPr>
              <a:t>为蓝色线、</a:t>
            </a:r>
            <a:endParaRPr lang="en-US" altLang="zh-CN" sz="1600" b="1" u="none" dirty="0">
              <a:latin typeface="宋体" panose="02010600030101010101" pitchFamily="2" charset="-122"/>
            </a:endParaRPr>
          </a:p>
          <a:p>
            <a:r>
              <a:rPr lang="en-US" altLang="zh-CN" sz="1600" b="1" dirty="0">
                <a:latin typeface="宋体" panose="02010600030101010101" pitchFamily="2" charset="-122"/>
              </a:rPr>
              <a:t>  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控制线</a:t>
            </a:r>
            <a:r>
              <a:rPr lang="zh-CN" altLang="en-US" sz="1600" b="1" u="none" dirty="0">
                <a:latin typeface="宋体" panose="02010600030101010101" pitchFamily="2" charset="-122"/>
              </a:rPr>
              <a:t>为粉红色线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52" name="AutoShape 338">
            <a:extLst>
              <a:ext uri="{FF2B5EF4-FFF2-40B4-BE49-F238E27FC236}">
                <a16:creationId xmlns:a16="http://schemas.microsoft.com/office/drawing/2014/main" id="{F30CF463-F6A8-4EDF-AB0A-CA6A2CAF29B9}"/>
              </a:ext>
            </a:extLst>
          </p:cNvPr>
          <p:cNvSpPr/>
          <p:nvPr/>
        </p:nvSpPr>
        <p:spPr bwMode="auto">
          <a:xfrm>
            <a:off x="5220072" y="1556792"/>
            <a:ext cx="2160000" cy="252000"/>
          </a:xfrm>
          <a:prstGeom prst="borderCallout2">
            <a:avLst>
              <a:gd name="adj1" fmla="val 46301"/>
              <a:gd name="adj2" fmla="val -24"/>
              <a:gd name="adj3" fmla="val 46464"/>
              <a:gd name="adj4" fmla="val -12512"/>
              <a:gd name="adj5" fmla="val 311529"/>
              <a:gd name="adj6" fmla="val -25877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vert="horz" lIns="18000" tIns="10800" rIns="18000" bIns="10800" anchor="ctr" anchorCtr="1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大</a:t>
            </a:r>
            <a:r>
              <a:rPr lang="zh-CN" altLang="en-US" sz="1600" b="1" dirty="0">
                <a:latin typeface="宋体" panose="02010600030101010101" pitchFamily="2" charset="-122"/>
              </a:rPr>
              <a:t>容量</a:t>
            </a:r>
            <a:r>
              <a:rPr lang="en-US" altLang="zh-CN" sz="1600" b="1" dirty="0">
                <a:latin typeface="宋体" panose="02010600030101010101" pitchFamily="2" charset="-122"/>
              </a:rPr>
              <a:t>&amp;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高</a:t>
            </a:r>
            <a:r>
              <a:rPr lang="zh-CN" altLang="en-US" sz="1600" b="1" dirty="0">
                <a:latin typeface="宋体" panose="02010600030101010101" pitchFamily="2" charset="-122"/>
              </a:rPr>
              <a:t>速度</a:t>
            </a:r>
            <a:r>
              <a:rPr lang="en-US" altLang="zh-CN" sz="1600" b="1" dirty="0">
                <a:latin typeface="宋体" panose="02010600030101010101" pitchFamily="2" charset="-122"/>
              </a:rPr>
              <a:t>&amp;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低</a:t>
            </a:r>
            <a:r>
              <a:rPr lang="zh-CN" altLang="en-US" sz="1600" b="1" dirty="0">
                <a:latin typeface="宋体" panose="02010600030101010101" pitchFamily="2" charset="-122"/>
              </a:rPr>
              <a:t>价格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9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120" grpId="0"/>
      <p:bldP spid="28" grpId="0"/>
      <p:bldP spid="30" grpId="0" bldLvl="0"/>
      <p:bldP spid="50" grpId="0"/>
      <p:bldP spid="51" grpId="0" animBg="1"/>
      <p:bldP spid="5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6124C-3D4E-4056-B55C-4307BAE5E75C}" type="slidenum">
              <a:rPr lang="en-US" altLang="zh-CN"/>
              <a:t>16</a:t>
            </a:fld>
            <a:endParaRPr lang="en-US" altLang="zh-CN"/>
          </a:p>
        </p:txBody>
      </p:sp>
      <p:sp>
        <p:nvSpPr>
          <p:cNvPr id="250898" name="Text Box 18"/>
          <p:cNvSpPr txBox="1">
            <a:spLocks noChangeArrowheads="1"/>
          </p:cNvSpPr>
          <p:nvPr/>
        </p:nvSpPr>
        <p:spPr bwMode="auto">
          <a:xfrm>
            <a:off x="179513" y="307957"/>
            <a:ext cx="4104455" cy="549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、计算机的主要部件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250899" name="Text Box 19"/>
          <p:cNvSpPr txBox="1">
            <a:spLocks noChangeArrowheads="1"/>
          </p:cNvSpPr>
          <p:nvPr/>
        </p:nvSpPr>
        <p:spPr bwMode="auto">
          <a:xfrm>
            <a:off x="179388" y="829161"/>
            <a:ext cx="8785225" cy="32658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存储器   </a:t>
            </a:r>
            <a:r>
              <a:rPr lang="en-US" altLang="zh-CN" sz="1800" b="1" dirty="0">
                <a:latin typeface="宋体" panose="02010600030101010101" pitchFamily="2" charset="-122"/>
              </a:rPr>
              <a:t>--</a:t>
            </a:r>
            <a:r>
              <a:rPr lang="zh-CN" altLang="en-US" sz="1800" b="1" dirty="0">
                <a:latin typeface="宋体" panose="02010600030101010101" pitchFamily="2" charset="-122"/>
              </a:rPr>
              <a:t>指</a:t>
            </a:r>
            <a:r>
              <a:rPr lang="en-US" altLang="zh-CN" sz="1800" b="1" dirty="0">
                <a:latin typeface="宋体" panose="02010600030101010101" pitchFamily="2" charset="-122"/>
              </a:rPr>
              <a:t>RAM(</a:t>
            </a:r>
            <a:r>
              <a:rPr lang="en-US" altLang="zh-CN" sz="1800" dirty="0">
                <a:solidFill>
                  <a:srgbClr val="FF3399"/>
                </a:solidFill>
              </a:rPr>
              <a:t>R</a:t>
            </a:r>
            <a:r>
              <a:rPr lang="en-US" altLang="zh-CN" sz="1800" dirty="0"/>
              <a:t>andom </a:t>
            </a:r>
            <a:r>
              <a:rPr lang="en-US" altLang="zh-CN" sz="1800" dirty="0">
                <a:solidFill>
                  <a:srgbClr val="FF3399"/>
                </a:solidFill>
              </a:rPr>
              <a:t>A</a:t>
            </a:r>
            <a:r>
              <a:rPr lang="en-US" altLang="zh-CN" sz="1800" dirty="0"/>
              <a:t>ccess </a:t>
            </a:r>
            <a:r>
              <a:rPr lang="en-US" altLang="zh-CN" sz="1800" dirty="0">
                <a:solidFill>
                  <a:srgbClr val="FF3399"/>
                </a:solidFill>
              </a:rPr>
              <a:t>M</a:t>
            </a:r>
            <a:r>
              <a:rPr lang="en-US" altLang="zh-CN" sz="1800" dirty="0"/>
              <a:t>emory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*功能：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存储</a:t>
            </a:r>
            <a:r>
              <a:rPr lang="zh-CN" altLang="en-US" sz="2200" b="1" dirty="0">
                <a:latin typeface="宋体" panose="02010600030101010101" pitchFamily="2" charset="-122"/>
              </a:rPr>
              <a:t>信息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指令和数据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访问</a:t>
            </a:r>
            <a:r>
              <a:rPr lang="zh-CN" altLang="en-US" sz="2200" b="1" dirty="0">
                <a:latin typeface="宋体" panose="02010600030101010101" pitchFamily="2" charset="-122"/>
              </a:rPr>
              <a:t>按地址进行</a:t>
            </a:r>
            <a:endParaRPr lang="en-US" altLang="zh-CN" sz="2200" b="1" u="sng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组成：</a:t>
            </a:r>
            <a:endParaRPr lang="en-US" altLang="zh-CN" sz="2200" b="1" u="sng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251053" name="Text Box 173"/>
          <p:cNvSpPr txBox="1">
            <a:spLocks noChangeArrowheads="1"/>
          </p:cNvSpPr>
          <p:nvPr/>
        </p:nvSpPr>
        <p:spPr bwMode="auto">
          <a:xfrm>
            <a:off x="1331640" y="3573016"/>
            <a:ext cx="7382054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存储矩阵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阵列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、地址译码器、读写电路等</a:t>
            </a:r>
            <a:endParaRPr lang="zh-CN" altLang="en-US" sz="2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251057" name="Text Box 177"/>
          <p:cNvSpPr txBox="1">
            <a:spLocks noChangeArrowheads="1"/>
          </p:cNvSpPr>
          <p:nvPr/>
        </p:nvSpPr>
        <p:spPr bwMode="auto">
          <a:xfrm>
            <a:off x="2375697" y="1700808"/>
            <a:ext cx="6696861" cy="14921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术语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000" b="1" dirty="0">
                <a:latin typeface="宋体" panose="02010600030101010101" pitchFamily="2" charset="-122"/>
              </a:rPr>
              <a:t>存储元</a:t>
            </a:r>
            <a:r>
              <a:rPr lang="en-US" altLang="zh-CN" sz="1600" b="1" dirty="0">
                <a:latin typeface="宋体" panose="02010600030101010101" pitchFamily="2" charset="-122"/>
              </a:rPr>
              <a:t>(cell)</a:t>
            </a:r>
            <a:r>
              <a:rPr lang="zh-CN" altLang="en-US" sz="2000" b="1" dirty="0">
                <a:latin typeface="宋体" panose="02010600030101010101" pitchFamily="2" charset="-122"/>
              </a:rPr>
              <a:t>、存储单元</a:t>
            </a:r>
            <a:r>
              <a:rPr lang="en-US" altLang="zh-CN" sz="1600" b="1" dirty="0">
                <a:latin typeface="宋体" panose="02010600030101010101" pitchFamily="2" charset="-122"/>
              </a:rPr>
              <a:t>(supercell)</a:t>
            </a:r>
            <a:r>
              <a:rPr lang="zh-CN" altLang="en-US" sz="2200" b="1" dirty="0"/>
              <a:t>；   </a:t>
            </a:r>
            <a:r>
              <a:rPr lang="zh-CN" altLang="en-US" sz="1600" b="1" dirty="0">
                <a:latin typeface="+mn-ea"/>
                <a:ea typeface="+mn-ea"/>
              </a:rPr>
              <a:t>←或单元、超元</a:t>
            </a:r>
          </a:p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</a:rPr>
              <a:t>         </a:t>
            </a:r>
            <a:r>
              <a:rPr lang="en-US" altLang="zh-CN" sz="1600" dirty="0">
                <a:latin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存储</a:t>
            </a:r>
            <a:r>
              <a:rPr lang="en-US" altLang="zh-CN" sz="16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位</a:t>
            </a:r>
            <a:r>
              <a:rPr lang="en-US" altLang="zh-CN" sz="1600" b="1" dirty="0">
                <a:latin typeface="宋体" panose="02010600030101010101" pitchFamily="2" charset="-122"/>
              </a:rPr>
              <a:t>      </a:t>
            </a:r>
            <a:r>
              <a:rPr lang="en-US" altLang="zh-CN" sz="1600" dirty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存储</a:t>
            </a:r>
            <a:r>
              <a:rPr lang="en-US" altLang="zh-CN" sz="16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个地址对应的所有位</a:t>
            </a:r>
            <a:endParaRPr lang="en-US" altLang="zh-CN" sz="1600" b="1" u="sng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  存储单元地址、存储单元长度，存储器容量；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latin typeface="宋体" panose="02010600030101010101" pitchFamily="2" charset="-122"/>
              </a:rPr>
              <a:t>存储字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存储单元中的内容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，存储字长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grpSp>
        <p:nvGrpSpPr>
          <p:cNvPr id="251058" name="Group 178"/>
          <p:cNvGrpSpPr/>
          <p:nvPr/>
        </p:nvGrpSpPr>
        <p:grpSpPr bwMode="auto">
          <a:xfrm>
            <a:off x="899616" y="4104000"/>
            <a:ext cx="2808288" cy="1728788"/>
            <a:chOff x="793" y="1290"/>
            <a:chExt cx="1769" cy="1089"/>
          </a:xfrm>
        </p:grpSpPr>
        <p:sp>
          <p:nvSpPr>
            <p:cNvPr id="251059" name="Text Box 179"/>
            <p:cNvSpPr txBox="1">
              <a:spLocks noChangeArrowheads="1"/>
            </p:cNvSpPr>
            <p:nvPr/>
          </p:nvSpPr>
          <p:spPr bwMode="auto">
            <a:xfrm>
              <a:off x="793" y="1585"/>
              <a:ext cx="317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地址</a:t>
              </a:r>
            </a:p>
          </p:txBody>
        </p:sp>
        <p:sp>
          <p:nvSpPr>
            <p:cNvPr id="251060" name="Rectangle 180"/>
            <p:cNvSpPr>
              <a:spLocks noChangeArrowheads="1"/>
            </p:cNvSpPr>
            <p:nvPr/>
          </p:nvSpPr>
          <p:spPr bwMode="auto">
            <a:xfrm>
              <a:off x="1292" y="1290"/>
              <a:ext cx="1270" cy="1089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1061" name="Line 181"/>
            <p:cNvSpPr>
              <a:spLocks noChangeShapeType="1"/>
            </p:cNvSpPr>
            <p:nvPr/>
          </p:nvSpPr>
          <p:spPr bwMode="auto">
            <a:xfrm>
              <a:off x="1656" y="1381"/>
              <a:ext cx="181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62" name="Text Box 182"/>
            <p:cNvSpPr txBox="1">
              <a:spLocks noChangeArrowheads="1"/>
            </p:cNvSpPr>
            <p:nvPr/>
          </p:nvSpPr>
          <p:spPr bwMode="auto">
            <a:xfrm>
              <a:off x="1701" y="1458"/>
              <a:ext cx="182" cy="408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CC3300"/>
                  </a:solidFill>
                </a:rPr>
                <a:t>……</a:t>
              </a:r>
            </a:p>
          </p:txBody>
        </p:sp>
        <p:sp>
          <p:nvSpPr>
            <p:cNvPr id="251063" name="Text Box 183"/>
            <p:cNvSpPr txBox="1">
              <a:spLocks noChangeArrowheads="1"/>
            </p:cNvSpPr>
            <p:nvPr/>
          </p:nvSpPr>
          <p:spPr bwMode="auto">
            <a:xfrm>
              <a:off x="1837" y="1336"/>
              <a:ext cx="635" cy="680"/>
            </a:xfrm>
            <a:prstGeom prst="rect">
              <a:avLst/>
            </a:prstGeom>
            <a:solidFill>
              <a:srgbClr val="99CC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存储</a:t>
              </a:r>
            </a:p>
            <a:p>
              <a:pPr algn="ctr">
                <a:lnSpc>
                  <a:spcPct val="15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矩阵</a:t>
              </a:r>
            </a:p>
          </p:txBody>
        </p:sp>
        <p:sp>
          <p:nvSpPr>
            <p:cNvPr id="251064" name="Text Box 184"/>
            <p:cNvSpPr txBox="1">
              <a:spLocks noChangeArrowheads="1"/>
            </p:cNvSpPr>
            <p:nvPr/>
          </p:nvSpPr>
          <p:spPr bwMode="auto">
            <a:xfrm>
              <a:off x="1837" y="2152"/>
              <a:ext cx="635" cy="181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读写电路</a:t>
              </a:r>
            </a:p>
          </p:txBody>
        </p:sp>
        <p:sp>
          <p:nvSpPr>
            <p:cNvPr id="251065" name="Text Box 185"/>
            <p:cNvSpPr txBox="1">
              <a:spLocks noChangeArrowheads="1"/>
            </p:cNvSpPr>
            <p:nvPr/>
          </p:nvSpPr>
          <p:spPr bwMode="auto">
            <a:xfrm>
              <a:off x="1474" y="1336"/>
              <a:ext cx="181" cy="70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 anchorCtr="1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地址译码器</a:t>
              </a:r>
            </a:p>
          </p:txBody>
        </p:sp>
        <p:sp>
          <p:nvSpPr>
            <p:cNvPr id="251066" name="Line 186"/>
            <p:cNvSpPr>
              <a:spLocks noChangeShapeType="1"/>
            </p:cNvSpPr>
            <p:nvPr/>
          </p:nvSpPr>
          <p:spPr bwMode="auto">
            <a:xfrm>
              <a:off x="1656" y="1472"/>
              <a:ext cx="181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67" name="Line 187"/>
            <p:cNvSpPr>
              <a:spLocks noChangeShapeType="1"/>
            </p:cNvSpPr>
            <p:nvPr/>
          </p:nvSpPr>
          <p:spPr bwMode="auto">
            <a:xfrm>
              <a:off x="1656" y="1925"/>
              <a:ext cx="181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68" name="Line 188"/>
            <p:cNvSpPr>
              <a:spLocks noChangeShapeType="1"/>
            </p:cNvSpPr>
            <p:nvPr/>
          </p:nvSpPr>
          <p:spPr bwMode="auto">
            <a:xfrm>
              <a:off x="1111" y="1661"/>
              <a:ext cx="363" cy="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69" name="Line 189"/>
            <p:cNvSpPr>
              <a:spLocks noChangeShapeType="1"/>
            </p:cNvSpPr>
            <p:nvPr/>
          </p:nvSpPr>
          <p:spPr bwMode="auto">
            <a:xfrm flipH="1">
              <a:off x="1882" y="2016"/>
              <a:ext cx="0" cy="136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70" name="Line 190"/>
            <p:cNvSpPr>
              <a:spLocks noChangeShapeType="1"/>
            </p:cNvSpPr>
            <p:nvPr/>
          </p:nvSpPr>
          <p:spPr bwMode="auto">
            <a:xfrm flipH="1">
              <a:off x="1972" y="2016"/>
              <a:ext cx="0" cy="136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71" name="Line 191"/>
            <p:cNvSpPr>
              <a:spLocks noChangeShapeType="1"/>
            </p:cNvSpPr>
            <p:nvPr/>
          </p:nvSpPr>
          <p:spPr bwMode="auto">
            <a:xfrm flipH="1">
              <a:off x="2426" y="2016"/>
              <a:ext cx="0" cy="136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72" name="Text Box 192"/>
            <p:cNvSpPr txBox="1">
              <a:spLocks noChangeArrowheads="1"/>
            </p:cNvSpPr>
            <p:nvPr/>
          </p:nvSpPr>
          <p:spPr bwMode="auto">
            <a:xfrm>
              <a:off x="2018" y="1980"/>
              <a:ext cx="363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accent2"/>
                  </a:solidFill>
                </a:rPr>
                <a:t>……</a:t>
              </a:r>
            </a:p>
          </p:txBody>
        </p:sp>
        <p:sp>
          <p:nvSpPr>
            <p:cNvPr id="251073" name="Line 193"/>
            <p:cNvSpPr>
              <a:spLocks noChangeShapeType="1"/>
            </p:cNvSpPr>
            <p:nvPr/>
          </p:nvSpPr>
          <p:spPr bwMode="auto">
            <a:xfrm flipV="1">
              <a:off x="1111" y="2288"/>
              <a:ext cx="726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74" name="Line 194"/>
            <p:cNvSpPr>
              <a:spLocks noChangeShapeType="1"/>
            </p:cNvSpPr>
            <p:nvPr/>
          </p:nvSpPr>
          <p:spPr bwMode="auto">
            <a:xfrm>
              <a:off x="1428" y="2197"/>
              <a:ext cx="408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75" name="Line 195"/>
            <p:cNvSpPr>
              <a:spLocks noChangeShapeType="1"/>
            </p:cNvSpPr>
            <p:nvPr/>
          </p:nvSpPr>
          <p:spPr bwMode="auto">
            <a:xfrm flipH="1">
              <a:off x="1428" y="2061"/>
              <a:ext cx="0" cy="13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76" name="Text Box 196"/>
            <p:cNvSpPr txBox="1">
              <a:spLocks noChangeArrowheads="1"/>
            </p:cNvSpPr>
            <p:nvPr/>
          </p:nvSpPr>
          <p:spPr bwMode="auto">
            <a:xfrm>
              <a:off x="793" y="2220"/>
              <a:ext cx="317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数据</a:t>
              </a:r>
            </a:p>
          </p:txBody>
        </p:sp>
        <p:sp>
          <p:nvSpPr>
            <p:cNvPr id="251077" name="Text Box 197"/>
            <p:cNvSpPr txBox="1">
              <a:spLocks noChangeArrowheads="1"/>
            </p:cNvSpPr>
            <p:nvPr/>
          </p:nvSpPr>
          <p:spPr bwMode="auto">
            <a:xfrm>
              <a:off x="793" y="1993"/>
              <a:ext cx="317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命令</a:t>
              </a:r>
            </a:p>
          </p:txBody>
        </p:sp>
        <p:sp>
          <p:nvSpPr>
            <p:cNvPr id="251078" name="Line 198"/>
            <p:cNvSpPr>
              <a:spLocks noChangeShapeType="1"/>
            </p:cNvSpPr>
            <p:nvPr/>
          </p:nvSpPr>
          <p:spPr bwMode="auto">
            <a:xfrm>
              <a:off x="1111" y="2061"/>
              <a:ext cx="31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79" name="Text Box 199"/>
            <p:cNvSpPr txBox="1">
              <a:spLocks noChangeArrowheads="1"/>
            </p:cNvSpPr>
            <p:nvPr/>
          </p:nvSpPr>
          <p:spPr bwMode="auto">
            <a:xfrm>
              <a:off x="1111" y="2129"/>
              <a:ext cx="136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i="1" dirty="0"/>
                <a:t>w</a:t>
              </a:r>
              <a:endParaRPr lang="en-US" altLang="zh-CN" sz="1600" dirty="0"/>
            </a:p>
          </p:txBody>
        </p:sp>
        <p:sp>
          <p:nvSpPr>
            <p:cNvPr id="251080" name="Line 200"/>
            <p:cNvSpPr>
              <a:spLocks noChangeShapeType="1"/>
            </p:cNvSpPr>
            <p:nvPr/>
          </p:nvSpPr>
          <p:spPr bwMode="auto">
            <a:xfrm flipH="1">
              <a:off x="1202" y="2242"/>
              <a:ext cx="45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081" name="Text Box 201"/>
            <p:cNvSpPr txBox="1">
              <a:spLocks noChangeArrowheads="1"/>
            </p:cNvSpPr>
            <p:nvPr/>
          </p:nvSpPr>
          <p:spPr bwMode="auto">
            <a:xfrm>
              <a:off x="1111" y="1517"/>
              <a:ext cx="136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i="1" dirty="0"/>
                <a:t>n</a:t>
              </a:r>
              <a:endParaRPr lang="en-US" altLang="zh-CN" sz="1600" dirty="0"/>
            </a:p>
          </p:txBody>
        </p:sp>
        <p:sp>
          <p:nvSpPr>
            <p:cNvPr id="251082" name="Line 202"/>
            <p:cNvSpPr>
              <a:spLocks noChangeShapeType="1"/>
            </p:cNvSpPr>
            <p:nvPr/>
          </p:nvSpPr>
          <p:spPr bwMode="auto">
            <a:xfrm flipH="1">
              <a:off x="1202" y="1607"/>
              <a:ext cx="45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3419952" y="4077891"/>
            <a:ext cx="2448096" cy="1799381"/>
            <a:chOff x="3637363" y="2242778"/>
            <a:chExt cx="2448096" cy="1799381"/>
          </a:xfrm>
        </p:grpSpPr>
        <p:sp>
          <p:nvSpPr>
            <p:cNvPr id="145" name="AutoShape 204"/>
            <p:cNvSpPr>
              <a:spLocks noChangeArrowheads="1"/>
            </p:cNvSpPr>
            <p:nvPr/>
          </p:nvSpPr>
          <p:spPr bwMode="auto">
            <a:xfrm>
              <a:off x="3637363" y="2903554"/>
              <a:ext cx="612000" cy="108000"/>
            </a:xfrm>
            <a:prstGeom prst="leftRightArrow">
              <a:avLst>
                <a:gd name="adj1" fmla="val 48889"/>
                <a:gd name="adj2" fmla="val 80444"/>
              </a:avLst>
            </a:prstGeom>
            <a:solidFill>
              <a:schemeClr val="bg1"/>
            </a:solidFill>
            <a:ln w="12700">
              <a:solidFill>
                <a:srgbClr val="990099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6" name="Rectangle 206"/>
            <p:cNvSpPr>
              <a:spLocks noChangeArrowheads="1"/>
            </p:cNvSpPr>
            <p:nvPr/>
          </p:nvSpPr>
          <p:spPr bwMode="auto">
            <a:xfrm>
              <a:off x="4787901" y="2470166"/>
              <a:ext cx="1225550" cy="122396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7" name="Rectangle 207"/>
            <p:cNvSpPr>
              <a:spLocks noChangeArrowheads="1"/>
            </p:cNvSpPr>
            <p:nvPr/>
          </p:nvSpPr>
          <p:spPr bwMode="auto">
            <a:xfrm>
              <a:off x="4860926" y="2614629"/>
              <a:ext cx="142875" cy="14287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" name="Rectangle 208"/>
            <p:cNvSpPr>
              <a:spLocks noChangeArrowheads="1"/>
            </p:cNvSpPr>
            <p:nvPr/>
          </p:nvSpPr>
          <p:spPr bwMode="auto">
            <a:xfrm>
              <a:off x="5430845" y="2614629"/>
              <a:ext cx="142875" cy="14287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" name="Rectangle 209"/>
            <p:cNvSpPr>
              <a:spLocks noChangeArrowheads="1"/>
            </p:cNvSpPr>
            <p:nvPr/>
          </p:nvSpPr>
          <p:spPr bwMode="auto">
            <a:xfrm>
              <a:off x="5724526" y="2614629"/>
              <a:ext cx="142875" cy="14287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" name="Line 210"/>
            <p:cNvSpPr>
              <a:spLocks noChangeShapeType="1"/>
            </p:cNvSpPr>
            <p:nvPr/>
          </p:nvSpPr>
          <p:spPr bwMode="auto">
            <a:xfrm>
              <a:off x="4716463" y="2543191"/>
              <a:ext cx="1081088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Line 211"/>
            <p:cNvSpPr>
              <a:spLocks noChangeShapeType="1"/>
            </p:cNvSpPr>
            <p:nvPr/>
          </p:nvSpPr>
          <p:spPr bwMode="auto">
            <a:xfrm>
              <a:off x="5076826" y="2686066"/>
              <a:ext cx="0" cy="1081087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Line 212"/>
            <p:cNvSpPr>
              <a:spLocks noChangeShapeType="1"/>
            </p:cNvSpPr>
            <p:nvPr/>
          </p:nvSpPr>
          <p:spPr bwMode="auto">
            <a:xfrm>
              <a:off x="5003801" y="2686066"/>
              <a:ext cx="73025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Line 213"/>
            <p:cNvSpPr>
              <a:spLocks noChangeShapeType="1"/>
            </p:cNvSpPr>
            <p:nvPr/>
          </p:nvSpPr>
          <p:spPr bwMode="auto">
            <a:xfrm>
              <a:off x="5646745" y="2686066"/>
              <a:ext cx="0" cy="1081087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214"/>
            <p:cNvSpPr>
              <a:spLocks noChangeShapeType="1"/>
            </p:cNvSpPr>
            <p:nvPr/>
          </p:nvSpPr>
          <p:spPr bwMode="auto">
            <a:xfrm>
              <a:off x="5572132" y="2686066"/>
              <a:ext cx="73025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215"/>
            <p:cNvSpPr>
              <a:spLocks noChangeShapeType="1"/>
            </p:cNvSpPr>
            <p:nvPr/>
          </p:nvSpPr>
          <p:spPr bwMode="auto">
            <a:xfrm>
              <a:off x="5942013" y="2686066"/>
              <a:ext cx="0" cy="1081087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Line 216"/>
            <p:cNvSpPr>
              <a:spLocks noChangeShapeType="1"/>
            </p:cNvSpPr>
            <p:nvPr/>
          </p:nvSpPr>
          <p:spPr bwMode="auto">
            <a:xfrm>
              <a:off x="5867401" y="2686066"/>
              <a:ext cx="73025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Line 217"/>
            <p:cNvSpPr>
              <a:spLocks noChangeShapeType="1"/>
            </p:cNvSpPr>
            <p:nvPr/>
          </p:nvSpPr>
          <p:spPr bwMode="auto">
            <a:xfrm>
              <a:off x="5795963" y="2541604"/>
              <a:ext cx="0" cy="73025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Line 218"/>
            <p:cNvSpPr>
              <a:spLocks noChangeShapeType="1"/>
            </p:cNvSpPr>
            <p:nvPr/>
          </p:nvSpPr>
          <p:spPr bwMode="auto">
            <a:xfrm>
              <a:off x="5500695" y="2541604"/>
              <a:ext cx="0" cy="73025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219"/>
            <p:cNvSpPr>
              <a:spLocks noChangeShapeType="1"/>
            </p:cNvSpPr>
            <p:nvPr/>
          </p:nvSpPr>
          <p:spPr bwMode="auto">
            <a:xfrm>
              <a:off x="4932363" y="2541604"/>
              <a:ext cx="0" cy="73025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Text Box 220"/>
            <p:cNvSpPr txBox="1">
              <a:spLocks noChangeArrowheads="1"/>
            </p:cNvSpPr>
            <p:nvPr/>
          </p:nvSpPr>
          <p:spPr bwMode="auto">
            <a:xfrm>
              <a:off x="5141918" y="2541604"/>
              <a:ext cx="287338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/>
                <a:t>…</a:t>
              </a:r>
            </a:p>
          </p:txBody>
        </p:sp>
        <p:sp>
          <p:nvSpPr>
            <p:cNvPr id="161" name="Rectangle 221"/>
            <p:cNvSpPr>
              <a:spLocks noChangeArrowheads="1"/>
            </p:cNvSpPr>
            <p:nvPr/>
          </p:nvSpPr>
          <p:spPr bwMode="auto">
            <a:xfrm>
              <a:off x="4860926" y="2903554"/>
              <a:ext cx="142875" cy="14287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2" name="Rectangle 222"/>
            <p:cNvSpPr>
              <a:spLocks noChangeArrowheads="1"/>
            </p:cNvSpPr>
            <p:nvPr/>
          </p:nvSpPr>
          <p:spPr bwMode="auto">
            <a:xfrm>
              <a:off x="5430845" y="2903554"/>
              <a:ext cx="142875" cy="14287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" name="Rectangle 223"/>
            <p:cNvSpPr>
              <a:spLocks noChangeArrowheads="1"/>
            </p:cNvSpPr>
            <p:nvPr/>
          </p:nvSpPr>
          <p:spPr bwMode="auto">
            <a:xfrm>
              <a:off x="5724526" y="2903554"/>
              <a:ext cx="142875" cy="14287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" name="Line 224"/>
            <p:cNvSpPr>
              <a:spLocks noChangeShapeType="1"/>
            </p:cNvSpPr>
            <p:nvPr/>
          </p:nvSpPr>
          <p:spPr bwMode="auto">
            <a:xfrm flipV="1">
              <a:off x="4716463" y="2832116"/>
              <a:ext cx="1081088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Line 225"/>
            <p:cNvSpPr>
              <a:spLocks noChangeShapeType="1"/>
            </p:cNvSpPr>
            <p:nvPr/>
          </p:nvSpPr>
          <p:spPr bwMode="auto">
            <a:xfrm>
              <a:off x="5003801" y="2974991"/>
              <a:ext cx="73025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Line 226"/>
            <p:cNvSpPr>
              <a:spLocks noChangeShapeType="1"/>
            </p:cNvSpPr>
            <p:nvPr/>
          </p:nvSpPr>
          <p:spPr bwMode="auto">
            <a:xfrm>
              <a:off x="5572132" y="2974991"/>
              <a:ext cx="73025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Line 227"/>
            <p:cNvSpPr>
              <a:spLocks noChangeShapeType="1"/>
            </p:cNvSpPr>
            <p:nvPr/>
          </p:nvSpPr>
          <p:spPr bwMode="auto">
            <a:xfrm>
              <a:off x="5867401" y="2974991"/>
              <a:ext cx="73025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Line 228"/>
            <p:cNvSpPr>
              <a:spLocks noChangeShapeType="1"/>
            </p:cNvSpPr>
            <p:nvPr/>
          </p:nvSpPr>
          <p:spPr bwMode="auto">
            <a:xfrm>
              <a:off x="5795963" y="2830529"/>
              <a:ext cx="0" cy="73025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Line 229"/>
            <p:cNvSpPr>
              <a:spLocks noChangeShapeType="1"/>
            </p:cNvSpPr>
            <p:nvPr/>
          </p:nvSpPr>
          <p:spPr bwMode="auto">
            <a:xfrm>
              <a:off x="5500695" y="2830529"/>
              <a:ext cx="0" cy="73025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Line 230"/>
            <p:cNvSpPr>
              <a:spLocks noChangeShapeType="1"/>
            </p:cNvSpPr>
            <p:nvPr/>
          </p:nvSpPr>
          <p:spPr bwMode="auto">
            <a:xfrm>
              <a:off x="4932363" y="2830529"/>
              <a:ext cx="0" cy="73025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Text Box 231"/>
            <p:cNvSpPr txBox="1">
              <a:spLocks noChangeArrowheads="1"/>
            </p:cNvSpPr>
            <p:nvPr/>
          </p:nvSpPr>
          <p:spPr bwMode="auto">
            <a:xfrm>
              <a:off x="5141918" y="2830529"/>
              <a:ext cx="287338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/>
                <a:t>…</a:t>
              </a:r>
            </a:p>
          </p:txBody>
        </p:sp>
        <p:sp>
          <p:nvSpPr>
            <p:cNvPr id="172" name="Rectangle 232"/>
            <p:cNvSpPr>
              <a:spLocks noChangeArrowheads="1"/>
            </p:cNvSpPr>
            <p:nvPr/>
          </p:nvSpPr>
          <p:spPr bwMode="auto">
            <a:xfrm>
              <a:off x="4860926" y="3479816"/>
              <a:ext cx="142875" cy="14287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3" name="Rectangle 233"/>
            <p:cNvSpPr>
              <a:spLocks noChangeArrowheads="1"/>
            </p:cNvSpPr>
            <p:nvPr/>
          </p:nvSpPr>
          <p:spPr bwMode="auto">
            <a:xfrm>
              <a:off x="5430845" y="3479816"/>
              <a:ext cx="142875" cy="14287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" name="Rectangle 234"/>
            <p:cNvSpPr>
              <a:spLocks noChangeArrowheads="1"/>
            </p:cNvSpPr>
            <p:nvPr/>
          </p:nvSpPr>
          <p:spPr bwMode="auto">
            <a:xfrm>
              <a:off x="5724526" y="3479816"/>
              <a:ext cx="142875" cy="14287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" name="Line 235"/>
            <p:cNvSpPr>
              <a:spLocks noChangeShapeType="1"/>
            </p:cNvSpPr>
            <p:nvPr/>
          </p:nvSpPr>
          <p:spPr bwMode="auto">
            <a:xfrm flipV="1">
              <a:off x="4716463" y="3408379"/>
              <a:ext cx="1081088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236"/>
            <p:cNvSpPr>
              <a:spLocks noChangeShapeType="1"/>
            </p:cNvSpPr>
            <p:nvPr/>
          </p:nvSpPr>
          <p:spPr bwMode="auto">
            <a:xfrm>
              <a:off x="5003801" y="3551254"/>
              <a:ext cx="73025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Line 237"/>
            <p:cNvSpPr>
              <a:spLocks noChangeShapeType="1"/>
            </p:cNvSpPr>
            <p:nvPr/>
          </p:nvSpPr>
          <p:spPr bwMode="auto">
            <a:xfrm>
              <a:off x="5572132" y="3551254"/>
              <a:ext cx="73025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238"/>
            <p:cNvSpPr>
              <a:spLocks noChangeShapeType="1"/>
            </p:cNvSpPr>
            <p:nvPr/>
          </p:nvSpPr>
          <p:spPr bwMode="auto">
            <a:xfrm>
              <a:off x="5867401" y="3551254"/>
              <a:ext cx="73025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239"/>
            <p:cNvSpPr>
              <a:spLocks noChangeShapeType="1"/>
            </p:cNvSpPr>
            <p:nvPr/>
          </p:nvSpPr>
          <p:spPr bwMode="auto">
            <a:xfrm>
              <a:off x="5795963" y="3406791"/>
              <a:ext cx="0" cy="73025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240"/>
            <p:cNvSpPr>
              <a:spLocks noChangeShapeType="1"/>
            </p:cNvSpPr>
            <p:nvPr/>
          </p:nvSpPr>
          <p:spPr bwMode="auto">
            <a:xfrm>
              <a:off x="5500695" y="3406791"/>
              <a:ext cx="0" cy="73025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241"/>
            <p:cNvSpPr>
              <a:spLocks noChangeShapeType="1"/>
            </p:cNvSpPr>
            <p:nvPr/>
          </p:nvSpPr>
          <p:spPr bwMode="auto">
            <a:xfrm>
              <a:off x="4932363" y="3406791"/>
              <a:ext cx="0" cy="73025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Text Box 242"/>
            <p:cNvSpPr txBox="1">
              <a:spLocks noChangeArrowheads="1"/>
            </p:cNvSpPr>
            <p:nvPr/>
          </p:nvSpPr>
          <p:spPr bwMode="auto">
            <a:xfrm>
              <a:off x="5141918" y="3406791"/>
              <a:ext cx="287338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/>
                <a:t>…</a:t>
              </a:r>
            </a:p>
          </p:txBody>
        </p:sp>
        <p:sp>
          <p:nvSpPr>
            <p:cNvPr id="183" name="Text Box 243"/>
            <p:cNvSpPr txBox="1">
              <a:spLocks noChangeArrowheads="1"/>
            </p:cNvSpPr>
            <p:nvPr/>
          </p:nvSpPr>
          <p:spPr bwMode="auto">
            <a:xfrm>
              <a:off x="5724526" y="3117866"/>
              <a:ext cx="287338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/>
                <a:t>…</a:t>
              </a:r>
            </a:p>
          </p:txBody>
        </p:sp>
        <p:sp>
          <p:nvSpPr>
            <p:cNvPr id="184" name="Text Box 244"/>
            <p:cNvSpPr txBox="1">
              <a:spLocks noChangeArrowheads="1"/>
            </p:cNvSpPr>
            <p:nvPr/>
          </p:nvSpPr>
          <p:spPr bwMode="auto">
            <a:xfrm>
              <a:off x="5427670" y="3117866"/>
              <a:ext cx="287338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/>
                <a:t>…</a:t>
              </a:r>
            </a:p>
          </p:txBody>
        </p:sp>
        <p:sp>
          <p:nvSpPr>
            <p:cNvPr id="185" name="Text Box 245"/>
            <p:cNvSpPr txBox="1">
              <a:spLocks noChangeArrowheads="1"/>
            </p:cNvSpPr>
            <p:nvPr/>
          </p:nvSpPr>
          <p:spPr bwMode="auto">
            <a:xfrm>
              <a:off x="4859338" y="3117866"/>
              <a:ext cx="287338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/>
                <a:t>…</a:t>
              </a:r>
            </a:p>
          </p:txBody>
        </p:sp>
        <p:sp>
          <p:nvSpPr>
            <p:cNvPr id="186" name="Text Box 246"/>
            <p:cNvSpPr txBox="1">
              <a:spLocks noChangeArrowheads="1"/>
            </p:cNvSpPr>
            <p:nvPr/>
          </p:nvSpPr>
          <p:spPr bwMode="auto">
            <a:xfrm>
              <a:off x="4213251" y="2397141"/>
              <a:ext cx="504800" cy="122713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11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  <a:p>
              <a:pPr algn="ctr">
                <a:lnSpc>
                  <a:spcPct val="8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2</a:t>
              </a:r>
              <a:r>
                <a:rPr lang="en-US" altLang="zh-CN" sz="1600" b="1" i="1" baseline="30000" dirty="0"/>
                <a:t>n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-1</a:t>
              </a:r>
            </a:p>
          </p:txBody>
        </p:sp>
        <p:sp>
          <p:nvSpPr>
            <p:cNvPr id="187" name="Text Box 247"/>
            <p:cNvSpPr txBox="1">
              <a:spLocks noChangeArrowheads="1"/>
            </p:cNvSpPr>
            <p:nvPr/>
          </p:nvSpPr>
          <p:spPr bwMode="auto">
            <a:xfrm>
              <a:off x="4717307" y="2242778"/>
              <a:ext cx="1225550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i="1" dirty="0"/>
                <a:t>w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-1 … 1  0</a:t>
              </a:r>
            </a:p>
          </p:txBody>
        </p:sp>
        <p:sp>
          <p:nvSpPr>
            <p:cNvPr id="188" name="Text Box 248"/>
            <p:cNvSpPr txBox="1">
              <a:spLocks noChangeArrowheads="1"/>
            </p:cNvSpPr>
            <p:nvPr/>
          </p:nvSpPr>
          <p:spPr bwMode="auto">
            <a:xfrm>
              <a:off x="4357267" y="2974917"/>
              <a:ext cx="287338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/>
                <a:t>…</a:t>
              </a:r>
            </a:p>
          </p:txBody>
        </p:sp>
        <p:sp>
          <p:nvSpPr>
            <p:cNvPr id="189" name="Text Box 267"/>
            <p:cNvSpPr txBox="1">
              <a:spLocks noChangeArrowheads="1"/>
            </p:cNvSpPr>
            <p:nvPr/>
          </p:nvSpPr>
          <p:spPr bwMode="auto">
            <a:xfrm>
              <a:off x="4646886" y="3754822"/>
              <a:ext cx="1438573" cy="28733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示例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: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一维排列</a:t>
              </a:r>
            </a:p>
          </p:txBody>
        </p:sp>
      </p:grpSp>
      <p:sp>
        <p:nvSpPr>
          <p:cNvPr id="100" name="Text Box 16"/>
          <p:cNvSpPr txBox="1">
            <a:spLocks noChangeArrowheads="1"/>
          </p:cNvSpPr>
          <p:nvPr/>
        </p:nvSpPr>
        <p:spPr bwMode="auto">
          <a:xfrm>
            <a:off x="6228448" y="4293256"/>
            <a:ext cx="2376000" cy="1440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t" anchorCtr="0">
            <a:noAutofit/>
          </a:bodyPr>
          <a:lstStyle/>
          <a:p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</a:rPr>
              <a:t>左图</a:t>
            </a:r>
            <a:r>
              <a:rPr lang="en-US" altLang="zh-CN" sz="1800" b="1" dirty="0">
                <a:latin typeface="宋体" panose="02010600030101010101" pitchFamily="2" charset="-122"/>
              </a:rPr>
              <a:t>RAM</a:t>
            </a:r>
            <a:r>
              <a:rPr lang="zh-CN" altLang="en-US" sz="1800" b="1" dirty="0">
                <a:latin typeface="宋体" panose="02010600030101010101" pitchFamily="2" charset="-122"/>
              </a:rPr>
              <a:t>容量为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r>
              <a:rPr lang="en-US" altLang="zh-CN" sz="1800" b="1" dirty="0">
                <a:latin typeface="宋体" panose="02010600030101010101" pitchFamily="2" charset="-122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</a:rPr>
              <a:t>A. 2</a:t>
            </a:r>
            <a:r>
              <a:rPr lang="en-US" altLang="zh-CN" sz="1800" b="1" i="1" baseline="30000" dirty="0"/>
              <a:t>n</a:t>
            </a:r>
            <a:r>
              <a:rPr lang="en-US" altLang="zh-CN" sz="1800" b="1" dirty="0">
                <a:latin typeface="宋体" panose="02010600030101010101" pitchFamily="2" charset="-122"/>
              </a:rPr>
              <a:t>×</a:t>
            </a:r>
            <a:r>
              <a:rPr lang="en-US" altLang="zh-CN" sz="1800" b="1" i="1" dirty="0"/>
              <a:t>w</a:t>
            </a:r>
            <a:r>
              <a:rPr lang="zh-CN" altLang="en-US" sz="1800" b="1" dirty="0"/>
              <a:t>位</a:t>
            </a:r>
            <a:r>
              <a:rPr lang="zh-CN" altLang="en-US" sz="1800" b="1" dirty="0">
                <a:latin typeface="宋体" panose="02010600030101010101" pitchFamily="2" charset="-122"/>
              </a:rPr>
              <a:t>  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r>
              <a:rPr lang="en-US" altLang="zh-CN" sz="1800" b="1" dirty="0">
                <a:latin typeface="宋体" panose="02010600030101010101" pitchFamily="2" charset="-122"/>
              </a:rPr>
              <a:t>   B. 2</a:t>
            </a:r>
            <a:r>
              <a:rPr lang="en-US" altLang="zh-CN" sz="1800" b="1" i="1" baseline="30000" dirty="0"/>
              <a:t>n</a:t>
            </a:r>
            <a:r>
              <a:rPr lang="zh-CN" altLang="en-US" sz="1800" b="1" dirty="0">
                <a:latin typeface="宋体" panose="02010600030101010101" pitchFamily="2" charset="-122"/>
              </a:rPr>
              <a:t>位 </a:t>
            </a: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</a:p>
          <a:p>
            <a:r>
              <a:rPr lang="en-US" altLang="zh-CN" sz="1800" b="1" dirty="0">
                <a:latin typeface="宋体" panose="02010600030101010101" pitchFamily="2" charset="-122"/>
              </a:rPr>
              <a:t>   C. 2</a:t>
            </a:r>
            <a:r>
              <a:rPr lang="en-US" altLang="zh-CN" sz="1800" b="1" i="1" baseline="30000" dirty="0"/>
              <a:t>n</a:t>
            </a:r>
            <a:r>
              <a:rPr lang="en-US" altLang="zh-CN" sz="1800" b="1" dirty="0">
                <a:latin typeface="宋体" panose="02010600030101010101" pitchFamily="2" charset="-122"/>
              </a:rPr>
              <a:t>×</a:t>
            </a:r>
            <a:r>
              <a:rPr lang="en-US" altLang="zh-CN" sz="1800" b="1" i="1" dirty="0"/>
              <a:t>w</a:t>
            </a:r>
            <a:r>
              <a:rPr lang="zh-CN" altLang="en-US" sz="1800" b="1" dirty="0"/>
              <a:t>字节</a:t>
            </a:r>
            <a:r>
              <a:rPr lang="zh-CN" altLang="en-US" sz="1800" b="1" dirty="0">
                <a:latin typeface="宋体" panose="02010600030101010101" pitchFamily="2" charset="-122"/>
              </a:rPr>
              <a:t>  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r>
              <a:rPr lang="en-US" altLang="zh-CN" sz="1800" b="1" dirty="0">
                <a:latin typeface="宋体" panose="02010600030101010101" pitchFamily="2" charset="-122"/>
              </a:rPr>
              <a:t>   D. 2</a:t>
            </a:r>
            <a:r>
              <a:rPr lang="en-US" altLang="zh-CN" sz="1800" b="1" i="1" baseline="30000" dirty="0"/>
              <a:t>n</a:t>
            </a:r>
            <a:r>
              <a:rPr lang="zh-CN" altLang="en-US" sz="1800" b="1" dirty="0">
                <a:latin typeface="宋体" panose="02010600030101010101" pitchFamily="2" charset="-122"/>
              </a:rPr>
              <a:t>字节</a:t>
            </a:r>
            <a:endParaRPr lang="en-US" altLang="zh-CN" sz="1800" dirty="0">
              <a:latin typeface="+mn-ea"/>
            </a:endParaRPr>
          </a:p>
        </p:txBody>
      </p:sp>
      <p:sp>
        <p:nvSpPr>
          <p:cNvPr id="99" name="Text Box 16"/>
          <p:cNvSpPr txBox="1">
            <a:spLocks noChangeArrowheads="1"/>
          </p:cNvSpPr>
          <p:nvPr/>
        </p:nvSpPr>
        <p:spPr bwMode="auto">
          <a:xfrm>
            <a:off x="2627984" y="3212976"/>
            <a:ext cx="5580000" cy="288290"/>
          </a:xfrm>
          <a:prstGeom prst="rect">
            <a:avLst/>
          </a:prstGeom>
          <a:noFill/>
          <a:ln w="12700">
            <a:solidFill>
              <a:srgbClr val="FF3399"/>
            </a:solidFill>
            <a:prstDash val="sysDash"/>
            <a:miter lim="800000"/>
          </a:ln>
          <a:effectLst/>
        </p:spPr>
        <p:txBody>
          <a:bodyPr wrap="square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不同课程讲法有差异，注意贯通！如存储单元、地址总线等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cxnSp>
        <p:nvCxnSpPr>
          <p:cNvPr id="5" name="直接箭头连接符 4"/>
          <p:cNvCxnSpPr>
            <a:cxnSpLocks/>
          </p:cNvCxnSpPr>
          <p:nvPr/>
        </p:nvCxnSpPr>
        <p:spPr bwMode="auto">
          <a:xfrm>
            <a:off x="3182754" y="1270800"/>
            <a:ext cx="900000" cy="2412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7EC8A132-FE07-456A-83DF-7195187C76BA}"/>
              </a:ext>
            </a:extLst>
          </p:cNvPr>
          <p:cNvGrpSpPr/>
          <p:nvPr/>
        </p:nvGrpSpPr>
        <p:grpSpPr>
          <a:xfrm>
            <a:off x="611560" y="1772816"/>
            <a:ext cx="1548557" cy="1404938"/>
            <a:chOff x="792000" y="1772816"/>
            <a:chExt cx="1548557" cy="1404938"/>
          </a:xfrm>
        </p:grpSpPr>
        <p:sp>
          <p:nvSpPr>
            <p:cNvPr id="103" name="Text Box 263">
              <a:extLst>
                <a:ext uri="{FF2B5EF4-FFF2-40B4-BE49-F238E27FC236}">
                  <a16:creationId xmlns:a16="http://schemas.microsoft.com/office/drawing/2014/main" id="{E2D5CA13-79A6-4E60-BAC0-137C7B13AE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000" y="2358000"/>
              <a:ext cx="489600" cy="216000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51131" name="Rectangle 251"/>
            <p:cNvSpPr>
              <a:spLocks noChangeArrowheads="1"/>
            </p:cNvSpPr>
            <p:nvPr/>
          </p:nvSpPr>
          <p:spPr bwMode="auto">
            <a:xfrm>
              <a:off x="1295238" y="2133179"/>
              <a:ext cx="936625" cy="104457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1132" name="Line 252"/>
            <p:cNvSpPr>
              <a:spLocks noChangeShapeType="1"/>
            </p:cNvSpPr>
            <p:nvPr/>
          </p:nvSpPr>
          <p:spPr bwMode="auto">
            <a:xfrm>
              <a:off x="1296825" y="2349079"/>
              <a:ext cx="9366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133" name="Line 253"/>
            <p:cNvSpPr>
              <a:spLocks noChangeShapeType="1"/>
            </p:cNvSpPr>
            <p:nvPr/>
          </p:nvSpPr>
          <p:spPr bwMode="auto">
            <a:xfrm>
              <a:off x="1296825" y="2564979"/>
              <a:ext cx="9366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134" name="Line 254"/>
            <p:cNvSpPr>
              <a:spLocks noChangeShapeType="1"/>
            </p:cNvSpPr>
            <p:nvPr/>
          </p:nvSpPr>
          <p:spPr bwMode="auto">
            <a:xfrm>
              <a:off x="1296825" y="2925341"/>
              <a:ext cx="9366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136" name="Text Box 256"/>
            <p:cNvSpPr txBox="1">
              <a:spLocks noChangeArrowheads="1"/>
            </p:cNvSpPr>
            <p:nvPr/>
          </p:nvSpPr>
          <p:spPr bwMode="auto">
            <a:xfrm>
              <a:off x="792000" y="2133179"/>
              <a:ext cx="503238" cy="104457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  <a:p>
              <a:pPr algn="ctr">
                <a:lnSpc>
                  <a:spcPct val="90000"/>
                </a:lnSpc>
                <a:spcBef>
                  <a:spcPts val="40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r>
                <a:rPr lang="en-US" altLang="zh-CN" sz="1600" b="1" dirty="0">
                  <a:latin typeface="+mn-ea"/>
                  <a:ea typeface="+mn-ea"/>
                </a:rPr>
                <a:t>2</a:t>
              </a:r>
              <a:r>
                <a:rPr lang="en-US" altLang="zh-CN" sz="1600" b="1" i="1" baseline="30000" dirty="0"/>
                <a:t>n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-1</a:t>
              </a:r>
            </a:p>
          </p:txBody>
        </p:sp>
        <p:sp>
          <p:nvSpPr>
            <p:cNvPr id="251137" name="Text Box 257"/>
            <p:cNvSpPr txBox="1">
              <a:spLocks noChangeArrowheads="1"/>
            </p:cNvSpPr>
            <p:nvPr/>
          </p:nvSpPr>
          <p:spPr bwMode="auto">
            <a:xfrm>
              <a:off x="1620675" y="2601491"/>
              <a:ext cx="287338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  <a:endParaRPr lang="en-US" altLang="zh-CN" sz="1800" b="1" baseline="-20000" dirty="0">
                <a:latin typeface="+mn-ea"/>
                <a:ea typeface="+mn-ea"/>
              </a:endParaRPr>
            </a:p>
          </p:txBody>
        </p:sp>
        <p:sp>
          <p:nvSpPr>
            <p:cNvPr id="251138" name="Line 258"/>
            <p:cNvSpPr>
              <a:spLocks noChangeShapeType="1"/>
            </p:cNvSpPr>
            <p:nvPr/>
          </p:nvSpPr>
          <p:spPr bwMode="auto">
            <a:xfrm>
              <a:off x="2015963" y="2133179"/>
              <a:ext cx="0" cy="215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139" name="Line 259"/>
            <p:cNvSpPr>
              <a:spLocks noChangeShapeType="1"/>
            </p:cNvSpPr>
            <p:nvPr/>
          </p:nvSpPr>
          <p:spPr bwMode="auto">
            <a:xfrm>
              <a:off x="1512725" y="2133179"/>
              <a:ext cx="0" cy="215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140" name="Text Box 260"/>
            <p:cNvSpPr txBox="1">
              <a:spLocks noChangeArrowheads="1"/>
            </p:cNvSpPr>
            <p:nvPr/>
          </p:nvSpPr>
          <p:spPr bwMode="auto">
            <a:xfrm>
              <a:off x="1620675" y="2147466"/>
              <a:ext cx="287338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  <a:endParaRPr lang="en-US" altLang="zh-CN" sz="1600" b="1" baseline="-20000" dirty="0">
                <a:latin typeface="+mn-ea"/>
                <a:ea typeface="+mn-ea"/>
              </a:endParaRPr>
            </a:p>
          </p:txBody>
        </p:sp>
        <p:sp>
          <p:nvSpPr>
            <p:cNvPr id="251141" name="Text Box 261"/>
            <p:cNvSpPr txBox="1">
              <a:spLocks noChangeArrowheads="1"/>
            </p:cNvSpPr>
            <p:nvPr/>
          </p:nvSpPr>
          <p:spPr bwMode="auto">
            <a:xfrm>
              <a:off x="1260313" y="1772816"/>
              <a:ext cx="10795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en-US" altLang="zh-CN" sz="1600" b="1" i="1" dirty="0"/>
                <a:t>w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个存储元</a:t>
              </a:r>
              <a:endParaRPr lang="en-US" altLang="zh-CN" sz="1600" b="1" i="1" baseline="-20000" dirty="0"/>
            </a:p>
          </p:txBody>
        </p:sp>
        <p:sp>
          <p:nvSpPr>
            <p:cNvPr id="251142" name="AutoShape 262"/>
            <p:cNvSpPr/>
            <p:nvPr/>
          </p:nvSpPr>
          <p:spPr bwMode="auto">
            <a:xfrm rot="5400000">
              <a:off x="1728625" y="1591841"/>
              <a:ext cx="73025" cy="936625"/>
            </a:xfrm>
            <a:prstGeom prst="leftBrace">
              <a:avLst>
                <a:gd name="adj1" fmla="val 13134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1143" name="Text Box 263"/>
            <p:cNvSpPr txBox="1">
              <a:spLocks noChangeArrowheads="1"/>
            </p:cNvSpPr>
            <p:nvPr/>
          </p:nvSpPr>
          <p:spPr bwMode="auto">
            <a:xfrm>
              <a:off x="1296825" y="2925341"/>
              <a:ext cx="936625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存储单元</a:t>
              </a:r>
              <a:endParaRPr lang="zh-CN" altLang="en-US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2" name="右大括号 1"/>
            <p:cNvSpPr/>
            <p:nvPr/>
          </p:nvSpPr>
          <p:spPr bwMode="auto">
            <a:xfrm>
              <a:off x="2268557" y="2132815"/>
              <a:ext cx="72000" cy="1044000"/>
            </a:xfrm>
            <a:prstGeom prst="rightBrace">
              <a:avLst>
                <a:gd name="adj1" fmla="val 53467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1" name="Text Box 263">
              <a:extLst>
                <a:ext uri="{FF2B5EF4-FFF2-40B4-BE49-F238E27FC236}">
                  <a16:creationId xmlns:a16="http://schemas.microsoft.com/office/drawing/2014/main" id="{B2311DDE-4536-401C-B8CC-987CBAD6B9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3200" y="2142000"/>
              <a:ext cx="205200" cy="205200"/>
            </a:xfrm>
            <a:prstGeom prst="rect">
              <a:avLst/>
            </a:prstGeom>
            <a:solidFill>
              <a:srgbClr val="CC99FF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6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102" name="Text Box 263">
              <a:extLst>
                <a:ext uri="{FF2B5EF4-FFF2-40B4-BE49-F238E27FC236}">
                  <a16:creationId xmlns:a16="http://schemas.microsoft.com/office/drawing/2014/main" id="{11739115-37D8-4389-9EFE-3FCD3C5957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3200" y="2358000"/>
              <a:ext cx="921600" cy="201600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600" b="1" baseline="-20000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Tm="16369"/>
    </mc:Choice>
    <mc:Fallback xmlns="">
      <p:transition spd="slow" advTm="163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510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510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510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10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5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5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99" grpId="0"/>
      <p:bldP spid="251053" grpId="0"/>
      <p:bldP spid="100" grpId="0" bldLvl="0" animBg="1"/>
      <p:bldP spid="99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70847-F652-4986-B365-21999B7EB8FE}" type="slidenum">
              <a:rPr lang="en-US" altLang="zh-CN"/>
              <a:t>17</a:t>
            </a:fld>
            <a:endParaRPr lang="en-US" altLang="zh-CN"/>
          </a:p>
        </p:txBody>
      </p:sp>
      <p:sp>
        <p:nvSpPr>
          <p:cNvPr id="252952" name="Text Box 24"/>
          <p:cNvSpPr txBox="1">
            <a:spLocks noChangeArrowheads="1"/>
          </p:cNvSpPr>
          <p:nvPr/>
        </p:nvSpPr>
        <p:spPr bwMode="auto">
          <a:xfrm>
            <a:off x="179387" y="332656"/>
            <a:ext cx="4896395" cy="404809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完成访问的过程： 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即工作原理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读操作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写操作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grpSp>
        <p:nvGrpSpPr>
          <p:cNvPr id="253148" name="Group 220"/>
          <p:cNvGrpSpPr/>
          <p:nvPr/>
        </p:nvGrpSpPr>
        <p:grpSpPr bwMode="auto">
          <a:xfrm>
            <a:off x="3420021" y="1270248"/>
            <a:ext cx="3024187" cy="2520950"/>
            <a:chOff x="1655" y="890"/>
            <a:chExt cx="1905" cy="1588"/>
          </a:xfrm>
        </p:grpSpPr>
        <p:sp>
          <p:nvSpPr>
            <p:cNvPr id="252972" name="Rectangle 44"/>
            <p:cNvSpPr>
              <a:spLocks noChangeArrowheads="1"/>
            </p:cNvSpPr>
            <p:nvPr/>
          </p:nvSpPr>
          <p:spPr bwMode="auto">
            <a:xfrm>
              <a:off x="1837" y="890"/>
              <a:ext cx="1723" cy="1588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2980" name="Line 52"/>
            <p:cNvSpPr>
              <a:spLocks noChangeShapeType="1"/>
            </p:cNvSpPr>
            <p:nvPr/>
          </p:nvSpPr>
          <p:spPr bwMode="auto">
            <a:xfrm>
              <a:off x="1655" y="1344"/>
              <a:ext cx="318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990" name="Line 62"/>
            <p:cNvSpPr>
              <a:spLocks noChangeShapeType="1"/>
            </p:cNvSpPr>
            <p:nvPr/>
          </p:nvSpPr>
          <p:spPr bwMode="auto">
            <a:xfrm flipV="1">
              <a:off x="1656" y="2069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37" name="Line 109"/>
            <p:cNvSpPr>
              <a:spLocks noChangeShapeType="1"/>
            </p:cNvSpPr>
            <p:nvPr/>
          </p:nvSpPr>
          <p:spPr bwMode="auto">
            <a:xfrm>
              <a:off x="2199" y="1026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38" name="Text Box 110"/>
            <p:cNvSpPr txBox="1">
              <a:spLocks noChangeArrowheads="1"/>
            </p:cNvSpPr>
            <p:nvPr/>
          </p:nvSpPr>
          <p:spPr bwMode="auto">
            <a:xfrm>
              <a:off x="2245" y="1389"/>
              <a:ext cx="182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/>
                <a:t>…</a:t>
              </a:r>
            </a:p>
          </p:txBody>
        </p:sp>
        <p:sp>
          <p:nvSpPr>
            <p:cNvPr id="253040" name="Text Box 112"/>
            <p:cNvSpPr txBox="1">
              <a:spLocks noChangeArrowheads="1"/>
            </p:cNvSpPr>
            <p:nvPr/>
          </p:nvSpPr>
          <p:spPr bwMode="auto">
            <a:xfrm>
              <a:off x="2426" y="2161"/>
              <a:ext cx="1044" cy="22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读写电路</a:t>
              </a:r>
            </a:p>
          </p:txBody>
        </p:sp>
        <p:sp>
          <p:nvSpPr>
            <p:cNvPr id="253041" name="Text Box 113"/>
            <p:cNvSpPr txBox="1">
              <a:spLocks noChangeArrowheads="1"/>
            </p:cNvSpPr>
            <p:nvPr/>
          </p:nvSpPr>
          <p:spPr bwMode="auto">
            <a:xfrm>
              <a:off x="1972" y="981"/>
              <a:ext cx="226" cy="81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800" b="1">
                  <a:latin typeface="宋体" panose="02010600030101010101" pitchFamily="2" charset="-122"/>
                </a:rPr>
                <a:t>地址译码器</a:t>
              </a:r>
            </a:p>
          </p:txBody>
        </p:sp>
        <p:sp>
          <p:nvSpPr>
            <p:cNvPr id="253044" name="Line 116"/>
            <p:cNvSpPr>
              <a:spLocks noChangeShapeType="1"/>
            </p:cNvSpPr>
            <p:nvPr/>
          </p:nvSpPr>
          <p:spPr bwMode="auto">
            <a:xfrm>
              <a:off x="2607" y="1979"/>
              <a:ext cx="1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45" name="Line 117"/>
            <p:cNvSpPr>
              <a:spLocks noChangeShapeType="1"/>
            </p:cNvSpPr>
            <p:nvPr/>
          </p:nvSpPr>
          <p:spPr bwMode="auto">
            <a:xfrm>
              <a:off x="2879" y="1979"/>
              <a:ext cx="1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46" name="Line 118"/>
            <p:cNvSpPr>
              <a:spLocks noChangeShapeType="1"/>
            </p:cNvSpPr>
            <p:nvPr/>
          </p:nvSpPr>
          <p:spPr bwMode="auto">
            <a:xfrm flipH="1">
              <a:off x="3424" y="1979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48" name="Line 120"/>
            <p:cNvSpPr>
              <a:spLocks noChangeShapeType="1"/>
            </p:cNvSpPr>
            <p:nvPr/>
          </p:nvSpPr>
          <p:spPr bwMode="auto">
            <a:xfrm>
              <a:off x="2472" y="2069"/>
              <a:ext cx="0" cy="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994" name="Rectangle 66"/>
            <p:cNvSpPr>
              <a:spLocks noChangeArrowheads="1"/>
            </p:cNvSpPr>
            <p:nvPr/>
          </p:nvSpPr>
          <p:spPr bwMode="auto">
            <a:xfrm>
              <a:off x="2381" y="981"/>
              <a:ext cx="1089" cy="99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2995" name="Rectangle 67"/>
            <p:cNvSpPr>
              <a:spLocks noChangeArrowheads="1"/>
            </p:cNvSpPr>
            <p:nvPr/>
          </p:nvSpPr>
          <p:spPr bwMode="auto">
            <a:xfrm>
              <a:off x="2426" y="1117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2996" name="Rectangle 68"/>
            <p:cNvSpPr>
              <a:spLocks noChangeArrowheads="1"/>
            </p:cNvSpPr>
            <p:nvPr/>
          </p:nvSpPr>
          <p:spPr bwMode="auto">
            <a:xfrm>
              <a:off x="2699" y="1117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2997" name="Rectangle 69"/>
            <p:cNvSpPr>
              <a:spLocks noChangeArrowheads="1"/>
            </p:cNvSpPr>
            <p:nvPr/>
          </p:nvSpPr>
          <p:spPr bwMode="auto">
            <a:xfrm>
              <a:off x="3242" y="1117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2998" name="Line 70"/>
            <p:cNvSpPr>
              <a:spLocks noChangeShapeType="1"/>
            </p:cNvSpPr>
            <p:nvPr/>
          </p:nvSpPr>
          <p:spPr bwMode="auto">
            <a:xfrm flipV="1">
              <a:off x="2381" y="1026"/>
              <a:ext cx="9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999" name="Line 71"/>
            <p:cNvSpPr>
              <a:spLocks noChangeShapeType="1"/>
            </p:cNvSpPr>
            <p:nvPr/>
          </p:nvSpPr>
          <p:spPr bwMode="auto">
            <a:xfrm flipH="1">
              <a:off x="2608" y="1162"/>
              <a:ext cx="0" cy="8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00" name="Line 72"/>
            <p:cNvSpPr>
              <a:spLocks noChangeShapeType="1"/>
            </p:cNvSpPr>
            <p:nvPr/>
          </p:nvSpPr>
          <p:spPr bwMode="auto">
            <a:xfrm>
              <a:off x="2516" y="1162"/>
              <a:ext cx="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01" name="Line 73"/>
            <p:cNvSpPr>
              <a:spLocks noChangeShapeType="1"/>
            </p:cNvSpPr>
            <p:nvPr/>
          </p:nvSpPr>
          <p:spPr bwMode="auto">
            <a:xfrm flipH="1">
              <a:off x="2880" y="1162"/>
              <a:ext cx="0" cy="8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02" name="Line 74"/>
            <p:cNvSpPr>
              <a:spLocks noChangeShapeType="1"/>
            </p:cNvSpPr>
            <p:nvPr/>
          </p:nvSpPr>
          <p:spPr bwMode="auto">
            <a:xfrm>
              <a:off x="2789" y="1162"/>
              <a:ext cx="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03" name="Line 75"/>
            <p:cNvSpPr>
              <a:spLocks noChangeShapeType="1"/>
            </p:cNvSpPr>
            <p:nvPr/>
          </p:nvSpPr>
          <p:spPr bwMode="auto">
            <a:xfrm flipH="1">
              <a:off x="3424" y="1162"/>
              <a:ext cx="0" cy="8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04" name="Line 76"/>
            <p:cNvSpPr>
              <a:spLocks noChangeShapeType="1"/>
            </p:cNvSpPr>
            <p:nvPr/>
          </p:nvSpPr>
          <p:spPr bwMode="auto">
            <a:xfrm>
              <a:off x="3333" y="1162"/>
              <a:ext cx="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05" name="Line 77"/>
            <p:cNvSpPr>
              <a:spLocks noChangeShapeType="1"/>
            </p:cNvSpPr>
            <p:nvPr/>
          </p:nvSpPr>
          <p:spPr bwMode="auto">
            <a:xfrm>
              <a:off x="3288" y="1026"/>
              <a:ext cx="0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06" name="Line 78"/>
            <p:cNvSpPr>
              <a:spLocks noChangeShapeType="1"/>
            </p:cNvSpPr>
            <p:nvPr/>
          </p:nvSpPr>
          <p:spPr bwMode="auto">
            <a:xfrm>
              <a:off x="2744" y="1026"/>
              <a:ext cx="1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07" name="Line 79"/>
            <p:cNvSpPr>
              <a:spLocks noChangeShapeType="1"/>
            </p:cNvSpPr>
            <p:nvPr/>
          </p:nvSpPr>
          <p:spPr bwMode="auto">
            <a:xfrm>
              <a:off x="2472" y="1026"/>
              <a:ext cx="0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09" name="Rectangle 81"/>
            <p:cNvSpPr>
              <a:spLocks noChangeArrowheads="1"/>
            </p:cNvSpPr>
            <p:nvPr/>
          </p:nvSpPr>
          <p:spPr bwMode="auto">
            <a:xfrm>
              <a:off x="2426" y="1390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010" name="Rectangle 82"/>
            <p:cNvSpPr>
              <a:spLocks noChangeArrowheads="1"/>
            </p:cNvSpPr>
            <p:nvPr/>
          </p:nvSpPr>
          <p:spPr bwMode="auto">
            <a:xfrm>
              <a:off x="2699" y="1390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011" name="Rectangle 83"/>
            <p:cNvSpPr>
              <a:spLocks noChangeArrowheads="1"/>
            </p:cNvSpPr>
            <p:nvPr/>
          </p:nvSpPr>
          <p:spPr bwMode="auto">
            <a:xfrm>
              <a:off x="3242" y="1390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012" name="Line 84"/>
            <p:cNvSpPr>
              <a:spLocks noChangeShapeType="1"/>
            </p:cNvSpPr>
            <p:nvPr/>
          </p:nvSpPr>
          <p:spPr bwMode="auto">
            <a:xfrm flipV="1">
              <a:off x="2381" y="1298"/>
              <a:ext cx="9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13" name="Line 85"/>
            <p:cNvSpPr>
              <a:spLocks noChangeShapeType="1"/>
            </p:cNvSpPr>
            <p:nvPr/>
          </p:nvSpPr>
          <p:spPr bwMode="auto">
            <a:xfrm flipV="1">
              <a:off x="2517" y="1434"/>
              <a:ext cx="91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14" name="Line 86"/>
            <p:cNvSpPr>
              <a:spLocks noChangeShapeType="1"/>
            </p:cNvSpPr>
            <p:nvPr/>
          </p:nvSpPr>
          <p:spPr bwMode="auto">
            <a:xfrm flipV="1">
              <a:off x="2789" y="1434"/>
              <a:ext cx="91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15" name="Line 87"/>
            <p:cNvSpPr>
              <a:spLocks noChangeShapeType="1"/>
            </p:cNvSpPr>
            <p:nvPr/>
          </p:nvSpPr>
          <p:spPr bwMode="auto">
            <a:xfrm flipV="1">
              <a:off x="3333" y="1434"/>
              <a:ext cx="91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16" name="Line 88"/>
            <p:cNvSpPr>
              <a:spLocks noChangeShapeType="1"/>
            </p:cNvSpPr>
            <p:nvPr/>
          </p:nvSpPr>
          <p:spPr bwMode="auto">
            <a:xfrm>
              <a:off x="3288" y="1298"/>
              <a:ext cx="0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17" name="Line 89"/>
            <p:cNvSpPr>
              <a:spLocks noChangeShapeType="1"/>
            </p:cNvSpPr>
            <p:nvPr/>
          </p:nvSpPr>
          <p:spPr bwMode="auto">
            <a:xfrm>
              <a:off x="2744" y="1298"/>
              <a:ext cx="0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18" name="Line 90"/>
            <p:cNvSpPr>
              <a:spLocks noChangeShapeType="1"/>
            </p:cNvSpPr>
            <p:nvPr/>
          </p:nvSpPr>
          <p:spPr bwMode="auto">
            <a:xfrm>
              <a:off x="2472" y="1298"/>
              <a:ext cx="0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20" name="Rectangle 92"/>
            <p:cNvSpPr>
              <a:spLocks noChangeArrowheads="1"/>
            </p:cNvSpPr>
            <p:nvPr/>
          </p:nvSpPr>
          <p:spPr bwMode="auto">
            <a:xfrm>
              <a:off x="2426" y="1843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021" name="Rectangle 93"/>
            <p:cNvSpPr>
              <a:spLocks noChangeArrowheads="1"/>
            </p:cNvSpPr>
            <p:nvPr/>
          </p:nvSpPr>
          <p:spPr bwMode="auto">
            <a:xfrm>
              <a:off x="2699" y="1843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022" name="Rectangle 94"/>
            <p:cNvSpPr>
              <a:spLocks noChangeArrowheads="1"/>
            </p:cNvSpPr>
            <p:nvPr/>
          </p:nvSpPr>
          <p:spPr bwMode="auto">
            <a:xfrm>
              <a:off x="3242" y="1843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023" name="Line 95"/>
            <p:cNvSpPr>
              <a:spLocks noChangeShapeType="1"/>
            </p:cNvSpPr>
            <p:nvPr/>
          </p:nvSpPr>
          <p:spPr bwMode="auto">
            <a:xfrm flipV="1">
              <a:off x="2381" y="1752"/>
              <a:ext cx="9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24" name="Line 96"/>
            <p:cNvSpPr>
              <a:spLocks noChangeShapeType="1"/>
            </p:cNvSpPr>
            <p:nvPr/>
          </p:nvSpPr>
          <p:spPr bwMode="auto">
            <a:xfrm>
              <a:off x="2516" y="1888"/>
              <a:ext cx="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25" name="Line 97"/>
            <p:cNvSpPr>
              <a:spLocks noChangeShapeType="1"/>
            </p:cNvSpPr>
            <p:nvPr/>
          </p:nvSpPr>
          <p:spPr bwMode="auto">
            <a:xfrm>
              <a:off x="2789" y="1888"/>
              <a:ext cx="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26" name="Line 98"/>
            <p:cNvSpPr>
              <a:spLocks noChangeShapeType="1"/>
            </p:cNvSpPr>
            <p:nvPr/>
          </p:nvSpPr>
          <p:spPr bwMode="auto">
            <a:xfrm>
              <a:off x="3333" y="1888"/>
              <a:ext cx="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27" name="Line 99"/>
            <p:cNvSpPr>
              <a:spLocks noChangeShapeType="1"/>
            </p:cNvSpPr>
            <p:nvPr/>
          </p:nvSpPr>
          <p:spPr bwMode="auto">
            <a:xfrm>
              <a:off x="3288" y="1752"/>
              <a:ext cx="0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28" name="Line 100"/>
            <p:cNvSpPr>
              <a:spLocks noChangeShapeType="1"/>
            </p:cNvSpPr>
            <p:nvPr/>
          </p:nvSpPr>
          <p:spPr bwMode="auto">
            <a:xfrm>
              <a:off x="2744" y="1752"/>
              <a:ext cx="0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29" name="Line 101"/>
            <p:cNvSpPr>
              <a:spLocks noChangeShapeType="1"/>
            </p:cNvSpPr>
            <p:nvPr/>
          </p:nvSpPr>
          <p:spPr bwMode="auto">
            <a:xfrm>
              <a:off x="2472" y="1752"/>
              <a:ext cx="0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31" name="Text Box 103"/>
            <p:cNvSpPr txBox="1">
              <a:spLocks noChangeArrowheads="1"/>
            </p:cNvSpPr>
            <p:nvPr/>
          </p:nvSpPr>
          <p:spPr bwMode="auto">
            <a:xfrm>
              <a:off x="3243" y="1525"/>
              <a:ext cx="181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/>
                <a:t>…</a:t>
              </a:r>
            </a:p>
          </p:txBody>
        </p:sp>
        <p:sp>
          <p:nvSpPr>
            <p:cNvPr id="253032" name="Text Box 104"/>
            <p:cNvSpPr txBox="1">
              <a:spLocks noChangeArrowheads="1"/>
            </p:cNvSpPr>
            <p:nvPr/>
          </p:nvSpPr>
          <p:spPr bwMode="auto">
            <a:xfrm>
              <a:off x="2698" y="1525"/>
              <a:ext cx="181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/>
                <a:t>…</a:t>
              </a:r>
            </a:p>
          </p:txBody>
        </p:sp>
        <p:sp>
          <p:nvSpPr>
            <p:cNvPr id="253033" name="Text Box 105"/>
            <p:cNvSpPr txBox="1">
              <a:spLocks noChangeArrowheads="1"/>
            </p:cNvSpPr>
            <p:nvPr/>
          </p:nvSpPr>
          <p:spPr bwMode="auto">
            <a:xfrm>
              <a:off x="2426" y="1525"/>
              <a:ext cx="181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/>
                <a:t>…</a:t>
              </a:r>
            </a:p>
          </p:txBody>
        </p:sp>
        <p:sp>
          <p:nvSpPr>
            <p:cNvPr id="253050" name="Rectangle 122"/>
            <p:cNvSpPr>
              <a:spLocks noChangeArrowheads="1"/>
            </p:cNvSpPr>
            <p:nvPr/>
          </p:nvSpPr>
          <p:spPr bwMode="auto">
            <a:xfrm>
              <a:off x="2970" y="1117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051" name="Line 123"/>
            <p:cNvSpPr>
              <a:spLocks noChangeShapeType="1"/>
            </p:cNvSpPr>
            <p:nvPr/>
          </p:nvSpPr>
          <p:spPr bwMode="auto">
            <a:xfrm>
              <a:off x="3152" y="1162"/>
              <a:ext cx="0" cy="8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52" name="Line 124"/>
            <p:cNvSpPr>
              <a:spLocks noChangeShapeType="1"/>
            </p:cNvSpPr>
            <p:nvPr/>
          </p:nvSpPr>
          <p:spPr bwMode="auto">
            <a:xfrm>
              <a:off x="3059" y="1162"/>
              <a:ext cx="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53" name="Line 125"/>
            <p:cNvSpPr>
              <a:spLocks noChangeShapeType="1"/>
            </p:cNvSpPr>
            <p:nvPr/>
          </p:nvSpPr>
          <p:spPr bwMode="auto">
            <a:xfrm>
              <a:off x="3014" y="1026"/>
              <a:ext cx="2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54" name="Rectangle 126"/>
            <p:cNvSpPr>
              <a:spLocks noChangeArrowheads="1"/>
            </p:cNvSpPr>
            <p:nvPr/>
          </p:nvSpPr>
          <p:spPr bwMode="auto">
            <a:xfrm>
              <a:off x="2971" y="1390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055" name="Line 127"/>
            <p:cNvSpPr>
              <a:spLocks noChangeShapeType="1"/>
            </p:cNvSpPr>
            <p:nvPr/>
          </p:nvSpPr>
          <p:spPr bwMode="auto">
            <a:xfrm flipV="1">
              <a:off x="3059" y="1434"/>
              <a:ext cx="93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56" name="Line 128"/>
            <p:cNvSpPr>
              <a:spLocks noChangeShapeType="1"/>
            </p:cNvSpPr>
            <p:nvPr/>
          </p:nvSpPr>
          <p:spPr bwMode="auto">
            <a:xfrm>
              <a:off x="3014" y="1298"/>
              <a:ext cx="2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57" name="Rectangle 129"/>
            <p:cNvSpPr>
              <a:spLocks noChangeArrowheads="1"/>
            </p:cNvSpPr>
            <p:nvPr/>
          </p:nvSpPr>
          <p:spPr bwMode="auto">
            <a:xfrm>
              <a:off x="2971" y="1843"/>
              <a:ext cx="90" cy="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058" name="Line 130"/>
            <p:cNvSpPr>
              <a:spLocks noChangeShapeType="1"/>
            </p:cNvSpPr>
            <p:nvPr/>
          </p:nvSpPr>
          <p:spPr bwMode="auto">
            <a:xfrm>
              <a:off x="3059" y="1888"/>
              <a:ext cx="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59" name="Line 131"/>
            <p:cNvSpPr>
              <a:spLocks noChangeShapeType="1"/>
            </p:cNvSpPr>
            <p:nvPr/>
          </p:nvSpPr>
          <p:spPr bwMode="auto">
            <a:xfrm>
              <a:off x="3014" y="1752"/>
              <a:ext cx="2" cy="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60" name="Text Box 132"/>
            <p:cNvSpPr txBox="1">
              <a:spLocks noChangeArrowheads="1"/>
            </p:cNvSpPr>
            <p:nvPr/>
          </p:nvSpPr>
          <p:spPr bwMode="auto">
            <a:xfrm>
              <a:off x="2970" y="1525"/>
              <a:ext cx="181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/>
                <a:t>…</a:t>
              </a:r>
            </a:p>
          </p:txBody>
        </p:sp>
        <p:sp>
          <p:nvSpPr>
            <p:cNvPr id="253062" name="Line 134"/>
            <p:cNvSpPr>
              <a:spLocks noChangeShapeType="1"/>
            </p:cNvSpPr>
            <p:nvPr/>
          </p:nvSpPr>
          <p:spPr bwMode="auto">
            <a:xfrm flipH="1">
              <a:off x="3152" y="1979"/>
              <a:ext cx="0" cy="1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63" name="Line 135"/>
            <p:cNvSpPr>
              <a:spLocks noChangeShapeType="1"/>
            </p:cNvSpPr>
            <p:nvPr/>
          </p:nvSpPr>
          <p:spPr bwMode="auto">
            <a:xfrm>
              <a:off x="2199" y="1298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64" name="Line 136"/>
            <p:cNvSpPr>
              <a:spLocks noChangeShapeType="1"/>
            </p:cNvSpPr>
            <p:nvPr/>
          </p:nvSpPr>
          <p:spPr bwMode="auto">
            <a:xfrm>
              <a:off x="2199" y="1752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65" name="Line 137"/>
            <p:cNvSpPr>
              <a:spLocks noChangeShapeType="1"/>
            </p:cNvSpPr>
            <p:nvPr/>
          </p:nvSpPr>
          <p:spPr bwMode="auto">
            <a:xfrm>
              <a:off x="1655" y="2205"/>
              <a:ext cx="7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66" name="Line 138"/>
            <p:cNvSpPr>
              <a:spLocks noChangeShapeType="1"/>
            </p:cNvSpPr>
            <p:nvPr/>
          </p:nvSpPr>
          <p:spPr bwMode="auto">
            <a:xfrm flipV="1">
              <a:off x="1655" y="2250"/>
              <a:ext cx="77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67" name="Line 139"/>
            <p:cNvSpPr>
              <a:spLocks noChangeShapeType="1"/>
            </p:cNvSpPr>
            <p:nvPr/>
          </p:nvSpPr>
          <p:spPr bwMode="auto">
            <a:xfrm>
              <a:off x="1655" y="2296"/>
              <a:ext cx="7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068" name="Line 140"/>
            <p:cNvSpPr>
              <a:spLocks noChangeShapeType="1"/>
            </p:cNvSpPr>
            <p:nvPr/>
          </p:nvSpPr>
          <p:spPr bwMode="auto">
            <a:xfrm>
              <a:off x="1655" y="2341"/>
              <a:ext cx="7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3224" name="Group 296"/>
          <p:cNvGrpSpPr/>
          <p:nvPr/>
        </p:nvGrpSpPr>
        <p:grpSpPr bwMode="auto">
          <a:xfrm>
            <a:off x="2269083" y="1702048"/>
            <a:ext cx="1655763" cy="288925"/>
            <a:chOff x="930" y="1162"/>
            <a:chExt cx="1043" cy="182"/>
          </a:xfrm>
        </p:grpSpPr>
        <p:sp>
          <p:nvSpPr>
            <p:cNvPr id="252971" name="Text Box 43"/>
            <p:cNvSpPr txBox="1">
              <a:spLocks noChangeArrowheads="1"/>
            </p:cNvSpPr>
            <p:nvPr/>
          </p:nvSpPr>
          <p:spPr bwMode="auto">
            <a:xfrm>
              <a:off x="930" y="1162"/>
              <a:ext cx="861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①0…01</a:t>
              </a:r>
            </a:p>
          </p:txBody>
        </p:sp>
        <p:sp>
          <p:nvSpPr>
            <p:cNvPr id="253069" name="Line 141"/>
            <p:cNvSpPr>
              <a:spLocks noChangeShapeType="1"/>
            </p:cNvSpPr>
            <p:nvPr/>
          </p:nvSpPr>
          <p:spPr bwMode="auto">
            <a:xfrm>
              <a:off x="930" y="1344"/>
              <a:ext cx="1043" cy="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3226" name="Group 298"/>
          <p:cNvGrpSpPr/>
          <p:nvPr/>
        </p:nvGrpSpPr>
        <p:grpSpPr bwMode="auto">
          <a:xfrm>
            <a:off x="2269083" y="2854573"/>
            <a:ext cx="2447925" cy="288925"/>
            <a:chOff x="930" y="1888"/>
            <a:chExt cx="1542" cy="182"/>
          </a:xfrm>
        </p:grpSpPr>
        <p:sp>
          <p:nvSpPr>
            <p:cNvPr id="252989" name="Text Box 61"/>
            <p:cNvSpPr txBox="1">
              <a:spLocks noChangeArrowheads="1"/>
            </p:cNvSpPr>
            <p:nvPr/>
          </p:nvSpPr>
          <p:spPr bwMode="auto">
            <a:xfrm>
              <a:off x="930" y="1888"/>
              <a:ext cx="907" cy="13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①Read</a:t>
              </a:r>
            </a:p>
          </p:txBody>
        </p:sp>
        <p:sp>
          <p:nvSpPr>
            <p:cNvPr id="253072" name="Line 144"/>
            <p:cNvSpPr>
              <a:spLocks noChangeShapeType="1"/>
            </p:cNvSpPr>
            <p:nvPr/>
          </p:nvSpPr>
          <p:spPr bwMode="auto">
            <a:xfrm>
              <a:off x="930" y="2069"/>
              <a:ext cx="1542" cy="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3073" name="Line 145"/>
          <p:cNvSpPr>
            <a:spLocks noChangeShapeType="1"/>
          </p:cNvSpPr>
          <p:nvPr/>
        </p:nvSpPr>
        <p:spPr bwMode="auto">
          <a:xfrm>
            <a:off x="4715421" y="3141910"/>
            <a:ext cx="1587" cy="144463"/>
          </a:xfrm>
          <a:prstGeom prst="line">
            <a:avLst/>
          </a:prstGeom>
          <a:noFill/>
          <a:ln w="19050">
            <a:solidFill>
              <a:srgbClr val="FF3399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53085" name="Text Box 157"/>
          <p:cNvSpPr txBox="1">
            <a:spLocks noChangeArrowheads="1"/>
          </p:cNvSpPr>
          <p:nvPr/>
        </p:nvSpPr>
        <p:spPr bwMode="auto">
          <a:xfrm>
            <a:off x="3926433" y="1414710"/>
            <a:ext cx="358775" cy="1295400"/>
          </a:xfrm>
          <a:prstGeom prst="rect">
            <a:avLst/>
          </a:prstGeom>
          <a:solidFill>
            <a:srgbClr val="FF6600">
              <a:alpha val="60001"/>
            </a:srgbClr>
          </a:solidFill>
          <a:ln w="15875">
            <a:solidFill>
              <a:schemeClr val="tx1"/>
            </a:solidFill>
            <a:miter lim="800000"/>
          </a:ln>
          <a:effectLst/>
        </p:spPr>
        <p:txBody>
          <a:bodyPr vert="eaVert" lIns="18000" tIns="10800" rIns="18000" bIns="10800" anchor="ctr"/>
          <a:lstStyle/>
          <a:p>
            <a:pPr algn="ctr"/>
            <a:r>
              <a:rPr lang="zh-CN" altLang="en-US" sz="1800" b="1">
                <a:latin typeface="宋体" panose="02010600030101010101" pitchFamily="2" charset="-122"/>
              </a:rPr>
              <a:t>地址译码器</a:t>
            </a:r>
          </a:p>
        </p:txBody>
      </p:sp>
      <p:grpSp>
        <p:nvGrpSpPr>
          <p:cNvPr id="253149" name="Group 221"/>
          <p:cNvGrpSpPr/>
          <p:nvPr/>
        </p:nvGrpSpPr>
        <p:grpSpPr bwMode="auto">
          <a:xfrm>
            <a:off x="4717010" y="1917948"/>
            <a:ext cx="1293813" cy="144462"/>
            <a:chOff x="2472" y="1298"/>
            <a:chExt cx="815" cy="91"/>
          </a:xfrm>
        </p:grpSpPr>
        <p:sp>
          <p:nvSpPr>
            <p:cNvPr id="253112" name="Line 184"/>
            <p:cNvSpPr>
              <a:spLocks noChangeShapeType="1"/>
            </p:cNvSpPr>
            <p:nvPr/>
          </p:nvSpPr>
          <p:spPr bwMode="auto">
            <a:xfrm>
              <a:off x="3287" y="1298"/>
              <a:ext cx="0" cy="91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113" name="Line 185"/>
            <p:cNvSpPr>
              <a:spLocks noChangeShapeType="1"/>
            </p:cNvSpPr>
            <p:nvPr/>
          </p:nvSpPr>
          <p:spPr bwMode="auto">
            <a:xfrm>
              <a:off x="2743" y="1298"/>
              <a:ext cx="0" cy="91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114" name="Line 186"/>
            <p:cNvSpPr>
              <a:spLocks noChangeShapeType="1"/>
            </p:cNvSpPr>
            <p:nvPr/>
          </p:nvSpPr>
          <p:spPr bwMode="auto">
            <a:xfrm>
              <a:off x="2472" y="1298"/>
              <a:ext cx="0" cy="91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134" name="Line 206"/>
            <p:cNvSpPr>
              <a:spLocks noChangeShapeType="1"/>
            </p:cNvSpPr>
            <p:nvPr/>
          </p:nvSpPr>
          <p:spPr bwMode="auto">
            <a:xfrm>
              <a:off x="3013" y="1298"/>
              <a:ext cx="0" cy="91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  <a:head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3140" name="Line 212"/>
          <p:cNvSpPr>
            <a:spLocks noChangeShapeType="1"/>
          </p:cNvSpPr>
          <p:nvPr/>
        </p:nvSpPr>
        <p:spPr bwMode="auto">
          <a:xfrm>
            <a:off x="4285208" y="1917948"/>
            <a:ext cx="1727200" cy="0"/>
          </a:xfrm>
          <a:prstGeom prst="line">
            <a:avLst/>
          </a:prstGeom>
          <a:noFill/>
          <a:ln w="25400">
            <a:solidFill>
              <a:srgbClr val="CC3300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53156" name="Text Box 228"/>
          <p:cNvSpPr txBox="1">
            <a:spLocks noChangeArrowheads="1"/>
          </p:cNvSpPr>
          <p:nvPr/>
        </p:nvSpPr>
        <p:spPr bwMode="auto">
          <a:xfrm>
            <a:off x="4643983" y="3286800"/>
            <a:ext cx="1657350" cy="358775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lIns="18000" tIns="10800" rIns="18000" bIns="10800" anchor="ctr"/>
          <a:lstStyle/>
          <a:p>
            <a:pPr algn="ctr"/>
            <a:r>
              <a:rPr lang="zh-CN" altLang="en-US" sz="1800" b="1" dirty="0">
                <a:latin typeface="宋体" panose="02010600030101010101" pitchFamily="2" charset="-122"/>
              </a:rPr>
              <a:t>读写电路</a:t>
            </a:r>
          </a:p>
        </p:txBody>
      </p:sp>
      <p:grpSp>
        <p:nvGrpSpPr>
          <p:cNvPr id="253217" name="Group 289"/>
          <p:cNvGrpSpPr/>
          <p:nvPr/>
        </p:nvGrpSpPr>
        <p:grpSpPr bwMode="auto">
          <a:xfrm>
            <a:off x="4647158" y="2062410"/>
            <a:ext cx="1581150" cy="142875"/>
            <a:chOff x="2428" y="1389"/>
            <a:chExt cx="996" cy="90"/>
          </a:xfrm>
        </p:grpSpPr>
        <p:sp>
          <p:nvSpPr>
            <p:cNvPr id="253176" name="Rectangle 248"/>
            <p:cNvSpPr>
              <a:spLocks noChangeArrowheads="1"/>
            </p:cNvSpPr>
            <p:nvPr/>
          </p:nvSpPr>
          <p:spPr bwMode="auto">
            <a:xfrm>
              <a:off x="2428" y="1389"/>
              <a:ext cx="90" cy="90"/>
            </a:xfrm>
            <a:prstGeom prst="rect">
              <a:avLst/>
            </a:prstGeom>
            <a:solidFill>
              <a:srgbClr val="3366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177" name="Rectangle 249"/>
            <p:cNvSpPr>
              <a:spLocks noChangeArrowheads="1"/>
            </p:cNvSpPr>
            <p:nvPr/>
          </p:nvSpPr>
          <p:spPr bwMode="auto">
            <a:xfrm>
              <a:off x="2701" y="1389"/>
              <a:ext cx="90" cy="90"/>
            </a:xfrm>
            <a:prstGeom prst="rect">
              <a:avLst/>
            </a:prstGeom>
            <a:solidFill>
              <a:srgbClr val="3366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178" name="Rectangle 250"/>
            <p:cNvSpPr>
              <a:spLocks noChangeArrowheads="1"/>
            </p:cNvSpPr>
            <p:nvPr/>
          </p:nvSpPr>
          <p:spPr bwMode="auto">
            <a:xfrm>
              <a:off x="3244" y="1389"/>
              <a:ext cx="90" cy="90"/>
            </a:xfrm>
            <a:prstGeom prst="rect">
              <a:avLst/>
            </a:prstGeom>
            <a:solidFill>
              <a:srgbClr val="3366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180" name="Line 252"/>
            <p:cNvSpPr>
              <a:spLocks noChangeShapeType="1"/>
            </p:cNvSpPr>
            <p:nvPr/>
          </p:nvSpPr>
          <p:spPr bwMode="auto">
            <a:xfrm flipV="1">
              <a:off x="2517" y="1434"/>
              <a:ext cx="91" cy="1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181" name="Line 253"/>
            <p:cNvSpPr>
              <a:spLocks noChangeShapeType="1"/>
            </p:cNvSpPr>
            <p:nvPr/>
          </p:nvSpPr>
          <p:spPr bwMode="auto">
            <a:xfrm flipV="1">
              <a:off x="2789" y="1434"/>
              <a:ext cx="91" cy="1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182" name="Line 254"/>
            <p:cNvSpPr>
              <a:spLocks noChangeShapeType="1"/>
            </p:cNvSpPr>
            <p:nvPr/>
          </p:nvSpPr>
          <p:spPr bwMode="auto">
            <a:xfrm flipV="1">
              <a:off x="3333" y="1434"/>
              <a:ext cx="91" cy="1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203" name="Rectangle 275"/>
            <p:cNvSpPr>
              <a:spLocks noChangeArrowheads="1"/>
            </p:cNvSpPr>
            <p:nvPr/>
          </p:nvSpPr>
          <p:spPr bwMode="auto">
            <a:xfrm>
              <a:off x="2973" y="1389"/>
              <a:ext cx="90" cy="90"/>
            </a:xfrm>
            <a:prstGeom prst="rect">
              <a:avLst/>
            </a:prstGeom>
            <a:solidFill>
              <a:srgbClr val="3366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3204" name="Line 276"/>
            <p:cNvSpPr>
              <a:spLocks noChangeShapeType="1"/>
            </p:cNvSpPr>
            <p:nvPr/>
          </p:nvSpPr>
          <p:spPr bwMode="auto">
            <a:xfrm flipV="1">
              <a:off x="3059" y="1434"/>
              <a:ext cx="93" cy="1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3228" name="Group 300"/>
          <p:cNvGrpSpPr/>
          <p:nvPr/>
        </p:nvGrpSpPr>
        <p:grpSpPr bwMode="auto">
          <a:xfrm>
            <a:off x="2269083" y="3357810"/>
            <a:ext cx="2374900" cy="503238"/>
            <a:chOff x="930" y="2205"/>
            <a:chExt cx="1496" cy="317"/>
          </a:xfrm>
        </p:grpSpPr>
        <p:sp>
          <p:nvSpPr>
            <p:cNvPr id="252960" name="Text Box 32"/>
            <p:cNvSpPr txBox="1">
              <a:spLocks noChangeArrowheads="1"/>
            </p:cNvSpPr>
            <p:nvPr/>
          </p:nvSpPr>
          <p:spPr bwMode="auto">
            <a:xfrm>
              <a:off x="930" y="2341"/>
              <a:ext cx="908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>
                  <a:solidFill>
                    <a:schemeClr val="accent2"/>
                  </a:solidFill>
                  <a:latin typeface="宋体" panose="02010600030101010101" pitchFamily="2" charset="-122"/>
                </a:rPr>
                <a:t>②1#</a:t>
              </a:r>
              <a:r>
                <a:rPr lang="zh-CN" altLang="en-US" sz="1800" b="1">
                  <a:solidFill>
                    <a:schemeClr val="accent2"/>
                  </a:solidFill>
                  <a:latin typeface="宋体" panose="02010600030101010101" pitchFamily="2" charset="-122"/>
                </a:rPr>
                <a:t>的存储字</a:t>
              </a:r>
            </a:p>
          </p:txBody>
        </p:sp>
        <p:grpSp>
          <p:nvGrpSpPr>
            <p:cNvPr id="253227" name="Group 299"/>
            <p:cNvGrpSpPr/>
            <p:nvPr/>
          </p:nvGrpSpPr>
          <p:grpSpPr bwMode="auto">
            <a:xfrm>
              <a:off x="930" y="2205"/>
              <a:ext cx="1496" cy="136"/>
              <a:chOff x="930" y="2205"/>
              <a:chExt cx="1496" cy="136"/>
            </a:xfrm>
          </p:grpSpPr>
          <p:sp>
            <p:nvSpPr>
              <p:cNvPr id="253213" name="Line 285"/>
              <p:cNvSpPr>
                <a:spLocks noChangeShapeType="1"/>
              </p:cNvSpPr>
              <p:nvPr/>
            </p:nvSpPr>
            <p:spPr bwMode="auto">
              <a:xfrm>
                <a:off x="930" y="2205"/>
                <a:ext cx="1496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 type="triangle" w="med" len="med"/>
                <a:tailEnd type="none" w="sm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3214" name="Line 286"/>
              <p:cNvSpPr>
                <a:spLocks noChangeShapeType="1"/>
              </p:cNvSpPr>
              <p:nvPr/>
            </p:nvSpPr>
            <p:spPr bwMode="auto">
              <a:xfrm flipV="1">
                <a:off x="930" y="2250"/>
                <a:ext cx="1496" cy="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 type="triangle" w="med" len="med"/>
                <a:tailEnd type="none" w="sm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3215" name="Line 287"/>
              <p:cNvSpPr>
                <a:spLocks noChangeShapeType="1"/>
              </p:cNvSpPr>
              <p:nvPr/>
            </p:nvSpPr>
            <p:spPr bwMode="auto">
              <a:xfrm>
                <a:off x="930" y="2296"/>
                <a:ext cx="1496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 type="triangle" w="med" len="med"/>
                <a:tailEnd type="none" w="sm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3216" name="Line 288"/>
              <p:cNvSpPr>
                <a:spLocks noChangeShapeType="1"/>
              </p:cNvSpPr>
              <p:nvPr/>
            </p:nvSpPr>
            <p:spPr bwMode="auto">
              <a:xfrm>
                <a:off x="930" y="2341"/>
                <a:ext cx="1496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 type="triangle" w="med" len="med"/>
                <a:tailEnd type="none" w="sm" len="sm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53221" name="Group 293"/>
          <p:cNvGrpSpPr/>
          <p:nvPr/>
        </p:nvGrpSpPr>
        <p:grpSpPr bwMode="auto">
          <a:xfrm>
            <a:off x="4932908" y="2133848"/>
            <a:ext cx="1295400" cy="1152525"/>
            <a:chOff x="2608" y="1434"/>
            <a:chExt cx="816" cy="726"/>
          </a:xfrm>
        </p:grpSpPr>
        <p:sp>
          <p:nvSpPr>
            <p:cNvPr id="253160" name="Line 232"/>
            <p:cNvSpPr>
              <a:spLocks noChangeShapeType="1"/>
            </p:cNvSpPr>
            <p:nvPr/>
          </p:nvSpPr>
          <p:spPr bwMode="auto">
            <a:xfrm flipH="1">
              <a:off x="2608" y="1434"/>
              <a:ext cx="0" cy="726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218" name="Line 290"/>
            <p:cNvSpPr>
              <a:spLocks noChangeShapeType="1"/>
            </p:cNvSpPr>
            <p:nvPr/>
          </p:nvSpPr>
          <p:spPr bwMode="auto">
            <a:xfrm flipH="1">
              <a:off x="2880" y="1434"/>
              <a:ext cx="0" cy="726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219" name="Line 291"/>
            <p:cNvSpPr>
              <a:spLocks noChangeShapeType="1"/>
            </p:cNvSpPr>
            <p:nvPr/>
          </p:nvSpPr>
          <p:spPr bwMode="auto">
            <a:xfrm flipH="1">
              <a:off x="3152" y="1434"/>
              <a:ext cx="0" cy="726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220" name="Line 292"/>
            <p:cNvSpPr>
              <a:spLocks noChangeShapeType="1"/>
            </p:cNvSpPr>
            <p:nvPr/>
          </p:nvSpPr>
          <p:spPr bwMode="auto">
            <a:xfrm flipH="1">
              <a:off x="3424" y="1434"/>
              <a:ext cx="0" cy="726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3230" name="Text Box 302"/>
          <p:cNvSpPr txBox="1">
            <a:spLocks noChangeArrowheads="1"/>
          </p:cNvSpPr>
          <p:nvPr/>
        </p:nvSpPr>
        <p:spPr bwMode="auto">
          <a:xfrm>
            <a:off x="1907704" y="3861048"/>
            <a:ext cx="6408961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sng" dirty="0">
                <a:solidFill>
                  <a:srgbClr val="990099"/>
                </a:solidFill>
                <a:highlight>
                  <a:srgbClr val="CCCCFF"/>
                </a:highlight>
                <a:latin typeface="宋体" panose="02010600030101010101" pitchFamily="2" charset="-122"/>
              </a:rPr>
              <a:t>接收</a:t>
            </a:r>
            <a:r>
              <a:rPr lang="zh-CN" altLang="en-US" sz="2200" b="1" dirty="0">
                <a:latin typeface="宋体" panose="02010600030101010101" pitchFamily="2" charset="-122"/>
              </a:rPr>
              <a:t>地址</a:t>
            </a:r>
            <a:r>
              <a:rPr lang="en-US" altLang="zh-CN" sz="2200" b="1" dirty="0">
                <a:latin typeface="宋体" panose="02010600030101010101" pitchFamily="2" charset="-122"/>
              </a:rPr>
              <a:t>&amp;</a:t>
            </a:r>
            <a:r>
              <a:rPr lang="zh-CN" altLang="en-US" sz="2200" b="1" dirty="0">
                <a:latin typeface="宋体" panose="02010600030101010101" pitchFamily="2" charset="-122"/>
              </a:rPr>
              <a:t>命令、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数据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选择</a:t>
            </a:r>
            <a:r>
              <a:rPr lang="zh-CN" altLang="en-US" sz="2200" b="1" dirty="0">
                <a:latin typeface="宋体" panose="02010600030101010101" pitchFamily="2" charset="-122"/>
              </a:rPr>
              <a:t>单元、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启动</a:t>
            </a:r>
            <a:r>
              <a:rPr lang="zh-CN" altLang="en-US" sz="2200" b="1" dirty="0">
                <a:latin typeface="宋体" panose="02010600030101010101" pitchFamily="2" charset="-122"/>
              </a:rPr>
              <a:t>操作</a:t>
            </a:r>
            <a:r>
              <a:rPr lang="en-US" altLang="zh-CN" sz="1600" b="1" spc="-100" dirty="0">
                <a:latin typeface="宋体" panose="02010600030101010101" pitchFamily="2" charset="-122"/>
              </a:rPr>
              <a:t>(</a:t>
            </a:r>
            <a:r>
              <a:rPr lang="zh-CN" altLang="en-US" sz="1600" b="1" spc="-100" dirty="0">
                <a:latin typeface="宋体" panose="02010600030101010101" pitchFamily="2" charset="-122"/>
              </a:rPr>
              <a:t>写</a:t>
            </a:r>
            <a:r>
              <a:rPr lang="en-US" altLang="zh-CN" sz="1600" b="1" spc="-100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10" name="Text Box 177"/>
          <p:cNvSpPr txBox="1">
            <a:spLocks noChangeArrowheads="1"/>
          </p:cNvSpPr>
          <p:nvPr/>
        </p:nvSpPr>
        <p:spPr bwMode="auto">
          <a:xfrm>
            <a:off x="179263" y="4330311"/>
            <a:ext cx="8857233" cy="16189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*应用：</a:t>
            </a:r>
            <a:r>
              <a:rPr lang="zh-CN" altLang="en-US" sz="2200" b="1" dirty="0">
                <a:latin typeface="宋体" panose="02010600030101010101" pitchFamily="2" charset="-122"/>
              </a:rPr>
              <a:t>有主存、</a:t>
            </a:r>
            <a:r>
              <a:rPr lang="en-US" altLang="zh-CN" sz="2200" b="1" dirty="0">
                <a:latin typeface="宋体" panose="02010600030101010101" pitchFamily="2" charset="-122"/>
              </a:rPr>
              <a:t>Cache</a:t>
            </a:r>
            <a:r>
              <a:rPr lang="zh-CN" altLang="en-US" sz="2200" b="1" dirty="0">
                <a:latin typeface="宋体" panose="02010600030101010101" pitchFamily="2" charset="-122"/>
              </a:rPr>
              <a:t>等                     </a:t>
            </a:r>
            <a:r>
              <a:rPr lang="zh-CN" altLang="en-US" sz="1600" b="1" dirty="0">
                <a:latin typeface="宋体" panose="02010600030101010101" pitchFamily="2" charset="-122"/>
              </a:rPr>
              <a:t>←磁盘不属于</a:t>
            </a:r>
            <a:r>
              <a:rPr lang="en-US" altLang="zh-CN" sz="1600" b="1" dirty="0">
                <a:latin typeface="宋体" panose="02010600030101010101" pitchFamily="2" charset="-122"/>
              </a:rPr>
              <a:t>RAM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    注意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⑴存储器是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抽象</a:t>
            </a:r>
            <a:r>
              <a:rPr lang="zh-CN" altLang="en-US" sz="2200" b="1" dirty="0">
                <a:latin typeface="宋体" panose="02010600030101010101" pitchFamily="2" charset="-122"/>
              </a:rPr>
              <a:t>，主存</a:t>
            </a:r>
            <a:r>
              <a:rPr lang="en-US" altLang="zh-CN" sz="2200" b="1" dirty="0">
                <a:latin typeface="宋体" panose="02010600030101010101" pitchFamily="2" charset="-122"/>
              </a:rPr>
              <a:t>/Cache</a:t>
            </a:r>
            <a:r>
              <a:rPr lang="zh-CN" altLang="en-US" sz="2200" b="1" dirty="0">
                <a:latin typeface="宋体" panose="02010600030101010101" pitchFamily="2" charset="-122"/>
              </a:rPr>
              <a:t>是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实例</a:t>
            </a:r>
            <a:r>
              <a:rPr lang="zh-CN" altLang="en-US" sz="2200" b="1" dirty="0">
                <a:latin typeface="宋体" panose="02010600030101010101" pitchFamily="2" charset="-122"/>
              </a:rPr>
              <a:t>  </a:t>
            </a:r>
            <a:r>
              <a:rPr lang="zh-CN" altLang="en-US" sz="1600" b="1" dirty="0">
                <a:latin typeface="宋体" panose="02010600030101010101" pitchFamily="2" charset="-122"/>
              </a:rPr>
              <a:t>←如</a:t>
            </a:r>
            <a:r>
              <a:rPr lang="en-US" altLang="zh-CN" sz="1600" b="1" dirty="0">
                <a:latin typeface="宋体" panose="02010600030101010101" pitchFamily="2" charset="-122"/>
              </a:rPr>
              <a:t>C++</a:t>
            </a:r>
            <a:r>
              <a:rPr lang="zh-CN" altLang="en-US" sz="1600" b="1" dirty="0">
                <a:latin typeface="宋体" panose="02010600030101010101" pitchFamily="2" charset="-122"/>
              </a:rPr>
              <a:t>类的定义和实例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      ⑵存储器的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参数名称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常随实例改变</a:t>
            </a:r>
            <a:r>
              <a:rPr lang="zh-CN" altLang="en-US" sz="2200" b="1" dirty="0">
                <a:latin typeface="宋体" panose="02010600030101010101" pitchFamily="2" charset="-122"/>
              </a:rPr>
              <a:t>    </a:t>
            </a:r>
            <a:r>
              <a:rPr lang="zh-CN" altLang="en-US" sz="1600" b="1" dirty="0">
                <a:latin typeface="宋体" panose="02010600030101010101" pitchFamily="2" charset="-122"/>
              </a:rPr>
              <a:t>←便于区</a:t>
            </a:r>
            <a:r>
              <a:rPr lang="zh-CN" altLang="en-US" sz="1800" b="1" dirty="0">
                <a:latin typeface="宋体" panose="02010600030101010101" pitchFamily="2" charset="-122"/>
              </a:rPr>
              <a:t>分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 (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如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:</a:t>
            </a:r>
            <a:r>
              <a:rPr lang="zh-CN" altLang="en-US" sz="1800" b="1" dirty="0">
                <a:latin typeface="宋体" panose="02010600030101010101" pitchFamily="2" charset="-122"/>
              </a:rPr>
              <a:t>主存单元、主存地址、</a:t>
            </a:r>
            <a:r>
              <a:rPr lang="en-US" altLang="zh-CN" sz="1800" b="1" dirty="0">
                <a:latin typeface="宋体" panose="02010600030101010101" pitchFamily="2" charset="-122"/>
              </a:rPr>
              <a:t>Cache</a:t>
            </a:r>
            <a:r>
              <a:rPr lang="zh-CN" altLang="en-US" sz="1800" b="1" dirty="0">
                <a:latin typeface="宋体" panose="02010600030101010101" pitchFamily="2" charset="-122"/>
              </a:rPr>
              <a:t>容量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11" name="Text Box 24"/>
          <p:cNvSpPr txBox="1">
            <a:spLocks noChangeArrowheads="1"/>
          </p:cNvSpPr>
          <p:nvPr/>
        </p:nvSpPr>
        <p:spPr bwMode="auto">
          <a:xfrm>
            <a:off x="1907704" y="764704"/>
            <a:ext cx="6696868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sng" spc="-100" dirty="0">
                <a:solidFill>
                  <a:srgbClr val="990099"/>
                </a:solidFill>
                <a:highlight>
                  <a:srgbClr val="CCCCFF"/>
                </a:highlight>
                <a:latin typeface="宋体" panose="02010600030101010101" pitchFamily="2" charset="-122"/>
              </a:rPr>
              <a:t>接收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地址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&amp;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命令，</a:t>
            </a:r>
            <a:r>
              <a:rPr lang="zh-CN" altLang="en-US" sz="2200" b="1" spc="-100" dirty="0">
                <a:solidFill>
                  <a:srgbClr val="990099"/>
                </a:solidFill>
                <a:latin typeface="宋体" panose="02010600030101010101" pitchFamily="2" charset="-122"/>
              </a:rPr>
              <a:t>选择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单元、</a:t>
            </a:r>
            <a:r>
              <a:rPr lang="zh-CN" altLang="en-US" sz="2200" b="1" spc="-100" dirty="0">
                <a:solidFill>
                  <a:srgbClr val="990099"/>
                </a:solidFill>
                <a:latin typeface="宋体" panose="02010600030101010101" pitchFamily="2" charset="-122"/>
              </a:rPr>
              <a:t>启动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操作</a:t>
            </a:r>
            <a:r>
              <a:rPr lang="en-US" altLang="zh-CN" sz="1600" b="1" spc="-100" dirty="0">
                <a:latin typeface="宋体" panose="02010600030101010101" pitchFamily="2" charset="-122"/>
              </a:rPr>
              <a:t>(</a:t>
            </a:r>
            <a:r>
              <a:rPr lang="zh-CN" altLang="en-US" sz="1600" b="1" spc="-100" dirty="0">
                <a:latin typeface="宋体" panose="02010600030101010101" pitchFamily="2" charset="-122"/>
              </a:rPr>
              <a:t>读</a:t>
            </a:r>
            <a:r>
              <a:rPr lang="en-US" altLang="zh-CN" sz="1600" b="1" spc="-100" dirty="0">
                <a:latin typeface="宋体" panose="02010600030101010101" pitchFamily="2" charset="-122"/>
              </a:rPr>
              <a:t>)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、</a:t>
            </a:r>
            <a:r>
              <a:rPr lang="zh-CN" altLang="en-US" sz="2200" b="1" spc="-100" dirty="0">
                <a:solidFill>
                  <a:srgbClr val="990099"/>
                </a:solidFill>
                <a:highlight>
                  <a:srgbClr val="CCCCFF"/>
                </a:highlight>
                <a:latin typeface="宋体" panose="02010600030101010101" pitchFamily="2" charset="-122"/>
              </a:rPr>
              <a:t>输出</a:t>
            </a:r>
            <a:r>
              <a:rPr lang="zh-CN" altLang="en-US" sz="2200" b="1" spc="-100" dirty="0">
                <a:solidFill>
                  <a:srgbClr val="0070C0"/>
                </a:solidFill>
                <a:latin typeface="宋体" panose="02010600030101010101" pitchFamily="2" charset="-122"/>
              </a:rPr>
              <a:t>数据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750"/>
                                        <p:tgtEl>
                                          <p:spTgt spid="253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750"/>
                                        <p:tgtEl>
                                          <p:spTgt spid="253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9" dur="750"/>
                                        <p:tgtEl>
                                          <p:spTgt spid="25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750"/>
                                        <p:tgtEl>
                                          <p:spTgt spid="25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750"/>
                                        <p:tgtEl>
                                          <p:spTgt spid="253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750"/>
                                        <p:tgtEl>
                                          <p:spTgt spid="253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1000"/>
                                        <p:tgtEl>
                                          <p:spTgt spid="253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1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0" dur="750"/>
                                        <p:tgtEl>
                                          <p:spTgt spid="25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25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750"/>
                                        <p:tgtEl>
                                          <p:spTgt spid="253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250"/>
                            </p:stCondLst>
                            <p:childTnLst>
                              <p:par>
                                <p:cTn id="4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8" dur="1000"/>
                                        <p:tgtEl>
                                          <p:spTgt spid="253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53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073" grpId="0" animBg="1"/>
      <p:bldP spid="253085" grpId="0" animBg="1"/>
      <p:bldP spid="253140" grpId="0" animBg="1"/>
      <p:bldP spid="253156" grpId="0" animBg="1"/>
      <p:bldP spid="253230" grpId="0"/>
      <p:bldP spid="1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5A17D-73F6-4FE6-9E4B-02281BDB0D47}" type="slidenum">
              <a:rPr lang="en-US" altLang="zh-CN"/>
              <a:t>18</a:t>
            </a:fld>
            <a:endParaRPr lang="en-US" altLang="zh-CN" dirty="0"/>
          </a:p>
        </p:txBody>
      </p:sp>
      <p:sp>
        <p:nvSpPr>
          <p:cNvPr id="42" name="AutoShape 711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30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" name="Text Box 4">
            <a:extLst>
              <a:ext uri="{FF2B5EF4-FFF2-40B4-BE49-F238E27FC236}">
                <a16:creationId xmlns:a16="http://schemas.microsoft.com/office/drawing/2014/main" id="{07BFFF64-FE93-4EB8-A58D-63754C7A3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9" y="332656"/>
            <a:ext cx="6085097" cy="20485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运算器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*功能：</a:t>
            </a:r>
            <a:r>
              <a:rPr lang="zh-CN" altLang="en-US" sz="2200" b="1" dirty="0">
                <a:latin typeface="宋体" panose="02010600030101010101" pitchFamily="2" charset="-122"/>
              </a:rPr>
              <a:t>实现各种数据的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运算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暂存</a:t>
            </a:r>
            <a:r>
              <a:rPr lang="zh-CN" altLang="en-US" sz="2200" b="1" dirty="0">
                <a:latin typeface="宋体" panose="02010600030101010101" pitchFamily="2" charset="-122"/>
              </a:rPr>
              <a:t>运算结果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数据类型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运算类型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组成：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07" name="Text Box 48">
            <a:extLst>
              <a:ext uri="{FF2B5EF4-FFF2-40B4-BE49-F238E27FC236}">
                <a16:creationId xmlns:a16="http://schemas.microsoft.com/office/drawing/2014/main" id="{F04A9D0A-FBFB-4D41-8B85-119F30C36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1916832"/>
            <a:ext cx="7587123" cy="7725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ALU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dirty="0">
                <a:latin typeface="+mn-lt"/>
              </a:rPr>
              <a:t>Arithmetic Logic Unit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FPU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dirty="0"/>
              <a:t>Float Point Unit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</a:rPr>
              <a:t>REGs</a:t>
            </a:r>
            <a:r>
              <a:rPr lang="zh-CN" altLang="en-US" sz="2200" b="1" spc="-150" dirty="0">
                <a:latin typeface="宋体" panose="02010600030101010101" pitchFamily="2" charset="-122"/>
              </a:rPr>
              <a:t>等</a:t>
            </a:r>
            <a:endParaRPr lang="en-US" altLang="zh-CN" sz="2200" b="1" spc="-150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600" b="1" spc="-150" dirty="0">
                <a:latin typeface="宋体" panose="02010600030101010101" pitchFamily="2" charset="-122"/>
              </a:rPr>
              <a:t>  </a:t>
            </a:r>
            <a:r>
              <a:rPr lang="zh-CN" altLang="en-US" sz="1600" spc="-150" dirty="0">
                <a:latin typeface="宋体" panose="02010600030101010101" pitchFamily="2" charset="-122"/>
              </a:rPr>
              <a:t>                     </a:t>
            </a:r>
            <a:r>
              <a:rPr lang="en-US" altLang="zh-CN" sz="1600" b="1" dirty="0">
                <a:latin typeface="宋体" panose="02010600030101010101" pitchFamily="2" charset="-122"/>
              </a:rPr>
              <a:t>             </a:t>
            </a:r>
            <a:r>
              <a:rPr lang="zh-CN" altLang="en-US" sz="1600" b="1" u="sng" dirty="0">
                <a:latin typeface="宋体" panose="02010600030101010101" pitchFamily="2" charset="-122"/>
              </a:rPr>
              <a:t>按地址</a:t>
            </a:r>
            <a:r>
              <a:rPr lang="zh-CN" altLang="en-US" sz="1600" b="1" dirty="0">
                <a:latin typeface="宋体" panose="02010600030101010101" pitchFamily="2" charset="-122"/>
              </a:rPr>
              <a:t>访问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读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写</a:t>
            </a:r>
            <a:r>
              <a:rPr lang="en-US" altLang="zh-CN" sz="1600" b="1" dirty="0">
                <a:latin typeface="宋体" panose="02010600030101010101" pitchFamily="2" charset="-122"/>
              </a:rPr>
              <a:t>)→</a:t>
            </a:r>
            <a:r>
              <a:rPr lang="en-US" altLang="zh-CN" sz="1600" dirty="0">
                <a:latin typeface="宋体" panose="02010600030101010101" pitchFamily="2" charset="-122"/>
              </a:rPr>
              <a:t>┴</a:t>
            </a:r>
            <a:r>
              <a:rPr lang="zh-CN" altLang="en-US" sz="1600" b="1" dirty="0">
                <a:latin typeface="宋体" panose="02010600030101010101" pitchFamily="2" charset="-122"/>
              </a:rPr>
              <a:t>←读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写</a:t>
            </a:r>
            <a:r>
              <a:rPr lang="zh-CN" altLang="en-US" sz="1600" b="1" u="sng" dirty="0">
                <a:latin typeface="宋体" panose="02010600030101010101" pitchFamily="2" charset="-122"/>
              </a:rPr>
              <a:t>可同时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108" name="Text Box 179">
            <a:extLst>
              <a:ext uri="{FF2B5EF4-FFF2-40B4-BE49-F238E27FC236}">
                <a16:creationId xmlns:a16="http://schemas.microsoft.com/office/drawing/2014/main" id="{53247DA5-75AB-4FFB-AD13-52E49D1C8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653136"/>
            <a:ext cx="2952452" cy="15946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457200" indent="-457200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*部件的操作控制：</a:t>
            </a:r>
            <a:endParaRPr lang="en-US" altLang="zh-CN" sz="2200" b="1" u="sng" dirty="0"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uFillTx/>
                <a:latin typeface="宋体" panose="02010600030101010101" pitchFamily="2" charset="-122"/>
              </a:rPr>
              <a:t>组合逻辑操作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dirty="0"/>
          </a:p>
          <a:p>
            <a:pPr marL="457200" indent="-457200">
              <a:lnSpc>
                <a:spcPct val="105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时序逻辑操作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109" name="Text Box 16">
            <a:extLst>
              <a:ext uri="{FF2B5EF4-FFF2-40B4-BE49-F238E27FC236}">
                <a16:creationId xmlns:a16="http://schemas.microsoft.com/office/drawing/2014/main" id="{6F5A42FB-E166-45C7-8F03-06D23BAB1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2159" y="1556792"/>
            <a:ext cx="3024337" cy="251815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271780" indent="-271780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altLang="en-US" sz="1800" b="1" dirty="0">
                <a:latin typeface="宋体" panose="02010600030101010101" pitchFamily="2" charset="-122"/>
              </a:rPr>
              <a:t>存储器件的类型有</a:t>
            </a:r>
            <a:r>
              <a:rPr lang="en-US" altLang="zh-CN" sz="1800" b="1" dirty="0">
                <a:latin typeface="宋体" panose="02010600030101010101" pitchFamily="2" charset="-122"/>
              </a:rPr>
              <a:t>?</a:t>
            </a:r>
            <a:endParaRPr lang="en-US" altLang="zh-CN" sz="1800" dirty="0">
              <a:latin typeface="+mn-ea"/>
            </a:endParaRPr>
          </a:p>
        </p:txBody>
      </p:sp>
      <p:sp>
        <p:nvSpPr>
          <p:cNvPr id="110" name="Text Box 349">
            <a:extLst>
              <a:ext uri="{FF2B5EF4-FFF2-40B4-BE49-F238E27FC236}">
                <a16:creationId xmlns:a16="http://schemas.microsoft.com/office/drawing/2014/main" id="{3F848419-BFD2-4D2A-83E9-A6A5A72C6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480" y="2780928"/>
            <a:ext cx="4032000" cy="575833"/>
          </a:xfrm>
          <a:prstGeom prst="rect">
            <a:avLst/>
          </a:prstGeom>
          <a:solidFill>
            <a:srgbClr val="CCFFFF">
              <a:alpha val="80000"/>
            </a:srgbClr>
          </a:solidFill>
          <a:ln w="12700">
            <a:solidFill>
              <a:srgbClr val="FF33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r>
              <a:rPr lang="en-US" altLang="zh-CN" sz="1600" b="1" u="none" dirty="0">
                <a:solidFill>
                  <a:srgbClr val="FF3399"/>
                </a:solidFill>
                <a:latin typeface="+mn-ea"/>
                <a:ea typeface="+mn-ea"/>
              </a:rPr>
              <a:t>PPT</a:t>
            </a:r>
            <a:r>
              <a:rPr lang="zh-CN" altLang="en-US" sz="1600" b="1" u="none" dirty="0">
                <a:solidFill>
                  <a:srgbClr val="FF3399"/>
                </a:solidFill>
                <a:latin typeface="+mn-ea"/>
                <a:ea typeface="+mn-ea"/>
              </a:rPr>
              <a:t>约定：</a:t>
            </a:r>
            <a:r>
              <a:rPr lang="zh-CN" altLang="en-US" sz="1600" b="1" u="sng" dirty="0">
                <a:latin typeface="+mn-ea"/>
                <a:ea typeface="+mn-ea"/>
              </a:rPr>
              <a:t>寄存</a:t>
            </a:r>
            <a:r>
              <a:rPr lang="zh-CN" altLang="en-US" sz="1600" b="1" u="sng" dirty="0">
                <a:solidFill>
                  <a:schemeClr val="tx1"/>
                </a:solidFill>
                <a:latin typeface="+mn-ea"/>
                <a:ea typeface="+mn-ea"/>
              </a:rPr>
              <a:t>器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en-US" altLang="zh-CN" sz="1600" dirty="0"/>
              <a:t>register</a:t>
            </a:r>
            <a:r>
              <a:rPr lang="en-US" altLang="zh-CN" sz="1600" b="1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1600" b="1" u="none" dirty="0">
                <a:solidFill>
                  <a:schemeClr val="tx1"/>
                </a:solidFill>
                <a:latin typeface="+mn-ea"/>
                <a:ea typeface="+mn-ea"/>
              </a:rPr>
              <a:t>简写</a:t>
            </a:r>
            <a:r>
              <a:rPr lang="zh-CN" altLang="en-US" sz="1600" b="1" dirty="0">
                <a:latin typeface="+mn-ea"/>
                <a:ea typeface="+mn-ea"/>
              </a:rPr>
              <a:t>为</a:t>
            </a:r>
            <a:r>
              <a:rPr lang="en-US" altLang="zh-CN" sz="1600" b="1" dirty="0">
                <a:latin typeface="+mn-ea"/>
                <a:ea typeface="+mn-ea"/>
              </a:rPr>
              <a:t>REG</a:t>
            </a:r>
            <a:r>
              <a:rPr lang="zh-CN" altLang="en-US" sz="1600" b="1" u="none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endParaRPr lang="en-US" altLang="zh-CN" sz="1600" b="1" u="none" dirty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zh-CN" altLang="en-US" sz="1600" b="1" dirty="0">
                <a:solidFill>
                  <a:schemeClr val="tx1"/>
                </a:solidFill>
                <a:latin typeface="+mn-ea"/>
                <a:ea typeface="+mn-ea"/>
              </a:rPr>
              <a:t>         </a:t>
            </a:r>
            <a:r>
              <a:rPr lang="zh-CN" altLang="en-US" sz="1600" b="1" u="sng" dirty="0">
                <a:solidFill>
                  <a:schemeClr val="tx1"/>
                </a:solidFill>
                <a:latin typeface="+mn-ea"/>
                <a:ea typeface="+mn-ea"/>
              </a:rPr>
              <a:t>寄存器组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dirty="0"/>
              <a:t>register set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u="none" dirty="0">
                <a:solidFill>
                  <a:schemeClr val="tx1"/>
                </a:solidFill>
                <a:latin typeface="+mn-ea"/>
                <a:ea typeface="+mn-ea"/>
              </a:rPr>
              <a:t>简写</a:t>
            </a:r>
            <a:r>
              <a:rPr lang="zh-CN" altLang="en-US" sz="1600" b="1" dirty="0">
                <a:latin typeface="+mn-ea"/>
                <a:ea typeface="+mn-ea"/>
              </a:rPr>
              <a:t>为</a:t>
            </a:r>
            <a:r>
              <a:rPr lang="en-US" altLang="zh-CN" sz="1600" b="1" dirty="0">
                <a:latin typeface="+mn-ea"/>
                <a:ea typeface="+mn-ea"/>
              </a:rPr>
              <a:t>REGs</a:t>
            </a:r>
            <a:endParaRPr lang="en-US" altLang="zh-CN" sz="1600" b="1" u="none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1" name="Text Box 179">
            <a:extLst>
              <a:ext uri="{FF2B5EF4-FFF2-40B4-BE49-F238E27FC236}">
                <a16:creationId xmlns:a16="http://schemas.microsoft.com/office/drawing/2014/main" id="{1BF65605-15CF-4488-9E98-069FB2BA9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801" y="5085184"/>
            <a:ext cx="6264696" cy="140519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457200" indent="-457200">
              <a:lnSpc>
                <a:spcPct val="125000"/>
              </a:lnSpc>
            </a:pP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给定</a:t>
            </a:r>
            <a:r>
              <a:rPr lang="zh-CN" altLang="en-US" sz="2200" b="1" dirty="0">
                <a:latin typeface="宋体" panose="02010600030101010101" pitchFamily="2" charset="-122"/>
              </a:rPr>
              <a:t>输入信号，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一定延迟</a:t>
            </a:r>
            <a:r>
              <a:rPr lang="zh-CN" altLang="en-US" sz="2200" b="1" dirty="0">
                <a:latin typeface="+mn-lt"/>
              </a:rPr>
              <a:t>后，输出信号</a:t>
            </a:r>
            <a:r>
              <a:rPr lang="zh-CN" altLang="en-US" sz="2200" b="1" u="sng" dirty="0">
                <a:solidFill>
                  <a:srgbClr val="0070C0"/>
                </a:solidFill>
                <a:latin typeface="+mn-lt"/>
              </a:rPr>
              <a:t>稳定</a:t>
            </a:r>
            <a:endParaRPr lang="en-US" altLang="zh-CN" sz="2200" b="1" u="sng" dirty="0">
              <a:solidFill>
                <a:srgbClr val="0070C0"/>
              </a:solidFill>
              <a:latin typeface="+mn-lt"/>
            </a:endParaRPr>
          </a:p>
          <a:p>
            <a:pPr marL="457200" indent="-457200">
              <a:lnSpc>
                <a:spcPct val="105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+mn-ea"/>
                <a:ea typeface="+mn-ea"/>
              </a:rPr>
              <a:t>←</a:t>
            </a:r>
            <a:r>
              <a:rPr lang="zh-CN" altLang="en-US" sz="1600" b="1" dirty="0">
                <a:latin typeface="+mn-ea"/>
                <a:ea typeface="+mn-ea"/>
              </a:rPr>
              <a:t>如</a:t>
            </a:r>
            <a:r>
              <a:rPr lang="en-US" altLang="zh-CN" sz="1600" b="1" dirty="0">
                <a:latin typeface="+mn-ea"/>
                <a:ea typeface="+mn-ea"/>
              </a:rPr>
              <a:t>A</a:t>
            </a:r>
            <a:r>
              <a:rPr lang="zh-CN" altLang="en-US" sz="1600" b="1" dirty="0">
                <a:latin typeface="+mn-ea"/>
                <a:ea typeface="+mn-ea"/>
              </a:rPr>
              <a:t>＝</a:t>
            </a:r>
            <a:r>
              <a:rPr lang="en-US" altLang="zh-CN" sz="1600" b="1" dirty="0">
                <a:latin typeface="+mn-ea"/>
                <a:ea typeface="+mn-ea"/>
              </a:rPr>
              <a:t>5</a:t>
            </a:r>
            <a:r>
              <a:rPr lang="zh-CN" altLang="en-US" sz="1600" b="1" dirty="0">
                <a:latin typeface="+mn-ea"/>
                <a:ea typeface="+mn-ea"/>
              </a:rPr>
              <a:t>、</a:t>
            </a:r>
            <a:r>
              <a:rPr lang="en-US" altLang="zh-CN" sz="1600" b="1" dirty="0">
                <a:latin typeface="+mn-ea"/>
                <a:ea typeface="+mn-ea"/>
              </a:rPr>
              <a:t>B</a:t>
            </a:r>
            <a:r>
              <a:rPr lang="zh-CN" altLang="en-US" sz="1600" b="1" dirty="0">
                <a:latin typeface="+mn-ea"/>
                <a:ea typeface="+mn-ea"/>
              </a:rPr>
              <a:t>＝</a:t>
            </a:r>
            <a:r>
              <a:rPr lang="en-US" altLang="zh-CN" sz="1600" b="1" dirty="0">
                <a:latin typeface="+mn-ea"/>
                <a:ea typeface="+mn-ea"/>
              </a:rPr>
              <a:t>3</a:t>
            </a:r>
            <a:r>
              <a:rPr lang="zh-CN" altLang="en-US" sz="1600" b="1" dirty="0">
                <a:latin typeface="+mn-ea"/>
                <a:ea typeface="+mn-ea"/>
              </a:rPr>
              <a:t>、</a:t>
            </a:r>
            <a:r>
              <a:rPr lang="en-US" altLang="zh-CN" sz="1600" b="1" dirty="0">
                <a:latin typeface="+mn-ea"/>
                <a:ea typeface="+mn-ea"/>
              </a:rPr>
              <a:t>op</a:t>
            </a:r>
            <a:r>
              <a:rPr lang="zh-CN" altLang="en-US" sz="1600" b="1" dirty="0">
                <a:latin typeface="+mn-ea"/>
                <a:ea typeface="+mn-ea"/>
              </a:rPr>
              <a:t>＝</a:t>
            </a:r>
            <a:r>
              <a:rPr lang="en-US" altLang="zh-CN" sz="1600" b="1" dirty="0">
                <a:latin typeface="+mn-ea"/>
                <a:ea typeface="+mn-ea"/>
              </a:rPr>
              <a:t>+</a:t>
            </a:r>
            <a:r>
              <a:rPr lang="zh-CN" altLang="en-US" sz="1600" b="1" dirty="0">
                <a:latin typeface="+mn-ea"/>
                <a:ea typeface="+mn-ea"/>
              </a:rPr>
              <a:t>             </a:t>
            </a:r>
            <a:r>
              <a:rPr lang="en-US" altLang="zh-CN" sz="1600" b="1" dirty="0">
                <a:latin typeface="+mn-ea"/>
                <a:ea typeface="+mn-ea"/>
              </a:rPr>
              <a:t>   </a:t>
            </a:r>
            <a:r>
              <a:rPr lang="zh-CN" altLang="en-US" sz="1600" b="1" dirty="0">
                <a:latin typeface="+mn-ea"/>
                <a:ea typeface="+mn-ea"/>
              </a:rPr>
              <a:t>如</a:t>
            </a:r>
            <a:r>
              <a:rPr lang="en-US" altLang="zh-CN" sz="1600" b="1" dirty="0">
                <a:latin typeface="+mn-ea"/>
                <a:ea typeface="+mn-ea"/>
              </a:rPr>
              <a:t>F</a:t>
            </a:r>
            <a:r>
              <a:rPr lang="zh-CN" altLang="en-US" sz="1600" b="1" dirty="0">
                <a:latin typeface="+mn-ea"/>
                <a:ea typeface="+mn-ea"/>
              </a:rPr>
              <a:t>＝</a:t>
            </a:r>
            <a:r>
              <a:rPr lang="en-US" altLang="zh-CN" sz="1600" b="1" dirty="0">
                <a:latin typeface="+mn-ea"/>
                <a:ea typeface="+mn-ea"/>
              </a:rPr>
              <a:t>8→</a:t>
            </a:r>
            <a:r>
              <a:rPr lang="en-US" altLang="zh-CN" sz="1600" dirty="0">
                <a:latin typeface="+mn-ea"/>
                <a:ea typeface="+mn-ea"/>
              </a:rPr>
              <a:t>┘</a:t>
            </a:r>
          </a:p>
          <a:p>
            <a:pPr marL="457200" indent="-457200">
              <a:lnSpc>
                <a:spcPct val="114000"/>
              </a:lnSpc>
            </a:pP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给定</a:t>
            </a:r>
            <a:r>
              <a:rPr lang="zh-CN" altLang="en-US" sz="2200" b="1" dirty="0">
                <a:latin typeface="宋体" panose="02010600030101010101" pitchFamily="2" charset="-122"/>
              </a:rPr>
              <a:t>输入信号</a:t>
            </a:r>
            <a:r>
              <a:rPr lang="zh-CN" altLang="en-US" sz="2200" b="1" dirty="0">
                <a:cs typeface="Times New Roman" panose="02020603050405020304" pitchFamily="18" charset="0"/>
              </a:rPr>
              <a:t>，</a:t>
            </a:r>
            <a:r>
              <a:rPr lang="en-US" altLang="zh-CN" sz="2200" b="1" dirty="0">
                <a:highlight>
                  <a:srgbClr val="FFFF00"/>
                </a:highlight>
                <a:latin typeface="宋体" panose="02010600030101010101" pitchFamily="2" charset="-122"/>
              </a:rPr>
              <a:t>CP</a:t>
            </a:r>
            <a:r>
              <a:rPr lang="zh-CN" altLang="en-US" sz="2200" b="1" dirty="0">
                <a:highlight>
                  <a:srgbClr val="FFFF00"/>
                </a:highlight>
                <a:cs typeface="Times New Roman" panose="02020603050405020304" pitchFamily="18" charset="0"/>
              </a:rPr>
              <a:t>↑</a:t>
            </a:r>
            <a:r>
              <a:rPr lang="zh-CN" altLang="en-US" sz="2200" b="1" u="sng" dirty="0">
                <a:solidFill>
                  <a:srgbClr val="0070C0"/>
                </a:solidFill>
                <a:cs typeface="Times New Roman" panose="02020603050405020304" pitchFamily="18" charset="0"/>
              </a:rPr>
              <a:t>一定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延迟</a:t>
            </a:r>
            <a:r>
              <a:rPr lang="zh-CN" altLang="en-US" sz="2200" b="1" dirty="0"/>
              <a:t>后，输出信号</a:t>
            </a:r>
            <a:r>
              <a:rPr lang="zh-CN" altLang="en-US" sz="2200" b="1" u="sng" dirty="0">
                <a:solidFill>
                  <a:srgbClr val="0070C0"/>
                </a:solidFill>
              </a:rPr>
              <a:t>稳定</a:t>
            </a:r>
            <a:endParaRPr lang="en-US" altLang="zh-CN" sz="2200" b="1" u="sng" dirty="0">
              <a:solidFill>
                <a:srgbClr val="0070C0"/>
              </a:solidFill>
            </a:endParaRPr>
          </a:p>
          <a:p>
            <a:pPr marL="457200" indent="-457200">
              <a:lnSpc>
                <a:spcPct val="114000"/>
              </a:lnSpc>
            </a:pPr>
            <a:r>
              <a:rPr lang="en-US" altLang="zh-CN" sz="1600" b="1" dirty="0">
                <a:latin typeface="+mn-ea"/>
                <a:ea typeface="+mn-ea"/>
              </a:rPr>
              <a:t> </a:t>
            </a:r>
            <a:r>
              <a:rPr lang="en-US" altLang="zh-CN" sz="1600" dirty="0">
                <a:latin typeface="+mn-ea"/>
                <a:ea typeface="+mn-ea"/>
              </a:rPr>
              <a:t>└</a:t>
            </a:r>
            <a:r>
              <a:rPr lang="en-US" altLang="zh-CN" sz="1600" b="1" dirty="0">
                <a:latin typeface="+mn-ea"/>
                <a:ea typeface="+mn-ea"/>
              </a:rPr>
              <a:t>←</a:t>
            </a:r>
            <a:r>
              <a:rPr lang="zh-CN" altLang="en-US" sz="1600" b="1" dirty="0">
                <a:latin typeface="+mn-ea"/>
                <a:ea typeface="+mn-ea"/>
              </a:rPr>
              <a:t>如</a:t>
            </a:r>
            <a:r>
              <a:rPr lang="en-US" altLang="zh-CN" sz="1600" b="1" dirty="0" err="1">
                <a:latin typeface="宋体" panose="02010600030101010101" pitchFamily="2" charset="-122"/>
              </a:rPr>
              <a:t>rW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3</a:t>
            </a:r>
            <a:r>
              <a:rPr lang="zh-CN" altLang="en-US" sz="1600" b="1" dirty="0">
                <a:latin typeface="宋体" panose="02010600030101010101" pitchFamily="2" charset="-122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</a:rPr>
              <a:t>D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9</a:t>
            </a:r>
            <a:r>
              <a:rPr lang="zh-CN" altLang="en-US" sz="1600" b="1" dirty="0">
                <a:latin typeface="宋体" panose="02010600030101010101" pitchFamily="2" charset="-122"/>
              </a:rPr>
              <a:t>、</a:t>
            </a:r>
            <a:r>
              <a:rPr lang="en-US" altLang="zh-CN" sz="1600" b="1" dirty="0" err="1">
                <a:latin typeface="宋体" panose="02010600030101010101" pitchFamily="2" charset="-122"/>
              </a:rPr>
              <a:t>Wr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+mn-ea"/>
                <a:ea typeface="+mn-ea"/>
              </a:rPr>
              <a:t>               </a:t>
            </a:r>
            <a:r>
              <a:rPr lang="en-US" altLang="zh-CN" sz="1600" b="1" dirty="0">
                <a:latin typeface="+mn-ea"/>
                <a:ea typeface="+mn-ea"/>
              </a:rPr>
              <a:t>   </a:t>
            </a:r>
            <a:r>
              <a:rPr lang="zh-CN" altLang="en-US" sz="1600" b="1" dirty="0">
                <a:latin typeface="+mn-ea"/>
                <a:ea typeface="+mn-ea"/>
              </a:rPr>
              <a:t>如</a:t>
            </a:r>
            <a:r>
              <a:rPr lang="en-US" altLang="zh-CN" sz="1600" b="1" dirty="0">
                <a:latin typeface="+mn-ea"/>
                <a:ea typeface="+mn-ea"/>
              </a:rPr>
              <a:t>QF</a:t>
            </a:r>
            <a:r>
              <a:rPr lang="zh-CN" altLang="en-US" sz="1600" b="1" dirty="0">
                <a:latin typeface="+mn-ea"/>
                <a:ea typeface="+mn-ea"/>
              </a:rPr>
              <a:t>＝</a:t>
            </a:r>
            <a:r>
              <a:rPr lang="en-US" altLang="zh-CN" sz="1600" b="1" dirty="0">
                <a:latin typeface="+mn-ea"/>
                <a:ea typeface="+mn-ea"/>
              </a:rPr>
              <a:t>9→</a:t>
            </a:r>
            <a:r>
              <a:rPr lang="en-US" altLang="zh-CN" sz="1600" dirty="0">
                <a:latin typeface="+mn-ea"/>
                <a:ea typeface="+mn-ea"/>
              </a:rPr>
              <a:t>┘</a:t>
            </a:r>
          </a:p>
        </p:txBody>
      </p:sp>
      <p:sp>
        <p:nvSpPr>
          <p:cNvPr id="112" name="Text Box 16">
            <a:extLst>
              <a:ext uri="{FF2B5EF4-FFF2-40B4-BE49-F238E27FC236}">
                <a16:creationId xmlns:a16="http://schemas.microsoft.com/office/drawing/2014/main" id="{79ABEBDB-A600-4424-822B-D93C1BD94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4365104"/>
            <a:ext cx="4392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269875" indent="-269875">
              <a:lnSpc>
                <a:spcPct val="105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思考⑤：</a:t>
            </a:r>
            <a:r>
              <a:rPr lang="en-US" altLang="zh-CN" sz="1800" b="1" dirty="0">
                <a:latin typeface="宋体" panose="02010600030101010101" pitchFamily="2" charset="-122"/>
              </a:rPr>
              <a:t>REGs</a:t>
            </a:r>
            <a:r>
              <a:rPr lang="zh-CN" altLang="en-US" sz="1800" b="1" dirty="0">
                <a:latin typeface="宋体" panose="02010600030101010101" pitchFamily="2" charset="-122"/>
              </a:rPr>
              <a:t>读</a:t>
            </a:r>
            <a:r>
              <a:rPr lang="en-US" altLang="zh-CN" sz="1800" b="1" dirty="0">
                <a:latin typeface="宋体" panose="02010600030101010101" pitchFamily="2" charset="-122"/>
              </a:rPr>
              <a:t>&amp;</a:t>
            </a:r>
            <a:r>
              <a:rPr lang="zh-CN" altLang="en-US" sz="1800" b="1" dirty="0">
                <a:latin typeface="宋体" panose="02010600030101010101" pitchFamily="2" charset="-122"/>
              </a:rPr>
              <a:t>写的引脚有？内部组成？</a:t>
            </a:r>
            <a:endParaRPr lang="en-US" altLang="zh-CN" sz="1800" dirty="0">
              <a:latin typeface="+mn-ea"/>
            </a:endParaRPr>
          </a:p>
        </p:txBody>
      </p: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9B76E641-4E34-4981-9A86-7F6D2FD4AABF}"/>
              </a:ext>
            </a:extLst>
          </p:cNvPr>
          <p:cNvGrpSpPr/>
          <p:nvPr/>
        </p:nvGrpSpPr>
        <p:grpSpPr>
          <a:xfrm>
            <a:off x="539552" y="2420888"/>
            <a:ext cx="3528000" cy="1087000"/>
            <a:chOff x="2591800" y="3297114"/>
            <a:chExt cx="3528000" cy="1087000"/>
          </a:xfrm>
        </p:grpSpPr>
        <p:sp>
          <p:nvSpPr>
            <p:cNvPr id="114" name="Text Box 183">
              <a:extLst>
                <a:ext uri="{FF2B5EF4-FFF2-40B4-BE49-F238E27FC236}">
                  <a16:creationId xmlns:a16="http://schemas.microsoft.com/office/drawing/2014/main" id="{0272B7D1-3108-41C9-A091-E6ECD9B41D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800" y="3729186"/>
              <a:ext cx="216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+mn-ea"/>
                  <a:ea typeface="+mn-ea"/>
                </a:rPr>
                <a:t>op</a:t>
              </a:r>
            </a:p>
          </p:txBody>
        </p:sp>
        <p:sp>
          <p:nvSpPr>
            <p:cNvPr id="115" name="Rectangle 184">
              <a:extLst>
                <a:ext uri="{FF2B5EF4-FFF2-40B4-BE49-F238E27FC236}">
                  <a16:creationId xmlns:a16="http://schemas.microsoft.com/office/drawing/2014/main" id="{5D339909-4AF0-4B9D-BF2C-9FA46B0C1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967" y="3510090"/>
              <a:ext cx="2844000" cy="684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prstDash val="sysDash"/>
              <a:miter lim="800000"/>
            </a:ln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116" name="AutoShape 189">
              <a:extLst>
                <a:ext uri="{FF2B5EF4-FFF2-40B4-BE49-F238E27FC236}">
                  <a16:creationId xmlns:a16="http://schemas.microsoft.com/office/drawing/2014/main" id="{D37FEB52-640B-4215-8CC9-6B27977C9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9371" y="3657202"/>
              <a:ext cx="1008000" cy="360000"/>
            </a:xfrm>
            <a:custGeom>
              <a:avLst/>
              <a:gdLst>
                <a:gd name="G0" fmla="+- 4060 0 0"/>
                <a:gd name="G1" fmla="+- 21600 0 4060"/>
                <a:gd name="G2" fmla="*/ 4060 1 2"/>
                <a:gd name="G3" fmla="+- 21600 0 G2"/>
                <a:gd name="G4" fmla="+/ 4060 21600 2"/>
                <a:gd name="G5" fmla="+/ G1 0 2"/>
                <a:gd name="G6" fmla="*/ 21600 21600 4060"/>
                <a:gd name="G7" fmla="*/ G6 1 2"/>
                <a:gd name="G8" fmla="+- 21600 0 G7"/>
                <a:gd name="G9" fmla="*/ 21600 1 2"/>
                <a:gd name="G10" fmla="+- 4060 0 G9"/>
                <a:gd name="G11" fmla="?: G10 G8 0"/>
                <a:gd name="G12" fmla="?: G10 G7 21600"/>
                <a:gd name="T0" fmla="*/ 19570 w 21600"/>
                <a:gd name="T1" fmla="*/ 10800 h 21600"/>
                <a:gd name="T2" fmla="*/ 10800 w 21600"/>
                <a:gd name="T3" fmla="*/ 21600 h 21600"/>
                <a:gd name="T4" fmla="*/ 2030 w 21600"/>
                <a:gd name="T5" fmla="*/ 10800 h 21600"/>
                <a:gd name="T6" fmla="*/ 10800 w 21600"/>
                <a:gd name="T7" fmla="*/ 0 h 21600"/>
                <a:gd name="T8" fmla="*/ 3830 w 21600"/>
                <a:gd name="T9" fmla="*/ 3830 h 21600"/>
                <a:gd name="T10" fmla="*/ 17770 w 21600"/>
                <a:gd name="T11" fmla="*/ 177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060" y="21600"/>
                  </a:lnTo>
                  <a:lnTo>
                    <a:pt x="175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36000" tIns="18000" rIns="36000" bIns="18000" anchor="ctr"/>
            <a:lstStyle/>
            <a:p>
              <a:pPr lvl="0"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ALU</a:t>
              </a:r>
              <a:endPara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7" name="Text Box 193">
              <a:extLst>
                <a:ext uri="{FF2B5EF4-FFF2-40B4-BE49-F238E27FC236}">
                  <a16:creationId xmlns:a16="http://schemas.microsoft.com/office/drawing/2014/main" id="{FF62EDC1-3C79-4063-B283-8B129037F5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9952" y="3585146"/>
              <a:ext cx="1512000" cy="54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rgbClr val="000000"/>
              </a:solidFill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寄存器组</a:t>
              </a:r>
              <a:r>
                <a:rPr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REGs</a:t>
              </a:r>
            </a:p>
            <a:p>
              <a:pPr algn="ctr"/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如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8</a:t>
              </a: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个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×16</a:t>
              </a: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位</a:t>
              </a: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)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CAE3AE47-AF89-40DA-BF01-A383D7CB46D3}"/>
                </a:ext>
              </a:extLst>
            </p:cNvPr>
            <p:cNvCxnSpPr/>
            <p:nvPr/>
          </p:nvCxnSpPr>
          <p:spPr bwMode="auto">
            <a:xfrm flipV="1">
              <a:off x="2807800" y="3845238"/>
              <a:ext cx="252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/>
              <a:tailEnd type="arrow" w="sm" len="sm"/>
            </a:ln>
            <a:effectLst/>
          </p:spPr>
        </p:cxnSp>
        <p:sp>
          <p:nvSpPr>
            <p:cNvPr id="119" name="Text Box 191">
              <a:extLst>
                <a:ext uri="{FF2B5EF4-FFF2-40B4-BE49-F238E27FC236}">
                  <a16:creationId xmlns:a16="http://schemas.microsoft.com/office/drawing/2014/main" id="{C032E0FF-A080-4FC8-BD05-00C437CC87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7824" y="3297114"/>
              <a:ext cx="792000" cy="180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     B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0" name="Text Box 191">
              <a:extLst>
                <a:ext uri="{FF2B5EF4-FFF2-40B4-BE49-F238E27FC236}">
                  <a16:creationId xmlns:a16="http://schemas.microsoft.com/office/drawing/2014/main" id="{395A0F04-61BD-4A90-827B-99ABB194DB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5935" y="4199026"/>
              <a:ext cx="216000" cy="180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F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1" name="直接箭头连接符 28">
              <a:extLst>
                <a:ext uri="{FF2B5EF4-FFF2-40B4-BE49-F238E27FC236}">
                  <a16:creationId xmlns:a16="http://schemas.microsoft.com/office/drawing/2014/main" id="{F2F6D30F-D05A-49C2-B97B-8CE2B12DBFFF}"/>
                </a:ext>
              </a:extLst>
            </p:cNvPr>
            <p:cNvCxnSpPr/>
            <p:nvPr/>
          </p:nvCxnSpPr>
          <p:spPr bwMode="auto">
            <a:xfrm>
              <a:off x="3131840" y="3297146"/>
              <a:ext cx="1" cy="360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3" name="直接箭头连接符 28">
              <a:extLst>
                <a:ext uri="{FF2B5EF4-FFF2-40B4-BE49-F238E27FC236}">
                  <a16:creationId xmlns:a16="http://schemas.microsoft.com/office/drawing/2014/main" id="{B1DEAED5-823A-4A61-A4E5-510F7B9E35BD}"/>
                </a:ext>
              </a:extLst>
            </p:cNvPr>
            <p:cNvCxnSpPr/>
            <p:nvPr/>
          </p:nvCxnSpPr>
          <p:spPr bwMode="auto">
            <a:xfrm>
              <a:off x="3779912" y="3297114"/>
              <a:ext cx="0" cy="360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4" name="直接箭头连接符 28">
              <a:extLst>
                <a:ext uri="{FF2B5EF4-FFF2-40B4-BE49-F238E27FC236}">
                  <a16:creationId xmlns:a16="http://schemas.microsoft.com/office/drawing/2014/main" id="{B7C41F4F-ABF3-4983-92A7-1459390BDBF5}"/>
                </a:ext>
              </a:extLst>
            </p:cNvPr>
            <p:cNvCxnSpPr/>
            <p:nvPr/>
          </p:nvCxnSpPr>
          <p:spPr bwMode="auto">
            <a:xfrm>
              <a:off x="3491880" y="4024114"/>
              <a:ext cx="0" cy="360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5" name="直接箭头连接符 28">
              <a:extLst>
                <a:ext uri="{FF2B5EF4-FFF2-40B4-BE49-F238E27FC236}">
                  <a16:creationId xmlns:a16="http://schemas.microsoft.com/office/drawing/2014/main" id="{C84EB1F2-E695-4CAF-A9F6-24C9AEC7794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31800" y="3299026"/>
              <a:ext cx="0" cy="28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6" name="直接箭头连接符 28">
              <a:extLst>
                <a:ext uri="{FF2B5EF4-FFF2-40B4-BE49-F238E27FC236}">
                  <a16:creationId xmlns:a16="http://schemas.microsoft.com/office/drawing/2014/main" id="{383A66DD-BF6D-44FD-A70C-9F9E2FD96B9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931800" y="4125146"/>
              <a:ext cx="0" cy="252072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F7DCDDEE-D5FE-4489-9AA8-AA281F290FA2}"/>
                </a:ext>
              </a:extLst>
            </p:cNvPr>
            <p:cNvCxnSpPr/>
            <p:nvPr/>
          </p:nvCxnSpPr>
          <p:spPr bwMode="auto">
            <a:xfrm flipH="1">
              <a:off x="5644881" y="3645024"/>
              <a:ext cx="18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/>
              <a:tailEnd type="triangle" w="sm" len="sm"/>
            </a:ln>
            <a:effectLst/>
          </p:spPr>
        </p:cxn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A4DE23F5-79F6-4F30-AA3D-823FA082285B}"/>
                </a:ext>
              </a:extLst>
            </p:cNvPr>
            <p:cNvCxnSpPr/>
            <p:nvPr/>
          </p:nvCxnSpPr>
          <p:spPr bwMode="auto">
            <a:xfrm flipH="1">
              <a:off x="5652120" y="3839026"/>
              <a:ext cx="18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/>
              <a:tailEnd type="arrow" w="sm" len="sm"/>
            </a:ln>
            <a:effectLst/>
          </p:spPr>
        </p:cxnSp>
        <p:cxnSp>
          <p:nvCxnSpPr>
            <p:cNvPr id="129" name="直接箭头连接符 128">
              <a:extLst>
                <a:ext uri="{FF2B5EF4-FFF2-40B4-BE49-F238E27FC236}">
                  <a16:creationId xmlns:a16="http://schemas.microsoft.com/office/drawing/2014/main" id="{5833A00C-B236-4A7E-A412-FF788D322873}"/>
                </a:ext>
              </a:extLst>
            </p:cNvPr>
            <p:cNvCxnSpPr/>
            <p:nvPr/>
          </p:nvCxnSpPr>
          <p:spPr bwMode="auto">
            <a:xfrm flipH="1">
              <a:off x="5652120" y="4055026"/>
              <a:ext cx="18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/>
              <a:tailEnd type="triangle" w="sm" len="sm"/>
            </a:ln>
            <a:effectLst/>
          </p:spPr>
        </p:cxnSp>
        <p:sp>
          <p:nvSpPr>
            <p:cNvPr id="130" name="Text Box 183">
              <a:extLst>
                <a:ext uri="{FF2B5EF4-FFF2-40B4-BE49-F238E27FC236}">
                  <a16:creationId xmlns:a16="http://schemas.microsoft.com/office/drawing/2014/main" id="{885F5730-49F9-425D-B503-95645D7EBE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1800" y="3299025"/>
              <a:ext cx="288000" cy="864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+mn-ea"/>
                  <a:ea typeface="+mn-ea"/>
                </a:rPr>
                <a:t>CP</a:t>
              </a:r>
              <a:r>
                <a:rPr lang="en-US" altLang="zh-CN" sz="1600" b="1" dirty="0" err="1">
                  <a:solidFill>
                    <a:srgbClr val="CC3300"/>
                  </a:solidFill>
                  <a:latin typeface="+mn-ea"/>
                  <a:ea typeface="+mn-ea"/>
                </a:rPr>
                <a:t>rW</a:t>
              </a:r>
              <a:endParaRPr lang="en-US" altLang="zh-CN" sz="1600" b="1" dirty="0">
                <a:solidFill>
                  <a:srgbClr val="CC3300"/>
                </a:solidFill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</a:rPr>
                <a:t>Wr</a:t>
              </a:r>
              <a:endParaRPr lang="en-US" altLang="zh-CN" sz="1600" b="1" dirty="0">
                <a:solidFill>
                  <a:srgbClr val="FF3399"/>
                </a:solidFill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C00000"/>
                  </a:solidFill>
                  <a:latin typeface="+mn-ea"/>
                  <a:ea typeface="+mn-ea"/>
                </a:rPr>
                <a:t>rR</a:t>
              </a:r>
              <a:endParaRPr lang="en-US" altLang="zh-CN" sz="1600" b="1" dirty="0">
                <a:solidFill>
                  <a:srgbClr val="C00000"/>
                </a:solidFill>
                <a:latin typeface="+mn-ea"/>
                <a:ea typeface="+mn-ea"/>
              </a:endParaRPr>
            </a:p>
          </p:txBody>
        </p: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D2A54F3D-01BF-4EA7-B9C9-C92FEE7DA28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08105" y="3407026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/>
              <a:tailEnd type="arrow" w="sm" len="sm"/>
            </a:ln>
            <a:effectLst/>
          </p:spPr>
        </p:cxn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2E46606F-5DF3-4711-AF4F-8B68BADE237B}"/>
                </a:ext>
              </a:extLst>
            </p:cNvPr>
            <p:cNvCxnSpPr/>
            <p:nvPr/>
          </p:nvCxnSpPr>
          <p:spPr bwMode="auto">
            <a:xfrm flipH="1">
              <a:off x="5508106" y="3407026"/>
              <a:ext cx="324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/>
              <a:tailEnd type="none"/>
            </a:ln>
            <a:effectLst/>
          </p:spPr>
        </p:cxnSp>
        <p:sp>
          <p:nvSpPr>
            <p:cNvPr id="133" name="Text Box 191">
              <a:extLst>
                <a:ext uri="{FF2B5EF4-FFF2-40B4-BE49-F238E27FC236}">
                  <a16:creationId xmlns:a16="http://schemas.microsoft.com/office/drawing/2014/main" id="{06B9E92F-E981-414D-BA2F-185C60CFC2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6016" y="4199026"/>
              <a:ext cx="216000" cy="180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Q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4" name="Text Box 191">
              <a:extLst>
                <a:ext uri="{FF2B5EF4-FFF2-40B4-BE49-F238E27FC236}">
                  <a16:creationId xmlns:a16="http://schemas.microsoft.com/office/drawing/2014/main" id="{A3125AB7-0195-4B87-84BE-D9EB354C15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6016" y="3297114"/>
              <a:ext cx="171690" cy="180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35" name="Text Box 16">
            <a:extLst>
              <a:ext uri="{FF2B5EF4-FFF2-40B4-BE49-F238E27FC236}">
                <a16:creationId xmlns:a16="http://schemas.microsoft.com/office/drawing/2014/main" id="{07910415-5B31-42CF-ADB7-3F77D6FF8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080" y="4005064"/>
            <a:ext cx="4608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900113" indent="-900113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思考④：</a:t>
            </a:r>
            <a:r>
              <a:rPr lang="en-US" altLang="zh-CN" sz="1800" b="1" dirty="0">
                <a:latin typeface="宋体" panose="02010600030101010101" pitchFamily="2" charset="-122"/>
              </a:rPr>
              <a:t>D</a:t>
            </a:r>
            <a:r>
              <a:rPr lang="zh-CN" altLang="en-US" sz="1800" b="1" dirty="0">
                <a:latin typeface="宋体" panose="02010600030101010101" pitchFamily="2" charset="-122"/>
              </a:rPr>
              <a:t>触发器的引脚有？用于写入的有？</a:t>
            </a:r>
            <a:endParaRPr lang="en-US" altLang="zh-CN" sz="1800" dirty="0">
              <a:latin typeface="+mn-ea"/>
            </a:endParaRPr>
          </a:p>
        </p:txBody>
      </p:sp>
      <p:sp>
        <p:nvSpPr>
          <p:cNvPr id="136" name="Text Box 16">
            <a:extLst>
              <a:ext uri="{FF2B5EF4-FFF2-40B4-BE49-F238E27FC236}">
                <a16:creationId xmlns:a16="http://schemas.microsoft.com/office/drawing/2014/main" id="{612052A3-AEBA-4F1D-9665-AC930E016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2160" y="764704"/>
            <a:ext cx="2880000" cy="64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271780" indent="-271780">
              <a:lnSpc>
                <a:spcPct val="114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dirty="0">
                <a:latin typeface="宋体" panose="02010600030101010101" pitchFamily="2" charset="-122"/>
              </a:rPr>
              <a:t>支持的数据类型、运算类型由谁决定？</a:t>
            </a:r>
            <a:endParaRPr lang="en-US" altLang="zh-CN" sz="1800" dirty="0">
              <a:latin typeface="+mn-ea"/>
            </a:endParaRPr>
          </a:p>
        </p:txBody>
      </p: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2EB28508-7176-4318-A2C6-462EABC40412}"/>
              </a:ext>
            </a:extLst>
          </p:cNvPr>
          <p:cNvGrpSpPr/>
          <p:nvPr/>
        </p:nvGrpSpPr>
        <p:grpSpPr>
          <a:xfrm>
            <a:off x="5580112" y="3501008"/>
            <a:ext cx="3024000" cy="1224000"/>
            <a:chOff x="2699640" y="4578615"/>
            <a:chExt cx="3024000" cy="1224000"/>
          </a:xfrm>
        </p:grpSpPr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A3543DDF-EBA5-43D2-9AE6-9BC2AD260AE3}"/>
                </a:ext>
              </a:extLst>
            </p:cNvPr>
            <p:cNvSpPr/>
            <p:nvPr/>
          </p:nvSpPr>
          <p:spPr>
            <a:xfrm>
              <a:off x="3095640" y="4614615"/>
              <a:ext cx="2304000" cy="11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39" name="TextBox 7">
              <a:extLst>
                <a:ext uri="{FF2B5EF4-FFF2-40B4-BE49-F238E27FC236}">
                  <a16:creationId xmlns:a16="http://schemas.microsoft.com/office/drawing/2014/main" id="{79437C62-2252-43C6-90D6-3DE64D4943AC}"/>
                </a:ext>
              </a:extLst>
            </p:cNvPr>
            <p:cNvSpPr txBox="1"/>
            <p:nvPr/>
          </p:nvSpPr>
          <p:spPr>
            <a:xfrm>
              <a:off x="2735640" y="5046615"/>
              <a:ext cx="288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C0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rW</a:t>
              </a:r>
              <a:endParaRPr lang="zh-CN" altLang="en-US" sz="1600" b="1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0" name="TextBox 8">
              <a:extLst>
                <a:ext uri="{FF2B5EF4-FFF2-40B4-BE49-F238E27FC236}">
                  <a16:creationId xmlns:a16="http://schemas.microsoft.com/office/drawing/2014/main" id="{C0288BC9-2031-4C7D-80E3-2B3F0492A1D2}"/>
                </a:ext>
              </a:extLst>
            </p:cNvPr>
            <p:cNvSpPr txBox="1"/>
            <p:nvPr/>
          </p:nvSpPr>
          <p:spPr>
            <a:xfrm>
              <a:off x="5543640" y="4974615"/>
              <a:ext cx="180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Q</a:t>
              </a:r>
              <a:endParaRPr lang="zh-CN" altLang="en-US" sz="16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D1E8B4D9-BE12-4D36-AC5F-652CF8301CDA}"/>
                </a:ext>
              </a:extLst>
            </p:cNvPr>
            <p:cNvCxnSpPr/>
            <p:nvPr/>
          </p:nvCxnSpPr>
          <p:spPr bwMode="auto">
            <a:xfrm>
              <a:off x="5327640" y="5082615"/>
              <a:ext cx="216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9467A164-E631-4A8E-930C-F99BB58B86CA}"/>
                </a:ext>
              </a:extLst>
            </p:cNvPr>
            <p:cNvCxnSpPr/>
            <p:nvPr/>
          </p:nvCxnSpPr>
          <p:spPr bwMode="auto">
            <a:xfrm>
              <a:off x="3023640" y="4869183"/>
              <a:ext cx="216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43" name="TextBox 13">
              <a:extLst>
                <a:ext uri="{FF2B5EF4-FFF2-40B4-BE49-F238E27FC236}">
                  <a16:creationId xmlns:a16="http://schemas.microsoft.com/office/drawing/2014/main" id="{031BED07-A03F-4E48-B05E-80CBAE40F382}"/>
                </a:ext>
              </a:extLst>
            </p:cNvPr>
            <p:cNvSpPr txBox="1"/>
            <p:nvPr/>
          </p:nvSpPr>
          <p:spPr>
            <a:xfrm>
              <a:off x="2735640" y="5334615"/>
              <a:ext cx="288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Wr</a:t>
              </a:r>
              <a:endParaRPr lang="zh-CN" altLang="en-US" sz="1600" b="1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4" name="TextBox 14">
              <a:extLst>
                <a:ext uri="{FF2B5EF4-FFF2-40B4-BE49-F238E27FC236}">
                  <a16:creationId xmlns:a16="http://schemas.microsoft.com/office/drawing/2014/main" id="{18A53383-196D-4993-8703-D061164D81C1}"/>
                </a:ext>
              </a:extLst>
            </p:cNvPr>
            <p:cNvSpPr txBox="1"/>
            <p:nvPr/>
          </p:nvSpPr>
          <p:spPr>
            <a:xfrm>
              <a:off x="2735640" y="5586615"/>
              <a:ext cx="288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CP</a:t>
              </a:r>
              <a:endParaRPr lang="zh-CN" altLang="en-US" sz="16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5" name="TextBox 15">
              <a:extLst>
                <a:ext uri="{FF2B5EF4-FFF2-40B4-BE49-F238E27FC236}">
                  <a16:creationId xmlns:a16="http://schemas.microsoft.com/office/drawing/2014/main" id="{60ABAFD2-3203-4075-A5D4-9FE2B34AFA7C}"/>
                </a:ext>
              </a:extLst>
            </p:cNvPr>
            <p:cNvSpPr txBox="1"/>
            <p:nvPr/>
          </p:nvSpPr>
          <p:spPr>
            <a:xfrm>
              <a:off x="2735640" y="4758615"/>
              <a:ext cx="288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endParaRPr lang="zh-CN" altLang="en-US" sz="16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6" name="TextBox 17">
              <a:extLst>
                <a:ext uri="{FF2B5EF4-FFF2-40B4-BE49-F238E27FC236}">
                  <a16:creationId xmlns:a16="http://schemas.microsoft.com/office/drawing/2014/main" id="{DD888EEB-A8BD-49C4-9F08-6A21905A4B53}"/>
                </a:ext>
              </a:extLst>
            </p:cNvPr>
            <p:cNvSpPr txBox="1"/>
            <p:nvPr/>
          </p:nvSpPr>
          <p:spPr>
            <a:xfrm>
              <a:off x="2735640" y="4578615"/>
              <a:ext cx="288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rgbClr val="C0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rA</a:t>
              </a:r>
              <a:endParaRPr lang="zh-CN" altLang="en-US" sz="1600" b="1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7" name="左大括号 146">
              <a:extLst>
                <a:ext uri="{FF2B5EF4-FFF2-40B4-BE49-F238E27FC236}">
                  <a16:creationId xmlns:a16="http://schemas.microsoft.com/office/drawing/2014/main" id="{BF5AE6AE-047C-4EA3-BA1F-ECFC73E03ADA}"/>
                </a:ext>
              </a:extLst>
            </p:cNvPr>
            <p:cNvSpPr/>
            <p:nvPr/>
          </p:nvSpPr>
          <p:spPr bwMode="auto">
            <a:xfrm>
              <a:off x="2699640" y="4830615"/>
              <a:ext cx="72008" cy="900000"/>
            </a:xfrm>
            <a:prstGeom prst="leftBrace">
              <a:avLst>
                <a:gd name="adj1" fmla="val 45937"/>
                <a:gd name="adj2" fmla="val 50000"/>
              </a:avLst>
            </a:prstGeom>
            <a:noFill/>
            <a:ln w="952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29503203-484A-4833-B1FB-00EAC6A75799}"/>
                </a:ext>
              </a:extLst>
            </p:cNvPr>
            <p:cNvCxnSpPr/>
            <p:nvPr/>
          </p:nvCxnSpPr>
          <p:spPr bwMode="auto">
            <a:xfrm>
              <a:off x="3023640" y="4722615"/>
              <a:ext cx="216000" cy="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C19F2CCD-8FB0-49FC-A59D-82A4CF3F82C7}"/>
                </a:ext>
              </a:extLst>
            </p:cNvPr>
            <p:cNvCxnSpPr/>
            <p:nvPr/>
          </p:nvCxnSpPr>
          <p:spPr bwMode="auto">
            <a:xfrm>
              <a:off x="3023640" y="5154615"/>
              <a:ext cx="216000" cy="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C1733455-8D7A-4B65-98BF-CC42784FB92A}"/>
                </a:ext>
              </a:extLst>
            </p:cNvPr>
            <p:cNvCxnSpPr/>
            <p:nvPr/>
          </p:nvCxnSpPr>
          <p:spPr bwMode="auto">
            <a:xfrm>
              <a:off x="3023640" y="5442615"/>
              <a:ext cx="216000" cy="3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0FF417F9-CAF1-4431-9CA7-57E1C1E3A0E3}"/>
                </a:ext>
              </a:extLst>
            </p:cNvPr>
            <p:cNvCxnSpPr/>
            <p:nvPr/>
          </p:nvCxnSpPr>
          <p:spPr bwMode="auto">
            <a:xfrm>
              <a:off x="3023640" y="5694615"/>
              <a:ext cx="216000" cy="3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70CC992F-25FD-484B-B29F-E4898742E32C}"/>
                </a:ext>
              </a:extLst>
            </p:cNvPr>
            <p:cNvSpPr/>
            <p:nvPr/>
          </p:nvSpPr>
          <p:spPr>
            <a:xfrm>
              <a:off x="4139952" y="4830615"/>
              <a:ext cx="576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R7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977C05CB-7B3D-4278-9572-008C5ACDA400}"/>
                </a:ext>
              </a:extLst>
            </p:cNvPr>
            <p:cNvSpPr/>
            <p:nvPr/>
          </p:nvSpPr>
          <p:spPr>
            <a:xfrm>
              <a:off x="4139944" y="5370615"/>
              <a:ext cx="576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R0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54" name="Text Box 18">
              <a:extLst>
                <a:ext uri="{FF2B5EF4-FFF2-40B4-BE49-F238E27FC236}">
                  <a16:creationId xmlns:a16="http://schemas.microsoft.com/office/drawing/2014/main" id="{00547AEB-3E84-423A-83E3-239F6455C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247374" y="5082615"/>
              <a:ext cx="288000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</p:grp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B451DF00-998E-486A-9104-A7222C21FAC7}"/>
              </a:ext>
            </a:extLst>
          </p:cNvPr>
          <p:cNvGrpSpPr/>
          <p:nvPr/>
        </p:nvGrpSpPr>
        <p:grpSpPr>
          <a:xfrm>
            <a:off x="6012112" y="3789008"/>
            <a:ext cx="1008040" cy="828088"/>
            <a:chOff x="3131840" y="4869160"/>
            <a:chExt cx="1008040" cy="828088"/>
          </a:xfrm>
        </p:grpSpPr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A1E4511F-2AEE-48AB-85B9-02A42FB8F852}"/>
                </a:ext>
              </a:extLst>
            </p:cNvPr>
            <p:cNvCxnSpPr/>
            <p:nvPr/>
          </p:nvCxnSpPr>
          <p:spPr bwMode="auto">
            <a:xfrm flipV="1">
              <a:off x="3779840" y="5409160"/>
              <a:ext cx="360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B5D1DBB2-08D8-4DCF-83A9-BE75D212B721}"/>
                </a:ext>
              </a:extLst>
            </p:cNvPr>
            <p:cNvCxnSpPr/>
            <p:nvPr/>
          </p:nvCxnSpPr>
          <p:spPr bwMode="auto">
            <a:xfrm flipV="1">
              <a:off x="3923880" y="4941248"/>
              <a:ext cx="216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58" name="直接连接符 157">
              <a:extLst>
                <a:ext uri="{FF2B5EF4-FFF2-40B4-BE49-F238E27FC236}">
                  <a16:creationId xmlns:a16="http://schemas.microsoft.com/office/drawing/2014/main" id="{E47362D9-D39E-4594-8CCF-1C2194493C6A}"/>
                </a:ext>
              </a:extLst>
            </p:cNvPr>
            <p:cNvCxnSpPr/>
            <p:nvPr/>
          </p:nvCxnSpPr>
          <p:spPr bwMode="auto">
            <a:xfrm flipV="1">
              <a:off x="3923856" y="5481160"/>
              <a:ext cx="216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93C0409C-3DEA-4188-A859-46AF727A451F}"/>
                </a:ext>
              </a:extLst>
            </p:cNvPr>
            <p:cNvCxnSpPr/>
            <p:nvPr/>
          </p:nvCxnSpPr>
          <p:spPr bwMode="auto">
            <a:xfrm flipV="1">
              <a:off x="3923856" y="4941248"/>
              <a:ext cx="24" cy="75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76634A8D-B2FB-4B3F-A35A-8FEE8C820E75}"/>
                </a:ext>
              </a:extLst>
            </p:cNvPr>
            <p:cNvCxnSpPr/>
            <p:nvPr/>
          </p:nvCxnSpPr>
          <p:spPr bwMode="auto">
            <a:xfrm flipV="1">
              <a:off x="3491880" y="5013256"/>
              <a:ext cx="648000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9D01511E-31EC-48A7-88BC-159EC309C71E}"/>
                </a:ext>
              </a:extLst>
            </p:cNvPr>
            <p:cNvCxnSpPr/>
            <p:nvPr/>
          </p:nvCxnSpPr>
          <p:spPr bwMode="auto">
            <a:xfrm flipV="1">
              <a:off x="3491880" y="5553160"/>
              <a:ext cx="648000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62" name="直接连接符 161">
              <a:extLst>
                <a:ext uri="{FF2B5EF4-FFF2-40B4-BE49-F238E27FC236}">
                  <a16:creationId xmlns:a16="http://schemas.microsoft.com/office/drawing/2014/main" id="{3429F792-6AD3-4EE9-86A1-476EE1926BAA}"/>
                </a:ext>
              </a:extLst>
            </p:cNvPr>
            <p:cNvCxnSpPr/>
            <p:nvPr/>
          </p:nvCxnSpPr>
          <p:spPr bwMode="auto">
            <a:xfrm>
              <a:off x="3779840" y="4869160"/>
              <a:ext cx="24" cy="540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AF3861EE-0B58-4D03-A3A0-7202E5DC6439}"/>
                </a:ext>
              </a:extLst>
            </p:cNvPr>
            <p:cNvCxnSpPr/>
            <p:nvPr/>
          </p:nvCxnSpPr>
          <p:spPr bwMode="auto">
            <a:xfrm>
              <a:off x="3131840" y="5697160"/>
              <a:ext cx="792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046F1CE9-ECC8-45C2-9A99-77615E49C383}"/>
                </a:ext>
              </a:extLst>
            </p:cNvPr>
            <p:cNvSpPr/>
            <p:nvPr/>
          </p:nvSpPr>
          <p:spPr>
            <a:xfrm>
              <a:off x="3239840" y="4941248"/>
              <a:ext cx="252000" cy="68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 anchorCtr="1"/>
            <a:lstStyle/>
            <a:p>
              <a:r>
                <a:rPr lang="zh-CN" altLang="en-US" sz="1600" b="1" dirty="0">
                  <a:solidFill>
                    <a:schemeClr val="tx1"/>
                  </a:solidFill>
                  <a:latin typeface="+mn-ea"/>
                </a:rPr>
                <a:t>译码器</a:t>
              </a:r>
            </a:p>
          </p:txBody>
        </p:sp>
        <p:sp>
          <p:nvSpPr>
            <p:cNvPr id="165" name="Text Box 18">
              <a:extLst>
                <a:ext uri="{FF2B5EF4-FFF2-40B4-BE49-F238E27FC236}">
                  <a16:creationId xmlns:a16="http://schemas.microsoft.com/office/drawing/2014/main" id="{ABE982F1-F802-44E9-87D2-F1E9A59D9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3455358" y="5157160"/>
              <a:ext cx="288000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DDA491F4-4F24-4A3A-8A03-E8A91A686C14}"/>
                </a:ext>
              </a:extLst>
            </p:cNvPr>
            <p:cNvCxnSpPr/>
            <p:nvPr/>
          </p:nvCxnSpPr>
          <p:spPr bwMode="auto">
            <a:xfrm flipV="1">
              <a:off x="3131840" y="4869160"/>
              <a:ext cx="1008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  <p:grpSp>
        <p:nvGrpSpPr>
          <p:cNvPr id="167" name="组合 166">
            <a:extLst>
              <a:ext uri="{FF2B5EF4-FFF2-40B4-BE49-F238E27FC236}">
                <a16:creationId xmlns:a16="http://schemas.microsoft.com/office/drawing/2014/main" id="{D73A712E-D6C6-4B0E-B2C2-7372EF7EA910}"/>
              </a:ext>
            </a:extLst>
          </p:cNvPr>
          <p:cNvGrpSpPr/>
          <p:nvPr/>
        </p:nvGrpSpPr>
        <p:grpSpPr>
          <a:xfrm>
            <a:off x="6012280" y="3645008"/>
            <a:ext cx="2195832" cy="756032"/>
            <a:chOff x="6192168" y="3528000"/>
            <a:chExt cx="2195832" cy="756032"/>
          </a:xfrm>
        </p:grpSpPr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AEB81356-5B86-41D4-87FB-E5F1F5C66317}"/>
                </a:ext>
              </a:extLst>
            </p:cNvPr>
            <p:cNvCxnSpPr/>
            <p:nvPr/>
          </p:nvCxnSpPr>
          <p:spPr bwMode="auto">
            <a:xfrm flipV="1">
              <a:off x="7776000" y="3744024"/>
              <a:ext cx="432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8CEAB4E4-B08C-41FA-A59E-512AAE20FBF1}"/>
                </a:ext>
              </a:extLst>
            </p:cNvPr>
            <p:cNvCxnSpPr/>
            <p:nvPr/>
          </p:nvCxnSpPr>
          <p:spPr bwMode="auto">
            <a:xfrm flipV="1">
              <a:off x="7776272" y="4284000"/>
              <a:ext cx="144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F0040E96-8803-4F28-A0C1-503C67B505AD}"/>
                </a:ext>
              </a:extLst>
            </p:cNvPr>
            <p:cNvCxnSpPr/>
            <p:nvPr/>
          </p:nvCxnSpPr>
          <p:spPr bwMode="auto">
            <a:xfrm>
              <a:off x="8316000" y="3528000"/>
              <a:ext cx="0" cy="216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E5BEFFB5-8CC0-4A35-9F8A-E79E992D699D}"/>
                </a:ext>
              </a:extLst>
            </p:cNvPr>
            <p:cNvCxnSpPr/>
            <p:nvPr/>
          </p:nvCxnSpPr>
          <p:spPr bwMode="auto">
            <a:xfrm>
              <a:off x="6192168" y="3528000"/>
              <a:ext cx="212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3" name="直接连接符 172">
              <a:extLst>
                <a:ext uri="{FF2B5EF4-FFF2-40B4-BE49-F238E27FC236}">
                  <a16:creationId xmlns:a16="http://schemas.microsoft.com/office/drawing/2014/main" id="{F3F85246-D363-4741-BFC6-4B2D104ED9F3}"/>
                </a:ext>
              </a:extLst>
            </p:cNvPr>
            <p:cNvCxnSpPr/>
            <p:nvPr/>
          </p:nvCxnSpPr>
          <p:spPr bwMode="auto">
            <a:xfrm flipV="1">
              <a:off x="7920000" y="4032056"/>
              <a:ext cx="288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4" name="直接连接符 173">
              <a:extLst>
                <a:ext uri="{FF2B5EF4-FFF2-40B4-BE49-F238E27FC236}">
                  <a16:creationId xmlns:a16="http://schemas.microsoft.com/office/drawing/2014/main" id="{27CD7A84-FEF6-47AC-AE66-7DBB99084FA3}"/>
                </a:ext>
              </a:extLst>
            </p:cNvPr>
            <p:cNvCxnSpPr/>
            <p:nvPr/>
          </p:nvCxnSpPr>
          <p:spPr bwMode="auto">
            <a:xfrm flipV="1">
              <a:off x="7920000" y="4032032"/>
              <a:ext cx="0" cy="252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175" name="Text Box 18">
              <a:extLst>
                <a:ext uri="{FF2B5EF4-FFF2-40B4-BE49-F238E27FC236}">
                  <a16:creationId xmlns:a16="http://schemas.microsoft.com/office/drawing/2014/main" id="{33CF6708-0BB2-44C3-85F4-344749B814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920000" y="3780547"/>
              <a:ext cx="288000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sp>
          <p:nvSpPr>
            <p:cNvPr id="176" name="TextBox 14">
              <a:extLst>
                <a:ext uri="{FF2B5EF4-FFF2-40B4-BE49-F238E27FC236}">
                  <a16:creationId xmlns:a16="http://schemas.microsoft.com/office/drawing/2014/main" id="{FCAD51FF-D1DC-4239-BD8A-159D343E06AC}"/>
                </a:ext>
              </a:extLst>
            </p:cNvPr>
            <p:cNvSpPr txBox="1"/>
            <p:nvPr/>
          </p:nvSpPr>
          <p:spPr>
            <a:xfrm>
              <a:off x="8208000" y="3708000"/>
              <a:ext cx="144000" cy="360000"/>
            </a:xfrm>
            <a:prstGeom prst="rect">
              <a:avLst/>
            </a:prstGeom>
            <a:noFill/>
          </p:spPr>
          <p:txBody>
            <a:bodyPr vert="vert270" wrap="square" lIns="18000" tIns="10800" rIns="18000" bIns="1080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r>
                <a:rPr lang="en-US" altLang="zh-CN" sz="1200" b="1" baseline="-180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altLang="zh-CN" sz="12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 7</a:t>
              </a:r>
              <a:endParaRPr lang="zh-CN" altLang="en-US" sz="12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77" name="梯形 176">
              <a:extLst>
                <a:ext uri="{FF2B5EF4-FFF2-40B4-BE49-F238E27FC236}">
                  <a16:creationId xmlns:a16="http://schemas.microsoft.com/office/drawing/2014/main" id="{EBBBAA47-6A56-4CD9-BE24-49972538796E}"/>
                </a:ext>
              </a:extLst>
            </p:cNvPr>
            <p:cNvSpPr/>
            <p:nvPr/>
          </p:nvSpPr>
          <p:spPr bwMode="auto">
            <a:xfrm rot="5400000">
              <a:off x="8082000" y="3798000"/>
              <a:ext cx="432000" cy="180000"/>
            </a:xfrm>
            <a:prstGeom prst="trapezoid">
              <a:avLst>
                <a:gd name="adj" fmla="val 55497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8" name="Text Box 16">
            <a:extLst>
              <a:ext uri="{FF2B5EF4-FFF2-40B4-BE49-F238E27FC236}">
                <a16:creationId xmlns:a16="http://schemas.microsoft.com/office/drawing/2014/main" id="{EE6FF3C6-30BF-4322-B382-F0388EF9A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3645024"/>
            <a:ext cx="3384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269875" indent="-269875">
              <a:lnSpc>
                <a:spcPct val="105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③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1800" b="1" dirty="0">
                <a:latin typeface="宋体" panose="02010600030101010101" pitchFamily="2" charset="-122"/>
              </a:rPr>
              <a:t>设置</a:t>
            </a:r>
            <a:r>
              <a:rPr lang="en-US" altLang="zh-CN" sz="1800" b="1" dirty="0">
                <a:latin typeface="宋体" panose="02010600030101010101" pitchFamily="2" charset="-122"/>
              </a:rPr>
              <a:t>REGs</a:t>
            </a:r>
            <a:r>
              <a:rPr lang="zh-CN" altLang="en-US" sz="1800" b="1" dirty="0">
                <a:latin typeface="宋体" panose="02010600030101010101" pitchFamily="2" charset="-122"/>
              </a:rPr>
              <a:t>有什么好处？</a:t>
            </a:r>
            <a:endParaRPr lang="en-US" altLang="zh-CN" sz="1800" dirty="0">
              <a:latin typeface="+mn-ea"/>
            </a:endParaRPr>
          </a:p>
        </p:txBody>
      </p:sp>
      <p:sp>
        <p:nvSpPr>
          <p:cNvPr id="76" name="Text Box 4">
            <a:extLst>
              <a:ext uri="{FF2B5EF4-FFF2-40B4-BE49-F238E27FC236}">
                <a16:creationId xmlns:a16="http://schemas.microsoft.com/office/drawing/2014/main" id="{496F9A43-F644-45B0-9BEA-CD385DE0E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613" y="1124744"/>
            <a:ext cx="3924499" cy="842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整数、实数、布尔数等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定点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浮点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逻辑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移位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关系等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77" name="AutoShape 62">
            <a:hlinkClick r:id="rId4" action="ppaction://hlinksldjump"/>
            <a:extLst>
              <a:ext uri="{FF2B5EF4-FFF2-40B4-BE49-F238E27FC236}">
                <a16:creationId xmlns:a16="http://schemas.microsoft.com/office/drawing/2014/main" id="{3F2DF218-C081-4FC1-9AAB-D747065F9372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068000" y="652410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424"/>
    </mc:Choice>
    <mc:Fallback xmlns="">
      <p:transition spd="slow" advTm="194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/>
      <p:bldP spid="109" grpId="0" animBg="1"/>
      <p:bldP spid="110" grpId="0" animBg="1"/>
      <p:bldP spid="112" grpId="0" bldLvl="0" animBg="1"/>
      <p:bldP spid="135" grpId="0" bldLvl="0" animBg="1"/>
      <p:bldP spid="136" grpId="0" animBg="1"/>
      <p:bldP spid="178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24" name="Text Box 308"/>
          <p:cNvSpPr txBox="1">
            <a:spLocks noChangeArrowheads="1"/>
          </p:cNvSpPr>
          <p:nvPr/>
        </p:nvSpPr>
        <p:spPr bwMode="auto">
          <a:xfrm>
            <a:off x="179388" y="332656"/>
            <a:ext cx="8748388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控制器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*功能：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控制</a:t>
            </a:r>
            <a:r>
              <a:rPr lang="zh-CN" altLang="en-US" sz="2200" b="1" dirty="0">
                <a:latin typeface="宋体" panose="02010600030101010101" pitchFamily="2" charset="-122"/>
              </a:rPr>
              <a:t>各部件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协调地</a:t>
            </a:r>
            <a:r>
              <a:rPr lang="zh-CN" altLang="en-US" sz="2200" b="1" dirty="0">
                <a:latin typeface="宋体" panose="02010600030101010101" pitchFamily="2" charset="-122"/>
              </a:rPr>
              <a:t>工作，以实现</a:t>
            </a:r>
            <a:r>
              <a:rPr lang="zh-CN" altLang="en-US" sz="2200" b="1" u="sng" dirty="0">
                <a:latin typeface="宋体" panose="02010600030101010101" pitchFamily="2" charset="-122"/>
              </a:rPr>
              <a:t>程序执行过程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82" name="AutoShape 711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2F4A4-3F44-4BF1-9249-E850563696DD}" type="slidenum">
              <a:rPr lang="en-US" altLang="zh-CN"/>
              <a:t>19</a:t>
            </a:fld>
            <a:endParaRPr lang="en-US" altLang="zh-CN" dirty="0"/>
          </a:p>
        </p:txBody>
      </p:sp>
      <p:sp>
        <p:nvSpPr>
          <p:cNvPr id="163125" name="Text Box 309"/>
          <p:cNvSpPr txBox="1">
            <a:spLocks noChangeArrowheads="1"/>
          </p:cNvSpPr>
          <p:nvPr/>
        </p:nvSpPr>
        <p:spPr bwMode="auto">
          <a:xfrm>
            <a:off x="140971" y="1772816"/>
            <a:ext cx="8823517" cy="33258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指令执行过程分析：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实现策略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部件需求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05000"/>
              </a:lnSpc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执行过程例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组成：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90" name="Text Box 63"/>
          <p:cNvSpPr txBox="1">
            <a:spLocks noChangeArrowheads="1"/>
          </p:cNvSpPr>
          <p:nvPr/>
        </p:nvSpPr>
        <p:spPr bwMode="auto">
          <a:xfrm>
            <a:off x="1331640" y="4581128"/>
            <a:ext cx="7596136" cy="737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PC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IR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</a:rPr>
              <a:t>ID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</a:rPr>
              <a:t>时序信号</a:t>
            </a:r>
            <a:r>
              <a:rPr lang="zh-CN" altLang="en-US" sz="2200" b="1" dirty="0">
                <a:latin typeface="宋体" panose="02010600030101010101" pitchFamily="2" charset="-122"/>
              </a:rPr>
              <a:t>形成部件、</a:t>
            </a:r>
            <a:r>
              <a:rPr lang="zh-CN" altLang="en-US" sz="2200" b="1" u="sng" dirty="0">
                <a:latin typeface="宋体" panose="02010600030101010101" pitchFamily="2" charset="-122"/>
              </a:rPr>
              <a:t>操作控制信号</a:t>
            </a:r>
            <a:r>
              <a:rPr lang="zh-CN" altLang="en-US" sz="2200" b="1" dirty="0">
                <a:latin typeface="宋体" panose="02010600030101010101" pitchFamily="2" charset="-122"/>
              </a:rPr>
              <a:t>形成部件等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               </a:t>
            </a:r>
            <a:r>
              <a:rPr lang="en-US" altLang="zh-CN" sz="1600" b="1" dirty="0">
                <a:latin typeface="宋体" panose="02010600030101010101" pitchFamily="2" charset="-122"/>
              </a:rPr>
              <a:t>    </a:t>
            </a:r>
            <a:r>
              <a:rPr lang="zh-CN" altLang="en-US" sz="1600" b="1" dirty="0">
                <a:latin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</a:rPr>
              <a:t>←表示指令操作的次序    </a:t>
            </a:r>
            <a:r>
              <a:rPr lang="zh-CN" altLang="en-US" sz="1600" dirty="0">
                <a:latin typeface="宋体" panose="02010600030101010101" pitchFamily="2" charset="-122"/>
              </a:rPr>
              <a:t>└</a:t>
            </a:r>
            <a:r>
              <a:rPr lang="zh-CN" altLang="en-US" sz="1600" b="1" dirty="0">
                <a:latin typeface="宋体" panose="02010600030101010101" pitchFamily="2" charset="-122"/>
              </a:rPr>
              <a:t>←表示指令操作的需求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07FD381-3F5D-492E-9B1C-1C24DB6909A4}"/>
              </a:ext>
            </a:extLst>
          </p:cNvPr>
          <p:cNvGrpSpPr/>
          <p:nvPr/>
        </p:nvGrpSpPr>
        <p:grpSpPr>
          <a:xfrm>
            <a:off x="683568" y="5301208"/>
            <a:ext cx="6084000" cy="900000"/>
            <a:chOff x="2016232" y="5472000"/>
            <a:chExt cx="6084000" cy="900000"/>
          </a:xfrm>
        </p:grpSpPr>
        <p:sp>
          <p:nvSpPr>
            <p:cNvPr id="239" name="Rectangle 65" descr="轮廓式菱形"/>
            <p:cNvSpPr>
              <a:spLocks noChangeArrowheads="1"/>
            </p:cNvSpPr>
            <p:nvPr/>
          </p:nvSpPr>
          <p:spPr bwMode="auto">
            <a:xfrm>
              <a:off x="2160232" y="5472000"/>
              <a:ext cx="5940000" cy="79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0" name="Text Box 66"/>
            <p:cNvSpPr txBox="1">
              <a:spLocks noChangeArrowheads="1"/>
            </p:cNvSpPr>
            <p:nvPr/>
          </p:nvSpPr>
          <p:spPr bwMode="auto">
            <a:xfrm>
              <a:off x="2304232" y="5903968"/>
              <a:ext cx="1404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指令寄存器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243" name="Text Box 69"/>
            <p:cNvSpPr txBox="1">
              <a:spLocks noChangeArrowheads="1"/>
            </p:cNvSpPr>
            <p:nvPr/>
          </p:nvSpPr>
          <p:spPr bwMode="auto">
            <a:xfrm>
              <a:off x="2304232" y="5543928"/>
              <a:ext cx="1404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程序计数器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244" name="Text Box 70"/>
            <p:cNvSpPr txBox="1">
              <a:spLocks noChangeArrowheads="1"/>
            </p:cNvSpPr>
            <p:nvPr/>
          </p:nvSpPr>
          <p:spPr bwMode="auto">
            <a:xfrm>
              <a:off x="3996000" y="5652000"/>
              <a:ext cx="865188" cy="504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指令译码器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249" name="Line 77"/>
            <p:cNvSpPr>
              <a:spLocks noChangeShapeType="1"/>
            </p:cNvSpPr>
            <p:nvPr/>
          </p:nvSpPr>
          <p:spPr bwMode="auto">
            <a:xfrm>
              <a:off x="3708000" y="6047952"/>
              <a:ext cx="288000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Line 78"/>
            <p:cNvSpPr>
              <a:spLocks noChangeShapeType="1"/>
            </p:cNvSpPr>
            <p:nvPr/>
          </p:nvSpPr>
          <p:spPr bwMode="auto">
            <a:xfrm flipH="1">
              <a:off x="2016232" y="5759920"/>
              <a:ext cx="288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Line 79"/>
            <p:cNvSpPr>
              <a:spLocks noChangeShapeType="1"/>
            </p:cNvSpPr>
            <p:nvPr/>
          </p:nvSpPr>
          <p:spPr bwMode="auto">
            <a:xfrm>
              <a:off x="2016232" y="6047952"/>
              <a:ext cx="288000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Text Box 81"/>
            <p:cNvSpPr txBox="1">
              <a:spLocks noChangeArrowheads="1"/>
            </p:cNvSpPr>
            <p:nvPr/>
          </p:nvSpPr>
          <p:spPr bwMode="auto">
            <a:xfrm>
              <a:off x="7596000" y="5544000"/>
              <a:ext cx="504000" cy="576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控制单元</a:t>
              </a:r>
            </a:p>
          </p:txBody>
        </p:sp>
        <p:sp>
          <p:nvSpPr>
            <p:cNvPr id="241" name="Line 67"/>
            <p:cNvSpPr>
              <a:spLocks noChangeShapeType="1"/>
            </p:cNvSpPr>
            <p:nvPr/>
          </p:nvSpPr>
          <p:spPr bwMode="auto">
            <a:xfrm flipH="1">
              <a:off x="5400000" y="6084000"/>
              <a:ext cx="0" cy="28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Text Box 68"/>
            <p:cNvSpPr txBox="1">
              <a:spLocks noChangeArrowheads="1"/>
            </p:cNvSpPr>
            <p:nvPr/>
          </p:nvSpPr>
          <p:spPr bwMode="auto">
            <a:xfrm>
              <a:off x="5616000" y="6012000"/>
              <a:ext cx="360363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solidFill>
                    <a:srgbClr val="FF3399"/>
                  </a:solidFill>
                </a:rPr>
                <a:t>…</a:t>
              </a:r>
            </a:p>
          </p:txBody>
        </p:sp>
        <p:sp>
          <p:nvSpPr>
            <p:cNvPr id="245" name="Text Box 71"/>
            <p:cNvSpPr txBox="1">
              <a:spLocks noChangeArrowheads="1"/>
            </p:cNvSpPr>
            <p:nvPr/>
          </p:nvSpPr>
          <p:spPr bwMode="auto">
            <a:xfrm>
              <a:off x="5184000" y="5543896"/>
              <a:ext cx="1150938" cy="540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操作控制信号形成部件</a:t>
              </a:r>
            </a:p>
          </p:txBody>
        </p:sp>
        <p:sp>
          <p:nvSpPr>
            <p:cNvPr id="246" name="Text Box 74"/>
            <p:cNvSpPr txBox="1">
              <a:spLocks noChangeArrowheads="1"/>
            </p:cNvSpPr>
            <p:nvPr/>
          </p:nvSpPr>
          <p:spPr bwMode="auto">
            <a:xfrm>
              <a:off x="6660000" y="5543960"/>
              <a:ext cx="900000" cy="540000"/>
            </a:xfrm>
            <a:prstGeom prst="rect">
              <a:avLst/>
            </a:prstGeom>
            <a:solidFill>
              <a:schemeClr val="hlink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时序信号形成部件</a:t>
              </a:r>
            </a:p>
          </p:txBody>
        </p:sp>
        <p:sp>
          <p:nvSpPr>
            <p:cNvPr id="247" name="Line 75"/>
            <p:cNvSpPr>
              <a:spLocks noChangeShapeType="1"/>
            </p:cNvSpPr>
            <p:nvPr/>
          </p:nvSpPr>
          <p:spPr bwMode="auto">
            <a:xfrm flipH="1" flipV="1">
              <a:off x="6336000" y="5668937"/>
              <a:ext cx="324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Line 76"/>
            <p:cNvSpPr>
              <a:spLocks noChangeShapeType="1"/>
            </p:cNvSpPr>
            <p:nvPr/>
          </p:nvSpPr>
          <p:spPr bwMode="auto">
            <a:xfrm flipV="1">
              <a:off x="4860000" y="5773491"/>
              <a:ext cx="324000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Text Box 83"/>
            <p:cNvSpPr txBox="1">
              <a:spLocks noChangeArrowheads="1"/>
            </p:cNvSpPr>
            <p:nvPr/>
          </p:nvSpPr>
          <p:spPr bwMode="auto">
            <a:xfrm>
              <a:off x="6408000" y="5688607"/>
              <a:ext cx="288925" cy="28733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solidFill>
                    <a:srgbClr val="CC3300"/>
                  </a:solidFill>
                </a:rPr>
                <a:t>…</a:t>
              </a:r>
            </a:p>
          </p:txBody>
        </p:sp>
        <p:sp>
          <p:nvSpPr>
            <p:cNvPr id="254" name="Line 84"/>
            <p:cNvSpPr>
              <a:spLocks noChangeShapeType="1"/>
            </p:cNvSpPr>
            <p:nvPr/>
          </p:nvSpPr>
          <p:spPr bwMode="auto">
            <a:xfrm flipV="1">
              <a:off x="4860000" y="5991797"/>
              <a:ext cx="3240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Line 85"/>
            <p:cNvSpPr>
              <a:spLocks noChangeShapeType="1"/>
            </p:cNvSpPr>
            <p:nvPr/>
          </p:nvSpPr>
          <p:spPr bwMode="auto">
            <a:xfrm flipH="1">
              <a:off x="5544000" y="6084000"/>
              <a:ext cx="0" cy="28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Line 86"/>
            <p:cNvSpPr>
              <a:spLocks noChangeShapeType="1"/>
            </p:cNvSpPr>
            <p:nvPr/>
          </p:nvSpPr>
          <p:spPr bwMode="auto">
            <a:xfrm flipH="1">
              <a:off x="6048000" y="6084000"/>
              <a:ext cx="0" cy="28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Line 75"/>
            <p:cNvSpPr>
              <a:spLocks noChangeShapeType="1"/>
            </p:cNvSpPr>
            <p:nvPr/>
          </p:nvSpPr>
          <p:spPr bwMode="auto">
            <a:xfrm flipH="1" flipV="1">
              <a:off x="6336000" y="5974606"/>
              <a:ext cx="324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78"/>
            <p:cNvSpPr>
              <a:spLocks noChangeShapeType="1"/>
            </p:cNvSpPr>
            <p:nvPr/>
          </p:nvSpPr>
          <p:spPr bwMode="auto">
            <a:xfrm>
              <a:off x="2016232" y="5615904"/>
              <a:ext cx="288000" cy="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" name="直接连接符 2"/>
            <p:cNvCxnSpPr/>
            <p:nvPr/>
          </p:nvCxnSpPr>
          <p:spPr bwMode="auto">
            <a:xfrm>
              <a:off x="3816000" y="5472000"/>
              <a:ext cx="0" cy="792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4" name="AutoShape 45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758" y="6524451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622818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76256" y="5373216"/>
            <a:ext cx="2196000" cy="684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54000" tIns="10800" rIns="18000" bIns="10800" anchor="t" anchorCtr="0">
            <a:noAutofit/>
          </a:bodyPr>
          <a:lstStyle/>
          <a:p>
            <a:pPr marL="990600" indent="-990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PC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en-US" altLang="zh-CN" sz="16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Program Counter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</a:p>
          <a:p>
            <a:pPr marL="990600" indent="-990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IR—</a:t>
            </a:r>
            <a:r>
              <a:rPr lang="en-US" altLang="zh-CN" sz="1600" dirty="0">
                <a:cs typeface="Times New Roman" panose="02020603050405020304" pitchFamily="18" charset="0"/>
                <a:sym typeface="+mn-ea"/>
              </a:rPr>
              <a:t>Instruction Register</a:t>
            </a: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990600" indent="-990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ID—</a:t>
            </a:r>
            <a:r>
              <a:rPr lang="en-US" altLang="zh-CN" sz="1600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Instruction Decoder</a:t>
            </a:r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B89931EE-7BA4-479A-8DBB-F28B6FADB5A5}"/>
              </a:ext>
            </a:extLst>
          </p:cNvPr>
          <p:cNvCxnSpPr>
            <a:cxnSpLocks/>
          </p:cNvCxnSpPr>
          <p:nvPr/>
        </p:nvCxnSpPr>
        <p:spPr bwMode="auto">
          <a:xfrm>
            <a:off x="3815776" y="1771200"/>
            <a:ext cx="647968" cy="536067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62872C8D-5955-494E-8D9C-BB4DCF003D36}"/>
              </a:ext>
            </a:extLst>
          </p:cNvPr>
          <p:cNvGrpSpPr/>
          <p:nvPr/>
        </p:nvGrpSpPr>
        <p:grpSpPr>
          <a:xfrm>
            <a:off x="864000" y="1304816"/>
            <a:ext cx="4464000" cy="468000"/>
            <a:chOff x="1944104" y="1376768"/>
            <a:chExt cx="4464000" cy="468000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6998D3F2-C2E8-447F-973D-0F974845FAAB}"/>
                </a:ext>
              </a:extLst>
            </p:cNvPr>
            <p:cNvSpPr/>
            <p:nvPr/>
          </p:nvSpPr>
          <p:spPr bwMode="auto">
            <a:xfrm>
              <a:off x="1944104" y="1412768"/>
              <a:ext cx="3024000" cy="39600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3" name="Text Box 311">
              <a:extLst>
                <a:ext uri="{FF2B5EF4-FFF2-40B4-BE49-F238E27FC236}">
                  <a16:creationId xmlns:a16="http://schemas.microsoft.com/office/drawing/2014/main" id="{7080A1EE-B41D-4313-90C7-147CA6C7A0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1720" y="1484816"/>
              <a:ext cx="684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取指令</a:t>
              </a:r>
            </a:p>
          </p:txBody>
        </p:sp>
        <p:sp>
          <p:nvSpPr>
            <p:cNvPr id="104" name="Text Box 314">
              <a:extLst>
                <a:ext uri="{FF2B5EF4-FFF2-40B4-BE49-F238E27FC236}">
                  <a16:creationId xmlns:a16="http://schemas.microsoft.com/office/drawing/2014/main" id="{F8CFA2FF-ED31-431C-920A-1BC8F68539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2104" y="1484816"/>
              <a:ext cx="864000" cy="252000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分析指令</a:t>
              </a:r>
            </a:p>
          </p:txBody>
        </p:sp>
        <p:sp>
          <p:nvSpPr>
            <p:cNvPr id="107" name="Text Box 316">
              <a:extLst>
                <a:ext uri="{FF2B5EF4-FFF2-40B4-BE49-F238E27FC236}">
                  <a16:creationId xmlns:a16="http://schemas.microsoft.com/office/drawing/2014/main" id="{00F5C230-93CB-4671-BD10-7603C90A77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104" y="1484816"/>
              <a:ext cx="864000" cy="252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执行指令</a:t>
              </a:r>
            </a:p>
          </p:txBody>
        </p: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5A923097-BFA0-45F8-BFCF-AD9E736B6F02}"/>
                </a:ext>
              </a:extLst>
            </p:cNvPr>
            <p:cNvCxnSpPr>
              <a:stCxn id="103" idx="3"/>
              <a:endCxn id="104" idx="1"/>
            </p:cNvCxnSpPr>
            <p:nvPr/>
          </p:nvCxnSpPr>
          <p:spPr bwMode="auto">
            <a:xfrm>
              <a:off x="2735720" y="1610816"/>
              <a:ext cx="21638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9" name="直接箭头连接符 108">
              <a:extLst>
                <a:ext uri="{FF2B5EF4-FFF2-40B4-BE49-F238E27FC236}">
                  <a16:creationId xmlns:a16="http://schemas.microsoft.com/office/drawing/2014/main" id="{3E1F3524-3BFA-45DE-938D-63FE0BDE69B4}"/>
                </a:ext>
              </a:extLst>
            </p:cNvPr>
            <p:cNvCxnSpPr>
              <a:stCxn id="104" idx="3"/>
              <a:endCxn id="107" idx="1"/>
            </p:cNvCxnSpPr>
            <p:nvPr/>
          </p:nvCxnSpPr>
          <p:spPr bwMode="auto">
            <a:xfrm>
              <a:off x="3816104" y="1610816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10" name="Text Box 316">
              <a:extLst>
                <a:ext uri="{FF2B5EF4-FFF2-40B4-BE49-F238E27FC236}">
                  <a16:creationId xmlns:a16="http://schemas.microsoft.com/office/drawing/2014/main" id="{F4315FEF-FFFF-4F2A-9FCF-69731CBCF8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2104" y="1376768"/>
              <a:ext cx="1296000" cy="468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计算指令地址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循环处理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865DE25E-D037-4EC9-BFC0-BAB5EECB94EB}"/>
                </a:ext>
              </a:extLst>
            </p:cNvPr>
            <p:cNvCxnSpPr>
              <a:cxnSpLocks/>
              <a:stCxn id="107" idx="3"/>
            </p:cNvCxnSpPr>
            <p:nvPr/>
          </p:nvCxnSpPr>
          <p:spPr bwMode="auto">
            <a:xfrm>
              <a:off x="4896104" y="1610816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2" name="直接箭头连接符 27">
              <a:extLst>
                <a:ext uri="{FF2B5EF4-FFF2-40B4-BE49-F238E27FC236}">
                  <a16:creationId xmlns:a16="http://schemas.microsoft.com/office/drawing/2014/main" id="{6490944A-CBE3-46C4-A8E3-62D8993C2569}"/>
                </a:ext>
              </a:extLst>
            </p:cNvPr>
            <p:cNvCxnSpPr>
              <a:stCxn id="110" idx="3"/>
              <a:endCxn id="103" idx="1"/>
            </p:cNvCxnSpPr>
            <p:nvPr/>
          </p:nvCxnSpPr>
          <p:spPr bwMode="auto">
            <a:xfrm flipH="1">
              <a:off x="2051720" y="1610768"/>
              <a:ext cx="4356384" cy="48"/>
            </a:xfrm>
            <a:prstGeom prst="bentConnector5">
              <a:avLst>
                <a:gd name="adj1" fmla="val -2509"/>
                <a:gd name="adj2" fmla="val -609945833"/>
                <a:gd name="adj3" fmla="val 104152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15" name="Text Box 48">
            <a:extLst>
              <a:ext uri="{FF2B5EF4-FFF2-40B4-BE49-F238E27FC236}">
                <a16:creationId xmlns:a16="http://schemas.microsoft.com/office/drawing/2014/main" id="{95FD1368-6335-4451-B33A-A8B10BB9B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3728" y="2188398"/>
            <a:ext cx="6948527" cy="11672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执行过程由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操作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序列</a:t>
            </a:r>
            <a:r>
              <a:rPr lang="zh-CN" altLang="en-US" sz="2200" b="1" dirty="0">
                <a:latin typeface="宋体" panose="02010600030101010101" pitchFamily="2" charset="-122"/>
              </a:rPr>
              <a:t>组成，通过</a:t>
            </a: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有序地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控制部件</a:t>
            </a:r>
            <a:r>
              <a:rPr lang="zh-CN" altLang="en-US" sz="2200" b="1" dirty="0">
                <a:latin typeface="宋体" panose="02010600030101010101" pitchFamily="2" charset="-122"/>
              </a:rPr>
              <a:t>来实现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保存</a:t>
            </a:r>
            <a:r>
              <a:rPr lang="zh-CN" altLang="en-US" sz="2200" b="1" u="sng" dirty="0">
                <a:latin typeface="宋体" panose="02010600030101010101" pitchFamily="2" charset="-122"/>
              </a:rPr>
              <a:t>指令地址</a:t>
            </a:r>
            <a:r>
              <a:rPr lang="en-US" altLang="zh-CN" sz="2200" b="1" u="sng" dirty="0">
                <a:latin typeface="宋体" panose="02010600030101010101" pitchFamily="2" charset="-122"/>
              </a:rPr>
              <a:t>&amp;</a:t>
            </a:r>
            <a:r>
              <a:rPr lang="zh-CN" altLang="en-US" sz="2200" b="1" u="sng" dirty="0">
                <a:latin typeface="宋体" panose="02010600030101010101" pitchFamily="2" charset="-122"/>
              </a:rPr>
              <a:t>内容</a:t>
            </a:r>
            <a:r>
              <a:rPr lang="zh-CN" altLang="en-US" sz="2200" b="1" dirty="0">
                <a:latin typeface="宋体" panose="02010600030101010101" pitchFamily="2" charset="-122"/>
              </a:rPr>
              <a:t>、完成</a:t>
            </a:r>
            <a:r>
              <a:rPr lang="zh-CN" altLang="en-US" sz="2200" b="1" u="sng" dirty="0">
                <a:latin typeface="宋体" panose="02010600030101010101" pitchFamily="2" charset="-122"/>
              </a:rPr>
              <a:t>指令译码</a:t>
            </a:r>
            <a:r>
              <a:rPr lang="zh-CN" altLang="en-US" sz="2200" b="1" dirty="0">
                <a:latin typeface="宋体" panose="02010600030101010101" pitchFamily="2" charset="-122"/>
              </a:rPr>
              <a:t>，其余为</a:t>
            </a:r>
            <a:r>
              <a:rPr lang="zh-CN" altLang="en-US" sz="2200" b="1" u="sng" dirty="0">
                <a:latin typeface="宋体" panose="02010600030101010101" pitchFamily="2" charset="-122"/>
              </a:rPr>
              <a:t>运算部件</a:t>
            </a:r>
            <a:endParaRPr lang="en-US" altLang="zh-CN" sz="2200" b="1" u="sng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dirty="0">
                <a:latin typeface="+mn-ea"/>
              </a:rPr>
              <a:t>  └←</a:t>
            </a:r>
            <a:r>
              <a:rPr lang="zh-CN" altLang="en-US" sz="1600" b="1" dirty="0">
                <a:latin typeface="+mn-ea"/>
              </a:rPr>
              <a:t>需使用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个</a:t>
            </a:r>
            <a:r>
              <a:rPr lang="en-US" altLang="zh-CN" sz="1600" b="1" dirty="0">
                <a:latin typeface="宋体" panose="02010600030101010101" pitchFamily="2" charset="-122"/>
              </a:rPr>
              <a:t>REG              (</a:t>
            </a:r>
            <a:r>
              <a:rPr lang="zh-CN" altLang="en-US" sz="1600" b="1" dirty="0">
                <a:latin typeface="宋体" panose="02010600030101010101" pitchFamily="2" charset="-122"/>
              </a:rPr>
              <a:t>译码器</a:t>
            </a:r>
            <a:r>
              <a:rPr lang="en-US" altLang="zh-CN" sz="1600" b="1" dirty="0">
                <a:latin typeface="宋体" panose="02010600030101010101" pitchFamily="2" charset="-122"/>
              </a:rPr>
              <a:t>)        (</a:t>
            </a:r>
            <a:r>
              <a:rPr lang="zh-CN" altLang="en-US" sz="1600" b="1" dirty="0">
                <a:latin typeface="宋体" panose="02010600030101010101" pitchFamily="2" charset="-122"/>
              </a:rPr>
              <a:t>运算器</a:t>
            </a:r>
            <a:r>
              <a:rPr lang="en-US" altLang="zh-CN" sz="1600" b="1" dirty="0">
                <a:latin typeface="宋体" panose="02010600030101010101" pitchFamily="2" charset="-122"/>
              </a:rPr>
              <a:t>+</a:t>
            </a:r>
            <a:r>
              <a:rPr lang="zh-CN" altLang="en-US" sz="1600" b="1" dirty="0">
                <a:latin typeface="宋体" panose="02010600030101010101" pitchFamily="2" charset="-122"/>
              </a:rPr>
              <a:t>地址计算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124" name="Text Box 16">
            <a:extLst>
              <a:ext uri="{FF2B5EF4-FFF2-40B4-BE49-F238E27FC236}">
                <a16:creationId xmlns:a16="http://schemas.microsoft.com/office/drawing/2014/main" id="{26448A37-8B18-492D-A595-3303C5B97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5017" y="1340768"/>
            <a:ext cx="3420000" cy="7920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271780" indent="-271780">
              <a:lnSpc>
                <a:spcPct val="90000"/>
              </a:lnSpc>
              <a:spcAft>
                <a:spcPts val="300"/>
              </a:spcAft>
            </a:pPr>
            <a:r>
              <a:rPr lang="zh-CN" altLang="en-US" sz="1600" b="1" dirty="0">
                <a:solidFill>
                  <a:srgbClr val="990099"/>
                </a:solidFill>
                <a:latin typeface="+mn-ea"/>
                <a:ea typeface="+mn-ea"/>
              </a:rPr>
              <a:t>示例：</a:t>
            </a:r>
            <a:r>
              <a:rPr lang="en-US" altLang="zh-CN" sz="1600" b="1" dirty="0">
                <a:latin typeface="+mn-ea"/>
                <a:ea typeface="+mn-ea"/>
              </a:rPr>
              <a:t>NA</a:t>
            </a:r>
            <a:r>
              <a:rPr lang="zh-CN" altLang="en-US" sz="1600" b="1" dirty="0">
                <a:latin typeface="+mn-ea"/>
                <a:ea typeface="+mn-ea"/>
              </a:rPr>
              <a:t>、</a:t>
            </a:r>
            <a:r>
              <a:rPr lang="en-US" altLang="zh-CN" sz="1600" b="1" dirty="0">
                <a:latin typeface="+mn-ea"/>
                <a:ea typeface="+mn-ea"/>
              </a:rPr>
              <a:t>CA</a:t>
            </a:r>
            <a:r>
              <a:rPr lang="zh-CN" altLang="en-US" sz="1600" b="1" dirty="0">
                <a:latin typeface="+mn-ea"/>
                <a:ea typeface="+mn-ea"/>
              </a:rPr>
              <a:t>为下条、当前指令地址</a:t>
            </a:r>
            <a:endParaRPr lang="en-US" altLang="zh-CN" sz="1600" b="1" dirty="0">
              <a:latin typeface="+mn-ea"/>
              <a:ea typeface="+mn-ea"/>
            </a:endParaRPr>
          </a:p>
          <a:p>
            <a:pPr marL="271780" indent="-271780">
              <a:lnSpc>
                <a:spcPct val="90000"/>
              </a:lnSpc>
            </a:pPr>
            <a:r>
              <a:rPr lang="en-US" altLang="zh-CN" sz="1600" b="1" dirty="0">
                <a:latin typeface="+mn-ea"/>
                <a:ea typeface="+mn-ea"/>
              </a:rPr>
              <a:t> 20: R[3]</a:t>
            </a:r>
            <a:r>
              <a:rPr lang="zh-CN" altLang="en-US" sz="1600" b="1" dirty="0">
                <a:latin typeface="+mn-ea"/>
                <a:ea typeface="+mn-ea"/>
              </a:rPr>
              <a:t>←</a:t>
            </a:r>
            <a:r>
              <a:rPr lang="en-US" altLang="zh-CN" sz="1600" b="1" dirty="0">
                <a:latin typeface="+mn-ea"/>
                <a:ea typeface="+mn-ea"/>
              </a:rPr>
              <a:t>R[1]+M[40], </a:t>
            </a:r>
            <a:r>
              <a:rPr lang="en-US" altLang="zh-CN" sz="1600" b="1" dirty="0">
                <a:latin typeface="+mn-ea"/>
              </a:rPr>
              <a:t>NA</a:t>
            </a:r>
            <a:r>
              <a:rPr lang="zh-CN" altLang="en-US" sz="1600" b="1" dirty="0">
                <a:latin typeface="+mn-ea"/>
              </a:rPr>
              <a:t>←</a:t>
            </a:r>
            <a:r>
              <a:rPr lang="en-US" altLang="zh-CN" sz="1600" b="1" dirty="0">
                <a:latin typeface="+mn-ea"/>
              </a:rPr>
              <a:t>CA+1</a:t>
            </a:r>
            <a:endParaRPr lang="en-US" altLang="zh-CN" sz="1600" b="1" dirty="0">
              <a:latin typeface="+mn-ea"/>
              <a:ea typeface="+mn-ea"/>
            </a:endParaRPr>
          </a:p>
          <a:p>
            <a:pPr marL="271780" indent="-271780">
              <a:lnSpc>
                <a:spcPct val="90000"/>
              </a:lnSpc>
              <a:spcBef>
                <a:spcPts val="300"/>
              </a:spcBef>
            </a:pPr>
            <a:r>
              <a:rPr lang="en-US" altLang="zh-CN" sz="1600" b="1" dirty="0">
                <a:latin typeface="+mn-ea"/>
                <a:ea typeface="+mn-ea"/>
              </a:rPr>
              <a:t> 21:</a:t>
            </a:r>
            <a:r>
              <a:rPr lang="zh-CN" altLang="en-US" sz="1600" b="1" dirty="0">
                <a:latin typeface="+mn-ea"/>
                <a:ea typeface="+mn-ea"/>
              </a:rPr>
              <a:t> </a:t>
            </a:r>
            <a:r>
              <a:rPr lang="en-US" altLang="zh-CN" sz="1600" b="1" dirty="0">
                <a:latin typeface="+mn-ea"/>
                <a:ea typeface="+mn-ea"/>
              </a:rPr>
              <a:t>NA</a:t>
            </a:r>
            <a:r>
              <a:rPr lang="zh-CN" altLang="en-US" sz="1600" b="1" dirty="0">
                <a:latin typeface="+mn-ea"/>
              </a:rPr>
              <a:t>←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>
                <a:latin typeface="+mn-ea"/>
                <a:ea typeface="+mn-ea"/>
              </a:rPr>
              <a:t>R[3]=0)? 18 : CA+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endParaRPr lang="en-US" altLang="zh-CN" sz="1600" b="1" dirty="0">
              <a:latin typeface="+mn-ea"/>
              <a:ea typeface="+mn-ea"/>
            </a:endParaRPr>
          </a:p>
        </p:txBody>
      </p: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A8D4E485-A12B-460A-96AF-23E16DF8A3C4}"/>
              </a:ext>
            </a:extLst>
          </p:cNvPr>
          <p:cNvGrpSpPr/>
          <p:nvPr/>
        </p:nvGrpSpPr>
        <p:grpSpPr>
          <a:xfrm>
            <a:off x="4572472" y="3608992"/>
            <a:ext cx="1152112" cy="504000"/>
            <a:chOff x="4572000" y="3780000"/>
            <a:chExt cx="1152112" cy="504000"/>
          </a:xfrm>
        </p:grpSpPr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81037A84-5B39-46F7-909E-CC15668FF22C}"/>
                </a:ext>
              </a:extLst>
            </p:cNvPr>
            <p:cNvCxnSpPr/>
            <p:nvPr/>
          </p:nvCxnSpPr>
          <p:spPr bwMode="auto">
            <a:xfrm>
              <a:off x="4572000" y="3996000"/>
              <a:ext cx="28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8FF40906-7330-4AA0-9DF8-AA85BE5B9C26}"/>
                </a:ext>
              </a:extLst>
            </p:cNvPr>
            <p:cNvCxnSpPr/>
            <p:nvPr/>
          </p:nvCxnSpPr>
          <p:spPr bwMode="auto">
            <a:xfrm>
              <a:off x="5580112" y="3888000"/>
              <a:ext cx="1440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23268041-56A4-4B41-ADEB-3A0717412BBC}"/>
                </a:ext>
              </a:extLst>
            </p:cNvPr>
            <p:cNvCxnSpPr/>
            <p:nvPr/>
          </p:nvCxnSpPr>
          <p:spPr bwMode="auto">
            <a:xfrm>
              <a:off x="5580112" y="4104000"/>
              <a:ext cx="144000" cy="1588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id="{37A06ED5-7750-4BCA-9586-9F24F98C73A4}"/>
                </a:ext>
              </a:extLst>
            </p:cNvPr>
            <p:cNvCxnSpPr/>
            <p:nvPr/>
          </p:nvCxnSpPr>
          <p:spPr bwMode="auto">
            <a:xfrm>
              <a:off x="5580112" y="4212000"/>
              <a:ext cx="144000" cy="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3CE07D2A-211F-4152-BBB5-FD402751D937}"/>
                </a:ext>
              </a:extLst>
            </p:cNvPr>
            <p:cNvCxnSpPr/>
            <p:nvPr/>
          </p:nvCxnSpPr>
          <p:spPr bwMode="auto">
            <a:xfrm>
              <a:off x="5580112" y="4284000"/>
              <a:ext cx="144000" cy="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6" name="Text Box 479">
              <a:extLst>
                <a:ext uri="{FF2B5EF4-FFF2-40B4-BE49-F238E27FC236}">
                  <a16:creationId xmlns:a16="http://schemas.microsoft.com/office/drawing/2014/main" id="{CD224792-FC31-4139-AFB0-271F4FC24E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7968" y="3780000"/>
              <a:ext cx="216000" cy="180000"/>
            </a:xfrm>
            <a:prstGeom prst="rect">
              <a:avLst/>
            </a:prstGeom>
            <a:solidFill>
              <a:srgbClr val="CCFFFF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dirty="0">
                  <a:latin typeface="宋体" panose="02010600030101010101" pitchFamily="2" charset="-122"/>
                </a:rPr>
                <a:t>②</a:t>
              </a:r>
            </a:p>
          </p:txBody>
        </p:sp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12B8B634-6A06-4359-9208-C7EE1026B136}"/>
              </a:ext>
            </a:extLst>
          </p:cNvPr>
          <p:cNvGrpSpPr/>
          <p:nvPr/>
        </p:nvGrpSpPr>
        <p:grpSpPr>
          <a:xfrm>
            <a:off x="3132000" y="4040992"/>
            <a:ext cx="1008416" cy="216000"/>
            <a:chOff x="3059528" y="4212000"/>
            <a:chExt cx="1008416" cy="216000"/>
          </a:xfrm>
        </p:grpSpPr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73BE62CC-44F2-4D35-8F93-E7B4CD0FAB30}"/>
                </a:ext>
              </a:extLst>
            </p:cNvPr>
            <p:cNvCxnSpPr/>
            <p:nvPr/>
          </p:nvCxnSpPr>
          <p:spPr bwMode="auto">
            <a:xfrm flipV="1">
              <a:off x="4067944" y="4212000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AF9D13AD-56FA-4A59-9F0D-690CC2817B70}"/>
                </a:ext>
              </a:extLst>
            </p:cNvPr>
            <p:cNvCxnSpPr/>
            <p:nvPr/>
          </p:nvCxnSpPr>
          <p:spPr bwMode="auto">
            <a:xfrm>
              <a:off x="3059528" y="4212000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60" name="Text Box 479">
              <a:extLst>
                <a:ext uri="{FF2B5EF4-FFF2-40B4-BE49-F238E27FC236}">
                  <a16:creationId xmlns:a16="http://schemas.microsoft.com/office/drawing/2014/main" id="{A0792C1A-C881-4F3E-A658-5D336B0FA4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0000" y="4230000"/>
              <a:ext cx="216000" cy="180000"/>
            </a:xfrm>
            <a:prstGeom prst="rect">
              <a:avLst/>
            </a:prstGeom>
            <a:solidFill>
              <a:srgbClr val="CCFFFF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dirty="0">
                  <a:latin typeface="宋体" panose="02010600030101010101" pitchFamily="2" charset="-122"/>
                </a:rPr>
                <a:t>①</a:t>
              </a:r>
            </a:p>
          </p:txBody>
        </p:sp>
      </p:grp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46016807-8848-4ADA-AD31-61F43A163C6E}"/>
              </a:ext>
            </a:extLst>
          </p:cNvPr>
          <p:cNvGrpSpPr/>
          <p:nvPr/>
        </p:nvGrpSpPr>
        <p:grpSpPr>
          <a:xfrm>
            <a:off x="2700472" y="3536992"/>
            <a:ext cx="5364000" cy="972088"/>
            <a:chOff x="1615752" y="3536968"/>
            <a:chExt cx="5364000" cy="972088"/>
          </a:xfrm>
        </p:grpSpPr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3EF501D9-1B54-4B24-ABAB-CBB79951AFC2}"/>
                </a:ext>
              </a:extLst>
            </p:cNvPr>
            <p:cNvGrpSpPr/>
            <p:nvPr/>
          </p:nvGrpSpPr>
          <p:grpSpPr>
            <a:xfrm>
              <a:off x="1615752" y="3536968"/>
              <a:ext cx="5364000" cy="972088"/>
              <a:chOff x="1331856" y="3230126"/>
              <a:chExt cx="5364000" cy="972088"/>
            </a:xfrm>
          </p:grpSpPr>
          <p:sp>
            <p:nvSpPr>
              <p:cNvPr id="167" name="Text Box 352">
                <a:extLst>
                  <a:ext uri="{FF2B5EF4-FFF2-40B4-BE49-F238E27FC236}">
                    <a16:creationId xmlns:a16="http://schemas.microsoft.com/office/drawing/2014/main" id="{D0BE58B1-E9F7-4DAF-93F3-9D20454FCF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31856" y="3230126"/>
                <a:ext cx="864000" cy="504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zh-CN" altLang="en-US" sz="1600" b="1" dirty="0">
                    <a:latin typeface="宋体" panose="02010600030101010101" pitchFamily="2" charset="-122"/>
                  </a:rPr>
                  <a:t>指令地址寄存器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68" name="Text Box 354">
                <a:extLst>
                  <a:ext uri="{FF2B5EF4-FFF2-40B4-BE49-F238E27FC236}">
                    <a16:creationId xmlns:a16="http://schemas.microsoft.com/office/drawing/2014/main" id="{F56F18DC-A35F-4D80-A587-CC6E0CED70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5384" y="3950214"/>
                <a:ext cx="1224000" cy="252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zh-CN" altLang="en-US" sz="1600" b="1" dirty="0">
                    <a:latin typeface="宋体" panose="02010600030101010101" pitchFamily="2" charset="-122"/>
                  </a:rPr>
                  <a:t>存储器</a:t>
                </a:r>
              </a:p>
            </p:txBody>
          </p:sp>
          <p:sp>
            <p:nvSpPr>
              <p:cNvPr id="169" name="Text Box 365">
                <a:extLst>
                  <a:ext uri="{FF2B5EF4-FFF2-40B4-BE49-F238E27FC236}">
                    <a16:creationId xmlns:a16="http://schemas.microsoft.com/office/drawing/2014/main" id="{E62FDD1F-75A7-4EB9-A404-0EC6D163B7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9752" y="3230126"/>
                <a:ext cx="864000" cy="504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zh-CN" altLang="en-US" sz="1600" b="1" dirty="0">
                    <a:latin typeface="宋体" panose="02010600030101010101" pitchFamily="2" charset="-122"/>
                  </a:rPr>
                  <a:t>指令内容寄存器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70" name="Text Box 408">
                <a:extLst>
                  <a:ext uri="{FF2B5EF4-FFF2-40B4-BE49-F238E27FC236}">
                    <a16:creationId xmlns:a16="http://schemas.microsoft.com/office/drawing/2014/main" id="{9C63E91B-2648-472A-8275-5A074024D1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91856" y="3338126"/>
                <a:ext cx="720000" cy="540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zh-CN" altLang="en-US" sz="1600" b="1" dirty="0">
                    <a:latin typeface="宋体" panose="02010600030101010101" pitchFamily="2" charset="-122"/>
                  </a:rPr>
                  <a:t>指令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 algn="ctr"/>
                <a:r>
                  <a:rPr lang="zh-CN" altLang="en-US" sz="1600" b="1" dirty="0">
                    <a:latin typeface="宋体" panose="02010600030101010101" pitchFamily="2" charset="-122"/>
                  </a:rPr>
                  <a:t>译码器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71" name="Text Box 439">
                <a:extLst>
                  <a:ext uri="{FF2B5EF4-FFF2-40B4-BE49-F238E27FC236}">
                    <a16:creationId xmlns:a16="http://schemas.microsoft.com/office/drawing/2014/main" id="{B7A2CFB8-D0A3-4F63-860D-269CCE9203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67856" y="3266126"/>
                <a:ext cx="576000" cy="252000"/>
              </a:xfrm>
              <a:prstGeom prst="rect">
                <a:avLst/>
              </a:prstGeom>
              <a:solidFill>
                <a:srgbClr val="FF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zh-CN" altLang="en-US" sz="1600" b="1" dirty="0"/>
                  <a:t>＋</a:t>
                </a:r>
                <a:r>
                  <a:rPr lang="zh-CN" altLang="en-US" sz="1600" b="1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</a:t>
                </a:r>
                <a:r>
                  <a:rPr lang="en-US" altLang="zh-CN" sz="1600" b="1" dirty="0">
                    <a:latin typeface="宋体" panose="02010600030101010101" pitchFamily="2" charset="-122"/>
                    <a:cs typeface="宋体" panose="02010600030101010101" pitchFamily="2" charset="-122"/>
                    <a:sym typeface="+mn-ea"/>
                  </a:rPr>
                  <a:t>1</a:t>
                </a:r>
                <a:r>
                  <a:rPr lang="zh-CN" altLang="en-US" sz="1600" b="1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</a:t>
                </a:r>
                <a:endParaRPr lang="en-US" altLang="zh-CN" sz="1600" dirty="0">
                  <a:latin typeface="Arial Unicode MS" panose="020B0604020202020204" charset="-122"/>
                  <a:ea typeface="Arial Unicode MS" panose="020B0604020202020204" charset="-122"/>
                  <a:cs typeface="Arial Unicode MS" panose="020B0604020202020204" charset="-122"/>
                </a:endParaRPr>
              </a:p>
            </p:txBody>
          </p:sp>
          <p:sp>
            <p:nvSpPr>
              <p:cNvPr id="172" name="Text Box 460">
                <a:extLst>
                  <a:ext uri="{FF2B5EF4-FFF2-40B4-BE49-F238E27FC236}">
                    <a16:creationId xmlns:a16="http://schemas.microsoft.com/office/drawing/2014/main" id="{8D5EE656-3D48-4F8E-90D4-7454A1BA68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95856" y="3590126"/>
                <a:ext cx="900000" cy="504000"/>
              </a:xfrm>
              <a:prstGeom prst="rect">
                <a:avLst/>
              </a:prstGeom>
              <a:solidFill>
                <a:srgbClr val="FF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t" anchorCtr="0"/>
              <a:lstStyle/>
              <a:p>
                <a:pPr algn="ctr"/>
                <a:r>
                  <a:rPr lang="zh-CN" altLang="en-US" sz="1600" b="1" dirty="0">
                    <a:latin typeface="宋体" panose="02010600030101010101" pitchFamily="2" charset="-122"/>
                  </a:rPr>
                  <a:t>地址计算部件</a:t>
                </a:r>
              </a:p>
            </p:txBody>
          </p:sp>
          <p:sp>
            <p:nvSpPr>
              <p:cNvPr id="173" name="Text Box 460">
                <a:extLst>
                  <a:ext uri="{FF2B5EF4-FFF2-40B4-BE49-F238E27FC236}">
                    <a16:creationId xmlns:a16="http://schemas.microsoft.com/office/drawing/2014/main" id="{4E4AA7D6-71F6-4FF9-B8DA-A320D2C762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7856" y="3266126"/>
                <a:ext cx="936000" cy="252000"/>
              </a:xfrm>
              <a:prstGeom prst="rect">
                <a:avLst/>
              </a:prstGeom>
              <a:solidFill>
                <a:srgbClr val="FF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功能部件</a:t>
                </a:r>
              </a:p>
            </p:txBody>
          </p:sp>
        </p:grp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77DD92BC-156C-4E3A-83B9-946D690D2B8B}"/>
                </a:ext>
              </a:extLst>
            </p:cNvPr>
            <p:cNvGrpSpPr/>
            <p:nvPr/>
          </p:nvGrpSpPr>
          <p:grpSpPr>
            <a:xfrm>
              <a:off x="4675752" y="4257056"/>
              <a:ext cx="1224000" cy="252000"/>
              <a:chOff x="4675752" y="4257056"/>
              <a:chExt cx="1224000" cy="252000"/>
            </a:xfrm>
          </p:grpSpPr>
          <p:sp>
            <p:nvSpPr>
              <p:cNvPr id="164" name="Text Box 354">
                <a:extLst>
                  <a:ext uri="{FF2B5EF4-FFF2-40B4-BE49-F238E27FC236}">
                    <a16:creationId xmlns:a16="http://schemas.microsoft.com/office/drawing/2014/main" id="{E5F7B546-0AC2-4522-BE42-4357B9FA32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75752" y="4257056"/>
                <a:ext cx="684000" cy="252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65" name="Text Box 354">
                <a:extLst>
                  <a:ext uri="{FF2B5EF4-FFF2-40B4-BE49-F238E27FC236}">
                    <a16:creationId xmlns:a16="http://schemas.microsoft.com/office/drawing/2014/main" id="{1A4EBACC-D896-4AB9-8086-76CA905BD7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59752" y="4257056"/>
                <a:ext cx="540000" cy="252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66" name="Text Box 354">
                <a:extLst>
                  <a:ext uri="{FF2B5EF4-FFF2-40B4-BE49-F238E27FC236}">
                    <a16:creationId xmlns:a16="http://schemas.microsoft.com/office/drawing/2014/main" id="{4FA627ED-8A00-43E5-AD79-EA10A5DD8D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75752" y="4257056"/>
                <a:ext cx="1224000" cy="25200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zh-CN" altLang="en-US" sz="1600" b="1" dirty="0">
                    <a:latin typeface="宋体" panose="02010600030101010101" pitchFamily="2" charset="-122"/>
                  </a:rPr>
                  <a:t>存储器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/REGs</a:t>
                </a:r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9FEF44F2-37DA-413E-AA45-AAAAD8339502}"/>
              </a:ext>
            </a:extLst>
          </p:cNvPr>
          <p:cNvGrpSpPr/>
          <p:nvPr/>
        </p:nvGrpSpPr>
        <p:grpSpPr>
          <a:xfrm>
            <a:off x="5688472" y="3824992"/>
            <a:ext cx="864000" cy="432000"/>
            <a:chOff x="5868000" y="3996000"/>
            <a:chExt cx="864000" cy="432000"/>
          </a:xfrm>
        </p:grpSpPr>
        <p:sp>
          <p:nvSpPr>
            <p:cNvPr id="175" name="Text Box 479">
              <a:extLst>
                <a:ext uri="{FF2B5EF4-FFF2-40B4-BE49-F238E27FC236}">
                  <a16:creationId xmlns:a16="http://schemas.microsoft.com/office/drawing/2014/main" id="{20D6EAF8-4E3D-4C16-A121-7BD7C8A246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6000" y="4212000"/>
              <a:ext cx="216000" cy="180000"/>
            </a:xfrm>
            <a:prstGeom prst="rect">
              <a:avLst/>
            </a:prstGeom>
            <a:solidFill>
              <a:srgbClr val="CCFFFF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dirty="0">
                  <a:latin typeface="宋体" panose="02010600030101010101" pitchFamily="2" charset="-122"/>
                </a:rPr>
                <a:t>③</a:t>
              </a:r>
            </a:p>
          </p:txBody>
        </p:sp>
        <p:cxnSp>
          <p:nvCxnSpPr>
            <p:cNvPr id="176" name="直接箭头连接符 175">
              <a:extLst>
                <a:ext uri="{FF2B5EF4-FFF2-40B4-BE49-F238E27FC236}">
                  <a16:creationId xmlns:a16="http://schemas.microsoft.com/office/drawing/2014/main" id="{FFEBEA6B-F436-4E05-801F-20DEF6D09B83}"/>
                </a:ext>
              </a:extLst>
            </p:cNvPr>
            <p:cNvCxnSpPr/>
            <p:nvPr/>
          </p:nvCxnSpPr>
          <p:spPr bwMode="auto">
            <a:xfrm flipV="1">
              <a:off x="6228184" y="3996000"/>
              <a:ext cx="0" cy="432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77" name="直接箭头连接符 176">
              <a:extLst>
                <a:ext uri="{FF2B5EF4-FFF2-40B4-BE49-F238E27FC236}">
                  <a16:creationId xmlns:a16="http://schemas.microsoft.com/office/drawing/2014/main" id="{32674354-F1C9-4220-B066-58ABB1E52494}"/>
                </a:ext>
              </a:extLst>
            </p:cNvPr>
            <p:cNvCxnSpPr/>
            <p:nvPr/>
          </p:nvCxnSpPr>
          <p:spPr bwMode="auto">
            <a:xfrm flipV="1">
              <a:off x="6732000" y="3996000"/>
              <a:ext cx="0" cy="432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78" name="直接连接符 47">
              <a:extLst>
                <a:ext uri="{FF2B5EF4-FFF2-40B4-BE49-F238E27FC236}">
                  <a16:creationId xmlns:a16="http://schemas.microsoft.com/office/drawing/2014/main" id="{873C161A-8ACD-4AEA-B2A6-4ACD5A55D66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68000" y="4284000"/>
              <a:ext cx="288000" cy="144000"/>
            </a:xfrm>
            <a:prstGeom prst="bentConnector3">
              <a:avLst>
                <a:gd name="adj1" fmla="val 99690"/>
              </a:avLst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79" name="直接连接符 47">
              <a:extLst>
                <a:ext uri="{FF2B5EF4-FFF2-40B4-BE49-F238E27FC236}">
                  <a16:creationId xmlns:a16="http://schemas.microsoft.com/office/drawing/2014/main" id="{372E6308-8ABB-4529-A636-0ACC90342C3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68000" y="4212000"/>
              <a:ext cx="792000" cy="216000"/>
            </a:xfrm>
            <a:prstGeom prst="bentConnector3">
              <a:avLst>
                <a:gd name="adj1" fmla="val 99824"/>
              </a:avLst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461A6AB2-491E-475E-B47D-57B47E2D9A82}"/>
              </a:ext>
            </a:extLst>
          </p:cNvPr>
          <p:cNvGrpSpPr/>
          <p:nvPr/>
        </p:nvGrpSpPr>
        <p:grpSpPr>
          <a:xfrm>
            <a:off x="5688472" y="3824992"/>
            <a:ext cx="1368000" cy="432000"/>
            <a:chOff x="5616000" y="3996000"/>
            <a:chExt cx="1368000" cy="432000"/>
          </a:xfrm>
        </p:grpSpPr>
        <p:sp>
          <p:nvSpPr>
            <p:cNvPr id="181" name="Text Box 479">
              <a:extLst>
                <a:ext uri="{FF2B5EF4-FFF2-40B4-BE49-F238E27FC236}">
                  <a16:creationId xmlns:a16="http://schemas.microsoft.com/office/drawing/2014/main" id="{BB888C77-1311-4016-8E62-1631E99278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8000" y="4032000"/>
              <a:ext cx="216000" cy="180000"/>
            </a:xfrm>
            <a:prstGeom prst="rect">
              <a:avLst/>
            </a:prstGeom>
            <a:solidFill>
              <a:srgbClr val="CCFFFF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dirty="0">
                  <a:latin typeface="宋体" panose="02010600030101010101" pitchFamily="2" charset="-122"/>
                </a:rPr>
                <a:t>⑤</a:t>
              </a:r>
            </a:p>
          </p:txBody>
        </p:sp>
        <p:cxnSp>
          <p:nvCxnSpPr>
            <p:cNvPr id="182" name="直接箭头连接符 160">
              <a:extLst>
                <a:ext uri="{FF2B5EF4-FFF2-40B4-BE49-F238E27FC236}">
                  <a16:creationId xmlns:a16="http://schemas.microsoft.com/office/drawing/2014/main" id="{FEF1175C-D899-4F58-9157-080EE7A31F6E}"/>
                </a:ext>
              </a:extLst>
            </p:cNvPr>
            <p:cNvCxnSpPr/>
            <p:nvPr/>
          </p:nvCxnSpPr>
          <p:spPr bwMode="auto">
            <a:xfrm>
              <a:off x="6768000" y="3996000"/>
              <a:ext cx="0" cy="432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83" name="直接箭头连接符 222">
              <a:extLst>
                <a:ext uri="{FF2B5EF4-FFF2-40B4-BE49-F238E27FC236}">
                  <a16:creationId xmlns:a16="http://schemas.microsoft.com/office/drawing/2014/main" id="{717FBD84-AC4D-48B2-9ECF-8F242F793746}"/>
                </a:ext>
              </a:extLst>
            </p:cNvPr>
            <p:cNvCxnSpPr/>
            <p:nvPr/>
          </p:nvCxnSpPr>
          <p:spPr bwMode="auto">
            <a:xfrm>
              <a:off x="5616000" y="4104000"/>
              <a:ext cx="1080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4" name="直接箭头连接符 222">
              <a:extLst>
                <a:ext uri="{FF2B5EF4-FFF2-40B4-BE49-F238E27FC236}">
                  <a16:creationId xmlns:a16="http://schemas.microsoft.com/office/drawing/2014/main" id="{8ECD05D2-CB95-401F-B7B7-652D0148517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696000" y="4103980"/>
              <a:ext cx="0" cy="32400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02500945-1B3F-4D8B-BA31-0FF4868EC0BF}"/>
              </a:ext>
            </a:extLst>
          </p:cNvPr>
          <p:cNvGrpSpPr/>
          <p:nvPr/>
        </p:nvGrpSpPr>
        <p:grpSpPr>
          <a:xfrm>
            <a:off x="5688472" y="3716992"/>
            <a:ext cx="288000" cy="180000"/>
            <a:chOff x="5616000" y="3888000"/>
            <a:chExt cx="288000" cy="180000"/>
          </a:xfrm>
        </p:grpSpPr>
        <p:sp>
          <p:nvSpPr>
            <p:cNvPr id="186" name="Text Box 479">
              <a:extLst>
                <a:ext uri="{FF2B5EF4-FFF2-40B4-BE49-F238E27FC236}">
                  <a16:creationId xmlns:a16="http://schemas.microsoft.com/office/drawing/2014/main" id="{B561D938-B4C6-45E7-A228-353559ADD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6000" y="3888000"/>
              <a:ext cx="216000" cy="180000"/>
            </a:xfrm>
            <a:prstGeom prst="rect">
              <a:avLst/>
            </a:prstGeom>
            <a:solidFill>
              <a:srgbClr val="CCFFFF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dirty="0">
                  <a:latin typeface="宋体" panose="02010600030101010101" pitchFamily="2" charset="-122"/>
                </a:rPr>
                <a:t>④</a:t>
              </a:r>
            </a:p>
          </p:txBody>
        </p:sp>
        <p:cxnSp>
          <p:nvCxnSpPr>
            <p:cNvPr id="187" name="直接连接符 186">
              <a:extLst>
                <a:ext uri="{FF2B5EF4-FFF2-40B4-BE49-F238E27FC236}">
                  <a16:creationId xmlns:a16="http://schemas.microsoft.com/office/drawing/2014/main" id="{C7D205C3-C853-448B-BE47-E4AA66FF83AB}"/>
                </a:ext>
              </a:extLst>
            </p:cNvPr>
            <p:cNvCxnSpPr/>
            <p:nvPr/>
          </p:nvCxnSpPr>
          <p:spPr bwMode="auto">
            <a:xfrm>
              <a:off x="5616000" y="3888000"/>
              <a:ext cx="288000" cy="1588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88" name="组合 187">
            <a:extLst>
              <a:ext uri="{FF2B5EF4-FFF2-40B4-BE49-F238E27FC236}">
                <a16:creationId xmlns:a16="http://schemas.microsoft.com/office/drawing/2014/main" id="{DF7B595F-2732-44A3-99CE-4E0C18D4F794}"/>
              </a:ext>
            </a:extLst>
          </p:cNvPr>
          <p:cNvGrpSpPr/>
          <p:nvPr/>
        </p:nvGrpSpPr>
        <p:grpSpPr>
          <a:xfrm>
            <a:off x="6480472" y="3358792"/>
            <a:ext cx="2304000" cy="970200"/>
            <a:chOff x="6408000" y="3529800"/>
            <a:chExt cx="2304000" cy="970200"/>
          </a:xfrm>
        </p:grpSpPr>
        <p:sp>
          <p:nvSpPr>
            <p:cNvPr id="189" name="Text Box 479">
              <a:extLst>
                <a:ext uri="{FF2B5EF4-FFF2-40B4-BE49-F238E27FC236}">
                  <a16:creationId xmlns:a16="http://schemas.microsoft.com/office/drawing/2014/main" id="{BCFB746A-4663-4F48-A1C7-C8B21333B6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4000" y="4320000"/>
              <a:ext cx="216000" cy="180000"/>
            </a:xfrm>
            <a:prstGeom prst="rect">
              <a:avLst/>
            </a:prstGeom>
            <a:solidFill>
              <a:srgbClr val="CCFFFF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dirty="0">
                  <a:latin typeface="宋体" panose="02010600030101010101" pitchFamily="2" charset="-122"/>
                </a:rPr>
                <a:t>⑥</a:t>
              </a:r>
            </a:p>
          </p:txBody>
        </p:sp>
        <p:cxnSp>
          <p:nvCxnSpPr>
            <p:cNvPr id="191" name="直接箭头连接符 222">
              <a:extLst>
                <a:ext uri="{FF2B5EF4-FFF2-40B4-BE49-F238E27FC236}">
                  <a16:creationId xmlns:a16="http://schemas.microsoft.com/office/drawing/2014/main" id="{3EC908FF-0AE6-446C-937B-7A4AD21EFF50}"/>
                </a:ext>
              </a:extLst>
            </p:cNvPr>
            <p:cNvCxnSpPr/>
            <p:nvPr/>
          </p:nvCxnSpPr>
          <p:spPr bwMode="auto">
            <a:xfrm>
              <a:off x="6408000" y="4212000"/>
              <a:ext cx="684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92" name="Text Box 479">
              <a:extLst>
                <a:ext uri="{FF2B5EF4-FFF2-40B4-BE49-F238E27FC236}">
                  <a16:creationId xmlns:a16="http://schemas.microsoft.com/office/drawing/2014/main" id="{8D5BE3B4-3C57-455D-A15A-CCA8C3B754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92000" y="4068000"/>
              <a:ext cx="72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转移时</a:t>
              </a:r>
            </a:p>
          </p:txBody>
        </p:sp>
        <p:cxnSp>
          <p:nvCxnSpPr>
            <p:cNvPr id="193" name="直接箭头连接符 192">
              <a:extLst>
                <a:ext uri="{FF2B5EF4-FFF2-40B4-BE49-F238E27FC236}">
                  <a16:creationId xmlns:a16="http://schemas.microsoft.com/office/drawing/2014/main" id="{CC4D85CD-3491-4D3A-8065-752C661B0FDC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8712000" y="3529800"/>
              <a:ext cx="0" cy="79200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4" name="直接箭头连接符 193">
              <a:extLst>
                <a:ext uri="{FF2B5EF4-FFF2-40B4-BE49-F238E27FC236}">
                  <a16:creationId xmlns:a16="http://schemas.microsoft.com/office/drawing/2014/main" id="{20DA0CF3-8182-487A-A8C8-5F3761B2BBE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992000" y="4320000"/>
              <a:ext cx="720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</p:grpSp>
      <p:grpSp>
        <p:nvGrpSpPr>
          <p:cNvPr id="195" name="组合 194">
            <a:extLst>
              <a:ext uri="{FF2B5EF4-FFF2-40B4-BE49-F238E27FC236}">
                <a16:creationId xmlns:a16="http://schemas.microsoft.com/office/drawing/2014/main" id="{F312ABF4-5E7A-4DCD-A09D-00222733051C}"/>
              </a:ext>
            </a:extLst>
          </p:cNvPr>
          <p:cNvGrpSpPr/>
          <p:nvPr/>
        </p:nvGrpSpPr>
        <p:grpSpPr>
          <a:xfrm>
            <a:off x="3132000" y="3356992"/>
            <a:ext cx="5688472" cy="756000"/>
            <a:chOff x="3059528" y="3528000"/>
            <a:chExt cx="5688472" cy="756000"/>
          </a:xfrm>
        </p:grpSpPr>
        <p:sp>
          <p:nvSpPr>
            <p:cNvPr id="205" name="Text Box 479">
              <a:extLst>
                <a:ext uri="{FF2B5EF4-FFF2-40B4-BE49-F238E27FC236}">
                  <a16:creationId xmlns:a16="http://schemas.microsoft.com/office/drawing/2014/main" id="{A6911D25-0A9D-46A2-938A-67C2B4EB34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4655" y="3528000"/>
              <a:ext cx="216000" cy="180000"/>
            </a:xfrm>
            <a:prstGeom prst="rect">
              <a:avLst/>
            </a:prstGeom>
            <a:solidFill>
              <a:srgbClr val="CCFFFF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dirty="0">
                  <a:latin typeface="宋体" panose="02010600030101010101" pitchFamily="2" charset="-122"/>
                </a:rPr>
                <a:t>⑥</a:t>
              </a:r>
            </a:p>
          </p:txBody>
        </p:sp>
        <p:sp>
          <p:nvSpPr>
            <p:cNvPr id="196" name="Text Box 479">
              <a:extLst>
                <a:ext uri="{FF2B5EF4-FFF2-40B4-BE49-F238E27FC236}">
                  <a16:creationId xmlns:a16="http://schemas.microsoft.com/office/drawing/2014/main" id="{AC3C98E9-F774-430D-AC84-8D521D05C4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0352" y="3672000"/>
              <a:ext cx="72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顺序时</a:t>
              </a:r>
            </a:p>
          </p:txBody>
        </p:sp>
        <p:cxnSp>
          <p:nvCxnSpPr>
            <p:cNvPr id="197" name="直接箭头连接符 196">
              <a:extLst>
                <a:ext uri="{FF2B5EF4-FFF2-40B4-BE49-F238E27FC236}">
                  <a16:creationId xmlns:a16="http://schemas.microsoft.com/office/drawing/2014/main" id="{0C32E55B-805E-49C1-AA28-D3AA4C57BE2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059528" y="4284000"/>
              <a:ext cx="504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198" name="直接箭头连接符 197">
              <a:extLst>
                <a:ext uri="{FF2B5EF4-FFF2-40B4-BE49-F238E27FC236}">
                  <a16:creationId xmlns:a16="http://schemas.microsoft.com/office/drawing/2014/main" id="{EC17FB0E-AD29-4CCC-BDDD-2175453CFBA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563888" y="3600000"/>
              <a:ext cx="0" cy="68400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199" name="直接箭头连接符 198">
              <a:extLst>
                <a:ext uri="{FF2B5EF4-FFF2-40B4-BE49-F238E27FC236}">
                  <a16:creationId xmlns:a16="http://schemas.microsoft.com/office/drawing/2014/main" id="{1D57E918-E4AA-46EB-988E-A5310EA09595}"/>
                </a:ext>
              </a:extLst>
            </p:cNvPr>
            <p:cNvCxnSpPr/>
            <p:nvPr/>
          </p:nvCxnSpPr>
          <p:spPr bwMode="auto">
            <a:xfrm>
              <a:off x="7450621" y="360000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E57241F4-79A8-4A84-B9B8-E3A229DF710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63824" y="3600000"/>
              <a:ext cx="3888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01" name="直接箭头连接符 200">
              <a:extLst>
                <a:ext uri="{FF2B5EF4-FFF2-40B4-BE49-F238E27FC236}">
                  <a16:creationId xmlns:a16="http://schemas.microsoft.com/office/drawing/2014/main" id="{7E87B6C0-A830-4A5C-8EDB-D1B99724AD41}"/>
                </a:ext>
              </a:extLst>
            </p:cNvPr>
            <p:cNvCxnSpPr/>
            <p:nvPr/>
          </p:nvCxnSpPr>
          <p:spPr bwMode="auto">
            <a:xfrm>
              <a:off x="3060000" y="3529800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02" name="直接箭头连接符 201">
              <a:extLst>
                <a:ext uri="{FF2B5EF4-FFF2-40B4-BE49-F238E27FC236}">
                  <a16:creationId xmlns:a16="http://schemas.microsoft.com/office/drawing/2014/main" id="{4665C382-E94B-463C-ADDB-38810104D45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060000" y="3529800"/>
              <a:ext cx="5688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  <p:cxnSp>
          <p:nvCxnSpPr>
            <p:cNvPr id="203" name="直接箭头连接符 202">
              <a:extLst>
                <a:ext uri="{FF2B5EF4-FFF2-40B4-BE49-F238E27FC236}">
                  <a16:creationId xmlns:a16="http://schemas.microsoft.com/office/drawing/2014/main" id="{CD0220DB-082E-43BC-BC8C-C999DF08A8BF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8460000" y="3529800"/>
              <a:ext cx="0" cy="39600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04" name="直接箭头连接符 203">
              <a:extLst>
                <a:ext uri="{FF2B5EF4-FFF2-40B4-BE49-F238E27FC236}">
                  <a16:creationId xmlns:a16="http://schemas.microsoft.com/office/drawing/2014/main" id="{CDC5AB91-0816-453F-8680-0ED44CA1D88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743461" y="3923973"/>
              <a:ext cx="720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sm" len="sm"/>
              <a:tailEnd type="none"/>
            </a:ln>
            <a:effectLst/>
          </p:spPr>
        </p:cxnSp>
      </p:grpSp>
      <p:sp>
        <p:nvSpPr>
          <p:cNvPr id="207" name="AutoShape 338">
            <a:extLst>
              <a:ext uri="{FF2B5EF4-FFF2-40B4-BE49-F238E27FC236}">
                <a16:creationId xmlns:a16="http://schemas.microsoft.com/office/drawing/2014/main" id="{DE5CFA78-0AB1-4D23-9CFC-D17353340406}"/>
              </a:ext>
            </a:extLst>
          </p:cNvPr>
          <p:cNvSpPr/>
          <p:nvPr/>
        </p:nvSpPr>
        <p:spPr bwMode="auto">
          <a:xfrm>
            <a:off x="6012320" y="6165232"/>
            <a:ext cx="1440000" cy="252000"/>
          </a:xfrm>
          <a:prstGeom prst="borderCallout2">
            <a:avLst>
              <a:gd name="adj1" fmla="val 46301"/>
              <a:gd name="adj2" fmla="val -24"/>
              <a:gd name="adj3" fmla="val 46464"/>
              <a:gd name="adj4" fmla="val -12512"/>
              <a:gd name="adj5" fmla="val -93522"/>
              <a:gd name="adj6" fmla="val -25220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vert="horz" lIns="18000" tIns="10800" rIns="18000" bIns="10800" anchor="ctr" anchorCtr="1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如产生①～⑥</a:t>
            </a:r>
          </a:p>
        </p:txBody>
      </p:sp>
      <p:sp>
        <p:nvSpPr>
          <p:cNvPr id="208" name="AutoShape 338">
            <a:extLst>
              <a:ext uri="{FF2B5EF4-FFF2-40B4-BE49-F238E27FC236}">
                <a16:creationId xmlns:a16="http://schemas.microsoft.com/office/drawing/2014/main" id="{F2992CE9-9524-4CA3-B4C4-56533B889F76}"/>
              </a:ext>
            </a:extLst>
          </p:cNvPr>
          <p:cNvSpPr/>
          <p:nvPr/>
        </p:nvSpPr>
        <p:spPr bwMode="auto">
          <a:xfrm>
            <a:off x="827584" y="6165232"/>
            <a:ext cx="2808000" cy="252000"/>
          </a:xfrm>
          <a:prstGeom prst="borderCallout2">
            <a:avLst>
              <a:gd name="adj1" fmla="val 55767"/>
              <a:gd name="adj2" fmla="val 99650"/>
              <a:gd name="adj3" fmla="val 55929"/>
              <a:gd name="adj4" fmla="val 108400"/>
              <a:gd name="adj5" fmla="val -102988"/>
              <a:gd name="adj6" fmla="val 112965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vert="horz" lIns="18000" tIns="10800" rIns="18000" bIns="10800" anchor="ctr" anchorCtr="1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如按序产生①～⑥的控制信号</a:t>
            </a: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C2CA7485-8C7A-48DF-B8E2-4ADDD730769C}"/>
              </a:ext>
            </a:extLst>
          </p:cNvPr>
          <p:cNvCxnSpPr>
            <a:cxnSpLocks/>
          </p:cNvCxnSpPr>
          <p:nvPr/>
        </p:nvCxnSpPr>
        <p:spPr bwMode="auto">
          <a:xfrm flipH="1">
            <a:off x="4032000" y="2604008"/>
            <a:ext cx="359352" cy="108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3DF83597-988A-415D-AE52-504A1F363C88}"/>
              </a:ext>
            </a:extLst>
          </p:cNvPr>
          <p:cNvCxnSpPr>
            <a:cxnSpLocks/>
          </p:cNvCxnSpPr>
          <p:nvPr/>
        </p:nvCxnSpPr>
        <p:spPr bwMode="auto">
          <a:xfrm flipH="1">
            <a:off x="1943982" y="4184992"/>
            <a:ext cx="755547" cy="396502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106" name="AutoShape 338">
            <a:extLst>
              <a:ext uri="{FF2B5EF4-FFF2-40B4-BE49-F238E27FC236}">
                <a16:creationId xmlns:a16="http://schemas.microsoft.com/office/drawing/2014/main" id="{D85F97AD-04C9-4D97-958B-6546A28AC6A6}"/>
              </a:ext>
            </a:extLst>
          </p:cNvPr>
          <p:cNvSpPr/>
          <p:nvPr/>
        </p:nvSpPr>
        <p:spPr bwMode="auto">
          <a:xfrm>
            <a:off x="4283968" y="404664"/>
            <a:ext cx="3833852" cy="319778"/>
          </a:xfrm>
          <a:prstGeom prst="borderCallout2">
            <a:avLst>
              <a:gd name="adj1" fmla="val 46301"/>
              <a:gd name="adj2" fmla="val -24"/>
              <a:gd name="adj3" fmla="val 44061"/>
              <a:gd name="adj4" fmla="val -6099"/>
              <a:gd name="adj5" fmla="val 156382"/>
              <a:gd name="adj6" fmla="val -9185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vert="horz" lIns="18000" tIns="10800" rIns="18000" bIns="10800" anchor="ctr" anchorCtr="1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完成操作，操作＝部件＋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给定</a:t>
            </a:r>
            <a:r>
              <a:rPr lang="zh-CN" altLang="en-US" sz="1600" b="1" dirty="0">
                <a:latin typeface="宋体" panose="02010600030101010101" pitchFamily="2" charset="-122"/>
              </a:rPr>
              <a:t>的控制信号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3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3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3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" grpId="0" bldLvl="0" animBg="1"/>
      <p:bldP spid="2" grpId="0" bldLvl="0" animBg="1"/>
      <p:bldP spid="124" grpId="0" bldLvl="0" animBg="1"/>
      <p:bldP spid="207" grpId="0" animBg="1"/>
      <p:bldP spid="20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0895E-3574-44A5-8E0F-6AF250B56886}" type="slidenum">
              <a:rPr lang="en-US" altLang="zh-CN"/>
              <a:t>20</a:t>
            </a:fld>
            <a:endParaRPr lang="en-US" altLang="zh-CN"/>
          </a:p>
        </p:txBody>
      </p:sp>
      <p:sp>
        <p:nvSpPr>
          <p:cNvPr id="115" name="AutoShape 230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0" name="AutoShape 23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1" name="AutoShape 45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6156176" y="6524451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2" name="Text Box 179">
            <a:extLst>
              <a:ext uri="{FF2B5EF4-FFF2-40B4-BE49-F238E27FC236}">
                <a16:creationId xmlns:a16="http://schemas.microsoft.com/office/drawing/2014/main" id="{2E90DF93-0119-4B5A-BC11-621687D7D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702" y="332740"/>
            <a:ext cx="8928801" cy="2631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457200" indent="-457200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按序操作的控制策略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marL="457200" indent="-457200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①</a:t>
            </a:r>
            <a:r>
              <a:rPr lang="zh-CN" altLang="en-US" sz="2200" b="1" u="sng" dirty="0">
                <a:highlight>
                  <a:srgbClr val="FFFF00"/>
                </a:highlight>
                <a:latin typeface="宋体" panose="02010600030101010101" pitchFamily="2" charset="-122"/>
              </a:rPr>
              <a:t>周期性</a:t>
            </a:r>
            <a:r>
              <a:rPr lang="zh-CN" altLang="en-US" sz="2200" b="1" u="sng" dirty="0">
                <a:latin typeface="宋体" panose="02010600030101010101" pitchFamily="2" charset="-122"/>
              </a:rPr>
              <a:t>产生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当前指令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时序信号</a:t>
            </a:r>
            <a:endParaRPr lang="en-US" altLang="zh-CN" sz="2200" b="1" u="sng" dirty="0">
              <a:latin typeface="宋体" panose="02010600030101010101" pitchFamily="2" charset="-122"/>
            </a:endParaRPr>
          </a:p>
          <a:p>
            <a:pPr marL="457200" indent="-457200">
              <a:lnSpc>
                <a:spcPct val="114000"/>
              </a:lnSpc>
              <a:spcBef>
                <a:spcPts val="200"/>
              </a:spcBef>
            </a:pPr>
            <a:r>
              <a:rPr lang="en-US" altLang="zh-CN" sz="1800" dirty="0">
                <a:latin typeface="宋体" panose="02010600030101010101" pitchFamily="2" charset="-122"/>
              </a:rPr>
              <a:t>           └</a:t>
            </a:r>
            <a:r>
              <a:rPr lang="en-US" altLang="zh-CN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数电中的</a:t>
            </a:r>
            <a:r>
              <a:rPr lang="zh-CN" altLang="en-US" sz="1800" b="1" u="sng" dirty="0">
                <a:latin typeface="宋体" panose="02010600030101010101" pitchFamily="2" charset="-122"/>
              </a:rPr>
              <a:t>序列信号发生器</a:t>
            </a:r>
            <a:endParaRPr lang="en-US" altLang="zh-CN" sz="1800" b="1" u="sng" dirty="0">
              <a:latin typeface="宋体" panose="02010600030101010101" pitchFamily="2" charset="-122"/>
            </a:endParaRPr>
          </a:p>
          <a:p>
            <a:pPr marL="457200" indent="-457200"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     ②</a:t>
            </a:r>
            <a:r>
              <a:rPr lang="zh-CN" altLang="en-US" sz="2200" b="1" u="sng" dirty="0">
                <a:highlight>
                  <a:srgbClr val="FFFF00"/>
                </a:highlight>
                <a:latin typeface="宋体" panose="02010600030101010101" pitchFamily="2" charset="-122"/>
              </a:rPr>
              <a:t>按序</a:t>
            </a:r>
            <a:r>
              <a:rPr lang="zh-CN" altLang="en-US" sz="2200" b="1" u="sng" dirty="0">
                <a:latin typeface="宋体" panose="02010600030101010101" pitchFamily="2" charset="-122"/>
              </a:rPr>
              <a:t>产生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当前指令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en-US" altLang="zh-CN" sz="2200" b="1" u="sng" dirty="0">
                <a:latin typeface="宋体" panose="02010600030101010101" pitchFamily="2" charset="-122"/>
              </a:rPr>
              <a:t>OP</a:t>
            </a:r>
            <a:r>
              <a:rPr lang="zh-CN" altLang="en-US" sz="2200" b="1" u="sng" dirty="0">
                <a:latin typeface="宋体" panose="02010600030101010101" pitchFamily="2" charset="-122"/>
              </a:rPr>
              <a:t>控制信号</a:t>
            </a:r>
            <a:endParaRPr lang="en-US" altLang="zh-CN" sz="2200" b="1" u="sng" dirty="0">
              <a:latin typeface="宋体" panose="02010600030101010101" pitchFamily="2" charset="-122"/>
            </a:endParaRPr>
          </a:p>
          <a:p>
            <a:pPr marL="2152650" indent="-215265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</a:rPr>
              <a:t>           </a:t>
            </a:r>
            <a:r>
              <a:rPr lang="en-US" altLang="zh-CN" sz="1800" dirty="0">
                <a:latin typeface="宋体" panose="02010600030101010101" pitchFamily="2" charset="-122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指令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每个步骤</a:t>
            </a:r>
            <a:r>
              <a:rPr lang="zh-CN" altLang="en-US" sz="1800" b="1" dirty="0">
                <a:latin typeface="宋体" panose="02010600030101010101" pitchFamily="2" charset="-122"/>
              </a:rPr>
              <a:t>的</a:t>
            </a:r>
            <a:r>
              <a:rPr lang="zh-CN" altLang="en-US" sz="18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操作控制逻辑</a:t>
            </a:r>
            <a:r>
              <a:rPr lang="zh-CN" altLang="en-US" sz="1800" b="1" dirty="0">
                <a:latin typeface="宋体" panose="02010600030101010101" pitchFamily="2" charset="-122"/>
              </a:rPr>
              <a:t>与</a:t>
            </a:r>
            <a:endParaRPr lang="en-US" altLang="zh-CN" sz="1800" b="1" dirty="0">
              <a:latin typeface="+mn-ea"/>
            </a:endParaRPr>
          </a:p>
          <a:p>
            <a:pPr marL="2152650" indent="-215265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+mn-ea"/>
              </a:rPr>
              <a:t>                 </a:t>
            </a:r>
            <a:r>
              <a:rPr lang="zh-CN" altLang="en-US" sz="1800" b="1" dirty="0">
                <a:latin typeface="+mn-ea"/>
              </a:rPr>
              <a:t>  </a:t>
            </a:r>
            <a:r>
              <a:rPr lang="zh-CN" altLang="en-US" sz="1800" b="1" u="sng" dirty="0">
                <a:solidFill>
                  <a:srgbClr val="0070C0"/>
                </a:solidFill>
                <a:latin typeface="+mn-ea"/>
              </a:rPr>
              <a:t>相应步骤</a:t>
            </a:r>
            <a:r>
              <a:rPr lang="zh-CN" altLang="en-US" sz="1800" b="1" dirty="0">
                <a:latin typeface="+mn-ea"/>
              </a:rPr>
              <a:t>的</a:t>
            </a:r>
            <a:r>
              <a:rPr lang="zh-CN" altLang="en-US" sz="1800" b="1" u="sng" dirty="0">
                <a:solidFill>
                  <a:srgbClr val="C00000"/>
                </a:solidFill>
                <a:latin typeface="+mn-ea"/>
              </a:rPr>
              <a:t>时序信号</a:t>
            </a:r>
            <a:r>
              <a:rPr lang="zh-CN" altLang="en-US" sz="1800" b="1" dirty="0">
                <a:solidFill>
                  <a:srgbClr val="FF3399"/>
                </a:solidFill>
                <a:highlight>
                  <a:srgbClr val="00FF00"/>
                </a:highlight>
                <a:latin typeface="+mn-ea"/>
              </a:rPr>
              <a:t>绑定</a:t>
            </a:r>
            <a:endParaRPr lang="en-US" altLang="zh-CN" sz="1800" b="1" dirty="0">
              <a:solidFill>
                <a:srgbClr val="FF3399"/>
              </a:solidFill>
              <a:highlight>
                <a:srgbClr val="00FF00"/>
              </a:highlight>
              <a:latin typeface="+mn-ea"/>
            </a:endParaRPr>
          </a:p>
          <a:p>
            <a:pPr marL="2154238" indent="-2154238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1800" b="1" dirty="0">
                <a:latin typeface="+mn-ea"/>
              </a:rPr>
              <a:t>           如</a:t>
            </a:r>
            <a:r>
              <a:rPr lang="en-US" altLang="zh-CN" sz="1800" b="1" dirty="0">
                <a:latin typeface="+mn-ea"/>
              </a:rPr>
              <a:t>:</a:t>
            </a:r>
            <a:r>
              <a:rPr lang="zh-CN" altLang="en-US" sz="1800" b="1" dirty="0">
                <a:latin typeface="+mn-ea"/>
              </a:rPr>
              <a:t>写</a:t>
            </a:r>
            <a:r>
              <a:rPr lang="en-US" altLang="zh-CN" sz="1800" b="1" dirty="0">
                <a:latin typeface="+mn-ea"/>
              </a:rPr>
              <a:t>IR</a:t>
            </a:r>
            <a:r>
              <a:rPr lang="zh-CN" altLang="en-US" sz="1800" b="1" dirty="0">
                <a:latin typeface="+mn-ea"/>
              </a:rPr>
              <a:t>＝</a:t>
            </a:r>
            <a:r>
              <a:rPr lang="en-US" altLang="zh-CN" sz="1800" b="1" dirty="0">
                <a:solidFill>
                  <a:srgbClr val="FF3399"/>
                </a:solidFill>
                <a:latin typeface="+mn-ea"/>
              </a:rPr>
              <a:t>1</a:t>
            </a:r>
            <a:r>
              <a:rPr lang="en-US" altLang="zh-CN" sz="1800" b="1" dirty="0">
                <a:highlight>
                  <a:srgbClr val="00FF00"/>
                </a:highlight>
                <a:latin typeface="+mn-ea"/>
                <a:sym typeface="+mn-ea"/>
              </a:rPr>
              <a:t>•</a:t>
            </a:r>
            <a:r>
              <a:rPr lang="en-US" altLang="zh-CN" sz="1800" b="1" dirty="0">
                <a:solidFill>
                  <a:srgbClr val="C00000"/>
                </a:solidFill>
                <a:latin typeface="+mn-ea"/>
              </a:rPr>
              <a:t>IF</a:t>
            </a:r>
            <a:r>
              <a:rPr lang="zh-CN" altLang="en-US" sz="1800" b="1" dirty="0">
                <a:latin typeface="+mn-ea"/>
              </a:rPr>
              <a:t>，</a:t>
            </a:r>
            <a:r>
              <a:rPr lang="en-US" altLang="zh-CN" sz="1800" b="1" dirty="0">
                <a:latin typeface="+mn-ea"/>
              </a:rPr>
              <a:t>ALU</a:t>
            </a:r>
            <a:r>
              <a:rPr lang="zh-CN" altLang="en-US" sz="1800" b="1" dirty="0">
                <a:latin typeface="+mn-ea"/>
              </a:rPr>
              <a:t>操作</a:t>
            </a:r>
            <a:r>
              <a:rPr lang="zh-CN" altLang="en-US" sz="1800" b="1" dirty="0">
                <a:latin typeface="+mn-ea"/>
                <a:sym typeface="+mn-ea"/>
              </a:rPr>
              <a:t>＝</a:t>
            </a:r>
            <a:r>
              <a:rPr lang="en-US" altLang="zh-CN" sz="1800" b="1" dirty="0">
                <a:solidFill>
                  <a:srgbClr val="FF3399"/>
                </a:solidFill>
                <a:latin typeface="+mn-ea"/>
                <a:sym typeface="+mn-ea"/>
              </a:rPr>
              <a:t>ADD</a:t>
            </a:r>
            <a:r>
              <a:rPr lang="zh-CN" altLang="en-US" sz="1800" b="1" dirty="0">
                <a:solidFill>
                  <a:srgbClr val="FF3399"/>
                </a:solidFill>
                <a:latin typeface="+mn-ea"/>
                <a:sym typeface="+mn-ea"/>
              </a:rPr>
              <a:t>指令</a:t>
            </a:r>
            <a:r>
              <a:rPr lang="en-US" altLang="zh-CN" sz="1800" b="1" dirty="0">
                <a:highlight>
                  <a:srgbClr val="00FF00"/>
                </a:highlight>
                <a:latin typeface="+mn-ea"/>
                <a:sym typeface="+mn-ea"/>
              </a:rPr>
              <a:t>•</a:t>
            </a:r>
            <a:r>
              <a:rPr lang="en-US" altLang="zh-CN" sz="1800" b="1" dirty="0">
                <a:solidFill>
                  <a:srgbClr val="C00000"/>
                </a:solidFill>
                <a:latin typeface="+mn-ea"/>
                <a:sym typeface="+mn-ea"/>
              </a:rPr>
              <a:t>EX</a:t>
            </a:r>
            <a:r>
              <a:rPr lang="zh-CN" altLang="en-US" sz="1800" b="1" dirty="0">
                <a:latin typeface="+mn-ea"/>
              </a:rPr>
              <a:t>，写</a:t>
            </a:r>
            <a:r>
              <a:rPr lang="en-US" altLang="zh-CN" sz="1800" b="1" dirty="0">
                <a:latin typeface="+mn-ea"/>
              </a:rPr>
              <a:t>REGs</a:t>
            </a:r>
            <a:r>
              <a:rPr lang="zh-CN" altLang="en-US" sz="1800" b="1" dirty="0">
                <a:latin typeface="+mn-ea"/>
                <a:sym typeface="+mn-ea"/>
              </a:rPr>
              <a:t>＝</a:t>
            </a:r>
            <a:r>
              <a:rPr lang="en-US" altLang="zh-CN" sz="1800" b="1" dirty="0">
                <a:latin typeface="+mn-ea"/>
                <a:sym typeface="+mn-ea"/>
              </a:rPr>
              <a:t>(</a:t>
            </a:r>
            <a:r>
              <a:rPr lang="en-US" altLang="zh-CN" sz="1800" b="1" dirty="0">
                <a:solidFill>
                  <a:srgbClr val="FF3399"/>
                </a:solidFill>
                <a:latin typeface="+mn-ea"/>
                <a:sym typeface="+mn-ea"/>
              </a:rPr>
              <a:t>ADD</a:t>
            </a:r>
            <a:r>
              <a:rPr lang="zh-CN" altLang="en-US" sz="1800" b="1" dirty="0">
                <a:solidFill>
                  <a:srgbClr val="FF3399"/>
                </a:solidFill>
                <a:latin typeface="+mn-ea"/>
                <a:sym typeface="+mn-ea"/>
              </a:rPr>
              <a:t>指令</a:t>
            </a:r>
            <a:r>
              <a:rPr lang="en-US" altLang="zh-CN" sz="1800" b="1" dirty="0">
                <a:latin typeface="+mn-ea"/>
                <a:sym typeface="+mn-ea"/>
              </a:rPr>
              <a:t>+</a:t>
            </a:r>
            <a:r>
              <a:rPr lang="en-US" altLang="zh-CN" sz="1800" b="1" dirty="0">
                <a:solidFill>
                  <a:srgbClr val="FF3399"/>
                </a:solidFill>
                <a:latin typeface="+mn-ea"/>
                <a:sym typeface="+mn-ea"/>
              </a:rPr>
              <a:t>SUB</a:t>
            </a:r>
            <a:r>
              <a:rPr lang="zh-CN" altLang="en-US" sz="1800" b="1" dirty="0">
                <a:solidFill>
                  <a:srgbClr val="FF3399"/>
                </a:solidFill>
                <a:latin typeface="+mn-ea"/>
                <a:sym typeface="+mn-ea"/>
              </a:rPr>
              <a:t>指令</a:t>
            </a:r>
            <a:r>
              <a:rPr lang="en-US" altLang="zh-CN" sz="1800" b="1" dirty="0">
                <a:latin typeface="+mn-ea"/>
                <a:sym typeface="+mn-ea"/>
              </a:rPr>
              <a:t>)</a:t>
            </a:r>
            <a:r>
              <a:rPr lang="en-US" altLang="zh-CN" sz="1800" b="1" dirty="0">
                <a:highlight>
                  <a:srgbClr val="00FF00"/>
                </a:highlight>
                <a:latin typeface="+mn-ea"/>
                <a:sym typeface="+mn-ea"/>
              </a:rPr>
              <a:t>•</a:t>
            </a:r>
            <a:r>
              <a:rPr lang="en-US" altLang="zh-CN" sz="1800" b="1" dirty="0">
                <a:solidFill>
                  <a:srgbClr val="C00000"/>
                </a:solidFill>
                <a:latin typeface="+mn-ea"/>
                <a:sym typeface="+mn-ea"/>
              </a:rPr>
              <a:t>WB</a:t>
            </a:r>
            <a:endParaRPr lang="en-US" altLang="zh-CN" sz="1800" b="1" baseline="-18000" dirty="0">
              <a:solidFill>
                <a:srgbClr val="C00000"/>
              </a:solidFill>
              <a:latin typeface="+mn-ea"/>
              <a:sym typeface="+mn-ea"/>
            </a:endParaRPr>
          </a:p>
        </p:txBody>
      </p:sp>
      <p:sp>
        <p:nvSpPr>
          <p:cNvPr id="257" name="Text Box 4">
            <a:extLst>
              <a:ext uri="{FF2B5EF4-FFF2-40B4-BE49-F238E27FC236}">
                <a16:creationId xmlns:a16="http://schemas.microsoft.com/office/drawing/2014/main" id="{E8E6FC9E-4958-45BD-AEE7-DB5FF8925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9" y="3010822"/>
            <a:ext cx="7271096" cy="20806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(4)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输入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输出设备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*功能：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2200" b="1" dirty="0">
                <a:latin typeface="宋体" panose="02010600030101010101" pitchFamily="2" charset="-122"/>
              </a:rPr>
              <a:t>信息的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、格式转换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设备类型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键盘、鼠标、显示器、打印机、磁盘等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组成：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600" dirty="0">
                <a:latin typeface="宋体" panose="02010600030101010101" pitchFamily="2" charset="-122"/>
              </a:rPr>
              <a:t>              </a:t>
            </a:r>
            <a:r>
              <a:rPr lang="zh-CN" altLang="en-US" sz="1800" dirty="0">
                <a:latin typeface="宋体" panose="02010600030101010101" pitchFamily="2" charset="-122"/>
              </a:rPr>
              <a:t>│       │</a:t>
            </a: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58" name="Text Box 63">
            <a:extLst>
              <a:ext uri="{FF2B5EF4-FFF2-40B4-BE49-F238E27FC236}">
                <a16:creationId xmlns:a16="http://schemas.microsoft.com/office/drawing/2014/main" id="{02B983BA-CA1E-46E2-8E2B-28243B76A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4306966"/>
            <a:ext cx="7280275" cy="135428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部件＋</a:t>
            </a:r>
            <a:r>
              <a:rPr lang="en-US" altLang="zh-CN" sz="2200" b="1" dirty="0">
                <a:latin typeface="宋体" panose="02010600030101010101" pitchFamily="2" charset="-122"/>
              </a:rPr>
              <a:t>[</a:t>
            </a:r>
            <a:r>
              <a:rPr lang="zh-CN" altLang="en-US" sz="2200" b="1" dirty="0">
                <a:latin typeface="宋体" panose="02010600030101010101" pitchFamily="2" charset="-122"/>
              </a:rPr>
              <a:t>驱动器＋</a:t>
            </a:r>
            <a:r>
              <a:rPr lang="en-US" altLang="zh-CN" sz="2200" b="1" dirty="0">
                <a:latin typeface="宋体" panose="02010600030101010101" pitchFamily="2" charset="-122"/>
              </a:rPr>
              <a:t>]</a:t>
            </a:r>
            <a:r>
              <a:rPr lang="zh-CN" altLang="en-US" sz="2200" b="1" dirty="0">
                <a:latin typeface="宋体" panose="02010600030101010101" pitchFamily="2" charset="-122"/>
              </a:rPr>
              <a:t>设备控制器</a:t>
            </a:r>
            <a:r>
              <a:rPr lang="en-US" altLang="zh-CN" sz="2200" b="1" dirty="0">
                <a:latin typeface="宋体" panose="02010600030101010101" pitchFamily="2" charset="-122"/>
              </a:rPr>
              <a:t>     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[]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表示可缺省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           </a:t>
            </a:r>
            <a:r>
              <a:rPr lang="zh-CN" altLang="en-US" sz="1800" dirty="0">
                <a:latin typeface="宋体" panose="02010600030101010101" pitchFamily="2" charset="-122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</a:rPr>
              <a:t>         </a:t>
            </a:r>
            <a:r>
              <a:rPr lang="en-US" altLang="zh-CN" sz="1800" b="1" dirty="0">
                <a:latin typeface="宋体" panose="02010600030101010101" pitchFamily="2" charset="-122"/>
              </a:rPr>
              <a:t>  </a:t>
            </a:r>
            <a:r>
              <a:rPr lang="zh-CN" altLang="en-US" sz="1800" dirty="0">
                <a:latin typeface="宋体" panose="02010600030101010101" pitchFamily="2" charset="-122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</a:rPr>
              <a:t>←提供外部接口，实现操作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传送控制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   </a:t>
            </a:r>
            <a:r>
              <a:rPr lang="zh-CN" altLang="en-US" sz="1800" dirty="0">
                <a:latin typeface="宋体" panose="02010600030101010101" pitchFamily="2" charset="-122"/>
              </a:rPr>
              <a:t>│</a:t>
            </a:r>
            <a:r>
              <a:rPr lang="zh-CN" altLang="en-US" sz="1800" b="1" dirty="0">
                <a:latin typeface="宋体" panose="02010600030101010101" pitchFamily="2" charset="-122"/>
              </a:rPr>
              <a:t>       </a:t>
            </a:r>
            <a:r>
              <a:rPr lang="zh-CN" altLang="en-US" sz="1800" dirty="0">
                <a:latin typeface="宋体" panose="02010600030101010101" pitchFamily="2" charset="-122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</a:rPr>
              <a:t>←协调部件工作</a:t>
            </a:r>
            <a:r>
              <a:rPr lang="zh-CN" altLang="en-US" sz="1600" b="1" dirty="0">
                <a:latin typeface="宋体" panose="02010600030101010101" pitchFamily="2" charset="-122"/>
              </a:rPr>
              <a:t>的电路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传感器＋控制电路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   </a:t>
            </a:r>
            <a:r>
              <a:rPr lang="zh-CN" altLang="en-US" sz="1800" dirty="0">
                <a:latin typeface="宋体" panose="02010600030101010101" pitchFamily="2" charset="-122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</a:rPr>
              <a:t>←机、光、电、磁等部件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grpSp>
        <p:nvGrpSpPr>
          <p:cNvPr id="374" name="组合 373">
            <a:extLst>
              <a:ext uri="{FF2B5EF4-FFF2-40B4-BE49-F238E27FC236}">
                <a16:creationId xmlns:a16="http://schemas.microsoft.com/office/drawing/2014/main" id="{CAB4F977-5408-4C57-8417-CD2B1C758BC8}"/>
              </a:ext>
            </a:extLst>
          </p:cNvPr>
          <p:cNvGrpSpPr/>
          <p:nvPr/>
        </p:nvGrpSpPr>
        <p:grpSpPr>
          <a:xfrm>
            <a:off x="5436008" y="404664"/>
            <a:ext cx="3527551" cy="1332000"/>
            <a:chOff x="5436008" y="396000"/>
            <a:chExt cx="3527551" cy="1332000"/>
          </a:xfrm>
        </p:grpSpPr>
        <p:sp>
          <p:nvSpPr>
            <p:cNvPr id="375" name="Text Box 225">
              <a:extLst>
                <a:ext uri="{FF2B5EF4-FFF2-40B4-BE49-F238E27FC236}">
                  <a16:creationId xmlns:a16="http://schemas.microsoft.com/office/drawing/2014/main" id="{DAC56973-9274-4DA2-8885-065B1BB8EB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2745" y="612000"/>
              <a:ext cx="900000" cy="90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  取指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IF</a:t>
              </a:r>
            </a:p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  分析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</a:p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  执行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EX</a:t>
              </a:r>
            </a:p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写结果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WB</a:t>
              </a:r>
              <a:endParaRPr lang="en-US" altLang="zh-CN" sz="1600" b="1" baseline="-14000" dirty="0">
                <a:latin typeface="宋体" panose="02010600030101010101" pitchFamily="2" charset="-122"/>
              </a:endParaRPr>
            </a:p>
          </p:txBody>
        </p:sp>
        <p:sp>
          <p:nvSpPr>
            <p:cNvPr id="376" name="Line 226">
              <a:extLst>
                <a:ext uri="{FF2B5EF4-FFF2-40B4-BE49-F238E27FC236}">
                  <a16:creationId xmlns:a16="http://schemas.microsoft.com/office/drawing/2014/main" id="{EA435EB3-ADB8-4D3E-B717-D39684E700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48890" y="433263"/>
              <a:ext cx="0" cy="1080000"/>
            </a:xfrm>
            <a:prstGeom prst="line">
              <a:avLst/>
            </a:prstGeom>
            <a:noFill/>
            <a:ln w="9525" cmpd="sng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7" name="Line 227">
              <a:extLst>
                <a:ext uri="{FF2B5EF4-FFF2-40B4-BE49-F238E27FC236}">
                  <a16:creationId xmlns:a16="http://schemas.microsoft.com/office/drawing/2014/main" id="{799666E3-C3F4-48BB-A565-361D1842BA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02745" y="432000"/>
              <a:ext cx="0" cy="1080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8" name="Line 228">
              <a:extLst>
                <a:ext uri="{FF2B5EF4-FFF2-40B4-BE49-F238E27FC236}">
                  <a16:creationId xmlns:a16="http://schemas.microsoft.com/office/drawing/2014/main" id="{00965289-88F4-43D1-921B-6F3C7827A4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54745" y="432232"/>
              <a:ext cx="224" cy="108000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" name="Text Box 229">
              <a:extLst>
                <a:ext uri="{FF2B5EF4-FFF2-40B4-BE49-F238E27FC236}">
                  <a16:creationId xmlns:a16="http://schemas.microsoft.com/office/drawing/2014/main" id="{6AE70F4A-0498-4B27-9971-02D543BC06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8745" y="396000"/>
              <a:ext cx="93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ADD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指令</a:t>
              </a:r>
            </a:p>
          </p:txBody>
        </p:sp>
        <p:sp>
          <p:nvSpPr>
            <p:cNvPr id="380" name="Line 230">
              <a:extLst>
                <a:ext uri="{FF2B5EF4-FFF2-40B4-BE49-F238E27FC236}">
                  <a16:creationId xmlns:a16="http://schemas.microsoft.com/office/drawing/2014/main" id="{E6BD8F93-8560-4141-8176-20B7F89417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49929" y="503222"/>
              <a:ext cx="144000" cy="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" name="Line 231">
              <a:extLst>
                <a:ext uri="{FF2B5EF4-FFF2-40B4-BE49-F238E27FC236}">
                  <a16:creationId xmlns:a16="http://schemas.microsoft.com/office/drawing/2014/main" id="{603A172F-5D8C-4A96-9C98-8DE42B6143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58745" y="503222"/>
              <a:ext cx="144000" cy="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2" name="Line 252">
              <a:extLst>
                <a:ext uri="{FF2B5EF4-FFF2-40B4-BE49-F238E27FC236}">
                  <a16:creationId xmlns:a16="http://schemas.microsoft.com/office/drawing/2014/main" id="{D0B3E8E5-9422-4588-80AB-55E3CA08B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2745" y="1008000"/>
              <a:ext cx="396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3" name="Line 253">
              <a:extLst>
                <a:ext uri="{FF2B5EF4-FFF2-40B4-BE49-F238E27FC236}">
                  <a16:creationId xmlns:a16="http://schemas.microsoft.com/office/drawing/2014/main" id="{118C8E49-8696-4806-BF50-14D5BCE000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2745" y="792000"/>
              <a:ext cx="10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4" name="Line 255">
              <a:extLst>
                <a:ext uri="{FF2B5EF4-FFF2-40B4-BE49-F238E27FC236}">
                  <a16:creationId xmlns:a16="http://schemas.microsoft.com/office/drawing/2014/main" id="{FBB7A162-427A-406C-8A48-EF8095D0FB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38745" y="792000"/>
              <a:ext cx="86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" name="Line 259">
              <a:extLst>
                <a:ext uri="{FF2B5EF4-FFF2-40B4-BE49-F238E27FC236}">
                  <a16:creationId xmlns:a16="http://schemas.microsoft.com/office/drawing/2014/main" id="{9BD916BC-F5E7-441F-81EB-C435EE6461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26745" y="1008000"/>
              <a:ext cx="86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" name="Text Box 305">
              <a:extLst>
                <a:ext uri="{FF2B5EF4-FFF2-40B4-BE49-F238E27FC236}">
                  <a16:creationId xmlns:a16="http://schemas.microsoft.com/office/drawing/2014/main" id="{67AF12A1-DBAF-4754-8837-8B5907EB4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6008" y="1512000"/>
              <a:ext cx="100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时钟信号</a:t>
              </a:r>
            </a:p>
          </p:txBody>
        </p:sp>
        <p:sp>
          <p:nvSpPr>
            <p:cNvPr id="387" name="Line 255">
              <a:extLst>
                <a:ext uri="{FF2B5EF4-FFF2-40B4-BE49-F238E27FC236}">
                  <a16:creationId xmlns:a16="http://schemas.microsoft.com/office/drawing/2014/main" id="{E247F6AA-B182-41FD-9E66-B570D2B9C4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90745" y="792000"/>
              <a:ext cx="97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" name="Line 230">
              <a:extLst>
                <a:ext uri="{FF2B5EF4-FFF2-40B4-BE49-F238E27FC236}">
                  <a16:creationId xmlns:a16="http://schemas.microsoft.com/office/drawing/2014/main" id="{C58644D1-B297-4911-A290-C8D9682827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54745" y="503222"/>
              <a:ext cx="108000" cy="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" name="Line 254">
              <a:extLst>
                <a:ext uri="{FF2B5EF4-FFF2-40B4-BE49-F238E27FC236}">
                  <a16:creationId xmlns:a16="http://schemas.microsoft.com/office/drawing/2014/main" id="{5C158A34-6C83-4FC9-BED1-B3F6260C5B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49931" y="648701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" name="Line 256">
              <a:extLst>
                <a:ext uri="{FF2B5EF4-FFF2-40B4-BE49-F238E27FC236}">
                  <a16:creationId xmlns:a16="http://schemas.microsoft.com/office/drawing/2014/main" id="{50EEF582-265F-4B0F-BF2C-2BB0D14FA2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38745" y="648701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1" name="Line 257">
              <a:extLst>
                <a:ext uri="{FF2B5EF4-FFF2-40B4-BE49-F238E27FC236}">
                  <a16:creationId xmlns:a16="http://schemas.microsoft.com/office/drawing/2014/main" id="{653BB482-5AB9-4A76-90D4-D645885F7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49931" y="648701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" name="Line 254">
              <a:extLst>
                <a:ext uri="{FF2B5EF4-FFF2-40B4-BE49-F238E27FC236}">
                  <a16:creationId xmlns:a16="http://schemas.microsoft.com/office/drawing/2014/main" id="{E243EC87-A591-41F6-B68D-A26D82A8DE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38745" y="864000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3" name="Line 256">
              <a:extLst>
                <a:ext uri="{FF2B5EF4-FFF2-40B4-BE49-F238E27FC236}">
                  <a16:creationId xmlns:a16="http://schemas.microsoft.com/office/drawing/2014/main" id="{117E0DCC-F78C-49F6-B987-7A041651D6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127559" y="864000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4" name="Line 257">
              <a:extLst>
                <a:ext uri="{FF2B5EF4-FFF2-40B4-BE49-F238E27FC236}">
                  <a16:creationId xmlns:a16="http://schemas.microsoft.com/office/drawing/2014/main" id="{010CBAC1-84C1-4BE9-8A87-1CA0C8D5F5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8745" y="864000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5" name="Line 254">
              <a:extLst>
                <a:ext uri="{FF2B5EF4-FFF2-40B4-BE49-F238E27FC236}">
                  <a16:creationId xmlns:a16="http://schemas.microsoft.com/office/drawing/2014/main" id="{73EE2860-896C-4903-B59F-2A8D867609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702745" y="648000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" name="Line 256">
              <a:extLst>
                <a:ext uri="{FF2B5EF4-FFF2-40B4-BE49-F238E27FC236}">
                  <a16:creationId xmlns:a16="http://schemas.microsoft.com/office/drawing/2014/main" id="{CB240E9C-3BD2-4FDA-8BF7-AA180AAF2A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991559" y="648000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7" name="Line 257">
              <a:extLst>
                <a:ext uri="{FF2B5EF4-FFF2-40B4-BE49-F238E27FC236}">
                  <a16:creationId xmlns:a16="http://schemas.microsoft.com/office/drawing/2014/main" id="{5461C99F-4FB3-41E3-A983-C7C02C90C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02745" y="648000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8" name="Line 254">
              <a:extLst>
                <a:ext uri="{FF2B5EF4-FFF2-40B4-BE49-F238E27FC236}">
                  <a16:creationId xmlns:a16="http://schemas.microsoft.com/office/drawing/2014/main" id="{D3657AC6-3E78-4866-AA9F-70658979CA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991559" y="864000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" name="Line 256">
              <a:extLst>
                <a:ext uri="{FF2B5EF4-FFF2-40B4-BE49-F238E27FC236}">
                  <a16:creationId xmlns:a16="http://schemas.microsoft.com/office/drawing/2014/main" id="{78AFDF3A-7338-47CE-B9B8-ADF39A6B23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280373" y="864000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" name="Line 257">
              <a:extLst>
                <a:ext uri="{FF2B5EF4-FFF2-40B4-BE49-F238E27FC236}">
                  <a16:creationId xmlns:a16="http://schemas.microsoft.com/office/drawing/2014/main" id="{58E693FB-FF0E-4178-9732-16F124D54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1559" y="864000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1" name="Line 259">
              <a:extLst>
                <a:ext uri="{FF2B5EF4-FFF2-40B4-BE49-F238E27FC236}">
                  <a16:creationId xmlns:a16="http://schemas.microsoft.com/office/drawing/2014/main" id="{5F5A08B4-A257-4E32-A546-0F96EA8796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79153" y="1008000"/>
              <a:ext cx="68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2" name="Line 254">
              <a:extLst>
                <a:ext uri="{FF2B5EF4-FFF2-40B4-BE49-F238E27FC236}">
                  <a16:creationId xmlns:a16="http://schemas.microsoft.com/office/drawing/2014/main" id="{187E0FBD-6683-44CE-A209-1EFA8DF262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126745" y="1080701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3" name="Line 256">
              <a:extLst>
                <a:ext uri="{FF2B5EF4-FFF2-40B4-BE49-F238E27FC236}">
                  <a16:creationId xmlns:a16="http://schemas.microsoft.com/office/drawing/2014/main" id="{9163FBCB-968D-468A-BC08-2DA96665D8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415559" y="1080701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4" name="Line 257">
              <a:extLst>
                <a:ext uri="{FF2B5EF4-FFF2-40B4-BE49-F238E27FC236}">
                  <a16:creationId xmlns:a16="http://schemas.microsoft.com/office/drawing/2014/main" id="{E2BFB28B-7DD2-4F84-A1CC-2C9519846E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6745" y="1080701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5" name="Line 254">
              <a:extLst>
                <a:ext uri="{FF2B5EF4-FFF2-40B4-BE49-F238E27FC236}">
                  <a16:creationId xmlns:a16="http://schemas.microsoft.com/office/drawing/2014/main" id="{57861D13-EE20-4DBD-AE36-2CED46BC4C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279559" y="1080000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6" name="Line 256">
              <a:extLst>
                <a:ext uri="{FF2B5EF4-FFF2-40B4-BE49-F238E27FC236}">
                  <a16:creationId xmlns:a16="http://schemas.microsoft.com/office/drawing/2014/main" id="{CF69523B-8541-4F67-A96D-F2E2BC3367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68373" y="1080000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7" name="Line 257">
              <a:extLst>
                <a:ext uri="{FF2B5EF4-FFF2-40B4-BE49-F238E27FC236}">
                  <a16:creationId xmlns:a16="http://schemas.microsoft.com/office/drawing/2014/main" id="{22E2DA89-8222-4234-8C41-1EA817E2AD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79559" y="1080000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8" name="Line 251">
              <a:extLst>
                <a:ext uri="{FF2B5EF4-FFF2-40B4-BE49-F238E27FC236}">
                  <a16:creationId xmlns:a16="http://schemas.microsoft.com/office/drawing/2014/main" id="{2840570F-57FD-44E5-9355-B19F5E9DEE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2745" y="1224000"/>
              <a:ext cx="68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" name="Line 259">
              <a:extLst>
                <a:ext uri="{FF2B5EF4-FFF2-40B4-BE49-F238E27FC236}">
                  <a16:creationId xmlns:a16="http://schemas.microsoft.com/office/drawing/2014/main" id="{654276DD-B84D-4360-8624-9470108BB7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14745" y="1224000"/>
              <a:ext cx="86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" name="Line 254">
              <a:extLst>
                <a:ext uri="{FF2B5EF4-FFF2-40B4-BE49-F238E27FC236}">
                  <a16:creationId xmlns:a16="http://schemas.microsoft.com/office/drawing/2014/main" id="{F8B6CBD4-4AF3-4F07-92F0-2D02121E13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414745" y="1296319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" name="Line 256">
              <a:extLst>
                <a:ext uri="{FF2B5EF4-FFF2-40B4-BE49-F238E27FC236}">
                  <a16:creationId xmlns:a16="http://schemas.microsoft.com/office/drawing/2014/main" id="{2FF2B4F5-E667-409F-9392-17A288BA4A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703559" y="1296319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" name="Line 257">
              <a:extLst>
                <a:ext uri="{FF2B5EF4-FFF2-40B4-BE49-F238E27FC236}">
                  <a16:creationId xmlns:a16="http://schemas.microsoft.com/office/drawing/2014/main" id="{EE8014B8-C0BD-4C6F-ADAB-1C8DE68A7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14745" y="1296319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" name="Line 254">
              <a:extLst>
                <a:ext uri="{FF2B5EF4-FFF2-40B4-BE49-F238E27FC236}">
                  <a16:creationId xmlns:a16="http://schemas.microsoft.com/office/drawing/2014/main" id="{AA4D5601-10BB-4BE2-B1DC-249B8ABFC3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67559" y="1295618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" name="Line 256">
              <a:extLst>
                <a:ext uri="{FF2B5EF4-FFF2-40B4-BE49-F238E27FC236}">
                  <a16:creationId xmlns:a16="http://schemas.microsoft.com/office/drawing/2014/main" id="{EE1BB2E4-7272-4410-B85D-938F7848C2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856373" y="1295618"/>
              <a:ext cx="0" cy="144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5" name="Line 257">
              <a:extLst>
                <a:ext uri="{FF2B5EF4-FFF2-40B4-BE49-F238E27FC236}">
                  <a16:creationId xmlns:a16="http://schemas.microsoft.com/office/drawing/2014/main" id="{5820DA00-3EFE-4185-9BD4-855288480D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7559" y="1295618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6" name="Line 259">
              <a:extLst>
                <a:ext uri="{FF2B5EF4-FFF2-40B4-BE49-F238E27FC236}">
                  <a16:creationId xmlns:a16="http://schemas.microsoft.com/office/drawing/2014/main" id="{11AB14FB-B61C-4C41-B32B-EFA11097F1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67153" y="1232514"/>
              <a:ext cx="396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7" name="Line 240">
              <a:extLst>
                <a:ext uri="{FF2B5EF4-FFF2-40B4-BE49-F238E27FC236}">
                  <a16:creationId xmlns:a16="http://schemas.microsoft.com/office/drawing/2014/main" id="{8BDB3566-44EE-4F6F-A52C-A53E9819C6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42745" y="1440000"/>
              <a:ext cx="97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8" name="Line 282">
              <a:extLst>
                <a:ext uri="{FF2B5EF4-FFF2-40B4-BE49-F238E27FC236}">
                  <a16:creationId xmlns:a16="http://schemas.microsoft.com/office/drawing/2014/main" id="{253A48B8-F225-47B4-A25A-0A7F6E1B48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42745" y="1701238"/>
              <a:ext cx="108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" name="Line 259">
              <a:extLst>
                <a:ext uri="{FF2B5EF4-FFF2-40B4-BE49-F238E27FC236}">
                  <a16:creationId xmlns:a16="http://schemas.microsoft.com/office/drawing/2014/main" id="{8B7BF548-608C-416D-B094-55E6BFF5D0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02745" y="1440000"/>
              <a:ext cx="864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" name="Line 255">
              <a:extLst>
                <a:ext uri="{FF2B5EF4-FFF2-40B4-BE49-F238E27FC236}">
                  <a16:creationId xmlns:a16="http://schemas.microsoft.com/office/drawing/2014/main" id="{E4B48F38-0EDA-426B-B5F7-A2895A1314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55559" y="1440000"/>
              <a:ext cx="10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1" name="Line 232">
              <a:extLst>
                <a:ext uri="{FF2B5EF4-FFF2-40B4-BE49-F238E27FC236}">
                  <a16:creationId xmlns:a16="http://schemas.microsoft.com/office/drawing/2014/main" id="{47636B7C-0DCA-4527-B400-0E40F3D72B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51396" y="1521238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2" name="Line 233">
              <a:extLst>
                <a:ext uri="{FF2B5EF4-FFF2-40B4-BE49-F238E27FC236}">
                  <a16:creationId xmlns:a16="http://schemas.microsoft.com/office/drawing/2014/main" id="{A748A788-6CF4-4BC5-8BCD-3C00FF239F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94745" y="1521238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3" name="Line 234">
              <a:extLst>
                <a:ext uri="{FF2B5EF4-FFF2-40B4-BE49-F238E27FC236}">
                  <a16:creationId xmlns:a16="http://schemas.microsoft.com/office/drawing/2014/main" id="{B0606DA2-240A-4BBE-BA88-1A769D8CC6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51396" y="1521238"/>
              <a:ext cx="144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4" name="Line 262">
              <a:extLst>
                <a:ext uri="{FF2B5EF4-FFF2-40B4-BE49-F238E27FC236}">
                  <a16:creationId xmlns:a16="http://schemas.microsoft.com/office/drawing/2014/main" id="{178E546E-3938-424C-9499-FD11993F79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94745" y="1701238"/>
              <a:ext cx="144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" name="Line 232">
              <a:extLst>
                <a:ext uri="{FF2B5EF4-FFF2-40B4-BE49-F238E27FC236}">
                  <a16:creationId xmlns:a16="http://schemas.microsoft.com/office/drawing/2014/main" id="{BD241B63-7E4C-4808-B8CB-81C3DFF325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38745" y="1521238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6" name="Line 233">
              <a:extLst>
                <a:ext uri="{FF2B5EF4-FFF2-40B4-BE49-F238E27FC236}">
                  <a16:creationId xmlns:a16="http://schemas.microsoft.com/office/drawing/2014/main" id="{103D468A-8F5E-4493-978C-CC3EEDE6E5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82094" y="1521238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7" name="Line 234">
              <a:extLst>
                <a:ext uri="{FF2B5EF4-FFF2-40B4-BE49-F238E27FC236}">
                  <a16:creationId xmlns:a16="http://schemas.microsoft.com/office/drawing/2014/main" id="{4BD8FA77-7984-49B0-9223-53A29D5A8C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38745" y="1521238"/>
              <a:ext cx="144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8" name="Line 262">
              <a:extLst>
                <a:ext uri="{FF2B5EF4-FFF2-40B4-BE49-F238E27FC236}">
                  <a16:creationId xmlns:a16="http://schemas.microsoft.com/office/drawing/2014/main" id="{32DE4A71-99A9-468E-901B-D29C44BBD3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82094" y="1701238"/>
              <a:ext cx="144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9" name="Line 232">
              <a:extLst>
                <a:ext uri="{FF2B5EF4-FFF2-40B4-BE49-F238E27FC236}">
                  <a16:creationId xmlns:a16="http://schemas.microsoft.com/office/drawing/2014/main" id="{83A60BB8-1480-4C8C-9D5A-0F1BCF2D45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126745" y="1521238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" name="Line 233">
              <a:extLst>
                <a:ext uri="{FF2B5EF4-FFF2-40B4-BE49-F238E27FC236}">
                  <a16:creationId xmlns:a16="http://schemas.microsoft.com/office/drawing/2014/main" id="{CDCB28AC-14F3-407D-AC88-65E2F8D553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0094" y="1521238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1" name="Line 234">
              <a:extLst>
                <a:ext uri="{FF2B5EF4-FFF2-40B4-BE49-F238E27FC236}">
                  <a16:creationId xmlns:a16="http://schemas.microsoft.com/office/drawing/2014/main" id="{D476BF76-638E-4971-B41E-F96358D139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26745" y="1521238"/>
              <a:ext cx="144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2" name="Line 262">
              <a:extLst>
                <a:ext uri="{FF2B5EF4-FFF2-40B4-BE49-F238E27FC236}">
                  <a16:creationId xmlns:a16="http://schemas.microsoft.com/office/drawing/2014/main" id="{4B5B3283-4E97-4FE3-8321-155918FF4B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0094" y="1701238"/>
              <a:ext cx="144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3" name="Line 232">
              <a:extLst>
                <a:ext uri="{FF2B5EF4-FFF2-40B4-BE49-F238E27FC236}">
                  <a16:creationId xmlns:a16="http://schemas.microsoft.com/office/drawing/2014/main" id="{D34E52AE-F341-49D9-A7EB-FEBD9704A6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414094" y="1521238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4" name="Line 233">
              <a:extLst>
                <a:ext uri="{FF2B5EF4-FFF2-40B4-BE49-F238E27FC236}">
                  <a16:creationId xmlns:a16="http://schemas.microsoft.com/office/drawing/2014/main" id="{BB173C0A-5D8D-41AD-8736-19BECDF33F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57443" y="1521238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5" name="Line 234">
              <a:extLst>
                <a:ext uri="{FF2B5EF4-FFF2-40B4-BE49-F238E27FC236}">
                  <a16:creationId xmlns:a16="http://schemas.microsoft.com/office/drawing/2014/main" id="{34B33521-6E6C-42BE-BB12-2B156C649E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14094" y="1521238"/>
              <a:ext cx="144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6" name="Line 262">
              <a:extLst>
                <a:ext uri="{FF2B5EF4-FFF2-40B4-BE49-F238E27FC236}">
                  <a16:creationId xmlns:a16="http://schemas.microsoft.com/office/drawing/2014/main" id="{DA9B2B8C-546D-4D29-80C9-4A864000D3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57443" y="1701238"/>
              <a:ext cx="144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7" name="Line 232">
              <a:extLst>
                <a:ext uri="{FF2B5EF4-FFF2-40B4-BE49-F238E27FC236}">
                  <a16:creationId xmlns:a16="http://schemas.microsoft.com/office/drawing/2014/main" id="{76EF89B0-2613-4842-805C-C0BEAECE96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702745" y="1521238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8" name="Line 233">
              <a:extLst>
                <a:ext uri="{FF2B5EF4-FFF2-40B4-BE49-F238E27FC236}">
                  <a16:creationId xmlns:a16="http://schemas.microsoft.com/office/drawing/2014/main" id="{29D0FCAF-0FAF-4CD1-8073-850077A40A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46094" y="1521238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9" name="Line 234">
              <a:extLst>
                <a:ext uri="{FF2B5EF4-FFF2-40B4-BE49-F238E27FC236}">
                  <a16:creationId xmlns:a16="http://schemas.microsoft.com/office/drawing/2014/main" id="{04BAA274-3AB3-460C-B5C1-FCADB7A210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02745" y="1521238"/>
              <a:ext cx="144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" name="Line 262">
              <a:extLst>
                <a:ext uri="{FF2B5EF4-FFF2-40B4-BE49-F238E27FC236}">
                  <a16:creationId xmlns:a16="http://schemas.microsoft.com/office/drawing/2014/main" id="{4BA89086-D937-4366-B608-4B54C133E9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46094" y="1701238"/>
              <a:ext cx="144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" name="Line 232">
              <a:extLst>
                <a:ext uri="{FF2B5EF4-FFF2-40B4-BE49-F238E27FC236}">
                  <a16:creationId xmlns:a16="http://schemas.microsoft.com/office/drawing/2014/main" id="{E83F8221-CE60-4172-BF2E-0D6FDD5A07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990094" y="1521238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2" name="Line 233">
              <a:extLst>
                <a:ext uri="{FF2B5EF4-FFF2-40B4-BE49-F238E27FC236}">
                  <a16:creationId xmlns:a16="http://schemas.microsoft.com/office/drawing/2014/main" id="{AA7F1D01-8B6F-489A-9DF5-A98CDBC08A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33443" y="1521238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3" name="Line 234">
              <a:extLst>
                <a:ext uri="{FF2B5EF4-FFF2-40B4-BE49-F238E27FC236}">
                  <a16:creationId xmlns:a16="http://schemas.microsoft.com/office/drawing/2014/main" id="{C5EB48E6-5A48-40FF-982D-5E8FE64FEA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90094" y="1521238"/>
              <a:ext cx="144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4" name="Line 262">
              <a:extLst>
                <a:ext uri="{FF2B5EF4-FFF2-40B4-BE49-F238E27FC236}">
                  <a16:creationId xmlns:a16="http://schemas.microsoft.com/office/drawing/2014/main" id="{4126BB26-F153-45C6-A47C-37B37F2D50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33443" y="1701238"/>
              <a:ext cx="144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5" name="Line 232">
              <a:extLst>
                <a:ext uri="{FF2B5EF4-FFF2-40B4-BE49-F238E27FC236}">
                  <a16:creationId xmlns:a16="http://schemas.microsoft.com/office/drawing/2014/main" id="{C271F075-3EB1-45CF-ABF0-6A15C3534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278745" y="1521238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6" name="Line 233">
              <a:extLst>
                <a:ext uri="{FF2B5EF4-FFF2-40B4-BE49-F238E27FC236}">
                  <a16:creationId xmlns:a16="http://schemas.microsoft.com/office/drawing/2014/main" id="{5ABF5BFE-E78E-4205-8ED3-EBB30B8343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22094" y="1521238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7" name="Line 234">
              <a:extLst>
                <a:ext uri="{FF2B5EF4-FFF2-40B4-BE49-F238E27FC236}">
                  <a16:creationId xmlns:a16="http://schemas.microsoft.com/office/drawing/2014/main" id="{75F7A0E0-B24D-4103-8F7A-7B3BD8A08C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78745" y="1521238"/>
              <a:ext cx="144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8" name="Line 262">
              <a:extLst>
                <a:ext uri="{FF2B5EF4-FFF2-40B4-BE49-F238E27FC236}">
                  <a16:creationId xmlns:a16="http://schemas.microsoft.com/office/drawing/2014/main" id="{9EAA4283-AB4E-4A40-AF30-909D030C34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22094" y="1701238"/>
              <a:ext cx="144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" name="Line 232">
              <a:extLst>
                <a:ext uri="{FF2B5EF4-FFF2-40B4-BE49-F238E27FC236}">
                  <a16:creationId xmlns:a16="http://schemas.microsoft.com/office/drawing/2014/main" id="{22CB4BE3-F4AF-4103-8113-BC44FEFF1B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66094" y="1521238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" name="Line 233">
              <a:extLst>
                <a:ext uri="{FF2B5EF4-FFF2-40B4-BE49-F238E27FC236}">
                  <a16:creationId xmlns:a16="http://schemas.microsoft.com/office/drawing/2014/main" id="{9DEF27F0-DC83-4F5C-BF33-212313AA5E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09443" y="1521238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" name="Line 234">
              <a:extLst>
                <a:ext uri="{FF2B5EF4-FFF2-40B4-BE49-F238E27FC236}">
                  <a16:creationId xmlns:a16="http://schemas.microsoft.com/office/drawing/2014/main" id="{43DF9FD5-96C0-4F9F-BBCE-C6B4463E7F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66094" y="1521238"/>
              <a:ext cx="144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" name="Line 262">
              <a:extLst>
                <a:ext uri="{FF2B5EF4-FFF2-40B4-BE49-F238E27FC236}">
                  <a16:creationId xmlns:a16="http://schemas.microsoft.com/office/drawing/2014/main" id="{C1B7DC5F-5DC9-4C73-93A0-19B22CA617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09443" y="1701238"/>
              <a:ext cx="144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" name="Line 232">
              <a:extLst>
                <a:ext uri="{FF2B5EF4-FFF2-40B4-BE49-F238E27FC236}">
                  <a16:creationId xmlns:a16="http://schemas.microsoft.com/office/drawing/2014/main" id="{B3108D8D-C399-4178-AC57-6783438AE6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854745" y="1521238"/>
              <a:ext cx="0" cy="180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" name="Line 234">
              <a:extLst>
                <a:ext uri="{FF2B5EF4-FFF2-40B4-BE49-F238E27FC236}">
                  <a16:creationId xmlns:a16="http://schemas.microsoft.com/office/drawing/2014/main" id="{1D8CD25E-922F-432E-B89B-011B03E239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54745" y="1521238"/>
              <a:ext cx="108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5" name="Text Box 229">
              <a:extLst>
                <a:ext uri="{FF2B5EF4-FFF2-40B4-BE49-F238E27FC236}">
                  <a16:creationId xmlns:a16="http://schemas.microsoft.com/office/drawing/2014/main" id="{A0485C9E-E99B-4E7D-B097-8A06C49D3E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1777" y="396000"/>
              <a:ext cx="936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SUB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指令</a:t>
              </a:r>
            </a:p>
          </p:txBody>
        </p:sp>
        <p:sp>
          <p:nvSpPr>
            <p:cNvPr id="456" name="Line 230">
              <a:extLst>
                <a:ext uri="{FF2B5EF4-FFF2-40B4-BE49-F238E27FC236}">
                  <a16:creationId xmlns:a16="http://schemas.microsoft.com/office/drawing/2014/main" id="{D8984BED-0E5C-4754-9A42-13FF758932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02961" y="504000"/>
              <a:ext cx="144000" cy="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7" name="Line 231">
              <a:extLst>
                <a:ext uri="{FF2B5EF4-FFF2-40B4-BE49-F238E27FC236}">
                  <a16:creationId xmlns:a16="http://schemas.microsoft.com/office/drawing/2014/main" id="{335EE42C-4A2F-43A8-9D40-ED07F1D3EF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1777" y="504000"/>
              <a:ext cx="144000" cy="0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8" name="组合 457">
            <a:extLst>
              <a:ext uri="{FF2B5EF4-FFF2-40B4-BE49-F238E27FC236}">
                <a16:creationId xmlns:a16="http://schemas.microsoft.com/office/drawing/2014/main" id="{8B96A5EC-6631-46F7-9669-9F0403E58633}"/>
              </a:ext>
            </a:extLst>
          </p:cNvPr>
          <p:cNvGrpSpPr/>
          <p:nvPr/>
        </p:nvGrpSpPr>
        <p:grpSpPr>
          <a:xfrm>
            <a:off x="5614745" y="1807288"/>
            <a:ext cx="3349743" cy="685608"/>
            <a:chOff x="5614745" y="2770392"/>
            <a:chExt cx="3349743" cy="685608"/>
          </a:xfrm>
        </p:grpSpPr>
        <p:sp>
          <p:nvSpPr>
            <p:cNvPr id="459" name="Line 226">
              <a:extLst>
                <a:ext uri="{FF2B5EF4-FFF2-40B4-BE49-F238E27FC236}">
                  <a16:creationId xmlns:a16="http://schemas.microsoft.com/office/drawing/2014/main" id="{EF6863F0-785C-4D28-B25D-74F913FD63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52008" y="2770392"/>
              <a:ext cx="0" cy="648000"/>
            </a:xfrm>
            <a:prstGeom prst="line">
              <a:avLst/>
            </a:prstGeom>
            <a:noFill/>
            <a:ln w="9525" cmpd="sng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0" name="Line 226">
              <a:extLst>
                <a:ext uri="{FF2B5EF4-FFF2-40B4-BE49-F238E27FC236}">
                  <a16:creationId xmlns:a16="http://schemas.microsoft.com/office/drawing/2014/main" id="{AE1453FE-F08F-4CBE-9050-11EBAF5935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04008" y="2770392"/>
              <a:ext cx="0" cy="648000"/>
            </a:xfrm>
            <a:prstGeom prst="line">
              <a:avLst/>
            </a:prstGeom>
            <a:noFill/>
            <a:ln w="9525" cmpd="sng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1" name="Line 226">
              <a:extLst>
                <a:ext uri="{FF2B5EF4-FFF2-40B4-BE49-F238E27FC236}">
                  <a16:creationId xmlns:a16="http://schemas.microsoft.com/office/drawing/2014/main" id="{64C10DBE-88F0-4B43-AE57-4718A72CCD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56008" y="2770392"/>
              <a:ext cx="0" cy="648000"/>
            </a:xfrm>
            <a:prstGeom prst="line">
              <a:avLst/>
            </a:prstGeom>
            <a:noFill/>
            <a:ln w="9525" cmpd="sng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2" name="Line 226">
              <a:extLst>
                <a:ext uri="{FF2B5EF4-FFF2-40B4-BE49-F238E27FC236}">
                  <a16:creationId xmlns:a16="http://schemas.microsoft.com/office/drawing/2014/main" id="{304D687F-CB21-4E64-9D74-81EB9A6A59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28008" y="2770392"/>
              <a:ext cx="0" cy="648000"/>
            </a:xfrm>
            <a:prstGeom prst="line">
              <a:avLst/>
            </a:prstGeom>
            <a:noFill/>
            <a:ln w="9525" cmpd="sng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3" name="Line 226">
              <a:extLst>
                <a:ext uri="{FF2B5EF4-FFF2-40B4-BE49-F238E27FC236}">
                  <a16:creationId xmlns:a16="http://schemas.microsoft.com/office/drawing/2014/main" id="{0838748B-8487-4E59-A51F-83E333A6A5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80008" y="2770392"/>
              <a:ext cx="0" cy="648000"/>
            </a:xfrm>
            <a:prstGeom prst="line">
              <a:avLst/>
            </a:prstGeom>
            <a:noFill/>
            <a:ln w="9525" cmpd="sng">
              <a:solidFill>
                <a:srgbClr val="0070C0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4" name="Line 237">
              <a:extLst>
                <a:ext uri="{FF2B5EF4-FFF2-40B4-BE49-F238E27FC236}">
                  <a16:creationId xmlns:a16="http://schemas.microsoft.com/office/drawing/2014/main" id="{CAA5F0DE-57ED-47F4-B271-9DA1EA331F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50745" y="2841372"/>
              <a:ext cx="0" cy="14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5" name="Line 239">
              <a:extLst>
                <a:ext uri="{FF2B5EF4-FFF2-40B4-BE49-F238E27FC236}">
                  <a16:creationId xmlns:a16="http://schemas.microsoft.com/office/drawing/2014/main" id="{6D7450C1-F2B0-4143-B019-15489986D5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0745" y="2841372"/>
              <a:ext cx="28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6" name="Line 237">
              <a:extLst>
                <a:ext uri="{FF2B5EF4-FFF2-40B4-BE49-F238E27FC236}">
                  <a16:creationId xmlns:a16="http://schemas.microsoft.com/office/drawing/2014/main" id="{F975EA99-3A47-4745-ADE8-6ABCF2322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38745" y="2843976"/>
              <a:ext cx="0" cy="14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7" name="Line 237">
              <a:extLst>
                <a:ext uri="{FF2B5EF4-FFF2-40B4-BE49-F238E27FC236}">
                  <a16:creationId xmlns:a16="http://schemas.microsoft.com/office/drawing/2014/main" id="{DC6872CD-3127-425B-9CB2-5CCC1C378B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702745" y="2841372"/>
              <a:ext cx="0" cy="14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8" name="Line 239">
              <a:extLst>
                <a:ext uri="{FF2B5EF4-FFF2-40B4-BE49-F238E27FC236}">
                  <a16:creationId xmlns:a16="http://schemas.microsoft.com/office/drawing/2014/main" id="{31741DDE-DBC5-4DA5-975E-39E5190C83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02745" y="2844000"/>
              <a:ext cx="28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9" name="Line 237">
              <a:extLst>
                <a:ext uri="{FF2B5EF4-FFF2-40B4-BE49-F238E27FC236}">
                  <a16:creationId xmlns:a16="http://schemas.microsoft.com/office/drawing/2014/main" id="{846A27ED-03A4-4994-976C-93885EABCB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990745" y="2843976"/>
              <a:ext cx="0" cy="14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0" name="Text Box 225">
              <a:extLst>
                <a:ext uri="{FF2B5EF4-FFF2-40B4-BE49-F238E27FC236}">
                  <a16:creationId xmlns:a16="http://schemas.microsoft.com/office/drawing/2014/main" id="{61957DDD-3838-442A-AD6E-6D9C7C250F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4745" y="2808000"/>
              <a:ext cx="792000" cy="64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r">
                <a:lnSpc>
                  <a:spcPct val="90000"/>
                </a:lnSpc>
                <a:spcBef>
                  <a:spcPts val="0"/>
                </a:spcBef>
              </a:pPr>
              <a:r>
                <a:rPr lang="zh-CN" altLang="en-US" sz="1600" b="1" dirty="0">
                  <a:latin typeface="宋体" panose="02010600030101010101" pitchFamily="2" charset="-122"/>
                </a:rPr>
                <a:t>写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</a:p>
            <a:p>
              <a:pPr algn="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ALU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操作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90000"/>
                </a:lnSpc>
                <a:spcBef>
                  <a:spcPts val="0"/>
                </a:spcBef>
              </a:pPr>
              <a:r>
                <a:rPr lang="zh-CN" altLang="en-US" sz="1600" b="1" dirty="0">
                  <a:latin typeface="宋体" panose="02010600030101010101" pitchFamily="2" charset="-122"/>
                </a:rPr>
                <a:t>写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REGs</a:t>
              </a:r>
            </a:p>
          </p:txBody>
        </p:sp>
        <p:sp>
          <p:nvSpPr>
            <p:cNvPr id="471" name="Text Box 479">
              <a:extLst>
                <a:ext uri="{FF2B5EF4-FFF2-40B4-BE49-F238E27FC236}">
                  <a16:creationId xmlns:a16="http://schemas.microsoft.com/office/drawing/2014/main" id="{BA9A6431-357F-4216-91D9-E064AB176A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14745" y="3060024"/>
              <a:ext cx="216000" cy="144000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-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472" name="Text Box 479">
              <a:extLst>
                <a:ext uri="{FF2B5EF4-FFF2-40B4-BE49-F238E27FC236}">
                  <a16:creationId xmlns:a16="http://schemas.microsoft.com/office/drawing/2014/main" id="{3B8FDD26-50F6-4D2F-90FB-271CE3F8DB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745" y="3060024"/>
              <a:ext cx="216000" cy="144000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+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473" name="Line 236">
              <a:extLst>
                <a:ext uri="{FF2B5EF4-FFF2-40B4-BE49-F238E27FC236}">
                  <a16:creationId xmlns:a16="http://schemas.microsoft.com/office/drawing/2014/main" id="{0E14EF3F-2277-4A7E-B136-AE19F64D53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38745" y="2988024"/>
              <a:ext cx="86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4" name="Line 240">
              <a:extLst>
                <a:ext uri="{FF2B5EF4-FFF2-40B4-BE49-F238E27FC236}">
                  <a16:creationId xmlns:a16="http://schemas.microsoft.com/office/drawing/2014/main" id="{37E309BB-120C-4A5C-B7F8-51E8D8F53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2745" y="2988024"/>
              <a:ext cx="1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5" name="Line 236">
              <a:extLst>
                <a:ext uri="{FF2B5EF4-FFF2-40B4-BE49-F238E27FC236}">
                  <a16:creationId xmlns:a16="http://schemas.microsoft.com/office/drawing/2014/main" id="{37E8D436-446B-4515-AB73-366EEA1C8A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0745" y="2988000"/>
              <a:ext cx="97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6" name="Line 237">
              <a:extLst>
                <a:ext uri="{FF2B5EF4-FFF2-40B4-BE49-F238E27FC236}">
                  <a16:creationId xmlns:a16="http://schemas.microsoft.com/office/drawing/2014/main" id="{948D6B45-1D17-490B-A70A-1D11021F6B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126897" y="3060056"/>
              <a:ext cx="0" cy="14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7" name="Line 239">
              <a:extLst>
                <a:ext uri="{FF2B5EF4-FFF2-40B4-BE49-F238E27FC236}">
                  <a16:creationId xmlns:a16="http://schemas.microsoft.com/office/drawing/2014/main" id="{ABA878B7-F34F-4210-BB42-B73E215DCF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6897" y="3060056"/>
              <a:ext cx="28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8" name="Line 237">
              <a:extLst>
                <a:ext uri="{FF2B5EF4-FFF2-40B4-BE49-F238E27FC236}">
                  <a16:creationId xmlns:a16="http://schemas.microsoft.com/office/drawing/2014/main" id="{F8F5AF69-5D29-4D67-8F59-ABEA148739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414897" y="3060056"/>
              <a:ext cx="0" cy="14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9" name="Line 236">
              <a:extLst>
                <a:ext uri="{FF2B5EF4-FFF2-40B4-BE49-F238E27FC236}">
                  <a16:creationId xmlns:a16="http://schemas.microsoft.com/office/drawing/2014/main" id="{4F17E76A-ECBD-47A4-927A-4067B8486A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14745" y="3204000"/>
              <a:ext cx="86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0" name="Line 240">
              <a:extLst>
                <a:ext uri="{FF2B5EF4-FFF2-40B4-BE49-F238E27FC236}">
                  <a16:creationId xmlns:a16="http://schemas.microsoft.com/office/drawing/2014/main" id="{9EFB7611-39A2-444A-871D-2E2C502F25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5002" y="3204032"/>
              <a:ext cx="72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" name="Line 239">
              <a:extLst>
                <a:ext uri="{FF2B5EF4-FFF2-40B4-BE49-F238E27FC236}">
                  <a16:creationId xmlns:a16="http://schemas.microsoft.com/office/drawing/2014/main" id="{68C8CE57-FE1E-436B-8F38-D05CA0C890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79025" y="3204000"/>
              <a:ext cx="28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" name="Line 239">
              <a:extLst>
                <a:ext uri="{FF2B5EF4-FFF2-40B4-BE49-F238E27FC236}">
                  <a16:creationId xmlns:a16="http://schemas.microsoft.com/office/drawing/2014/main" id="{AFC2A3A0-ABC8-4B5E-8933-94E15268D8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7057" y="3204000"/>
              <a:ext cx="39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" name="Line 236">
              <a:extLst>
                <a:ext uri="{FF2B5EF4-FFF2-40B4-BE49-F238E27FC236}">
                  <a16:creationId xmlns:a16="http://schemas.microsoft.com/office/drawing/2014/main" id="{85B461C6-B2A3-4141-9355-06486344FB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04488" y="3420000"/>
              <a:ext cx="86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4" name="Line 237">
              <a:extLst>
                <a:ext uri="{FF2B5EF4-FFF2-40B4-BE49-F238E27FC236}">
                  <a16:creationId xmlns:a16="http://schemas.microsoft.com/office/drawing/2014/main" id="{83ECA10D-78D6-4223-9552-CCA19E6317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416488" y="3276032"/>
              <a:ext cx="0" cy="14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5" name="Line 239">
              <a:extLst>
                <a:ext uri="{FF2B5EF4-FFF2-40B4-BE49-F238E27FC236}">
                  <a16:creationId xmlns:a16="http://schemas.microsoft.com/office/drawing/2014/main" id="{20E2B710-0885-45FB-98A3-00F1B8B40E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16488" y="3276032"/>
              <a:ext cx="28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6" name="Line 240">
              <a:extLst>
                <a:ext uri="{FF2B5EF4-FFF2-40B4-BE49-F238E27FC236}">
                  <a16:creationId xmlns:a16="http://schemas.microsoft.com/office/drawing/2014/main" id="{E4CF13C4-FEA4-4A1C-94BC-BF2D0BFCBB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6745" y="3420000"/>
              <a:ext cx="10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7" name="Line 237">
              <a:extLst>
                <a:ext uri="{FF2B5EF4-FFF2-40B4-BE49-F238E27FC236}">
                  <a16:creationId xmlns:a16="http://schemas.microsoft.com/office/drawing/2014/main" id="{AA956D89-22E0-44BC-9E3B-0398DF3300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704488" y="3276032"/>
              <a:ext cx="0" cy="14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8" name="Line 237">
              <a:extLst>
                <a:ext uri="{FF2B5EF4-FFF2-40B4-BE49-F238E27FC236}">
                  <a16:creationId xmlns:a16="http://schemas.microsoft.com/office/drawing/2014/main" id="{C12D5395-6103-4FFB-8F6D-EBBF9BCB97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68832" y="3276000"/>
              <a:ext cx="0" cy="14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9" name="Line 239">
              <a:extLst>
                <a:ext uri="{FF2B5EF4-FFF2-40B4-BE49-F238E27FC236}">
                  <a16:creationId xmlns:a16="http://schemas.microsoft.com/office/drawing/2014/main" id="{CE0FF890-8E86-4ECB-B3A9-9FC8DDDEBD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8832" y="3276000"/>
              <a:ext cx="28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" name="Line 237">
              <a:extLst>
                <a:ext uri="{FF2B5EF4-FFF2-40B4-BE49-F238E27FC236}">
                  <a16:creationId xmlns:a16="http://schemas.microsoft.com/office/drawing/2014/main" id="{B57F5AF8-6706-4902-B4F8-3124CFD4FD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856832" y="3276000"/>
              <a:ext cx="0" cy="14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" name="Line 239">
              <a:extLst>
                <a:ext uri="{FF2B5EF4-FFF2-40B4-BE49-F238E27FC236}">
                  <a16:creationId xmlns:a16="http://schemas.microsoft.com/office/drawing/2014/main" id="{4E079DDC-970F-408A-8E3C-D939C5E300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56488" y="3420000"/>
              <a:ext cx="10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2" name="AutoShape 338">
            <a:extLst>
              <a:ext uri="{FF2B5EF4-FFF2-40B4-BE49-F238E27FC236}">
                <a16:creationId xmlns:a16="http://schemas.microsoft.com/office/drawing/2014/main" id="{177C3107-63C5-447A-B816-CDDF1E844E72}"/>
              </a:ext>
            </a:extLst>
          </p:cNvPr>
          <p:cNvSpPr/>
          <p:nvPr/>
        </p:nvSpPr>
        <p:spPr bwMode="auto">
          <a:xfrm>
            <a:off x="179512" y="2132856"/>
            <a:ext cx="1116000" cy="252000"/>
          </a:xfrm>
          <a:prstGeom prst="borderCallout2">
            <a:avLst>
              <a:gd name="adj1" fmla="val 55767"/>
              <a:gd name="adj2" fmla="val 99650"/>
              <a:gd name="adj3" fmla="val 55929"/>
              <a:gd name="adj4" fmla="val 114116"/>
              <a:gd name="adj5" fmla="val -46731"/>
              <a:gd name="adj6" fmla="val 123763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vert="horz" lIns="18000" tIns="10800" rIns="18000" bIns="10800" anchor="ctr" anchorCtr="1"/>
          <a:lstStyle/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怎么实现？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2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Box 4"/>
          <p:cNvSpPr txBox="1">
            <a:spLocks noChangeArrowheads="1"/>
          </p:cNvSpPr>
          <p:nvPr/>
        </p:nvSpPr>
        <p:spPr bwMode="auto">
          <a:xfrm>
            <a:off x="179513" y="332656"/>
            <a:ext cx="3600400" cy="57023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、计算机的部件互连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互连的类型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总线结构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*总线定义：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传输要求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*总线互连方法：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总线互连特点：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系统总线组成：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21</a:t>
            </a:fld>
            <a:endParaRPr lang="en-US" altLang="zh-CN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339325" y="764704"/>
            <a:ext cx="6121107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有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总线方式</a:t>
            </a:r>
            <a:r>
              <a:rPr lang="zh-CN" altLang="en-US" sz="2200" b="1" dirty="0">
                <a:latin typeface="宋体" panose="02010600030101010101" pitchFamily="2" charset="-122"/>
              </a:rPr>
              <a:t>、专用方式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又称分散方式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2000" b="1" u="sng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07704" y="1700808"/>
            <a:ext cx="6984776" cy="8634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指用于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信息传输</a:t>
            </a:r>
            <a:r>
              <a:rPr lang="zh-CN" altLang="en-US" sz="2200" b="1" dirty="0">
                <a:latin typeface="宋体" panose="02010600030101010101" pitchFamily="2" charset="-122"/>
              </a:rPr>
              <a:t>的一组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公共</a:t>
            </a:r>
            <a:r>
              <a:rPr lang="zh-CN" altLang="en-US" sz="2200" b="1" dirty="0">
                <a:latin typeface="宋体" panose="02010600030101010101" pitchFamily="2" charset="-122"/>
              </a:rPr>
              <a:t>信号线     </a:t>
            </a:r>
            <a:r>
              <a:rPr lang="zh-CN" altLang="en-US" sz="1800" b="1" dirty="0">
                <a:latin typeface="宋体" panose="02010600030101010101" pitchFamily="2" charset="-122"/>
              </a:rPr>
              <a:t>←类似教室过道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</a:t>
            </a:r>
            <a:r>
              <a:rPr lang="zh-CN" altLang="en-US" sz="2200" b="1" u="sng" dirty="0">
                <a:latin typeface="宋体" panose="02010600030101010101" pitchFamily="2" charset="-122"/>
              </a:rPr>
              <a:t>同时发送</a:t>
            </a:r>
            <a:r>
              <a:rPr lang="zh-CN" altLang="en-US" sz="2200" b="1" dirty="0">
                <a:latin typeface="宋体" panose="02010600030101010101" pitchFamily="2" charset="-122"/>
              </a:rPr>
              <a:t>的设备数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≤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个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←否则会产生冲突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54" name="Text Box 91"/>
          <p:cNvSpPr txBox="1">
            <a:spLocks noChangeArrowheads="1"/>
          </p:cNvSpPr>
          <p:nvPr/>
        </p:nvSpPr>
        <p:spPr bwMode="auto">
          <a:xfrm>
            <a:off x="2483768" y="5085184"/>
            <a:ext cx="6336827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分时传输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指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多次</a:t>
            </a:r>
            <a:r>
              <a:rPr lang="zh-CN" altLang="en-US" sz="1800" b="1" dirty="0">
                <a:latin typeface="宋体" panose="02010600030101010101" pitchFamily="2" charset="-122"/>
              </a:rPr>
              <a:t>传输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、可扩展性好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不改变</a:t>
            </a:r>
            <a:r>
              <a:rPr lang="zh-CN" altLang="en-US" sz="1800" b="1" dirty="0">
                <a:latin typeface="宋体" panose="02010600030101010101" pitchFamily="2" charset="-122"/>
              </a:rPr>
              <a:t>线路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地址总线、数据总线、控制总线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控制线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状态线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60" name="Text Box 4"/>
          <p:cNvSpPr txBox="1">
            <a:spLocks noChangeArrowheads="1"/>
          </p:cNvSpPr>
          <p:nvPr/>
        </p:nvSpPr>
        <p:spPr bwMode="auto">
          <a:xfrm>
            <a:off x="4427985" y="4797152"/>
            <a:ext cx="338155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990600" indent="-990600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思考①：</a:t>
            </a:r>
            <a:r>
              <a:rPr lang="zh-CN" altLang="en-US" sz="1800" b="1" dirty="0">
                <a:latin typeface="宋体" panose="02010600030101010101" pitchFamily="2" charset="-122"/>
              </a:rPr>
              <a:t>如何区分不同从设备？</a:t>
            </a:r>
            <a:endParaRPr lang="en-US" altLang="zh-CN" sz="18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50" name="Text Box 4"/>
          <p:cNvSpPr txBox="1">
            <a:spLocks noChangeArrowheads="1"/>
          </p:cNvSpPr>
          <p:nvPr/>
        </p:nvSpPr>
        <p:spPr bwMode="auto">
          <a:xfrm>
            <a:off x="827584" y="6021288"/>
            <a:ext cx="3600401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990600" indent="-990600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思考②：</a:t>
            </a:r>
            <a:r>
              <a:rPr lang="zh-CN" altLang="en-US" sz="1800" b="1" dirty="0">
                <a:latin typeface="宋体" panose="02010600030101010101" pitchFamily="2" charset="-122"/>
              </a:rPr>
              <a:t>设置状态线有什么好处？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7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16000" y="3140968"/>
            <a:ext cx="3960296" cy="1728192"/>
            <a:chOff x="179512" y="3573016"/>
            <a:chExt cx="3960296" cy="1728192"/>
          </a:xfrm>
        </p:grpSpPr>
        <p:sp>
          <p:nvSpPr>
            <p:cNvPr id="4" name="Line 34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971600" y="4291557"/>
              <a:ext cx="0" cy="145555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 Box 35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025964" y="3609520"/>
              <a:ext cx="864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8" name="Line 37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 flipV="1">
              <a:off x="179512" y="4437112"/>
              <a:ext cx="3960000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38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3419872" y="3860601"/>
              <a:ext cx="0" cy="396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Box 40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483768" y="4833184"/>
              <a:ext cx="360000" cy="252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11" name="Text Box 4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763688" y="4149080"/>
              <a:ext cx="936000" cy="288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/>
                <a:t>系统总线</a:t>
              </a:r>
            </a:p>
          </p:txBody>
        </p:sp>
        <p:sp>
          <p:nvSpPr>
            <p:cNvPr id="12" name="Line 67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 flipH="1">
              <a:off x="3419872" y="4255896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70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51520" y="3645024"/>
              <a:ext cx="1440000" cy="648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</a:p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73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23600" y="5013176"/>
              <a:ext cx="648000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键盘</a:t>
              </a:r>
            </a:p>
          </p:txBody>
        </p:sp>
        <p:sp>
          <p:nvSpPr>
            <p:cNvPr id="15" name="Line 74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611560" y="4582848"/>
              <a:ext cx="0" cy="432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75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611560" y="4437112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Box 77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403744" y="5013176"/>
              <a:ext cx="864000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显示器</a:t>
              </a:r>
            </a:p>
          </p:txBody>
        </p:sp>
        <p:sp>
          <p:nvSpPr>
            <p:cNvPr id="18" name="Line 78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1835696" y="4582848"/>
              <a:ext cx="0" cy="432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79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1835696" y="4437112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Box 8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059832" y="5013176"/>
              <a:ext cx="864000" cy="252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硬盘</a:t>
              </a:r>
            </a:p>
          </p:txBody>
        </p:sp>
        <p:sp>
          <p:nvSpPr>
            <p:cNvPr id="21" name="Line 82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3491880" y="4582848"/>
              <a:ext cx="0" cy="432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83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3491880" y="4437112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矩形 22"/>
            <p:cNvSpPr/>
            <p:nvPr>
              <p:custDataLst>
                <p:tags r:id="rId23"/>
              </p:custDataLst>
            </p:nvPr>
          </p:nvSpPr>
          <p:spPr bwMode="auto">
            <a:xfrm>
              <a:off x="2771800" y="3573016"/>
              <a:ext cx="1296000" cy="72000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24"/>
              </p:custDataLst>
            </p:nvPr>
          </p:nvSpPr>
          <p:spPr bwMode="auto">
            <a:xfrm>
              <a:off x="2843808" y="4581208"/>
              <a:ext cx="1296000" cy="72000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25"/>
              </p:custDataLst>
            </p:nvPr>
          </p:nvSpPr>
          <p:spPr bwMode="auto">
            <a:xfrm>
              <a:off x="1187624" y="4581208"/>
              <a:ext cx="1296000" cy="72000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26"/>
              </p:custDataLst>
            </p:nvPr>
          </p:nvSpPr>
          <p:spPr bwMode="auto">
            <a:xfrm>
              <a:off x="179512" y="4581208"/>
              <a:ext cx="936000" cy="72000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288290" y="3573016"/>
            <a:ext cx="3815715" cy="864870"/>
            <a:chOff x="454" y="5752"/>
            <a:chExt cx="6009" cy="1362"/>
          </a:xfrm>
        </p:grpSpPr>
        <p:sp>
          <p:nvSpPr>
            <p:cNvPr id="28" name="Text Box 66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4536" y="5752"/>
              <a:ext cx="1814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主存控制器</a:t>
              </a:r>
            </a:p>
          </p:txBody>
        </p:sp>
        <p:sp>
          <p:nvSpPr>
            <p:cNvPr id="29" name="Text Box 72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54" y="6718"/>
              <a:ext cx="1247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USB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接口</a:t>
              </a:r>
            </a:p>
          </p:txBody>
        </p:sp>
        <p:sp>
          <p:nvSpPr>
            <p:cNvPr id="30" name="Text Box 76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041" y="6716"/>
              <a:ext cx="1814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显示适配器</a:t>
              </a:r>
            </a:p>
          </p:txBody>
        </p:sp>
        <p:sp>
          <p:nvSpPr>
            <p:cNvPr id="31" name="Text Box 80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649" y="6716"/>
              <a:ext cx="1814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硬盘控制器</a:t>
              </a:r>
            </a:p>
          </p:txBody>
        </p:sp>
        <p:sp>
          <p:nvSpPr>
            <p:cNvPr id="32" name="Text Box 87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67" y="5809"/>
              <a:ext cx="2098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总线接口单元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58" name="Text Box 4"/>
          <p:cNvSpPr txBox="1">
            <a:spLocks noChangeArrowheads="1"/>
          </p:cNvSpPr>
          <p:nvPr/>
        </p:nvSpPr>
        <p:spPr bwMode="auto">
          <a:xfrm>
            <a:off x="6444208" y="3284984"/>
            <a:ext cx="2664000" cy="114063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990600" indent="-990600"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主设备、从设备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990600" indent="-990600"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发起者</a:t>
            </a:r>
            <a:r>
              <a:rPr lang="en-US" altLang="zh-CN" sz="1600" b="1" dirty="0">
                <a:latin typeface="宋体" panose="02010600030101010101" pitchFamily="2" charset="-122"/>
              </a:rPr>
              <a:t>)   (</a:t>
            </a:r>
            <a:r>
              <a:rPr lang="zh-CN" altLang="en-US" sz="1600" b="1" dirty="0">
                <a:latin typeface="宋体" panose="02010600030101010101" pitchFamily="2" charset="-122"/>
              </a:rPr>
              <a:t>响应者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 marL="990600" indent="-990600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读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从→主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、写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主→从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45" name="Text Box 4">
            <a:extLst>
              <a:ext uri="{FF2B5EF4-FFF2-40B4-BE49-F238E27FC236}">
                <a16:creationId xmlns:a16="http://schemas.microsoft.com/office/drawing/2014/main" id="{4625BFB2-1867-43FD-A748-34D8E87FA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360" y="4797184"/>
            <a:ext cx="864000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按地址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48" name="Text Box 4">
            <a:extLst>
              <a:ext uri="{FF2B5EF4-FFF2-40B4-BE49-F238E27FC236}">
                <a16:creationId xmlns:a16="http://schemas.microsoft.com/office/drawing/2014/main" id="{24291AC5-7C12-4DD5-B6EB-97CC2BB6A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4" y="6021288"/>
            <a:ext cx="4608512" cy="288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及时表示</a:t>
            </a:r>
            <a:r>
              <a:rPr lang="zh-CN" altLang="en-US" sz="1600" b="1" dirty="0">
                <a:latin typeface="宋体" panose="02010600030101010101" pitchFamily="2" charset="-122"/>
              </a:rPr>
              <a:t>从设备完成状态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类比听到</a:t>
            </a:r>
            <a:r>
              <a:rPr lang="en-US" altLang="zh-CN" sz="1600" b="1" dirty="0">
                <a:latin typeface="宋体" panose="02010600030101010101" pitchFamily="2" charset="-122"/>
              </a:rPr>
              <a:t>bye</a:t>
            </a:r>
            <a:r>
              <a:rPr lang="zh-CN" altLang="en-US" sz="1600" b="1" dirty="0">
                <a:latin typeface="宋体" panose="02010600030101010101" pitchFamily="2" charset="-122"/>
              </a:rPr>
              <a:t>后挂电话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5628F68-8E78-4CF6-BD20-EBB2B5FF1D10}"/>
              </a:ext>
            </a:extLst>
          </p:cNvPr>
          <p:cNvCxnSpPr/>
          <p:nvPr/>
        </p:nvCxnSpPr>
        <p:spPr bwMode="auto">
          <a:xfrm flipH="1">
            <a:off x="7344000" y="5085152"/>
            <a:ext cx="720080" cy="144048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/>
          </a:ln>
        </p:spPr>
      </p:cxnSp>
      <p:sp>
        <p:nvSpPr>
          <p:cNvPr id="85" name="Text Box 4"/>
          <p:cNvSpPr txBox="1">
            <a:spLocks noChangeArrowheads="1"/>
          </p:cNvSpPr>
          <p:nvPr/>
        </p:nvSpPr>
        <p:spPr bwMode="auto">
          <a:xfrm>
            <a:off x="2483767" y="2564904"/>
            <a:ext cx="5832641" cy="217290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所有设备通过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接口电路</a:t>
            </a:r>
            <a:r>
              <a:rPr lang="zh-CN" altLang="en-US" sz="2200" b="1" dirty="0">
                <a:latin typeface="宋体" panose="02010600030101010101" pitchFamily="2" charset="-122"/>
              </a:rPr>
              <a:t>连接到总线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dirty="0">
                <a:latin typeface="+mn-ea"/>
              </a:rPr>
              <a:t>                    └</a:t>
            </a:r>
            <a:r>
              <a:rPr lang="zh-CN" altLang="en-US" sz="1800" b="1" dirty="0">
                <a:latin typeface="+mn-ea"/>
              </a:rPr>
              <a:t>←</a:t>
            </a:r>
            <a:r>
              <a:rPr lang="zh-CN" altLang="en-US" sz="1800" b="1" dirty="0">
                <a:solidFill>
                  <a:srgbClr val="0070C0"/>
                </a:solidFill>
                <a:latin typeface="+mn-ea"/>
              </a:rPr>
              <a:t>协调</a:t>
            </a:r>
            <a:r>
              <a:rPr lang="zh-CN" altLang="en-US" sz="1800" b="1" dirty="0"/>
              <a:t>速度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电平</a:t>
            </a:r>
            <a:r>
              <a:rPr lang="en-US" altLang="zh-CN" sz="1800" b="1" dirty="0">
                <a:latin typeface="+mn-ea"/>
              </a:rPr>
              <a:t>/</a:t>
            </a:r>
            <a:r>
              <a:rPr lang="zh-CN" altLang="en-US" sz="1800" b="1" dirty="0">
                <a:latin typeface="+mn-ea"/>
              </a:rPr>
              <a:t>格式</a:t>
            </a:r>
            <a:r>
              <a:rPr lang="zh-CN" altLang="en-US" sz="1800" b="1" dirty="0"/>
              <a:t>等</a:t>
            </a:r>
            <a:r>
              <a:rPr lang="zh-CN" altLang="en-US" sz="1800" b="1" dirty="0">
                <a:solidFill>
                  <a:srgbClr val="0070C0"/>
                </a:solidFill>
              </a:rPr>
              <a:t>差异</a:t>
            </a:r>
            <a:endParaRPr lang="en-US" altLang="zh-CN" sz="1800" b="1" dirty="0">
              <a:solidFill>
                <a:srgbClr val="0070C0"/>
              </a:solidFill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  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总线设备的类型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9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            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基于传输中角色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  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总线操作的类型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CN" sz="1600" b="1" dirty="0">
                <a:latin typeface="宋体" panose="02010600030101010101" pitchFamily="2" charset="-122"/>
              </a:rPr>
              <a:t>                   (</a:t>
            </a:r>
            <a:r>
              <a:rPr lang="zh-CN" altLang="en-US" sz="1600" b="1" dirty="0">
                <a:latin typeface="宋体" panose="02010600030101010101" pitchFamily="2" charset="-122"/>
              </a:rPr>
              <a:t>基于主设备的数据方向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50" grpId="0" bldLvl="0" animBg="1"/>
      <p:bldP spid="45" grpId="0" animBg="1"/>
      <p:bldP spid="4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22</a:t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3817095" cy="42849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总线传输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*传输过程：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⑴地址期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       ⑵数据期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*传输协议：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275856" y="764704"/>
            <a:ext cx="5760640" cy="17098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2880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sng" dirty="0">
                <a:latin typeface="宋体" panose="02010600030101010101" pitchFamily="2" charset="-122"/>
              </a:rPr>
              <a:t>主设备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发送</a:t>
            </a:r>
            <a:r>
              <a:rPr lang="zh-CN" altLang="en-US" sz="2200" b="1" dirty="0">
                <a:latin typeface="宋体" panose="02010600030101010101" pitchFamily="2" charset="-122"/>
              </a:rPr>
              <a:t>地址、命令，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所有从设备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判断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；</a:t>
            </a:r>
            <a:r>
              <a:rPr lang="zh-CN" altLang="en-US" sz="2200" b="1" dirty="0">
                <a:latin typeface="宋体" panose="02010600030101010101" pitchFamily="2" charset="-122"/>
              </a:rPr>
              <a:t>   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</a:rPr>
              <a:t>读操作时</a:t>
            </a:r>
            <a:r>
              <a:rPr lang="zh-CN" altLang="en-US" sz="2200" b="1" u="sng" dirty="0">
                <a:latin typeface="宋体" panose="02010600030101010101" pitchFamily="2" charset="-122"/>
              </a:rPr>
              <a:t>目标从设备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响应</a:t>
            </a:r>
            <a:r>
              <a:rPr lang="en-US" altLang="zh-CN" sz="2200" b="1" dirty="0">
                <a:latin typeface="宋体" panose="02010600030101010101" pitchFamily="2" charset="-122"/>
              </a:rPr>
              <a:t>  </a:t>
            </a:r>
            <a:r>
              <a:rPr lang="en-US" altLang="zh-CN" sz="1800" b="1" dirty="0">
                <a:latin typeface="宋体" panose="02010600030101010101" pitchFamily="2" charset="-122"/>
              </a:rPr>
              <a:t>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←完成时改变状态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sng" dirty="0">
                <a:latin typeface="宋体" panose="02010600030101010101" pitchFamily="2" charset="-122"/>
              </a:rPr>
              <a:t>双方</a:t>
            </a:r>
            <a:r>
              <a:rPr lang="zh-CN" altLang="en-US" sz="2200" b="1" dirty="0">
                <a:latin typeface="宋体" panose="02010600030101010101" pitchFamily="2" charset="-122"/>
              </a:rPr>
              <a:t>按命令要求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交换</a:t>
            </a:r>
            <a:r>
              <a:rPr lang="zh-CN" altLang="en-US" sz="2200" b="1" dirty="0">
                <a:latin typeface="宋体" panose="02010600030101010101" pitchFamily="2" charset="-122"/>
              </a:rPr>
              <a:t>数据</a:t>
            </a:r>
            <a:endParaRPr lang="zh-CN" altLang="en-US" sz="1600" b="1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写操作时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目标从设备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响应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←完成时改变状态</a:t>
            </a:r>
            <a:endParaRPr lang="en-US" altLang="zh-CN" sz="1600" b="1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67" name="Text Box 91"/>
          <p:cNvSpPr txBox="1">
            <a:spLocks noChangeArrowheads="1"/>
          </p:cNvSpPr>
          <p:nvPr/>
        </p:nvSpPr>
        <p:spPr bwMode="auto">
          <a:xfrm>
            <a:off x="1908209" y="4077072"/>
            <a:ext cx="7233083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约定</a:t>
            </a:r>
            <a:r>
              <a:rPr lang="zh-CN" altLang="en-US" sz="2200" b="1" dirty="0">
                <a:latin typeface="宋体" panose="02010600030101010101" pitchFamily="2" charset="-122"/>
              </a:rPr>
              <a:t>步骤</a:t>
            </a:r>
            <a:r>
              <a:rPr lang="en-US" altLang="zh-CN" sz="2200" b="1" dirty="0">
                <a:latin typeface="宋体" panose="02010600030101010101" pitchFamily="2" charset="-122"/>
              </a:rPr>
              <a:t>&amp;</a:t>
            </a:r>
            <a:r>
              <a:rPr lang="zh-CN" altLang="en-US" sz="2200" b="1" dirty="0">
                <a:latin typeface="宋体" panose="02010600030101010101" pitchFamily="2" charset="-122"/>
              </a:rPr>
              <a:t>时序   </a:t>
            </a:r>
            <a:r>
              <a:rPr lang="zh-CN" altLang="en-US" sz="1800" b="1" dirty="0">
                <a:latin typeface="宋体" panose="02010600030101010101" pitchFamily="2" charset="-122"/>
              </a:rPr>
              <a:t>如：传输周期＝</a:t>
            </a:r>
            <a:r>
              <a:rPr lang="en-US" altLang="zh-CN" sz="1800" b="1" dirty="0">
                <a:latin typeface="宋体" panose="02010600030101010101" pitchFamily="2" charset="-122"/>
              </a:rPr>
              <a:t>4</a:t>
            </a:r>
            <a:r>
              <a:rPr lang="zh-CN" altLang="en-US" sz="1800" b="1" dirty="0">
                <a:latin typeface="宋体" panose="02010600030101010101" pitchFamily="2" charset="-122"/>
              </a:rPr>
              <a:t>个步骤、各步骤同步方式定时</a:t>
            </a:r>
          </a:p>
        </p:txBody>
      </p:sp>
      <p:sp>
        <p:nvSpPr>
          <p:cNvPr id="168" name="AutoShape 338"/>
          <p:cNvSpPr/>
          <p:nvPr/>
        </p:nvSpPr>
        <p:spPr bwMode="auto">
          <a:xfrm>
            <a:off x="2459946" y="499177"/>
            <a:ext cx="3239770" cy="288290"/>
          </a:xfrm>
          <a:prstGeom prst="borderCallout2">
            <a:avLst>
              <a:gd name="adj1" fmla="val 49883"/>
              <a:gd name="adj2" fmla="val -53"/>
              <a:gd name="adj3" fmla="val 49779"/>
              <a:gd name="adj4" fmla="val -5899"/>
              <a:gd name="adj5" fmla="val 166228"/>
              <a:gd name="adj6" fmla="val -22157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vert="horz" lIns="18000" tIns="10800" rIns="18000" bIns="10800" anchor="ctr" anchorCtr="1"/>
          <a:lstStyle/>
          <a:p>
            <a:pPr lvl="0" algn="l"/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类比：</a:t>
            </a:r>
            <a:r>
              <a: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老师要王二把作业本交上来</a:t>
            </a:r>
          </a:p>
        </p:txBody>
      </p:sp>
      <p:sp>
        <p:nvSpPr>
          <p:cNvPr id="128" name="AutoShape 62">
            <a:hlinkClick r:id="rId175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sp>
        <p:nvSpPr>
          <p:cNvPr id="134" name="AutoShape 45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75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8" name="Text Box 4"/>
          <p:cNvSpPr txBox="1">
            <a:spLocks noChangeArrowheads="1"/>
          </p:cNvSpPr>
          <p:nvPr/>
        </p:nvSpPr>
        <p:spPr bwMode="auto">
          <a:xfrm>
            <a:off x="107315" y="4964048"/>
            <a:ext cx="1296035" cy="756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197485" indent="-197485">
              <a:lnSpc>
                <a:spcPct val="90000"/>
              </a:lnSpc>
            </a:pP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回顾：</a:t>
            </a:r>
            <a:r>
              <a:rPr lang="zh-CN" altLang="en-US" sz="1600" b="1" dirty="0">
                <a:latin typeface="宋体" panose="02010600030101010101" pitchFamily="2" charset="-122"/>
              </a:rPr>
              <a:t>信号线</a:t>
            </a:r>
            <a:r>
              <a:rPr lang="en-US" altLang="zh-CN" sz="1600" b="1" dirty="0">
                <a:latin typeface="宋体" panose="02010600030101010101" pitchFamily="2" charset="-122"/>
              </a:rPr>
              <a:t>RD</a:t>
            </a:r>
            <a:r>
              <a:rPr lang="zh-CN" altLang="en-US" sz="1600" b="1" dirty="0">
                <a:latin typeface="宋体" panose="02010600030101010101" pitchFamily="2" charset="-122"/>
              </a:rPr>
              <a:t>与</a:t>
            </a:r>
            <a:r>
              <a:rPr lang="en-US" altLang="zh-CN" sz="1600" b="1" dirty="0">
                <a:latin typeface="宋体" panose="02010600030101010101" pitchFamily="2" charset="-122"/>
              </a:rPr>
              <a:t>RD</a:t>
            </a:r>
            <a:r>
              <a:rPr lang="zh-CN" altLang="en-US" sz="1600" b="1" dirty="0">
                <a:latin typeface="宋体" panose="02010600030101010101" pitchFamily="2" charset="-122"/>
              </a:rPr>
              <a:t>有和差别？</a:t>
            </a:r>
            <a:endParaRPr lang="zh-CN" altLang="en-US" sz="16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309" name="Line 258"/>
          <p:cNvSpPr>
            <a:spLocks noChangeShapeType="1"/>
          </p:cNvSpPr>
          <p:nvPr/>
        </p:nvSpPr>
        <p:spPr bwMode="auto">
          <a:xfrm>
            <a:off x="720000" y="5243634"/>
            <a:ext cx="216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1510665" y="4581128"/>
            <a:ext cx="3384550" cy="1655445"/>
            <a:chOff x="2492" y="5443"/>
            <a:chExt cx="5330" cy="2607"/>
          </a:xfrm>
        </p:grpSpPr>
        <p:cxnSp>
          <p:nvCxnSpPr>
            <p:cNvPr id="34" name="直接连接符 33"/>
            <p:cNvCxnSpPr/>
            <p:nvPr>
              <p:custDataLst>
                <p:tags r:id="rId121"/>
              </p:custDataLst>
            </p:nvPr>
          </p:nvCxnSpPr>
          <p:spPr bwMode="auto">
            <a:xfrm>
              <a:off x="5613" y="5727"/>
              <a:ext cx="1" cy="2268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/>
            <p:cNvCxnSpPr/>
            <p:nvPr>
              <p:custDataLst>
                <p:tags r:id="rId122"/>
              </p:custDataLst>
            </p:nvPr>
          </p:nvCxnSpPr>
          <p:spPr bwMode="auto">
            <a:xfrm>
              <a:off x="4930" y="5443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直接连接符 35"/>
            <p:cNvCxnSpPr/>
            <p:nvPr>
              <p:custDataLst>
                <p:tags r:id="rId123"/>
              </p:custDataLst>
            </p:nvPr>
          </p:nvCxnSpPr>
          <p:spPr bwMode="auto">
            <a:xfrm flipH="1">
              <a:off x="4248" y="5443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7" name="Text Box 161"/>
            <p:cNvSpPr txBox="1">
              <a:spLocks noChangeArrowheads="1"/>
            </p:cNvSpPr>
            <p:nvPr>
              <p:custDataLst>
                <p:tags r:id="rId124"/>
              </p:custDataLst>
            </p:nvPr>
          </p:nvSpPr>
          <p:spPr bwMode="auto">
            <a:xfrm>
              <a:off x="4420" y="5443"/>
              <a:ext cx="3118" cy="283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17780" tIns="17780" rIns="18000" bIns="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①    ②</a:t>
              </a:r>
              <a:r>
                <a:rPr lang="en-US" altLang="zh-CN" sz="1600" b="1" baseline="-25000" dirty="0"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  ③  ④</a:t>
              </a:r>
            </a:p>
          </p:txBody>
        </p:sp>
        <p:sp>
          <p:nvSpPr>
            <p:cNvPr id="38" name="AutoShape 215"/>
            <p:cNvSpPr>
              <a:spLocks noChangeArrowheads="1"/>
            </p:cNvSpPr>
            <p:nvPr>
              <p:custDataLst>
                <p:tags r:id="rId125"/>
              </p:custDataLst>
            </p:nvPr>
          </p:nvSpPr>
          <p:spPr bwMode="auto">
            <a:xfrm>
              <a:off x="4250" y="6123"/>
              <a:ext cx="3231" cy="283"/>
            </a:xfrm>
            <a:prstGeom prst="hexagon">
              <a:avLst>
                <a:gd name="adj" fmla="val 63269"/>
                <a:gd name="vf" fmla="val 115470"/>
              </a:avLst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A1</a:t>
              </a:r>
            </a:p>
          </p:txBody>
        </p:sp>
        <p:cxnSp>
          <p:nvCxnSpPr>
            <p:cNvPr id="39" name="直接连接符 38"/>
            <p:cNvCxnSpPr/>
            <p:nvPr>
              <p:custDataLst>
                <p:tags r:id="rId126"/>
              </p:custDataLst>
            </p:nvPr>
          </p:nvCxnSpPr>
          <p:spPr bwMode="auto">
            <a:xfrm>
              <a:off x="4080" y="6010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直接连接符 39"/>
            <p:cNvCxnSpPr/>
            <p:nvPr>
              <p:custDataLst>
                <p:tags r:id="rId127"/>
              </p:custDataLst>
            </p:nvPr>
          </p:nvCxnSpPr>
          <p:spPr bwMode="auto">
            <a:xfrm flipV="1">
              <a:off x="4250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直接连接符 40"/>
            <p:cNvCxnSpPr/>
            <p:nvPr>
              <p:custDataLst>
                <p:tags r:id="rId128"/>
              </p:custDataLst>
            </p:nvPr>
          </p:nvCxnSpPr>
          <p:spPr bwMode="auto">
            <a:xfrm>
              <a:off x="4250" y="572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直接连接符 41"/>
            <p:cNvCxnSpPr/>
            <p:nvPr>
              <p:custDataLst>
                <p:tags r:id="rId129"/>
              </p:custDataLst>
            </p:nvPr>
          </p:nvCxnSpPr>
          <p:spPr bwMode="auto">
            <a:xfrm flipV="1">
              <a:off x="4590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直接连接符 42"/>
            <p:cNvCxnSpPr/>
            <p:nvPr>
              <p:custDataLst>
                <p:tags r:id="rId130"/>
              </p:custDataLst>
            </p:nvPr>
          </p:nvCxnSpPr>
          <p:spPr bwMode="auto">
            <a:xfrm>
              <a:off x="4590" y="601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直接连接符 43"/>
            <p:cNvCxnSpPr/>
            <p:nvPr>
              <p:custDataLst>
                <p:tags r:id="rId131"/>
              </p:custDataLst>
            </p:nvPr>
          </p:nvCxnSpPr>
          <p:spPr bwMode="auto">
            <a:xfrm flipV="1">
              <a:off x="4932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直接连接符 44"/>
            <p:cNvCxnSpPr/>
            <p:nvPr>
              <p:custDataLst>
                <p:tags r:id="rId132"/>
              </p:custDataLst>
            </p:nvPr>
          </p:nvCxnSpPr>
          <p:spPr bwMode="auto">
            <a:xfrm>
              <a:off x="4930" y="572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直接连接符 45"/>
            <p:cNvCxnSpPr/>
            <p:nvPr>
              <p:custDataLst>
                <p:tags r:id="rId133"/>
              </p:custDataLst>
            </p:nvPr>
          </p:nvCxnSpPr>
          <p:spPr bwMode="auto">
            <a:xfrm flipV="1">
              <a:off x="5271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直接连接符 46"/>
            <p:cNvCxnSpPr/>
            <p:nvPr>
              <p:custDataLst>
                <p:tags r:id="rId134"/>
              </p:custDataLst>
            </p:nvPr>
          </p:nvCxnSpPr>
          <p:spPr bwMode="auto">
            <a:xfrm>
              <a:off x="5280" y="601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直接连接符 47"/>
            <p:cNvCxnSpPr/>
            <p:nvPr>
              <p:custDataLst>
                <p:tags r:id="rId135"/>
              </p:custDataLst>
            </p:nvPr>
          </p:nvCxnSpPr>
          <p:spPr bwMode="auto">
            <a:xfrm>
              <a:off x="4080" y="6265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直接连接符 48"/>
            <p:cNvCxnSpPr/>
            <p:nvPr>
              <p:custDataLst>
                <p:tags r:id="rId136"/>
              </p:custDataLst>
            </p:nvPr>
          </p:nvCxnSpPr>
          <p:spPr bwMode="auto">
            <a:xfrm>
              <a:off x="4080" y="6662"/>
              <a:ext cx="221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直接连接符 49"/>
            <p:cNvCxnSpPr/>
            <p:nvPr>
              <p:custDataLst>
                <p:tags r:id="rId137"/>
              </p:custDataLst>
            </p:nvPr>
          </p:nvCxnSpPr>
          <p:spPr bwMode="auto">
            <a:xfrm flipV="1">
              <a:off x="4080" y="6917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直接连接符 50"/>
            <p:cNvCxnSpPr/>
            <p:nvPr>
              <p:custDataLst>
                <p:tags r:id="rId138"/>
              </p:custDataLst>
            </p:nvPr>
          </p:nvCxnSpPr>
          <p:spPr bwMode="auto">
            <a:xfrm flipV="1">
              <a:off x="4590" y="6917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直接连接符 51"/>
            <p:cNvCxnSpPr/>
            <p:nvPr>
              <p:custDataLst>
                <p:tags r:id="rId139"/>
              </p:custDataLst>
            </p:nvPr>
          </p:nvCxnSpPr>
          <p:spPr bwMode="auto">
            <a:xfrm>
              <a:off x="4590" y="7201"/>
              <a:ext cx="272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直接连接符 52"/>
            <p:cNvCxnSpPr/>
            <p:nvPr>
              <p:custDataLst>
                <p:tags r:id="rId140"/>
              </p:custDataLst>
            </p:nvPr>
          </p:nvCxnSpPr>
          <p:spPr bwMode="auto">
            <a:xfrm flipV="1">
              <a:off x="4080" y="7314"/>
              <a:ext cx="3742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4" name="Text Box 148"/>
            <p:cNvSpPr txBox="1">
              <a:spLocks noChangeArrowheads="1"/>
            </p:cNvSpPr>
            <p:nvPr>
              <p:custDataLst>
                <p:tags r:id="rId141"/>
              </p:custDataLst>
            </p:nvPr>
          </p:nvSpPr>
          <p:spPr bwMode="auto">
            <a:xfrm>
              <a:off x="2492" y="5670"/>
              <a:ext cx="1531" cy="238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时钟线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CLK</a:t>
              </a: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地址总线</a:t>
              </a: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数据总线</a:t>
              </a: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RD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WR</a:t>
              </a: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状态线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RDY</a:t>
              </a:r>
            </a:p>
          </p:txBody>
        </p:sp>
        <p:cxnSp>
          <p:nvCxnSpPr>
            <p:cNvPr id="55" name="直接连接符 54"/>
            <p:cNvCxnSpPr/>
            <p:nvPr>
              <p:custDataLst>
                <p:tags r:id="rId142"/>
              </p:custDataLst>
            </p:nvPr>
          </p:nvCxnSpPr>
          <p:spPr bwMode="auto">
            <a:xfrm>
              <a:off x="4080" y="7597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直接连接符 58"/>
            <p:cNvCxnSpPr/>
            <p:nvPr>
              <p:custDataLst>
                <p:tags r:id="rId143"/>
              </p:custDataLst>
            </p:nvPr>
          </p:nvCxnSpPr>
          <p:spPr bwMode="auto">
            <a:xfrm>
              <a:off x="3654" y="6877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直接连接符 59"/>
            <p:cNvCxnSpPr/>
            <p:nvPr>
              <p:custDataLst>
                <p:tags r:id="rId144"/>
              </p:custDataLst>
            </p:nvPr>
          </p:nvCxnSpPr>
          <p:spPr bwMode="auto">
            <a:xfrm>
              <a:off x="3654" y="7285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直接连接符 61"/>
            <p:cNvCxnSpPr/>
            <p:nvPr>
              <p:custDataLst>
                <p:tags r:id="rId145"/>
              </p:custDataLst>
            </p:nvPr>
          </p:nvCxnSpPr>
          <p:spPr bwMode="auto">
            <a:xfrm>
              <a:off x="6288" y="5443"/>
              <a:ext cx="0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直接连接符 62"/>
            <p:cNvCxnSpPr/>
            <p:nvPr>
              <p:custDataLst>
                <p:tags r:id="rId146"/>
              </p:custDataLst>
            </p:nvPr>
          </p:nvCxnSpPr>
          <p:spPr bwMode="auto">
            <a:xfrm>
              <a:off x="6969" y="5443"/>
              <a:ext cx="0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直接连接符 65"/>
            <p:cNvCxnSpPr/>
            <p:nvPr>
              <p:custDataLst>
                <p:tags r:id="rId147"/>
              </p:custDataLst>
            </p:nvPr>
          </p:nvCxnSpPr>
          <p:spPr bwMode="auto">
            <a:xfrm flipH="1">
              <a:off x="7649" y="5443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直接连接符 86"/>
            <p:cNvCxnSpPr/>
            <p:nvPr>
              <p:custDataLst>
                <p:tags r:id="rId148"/>
              </p:custDataLst>
            </p:nvPr>
          </p:nvCxnSpPr>
          <p:spPr bwMode="auto">
            <a:xfrm>
              <a:off x="7479" y="626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0" name="AutoShape 215"/>
            <p:cNvSpPr>
              <a:spLocks noChangeArrowheads="1"/>
            </p:cNvSpPr>
            <p:nvPr>
              <p:custDataLst>
                <p:tags r:id="rId149"/>
              </p:custDataLst>
            </p:nvPr>
          </p:nvSpPr>
          <p:spPr bwMode="auto">
            <a:xfrm>
              <a:off x="6288" y="6520"/>
              <a:ext cx="1191" cy="283"/>
            </a:xfrm>
            <a:prstGeom prst="hexagon">
              <a:avLst>
                <a:gd name="adj" fmla="val 63047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D1</a:t>
              </a:r>
            </a:p>
          </p:txBody>
        </p:sp>
        <p:cxnSp>
          <p:nvCxnSpPr>
            <p:cNvPr id="92" name="直接连接符 91"/>
            <p:cNvCxnSpPr/>
            <p:nvPr>
              <p:custDataLst>
                <p:tags r:id="rId150"/>
              </p:custDataLst>
            </p:nvPr>
          </p:nvCxnSpPr>
          <p:spPr bwMode="auto">
            <a:xfrm>
              <a:off x="7479" y="666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8" name="直接连接符 97"/>
            <p:cNvCxnSpPr/>
            <p:nvPr>
              <p:custDataLst>
                <p:tags r:id="rId151"/>
              </p:custDataLst>
            </p:nvPr>
          </p:nvCxnSpPr>
          <p:spPr bwMode="auto">
            <a:xfrm>
              <a:off x="7309" y="6917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直接连接符 98"/>
            <p:cNvCxnSpPr/>
            <p:nvPr>
              <p:custDataLst>
                <p:tags r:id="rId152"/>
              </p:custDataLst>
            </p:nvPr>
          </p:nvCxnSpPr>
          <p:spPr bwMode="auto">
            <a:xfrm flipV="1">
              <a:off x="7309" y="6917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0" name="直接连接符 99"/>
            <p:cNvCxnSpPr/>
            <p:nvPr>
              <p:custDataLst>
                <p:tags r:id="rId153"/>
              </p:custDataLst>
            </p:nvPr>
          </p:nvCxnSpPr>
          <p:spPr bwMode="auto">
            <a:xfrm flipV="1">
              <a:off x="7649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直接连接符 100"/>
            <p:cNvCxnSpPr/>
            <p:nvPr>
              <p:custDataLst>
                <p:tags r:id="rId154"/>
              </p:custDataLst>
            </p:nvPr>
          </p:nvCxnSpPr>
          <p:spPr bwMode="auto">
            <a:xfrm>
              <a:off x="7649" y="5726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3" name="直接连接符 102"/>
            <p:cNvCxnSpPr/>
            <p:nvPr>
              <p:custDataLst>
                <p:tags r:id="rId155"/>
              </p:custDataLst>
            </p:nvPr>
          </p:nvCxnSpPr>
          <p:spPr bwMode="auto">
            <a:xfrm flipV="1">
              <a:off x="6288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直接连接符 103"/>
            <p:cNvCxnSpPr/>
            <p:nvPr>
              <p:custDataLst>
                <p:tags r:id="rId156"/>
              </p:custDataLst>
            </p:nvPr>
          </p:nvCxnSpPr>
          <p:spPr bwMode="auto">
            <a:xfrm>
              <a:off x="6288" y="572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直接连接符 104"/>
            <p:cNvCxnSpPr/>
            <p:nvPr>
              <p:custDataLst>
                <p:tags r:id="rId157"/>
              </p:custDataLst>
            </p:nvPr>
          </p:nvCxnSpPr>
          <p:spPr bwMode="auto">
            <a:xfrm flipV="1">
              <a:off x="6628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直接连接符 105"/>
            <p:cNvCxnSpPr/>
            <p:nvPr>
              <p:custDataLst>
                <p:tags r:id="rId158"/>
              </p:custDataLst>
            </p:nvPr>
          </p:nvCxnSpPr>
          <p:spPr bwMode="auto">
            <a:xfrm>
              <a:off x="6628" y="601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直接连接符 106"/>
            <p:cNvCxnSpPr/>
            <p:nvPr>
              <p:custDataLst>
                <p:tags r:id="rId159"/>
              </p:custDataLst>
            </p:nvPr>
          </p:nvCxnSpPr>
          <p:spPr bwMode="auto">
            <a:xfrm flipV="1">
              <a:off x="6970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直接连接符 107"/>
            <p:cNvCxnSpPr/>
            <p:nvPr>
              <p:custDataLst>
                <p:tags r:id="rId160"/>
              </p:custDataLst>
            </p:nvPr>
          </p:nvCxnSpPr>
          <p:spPr bwMode="auto">
            <a:xfrm>
              <a:off x="6968" y="572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9" name="直接连接符 108"/>
            <p:cNvCxnSpPr/>
            <p:nvPr>
              <p:custDataLst>
                <p:tags r:id="rId161"/>
              </p:custDataLst>
            </p:nvPr>
          </p:nvCxnSpPr>
          <p:spPr bwMode="auto">
            <a:xfrm flipV="1">
              <a:off x="7309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直接连接符 109"/>
            <p:cNvCxnSpPr/>
            <p:nvPr>
              <p:custDataLst>
                <p:tags r:id="rId162"/>
              </p:custDataLst>
            </p:nvPr>
          </p:nvCxnSpPr>
          <p:spPr bwMode="auto">
            <a:xfrm>
              <a:off x="7318" y="601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1" name="直接连接符 110"/>
            <p:cNvCxnSpPr/>
            <p:nvPr>
              <p:custDataLst>
                <p:tags r:id="rId163"/>
              </p:custDataLst>
            </p:nvPr>
          </p:nvCxnSpPr>
          <p:spPr bwMode="auto">
            <a:xfrm flipV="1">
              <a:off x="5615" y="5727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2" name="直接连接符 111"/>
            <p:cNvCxnSpPr/>
            <p:nvPr>
              <p:custDataLst>
                <p:tags r:id="rId164"/>
              </p:custDataLst>
            </p:nvPr>
          </p:nvCxnSpPr>
          <p:spPr bwMode="auto">
            <a:xfrm>
              <a:off x="5613" y="5727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3" name="直接连接符 112"/>
            <p:cNvCxnSpPr/>
            <p:nvPr>
              <p:custDataLst>
                <p:tags r:id="rId165"/>
              </p:custDataLst>
            </p:nvPr>
          </p:nvCxnSpPr>
          <p:spPr bwMode="auto">
            <a:xfrm flipV="1">
              <a:off x="5954" y="5727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4" name="直接连接符 113"/>
            <p:cNvCxnSpPr/>
            <p:nvPr>
              <p:custDataLst>
                <p:tags r:id="rId166"/>
              </p:custDataLst>
            </p:nvPr>
          </p:nvCxnSpPr>
          <p:spPr bwMode="auto">
            <a:xfrm>
              <a:off x="5963" y="601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5" name="直接连接符 114"/>
            <p:cNvCxnSpPr/>
            <p:nvPr>
              <p:custDataLst>
                <p:tags r:id="rId167"/>
              </p:custDataLst>
            </p:nvPr>
          </p:nvCxnSpPr>
          <p:spPr bwMode="auto">
            <a:xfrm flipV="1">
              <a:off x="4080" y="7710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6" name="直接连接符 115"/>
            <p:cNvCxnSpPr/>
            <p:nvPr>
              <p:custDataLst>
                <p:tags r:id="rId168"/>
              </p:custDataLst>
            </p:nvPr>
          </p:nvCxnSpPr>
          <p:spPr bwMode="auto">
            <a:xfrm>
              <a:off x="4080" y="7994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1" name="直接连接符 310"/>
            <p:cNvCxnSpPr/>
            <p:nvPr>
              <p:custDataLst>
                <p:tags r:id="rId169"/>
              </p:custDataLst>
            </p:nvPr>
          </p:nvCxnSpPr>
          <p:spPr bwMode="auto">
            <a:xfrm flipV="1">
              <a:off x="4931" y="7710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2" name="直接连接符 311"/>
            <p:cNvCxnSpPr/>
            <p:nvPr>
              <p:custDataLst>
                <p:tags r:id="rId170"/>
              </p:custDataLst>
            </p:nvPr>
          </p:nvCxnSpPr>
          <p:spPr bwMode="auto">
            <a:xfrm>
              <a:off x="4931" y="7994"/>
              <a:ext cx="113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3" name="直接连接符 312"/>
            <p:cNvCxnSpPr/>
            <p:nvPr>
              <p:custDataLst>
                <p:tags r:id="rId171"/>
              </p:custDataLst>
            </p:nvPr>
          </p:nvCxnSpPr>
          <p:spPr bwMode="auto">
            <a:xfrm flipV="1">
              <a:off x="6065" y="7710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4" name="直接连接符 313"/>
            <p:cNvCxnSpPr/>
            <p:nvPr>
              <p:custDataLst>
                <p:tags r:id="rId172"/>
              </p:custDataLst>
            </p:nvPr>
          </p:nvCxnSpPr>
          <p:spPr bwMode="auto">
            <a:xfrm flipV="1">
              <a:off x="6065" y="7710"/>
              <a:ext cx="1757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6" name="组合 135"/>
          <p:cNvGrpSpPr/>
          <p:nvPr/>
        </p:nvGrpSpPr>
        <p:grpSpPr>
          <a:xfrm>
            <a:off x="5147945" y="4581128"/>
            <a:ext cx="3384550" cy="1620520"/>
            <a:chOff x="8220" y="5443"/>
            <a:chExt cx="5330" cy="2552"/>
          </a:xfrm>
        </p:grpSpPr>
        <p:cxnSp>
          <p:nvCxnSpPr>
            <p:cNvPr id="117" name="直接连接符 116"/>
            <p:cNvCxnSpPr/>
            <p:nvPr>
              <p:custDataLst>
                <p:tags r:id="rId69"/>
              </p:custDataLst>
            </p:nvPr>
          </p:nvCxnSpPr>
          <p:spPr bwMode="auto">
            <a:xfrm>
              <a:off x="12019" y="5727"/>
              <a:ext cx="0" cy="2268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8" name="直接连接符 117"/>
            <p:cNvCxnSpPr/>
            <p:nvPr>
              <p:custDataLst>
                <p:tags r:id="rId70"/>
              </p:custDataLst>
            </p:nvPr>
          </p:nvCxnSpPr>
          <p:spPr bwMode="auto">
            <a:xfrm>
              <a:off x="10658" y="5443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9" name="直接连接符 118"/>
            <p:cNvCxnSpPr/>
            <p:nvPr>
              <p:custDataLst>
                <p:tags r:id="rId71"/>
              </p:custDataLst>
            </p:nvPr>
          </p:nvCxnSpPr>
          <p:spPr bwMode="auto">
            <a:xfrm>
              <a:off x="11338" y="5443"/>
              <a:ext cx="0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0" name="直接连接符 119"/>
            <p:cNvCxnSpPr/>
            <p:nvPr>
              <p:custDataLst>
                <p:tags r:id="rId72"/>
              </p:custDataLst>
            </p:nvPr>
          </p:nvCxnSpPr>
          <p:spPr bwMode="auto">
            <a:xfrm flipH="1">
              <a:off x="9976" y="5443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1" name="Text Box 161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10148" y="5443"/>
              <a:ext cx="3118" cy="283"/>
            </a:xfrm>
            <a:prstGeom prst="rect">
              <a:avLst/>
            </a:prstGeom>
            <a:noFill/>
            <a:ln w="12700">
              <a:noFill/>
              <a:prstDash val="dash"/>
              <a:miter lim="800000"/>
            </a:ln>
            <a:effectLst/>
          </p:spPr>
          <p:txBody>
            <a:bodyPr lIns="17780" tIns="17780" rIns="18000" bIns="0" anchor="ctr" anchorCtr="0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①  ②</a:t>
              </a:r>
              <a:r>
                <a:rPr lang="en-US" altLang="zh-CN" sz="1600" b="1" baseline="-25000" dirty="0">
                  <a:latin typeface="宋体" panose="02010600030101010101" pitchFamily="2" charset="-122"/>
                  <a:sym typeface="+mn-ea"/>
                </a:rPr>
                <a:t>  </a:t>
              </a:r>
              <a:r>
                <a:rPr lang="en-US" altLang="zh-CN" sz="1600" b="1" dirty="0">
                  <a:latin typeface="宋体" panose="02010600030101010101" pitchFamily="2" charset="-122"/>
                  <a:sym typeface="+mn-ea"/>
                </a:rPr>
                <a:t>   ③    ④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22" name="AutoShape 215"/>
            <p:cNvSpPr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9978" y="6123"/>
              <a:ext cx="3231" cy="283"/>
            </a:xfrm>
            <a:prstGeom prst="hexagon">
              <a:avLst>
                <a:gd name="adj" fmla="val 63269"/>
                <a:gd name="vf" fmla="val 115470"/>
              </a:avLst>
            </a:prstGeom>
            <a:solidFill>
              <a:srgbClr val="FFCC99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A1</a:t>
              </a:r>
            </a:p>
          </p:txBody>
        </p:sp>
        <p:cxnSp>
          <p:nvCxnSpPr>
            <p:cNvPr id="123" name="直接连接符 122"/>
            <p:cNvCxnSpPr/>
            <p:nvPr>
              <p:custDataLst>
                <p:tags r:id="rId75"/>
              </p:custDataLst>
            </p:nvPr>
          </p:nvCxnSpPr>
          <p:spPr bwMode="auto">
            <a:xfrm>
              <a:off x="9808" y="6010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4" name="直接连接符 123"/>
            <p:cNvCxnSpPr/>
            <p:nvPr>
              <p:custDataLst>
                <p:tags r:id="rId76"/>
              </p:custDataLst>
            </p:nvPr>
          </p:nvCxnSpPr>
          <p:spPr bwMode="auto">
            <a:xfrm flipV="1">
              <a:off x="9978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5" name="直接连接符 124"/>
            <p:cNvCxnSpPr/>
            <p:nvPr>
              <p:custDataLst>
                <p:tags r:id="rId77"/>
              </p:custDataLst>
            </p:nvPr>
          </p:nvCxnSpPr>
          <p:spPr bwMode="auto">
            <a:xfrm>
              <a:off x="9978" y="572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6" name="直接连接符 125"/>
            <p:cNvCxnSpPr/>
            <p:nvPr>
              <p:custDataLst>
                <p:tags r:id="rId78"/>
              </p:custDataLst>
            </p:nvPr>
          </p:nvCxnSpPr>
          <p:spPr bwMode="auto">
            <a:xfrm flipV="1">
              <a:off x="10318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直接连接符 126"/>
            <p:cNvCxnSpPr/>
            <p:nvPr>
              <p:custDataLst>
                <p:tags r:id="rId79"/>
              </p:custDataLst>
            </p:nvPr>
          </p:nvCxnSpPr>
          <p:spPr bwMode="auto">
            <a:xfrm>
              <a:off x="10318" y="601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3" name="直接连接符 132"/>
            <p:cNvCxnSpPr/>
            <p:nvPr>
              <p:custDataLst>
                <p:tags r:id="rId80"/>
              </p:custDataLst>
            </p:nvPr>
          </p:nvCxnSpPr>
          <p:spPr bwMode="auto">
            <a:xfrm flipV="1">
              <a:off x="10660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5" name="直接连接符 134"/>
            <p:cNvCxnSpPr/>
            <p:nvPr>
              <p:custDataLst>
                <p:tags r:id="rId81"/>
              </p:custDataLst>
            </p:nvPr>
          </p:nvCxnSpPr>
          <p:spPr bwMode="auto">
            <a:xfrm>
              <a:off x="10658" y="572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7" name="直接连接符 136"/>
            <p:cNvCxnSpPr/>
            <p:nvPr>
              <p:custDataLst>
                <p:tags r:id="rId82"/>
              </p:custDataLst>
            </p:nvPr>
          </p:nvCxnSpPr>
          <p:spPr bwMode="auto">
            <a:xfrm flipV="1">
              <a:off x="10999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8" name="直接连接符 137"/>
            <p:cNvCxnSpPr/>
            <p:nvPr>
              <p:custDataLst>
                <p:tags r:id="rId83"/>
              </p:custDataLst>
            </p:nvPr>
          </p:nvCxnSpPr>
          <p:spPr bwMode="auto">
            <a:xfrm>
              <a:off x="11008" y="601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9" name="直接连接符 138"/>
            <p:cNvCxnSpPr/>
            <p:nvPr>
              <p:custDataLst>
                <p:tags r:id="rId84"/>
              </p:custDataLst>
            </p:nvPr>
          </p:nvCxnSpPr>
          <p:spPr bwMode="auto">
            <a:xfrm>
              <a:off x="9808" y="6265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0" name="AutoShape 215"/>
            <p:cNvSpPr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10658" y="6520"/>
              <a:ext cx="2551" cy="283"/>
            </a:xfrm>
            <a:prstGeom prst="hexagon">
              <a:avLst>
                <a:gd name="adj" fmla="val 63047"/>
                <a:gd name="vf" fmla="val 115470"/>
              </a:avLst>
            </a:prstGeom>
            <a:solidFill>
              <a:srgbClr val="99CCFF"/>
            </a:solidFill>
            <a:ln w="12700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D1</a:t>
              </a:r>
            </a:p>
          </p:txBody>
        </p:sp>
        <p:cxnSp>
          <p:nvCxnSpPr>
            <p:cNvPr id="141" name="直接连接符 140"/>
            <p:cNvCxnSpPr/>
            <p:nvPr>
              <p:custDataLst>
                <p:tags r:id="rId86"/>
              </p:custDataLst>
            </p:nvPr>
          </p:nvCxnSpPr>
          <p:spPr bwMode="auto">
            <a:xfrm>
              <a:off x="9808" y="6662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2" name="直接连接符 141"/>
            <p:cNvCxnSpPr/>
            <p:nvPr>
              <p:custDataLst>
                <p:tags r:id="rId87"/>
              </p:custDataLst>
            </p:nvPr>
          </p:nvCxnSpPr>
          <p:spPr bwMode="auto">
            <a:xfrm flipV="1">
              <a:off x="9808" y="7314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3" name="直接连接符 142"/>
            <p:cNvCxnSpPr/>
            <p:nvPr>
              <p:custDataLst>
                <p:tags r:id="rId88"/>
              </p:custDataLst>
            </p:nvPr>
          </p:nvCxnSpPr>
          <p:spPr bwMode="auto">
            <a:xfrm flipV="1">
              <a:off x="10318" y="731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4" name="直接连接符 143"/>
            <p:cNvCxnSpPr/>
            <p:nvPr>
              <p:custDataLst>
                <p:tags r:id="rId89"/>
              </p:custDataLst>
            </p:nvPr>
          </p:nvCxnSpPr>
          <p:spPr bwMode="auto">
            <a:xfrm>
              <a:off x="10318" y="7597"/>
              <a:ext cx="2721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5" name="直接连接符 144"/>
            <p:cNvCxnSpPr/>
            <p:nvPr>
              <p:custDataLst>
                <p:tags r:id="rId90"/>
              </p:custDataLst>
            </p:nvPr>
          </p:nvCxnSpPr>
          <p:spPr bwMode="auto">
            <a:xfrm flipV="1">
              <a:off x="9808" y="6917"/>
              <a:ext cx="3742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6" name="Text Box 148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8220" y="5670"/>
              <a:ext cx="1531" cy="192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时钟线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CLK</a:t>
              </a: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地址总线</a:t>
              </a:r>
            </a:p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数据总线</a:t>
              </a: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RD</a:t>
              </a:r>
              <a:endPara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控制线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WR</a:t>
              </a:r>
            </a:p>
            <a:p>
              <a:pPr algn="r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状态线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RDY</a:t>
              </a:r>
            </a:p>
          </p:txBody>
        </p:sp>
        <p:cxnSp>
          <p:nvCxnSpPr>
            <p:cNvPr id="147" name="直接连接符 146"/>
            <p:cNvCxnSpPr/>
            <p:nvPr>
              <p:custDataLst>
                <p:tags r:id="rId92"/>
              </p:custDataLst>
            </p:nvPr>
          </p:nvCxnSpPr>
          <p:spPr bwMode="auto">
            <a:xfrm>
              <a:off x="9808" y="7200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直接连接符 147"/>
            <p:cNvCxnSpPr/>
            <p:nvPr>
              <p:custDataLst>
                <p:tags r:id="rId93"/>
              </p:custDataLst>
            </p:nvPr>
          </p:nvCxnSpPr>
          <p:spPr bwMode="auto">
            <a:xfrm>
              <a:off x="9382" y="6877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直接连接符 148"/>
            <p:cNvCxnSpPr/>
            <p:nvPr>
              <p:custDataLst>
                <p:tags r:id="rId94"/>
              </p:custDataLst>
            </p:nvPr>
          </p:nvCxnSpPr>
          <p:spPr bwMode="auto">
            <a:xfrm>
              <a:off x="9382" y="7285"/>
              <a:ext cx="31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直接连接符 149"/>
            <p:cNvCxnSpPr/>
            <p:nvPr>
              <p:custDataLst>
                <p:tags r:id="rId95"/>
              </p:custDataLst>
            </p:nvPr>
          </p:nvCxnSpPr>
          <p:spPr bwMode="auto">
            <a:xfrm flipV="1">
              <a:off x="11338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直接连接符 150"/>
            <p:cNvCxnSpPr/>
            <p:nvPr>
              <p:custDataLst>
                <p:tags r:id="rId96"/>
              </p:custDataLst>
            </p:nvPr>
          </p:nvCxnSpPr>
          <p:spPr bwMode="auto">
            <a:xfrm>
              <a:off x="11338" y="572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2" name="直接连接符 151"/>
            <p:cNvCxnSpPr/>
            <p:nvPr>
              <p:custDataLst>
                <p:tags r:id="rId97"/>
              </p:custDataLst>
            </p:nvPr>
          </p:nvCxnSpPr>
          <p:spPr bwMode="auto">
            <a:xfrm flipV="1">
              <a:off x="11678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3" name="直接连接符 152"/>
            <p:cNvCxnSpPr/>
            <p:nvPr>
              <p:custDataLst>
                <p:tags r:id="rId98"/>
              </p:custDataLst>
            </p:nvPr>
          </p:nvCxnSpPr>
          <p:spPr bwMode="auto">
            <a:xfrm>
              <a:off x="11678" y="601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4" name="直接连接符 153"/>
            <p:cNvCxnSpPr/>
            <p:nvPr>
              <p:custDataLst>
                <p:tags r:id="rId99"/>
              </p:custDataLst>
            </p:nvPr>
          </p:nvCxnSpPr>
          <p:spPr bwMode="auto">
            <a:xfrm>
              <a:off x="12697" y="5443"/>
              <a:ext cx="0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5" name="直接连接符 154"/>
            <p:cNvCxnSpPr/>
            <p:nvPr>
              <p:custDataLst>
                <p:tags r:id="rId100"/>
              </p:custDataLst>
            </p:nvPr>
          </p:nvCxnSpPr>
          <p:spPr bwMode="auto">
            <a:xfrm flipH="1">
              <a:off x="13377" y="5443"/>
              <a:ext cx="1" cy="2551"/>
            </a:xfrm>
            <a:prstGeom prst="line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6" name="直接连接符 155"/>
            <p:cNvCxnSpPr/>
            <p:nvPr>
              <p:custDataLst>
                <p:tags r:id="rId101"/>
              </p:custDataLst>
            </p:nvPr>
          </p:nvCxnSpPr>
          <p:spPr bwMode="auto">
            <a:xfrm>
              <a:off x="13207" y="6265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7" name="直接连接符 156"/>
            <p:cNvCxnSpPr/>
            <p:nvPr>
              <p:custDataLst>
                <p:tags r:id="rId102"/>
              </p:custDataLst>
            </p:nvPr>
          </p:nvCxnSpPr>
          <p:spPr bwMode="auto">
            <a:xfrm>
              <a:off x="13207" y="6662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8" name="直接连接符 157"/>
            <p:cNvCxnSpPr/>
            <p:nvPr>
              <p:custDataLst>
                <p:tags r:id="rId103"/>
              </p:custDataLst>
            </p:nvPr>
          </p:nvCxnSpPr>
          <p:spPr bwMode="auto">
            <a:xfrm>
              <a:off x="13037" y="7314"/>
              <a:ext cx="51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9" name="直接连接符 158"/>
            <p:cNvCxnSpPr/>
            <p:nvPr>
              <p:custDataLst>
                <p:tags r:id="rId104"/>
              </p:custDataLst>
            </p:nvPr>
          </p:nvCxnSpPr>
          <p:spPr bwMode="auto">
            <a:xfrm flipV="1">
              <a:off x="13037" y="7314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0" name="直接连接符 159"/>
            <p:cNvCxnSpPr/>
            <p:nvPr>
              <p:custDataLst>
                <p:tags r:id="rId105"/>
              </p:custDataLst>
            </p:nvPr>
          </p:nvCxnSpPr>
          <p:spPr bwMode="auto">
            <a:xfrm flipV="1">
              <a:off x="13377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1" name="直接连接符 160"/>
            <p:cNvCxnSpPr/>
            <p:nvPr>
              <p:custDataLst>
                <p:tags r:id="rId106"/>
              </p:custDataLst>
            </p:nvPr>
          </p:nvCxnSpPr>
          <p:spPr bwMode="auto">
            <a:xfrm>
              <a:off x="13377" y="5726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2" name="直接连接符 161"/>
            <p:cNvCxnSpPr/>
            <p:nvPr>
              <p:custDataLst>
                <p:tags r:id="rId107"/>
              </p:custDataLst>
            </p:nvPr>
          </p:nvCxnSpPr>
          <p:spPr bwMode="auto">
            <a:xfrm flipV="1">
              <a:off x="12698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3" name="直接连接符 162"/>
            <p:cNvCxnSpPr/>
            <p:nvPr>
              <p:custDataLst>
                <p:tags r:id="rId108"/>
              </p:custDataLst>
            </p:nvPr>
          </p:nvCxnSpPr>
          <p:spPr bwMode="auto">
            <a:xfrm>
              <a:off x="12696" y="572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4" name="直接连接符 163"/>
            <p:cNvCxnSpPr/>
            <p:nvPr>
              <p:custDataLst>
                <p:tags r:id="rId109"/>
              </p:custDataLst>
            </p:nvPr>
          </p:nvCxnSpPr>
          <p:spPr bwMode="auto">
            <a:xfrm flipV="1">
              <a:off x="13037" y="5726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5" name="直接连接符 164"/>
            <p:cNvCxnSpPr/>
            <p:nvPr>
              <p:custDataLst>
                <p:tags r:id="rId110"/>
              </p:custDataLst>
            </p:nvPr>
          </p:nvCxnSpPr>
          <p:spPr bwMode="auto">
            <a:xfrm>
              <a:off x="13046" y="6010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6" name="直接连接符 165"/>
            <p:cNvCxnSpPr/>
            <p:nvPr>
              <p:custDataLst>
                <p:tags r:id="rId111"/>
              </p:custDataLst>
            </p:nvPr>
          </p:nvCxnSpPr>
          <p:spPr bwMode="auto">
            <a:xfrm flipV="1">
              <a:off x="12019" y="5727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9" name="直接连接符 168"/>
            <p:cNvCxnSpPr/>
            <p:nvPr>
              <p:custDataLst>
                <p:tags r:id="rId112"/>
              </p:custDataLst>
            </p:nvPr>
          </p:nvCxnSpPr>
          <p:spPr bwMode="auto">
            <a:xfrm>
              <a:off x="12019" y="5727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0" name="直接连接符 169"/>
            <p:cNvCxnSpPr/>
            <p:nvPr>
              <p:custDataLst>
                <p:tags r:id="rId113"/>
              </p:custDataLst>
            </p:nvPr>
          </p:nvCxnSpPr>
          <p:spPr bwMode="auto">
            <a:xfrm flipV="1">
              <a:off x="12359" y="5727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3" name="直接连接符 172"/>
            <p:cNvCxnSpPr/>
            <p:nvPr>
              <p:custDataLst>
                <p:tags r:id="rId114"/>
              </p:custDataLst>
            </p:nvPr>
          </p:nvCxnSpPr>
          <p:spPr bwMode="auto">
            <a:xfrm>
              <a:off x="12359" y="6011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4" name="直接连接符 173"/>
            <p:cNvCxnSpPr/>
            <p:nvPr>
              <p:custDataLst>
                <p:tags r:id="rId115"/>
              </p:custDataLst>
            </p:nvPr>
          </p:nvCxnSpPr>
          <p:spPr bwMode="auto">
            <a:xfrm flipV="1">
              <a:off x="9808" y="7710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5" name="直接连接符 174"/>
            <p:cNvCxnSpPr/>
            <p:nvPr>
              <p:custDataLst>
                <p:tags r:id="rId116"/>
              </p:custDataLst>
            </p:nvPr>
          </p:nvCxnSpPr>
          <p:spPr bwMode="auto">
            <a:xfrm>
              <a:off x="9808" y="7994"/>
              <a:ext cx="17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7" name="直接连接符 176"/>
            <p:cNvCxnSpPr/>
            <p:nvPr>
              <p:custDataLst>
                <p:tags r:id="rId117"/>
              </p:custDataLst>
            </p:nvPr>
          </p:nvCxnSpPr>
          <p:spPr bwMode="auto">
            <a:xfrm flipV="1">
              <a:off x="10659" y="7710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8" name="直接连接符 177"/>
            <p:cNvCxnSpPr/>
            <p:nvPr>
              <p:custDataLst>
                <p:tags r:id="rId118"/>
              </p:custDataLst>
            </p:nvPr>
          </p:nvCxnSpPr>
          <p:spPr bwMode="auto">
            <a:xfrm>
              <a:off x="10659" y="7994"/>
              <a:ext cx="181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9" name="直接连接符 178"/>
            <p:cNvCxnSpPr/>
            <p:nvPr>
              <p:custDataLst>
                <p:tags r:id="rId119"/>
              </p:custDataLst>
            </p:nvPr>
          </p:nvCxnSpPr>
          <p:spPr bwMode="auto">
            <a:xfrm flipV="1">
              <a:off x="12472" y="7710"/>
              <a:ext cx="0" cy="283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0" name="直接连接符 179"/>
            <p:cNvCxnSpPr/>
            <p:nvPr>
              <p:custDataLst>
                <p:tags r:id="rId120"/>
              </p:custDataLst>
            </p:nvPr>
          </p:nvCxnSpPr>
          <p:spPr bwMode="auto">
            <a:xfrm flipV="1">
              <a:off x="12472" y="7710"/>
              <a:ext cx="1077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84" name="组合 183"/>
          <p:cNvGrpSpPr/>
          <p:nvPr/>
        </p:nvGrpSpPr>
        <p:grpSpPr>
          <a:xfrm>
            <a:off x="1296000" y="2492896"/>
            <a:ext cx="3465735" cy="1584000"/>
            <a:chOff x="673522" y="3215236"/>
            <a:chExt cx="3465735" cy="1584000"/>
          </a:xfrm>
        </p:grpSpPr>
        <p:sp>
          <p:nvSpPr>
            <p:cNvPr id="185" name="Line 601"/>
            <p:cNvSpPr>
              <a:spLocks noChangeShapeType="1"/>
            </p:cNvSpPr>
            <p:nvPr>
              <p:custDataLst>
                <p:tags r:id="rId50"/>
              </p:custDataLst>
            </p:nvPr>
          </p:nvSpPr>
          <p:spPr bwMode="auto">
            <a:xfrm flipV="1">
              <a:off x="1619672" y="3575035"/>
              <a:ext cx="0" cy="972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Line 602"/>
            <p:cNvSpPr>
              <a:spLocks noChangeShapeType="1"/>
            </p:cNvSpPr>
            <p:nvPr>
              <p:custDataLst>
                <p:tags r:id="rId51"/>
              </p:custDataLst>
            </p:nvPr>
          </p:nvSpPr>
          <p:spPr bwMode="auto">
            <a:xfrm flipV="1">
              <a:off x="1364298" y="3575035"/>
              <a:ext cx="0" cy="1116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Text Box 603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755576" y="3215236"/>
              <a:ext cx="936104" cy="360000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188" name="Line 604"/>
            <p:cNvSpPr>
              <a:spLocks noChangeShapeType="1"/>
            </p:cNvSpPr>
            <p:nvPr>
              <p:custDataLst>
                <p:tags r:id="rId53"/>
              </p:custDataLst>
            </p:nvPr>
          </p:nvSpPr>
          <p:spPr bwMode="auto">
            <a:xfrm flipV="1">
              <a:off x="673522" y="4403236"/>
              <a:ext cx="2962376" cy="1591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Line 605"/>
            <p:cNvSpPr>
              <a:spLocks noChangeShapeType="1"/>
            </p:cNvSpPr>
            <p:nvPr>
              <p:custDataLst>
                <p:tags r:id="rId54"/>
              </p:custDataLst>
            </p:nvPr>
          </p:nvSpPr>
          <p:spPr bwMode="auto">
            <a:xfrm>
              <a:off x="673523" y="4547236"/>
              <a:ext cx="2962376" cy="1587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Line 606"/>
            <p:cNvSpPr>
              <a:spLocks noChangeShapeType="1"/>
            </p:cNvSpPr>
            <p:nvPr>
              <p:custDataLst>
                <p:tags r:id="rId55"/>
              </p:custDataLst>
            </p:nvPr>
          </p:nvSpPr>
          <p:spPr bwMode="auto">
            <a:xfrm>
              <a:off x="683568" y="4691236"/>
              <a:ext cx="2952332" cy="5333"/>
            </a:xfrm>
            <a:prstGeom prst="line">
              <a:avLst/>
            </a:prstGeom>
            <a:noFill/>
            <a:ln w="254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Text Box 607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3635896" y="4259236"/>
              <a:ext cx="503361" cy="54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ABus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DBus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CBus</a:t>
              </a:r>
            </a:p>
          </p:txBody>
        </p:sp>
        <p:sp>
          <p:nvSpPr>
            <p:cNvPr id="192" name="Text Box 608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1835696" y="3215236"/>
              <a:ext cx="793106" cy="36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193" name="Line 609"/>
            <p:cNvSpPr>
              <a:spLocks noChangeShapeType="1"/>
            </p:cNvSpPr>
            <p:nvPr>
              <p:custDataLst>
                <p:tags r:id="rId58"/>
              </p:custDataLst>
            </p:nvPr>
          </p:nvSpPr>
          <p:spPr bwMode="auto">
            <a:xfrm>
              <a:off x="1259632" y="3575036"/>
              <a:ext cx="0" cy="1116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Line 610"/>
            <p:cNvSpPr>
              <a:spLocks noChangeShapeType="1"/>
            </p:cNvSpPr>
            <p:nvPr>
              <p:custDataLst>
                <p:tags r:id="rId59"/>
              </p:custDataLst>
            </p:nvPr>
          </p:nvSpPr>
          <p:spPr bwMode="auto">
            <a:xfrm>
              <a:off x="828477" y="3575035"/>
              <a:ext cx="0" cy="828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Line 612"/>
            <p:cNvSpPr>
              <a:spLocks noChangeShapeType="1"/>
            </p:cNvSpPr>
            <p:nvPr>
              <p:custDataLst>
                <p:tags r:id="rId60"/>
              </p:custDataLst>
            </p:nvPr>
          </p:nvSpPr>
          <p:spPr bwMode="auto">
            <a:xfrm flipV="1">
              <a:off x="2555776" y="3573448"/>
              <a:ext cx="0" cy="972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Line 613"/>
            <p:cNvSpPr>
              <a:spLocks noChangeShapeType="1"/>
            </p:cNvSpPr>
            <p:nvPr>
              <p:custDataLst>
                <p:tags r:id="rId61"/>
              </p:custDataLst>
            </p:nvPr>
          </p:nvSpPr>
          <p:spPr bwMode="auto">
            <a:xfrm flipV="1">
              <a:off x="1907704" y="3573447"/>
              <a:ext cx="0" cy="828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614"/>
            <p:cNvSpPr>
              <a:spLocks noChangeShapeType="1"/>
            </p:cNvSpPr>
            <p:nvPr>
              <p:custDataLst>
                <p:tags r:id="rId62"/>
              </p:custDataLst>
            </p:nvPr>
          </p:nvSpPr>
          <p:spPr bwMode="auto">
            <a:xfrm flipV="1">
              <a:off x="2123728" y="3573448"/>
              <a:ext cx="0" cy="1116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615"/>
            <p:cNvSpPr>
              <a:spLocks noChangeShapeType="1"/>
            </p:cNvSpPr>
            <p:nvPr>
              <p:custDataLst>
                <p:tags r:id="rId63"/>
              </p:custDataLst>
            </p:nvPr>
          </p:nvSpPr>
          <p:spPr bwMode="auto">
            <a:xfrm>
              <a:off x="2228394" y="3573448"/>
              <a:ext cx="0" cy="1116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Text Box 616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2915817" y="3215236"/>
              <a:ext cx="720080" cy="36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外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设</a:t>
              </a:r>
            </a:p>
          </p:txBody>
        </p:sp>
        <p:sp>
          <p:nvSpPr>
            <p:cNvPr id="200" name="Line 620"/>
            <p:cNvSpPr>
              <a:spLocks noChangeShapeType="1"/>
            </p:cNvSpPr>
            <p:nvPr>
              <p:custDataLst>
                <p:tags r:id="rId65"/>
              </p:custDataLst>
            </p:nvPr>
          </p:nvSpPr>
          <p:spPr bwMode="auto">
            <a:xfrm flipV="1">
              <a:off x="2987825" y="3575036"/>
              <a:ext cx="0" cy="828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Line 621"/>
            <p:cNvSpPr>
              <a:spLocks noChangeShapeType="1"/>
            </p:cNvSpPr>
            <p:nvPr>
              <p:custDataLst>
                <p:tags r:id="rId66"/>
              </p:custDataLst>
            </p:nvPr>
          </p:nvSpPr>
          <p:spPr bwMode="auto">
            <a:xfrm flipV="1">
              <a:off x="3203849" y="3575035"/>
              <a:ext cx="0" cy="1116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Line 622"/>
            <p:cNvSpPr>
              <a:spLocks noChangeShapeType="1"/>
            </p:cNvSpPr>
            <p:nvPr>
              <p:custDataLst>
                <p:tags r:id="rId67"/>
              </p:custDataLst>
            </p:nvPr>
          </p:nvSpPr>
          <p:spPr bwMode="auto">
            <a:xfrm>
              <a:off x="3308515" y="3575036"/>
              <a:ext cx="0" cy="1116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Line 623"/>
            <p:cNvSpPr>
              <a:spLocks noChangeShapeType="1"/>
            </p:cNvSpPr>
            <p:nvPr>
              <p:custDataLst>
                <p:tags r:id="rId68"/>
              </p:custDataLst>
            </p:nvPr>
          </p:nvSpPr>
          <p:spPr bwMode="auto">
            <a:xfrm flipV="1">
              <a:off x="3563889" y="3575036"/>
              <a:ext cx="0" cy="972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4" name="组合 203"/>
          <p:cNvGrpSpPr/>
          <p:nvPr/>
        </p:nvGrpSpPr>
        <p:grpSpPr>
          <a:xfrm>
            <a:off x="1184275" y="2852916"/>
            <a:ext cx="2632710" cy="1116330"/>
            <a:chOff x="1865" y="4252"/>
            <a:chExt cx="4146" cy="1758"/>
          </a:xfrm>
        </p:grpSpPr>
        <p:sp>
          <p:nvSpPr>
            <p:cNvPr id="205" name="Text Box 611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865" y="4308"/>
              <a:ext cx="421" cy="126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①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</a:p>
          </p:txBody>
        </p:sp>
        <p:sp>
          <p:nvSpPr>
            <p:cNvPr id="206" name="Text Box 617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2512" y="4308"/>
              <a:ext cx="422" cy="126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①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命令</a:t>
              </a:r>
              <a:r>
                <a:rPr lang="en-US" altLang="zh-CN" sz="1600" b="1" u="none" dirty="0">
                  <a:highlight>
                    <a:srgbClr val="FFFF00"/>
                  </a:highlight>
                  <a:latin typeface="宋体" panose="02010600030101010101" pitchFamily="2" charset="-122"/>
                </a:rPr>
                <a:t>R</a:t>
              </a:r>
              <a:endParaRPr lang="zh-CN" altLang="en-US" sz="1600" b="1" u="none" dirty="0">
                <a:highlight>
                  <a:srgbClr val="FFFF00"/>
                </a:highlight>
                <a:latin typeface="宋体" panose="02010600030101010101" pitchFamily="2" charset="-122"/>
              </a:endParaRPr>
            </a:p>
          </p:txBody>
        </p:sp>
        <p:sp>
          <p:nvSpPr>
            <p:cNvPr id="207" name="Line 609"/>
            <p:cNvSpPr>
              <a:spLocks noChangeShapeType="1"/>
            </p:cNvSpPr>
            <p:nvPr>
              <p:custDataLst>
                <p:tags r:id="rId44"/>
              </p:custDataLst>
            </p:nvPr>
          </p:nvSpPr>
          <p:spPr bwMode="auto">
            <a:xfrm>
              <a:off x="2965" y="4252"/>
              <a:ext cx="0" cy="1757"/>
            </a:xfrm>
            <a:prstGeom prst="line">
              <a:avLst/>
            </a:prstGeom>
            <a:noFill/>
            <a:ln w="2222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Line 610"/>
            <p:cNvSpPr>
              <a:spLocks noChangeShapeType="1"/>
            </p:cNvSpPr>
            <p:nvPr>
              <p:custDataLst>
                <p:tags r:id="rId45"/>
              </p:custDataLst>
            </p:nvPr>
          </p:nvSpPr>
          <p:spPr bwMode="auto">
            <a:xfrm>
              <a:off x="2286" y="4252"/>
              <a:ext cx="0" cy="1304"/>
            </a:xfrm>
            <a:prstGeom prst="line">
              <a:avLst/>
            </a:prstGeom>
            <a:noFill/>
            <a:ln w="2222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613"/>
            <p:cNvSpPr>
              <a:spLocks noChangeShapeType="1"/>
            </p:cNvSpPr>
            <p:nvPr>
              <p:custDataLst>
                <p:tags r:id="rId46"/>
              </p:custDataLst>
            </p:nvPr>
          </p:nvSpPr>
          <p:spPr bwMode="auto">
            <a:xfrm flipV="1">
              <a:off x="3969" y="4252"/>
              <a:ext cx="0" cy="1304"/>
            </a:xfrm>
            <a:prstGeom prst="line">
              <a:avLst/>
            </a:prstGeom>
            <a:noFill/>
            <a:ln w="2222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Line 614"/>
            <p:cNvSpPr>
              <a:spLocks noChangeShapeType="1"/>
            </p:cNvSpPr>
            <p:nvPr>
              <p:custDataLst>
                <p:tags r:id="rId47"/>
              </p:custDataLst>
            </p:nvPr>
          </p:nvSpPr>
          <p:spPr bwMode="auto">
            <a:xfrm flipV="1">
              <a:off x="4309" y="4252"/>
              <a:ext cx="0" cy="1757"/>
            </a:xfrm>
            <a:prstGeom prst="line">
              <a:avLst/>
            </a:prstGeom>
            <a:noFill/>
            <a:ln w="2222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Line 620"/>
            <p:cNvSpPr>
              <a:spLocks noChangeShapeType="1"/>
            </p:cNvSpPr>
            <p:nvPr>
              <p:custDataLst>
                <p:tags r:id="rId48"/>
              </p:custDataLst>
            </p:nvPr>
          </p:nvSpPr>
          <p:spPr bwMode="auto">
            <a:xfrm flipV="1">
              <a:off x="5669" y="4254"/>
              <a:ext cx="0" cy="1304"/>
            </a:xfrm>
            <a:prstGeom prst="line">
              <a:avLst/>
            </a:prstGeom>
            <a:noFill/>
            <a:ln w="2222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Line 621"/>
            <p:cNvSpPr>
              <a:spLocks noChangeShapeType="1"/>
            </p:cNvSpPr>
            <p:nvPr>
              <p:custDataLst>
                <p:tags r:id="rId49"/>
              </p:custDataLst>
            </p:nvPr>
          </p:nvSpPr>
          <p:spPr bwMode="auto">
            <a:xfrm flipV="1">
              <a:off x="6011" y="4254"/>
              <a:ext cx="0" cy="1757"/>
            </a:xfrm>
            <a:prstGeom prst="line">
              <a:avLst/>
            </a:prstGeom>
            <a:noFill/>
            <a:ln w="2222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3" name="Text Box 608"/>
          <p:cNvSpPr txBox="1">
            <a:spLocks noChangeArrowheads="1"/>
          </p:cNvSpPr>
          <p:nvPr/>
        </p:nvSpPr>
        <p:spPr bwMode="auto">
          <a:xfrm>
            <a:off x="2448000" y="2492896"/>
            <a:ext cx="793106" cy="360000"/>
          </a:xfrm>
          <a:prstGeom prst="rect">
            <a:avLst/>
          </a:prstGeom>
          <a:noFill/>
          <a:ln w="28575">
            <a:solidFill>
              <a:srgbClr val="990099"/>
            </a:solidFill>
            <a:miter lim="800000"/>
          </a:ln>
          <a:effectLst/>
        </p:spPr>
        <p:txBody>
          <a:bodyPr lIns="18000" tIns="10800" rIns="18000" bIns="10800" anchor="ctr"/>
          <a:lstStyle/>
          <a:p>
            <a:pPr algn="ctr"/>
            <a:endParaRPr lang="zh-CN" altLang="en-US" sz="2000" b="1" u="none" dirty="0">
              <a:latin typeface="宋体" panose="02010600030101010101" pitchFamily="2" charset="-122"/>
            </a:endParaRPr>
          </a:p>
        </p:txBody>
      </p:sp>
      <p:grpSp>
        <p:nvGrpSpPr>
          <p:cNvPr id="214" name="组合 213"/>
          <p:cNvGrpSpPr/>
          <p:nvPr/>
        </p:nvGrpSpPr>
        <p:grpSpPr>
          <a:xfrm>
            <a:off x="2235200" y="2852916"/>
            <a:ext cx="1234440" cy="980890"/>
            <a:chOff x="3520" y="4252"/>
            <a:chExt cx="1944" cy="1545"/>
          </a:xfrm>
        </p:grpSpPr>
        <p:sp>
          <p:nvSpPr>
            <p:cNvPr id="215" name="Text Box 619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5127" y="4382"/>
              <a:ext cx="337" cy="124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③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</a:p>
          </p:txBody>
        </p:sp>
        <p:sp>
          <p:nvSpPr>
            <p:cNvPr id="223" name="Line 612"/>
            <p:cNvSpPr>
              <a:spLocks noChangeShapeType="1"/>
            </p:cNvSpPr>
            <p:nvPr>
              <p:custDataLst>
                <p:tags r:id="rId40"/>
              </p:custDataLst>
            </p:nvPr>
          </p:nvSpPr>
          <p:spPr bwMode="auto">
            <a:xfrm flipV="1">
              <a:off x="5010" y="4266"/>
              <a:ext cx="0" cy="1531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round/>
              <a:headEnd type="triangle" w="lg" len="med"/>
              <a:tailEnd type="none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Line 601"/>
            <p:cNvSpPr>
              <a:spLocks noChangeShapeType="1"/>
            </p:cNvSpPr>
            <p:nvPr>
              <p:custDataLst>
                <p:tags r:id="rId41"/>
              </p:custDataLst>
            </p:nvPr>
          </p:nvSpPr>
          <p:spPr bwMode="auto">
            <a:xfrm flipV="1">
              <a:off x="3520" y="4252"/>
              <a:ext cx="0" cy="1531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round/>
              <a:headEnd type="none" w="med" len="med"/>
              <a:tailEnd type="triangle" w="lg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6" name="组合 225"/>
          <p:cNvGrpSpPr/>
          <p:nvPr/>
        </p:nvGrpSpPr>
        <p:grpSpPr>
          <a:xfrm>
            <a:off x="5010750" y="2492896"/>
            <a:ext cx="3465735" cy="1584000"/>
            <a:chOff x="673522" y="3215236"/>
            <a:chExt cx="3465735" cy="1584000"/>
          </a:xfrm>
        </p:grpSpPr>
        <p:sp>
          <p:nvSpPr>
            <p:cNvPr id="227" name="Line 601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flipV="1">
              <a:off x="1619672" y="3575035"/>
              <a:ext cx="0" cy="972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8" name="Line 602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V="1">
              <a:off x="1364298" y="3575035"/>
              <a:ext cx="0" cy="1116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Text Box 603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55576" y="3215236"/>
              <a:ext cx="936104" cy="360000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230" name="Line 604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flipV="1">
              <a:off x="673522" y="4403236"/>
              <a:ext cx="2962376" cy="1591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Line 605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>
              <a:off x="673523" y="4547236"/>
              <a:ext cx="2962376" cy="1587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Line 606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>
              <a:off x="683568" y="4691236"/>
              <a:ext cx="2952332" cy="5333"/>
            </a:xfrm>
            <a:prstGeom prst="line">
              <a:avLst/>
            </a:prstGeom>
            <a:noFill/>
            <a:ln w="25400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Text Box 607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635896" y="4259236"/>
              <a:ext cx="503361" cy="54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ABus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DBus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</a:pPr>
              <a:r>
                <a:rPr lang="en-US" altLang="zh-CN" sz="1600" b="1" u="none" dirty="0" err="1">
                  <a:latin typeface="宋体" panose="02010600030101010101" pitchFamily="2" charset="-122"/>
                </a:rPr>
                <a:t>CBus</a:t>
              </a:r>
            </a:p>
          </p:txBody>
        </p:sp>
        <p:sp>
          <p:nvSpPr>
            <p:cNvPr id="234" name="Text Box 608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835696" y="3215236"/>
              <a:ext cx="793106" cy="36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235" name="Line 609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1259632" y="3575036"/>
              <a:ext cx="0" cy="1116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Line 610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828477" y="3575035"/>
              <a:ext cx="0" cy="828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Line 612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 flipV="1">
              <a:off x="2555776" y="3573448"/>
              <a:ext cx="0" cy="972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Line 613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 flipV="1">
              <a:off x="1907704" y="3573447"/>
              <a:ext cx="0" cy="828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Line 614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 flipV="1">
              <a:off x="2123728" y="3573448"/>
              <a:ext cx="0" cy="1116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Line 615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2228394" y="3573448"/>
              <a:ext cx="0" cy="1116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Text Box 616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2915817" y="3215236"/>
              <a:ext cx="720080" cy="36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外</a:t>
              </a:r>
              <a:r>
                <a:rPr lang="zh-CN" altLang="en-US" sz="1800" b="1" u="none" dirty="0">
                  <a:latin typeface="宋体" panose="02010600030101010101" pitchFamily="2" charset="-122"/>
                </a:rPr>
                <a:t>设</a:t>
              </a:r>
            </a:p>
          </p:txBody>
        </p:sp>
        <p:sp>
          <p:nvSpPr>
            <p:cNvPr id="242" name="Line 620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 flipV="1">
              <a:off x="2987825" y="3575036"/>
              <a:ext cx="0" cy="828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Line 621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 flipV="1">
              <a:off x="3203849" y="3575035"/>
              <a:ext cx="0" cy="1116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Line 622"/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>
              <a:off x="3308515" y="3575036"/>
              <a:ext cx="0" cy="1116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Line 623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 flipV="1">
              <a:off x="3563889" y="3575036"/>
              <a:ext cx="0" cy="972000"/>
            </a:xfrm>
            <a:prstGeom prst="line">
              <a:avLst/>
            </a:prstGeom>
            <a:noFill/>
            <a:ln w="15875">
              <a:solidFill>
                <a:schemeClr val="tx1">
                  <a:lumMod val="75000"/>
                  <a:lumOff val="25000"/>
                </a:schemeClr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6" name="组合 245"/>
          <p:cNvGrpSpPr/>
          <p:nvPr/>
        </p:nvGrpSpPr>
        <p:grpSpPr>
          <a:xfrm>
            <a:off x="4899025" y="2852896"/>
            <a:ext cx="2632710" cy="1116330"/>
            <a:chOff x="1865" y="4252"/>
            <a:chExt cx="4146" cy="1758"/>
          </a:xfrm>
        </p:grpSpPr>
        <p:sp>
          <p:nvSpPr>
            <p:cNvPr id="247" name="Text Box 61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865" y="4308"/>
              <a:ext cx="421" cy="126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①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地址</a:t>
              </a:r>
            </a:p>
          </p:txBody>
        </p:sp>
        <p:sp>
          <p:nvSpPr>
            <p:cNvPr id="248" name="Text Box 617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512" y="4308"/>
              <a:ext cx="422" cy="126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①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命令</a:t>
              </a:r>
              <a:r>
                <a:rPr lang="en-US" altLang="zh-CN" sz="1600" b="1" u="none" dirty="0">
                  <a:highlight>
                    <a:srgbClr val="FFFF00"/>
                  </a:highlight>
                  <a:latin typeface="宋体" panose="02010600030101010101" pitchFamily="2" charset="-122"/>
                </a:rPr>
                <a:t>W</a:t>
              </a:r>
              <a:endParaRPr lang="zh-CN" altLang="en-US" sz="1600" b="1" u="none" dirty="0">
                <a:highlight>
                  <a:srgbClr val="FFFF00"/>
                </a:highlight>
                <a:latin typeface="宋体" panose="02010600030101010101" pitchFamily="2" charset="-122"/>
              </a:endParaRPr>
            </a:p>
          </p:txBody>
        </p:sp>
        <p:sp>
          <p:nvSpPr>
            <p:cNvPr id="249" name="Line 609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2965" y="4252"/>
              <a:ext cx="0" cy="1757"/>
            </a:xfrm>
            <a:prstGeom prst="line">
              <a:avLst/>
            </a:prstGeom>
            <a:noFill/>
            <a:ln w="2222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Line 610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2286" y="4252"/>
              <a:ext cx="0" cy="1304"/>
            </a:xfrm>
            <a:prstGeom prst="line">
              <a:avLst/>
            </a:prstGeom>
            <a:noFill/>
            <a:ln w="2222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Line 613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 flipV="1">
              <a:off x="3969" y="4252"/>
              <a:ext cx="0" cy="1304"/>
            </a:xfrm>
            <a:prstGeom prst="line">
              <a:avLst/>
            </a:prstGeom>
            <a:noFill/>
            <a:ln w="2222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Line 614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 flipV="1">
              <a:off x="4309" y="4252"/>
              <a:ext cx="0" cy="1757"/>
            </a:xfrm>
            <a:prstGeom prst="line">
              <a:avLst/>
            </a:prstGeom>
            <a:noFill/>
            <a:ln w="2222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Line 620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V="1">
              <a:off x="5669" y="4254"/>
              <a:ext cx="0" cy="1304"/>
            </a:xfrm>
            <a:prstGeom prst="line">
              <a:avLst/>
            </a:prstGeom>
            <a:noFill/>
            <a:ln w="2222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Line 621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flipV="1">
              <a:off x="6011" y="4254"/>
              <a:ext cx="0" cy="1757"/>
            </a:xfrm>
            <a:prstGeom prst="line">
              <a:avLst/>
            </a:prstGeom>
            <a:noFill/>
            <a:ln w="2222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5" name="Text Box 608"/>
          <p:cNvSpPr txBox="1">
            <a:spLocks noChangeArrowheads="1"/>
          </p:cNvSpPr>
          <p:nvPr/>
        </p:nvSpPr>
        <p:spPr bwMode="auto">
          <a:xfrm>
            <a:off x="6162750" y="2492896"/>
            <a:ext cx="793106" cy="360000"/>
          </a:xfrm>
          <a:prstGeom prst="rect">
            <a:avLst/>
          </a:prstGeom>
          <a:noFill/>
          <a:ln w="28575">
            <a:solidFill>
              <a:srgbClr val="990099"/>
            </a:solidFill>
            <a:miter lim="800000"/>
          </a:ln>
          <a:effectLst/>
        </p:spPr>
        <p:txBody>
          <a:bodyPr lIns="18000" tIns="10800" rIns="18000" bIns="10800" anchor="ctr"/>
          <a:lstStyle/>
          <a:p>
            <a:pPr algn="ctr"/>
            <a:endParaRPr lang="zh-CN" altLang="en-US" sz="2000" b="1" u="none" dirty="0">
              <a:latin typeface="宋体" panose="02010600030101010101" pitchFamily="2" charset="-122"/>
            </a:endParaRPr>
          </a:p>
        </p:txBody>
      </p:sp>
      <p:grpSp>
        <p:nvGrpSpPr>
          <p:cNvPr id="256" name="组合 255"/>
          <p:cNvGrpSpPr/>
          <p:nvPr/>
        </p:nvGrpSpPr>
        <p:grpSpPr>
          <a:xfrm>
            <a:off x="5949950" y="2836406"/>
            <a:ext cx="1234440" cy="981075"/>
            <a:chOff x="3520" y="4252"/>
            <a:chExt cx="1944" cy="1545"/>
          </a:xfrm>
        </p:grpSpPr>
        <p:sp>
          <p:nvSpPr>
            <p:cNvPr id="257" name="Text Box 619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127" y="4382"/>
              <a:ext cx="337" cy="124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②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数据</a:t>
              </a:r>
            </a:p>
          </p:txBody>
        </p:sp>
        <p:sp>
          <p:nvSpPr>
            <p:cNvPr id="258" name="Line 612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 flipV="1">
              <a:off x="5010" y="4266"/>
              <a:ext cx="0" cy="1531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round/>
              <a:headEnd type="none" w="lg" len="med"/>
              <a:tailEnd type="triangle" w="lg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601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flipV="1">
              <a:off x="3520" y="4252"/>
              <a:ext cx="0" cy="1531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round/>
              <a:headEnd type="triangle" w="lg" len="med"/>
              <a:tailEnd type="none" w="lg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0" name="组合 259"/>
          <p:cNvGrpSpPr/>
          <p:nvPr/>
        </p:nvGrpSpPr>
        <p:grpSpPr>
          <a:xfrm>
            <a:off x="5694680" y="2557006"/>
            <a:ext cx="1224280" cy="1403985"/>
            <a:chOff x="8968" y="3786"/>
            <a:chExt cx="1928" cy="2211"/>
          </a:xfrm>
        </p:grpSpPr>
        <p:sp>
          <p:nvSpPr>
            <p:cNvPr id="261" name="Text Box 619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9819" y="3786"/>
              <a:ext cx="1077" cy="39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③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响应</a:t>
              </a:r>
            </a:p>
          </p:txBody>
        </p:sp>
        <p:sp>
          <p:nvSpPr>
            <p:cNvPr id="262" name="Text Box 61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0415" y="4356"/>
              <a:ext cx="333" cy="12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③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状态</a:t>
              </a:r>
            </a:p>
          </p:txBody>
        </p:sp>
        <p:sp>
          <p:nvSpPr>
            <p:cNvPr id="263" name="Line 615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10345" y="4240"/>
              <a:ext cx="0" cy="1757"/>
            </a:xfrm>
            <a:prstGeom prst="line">
              <a:avLst/>
            </a:prstGeom>
            <a:noFill/>
            <a:ln w="2222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Line 602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 flipV="1">
              <a:off x="8968" y="4226"/>
              <a:ext cx="0" cy="1757"/>
            </a:xfrm>
            <a:prstGeom prst="line">
              <a:avLst/>
            </a:prstGeom>
            <a:noFill/>
            <a:ln w="2222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5" name="组合 264"/>
          <p:cNvGrpSpPr/>
          <p:nvPr/>
        </p:nvGrpSpPr>
        <p:grpSpPr>
          <a:xfrm>
            <a:off x="1979930" y="2555736"/>
            <a:ext cx="1224280" cy="1421765"/>
            <a:chOff x="3118" y="3784"/>
            <a:chExt cx="1928" cy="2239"/>
          </a:xfrm>
        </p:grpSpPr>
        <p:sp>
          <p:nvSpPr>
            <p:cNvPr id="266" name="Text Box 619"/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969" y="3784"/>
              <a:ext cx="1077" cy="39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②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响应</a:t>
              </a:r>
            </a:p>
          </p:txBody>
        </p:sp>
        <p:sp>
          <p:nvSpPr>
            <p:cNvPr id="267" name="Text Box 618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565" y="4382"/>
              <a:ext cx="333" cy="12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en-US" altLang="zh-CN" sz="1600" b="1" u="none" dirty="0">
                  <a:latin typeface="宋体" panose="02010600030101010101" pitchFamily="2" charset="-122"/>
                </a:rPr>
                <a:t>②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状态</a:t>
              </a:r>
            </a:p>
          </p:txBody>
        </p:sp>
        <p:sp>
          <p:nvSpPr>
            <p:cNvPr id="268" name="Line 615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4495" y="4266"/>
              <a:ext cx="0" cy="1757"/>
            </a:xfrm>
            <a:prstGeom prst="line">
              <a:avLst/>
            </a:prstGeom>
            <a:noFill/>
            <a:ln w="2222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" name="Line 602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 flipV="1">
              <a:off x="3118" y="4252"/>
              <a:ext cx="0" cy="1757"/>
            </a:xfrm>
            <a:prstGeom prst="line">
              <a:avLst/>
            </a:prstGeom>
            <a:noFill/>
            <a:ln w="2222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6" name="AutoShape 338">
            <a:extLst>
              <a:ext uri="{FF2B5EF4-FFF2-40B4-BE49-F238E27FC236}">
                <a16:creationId xmlns:a16="http://schemas.microsoft.com/office/drawing/2014/main" id="{E80C016B-5CAD-496C-B465-E6FCC22B46CD}"/>
              </a:ext>
            </a:extLst>
          </p:cNvPr>
          <p:cNvSpPr/>
          <p:nvPr/>
        </p:nvSpPr>
        <p:spPr bwMode="auto">
          <a:xfrm>
            <a:off x="2843808" y="6309320"/>
            <a:ext cx="1435595" cy="288290"/>
          </a:xfrm>
          <a:prstGeom prst="borderCallout2">
            <a:avLst>
              <a:gd name="adj1" fmla="val 54801"/>
              <a:gd name="adj2" fmla="val 100674"/>
              <a:gd name="adj3" fmla="val 57155"/>
              <a:gd name="adj4" fmla="val 114084"/>
              <a:gd name="adj5" fmla="val -74731"/>
              <a:gd name="adj6" fmla="val 119714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vert="horz" lIns="18000" tIns="10800" rIns="18000" bIns="10800" anchor="ctr" anchorCtr="1"/>
          <a:lstStyle/>
          <a:p>
            <a:pPr lvl="0" algn="l"/>
            <a:r>
              <a:rPr lang="zh-CN" altLang="en-US" sz="1600" b="1" dirty="0">
                <a:latin typeface="宋体" panose="02010600030101010101" pitchFamily="2" charset="-122"/>
              </a:rPr>
              <a:t>传输结束阶段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75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75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12" presetClass="entr" presetSubtype="4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75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75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75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75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75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75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250"/>
                            </p:stCondLst>
                            <p:childTnLst>
                              <p:par>
                                <p:cTn id="7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75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bldLvl="0" animBg="1"/>
      <p:bldP spid="308" grpId="0" bldLvl="0" animBg="1"/>
      <p:bldP spid="309" grpId="0" bldLvl="0" animBg="1"/>
      <p:bldP spid="213" grpId="1" animBg="1"/>
      <p:bldP spid="255" grpId="0" animBg="1"/>
      <p:bldP spid="2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>
            <a:extLst>
              <a:ext uri="{FF2B5EF4-FFF2-40B4-BE49-F238E27FC236}">
                <a16:creationId xmlns:a16="http://schemas.microsoft.com/office/drawing/2014/main" id="{8D4EFB52-890E-45B5-A268-231AD27283C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0500" y="332740"/>
            <a:ext cx="3517265" cy="4991559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※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计算机硬件组成小结：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00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000" b="1" dirty="0">
                <a:solidFill>
                  <a:srgbClr val="00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计算机模型</a:t>
            </a:r>
            <a:r>
              <a:rPr lang="en-US" altLang="zh-CN" sz="2000" b="1" dirty="0">
                <a:solidFill>
                  <a:srgbClr val="00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00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硬件结构：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软件组成：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工作方式：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</a:p>
          <a:p>
            <a:pPr>
              <a:lnSpc>
                <a:spcPct val="105000"/>
              </a:lnSpc>
            </a:pP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</a:rPr>
              <a:t>         └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即软件执行方式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rgbClr val="00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000" b="1" dirty="0">
                <a:solidFill>
                  <a:srgbClr val="00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计算机硬件组成</a:t>
            </a:r>
            <a:r>
              <a:rPr lang="en-US" altLang="zh-CN" sz="2000" b="1" dirty="0">
                <a:solidFill>
                  <a:srgbClr val="0033CC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基本结构：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部件组成：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部件互连：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BECDD6E6-2916-41C7-98FE-AAAC16281220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23728" y="1124744"/>
            <a:ext cx="6876672" cy="3414204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由</a:t>
            </a:r>
            <a:r>
              <a:rPr lang="en-US" altLang="zh-CN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类部件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组成，以运算器为中心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运算与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I/O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串行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由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指令序列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组成，指令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有顺序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转移型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二进制编码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表示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①程序预先装入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MEM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，②逐条取出指令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执行</a:t>
            </a:r>
            <a:endParaRPr lang="zh-CN" altLang="en-US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改进模型：①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MEM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由主存＋辅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存组成，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以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MEM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为中心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→CPU</a:t>
            </a:r>
            <a:r>
              <a:rPr lang="zh-CN" altLang="en-US" sz="16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访存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指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访问主存</a:t>
            </a:r>
            <a:endParaRPr lang="en-US" altLang="zh-CN" sz="1600" b="1" u="sng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主存、运算器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、控制器如图，外设由</a:t>
            </a:r>
            <a:r>
              <a:rPr lang="zh-CN" altLang="en-US" sz="2000" b="1" dirty="0">
                <a:latin typeface="宋体" panose="02010600030101010101" pitchFamily="2" charset="-122"/>
              </a:rPr>
              <a:t>部件、设备控制器组成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总线方式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增设接口电路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交互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基于传输协议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约定所需步骤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6207B616-D073-40D9-8FDE-F5345AA2DCDE}"/>
              </a:ext>
            </a:extLst>
          </p:cNvPr>
          <p:cNvGrpSpPr/>
          <p:nvPr/>
        </p:nvGrpSpPr>
        <p:grpSpPr>
          <a:xfrm>
            <a:off x="792368" y="4437112"/>
            <a:ext cx="7092000" cy="1836000"/>
            <a:chOff x="504000" y="2772000"/>
            <a:chExt cx="7092000" cy="1836000"/>
          </a:xfrm>
        </p:grpSpPr>
        <p:sp>
          <p:nvSpPr>
            <p:cNvPr id="194" name="Text Box 72">
              <a:extLst>
                <a:ext uri="{FF2B5EF4-FFF2-40B4-BE49-F238E27FC236}">
                  <a16:creationId xmlns:a16="http://schemas.microsoft.com/office/drawing/2014/main" id="{B434F625-9578-4455-9750-D046880062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00" y="2772000"/>
              <a:ext cx="4608000" cy="1836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95" name="Text Box 72">
              <a:extLst>
                <a:ext uri="{FF2B5EF4-FFF2-40B4-BE49-F238E27FC236}">
                  <a16:creationId xmlns:a16="http://schemas.microsoft.com/office/drawing/2014/main" id="{1A822E40-E607-4953-A6FE-531B33BB49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000" y="2844000"/>
              <a:ext cx="2700000" cy="169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t" anchorCtr="0"/>
            <a:lstStyle/>
            <a:p>
              <a:pPr>
                <a:lnSpc>
                  <a:spcPct val="90000"/>
                </a:lnSpc>
                <a:spcBef>
                  <a:spcPts val="900"/>
                </a:spcBef>
              </a:pP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90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196" name="Text Box 80">
              <a:extLst>
                <a:ext uri="{FF2B5EF4-FFF2-40B4-BE49-F238E27FC236}">
                  <a16:creationId xmlns:a16="http://schemas.microsoft.com/office/drawing/2014/main" id="{BF3590E9-9DCF-4FC1-8871-59A2723A9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7720" y="2772000"/>
              <a:ext cx="468000" cy="216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主机</a:t>
              </a:r>
            </a:p>
          </p:txBody>
        </p:sp>
        <p:sp>
          <p:nvSpPr>
            <p:cNvPr id="197" name="Text Box 79">
              <a:extLst>
                <a:ext uri="{FF2B5EF4-FFF2-40B4-BE49-F238E27FC236}">
                  <a16:creationId xmlns:a16="http://schemas.microsoft.com/office/drawing/2014/main" id="{E4EFB57E-92ED-4117-82E6-17B9221FE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2456" y="3528000"/>
              <a:ext cx="288000" cy="216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198" name="Text Box 85">
              <a:extLst>
                <a:ext uri="{FF2B5EF4-FFF2-40B4-BE49-F238E27FC236}">
                  <a16:creationId xmlns:a16="http://schemas.microsoft.com/office/drawing/2014/main" id="{7D148544-B9D7-4446-9245-A66C8F82D3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0000" y="3528000"/>
              <a:ext cx="86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硬盘</a:t>
              </a:r>
            </a:p>
          </p:txBody>
        </p: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F412ED39-75E6-4452-BFCD-81FAAB68A88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31984" y="3384000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0" name="Text Box 85">
              <a:extLst>
                <a:ext uri="{FF2B5EF4-FFF2-40B4-BE49-F238E27FC236}">
                  <a16:creationId xmlns:a16="http://schemas.microsoft.com/office/drawing/2014/main" id="{E5F34446-B7C8-45AB-A716-90567A5EF5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8000" y="3528000"/>
              <a:ext cx="828000" cy="216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设备</a:t>
              </a:r>
            </a:p>
          </p:txBody>
        </p: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F023BECB-2457-4F59-B215-007219D8D46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64152" y="3384000"/>
              <a:ext cx="0" cy="14400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2" name="Rectangle 184">
              <a:extLst>
                <a:ext uri="{FF2B5EF4-FFF2-40B4-BE49-F238E27FC236}">
                  <a16:creationId xmlns:a16="http://schemas.microsoft.com/office/drawing/2014/main" id="{0893383D-6D15-47AB-B916-BB29AD3D3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000" y="2880000"/>
              <a:ext cx="1584000" cy="756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prstDash val="solid"/>
              <a:miter lim="800000"/>
            </a:ln>
          </p:spPr>
          <p:txBody>
            <a:bodyPr vert="horz" lIns="36000" tIns="0" rIns="0" bIns="0"/>
            <a:lstStyle/>
            <a:p>
              <a:r>
                <a:rPr lang="zh-CN" altLang="en-US" sz="1600" b="1" dirty="0"/>
                <a:t>运</a:t>
              </a:r>
              <a:endParaRPr lang="en-US" altLang="zh-CN" sz="1600" b="1" dirty="0"/>
            </a:p>
            <a:p>
              <a:r>
                <a:rPr lang="zh-CN" altLang="en-US" sz="1600" b="1" dirty="0"/>
                <a:t>算</a:t>
              </a:r>
              <a:endParaRPr lang="en-US" altLang="zh-CN" sz="1600" b="1" dirty="0"/>
            </a:p>
            <a:p>
              <a:r>
                <a:rPr lang="zh-CN" altLang="en-US" sz="1600" b="1" dirty="0"/>
                <a:t>器</a:t>
              </a:r>
            </a:p>
          </p:txBody>
        </p:sp>
        <p:sp>
          <p:nvSpPr>
            <p:cNvPr id="203" name="Rectangle 65" descr="轮廓式菱形">
              <a:extLst>
                <a:ext uri="{FF2B5EF4-FFF2-40B4-BE49-F238E27FC236}">
                  <a16:creationId xmlns:a16="http://schemas.microsoft.com/office/drawing/2014/main" id="{AF7B3D11-75E6-4A86-89F0-C468A1ABA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840" y="3744000"/>
              <a:ext cx="2556000" cy="72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t" anchorCtr="0"/>
            <a:lstStyle/>
            <a:p>
              <a:endParaRPr lang="en-US" altLang="zh-CN" sz="1600" b="1" dirty="0">
                <a:latin typeface="+mn-ea"/>
                <a:ea typeface="+mn-ea"/>
              </a:endParaRPr>
            </a:p>
            <a:p>
              <a:pPr>
                <a:spcBef>
                  <a:spcPts val="900"/>
                </a:spcBef>
              </a:pPr>
              <a:r>
                <a:rPr lang="en-US" altLang="zh-CN" sz="1600" b="1" dirty="0">
                  <a:latin typeface="+mn-ea"/>
                  <a:ea typeface="+mn-ea"/>
                </a:rPr>
                <a:t>             </a:t>
              </a:r>
              <a:r>
                <a:rPr lang="zh-CN" altLang="en-US" sz="1600" b="1" dirty="0">
                  <a:latin typeface="+mn-ea"/>
                  <a:ea typeface="+mn-ea"/>
                </a:rPr>
                <a:t>控制器</a:t>
              </a:r>
              <a:endParaRPr lang="zh-CN" altLang="en-US" b="1" dirty="0">
                <a:latin typeface="+mn-ea"/>
                <a:ea typeface="+mn-ea"/>
              </a:endParaRPr>
            </a:p>
          </p:txBody>
        </p:sp>
        <p:sp>
          <p:nvSpPr>
            <p:cNvPr id="204" name="Rectangle 180">
              <a:extLst>
                <a:ext uri="{FF2B5EF4-FFF2-40B4-BE49-F238E27FC236}">
                  <a16:creationId xmlns:a16="http://schemas.microsoft.com/office/drawing/2014/main" id="{AFEACE67-53DF-4867-949A-ACB0B7497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0000" y="3528000"/>
              <a:ext cx="1620000" cy="100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r"/>
              <a:endParaRPr lang="en-US" altLang="zh-CN" sz="1600" dirty="0"/>
            </a:p>
            <a:p>
              <a:pPr algn="r"/>
              <a:r>
                <a:rPr lang="zh-CN" altLang="en-US" sz="1600" b="1" dirty="0">
                  <a:latin typeface="+mn-ea"/>
                  <a:ea typeface="+mn-ea"/>
                </a:rPr>
                <a:t>主</a:t>
              </a:r>
              <a:endParaRPr lang="en-US" altLang="zh-CN" sz="1600" b="1" dirty="0">
                <a:latin typeface="+mn-ea"/>
                <a:ea typeface="+mn-ea"/>
              </a:endParaRPr>
            </a:p>
            <a:p>
              <a:pPr algn="r"/>
              <a:r>
                <a:rPr lang="zh-CN" altLang="en-US" sz="1600" b="1" dirty="0">
                  <a:latin typeface="+mn-ea"/>
                  <a:ea typeface="+mn-ea"/>
                </a:rPr>
                <a:t>存</a:t>
              </a:r>
              <a:endParaRPr lang="zh-CN" altLang="en-US" b="1" dirty="0">
                <a:latin typeface="+mn-ea"/>
                <a:ea typeface="+mn-ea"/>
              </a:endParaRPr>
            </a:p>
          </p:txBody>
        </p:sp>
        <p:sp>
          <p:nvSpPr>
            <p:cNvPr id="205" name="Line 188">
              <a:extLst>
                <a:ext uri="{FF2B5EF4-FFF2-40B4-BE49-F238E27FC236}">
                  <a16:creationId xmlns:a16="http://schemas.microsoft.com/office/drawing/2014/main" id="{D602E823-8664-40C0-96A6-0815D79584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000" y="3384000"/>
              <a:ext cx="0" cy="324000"/>
            </a:xfrm>
            <a:prstGeom prst="line">
              <a:avLst/>
            </a:prstGeom>
            <a:noFill/>
            <a:ln w="15875" cmpd="sng">
              <a:solidFill>
                <a:srgbClr val="CC33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194">
              <a:extLst>
                <a:ext uri="{FF2B5EF4-FFF2-40B4-BE49-F238E27FC236}">
                  <a16:creationId xmlns:a16="http://schemas.microsoft.com/office/drawing/2014/main" id="{880D0E4D-02D7-438A-8722-E8F07E5F4C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5864" y="3384000"/>
              <a:ext cx="0" cy="25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188">
              <a:extLst>
                <a:ext uri="{FF2B5EF4-FFF2-40B4-BE49-F238E27FC236}">
                  <a16:creationId xmlns:a16="http://schemas.microsoft.com/office/drawing/2014/main" id="{015D3F6D-21FE-4600-8C24-F7BCF5E060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2000" y="3384000"/>
              <a:ext cx="0" cy="252000"/>
            </a:xfrm>
            <a:prstGeom prst="line">
              <a:avLst/>
            </a:prstGeom>
            <a:noFill/>
            <a:ln w="15875" cmpd="sng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Text Box 66">
              <a:extLst>
                <a:ext uri="{FF2B5EF4-FFF2-40B4-BE49-F238E27FC236}">
                  <a16:creationId xmlns:a16="http://schemas.microsoft.com/office/drawing/2014/main" id="{8038A805-E348-4064-BB4D-99D6F241AACD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700000" y="2880000"/>
              <a:ext cx="504000" cy="75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外部接口电路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ABE2882-4BD9-4C16-A4B2-D96D4A0FD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23</a:t>
            </a:fld>
            <a:endParaRPr lang="en-US" altLang="zh-CN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F66B41C-4349-4A40-8FD6-05D1803D11E9}"/>
              </a:ext>
            </a:extLst>
          </p:cNvPr>
          <p:cNvGrpSpPr/>
          <p:nvPr/>
        </p:nvGrpSpPr>
        <p:grpSpPr>
          <a:xfrm>
            <a:off x="3347864" y="2348880"/>
            <a:ext cx="5436000" cy="468000"/>
            <a:chOff x="1476000" y="2556000"/>
            <a:chExt cx="5436000" cy="468000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19CD149-A4DB-4552-ABA8-7D82AA036D56}"/>
                </a:ext>
              </a:extLst>
            </p:cNvPr>
            <p:cNvSpPr/>
            <p:nvPr/>
          </p:nvSpPr>
          <p:spPr bwMode="auto">
            <a:xfrm>
              <a:off x="1583968" y="2629912"/>
              <a:ext cx="3024000" cy="32400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Text Box 311">
              <a:extLst>
                <a:ext uri="{FF2B5EF4-FFF2-40B4-BE49-F238E27FC236}">
                  <a16:creationId xmlns:a16="http://schemas.microsoft.com/office/drawing/2014/main" id="{E821CB57-C797-4717-B9EB-99D04E6D4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3046" y="2663059"/>
              <a:ext cx="68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取指令</a:t>
              </a:r>
            </a:p>
          </p:txBody>
        </p:sp>
        <p:sp>
          <p:nvSpPr>
            <p:cNvPr id="26" name="Text Box 314">
              <a:extLst>
                <a:ext uri="{FF2B5EF4-FFF2-40B4-BE49-F238E27FC236}">
                  <a16:creationId xmlns:a16="http://schemas.microsoft.com/office/drawing/2014/main" id="{FCB563E1-D463-4FE0-BA1D-ECCB28903C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000" y="2663059"/>
              <a:ext cx="86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分析指令</a:t>
              </a:r>
            </a:p>
          </p:txBody>
        </p:sp>
        <p:sp>
          <p:nvSpPr>
            <p:cNvPr id="27" name="Text Box 316">
              <a:extLst>
                <a:ext uri="{FF2B5EF4-FFF2-40B4-BE49-F238E27FC236}">
                  <a16:creationId xmlns:a16="http://schemas.microsoft.com/office/drawing/2014/main" id="{2CAB67ED-0186-4B4E-8A50-E32AB5AAF7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2000" y="2663059"/>
              <a:ext cx="864000" cy="216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执行指令</a:t>
              </a:r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3270820E-43D0-4424-A345-06AA3279D89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76000" y="27720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E895D940-CF99-4D97-B241-159AF32E4A2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456000" y="27720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0" name="Text Box 316">
              <a:extLst>
                <a:ext uri="{FF2B5EF4-FFF2-40B4-BE49-F238E27FC236}">
                  <a16:creationId xmlns:a16="http://schemas.microsoft.com/office/drawing/2014/main" id="{FF33FBA9-4740-4B3D-A1FF-B3CB1EC38C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000" y="2664644"/>
              <a:ext cx="2016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计算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下条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指令地址</a:t>
              </a:r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DD27CB22-0472-4568-AD9F-1430C3A282D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36000" y="2772000"/>
              <a:ext cx="216000" cy="1585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3" name="Line 97">
              <a:extLst>
                <a:ext uri="{FF2B5EF4-FFF2-40B4-BE49-F238E27FC236}">
                  <a16:creationId xmlns:a16="http://schemas.microsoft.com/office/drawing/2014/main" id="{28FCB773-F73B-4DC6-A923-D6FF3FFC06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88000" y="2878312"/>
              <a:ext cx="0" cy="144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prstDash val="solid"/>
              <a:round/>
              <a:headEnd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F9106CCE-C428-4AEB-B2D3-C9431C513023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 flipH="1">
              <a:off x="1476000" y="2556000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40EDA0A7-9C3C-49E4-BCF0-9720F801C672}"/>
                </a:ext>
              </a:extLst>
            </p:cNvPr>
            <p:cNvCxnSpPr>
              <a:cxnSpLocks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1476000" y="2556000"/>
              <a:ext cx="5436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997DF6C3-B465-4838-8A76-B915677E775E}"/>
                </a:ext>
              </a:extLst>
            </p:cNvPr>
            <p:cNvCxnSpPr/>
            <p:nvPr/>
          </p:nvCxnSpPr>
          <p:spPr bwMode="auto">
            <a:xfrm>
              <a:off x="1476000" y="2772953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66B80530-CE1B-46DD-AFE9-0BD7A65A3DFC}"/>
                </a:ext>
              </a:extLst>
            </p:cNvPr>
            <p:cNvCxnSpPr>
              <a:cxnSpLocks/>
            </p:cNvCxnSpPr>
            <p:nvPr>
              <p:custDataLst>
                <p:tags r:id="rId8"/>
              </p:custDataLst>
            </p:nvPr>
          </p:nvCxnSpPr>
          <p:spPr bwMode="auto">
            <a:xfrm>
              <a:off x="6768000" y="2772000"/>
              <a:ext cx="144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EC2373D5-71A3-4539-A113-1076F39E6D02}"/>
                </a:ext>
              </a:extLst>
            </p:cNvPr>
            <p:cNvCxnSpPr>
              <a:cxnSpLocks/>
            </p:cNvCxnSpPr>
            <p:nvPr>
              <p:custDataLst>
                <p:tags r:id="rId9"/>
              </p:custDataLst>
            </p:nvPr>
          </p:nvCxnSpPr>
          <p:spPr bwMode="auto">
            <a:xfrm flipV="1">
              <a:off x="6912000" y="2556000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01CDD031-C650-4A7F-96C6-D54AFFAF177A}"/>
                </a:ext>
              </a:extLst>
            </p:cNvPr>
            <p:cNvCxnSpPr>
              <a:cxnSpLocks/>
            </p:cNvCxnSpPr>
            <p:nvPr>
              <p:custDataLst>
                <p:tags r:id="rId10"/>
              </p:custDataLst>
            </p:nvPr>
          </p:nvCxnSpPr>
          <p:spPr bwMode="auto">
            <a:xfrm>
              <a:off x="5616000" y="2878312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0" name="Line 97">
              <a:extLst>
                <a:ext uri="{FF2B5EF4-FFF2-40B4-BE49-F238E27FC236}">
                  <a16:creationId xmlns:a16="http://schemas.microsoft.com/office/drawing/2014/main" id="{FF4A0653-FA92-4392-AA61-22BF66CE5D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88000" y="3024000"/>
              <a:ext cx="3528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prstDash val="solid"/>
              <a:round/>
              <a:headEnd w="med" len="sm"/>
              <a:tailEnd type="non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170E1B8B-2196-447F-AA88-2D59D1FBE800}"/>
              </a:ext>
            </a:extLst>
          </p:cNvPr>
          <p:cNvGrpSpPr/>
          <p:nvPr/>
        </p:nvGrpSpPr>
        <p:grpSpPr>
          <a:xfrm>
            <a:off x="3780280" y="5301112"/>
            <a:ext cx="1476000" cy="827999"/>
            <a:chOff x="2124000" y="2844000"/>
            <a:chExt cx="1476000" cy="827999"/>
          </a:xfrm>
        </p:grpSpPr>
        <p:sp>
          <p:nvSpPr>
            <p:cNvPr id="124" name="Line 181">
              <a:extLst>
                <a:ext uri="{FF2B5EF4-FFF2-40B4-BE49-F238E27FC236}">
                  <a16:creationId xmlns:a16="http://schemas.microsoft.com/office/drawing/2014/main" id="{627E5C3F-4356-4850-9800-A1FEC26A59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000" y="3276000"/>
              <a:ext cx="144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Text Box 182">
              <a:extLst>
                <a:ext uri="{FF2B5EF4-FFF2-40B4-BE49-F238E27FC236}">
                  <a16:creationId xmlns:a16="http://schemas.microsoft.com/office/drawing/2014/main" id="{6428FB17-672D-4380-A758-83388F42CD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000" y="3348000"/>
              <a:ext cx="144000" cy="216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C3300"/>
                  </a:solidFill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126" name="Text Box 183">
              <a:extLst>
                <a:ext uri="{FF2B5EF4-FFF2-40B4-BE49-F238E27FC236}">
                  <a16:creationId xmlns:a16="http://schemas.microsoft.com/office/drawing/2014/main" id="{BAFD2568-E601-483B-926A-982193646D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000" y="3203999"/>
              <a:ext cx="576000" cy="468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存储</a:t>
              </a: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矩阵</a:t>
              </a:r>
            </a:p>
          </p:txBody>
        </p:sp>
        <p:sp>
          <p:nvSpPr>
            <p:cNvPr id="127" name="Text Box 184">
              <a:extLst>
                <a:ext uri="{FF2B5EF4-FFF2-40B4-BE49-F238E27FC236}">
                  <a16:creationId xmlns:a16="http://schemas.microsoft.com/office/drawing/2014/main" id="{3F5C6666-FFB0-4C39-9F4A-19D0DFB295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4000" y="2844000"/>
              <a:ext cx="93600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读写电路</a:t>
              </a:r>
            </a:p>
          </p:txBody>
        </p:sp>
        <p:sp>
          <p:nvSpPr>
            <p:cNvPr id="128" name="Text Box 185">
              <a:extLst>
                <a:ext uri="{FF2B5EF4-FFF2-40B4-BE49-F238E27FC236}">
                  <a16:creationId xmlns:a16="http://schemas.microsoft.com/office/drawing/2014/main" id="{0BAF0016-F980-45D8-9CE8-74C90D2B0F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4000" y="2916000"/>
              <a:ext cx="468000" cy="72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 anchorCtr="1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译码器</a:t>
              </a:r>
            </a:p>
          </p:txBody>
        </p:sp>
        <p:sp>
          <p:nvSpPr>
            <p:cNvPr id="129" name="Line 186">
              <a:extLst>
                <a:ext uri="{FF2B5EF4-FFF2-40B4-BE49-F238E27FC236}">
                  <a16:creationId xmlns:a16="http://schemas.microsoft.com/office/drawing/2014/main" id="{AFA026DF-89E0-488F-88D7-7487DD69D7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000" y="3348000"/>
              <a:ext cx="144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187">
              <a:extLst>
                <a:ext uri="{FF2B5EF4-FFF2-40B4-BE49-F238E27FC236}">
                  <a16:creationId xmlns:a16="http://schemas.microsoft.com/office/drawing/2014/main" id="{94F4E9A5-04DD-480C-8640-E0EEC7EE0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000" y="3600000"/>
              <a:ext cx="144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189">
              <a:extLst>
                <a:ext uri="{FF2B5EF4-FFF2-40B4-BE49-F238E27FC236}">
                  <a16:creationId xmlns:a16="http://schemas.microsoft.com/office/drawing/2014/main" id="{7135DD97-49A6-4EE6-9C8B-7186B3628A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4000" y="3056025"/>
              <a:ext cx="0" cy="144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190">
              <a:extLst>
                <a:ext uri="{FF2B5EF4-FFF2-40B4-BE49-F238E27FC236}">
                  <a16:creationId xmlns:a16="http://schemas.microsoft.com/office/drawing/2014/main" id="{F17E3F06-FACF-42E5-98EF-9E2B545F2B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6000" y="3056025"/>
              <a:ext cx="0" cy="144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191">
              <a:extLst>
                <a:ext uri="{FF2B5EF4-FFF2-40B4-BE49-F238E27FC236}">
                  <a16:creationId xmlns:a16="http://schemas.microsoft.com/office/drawing/2014/main" id="{3F35262F-2146-4490-99F6-BEB1934665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04000" y="3060000"/>
              <a:ext cx="0" cy="14400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Text Box 192">
              <a:extLst>
                <a:ext uri="{FF2B5EF4-FFF2-40B4-BE49-F238E27FC236}">
                  <a16:creationId xmlns:a16="http://schemas.microsoft.com/office/drawing/2014/main" id="{B91540B3-02CD-4DCF-9809-A3536BDDC1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2000" y="3060000"/>
              <a:ext cx="216000" cy="144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accent2"/>
                  </a:solidFill>
                  <a:latin typeface="+mn-ea"/>
                  <a:ea typeface="+mn-ea"/>
                </a:rPr>
                <a:t>…</a:t>
              </a:r>
            </a:p>
          </p:txBody>
        </p:sp>
      </p:grp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5FC16A80-9CC1-4CA7-8AED-B4A2F400BE38}"/>
              </a:ext>
            </a:extLst>
          </p:cNvPr>
          <p:cNvGrpSpPr/>
          <p:nvPr/>
        </p:nvGrpSpPr>
        <p:grpSpPr>
          <a:xfrm>
            <a:off x="1512200" y="4581112"/>
            <a:ext cx="1476000" cy="720000"/>
            <a:chOff x="828000" y="2880000"/>
            <a:chExt cx="1476000" cy="720000"/>
          </a:xfrm>
        </p:grpSpPr>
        <p:sp>
          <p:nvSpPr>
            <p:cNvPr id="136" name="AutoShape 189">
              <a:extLst>
                <a:ext uri="{FF2B5EF4-FFF2-40B4-BE49-F238E27FC236}">
                  <a16:creationId xmlns:a16="http://schemas.microsoft.com/office/drawing/2014/main" id="{75FB9720-5A6B-4336-AC94-B8333BCE1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000" y="3096000"/>
              <a:ext cx="576000" cy="252000"/>
            </a:xfrm>
            <a:custGeom>
              <a:avLst/>
              <a:gdLst>
                <a:gd name="G0" fmla="+- 4060 0 0"/>
                <a:gd name="G1" fmla="+- 21600 0 4060"/>
                <a:gd name="G2" fmla="*/ 4060 1 2"/>
                <a:gd name="G3" fmla="+- 21600 0 G2"/>
                <a:gd name="G4" fmla="+/ 4060 21600 2"/>
                <a:gd name="G5" fmla="+/ G1 0 2"/>
                <a:gd name="G6" fmla="*/ 21600 21600 4060"/>
                <a:gd name="G7" fmla="*/ G6 1 2"/>
                <a:gd name="G8" fmla="+- 21600 0 G7"/>
                <a:gd name="G9" fmla="*/ 21600 1 2"/>
                <a:gd name="G10" fmla="+- 4060 0 G9"/>
                <a:gd name="G11" fmla="?: G10 G8 0"/>
                <a:gd name="G12" fmla="?: G10 G7 21600"/>
                <a:gd name="T0" fmla="*/ 19570 w 21600"/>
                <a:gd name="T1" fmla="*/ 10800 h 21600"/>
                <a:gd name="T2" fmla="*/ 10800 w 21600"/>
                <a:gd name="T3" fmla="*/ 21600 h 21600"/>
                <a:gd name="T4" fmla="*/ 2030 w 21600"/>
                <a:gd name="T5" fmla="*/ 10800 h 21600"/>
                <a:gd name="T6" fmla="*/ 10800 w 21600"/>
                <a:gd name="T7" fmla="*/ 0 h 21600"/>
                <a:gd name="T8" fmla="*/ 3830 w 21600"/>
                <a:gd name="T9" fmla="*/ 3830 h 21600"/>
                <a:gd name="T10" fmla="*/ 17770 w 21600"/>
                <a:gd name="T11" fmla="*/ 177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060" y="21600"/>
                  </a:lnTo>
                  <a:lnTo>
                    <a:pt x="175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36000" tIns="18000" rIns="36000" bIns="18000" anchor="ctr"/>
            <a:lstStyle/>
            <a:p>
              <a:pPr lvl="0"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ALU</a:t>
              </a:r>
              <a:endPara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7" name="Text Box 193">
              <a:extLst>
                <a:ext uri="{FF2B5EF4-FFF2-40B4-BE49-F238E27FC236}">
                  <a16:creationId xmlns:a16="http://schemas.microsoft.com/office/drawing/2014/main" id="{645E13C2-9F74-4BCF-8447-3AEBB7DA4B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2000" y="3060000"/>
              <a:ext cx="576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REGs</a:t>
              </a:r>
            </a:p>
          </p:txBody>
        </p: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9D144244-1680-4236-8A66-C70091D2B8E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332000" y="3240000"/>
              <a:ext cx="10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/>
              <a:tailEnd type="arrow" w="sm" len="sm"/>
            </a:ln>
            <a:effectLst/>
          </p:spPr>
        </p:cxnSp>
        <p:cxnSp>
          <p:nvCxnSpPr>
            <p:cNvPr id="139" name="直接箭头连接符 28">
              <a:extLst>
                <a:ext uri="{FF2B5EF4-FFF2-40B4-BE49-F238E27FC236}">
                  <a16:creationId xmlns:a16="http://schemas.microsoft.com/office/drawing/2014/main" id="{14F4CE7E-D436-4BB0-89A4-5A21E2A18875}"/>
                </a:ext>
              </a:extLst>
            </p:cNvPr>
            <p:cNvCxnSpPr/>
            <p:nvPr/>
          </p:nvCxnSpPr>
          <p:spPr bwMode="auto">
            <a:xfrm>
              <a:off x="936000" y="2880000"/>
              <a:ext cx="1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0" name="直接箭头连接符 28">
              <a:extLst>
                <a:ext uri="{FF2B5EF4-FFF2-40B4-BE49-F238E27FC236}">
                  <a16:creationId xmlns:a16="http://schemas.microsoft.com/office/drawing/2014/main" id="{A12CE348-B8BB-466C-A8F3-3E595F624D4A}"/>
                </a:ext>
              </a:extLst>
            </p:cNvPr>
            <p:cNvCxnSpPr/>
            <p:nvPr/>
          </p:nvCxnSpPr>
          <p:spPr bwMode="auto">
            <a:xfrm>
              <a:off x="1296185" y="295200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1" name="直接箭头连接符 28">
              <a:extLst>
                <a:ext uri="{FF2B5EF4-FFF2-40B4-BE49-F238E27FC236}">
                  <a16:creationId xmlns:a16="http://schemas.microsoft.com/office/drawing/2014/main" id="{68297778-B85A-4E18-B3B4-5968B23277BB}"/>
                </a:ext>
              </a:extLst>
            </p:cNvPr>
            <p:cNvCxnSpPr/>
            <p:nvPr/>
          </p:nvCxnSpPr>
          <p:spPr bwMode="auto">
            <a:xfrm>
              <a:off x="1116000" y="3348000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2" name="直接箭头连接符 28">
              <a:extLst>
                <a:ext uri="{FF2B5EF4-FFF2-40B4-BE49-F238E27FC236}">
                  <a16:creationId xmlns:a16="http://schemas.microsoft.com/office/drawing/2014/main" id="{8539F278-836E-4333-8CBB-26E60A75E00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836000" y="3348000"/>
              <a:ext cx="0" cy="10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90F973EA-A06E-47CC-8BB8-79D7DF3B2A05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016000" y="3348000"/>
              <a:ext cx="0" cy="25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/>
              <a:tailEnd type="arrow" w="sm" len="sm"/>
            </a:ln>
            <a:effectLst/>
          </p:spPr>
        </p:cxnSp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5F664282-451A-4700-A083-D9CB9CF681C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944000" y="3348000"/>
              <a:ext cx="0" cy="25200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/>
              <a:tailEnd type="triangle" w="sm" len="sm"/>
            </a:ln>
            <a:effectLst/>
          </p:spPr>
        </p:cxnSp>
        <p:cxnSp>
          <p:nvCxnSpPr>
            <p:cNvPr id="145" name="直接箭头连接符 28">
              <a:extLst>
                <a:ext uri="{FF2B5EF4-FFF2-40B4-BE49-F238E27FC236}">
                  <a16:creationId xmlns:a16="http://schemas.microsoft.com/office/drawing/2014/main" id="{F77EE98F-E562-4CEC-8321-44F9852E5BC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620000" y="2880000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6" name="直接箭头连接符 28">
              <a:extLst>
                <a:ext uri="{FF2B5EF4-FFF2-40B4-BE49-F238E27FC236}">
                  <a16:creationId xmlns:a16="http://schemas.microsoft.com/office/drawing/2014/main" id="{550965EE-669A-411B-A7A6-ABF415C97A0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296000" y="2952000"/>
              <a:ext cx="100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7" name="直接箭头连接符 28">
              <a:extLst>
                <a:ext uri="{FF2B5EF4-FFF2-40B4-BE49-F238E27FC236}">
                  <a16:creationId xmlns:a16="http://schemas.microsoft.com/office/drawing/2014/main" id="{AA6151E6-1970-46CC-B4E0-91960BCDE18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16000" y="3456000"/>
              <a:ext cx="72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8" name="直接箭头连接符 28">
              <a:extLst>
                <a:ext uri="{FF2B5EF4-FFF2-40B4-BE49-F238E27FC236}">
                  <a16:creationId xmlns:a16="http://schemas.microsoft.com/office/drawing/2014/main" id="{9CFBC37F-9659-4AE2-AC3A-926B69AF94D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936000" y="2880000"/>
              <a:ext cx="136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49" name="直接箭头连接符 28">
              <a:extLst>
                <a:ext uri="{FF2B5EF4-FFF2-40B4-BE49-F238E27FC236}">
                  <a16:creationId xmlns:a16="http://schemas.microsoft.com/office/drawing/2014/main" id="{DB7750C5-88AC-4954-807B-D98C32AF8B4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115999" y="3528000"/>
              <a:ext cx="118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0" name="直接箭头连接符 28">
              <a:extLst>
                <a:ext uri="{FF2B5EF4-FFF2-40B4-BE49-F238E27FC236}">
                  <a16:creationId xmlns:a16="http://schemas.microsoft.com/office/drawing/2014/main" id="{EEFFFB63-CF03-4621-91E9-E42D920CEAC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692000" y="2952000"/>
              <a:ext cx="0" cy="10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C9582AA4-5365-4A07-BD69-E12B9B44330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620000" y="3348000"/>
              <a:ext cx="0" cy="25200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/>
              <a:tailEnd type="triangle" w="sm" len="sm"/>
            </a:ln>
            <a:effectLst/>
          </p:spPr>
        </p:cxnSp>
        <p:cxnSp>
          <p:nvCxnSpPr>
            <p:cNvPr id="152" name="直接箭头连接符 151">
              <a:extLst>
                <a:ext uri="{FF2B5EF4-FFF2-40B4-BE49-F238E27FC236}">
                  <a16:creationId xmlns:a16="http://schemas.microsoft.com/office/drawing/2014/main" id="{2E6370F6-D6C0-4126-A5D2-88887BE3110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692000" y="3348000"/>
              <a:ext cx="0" cy="25200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/>
              <a:tailEnd type="triangle" w="sm" len="sm"/>
            </a:ln>
            <a:effectLst/>
          </p:spPr>
        </p:cxnSp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7DE5FD0F-6FE7-4227-B3EB-E98F6797767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440000" y="3240000"/>
              <a:ext cx="0" cy="36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/>
              <a:tailEnd type="none" w="sm" len="sm"/>
            </a:ln>
            <a:effectLst/>
          </p:spPr>
        </p:cxnSp>
      </p:grp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AFF32AE8-6231-4F14-B6FC-17D127DF0235}"/>
              </a:ext>
            </a:extLst>
          </p:cNvPr>
          <p:cNvGrpSpPr/>
          <p:nvPr/>
        </p:nvGrpSpPr>
        <p:grpSpPr>
          <a:xfrm>
            <a:off x="3492408" y="4437112"/>
            <a:ext cx="4392000" cy="612000"/>
            <a:chOff x="3204000" y="2782800"/>
            <a:chExt cx="4392000" cy="612000"/>
          </a:xfrm>
        </p:grpSpPr>
        <p:sp>
          <p:nvSpPr>
            <p:cNvPr id="176" name="Text Box 83">
              <a:extLst>
                <a:ext uri="{FF2B5EF4-FFF2-40B4-BE49-F238E27FC236}">
                  <a16:creationId xmlns:a16="http://schemas.microsoft.com/office/drawing/2014/main" id="{DA99DC3B-31C9-416A-89FD-AE0E0C5EF5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2000" y="3178800"/>
              <a:ext cx="108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硬盘控制器</a:t>
              </a:r>
            </a:p>
          </p:txBody>
        </p:sp>
        <p:cxnSp>
          <p:nvCxnSpPr>
            <p:cNvPr id="177" name="直接连接符 176">
              <a:extLst>
                <a:ext uri="{FF2B5EF4-FFF2-40B4-BE49-F238E27FC236}">
                  <a16:creationId xmlns:a16="http://schemas.microsoft.com/office/drawing/2014/main" id="{D14C022D-7B5C-448B-A5B7-BDAC82D36201}"/>
                </a:ext>
              </a:extLst>
            </p:cNvPr>
            <p:cNvCxnSpPr/>
            <p:nvPr/>
          </p:nvCxnSpPr>
          <p:spPr bwMode="auto">
            <a:xfrm>
              <a:off x="5112000" y="3034800"/>
              <a:ext cx="2448000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" name="直接连接符 177">
              <a:extLst>
                <a:ext uri="{FF2B5EF4-FFF2-40B4-BE49-F238E27FC236}">
                  <a16:creationId xmlns:a16="http://schemas.microsoft.com/office/drawing/2014/main" id="{51FDD3C6-DEEB-402E-BC48-F931C5A8607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832000" y="3034800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E36FF327-FED3-4A1B-8A98-7B9DC06E766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248000" y="3034800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0" name="Text Box 66">
              <a:extLst>
                <a:ext uri="{FF2B5EF4-FFF2-40B4-BE49-F238E27FC236}">
                  <a16:creationId xmlns:a16="http://schemas.microsoft.com/office/drawing/2014/main" id="{CC3B835C-CC08-41DD-B811-015152E43427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636000" y="3178800"/>
              <a:ext cx="1188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主存控制器</a:t>
              </a:r>
            </a:p>
          </p:txBody>
        </p:sp>
        <p:sp>
          <p:nvSpPr>
            <p:cNvPr id="181" name="Line 37">
              <a:extLst>
                <a:ext uri="{FF2B5EF4-FFF2-40B4-BE49-F238E27FC236}">
                  <a16:creationId xmlns:a16="http://schemas.microsoft.com/office/drawing/2014/main" id="{0B7583DD-6915-4250-B6F9-E860B4F6DCE4}"/>
                </a:ext>
              </a:extLst>
            </p:cNvPr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 flipV="1">
              <a:off x="3204000" y="3034800"/>
              <a:ext cx="1188000" cy="0"/>
            </a:xfrm>
            <a:prstGeom prst="line">
              <a:avLst/>
            </a:prstGeom>
            <a:noFill/>
            <a:ln w="28575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Text Box 75">
              <a:extLst>
                <a:ext uri="{FF2B5EF4-FFF2-40B4-BE49-F238E27FC236}">
                  <a16:creationId xmlns:a16="http://schemas.microsoft.com/office/drawing/2014/main" id="{4717D9CB-F568-41AA-843C-B187D55D72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8000" y="3178800"/>
              <a:ext cx="828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接口</a:t>
              </a:r>
            </a:p>
          </p:txBody>
        </p: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CF2B06A1-D679-4D56-80EB-F5E08E8F87D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64000" y="3034800"/>
              <a:ext cx="0" cy="14400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4" name="Text Box 41">
              <a:extLst>
                <a:ext uri="{FF2B5EF4-FFF2-40B4-BE49-F238E27FC236}">
                  <a16:creationId xmlns:a16="http://schemas.microsoft.com/office/drawing/2014/main" id="{1F3575FE-5833-4835-A889-E13F0B13AEBB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940344" y="2782800"/>
              <a:ext cx="864000" cy="216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/>
                <a:t>系统总线</a:t>
              </a:r>
            </a:p>
          </p:txBody>
        </p: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DBB7EB97-9AF7-4069-A687-CAC379957FFC}"/>
                </a:ext>
              </a:extLst>
            </p:cNvPr>
            <p:cNvCxnSpPr/>
            <p:nvPr/>
          </p:nvCxnSpPr>
          <p:spPr bwMode="auto">
            <a:xfrm>
              <a:off x="4392000" y="3034800"/>
              <a:ext cx="720000" cy="0"/>
            </a:xfrm>
            <a:prstGeom prst="line">
              <a:avLst/>
            </a:prstGeom>
            <a:noFill/>
            <a:ln w="28575" cap="flat" cmpd="dbl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587014A2-06B7-471E-8874-DB9A880041AB}"/>
              </a:ext>
            </a:extLst>
          </p:cNvPr>
          <p:cNvGrpSpPr/>
          <p:nvPr/>
        </p:nvGrpSpPr>
        <p:grpSpPr>
          <a:xfrm>
            <a:off x="5580488" y="5589240"/>
            <a:ext cx="3384000" cy="828000"/>
            <a:chOff x="3276000" y="4428000"/>
            <a:chExt cx="3384000" cy="828000"/>
          </a:xfrm>
        </p:grpSpPr>
        <p:sp>
          <p:nvSpPr>
            <p:cNvPr id="188" name="Text Box 74">
              <a:extLst>
                <a:ext uri="{FF2B5EF4-FFF2-40B4-BE49-F238E27FC236}">
                  <a16:creationId xmlns:a16="http://schemas.microsoft.com/office/drawing/2014/main" id="{DE0CF5E5-FB65-41D3-A1D6-B97C846533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000" y="4428000"/>
              <a:ext cx="3384000" cy="828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r>
                <a:rPr lang="zh-CN" altLang="en-US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指令功能例：</a:t>
              </a:r>
              <a:endPara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endParaRPr>
            </a:p>
            <a:p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   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REGs[2]←REGs[2]+MEM[0100H]</a:t>
              </a:r>
            </a:p>
            <a:p>
              <a:pPr>
                <a:spcBef>
                  <a:spcPts val="300"/>
                </a:spcBef>
              </a:pPr>
              <a:r>
                <a:rPr lang="zh-CN" altLang="en-US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指令格式例：</a:t>
              </a:r>
            </a:p>
          </p:txBody>
        </p:sp>
        <p:sp>
          <p:nvSpPr>
            <p:cNvPr id="189" name="Text Box 65">
              <a:extLst>
                <a:ext uri="{FF2B5EF4-FFF2-40B4-BE49-F238E27FC236}">
                  <a16:creationId xmlns:a16="http://schemas.microsoft.com/office/drawing/2014/main" id="{EB2E4751-0039-4D4F-AAA0-ABD227DABF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6000" y="4994390"/>
              <a:ext cx="612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00011</a:t>
              </a:r>
            </a:p>
          </p:txBody>
        </p:sp>
        <p:sp>
          <p:nvSpPr>
            <p:cNvPr id="190" name="Text Box 65">
              <a:extLst>
                <a:ext uri="{FF2B5EF4-FFF2-40B4-BE49-F238E27FC236}">
                  <a16:creationId xmlns:a16="http://schemas.microsoft.com/office/drawing/2014/main" id="{9154537A-937D-468D-9B98-3FC278308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8000" y="4994390"/>
              <a:ext cx="43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010</a:t>
              </a:r>
            </a:p>
          </p:txBody>
        </p:sp>
        <p:sp>
          <p:nvSpPr>
            <p:cNvPr id="191" name="Text Box 65">
              <a:extLst>
                <a:ext uri="{FF2B5EF4-FFF2-40B4-BE49-F238E27FC236}">
                  <a16:creationId xmlns:a16="http://schemas.microsoft.com/office/drawing/2014/main" id="{7DF36937-0481-47BE-8FFD-841427976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0000" y="4994390"/>
              <a:ext cx="972000" cy="216000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0100H</a:t>
              </a:r>
            </a:p>
          </p:txBody>
        </p:sp>
      </p:grpSp>
      <p:grpSp>
        <p:nvGrpSpPr>
          <p:cNvPr id="209" name="组合 208">
            <a:extLst>
              <a:ext uri="{FF2B5EF4-FFF2-40B4-BE49-F238E27FC236}">
                <a16:creationId xmlns:a16="http://schemas.microsoft.com/office/drawing/2014/main" id="{A086E9F6-8D67-4FC5-B857-DD8C5CCAFACD}"/>
              </a:ext>
            </a:extLst>
          </p:cNvPr>
          <p:cNvGrpSpPr/>
          <p:nvPr/>
        </p:nvGrpSpPr>
        <p:grpSpPr>
          <a:xfrm>
            <a:off x="1000557" y="5301208"/>
            <a:ext cx="2419315" cy="828000"/>
            <a:chOff x="712685" y="3636000"/>
            <a:chExt cx="2419315" cy="828000"/>
          </a:xfrm>
        </p:grpSpPr>
        <p:sp>
          <p:nvSpPr>
            <p:cNvPr id="210" name="Line 77">
              <a:extLst>
                <a:ext uri="{FF2B5EF4-FFF2-40B4-BE49-F238E27FC236}">
                  <a16:creationId xmlns:a16="http://schemas.microsoft.com/office/drawing/2014/main" id="{19980F85-03C3-4B7E-86D5-620E5E5C6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8000" y="3636000"/>
              <a:ext cx="0" cy="180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Line 77">
              <a:extLst>
                <a:ext uri="{FF2B5EF4-FFF2-40B4-BE49-F238E27FC236}">
                  <a16:creationId xmlns:a16="http://schemas.microsoft.com/office/drawing/2014/main" id="{09159DC2-5721-495F-AC81-B7313D4248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000" y="3636000"/>
              <a:ext cx="0" cy="468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Line 77">
              <a:extLst>
                <a:ext uri="{FF2B5EF4-FFF2-40B4-BE49-F238E27FC236}">
                  <a16:creationId xmlns:a16="http://schemas.microsoft.com/office/drawing/2014/main" id="{0AF9BB27-E75C-4ECB-A6C6-B4FD07BCBC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96000" y="3636000"/>
              <a:ext cx="0" cy="468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13" name="直接箭头连接符 212">
              <a:extLst>
                <a:ext uri="{FF2B5EF4-FFF2-40B4-BE49-F238E27FC236}">
                  <a16:creationId xmlns:a16="http://schemas.microsoft.com/office/drawing/2014/main" id="{6722C795-6E4F-449D-A83F-863F4544E4D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115840" y="3636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/>
              <a:tailEnd type="arrow" w="sm" len="sm"/>
            </a:ln>
            <a:effectLst/>
          </p:spPr>
        </p:cxnSp>
        <p:cxnSp>
          <p:nvCxnSpPr>
            <p:cNvPr id="214" name="直接箭头连接符 213">
              <a:extLst>
                <a:ext uri="{FF2B5EF4-FFF2-40B4-BE49-F238E27FC236}">
                  <a16:creationId xmlns:a16="http://schemas.microsoft.com/office/drawing/2014/main" id="{460E13F8-793F-41EB-A276-5E6623E65E4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691840" y="3636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/>
              <a:tailEnd type="arrow" w="sm" len="sm"/>
            </a:ln>
            <a:effectLst/>
          </p:spPr>
        </p:cxnSp>
        <p:sp>
          <p:nvSpPr>
            <p:cNvPr id="215" name="Text Box 192">
              <a:extLst>
                <a:ext uri="{FF2B5EF4-FFF2-40B4-BE49-F238E27FC236}">
                  <a16:creationId xmlns:a16="http://schemas.microsoft.com/office/drawing/2014/main" id="{688D102A-9C34-4135-997E-9E448EB188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840" y="3636000"/>
              <a:ext cx="216000" cy="144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FF3399"/>
                  </a:solidFill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216" name="Text Box 70">
              <a:extLst>
                <a:ext uri="{FF2B5EF4-FFF2-40B4-BE49-F238E27FC236}">
                  <a16:creationId xmlns:a16="http://schemas.microsoft.com/office/drawing/2014/main" id="{DFCCF77C-B006-48CD-9FC6-044EB978A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160" y="3816000"/>
              <a:ext cx="252000" cy="28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217" name="Text Box 71">
              <a:extLst>
                <a:ext uri="{FF2B5EF4-FFF2-40B4-BE49-F238E27FC236}">
                  <a16:creationId xmlns:a16="http://schemas.microsoft.com/office/drawing/2014/main" id="{3ED17B49-932C-4D05-BFBC-E334E6F6D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9840" y="3816000"/>
              <a:ext cx="1332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控制信号形成</a:t>
              </a:r>
            </a:p>
          </p:txBody>
        </p:sp>
        <p:sp>
          <p:nvSpPr>
            <p:cNvPr id="218" name="Text Box 74">
              <a:extLst>
                <a:ext uri="{FF2B5EF4-FFF2-40B4-BE49-F238E27FC236}">
                  <a16:creationId xmlns:a16="http://schemas.microsoft.com/office/drawing/2014/main" id="{1C346A14-92E0-433B-A4E4-2C4D8E6FAD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685" y="4212000"/>
              <a:ext cx="1332000" cy="216000"/>
            </a:xfrm>
            <a:prstGeom prst="rect">
              <a:avLst/>
            </a:prstGeom>
            <a:solidFill>
              <a:schemeClr val="hlink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时序信号形成</a:t>
              </a:r>
            </a:p>
          </p:txBody>
        </p: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81BC02A3-4BEF-4D49-8F1E-BFBAF7A64C05}"/>
                </a:ext>
              </a:extLst>
            </p:cNvPr>
            <p:cNvCxnSpPr/>
            <p:nvPr/>
          </p:nvCxnSpPr>
          <p:spPr bwMode="auto">
            <a:xfrm>
              <a:off x="2519840" y="3780000"/>
              <a:ext cx="0" cy="684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0" name="Text Box 66">
              <a:extLst>
                <a:ext uri="{FF2B5EF4-FFF2-40B4-BE49-F238E27FC236}">
                  <a16:creationId xmlns:a16="http://schemas.microsoft.com/office/drawing/2014/main" id="{1444AD9E-2855-40B8-A7CB-0F9214C70C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840" y="3816000"/>
              <a:ext cx="36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221" name="Line 77">
              <a:extLst>
                <a:ext uri="{FF2B5EF4-FFF2-40B4-BE49-F238E27FC236}">
                  <a16:creationId xmlns:a16="http://schemas.microsoft.com/office/drawing/2014/main" id="{3504D3BB-984B-4490-911E-1FA415A0B2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7840" y="3924000"/>
              <a:ext cx="1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Text Box 69">
              <a:extLst>
                <a:ext uri="{FF2B5EF4-FFF2-40B4-BE49-F238E27FC236}">
                  <a16:creationId xmlns:a16="http://schemas.microsoft.com/office/drawing/2014/main" id="{F1A4576D-32D4-4983-BF93-1FB4E22C7D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000" y="4104000"/>
              <a:ext cx="36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223" name="Line 77">
              <a:extLst>
                <a:ext uri="{FF2B5EF4-FFF2-40B4-BE49-F238E27FC236}">
                  <a16:creationId xmlns:a16="http://schemas.microsoft.com/office/drawing/2014/main" id="{0CDBD6B5-AFE0-4CAC-A8A4-859442C754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1840" y="4032000"/>
              <a:ext cx="144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Line 77">
              <a:extLst>
                <a:ext uri="{FF2B5EF4-FFF2-40B4-BE49-F238E27FC236}">
                  <a16:creationId xmlns:a16="http://schemas.microsoft.com/office/drawing/2014/main" id="{AF9BDD3B-7FC7-4CF2-AFEF-66C9553ED2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1840" y="3852000"/>
              <a:ext cx="144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Text Box 182">
              <a:extLst>
                <a:ext uri="{FF2B5EF4-FFF2-40B4-BE49-F238E27FC236}">
                  <a16:creationId xmlns:a16="http://schemas.microsoft.com/office/drawing/2014/main" id="{1F503C49-DD83-417C-B24D-378BA61EC1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1840" y="3852000"/>
              <a:ext cx="144000" cy="180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990099"/>
                  </a:solidFill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226" name="Line 77">
              <a:extLst>
                <a:ext uri="{FF2B5EF4-FFF2-40B4-BE49-F238E27FC236}">
                  <a16:creationId xmlns:a16="http://schemas.microsoft.com/office/drawing/2014/main" id="{6E956B5B-D730-4E22-AED2-B3DB618631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23504" y="4068000"/>
              <a:ext cx="0" cy="144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Line 77">
              <a:extLst>
                <a:ext uri="{FF2B5EF4-FFF2-40B4-BE49-F238E27FC236}">
                  <a16:creationId xmlns:a16="http://schemas.microsoft.com/office/drawing/2014/main" id="{688AD787-ACBF-4085-A4BF-9C784F010E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1536" y="4068000"/>
              <a:ext cx="0" cy="144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8" name="Text Box 192">
              <a:extLst>
                <a:ext uri="{FF2B5EF4-FFF2-40B4-BE49-F238E27FC236}">
                  <a16:creationId xmlns:a16="http://schemas.microsoft.com/office/drawing/2014/main" id="{0C81E87A-C0A6-487B-86BB-E9FE2D62FA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9840" y="4068000"/>
              <a:ext cx="216000" cy="144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229" name="直接箭头连接符 228">
              <a:extLst>
                <a:ext uri="{FF2B5EF4-FFF2-40B4-BE49-F238E27FC236}">
                  <a16:creationId xmlns:a16="http://schemas.microsoft.com/office/drawing/2014/main" id="{E58B225D-C723-445F-A79C-5E447F939B7B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2340000" y="3636000"/>
              <a:ext cx="252000" cy="21600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/>
              <a:tailEnd type="none" w="sm" len="sm"/>
            </a:ln>
            <a:effectLst/>
          </p:spPr>
        </p:cxnSp>
        <p:cxnSp>
          <p:nvCxnSpPr>
            <p:cNvPr id="230" name="直接箭头连接符 229">
              <a:extLst>
                <a:ext uri="{FF2B5EF4-FFF2-40B4-BE49-F238E27FC236}">
                  <a16:creationId xmlns:a16="http://schemas.microsoft.com/office/drawing/2014/main" id="{E34DDCC0-B565-42B0-8533-73544D2F6CD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907704" y="3690000"/>
              <a:ext cx="0" cy="126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/>
              <a:tailEnd type="none" w="sm" len="sm"/>
            </a:ln>
            <a:effectLst/>
          </p:spPr>
        </p:cxnSp>
        <p:cxnSp>
          <p:nvCxnSpPr>
            <p:cNvPr id="231" name="直接箭头连接符 230">
              <a:extLst>
                <a:ext uri="{FF2B5EF4-FFF2-40B4-BE49-F238E27FC236}">
                  <a16:creationId xmlns:a16="http://schemas.microsoft.com/office/drawing/2014/main" id="{EBE5F1BD-430B-4FF8-9AAD-3A20B481C0F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908000" y="3690000"/>
              <a:ext cx="68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/>
              <a:tailEnd type="none" w="sm" len="sm"/>
            </a:ln>
            <a:effectLst/>
          </p:spPr>
        </p:cxnSp>
        <p:cxnSp>
          <p:nvCxnSpPr>
            <p:cNvPr id="232" name="直接箭头连接符 231">
              <a:extLst>
                <a:ext uri="{FF2B5EF4-FFF2-40B4-BE49-F238E27FC236}">
                  <a16:creationId xmlns:a16="http://schemas.microsoft.com/office/drawing/2014/main" id="{A2CF13A8-A46B-4624-AE6A-E1D02E206AE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591840" y="3636000"/>
              <a:ext cx="107951" cy="5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/>
              <a:tailEnd type="arrow" w="sm" len="sm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515126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24</a:t>
            </a:fld>
            <a:endParaRPr lang="en-US" altLang="zh-CN"/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251520" y="404664"/>
            <a:ext cx="8640960" cy="5040804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 ※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课后思考题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-1(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多选题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：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 </a:t>
            </a:r>
            <a:endParaRPr lang="en-US" altLang="zh-CN" sz="2200" b="1" dirty="0"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1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、程序执行前预先存放在存储器中，其好处包括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A. 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实现自动访问   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提高执行速度   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C.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提高编程效率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 marL="719455" indent="-719455"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2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、程序中指令需逐条执行，其原因包括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A. 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指令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可能为转移型指令   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同时只能取一条指令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C. 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同时只能译码一条指令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3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、下列选项中，不属于计算机主机的部件有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A. 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运算器    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控制器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C. 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主存      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D.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磁盘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4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、执行访存指令时，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CPU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发出的存储器地址为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A.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主存地址               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主存地址或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Cache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地址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5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、程序执行过程中，指令地址用作循环变量，其存放部件是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A. IR        B. ID        C. PC        D. REGs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25</a:t>
            </a:fld>
            <a:endParaRPr lang="en-US" altLang="zh-CN"/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251520" y="404664"/>
            <a:ext cx="8640960" cy="4963859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pPr marL="719455" indent="-719455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※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课后思考题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-2(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多选题</a:t>
            </a: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：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 marL="719455" indent="-719455">
              <a:lnSpc>
                <a:spcPct val="125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6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、下列部件名称解释中，正确的有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 marL="719455" indent="-719455">
              <a:lnSpc>
                <a:spcPct val="125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    A. 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PC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指</a:t>
            </a:r>
            <a:r>
              <a:rPr lang="en-US" altLang="zh-CN" sz="2000" dirty="0"/>
              <a:t>Program Counter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  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B.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ID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指</a:t>
            </a:r>
            <a:r>
              <a:rPr lang="en-US" altLang="zh-CN" sz="2000" dirty="0"/>
              <a:t>Instruction Decoder</a:t>
            </a:r>
          </a:p>
          <a:p>
            <a:pPr marL="719455" indent="-719455">
              <a:lnSpc>
                <a:spcPct val="125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 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 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C.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RAM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指随机访问存储器   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D.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主设备指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CPU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和主存</a:t>
            </a:r>
            <a:endParaRPr lang="en-US" altLang="zh-CN" sz="2000" b="1" dirty="0">
              <a:solidFill>
                <a:srgbClr val="000000"/>
              </a:solidFill>
              <a:latin typeface="宋体" panose="02010600030101010101" pitchFamily="2" charset="-122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微软雅黑" panose="020B0503020204020204" charset="-122"/>
              </a:rPr>
              <a:t>  7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微软雅黑" panose="020B0503020204020204" charset="-122"/>
              </a:rPr>
              <a:t>、</a:t>
            </a:r>
            <a:r>
              <a:rPr lang="zh-CN" altLang="en-US" sz="2000" b="1" dirty="0">
                <a:solidFill>
                  <a:srgbClr val="000000"/>
                </a:solidFill>
                <a:latin typeface="+mj-ea"/>
                <a:sym typeface="微软雅黑" panose="020B0503020204020204" charset="-122"/>
              </a:rPr>
              <a:t>下列选项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中， 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微软雅黑" panose="020B0503020204020204" charset="-122"/>
              </a:rPr>
              <a:t>ALU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微软雅黑" panose="020B0503020204020204" charset="-122"/>
              </a:rPr>
              <a:t>能实现的运算有</a:t>
            </a:r>
            <a:endParaRPr lang="en-US" altLang="zh-CN" sz="2000" b="1" dirty="0">
              <a:solidFill>
                <a:srgbClr val="000000"/>
              </a:solidFill>
              <a:latin typeface="宋体" panose="02010600030101010101" pitchFamily="2" charset="-122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+mj-ea"/>
                <a:ea typeface="+mj-ea"/>
                <a:sym typeface="微软雅黑" panose="020B0503020204020204" charset="-122"/>
              </a:rPr>
              <a:t>      A. </a:t>
            </a:r>
            <a:r>
              <a:rPr lang="zh-CN" altLang="en-US" sz="2000" b="1" dirty="0">
                <a:solidFill>
                  <a:srgbClr val="000000"/>
                </a:solidFill>
                <a:latin typeface="+mj-ea"/>
                <a:ea typeface="+mj-ea"/>
                <a:sym typeface="微软雅黑" panose="020B0503020204020204" charset="-122"/>
              </a:rPr>
              <a:t>定点加法      </a:t>
            </a:r>
            <a:r>
              <a:rPr lang="en-US" altLang="zh-CN" sz="2000" b="1" dirty="0">
                <a:solidFill>
                  <a:srgbClr val="000000"/>
                </a:solidFill>
                <a:latin typeface="+mj-ea"/>
                <a:ea typeface="+mj-ea"/>
                <a:sym typeface="微软雅黑" panose="020B0503020204020204" charset="-122"/>
              </a:rPr>
              <a:t>B.</a:t>
            </a:r>
            <a:r>
              <a:rPr lang="zh-CN" altLang="en-US" sz="2000" b="1" dirty="0">
                <a:solidFill>
                  <a:srgbClr val="000000"/>
                </a:solidFill>
                <a:latin typeface="+mj-ea"/>
                <a:ea typeface="+mj-ea"/>
                <a:sym typeface="微软雅黑" panose="020B0503020204020204" charset="-122"/>
              </a:rPr>
              <a:t> 逻辑运算      </a:t>
            </a:r>
            <a:r>
              <a:rPr lang="en-US" altLang="zh-CN" sz="2000" b="1" dirty="0">
                <a:solidFill>
                  <a:srgbClr val="000000"/>
                </a:solidFill>
                <a:latin typeface="+mj-ea"/>
                <a:ea typeface="+mj-ea"/>
                <a:sym typeface="微软雅黑" panose="020B0503020204020204" charset="-122"/>
              </a:rPr>
              <a:t>C.</a:t>
            </a:r>
            <a:r>
              <a:rPr lang="zh-CN" altLang="en-US" sz="2000" b="1" dirty="0">
                <a:solidFill>
                  <a:srgbClr val="000000"/>
                </a:solidFill>
                <a:latin typeface="+mj-ea"/>
                <a:ea typeface="+mj-ea"/>
                <a:sym typeface="微软雅黑" panose="020B0503020204020204" charset="-122"/>
              </a:rPr>
              <a:t> 浮点减法</a:t>
            </a:r>
            <a:endParaRPr lang="en-US" altLang="zh-CN" sz="2000" b="1" dirty="0">
              <a:solidFill>
                <a:srgbClr val="000000"/>
              </a:solidFill>
              <a:latin typeface="+mj-ea"/>
              <a:ea typeface="+mj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8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、计算机中，显卡属于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A. 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外设          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 I/O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接口       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C.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外设或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I/O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接口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9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、下列总线传输协议中，时延完全取决于从设备的步骤是</a:t>
            </a:r>
            <a:endParaRPr lang="en-US" altLang="zh-CN" sz="2000" b="1" dirty="0">
              <a:solidFill>
                <a:srgbClr val="000000"/>
              </a:solidFill>
              <a:latin typeface="宋体" panose="02010600030101010101" pitchFamily="2" charset="-122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    A. 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①</a:t>
            </a:r>
            <a:endParaRPr lang="en-US" altLang="zh-CN" sz="2000" b="1" dirty="0">
              <a:solidFill>
                <a:srgbClr val="000000"/>
              </a:solidFill>
              <a:latin typeface="宋体" panose="02010600030101010101" pitchFamily="2" charset="-122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    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B.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②</a:t>
            </a:r>
            <a:endParaRPr lang="en-US" altLang="zh-CN" sz="2000" b="1" dirty="0">
              <a:solidFill>
                <a:srgbClr val="000000"/>
              </a:solidFill>
              <a:latin typeface="宋体" panose="02010600030101010101" pitchFamily="2" charset="-122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    </a:t>
            </a: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C.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③</a:t>
            </a:r>
            <a:endParaRPr lang="zh-CN" altLang="en-US" sz="2200" b="1" dirty="0">
              <a:solidFill>
                <a:srgbClr val="000000"/>
              </a:solidFill>
              <a:latin typeface="宋体" panose="02010600030101010101" pitchFamily="2" charset="-122"/>
              <a:sym typeface="微软雅黑" panose="020B050302020402020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2699979" y="4293096"/>
            <a:ext cx="3600213" cy="1584152"/>
            <a:chOff x="1398046" y="1556792"/>
            <a:chExt cx="3600213" cy="1584152"/>
          </a:xfrm>
        </p:grpSpPr>
        <p:sp>
          <p:nvSpPr>
            <p:cNvPr id="49" name="Line 226"/>
            <p:cNvSpPr>
              <a:spLocks noChangeShapeType="1"/>
            </p:cNvSpPr>
            <p:nvPr/>
          </p:nvSpPr>
          <p:spPr bwMode="auto">
            <a:xfrm>
              <a:off x="4572000" y="1772816"/>
              <a:ext cx="1" cy="136800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prstDash val="dash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227"/>
            <p:cNvSpPr>
              <a:spLocks noChangeShapeType="1"/>
            </p:cNvSpPr>
            <p:nvPr/>
          </p:nvSpPr>
          <p:spPr bwMode="auto">
            <a:xfrm>
              <a:off x="2843808" y="1772816"/>
              <a:ext cx="0" cy="136800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prstDash val="dash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230"/>
            <p:cNvSpPr>
              <a:spLocks noChangeShapeType="1"/>
            </p:cNvSpPr>
            <p:nvPr/>
          </p:nvSpPr>
          <p:spPr bwMode="auto">
            <a:xfrm flipH="1">
              <a:off x="2548984" y="1772816"/>
              <a:ext cx="1587" cy="136800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231"/>
            <p:cNvSpPr>
              <a:spLocks noChangeShapeType="1"/>
            </p:cNvSpPr>
            <p:nvPr/>
          </p:nvSpPr>
          <p:spPr bwMode="auto">
            <a:xfrm>
              <a:off x="3703566" y="1772816"/>
              <a:ext cx="0" cy="136800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232"/>
            <p:cNvSpPr>
              <a:spLocks noChangeShapeType="1"/>
            </p:cNvSpPr>
            <p:nvPr/>
          </p:nvSpPr>
          <p:spPr bwMode="auto">
            <a:xfrm flipH="1">
              <a:off x="4277325" y="1772816"/>
              <a:ext cx="0" cy="136800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233"/>
            <p:cNvSpPr>
              <a:spLocks noChangeShapeType="1"/>
            </p:cNvSpPr>
            <p:nvPr/>
          </p:nvSpPr>
          <p:spPr bwMode="auto">
            <a:xfrm>
              <a:off x="3125917" y="1772816"/>
              <a:ext cx="0" cy="136800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 Box 235"/>
            <p:cNvSpPr txBox="1">
              <a:spLocks noChangeArrowheads="1"/>
            </p:cNvSpPr>
            <p:nvPr/>
          </p:nvSpPr>
          <p:spPr bwMode="auto">
            <a:xfrm>
              <a:off x="1398046" y="1557784"/>
              <a:ext cx="1008063" cy="136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114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CLK</a:t>
              </a:r>
            </a:p>
            <a:p>
              <a:pPr algn="ctr">
                <a:lnSpc>
                  <a:spcPct val="114000"/>
                </a:lnSpc>
              </a:pPr>
              <a:r>
                <a:rPr lang="en-US" altLang="zh-CN" sz="1600" b="1" dirty="0" err="1">
                  <a:latin typeface="+mn-ea"/>
                  <a:ea typeface="+mn-ea"/>
                </a:rPr>
                <a:t>ABus</a:t>
              </a:r>
              <a:endParaRPr lang="zh-CN" altLang="en-US" sz="1600" b="1" dirty="0">
                <a:latin typeface="+mn-ea"/>
                <a:ea typeface="+mn-ea"/>
              </a:endParaRPr>
            </a:p>
            <a:p>
              <a:pPr algn="ctr">
                <a:lnSpc>
                  <a:spcPct val="114000"/>
                </a:lnSpc>
              </a:pPr>
              <a:r>
                <a:rPr lang="en-US" altLang="zh-CN" sz="1600" b="1" dirty="0" err="1">
                  <a:latin typeface="+mn-ea"/>
                  <a:ea typeface="+mn-ea"/>
                </a:rPr>
                <a:t>DBus</a:t>
              </a:r>
              <a:endParaRPr lang="en-US" altLang="zh-CN" sz="1600" b="1" dirty="0">
                <a:latin typeface="+mn-ea"/>
                <a:ea typeface="+mn-ea"/>
              </a:endParaRPr>
            </a:p>
            <a:p>
              <a:pPr algn="ctr">
                <a:lnSpc>
                  <a:spcPct val="114000"/>
                </a:lnSpc>
              </a:pPr>
              <a:r>
                <a:rPr lang="en-US" altLang="zh-CN" sz="1600" b="1" dirty="0" err="1">
                  <a:latin typeface="+mn-ea"/>
                  <a:ea typeface="+mn-ea"/>
                </a:rPr>
                <a:t>CBus</a:t>
              </a:r>
              <a:r>
                <a:rPr lang="en-US" altLang="zh-CN" sz="1600" b="1" dirty="0">
                  <a:latin typeface="+mn-ea"/>
                  <a:ea typeface="+mn-ea"/>
                </a:rPr>
                <a:t>(RD)</a:t>
              </a:r>
              <a:endParaRPr lang="zh-CN" altLang="en-US" sz="1600" b="1" dirty="0">
                <a:latin typeface="+mn-ea"/>
                <a:ea typeface="+mn-ea"/>
              </a:endParaRPr>
            </a:p>
            <a:p>
              <a:pPr algn="ctr">
                <a:lnSpc>
                  <a:spcPct val="114000"/>
                </a:lnSpc>
              </a:pPr>
              <a:r>
                <a:rPr lang="en-US" altLang="zh-CN" sz="1600" b="1" dirty="0" err="1">
                  <a:latin typeface="+mn-ea"/>
                  <a:ea typeface="+mn-ea"/>
                </a:rPr>
                <a:t>CBus</a:t>
              </a:r>
              <a:r>
                <a:rPr lang="en-US" altLang="zh-CN" sz="1600" b="1" dirty="0">
                  <a:latin typeface="+mn-ea"/>
                  <a:ea typeface="+mn-ea"/>
                </a:rPr>
                <a:t>(WR)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sp>
          <p:nvSpPr>
            <p:cNvPr id="56" name="Line 236"/>
            <p:cNvSpPr>
              <a:spLocks noChangeShapeType="1"/>
            </p:cNvSpPr>
            <p:nvPr/>
          </p:nvSpPr>
          <p:spPr bwMode="auto">
            <a:xfrm>
              <a:off x="2406109" y="1953262"/>
              <a:ext cx="142875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237"/>
            <p:cNvSpPr>
              <a:spLocks noChangeShapeType="1"/>
            </p:cNvSpPr>
            <p:nvPr/>
          </p:nvSpPr>
          <p:spPr bwMode="auto">
            <a:xfrm flipV="1">
              <a:off x="2406109" y="2242883"/>
              <a:ext cx="1297459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238"/>
            <p:cNvSpPr>
              <a:spLocks noChangeShapeType="1"/>
            </p:cNvSpPr>
            <p:nvPr/>
          </p:nvSpPr>
          <p:spPr bwMode="auto">
            <a:xfrm flipV="1">
              <a:off x="4422061" y="2242883"/>
              <a:ext cx="576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243"/>
            <p:cNvSpPr>
              <a:spLocks noChangeShapeType="1"/>
            </p:cNvSpPr>
            <p:nvPr/>
          </p:nvSpPr>
          <p:spPr bwMode="auto">
            <a:xfrm flipV="1">
              <a:off x="2405837" y="2636912"/>
              <a:ext cx="432000" cy="500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244"/>
            <p:cNvSpPr>
              <a:spLocks noChangeShapeType="1"/>
            </p:cNvSpPr>
            <p:nvPr/>
          </p:nvSpPr>
          <p:spPr bwMode="auto">
            <a:xfrm>
              <a:off x="2992316" y="2420888"/>
              <a:ext cx="128731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255"/>
            <p:cNvSpPr>
              <a:spLocks noChangeShapeType="1"/>
            </p:cNvSpPr>
            <p:nvPr/>
          </p:nvSpPr>
          <p:spPr bwMode="auto">
            <a:xfrm flipV="1">
              <a:off x="4710092" y="1954849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257"/>
            <p:cNvSpPr>
              <a:spLocks noChangeShapeType="1"/>
            </p:cNvSpPr>
            <p:nvPr/>
          </p:nvSpPr>
          <p:spPr bwMode="auto">
            <a:xfrm>
              <a:off x="4855694" y="1772816"/>
              <a:ext cx="3559" cy="136800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262"/>
            <p:cNvSpPr>
              <a:spLocks noChangeShapeType="1"/>
            </p:cNvSpPr>
            <p:nvPr/>
          </p:nvSpPr>
          <p:spPr bwMode="auto">
            <a:xfrm flipH="1" flipV="1">
              <a:off x="4278044" y="2420888"/>
              <a:ext cx="14421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263"/>
            <p:cNvSpPr>
              <a:spLocks noChangeShapeType="1"/>
            </p:cNvSpPr>
            <p:nvPr/>
          </p:nvSpPr>
          <p:spPr bwMode="auto">
            <a:xfrm>
              <a:off x="4422259" y="2636912"/>
              <a:ext cx="57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AutoShape 299"/>
            <p:cNvSpPr>
              <a:spLocks noChangeArrowheads="1"/>
            </p:cNvSpPr>
            <p:nvPr/>
          </p:nvSpPr>
          <p:spPr bwMode="auto">
            <a:xfrm>
              <a:off x="2550572" y="1846411"/>
              <a:ext cx="2159720" cy="216000"/>
            </a:xfrm>
            <a:prstGeom prst="hexagon">
              <a:avLst>
                <a:gd name="adj" fmla="val 49744"/>
                <a:gd name="vf" fmla="val 115470"/>
              </a:avLst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Text Box 300"/>
            <p:cNvSpPr txBox="1">
              <a:spLocks noChangeArrowheads="1"/>
            </p:cNvSpPr>
            <p:nvPr/>
          </p:nvSpPr>
          <p:spPr bwMode="auto">
            <a:xfrm>
              <a:off x="3341940" y="1844824"/>
              <a:ext cx="50323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地址</a:t>
              </a:r>
            </a:p>
          </p:txBody>
        </p:sp>
        <p:sp>
          <p:nvSpPr>
            <p:cNvPr id="67" name="AutoShape 301"/>
            <p:cNvSpPr>
              <a:spLocks noChangeArrowheads="1"/>
            </p:cNvSpPr>
            <p:nvPr/>
          </p:nvSpPr>
          <p:spPr bwMode="auto">
            <a:xfrm>
              <a:off x="3701981" y="2132856"/>
              <a:ext cx="720154" cy="216000"/>
            </a:xfrm>
            <a:prstGeom prst="hexagon">
              <a:avLst>
                <a:gd name="adj" fmla="val 56354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302"/>
            <p:cNvSpPr>
              <a:spLocks noChangeShapeType="1"/>
            </p:cNvSpPr>
            <p:nvPr/>
          </p:nvSpPr>
          <p:spPr bwMode="auto">
            <a:xfrm>
              <a:off x="2406109" y="2921770"/>
              <a:ext cx="259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 Box 304"/>
            <p:cNvSpPr txBox="1">
              <a:spLocks noChangeArrowheads="1"/>
            </p:cNvSpPr>
            <p:nvPr/>
          </p:nvSpPr>
          <p:spPr bwMode="auto">
            <a:xfrm>
              <a:off x="3773988" y="2134444"/>
              <a:ext cx="576263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 dirty="0"/>
                <a:t>数据</a:t>
              </a:r>
            </a:p>
          </p:txBody>
        </p:sp>
        <p:sp>
          <p:nvSpPr>
            <p:cNvPr id="70" name="Line 243"/>
            <p:cNvSpPr>
              <a:spLocks noChangeShapeType="1"/>
            </p:cNvSpPr>
            <p:nvPr/>
          </p:nvSpPr>
          <p:spPr bwMode="auto">
            <a:xfrm>
              <a:off x="2415434" y="2708920"/>
              <a:ext cx="288032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234"/>
            <p:cNvSpPr>
              <a:spLocks noChangeShapeType="1"/>
            </p:cNvSpPr>
            <p:nvPr/>
          </p:nvSpPr>
          <p:spPr bwMode="auto">
            <a:xfrm flipV="1">
              <a:off x="2838067" y="1556792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239"/>
            <p:cNvSpPr>
              <a:spLocks noChangeShapeType="1"/>
            </p:cNvSpPr>
            <p:nvPr/>
          </p:nvSpPr>
          <p:spPr bwMode="auto">
            <a:xfrm>
              <a:off x="2412901" y="1772816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240"/>
            <p:cNvSpPr>
              <a:spLocks noChangeShapeType="1"/>
            </p:cNvSpPr>
            <p:nvPr/>
          </p:nvSpPr>
          <p:spPr bwMode="auto">
            <a:xfrm flipH="1" flipV="1">
              <a:off x="2550067" y="1558379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241"/>
            <p:cNvSpPr>
              <a:spLocks noChangeShapeType="1"/>
            </p:cNvSpPr>
            <p:nvPr/>
          </p:nvSpPr>
          <p:spPr bwMode="auto">
            <a:xfrm>
              <a:off x="2549853" y="1556792"/>
              <a:ext cx="288032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242"/>
            <p:cNvSpPr>
              <a:spLocks noChangeShapeType="1"/>
            </p:cNvSpPr>
            <p:nvPr/>
          </p:nvSpPr>
          <p:spPr bwMode="auto">
            <a:xfrm flipV="1">
              <a:off x="2838067" y="1778470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246"/>
            <p:cNvSpPr>
              <a:spLocks noChangeShapeType="1"/>
            </p:cNvSpPr>
            <p:nvPr/>
          </p:nvSpPr>
          <p:spPr bwMode="auto">
            <a:xfrm flipV="1">
              <a:off x="3414067" y="1559967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247"/>
            <p:cNvSpPr>
              <a:spLocks noChangeShapeType="1"/>
            </p:cNvSpPr>
            <p:nvPr/>
          </p:nvSpPr>
          <p:spPr bwMode="auto">
            <a:xfrm flipH="1" flipV="1">
              <a:off x="3126067" y="15615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248"/>
            <p:cNvSpPr>
              <a:spLocks noChangeShapeType="1"/>
            </p:cNvSpPr>
            <p:nvPr/>
          </p:nvSpPr>
          <p:spPr bwMode="auto">
            <a:xfrm>
              <a:off x="3125917" y="1563142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258"/>
            <p:cNvSpPr>
              <a:spLocks noChangeShapeType="1"/>
            </p:cNvSpPr>
            <p:nvPr/>
          </p:nvSpPr>
          <p:spPr bwMode="auto">
            <a:xfrm>
              <a:off x="4854108" y="1556792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234"/>
            <p:cNvSpPr>
              <a:spLocks noChangeShapeType="1"/>
            </p:cNvSpPr>
            <p:nvPr/>
          </p:nvSpPr>
          <p:spPr bwMode="auto">
            <a:xfrm flipV="1">
              <a:off x="3989292" y="1556792"/>
              <a:ext cx="1588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240"/>
            <p:cNvSpPr>
              <a:spLocks noChangeShapeType="1"/>
            </p:cNvSpPr>
            <p:nvPr/>
          </p:nvSpPr>
          <p:spPr bwMode="auto">
            <a:xfrm flipH="1" flipV="1">
              <a:off x="3701260" y="1558379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241"/>
            <p:cNvSpPr>
              <a:spLocks noChangeShapeType="1"/>
            </p:cNvSpPr>
            <p:nvPr/>
          </p:nvSpPr>
          <p:spPr bwMode="auto">
            <a:xfrm>
              <a:off x="3701261" y="1559965"/>
              <a:ext cx="288032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242"/>
            <p:cNvSpPr>
              <a:spLocks noChangeShapeType="1"/>
            </p:cNvSpPr>
            <p:nvPr/>
          </p:nvSpPr>
          <p:spPr bwMode="auto">
            <a:xfrm flipV="1">
              <a:off x="3989292" y="1778470"/>
              <a:ext cx="288033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246"/>
            <p:cNvSpPr>
              <a:spLocks noChangeShapeType="1"/>
            </p:cNvSpPr>
            <p:nvPr/>
          </p:nvSpPr>
          <p:spPr bwMode="auto">
            <a:xfrm flipH="1" flipV="1">
              <a:off x="4566943" y="1559966"/>
              <a:ext cx="1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247"/>
            <p:cNvSpPr>
              <a:spLocks noChangeShapeType="1"/>
            </p:cNvSpPr>
            <p:nvPr/>
          </p:nvSpPr>
          <p:spPr bwMode="auto">
            <a:xfrm flipH="1" flipV="1">
              <a:off x="4277324" y="15615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248"/>
            <p:cNvSpPr>
              <a:spLocks noChangeShapeType="1"/>
            </p:cNvSpPr>
            <p:nvPr/>
          </p:nvSpPr>
          <p:spPr bwMode="auto">
            <a:xfrm>
              <a:off x="4277325" y="1563142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260"/>
            <p:cNvSpPr>
              <a:spLocks noChangeShapeType="1"/>
            </p:cNvSpPr>
            <p:nvPr/>
          </p:nvSpPr>
          <p:spPr bwMode="auto">
            <a:xfrm>
              <a:off x="3413948" y="1775296"/>
              <a:ext cx="287412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242"/>
            <p:cNvSpPr>
              <a:spLocks noChangeShapeType="1"/>
            </p:cNvSpPr>
            <p:nvPr/>
          </p:nvSpPr>
          <p:spPr bwMode="auto">
            <a:xfrm flipV="1">
              <a:off x="4566067" y="1778469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247"/>
            <p:cNvSpPr>
              <a:spLocks noChangeShapeType="1"/>
            </p:cNvSpPr>
            <p:nvPr/>
          </p:nvSpPr>
          <p:spPr bwMode="auto">
            <a:xfrm flipH="1" flipV="1">
              <a:off x="4854107" y="15615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245"/>
            <p:cNvSpPr>
              <a:spLocks noChangeShapeType="1"/>
            </p:cNvSpPr>
            <p:nvPr/>
          </p:nvSpPr>
          <p:spPr bwMode="auto">
            <a:xfrm flipV="1">
              <a:off x="2838206" y="2420988"/>
              <a:ext cx="154110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Text Box 41"/>
            <p:cNvSpPr txBox="1">
              <a:spLocks noChangeArrowheads="1"/>
            </p:cNvSpPr>
            <p:nvPr/>
          </p:nvSpPr>
          <p:spPr bwMode="auto">
            <a:xfrm>
              <a:off x="2694190" y="2924944"/>
              <a:ext cx="2159917" cy="216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/>
                <a:t>①        ②       ③       ④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Box 109"/>
          <p:cNvSpPr txBox="1">
            <a:spLocks noChangeArrowheads="1"/>
          </p:cNvSpPr>
          <p:nvPr/>
        </p:nvSpPr>
        <p:spPr bwMode="auto">
          <a:xfrm>
            <a:off x="179263" y="1693492"/>
            <a:ext cx="3023887" cy="41337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系统的层次抽象：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(</a:t>
            </a:r>
            <a:r>
              <a:rPr lang="zh-CN" altLang="en-US" sz="1800" b="1" dirty="0">
                <a:latin typeface="宋体" panose="02010600030101010101" pitchFamily="2" charset="-122"/>
              </a:rPr>
              <a:t>基于应用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层次转换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用户类型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26</a:t>
            </a:fld>
            <a:endParaRPr lang="en-US" altLang="zh-CN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776808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§1.3 </a:t>
            </a:r>
            <a:r>
              <a:rPr lang="zh-CN" altLang="en-US" sz="2800" b="1" dirty="0">
                <a:latin typeface="宋体" panose="02010600030101010101" pitchFamily="2" charset="-122"/>
              </a:rPr>
              <a:t>计算机系统的层次结构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79263" y="1268760"/>
            <a:ext cx="8785225" cy="4247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b="1" dirty="0">
                <a:solidFill>
                  <a:srgbClr val="FF3399"/>
                </a:solidFill>
                <a:latin typeface="+mn-ea"/>
                <a:ea typeface="+mn-ea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+mn-ea"/>
                <a:ea typeface="+mn-ea"/>
              </a:rPr>
              <a:t>、计算机系统的层次结构</a:t>
            </a:r>
          </a:p>
        </p:txBody>
      </p:sp>
      <p:sp>
        <p:nvSpPr>
          <p:cNvPr id="5" name="Text Box 526"/>
          <p:cNvSpPr txBox="1">
            <a:spLocks noChangeArrowheads="1"/>
          </p:cNvSpPr>
          <p:nvPr/>
        </p:nvSpPr>
        <p:spPr bwMode="auto">
          <a:xfrm>
            <a:off x="179512" y="764704"/>
            <a:ext cx="8785225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000" b="1" u="none" dirty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sz="2000" b="1" u="none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u="none" dirty="0">
                <a:latin typeface="+mn-ea"/>
                <a:ea typeface="+mn-ea"/>
              </a:rPr>
              <a:t>系统的</a:t>
            </a:r>
            <a:r>
              <a:rPr lang="zh-CN" altLang="en-US" sz="2000" b="1" dirty="0">
                <a:latin typeface="+mn-ea"/>
                <a:ea typeface="+mn-ea"/>
              </a:rPr>
              <a:t>层次结构，结构与组成的关系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→组成的任务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endParaRPr lang="en-US" altLang="zh-CN" sz="2000" b="1" u="none" dirty="0">
              <a:latin typeface="+mn-ea"/>
              <a:ea typeface="+mn-ea"/>
            </a:endParaRPr>
          </a:p>
        </p:txBody>
      </p:sp>
      <p:sp>
        <p:nvSpPr>
          <p:cNvPr id="20" name="Text Box 109"/>
          <p:cNvSpPr txBox="1">
            <a:spLocks noChangeArrowheads="1"/>
          </p:cNvSpPr>
          <p:nvPr/>
        </p:nvSpPr>
        <p:spPr bwMode="auto">
          <a:xfrm>
            <a:off x="2771800" y="1693492"/>
            <a:ext cx="6192688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ISA</a:t>
            </a:r>
            <a:r>
              <a:rPr lang="zh-CN" altLang="en-US" sz="2200" b="1" dirty="0">
                <a:latin typeface="宋体" panose="02010600030101010101" pitchFamily="2" charset="-122"/>
              </a:rPr>
              <a:t>为软件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硬件交界面     </a:t>
            </a:r>
            <a:r>
              <a:rPr lang="zh-CN" altLang="en-US" sz="1600" b="1" dirty="0">
                <a:latin typeface="宋体" panose="02010600030101010101" pitchFamily="2" charset="-122"/>
              </a:rPr>
              <a:t>←硬件仅识别机器语言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5544336" y="2557756"/>
            <a:ext cx="3276136" cy="720000"/>
            <a:chOff x="5616112" y="3357072"/>
            <a:chExt cx="3276136" cy="720000"/>
          </a:xfrm>
        </p:grpSpPr>
        <p:sp>
          <p:nvSpPr>
            <p:cNvPr id="29" name="Text Box 99"/>
            <p:cNvSpPr txBox="1">
              <a:spLocks noChangeArrowheads="1"/>
            </p:cNvSpPr>
            <p:nvPr/>
          </p:nvSpPr>
          <p:spPr bwMode="auto">
            <a:xfrm>
              <a:off x="5724248" y="3357072"/>
              <a:ext cx="3168000" cy="72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r>
                <a:rPr lang="zh-CN" altLang="en-US" sz="1600" b="1" dirty="0">
                  <a:latin typeface="宋体" panose="02010600030101010101" pitchFamily="2" charset="-122"/>
                </a:rPr>
                <a:t>应用程序员：应用程序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r>
                <a:rPr lang="zh-CN" altLang="en-US" sz="1600" b="1" dirty="0">
                  <a:latin typeface="宋体" panose="02010600030101010101" pitchFamily="2" charset="-122"/>
                </a:rPr>
                <a:t>系统程序员：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OS/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编译器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/DBMS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等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r>
                <a:rPr lang="zh-CN" altLang="en-US" sz="1600" b="1" dirty="0">
                  <a:latin typeface="宋体" panose="02010600030101010101" pitchFamily="2" charset="-122"/>
                </a:rPr>
                <a:t>系统管理员：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OS/DBMS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等配置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维护</a:t>
              </a:r>
            </a:p>
          </p:txBody>
        </p:sp>
        <p:sp>
          <p:nvSpPr>
            <p:cNvPr id="30" name="左大括号 29"/>
            <p:cNvSpPr/>
            <p:nvPr/>
          </p:nvSpPr>
          <p:spPr bwMode="auto">
            <a:xfrm>
              <a:off x="5616112" y="3447139"/>
              <a:ext cx="108000" cy="576000"/>
            </a:xfrm>
            <a:prstGeom prst="leftBrace">
              <a:avLst>
                <a:gd name="adj1" fmla="val 32678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2" name="Text Box 109"/>
          <p:cNvSpPr txBox="1">
            <a:spLocks noChangeArrowheads="1"/>
          </p:cNvSpPr>
          <p:nvPr/>
        </p:nvSpPr>
        <p:spPr bwMode="auto">
          <a:xfrm>
            <a:off x="2195736" y="4861844"/>
            <a:ext cx="6768752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下层为上层提供抽象接口       </a:t>
            </a:r>
            <a:r>
              <a:rPr lang="zh-CN" altLang="en-US" sz="1600" b="1" dirty="0">
                <a:latin typeface="宋体" panose="02010600030101010101" pitchFamily="2" charset="-122"/>
              </a:rPr>
              <a:t>←便于软件编程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硬件设计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最终用户、系统管理员，应用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系统程序员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4572232" y="2197548"/>
            <a:ext cx="1152128" cy="1152160"/>
            <a:chOff x="4427150" y="2852936"/>
            <a:chExt cx="1152128" cy="1152160"/>
          </a:xfrm>
        </p:grpSpPr>
        <p:sp>
          <p:nvSpPr>
            <p:cNvPr id="34" name="右大括号 33"/>
            <p:cNvSpPr/>
            <p:nvPr/>
          </p:nvSpPr>
          <p:spPr bwMode="auto">
            <a:xfrm>
              <a:off x="4427150" y="3141008"/>
              <a:ext cx="108000" cy="864088"/>
            </a:xfrm>
            <a:prstGeom prst="rightBrace">
              <a:avLst>
                <a:gd name="adj1" fmla="val 36634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" name="Text Box 99"/>
            <p:cNvSpPr txBox="1">
              <a:spLocks noChangeArrowheads="1"/>
            </p:cNvSpPr>
            <p:nvPr/>
          </p:nvSpPr>
          <p:spPr bwMode="auto">
            <a:xfrm>
              <a:off x="4571166" y="2852936"/>
              <a:ext cx="1008112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最终用户</a:t>
              </a:r>
            </a:p>
          </p:txBody>
        </p:sp>
        <p:sp>
          <p:nvSpPr>
            <p:cNvPr id="38" name="Text Box 99"/>
            <p:cNvSpPr txBox="1">
              <a:spLocks noChangeArrowheads="1"/>
            </p:cNvSpPr>
            <p:nvPr/>
          </p:nvSpPr>
          <p:spPr bwMode="auto">
            <a:xfrm>
              <a:off x="4571166" y="3429120"/>
              <a:ext cx="792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程序员</a:t>
              </a:r>
            </a:p>
          </p:txBody>
        </p:sp>
        <p:sp>
          <p:nvSpPr>
            <p:cNvPr id="43" name="右大括号 42"/>
            <p:cNvSpPr/>
            <p:nvPr/>
          </p:nvSpPr>
          <p:spPr bwMode="auto">
            <a:xfrm>
              <a:off x="4427984" y="2853000"/>
              <a:ext cx="108000" cy="288000"/>
            </a:xfrm>
            <a:prstGeom prst="rightBrace">
              <a:avLst>
                <a:gd name="adj1" fmla="val 29559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1620738" y="2197548"/>
            <a:ext cx="4823510" cy="2592312"/>
            <a:chOff x="1475656" y="2852936"/>
            <a:chExt cx="4823510" cy="2592312"/>
          </a:xfrm>
        </p:grpSpPr>
        <p:sp>
          <p:nvSpPr>
            <p:cNvPr id="7" name="Text Box 88"/>
            <p:cNvSpPr txBox="1">
              <a:spLocks noChangeArrowheads="1"/>
            </p:cNvSpPr>
            <p:nvPr/>
          </p:nvSpPr>
          <p:spPr bwMode="auto">
            <a:xfrm>
              <a:off x="1979150" y="2852936"/>
              <a:ext cx="2448000" cy="288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应用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问题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8" name="Text Box 88"/>
            <p:cNvSpPr txBox="1">
              <a:spLocks noChangeArrowheads="1"/>
            </p:cNvSpPr>
            <p:nvPr/>
          </p:nvSpPr>
          <p:spPr bwMode="auto">
            <a:xfrm>
              <a:off x="1978894" y="3141008"/>
              <a:ext cx="2448000" cy="288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算法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9" name="Text Box 88"/>
            <p:cNvSpPr txBox="1">
              <a:spLocks noChangeArrowheads="1"/>
            </p:cNvSpPr>
            <p:nvPr/>
          </p:nvSpPr>
          <p:spPr bwMode="auto">
            <a:xfrm>
              <a:off x="1978894" y="3429080"/>
              <a:ext cx="2448000" cy="288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编程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语言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10" name="Text Box 88"/>
            <p:cNvSpPr txBox="1">
              <a:spLocks noChangeArrowheads="1"/>
            </p:cNvSpPr>
            <p:nvPr/>
          </p:nvSpPr>
          <p:spPr bwMode="auto">
            <a:xfrm>
              <a:off x="1979150" y="3717152"/>
              <a:ext cx="2448000" cy="288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操作系统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虚拟机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" name="Text Box 88"/>
            <p:cNvSpPr txBox="1">
              <a:spLocks noChangeArrowheads="1"/>
            </p:cNvSpPr>
            <p:nvPr/>
          </p:nvSpPr>
          <p:spPr bwMode="auto">
            <a:xfrm>
              <a:off x="1978894" y="4005192"/>
              <a:ext cx="2448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指令集体系结构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(ISA)</a:t>
              </a:r>
            </a:p>
          </p:txBody>
        </p:sp>
        <p:sp>
          <p:nvSpPr>
            <p:cNvPr id="12" name="Text Box 88"/>
            <p:cNvSpPr txBox="1">
              <a:spLocks noChangeArrowheads="1"/>
            </p:cNvSpPr>
            <p:nvPr/>
          </p:nvSpPr>
          <p:spPr bwMode="auto">
            <a:xfrm>
              <a:off x="1978894" y="4293184"/>
              <a:ext cx="2448000" cy="2880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微体系结构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88"/>
            <p:cNvSpPr txBox="1">
              <a:spLocks noChangeArrowheads="1"/>
            </p:cNvSpPr>
            <p:nvPr/>
          </p:nvSpPr>
          <p:spPr bwMode="auto">
            <a:xfrm>
              <a:off x="1979150" y="4581176"/>
              <a:ext cx="2448000" cy="2880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功能部件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/RTL</a:t>
              </a:r>
            </a:p>
          </p:txBody>
        </p:sp>
        <p:sp>
          <p:nvSpPr>
            <p:cNvPr id="14" name="Text Box 88"/>
            <p:cNvSpPr txBox="1">
              <a:spLocks noChangeArrowheads="1"/>
            </p:cNvSpPr>
            <p:nvPr/>
          </p:nvSpPr>
          <p:spPr bwMode="auto">
            <a:xfrm>
              <a:off x="1978894" y="4869136"/>
              <a:ext cx="2448000" cy="2880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数字逻辑电路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5" name="Text Box 88"/>
            <p:cNvSpPr txBox="1">
              <a:spLocks noChangeArrowheads="1"/>
            </p:cNvSpPr>
            <p:nvPr/>
          </p:nvSpPr>
          <p:spPr bwMode="auto">
            <a:xfrm>
              <a:off x="1978894" y="5157128"/>
              <a:ext cx="2448000" cy="28800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器件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" name="Line 58"/>
            <p:cNvSpPr>
              <a:spLocks noChangeShapeType="1"/>
            </p:cNvSpPr>
            <p:nvPr/>
          </p:nvSpPr>
          <p:spPr bwMode="auto">
            <a:xfrm>
              <a:off x="1475656" y="4149168"/>
              <a:ext cx="5032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Box 99"/>
            <p:cNvSpPr txBox="1">
              <a:spLocks noChangeArrowheads="1"/>
            </p:cNvSpPr>
            <p:nvPr/>
          </p:nvSpPr>
          <p:spPr bwMode="auto">
            <a:xfrm>
              <a:off x="1618886" y="3501096"/>
              <a:ext cx="288000" cy="50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zh-CN" altLang="en-US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软件</a:t>
              </a:r>
            </a:p>
          </p:txBody>
        </p:sp>
        <p:sp>
          <p:nvSpPr>
            <p:cNvPr id="18" name="Text Box 100"/>
            <p:cNvSpPr txBox="1">
              <a:spLocks noChangeArrowheads="1"/>
            </p:cNvSpPr>
            <p:nvPr/>
          </p:nvSpPr>
          <p:spPr bwMode="auto">
            <a:xfrm>
              <a:off x="1618886" y="4365248"/>
              <a:ext cx="288000" cy="50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硬件</a:t>
              </a:r>
            </a:p>
          </p:txBody>
        </p:sp>
        <p:sp>
          <p:nvSpPr>
            <p:cNvPr id="19" name="Line 58"/>
            <p:cNvSpPr>
              <a:spLocks noChangeShapeType="1"/>
            </p:cNvSpPr>
            <p:nvPr/>
          </p:nvSpPr>
          <p:spPr bwMode="auto">
            <a:xfrm flipH="1">
              <a:off x="1586161" y="3429088"/>
              <a:ext cx="0" cy="151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 type="triangle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右大括号 44"/>
            <p:cNvSpPr/>
            <p:nvPr/>
          </p:nvSpPr>
          <p:spPr bwMode="auto">
            <a:xfrm>
              <a:off x="4427150" y="4005152"/>
              <a:ext cx="108000" cy="864088"/>
            </a:xfrm>
            <a:prstGeom prst="rightBrace">
              <a:avLst>
                <a:gd name="adj1" fmla="val 34276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6" name="右大括号 45"/>
            <p:cNvSpPr/>
            <p:nvPr/>
          </p:nvSpPr>
          <p:spPr bwMode="auto">
            <a:xfrm>
              <a:off x="4427150" y="4869248"/>
              <a:ext cx="108000" cy="576000"/>
            </a:xfrm>
            <a:prstGeom prst="rightBrace">
              <a:avLst>
                <a:gd name="adj1" fmla="val 29559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" name="Text Box 99"/>
            <p:cNvSpPr txBox="1">
              <a:spLocks noChangeArrowheads="1"/>
            </p:cNvSpPr>
            <p:nvPr/>
          </p:nvSpPr>
          <p:spPr bwMode="auto">
            <a:xfrm>
              <a:off x="4571166" y="4293216"/>
              <a:ext cx="1728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架构师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设计者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8" name="Text Box 99"/>
            <p:cNvSpPr txBox="1">
              <a:spLocks noChangeArrowheads="1"/>
            </p:cNvSpPr>
            <p:nvPr/>
          </p:nvSpPr>
          <p:spPr bwMode="auto">
            <a:xfrm>
              <a:off x="4571166" y="5013296"/>
              <a:ext cx="1224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电子工程师</a:t>
              </a:r>
            </a:p>
          </p:txBody>
        </p:sp>
      </p:grpSp>
      <p:sp>
        <p:nvSpPr>
          <p:cNvPr id="51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AutoShape 338"/>
          <p:cNvSpPr/>
          <p:nvPr/>
        </p:nvSpPr>
        <p:spPr bwMode="auto">
          <a:xfrm>
            <a:off x="7236296" y="3349676"/>
            <a:ext cx="1584000" cy="216000"/>
          </a:xfrm>
          <a:prstGeom prst="borderCallout2">
            <a:avLst>
              <a:gd name="adj1" fmla="val 47637"/>
              <a:gd name="adj2" fmla="val 745"/>
              <a:gd name="adj3" fmla="val 49959"/>
              <a:gd name="adj4" fmla="val -9108"/>
              <a:gd name="adj5" fmla="val -54117"/>
              <a:gd name="adj6" fmla="val -15141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b" anchorCtr="0"/>
          <a:lstStyle/>
          <a:p>
            <a:pPr lvl="0" algn="ctr"/>
            <a:r>
              <a:rPr lang="en-US" altLang="zh-CN" sz="1600" dirty="0">
                <a:solidFill>
                  <a:srgbClr val="000000"/>
                </a:solidFill>
                <a:latin typeface="Times New Roman" panose="02020603050405020304"/>
              </a:rPr>
              <a:t>Operating System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" grpId="0"/>
      <p:bldP spid="20" grpId="0"/>
      <p:bldP spid="5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27</a:t>
            </a:fld>
            <a:endParaRPr lang="en-US" altLang="zh-CN"/>
          </a:p>
        </p:txBody>
      </p:sp>
      <p:sp>
        <p:nvSpPr>
          <p:cNvPr id="56" name="Text Box 109"/>
          <p:cNvSpPr txBox="1">
            <a:spLocks noChangeArrowheads="1"/>
          </p:cNvSpPr>
          <p:nvPr/>
        </p:nvSpPr>
        <p:spPr bwMode="auto">
          <a:xfrm>
            <a:off x="179263" y="332656"/>
            <a:ext cx="8785225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面向编程语言的层次结构：</a:t>
            </a:r>
            <a:r>
              <a:rPr lang="zh-CN" altLang="en-US" sz="2200" b="1" dirty="0">
                <a:latin typeface="宋体" panose="02010600030101010101" pitchFamily="2" charset="-122"/>
              </a:rPr>
              <a:t>所见结构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编程环境＋执行环境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有所不同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97" name="Text Box 109"/>
          <p:cNvSpPr txBox="1">
            <a:spLocks noChangeArrowheads="1"/>
          </p:cNvSpPr>
          <p:nvPr/>
        </p:nvSpPr>
        <p:spPr bwMode="auto">
          <a:xfrm>
            <a:off x="179512" y="5445224"/>
            <a:ext cx="8785225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术语：</a:t>
            </a:r>
            <a:r>
              <a:rPr lang="zh-CN" altLang="en-US" sz="2200" b="1" dirty="0">
                <a:latin typeface="宋体" panose="02010600030101010101" pitchFamily="2" charset="-122"/>
              </a:rPr>
              <a:t>指令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dirty="0"/>
              <a:t>Instruction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、语句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dirty="0"/>
              <a:t>Statement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，翻译、解释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98" name="AutoShape 338"/>
          <p:cNvSpPr/>
          <p:nvPr/>
        </p:nvSpPr>
        <p:spPr bwMode="auto">
          <a:xfrm>
            <a:off x="3635896" y="5949280"/>
            <a:ext cx="3672000" cy="252000"/>
          </a:xfrm>
          <a:prstGeom prst="borderCallout2">
            <a:avLst>
              <a:gd name="adj1" fmla="val 49610"/>
              <a:gd name="adj2" fmla="val -119"/>
              <a:gd name="adj3" fmla="val 49834"/>
              <a:gd name="adj4" fmla="val -6146"/>
              <a:gd name="adj5" fmla="val -39799"/>
              <a:gd name="adj6" fmla="val -11514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lvl="0" algn="ctr">
              <a:lnSpc>
                <a:spcPct val="90000"/>
              </a:lnSpc>
            </a:pP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不是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/>
              </a:rPr>
              <a:t>Order</a:t>
            </a:r>
            <a:r>
              <a: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或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/>
              </a:rPr>
              <a:t>Command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！更不是</a:t>
            </a:r>
            <a:r>
              <a:rPr lang="en-US" altLang="zh-CN" sz="1600" dirty="0" err="1">
                <a:latin typeface="+mn-lt"/>
              </a:rPr>
              <a:t>zhiling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！</a:t>
            </a:r>
          </a:p>
        </p:txBody>
      </p:sp>
      <p:sp>
        <p:nvSpPr>
          <p:cNvPr id="102" name="Text Box 73"/>
          <p:cNvSpPr txBox="1">
            <a:spLocks noChangeArrowheads="1"/>
          </p:cNvSpPr>
          <p:nvPr/>
        </p:nvSpPr>
        <p:spPr bwMode="auto">
          <a:xfrm>
            <a:off x="1390933" y="836712"/>
            <a:ext cx="5760000" cy="360000"/>
          </a:xfrm>
          <a:prstGeom prst="rect">
            <a:avLst/>
          </a:prstGeom>
          <a:solidFill>
            <a:srgbClr val="FFCC99">
              <a:alpha val="80000"/>
            </a:srgbClr>
          </a:solidFill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r>
              <a:rPr lang="zh-CN" altLang="en-US" sz="2000" b="1" dirty="0">
                <a:latin typeface="宋体" panose="02010600030101010101" pitchFamily="2" charset="-122"/>
              </a:rPr>
              <a:t> 编程语言                          执行机制</a:t>
            </a:r>
          </a:p>
        </p:txBody>
      </p:sp>
      <p:sp>
        <p:nvSpPr>
          <p:cNvPr id="111" name="AutoShape 45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7944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9" name="Group 101"/>
          <p:cNvGrpSpPr/>
          <p:nvPr/>
        </p:nvGrpSpPr>
        <p:grpSpPr bwMode="auto">
          <a:xfrm>
            <a:off x="3275242" y="2059708"/>
            <a:ext cx="4824413" cy="2160588"/>
            <a:chOff x="2471" y="1932"/>
            <a:chExt cx="3039" cy="1361"/>
          </a:xfrm>
        </p:grpSpPr>
        <p:sp>
          <p:nvSpPr>
            <p:cNvPr id="112" name="Text Box 99"/>
            <p:cNvSpPr txBox="1">
              <a:spLocks noChangeArrowheads="1"/>
            </p:cNvSpPr>
            <p:nvPr/>
          </p:nvSpPr>
          <p:spPr bwMode="auto">
            <a:xfrm>
              <a:off x="5284" y="1978"/>
              <a:ext cx="181" cy="590"/>
            </a:xfrm>
            <a:prstGeom prst="rect">
              <a:avLst/>
            </a:prstGeom>
            <a:solidFill>
              <a:srgbClr val="CCFFFF"/>
            </a:solidFill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虚拟机器</a:t>
              </a:r>
            </a:p>
          </p:txBody>
        </p:sp>
        <p:sp>
          <p:nvSpPr>
            <p:cNvPr id="113" name="Text Box 100"/>
            <p:cNvSpPr txBox="1">
              <a:spLocks noChangeArrowheads="1"/>
            </p:cNvSpPr>
            <p:nvPr/>
          </p:nvSpPr>
          <p:spPr bwMode="auto">
            <a:xfrm>
              <a:off x="5284" y="2658"/>
              <a:ext cx="181" cy="590"/>
            </a:xfrm>
            <a:prstGeom prst="rect">
              <a:avLst/>
            </a:prstGeom>
            <a:solidFill>
              <a:srgbClr val="CCFFFF"/>
            </a:solidFill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实际机器</a:t>
              </a:r>
            </a:p>
          </p:txBody>
        </p:sp>
        <p:sp>
          <p:nvSpPr>
            <p:cNvPr id="114" name="Line 84"/>
            <p:cNvSpPr>
              <a:spLocks noChangeShapeType="1"/>
            </p:cNvSpPr>
            <p:nvPr/>
          </p:nvSpPr>
          <p:spPr bwMode="auto">
            <a:xfrm>
              <a:off x="2471" y="2614"/>
              <a:ext cx="3039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98"/>
            <p:cNvSpPr>
              <a:spLocks noChangeShapeType="1"/>
            </p:cNvSpPr>
            <p:nvPr/>
          </p:nvSpPr>
          <p:spPr bwMode="auto">
            <a:xfrm flipV="1">
              <a:off x="5284" y="1932"/>
              <a:ext cx="0" cy="1361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sysDot"/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6" name="Line 68"/>
          <p:cNvSpPr>
            <a:spLocks noChangeShapeType="1"/>
          </p:cNvSpPr>
          <p:nvPr/>
        </p:nvSpPr>
        <p:spPr bwMode="auto">
          <a:xfrm>
            <a:off x="4355976" y="2205186"/>
            <a:ext cx="0" cy="1008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17" name="组合 116"/>
          <p:cNvGrpSpPr/>
          <p:nvPr/>
        </p:nvGrpSpPr>
        <p:grpSpPr>
          <a:xfrm>
            <a:off x="5508104" y="3213670"/>
            <a:ext cx="2089151" cy="287338"/>
            <a:chOff x="5292080" y="4077766"/>
            <a:chExt cx="2089151" cy="287338"/>
          </a:xfrm>
        </p:grpSpPr>
        <p:sp>
          <p:nvSpPr>
            <p:cNvPr id="118" name="Text Box 19"/>
            <p:cNvSpPr txBox="1">
              <a:spLocks noChangeArrowheads="1"/>
            </p:cNvSpPr>
            <p:nvPr/>
          </p:nvSpPr>
          <p:spPr bwMode="auto">
            <a:xfrm>
              <a:off x="5652443" y="4077766"/>
              <a:ext cx="1728788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直接执行机器指令</a:t>
              </a:r>
            </a:p>
          </p:txBody>
        </p:sp>
        <p:sp>
          <p:nvSpPr>
            <p:cNvPr id="119" name="Line 20"/>
            <p:cNvSpPr>
              <a:spLocks noChangeShapeType="1"/>
            </p:cNvSpPr>
            <p:nvPr/>
          </p:nvSpPr>
          <p:spPr bwMode="auto">
            <a:xfrm flipH="1">
              <a:off x="5292080" y="4221535"/>
              <a:ext cx="360363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1331640" y="3213008"/>
            <a:ext cx="4103373" cy="293412"/>
            <a:chOff x="1115616" y="4077104"/>
            <a:chExt cx="4103373" cy="293412"/>
          </a:xfrm>
        </p:grpSpPr>
        <p:sp>
          <p:nvSpPr>
            <p:cNvPr id="121" name="Text Box 6"/>
            <p:cNvSpPr txBox="1">
              <a:spLocks noChangeArrowheads="1"/>
            </p:cNvSpPr>
            <p:nvPr/>
          </p:nvSpPr>
          <p:spPr bwMode="auto">
            <a:xfrm>
              <a:off x="3058989" y="4077104"/>
              <a:ext cx="2160000" cy="28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机器语言级机器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M1</a:t>
              </a:r>
            </a:p>
          </p:txBody>
        </p:sp>
        <p:sp>
          <p:nvSpPr>
            <p:cNvPr id="122" name="Text Box 21"/>
            <p:cNvSpPr txBox="1">
              <a:spLocks noChangeArrowheads="1"/>
            </p:cNvSpPr>
            <p:nvPr/>
          </p:nvSpPr>
          <p:spPr bwMode="auto">
            <a:xfrm>
              <a:off x="1115616" y="4081591"/>
              <a:ext cx="1512000" cy="2889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用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机器语言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编程</a:t>
              </a:r>
            </a:p>
          </p:txBody>
        </p:sp>
        <p:sp>
          <p:nvSpPr>
            <p:cNvPr id="123" name="Line 58"/>
            <p:cNvSpPr>
              <a:spLocks noChangeShapeType="1"/>
            </p:cNvSpPr>
            <p:nvPr/>
          </p:nvSpPr>
          <p:spPr bwMode="auto">
            <a:xfrm>
              <a:off x="2699832" y="4224466"/>
              <a:ext cx="360000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4" name="Text Box 87"/>
          <p:cNvSpPr txBox="1">
            <a:spLocks noChangeArrowheads="1"/>
          </p:cNvSpPr>
          <p:nvPr/>
        </p:nvSpPr>
        <p:spPr bwMode="auto">
          <a:xfrm>
            <a:off x="4499992" y="2852968"/>
            <a:ext cx="158400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r>
              <a:rPr lang="zh-CN" altLang="en-US" sz="1600" b="1" dirty="0">
                <a:latin typeface="宋体" panose="02010600030101010101" pitchFamily="2" charset="-122"/>
              </a:rPr>
              <a:t>用</a:t>
            </a:r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机器语言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解释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grpSp>
        <p:nvGrpSpPr>
          <p:cNvPr id="125" name="组合 124"/>
          <p:cNvGrpSpPr/>
          <p:nvPr/>
        </p:nvGrpSpPr>
        <p:grpSpPr>
          <a:xfrm>
            <a:off x="1331808" y="2549546"/>
            <a:ext cx="5400336" cy="302728"/>
            <a:chOff x="1115784" y="3341634"/>
            <a:chExt cx="5400336" cy="302728"/>
          </a:xfrm>
        </p:grpSpPr>
        <p:sp>
          <p:nvSpPr>
            <p:cNvPr id="126" name="Text Box 78"/>
            <p:cNvSpPr txBox="1">
              <a:spLocks noChangeArrowheads="1"/>
            </p:cNvSpPr>
            <p:nvPr/>
          </p:nvSpPr>
          <p:spPr bwMode="auto">
            <a:xfrm>
              <a:off x="3058988" y="3341634"/>
              <a:ext cx="2160000" cy="28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操作系统级机器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M2</a:t>
              </a:r>
            </a:p>
          </p:txBody>
        </p:sp>
        <p:sp>
          <p:nvSpPr>
            <p:cNvPr id="127" name="Text Box 80"/>
            <p:cNvSpPr txBox="1">
              <a:spLocks noChangeArrowheads="1"/>
            </p:cNvSpPr>
            <p:nvPr/>
          </p:nvSpPr>
          <p:spPr bwMode="auto">
            <a:xfrm>
              <a:off x="1115784" y="3357024"/>
              <a:ext cx="1512000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使用</a:t>
              </a: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OS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命令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操作</a:t>
              </a:r>
            </a:p>
          </p:txBody>
        </p:sp>
        <p:sp>
          <p:nvSpPr>
            <p:cNvPr id="128" name="Line 81"/>
            <p:cNvSpPr>
              <a:spLocks noChangeShapeType="1"/>
            </p:cNvSpPr>
            <p:nvPr/>
          </p:nvSpPr>
          <p:spPr bwMode="auto">
            <a:xfrm>
              <a:off x="2699832" y="3501040"/>
              <a:ext cx="360000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Text Box 19"/>
            <p:cNvSpPr txBox="1">
              <a:spLocks noChangeArrowheads="1"/>
            </p:cNvSpPr>
            <p:nvPr/>
          </p:nvSpPr>
          <p:spPr bwMode="auto">
            <a:xfrm>
              <a:off x="5652120" y="3357024"/>
              <a:ext cx="864000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GUI</a:t>
              </a: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触发</a:t>
              </a:r>
            </a:p>
          </p:txBody>
        </p:sp>
        <p:sp>
          <p:nvSpPr>
            <p:cNvPr id="130" name="Line 20"/>
            <p:cNvSpPr>
              <a:spLocks noChangeShapeType="1"/>
            </p:cNvSpPr>
            <p:nvPr/>
          </p:nvSpPr>
          <p:spPr bwMode="auto">
            <a:xfrm flipH="1">
              <a:off x="5292080" y="3501040"/>
              <a:ext cx="360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1" name="Text Box 69"/>
          <p:cNvSpPr txBox="1">
            <a:spLocks noChangeArrowheads="1"/>
          </p:cNvSpPr>
          <p:nvPr/>
        </p:nvSpPr>
        <p:spPr bwMode="auto">
          <a:xfrm>
            <a:off x="4499992" y="2204896"/>
            <a:ext cx="158400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用</a:t>
            </a:r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汇编程序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翻译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grpSp>
        <p:nvGrpSpPr>
          <p:cNvPr id="132" name="组合 131"/>
          <p:cNvGrpSpPr/>
          <p:nvPr/>
        </p:nvGrpSpPr>
        <p:grpSpPr>
          <a:xfrm>
            <a:off x="1331640" y="1916832"/>
            <a:ext cx="5868336" cy="302728"/>
            <a:chOff x="1115784" y="3341634"/>
            <a:chExt cx="5868336" cy="302728"/>
          </a:xfrm>
        </p:grpSpPr>
        <p:sp>
          <p:nvSpPr>
            <p:cNvPr id="133" name="Text Box 78"/>
            <p:cNvSpPr txBox="1">
              <a:spLocks noChangeArrowheads="1"/>
            </p:cNvSpPr>
            <p:nvPr/>
          </p:nvSpPr>
          <p:spPr bwMode="auto">
            <a:xfrm>
              <a:off x="3058988" y="3341634"/>
              <a:ext cx="2160000" cy="28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汇编语言级机器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M3</a:t>
              </a:r>
            </a:p>
          </p:txBody>
        </p:sp>
        <p:sp>
          <p:nvSpPr>
            <p:cNvPr id="134" name="Text Box 80"/>
            <p:cNvSpPr txBox="1">
              <a:spLocks noChangeArrowheads="1"/>
            </p:cNvSpPr>
            <p:nvPr/>
          </p:nvSpPr>
          <p:spPr bwMode="auto">
            <a:xfrm>
              <a:off x="1115784" y="3357024"/>
              <a:ext cx="1512000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用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汇编语言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编程</a:t>
              </a:r>
            </a:p>
          </p:txBody>
        </p:sp>
        <p:sp>
          <p:nvSpPr>
            <p:cNvPr id="135" name="Line 81"/>
            <p:cNvSpPr>
              <a:spLocks noChangeShapeType="1"/>
            </p:cNvSpPr>
            <p:nvPr/>
          </p:nvSpPr>
          <p:spPr bwMode="auto">
            <a:xfrm>
              <a:off x="2699832" y="3501040"/>
              <a:ext cx="360000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Text Box 19"/>
            <p:cNvSpPr txBox="1">
              <a:spLocks noChangeArrowheads="1"/>
            </p:cNvSpPr>
            <p:nvPr/>
          </p:nvSpPr>
          <p:spPr bwMode="auto">
            <a:xfrm>
              <a:off x="5652120" y="3357024"/>
              <a:ext cx="1332000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执行环境触发</a:t>
              </a:r>
            </a:p>
          </p:txBody>
        </p:sp>
        <p:sp>
          <p:nvSpPr>
            <p:cNvPr id="137" name="Line 20"/>
            <p:cNvSpPr>
              <a:spLocks noChangeShapeType="1"/>
            </p:cNvSpPr>
            <p:nvPr/>
          </p:nvSpPr>
          <p:spPr bwMode="auto">
            <a:xfrm flipH="1">
              <a:off x="5292080" y="3501040"/>
              <a:ext cx="360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8" name="Text Box 69"/>
          <p:cNvSpPr txBox="1">
            <a:spLocks noChangeArrowheads="1"/>
          </p:cNvSpPr>
          <p:nvPr/>
        </p:nvSpPr>
        <p:spPr bwMode="auto">
          <a:xfrm>
            <a:off x="4499992" y="1556824"/>
            <a:ext cx="158400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用</a:t>
            </a:r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编译程序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翻译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grpSp>
        <p:nvGrpSpPr>
          <p:cNvPr id="139" name="组合 138"/>
          <p:cNvGrpSpPr/>
          <p:nvPr/>
        </p:nvGrpSpPr>
        <p:grpSpPr>
          <a:xfrm>
            <a:off x="1331640" y="1268760"/>
            <a:ext cx="5868336" cy="302728"/>
            <a:chOff x="1115784" y="3341634"/>
            <a:chExt cx="5868336" cy="302728"/>
          </a:xfrm>
        </p:grpSpPr>
        <p:sp>
          <p:nvSpPr>
            <p:cNvPr id="140" name="Text Box 78"/>
            <p:cNvSpPr txBox="1">
              <a:spLocks noChangeArrowheads="1"/>
            </p:cNvSpPr>
            <p:nvPr/>
          </p:nvSpPr>
          <p:spPr bwMode="auto">
            <a:xfrm>
              <a:off x="3058988" y="3341634"/>
              <a:ext cx="2160000" cy="28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高级语言级机器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M4</a:t>
              </a:r>
            </a:p>
          </p:txBody>
        </p:sp>
        <p:sp>
          <p:nvSpPr>
            <p:cNvPr id="141" name="Text Box 80"/>
            <p:cNvSpPr txBox="1">
              <a:spLocks noChangeArrowheads="1"/>
            </p:cNvSpPr>
            <p:nvPr/>
          </p:nvSpPr>
          <p:spPr bwMode="auto">
            <a:xfrm>
              <a:off x="1115784" y="3357024"/>
              <a:ext cx="1512000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用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高级语言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编程</a:t>
              </a:r>
            </a:p>
          </p:txBody>
        </p:sp>
        <p:sp>
          <p:nvSpPr>
            <p:cNvPr id="142" name="Line 81"/>
            <p:cNvSpPr>
              <a:spLocks noChangeShapeType="1"/>
            </p:cNvSpPr>
            <p:nvPr/>
          </p:nvSpPr>
          <p:spPr bwMode="auto">
            <a:xfrm>
              <a:off x="2699832" y="3501040"/>
              <a:ext cx="360000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Text Box 19"/>
            <p:cNvSpPr txBox="1">
              <a:spLocks noChangeArrowheads="1"/>
            </p:cNvSpPr>
            <p:nvPr/>
          </p:nvSpPr>
          <p:spPr bwMode="auto">
            <a:xfrm>
              <a:off x="5652120" y="3357024"/>
              <a:ext cx="1332000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执行环境触发</a:t>
              </a:r>
            </a:p>
          </p:txBody>
        </p:sp>
        <p:sp>
          <p:nvSpPr>
            <p:cNvPr id="144" name="Line 20"/>
            <p:cNvSpPr>
              <a:spLocks noChangeShapeType="1"/>
            </p:cNvSpPr>
            <p:nvPr/>
          </p:nvSpPr>
          <p:spPr bwMode="auto">
            <a:xfrm flipH="1">
              <a:off x="5292080" y="3501040"/>
              <a:ext cx="360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5" name="Line 76"/>
          <p:cNvSpPr>
            <a:spLocks noChangeShapeType="1"/>
          </p:cNvSpPr>
          <p:nvPr/>
        </p:nvSpPr>
        <p:spPr bwMode="auto">
          <a:xfrm>
            <a:off x="4356099" y="1553111"/>
            <a:ext cx="0" cy="360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6" name="Line 85"/>
          <p:cNvSpPr>
            <a:spLocks noChangeShapeType="1"/>
          </p:cNvSpPr>
          <p:nvPr/>
        </p:nvSpPr>
        <p:spPr bwMode="auto">
          <a:xfrm>
            <a:off x="4355976" y="2204368"/>
            <a:ext cx="0" cy="360536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7" name="Line 93"/>
          <p:cNvSpPr>
            <a:spLocks noChangeShapeType="1"/>
          </p:cNvSpPr>
          <p:nvPr/>
        </p:nvSpPr>
        <p:spPr bwMode="auto">
          <a:xfrm flipH="1">
            <a:off x="4355976" y="3501008"/>
            <a:ext cx="123" cy="360611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48" name="Text Box 94"/>
          <p:cNvSpPr txBox="1">
            <a:spLocks noChangeArrowheads="1"/>
          </p:cNvSpPr>
          <p:nvPr/>
        </p:nvSpPr>
        <p:spPr bwMode="auto">
          <a:xfrm>
            <a:off x="4499992" y="3501008"/>
            <a:ext cx="151200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r>
              <a:rPr lang="zh-CN" altLang="en-US" sz="1600" b="1" dirty="0">
                <a:latin typeface="宋体" panose="02010600030101010101" pitchFamily="2" charset="-122"/>
              </a:rPr>
              <a:t>用</a:t>
            </a:r>
            <a:r>
              <a:rPr lang="zh-CN" altLang="en-US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微程序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解释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grpSp>
        <p:nvGrpSpPr>
          <p:cNvPr id="149" name="组合 148"/>
          <p:cNvGrpSpPr/>
          <p:nvPr/>
        </p:nvGrpSpPr>
        <p:grpSpPr>
          <a:xfrm>
            <a:off x="1115808" y="3861048"/>
            <a:ext cx="6335740" cy="293412"/>
            <a:chOff x="899784" y="4725144"/>
            <a:chExt cx="6335740" cy="293412"/>
          </a:xfrm>
        </p:grpSpPr>
        <p:sp>
          <p:nvSpPr>
            <p:cNvPr id="150" name="Text Box 6"/>
            <p:cNvSpPr txBox="1">
              <a:spLocks noChangeArrowheads="1"/>
            </p:cNvSpPr>
            <p:nvPr/>
          </p:nvSpPr>
          <p:spPr bwMode="auto">
            <a:xfrm>
              <a:off x="3058989" y="4725144"/>
              <a:ext cx="2160000" cy="28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 微程序级机器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M0 </a:t>
              </a:r>
            </a:p>
          </p:txBody>
        </p:sp>
        <p:sp>
          <p:nvSpPr>
            <p:cNvPr id="151" name="Text Box 21"/>
            <p:cNvSpPr txBox="1">
              <a:spLocks noChangeArrowheads="1"/>
            </p:cNvSpPr>
            <p:nvPr/>
          </p:nvSpPr>
          <p:spPr bwMode="auto">
            <a:xfrm>
              <a:off x="899784" y="4729631"/>
              <a:ext cx="1728000" cy="2889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用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微指令系统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实现</a:t>
              </a:r>
            </a:p>
          </p:txBody>
        </p:sp>
        <p:sp>
          <p:nvSpPr>
            <p:cNvPr id="152" name="Line 58"/>
            <p:cNvSpPr>
              <a:spLocks noChangeShapeType="1"/>
            </p:cNvSpPr>
            <p:nvPr/>
          </p:nvSpPr>
          <p:spPr bwMode="auto">
            <a:xfrm>
              <a:off x="2699832" y="4872506"/>
              <a:ext cx="360000" cy="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Text Box 19"/>
            <p:cNvSpPr txBox="1">
              <a:spLocks noChangeArrowheads="1"/>
            </p:cNvSpPr>
            <p:nvPr/>
          </p:nvSpPr>
          <p:spPr bwMode="auto">
            <a:xfrm>
              <a:off x="5651524" y="4725144"/>
              <a:ext cx="1584000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直接执行微指令</a:t>
              </a:r>
            </a:p>
          </p:txBody>
        </p:sp>
        <p:sp>
          <p:nvSpPr>
            <p:cNvPr id="154" name="Line 20"/>
            <p:cNvSpPr>
              <a:spLocks noChangeShapeType="1"/>
            </p:cNvSpPr>
            <p:nvPr/>
          </p:nvSpPr>
          <p:spPr bwMode="auto">
            <a:xfrm flipH="1">
              <a:off x="5291161" y="4868913"/>
              <a:ext cx="360363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940248" y="4293096"/>
            <a:ext cx="2952232" cy="1116041"/>
            <a:chOff x="5508104" y="4401191"/>
            <a:chExt cx="2952232" cy="1116041"/>
          </a:xfrm>
        </p:grpSpPr>
        <p:sp>
          <p:nvSpPr>
            <p:cNvPr id="161" name="Text Box 77"/>
            <p:cNvSpPr txBox="1">
              <a:spLocks noChangeArrowheads="1"/>
            </p:cNvSpPr>
            <p:nvPr/>
          </p:nvSpPr>
          <p:spPr bwMode="auto">
            <a:xfrm>
              <a:off x="5508104" y="4761231"/>
              <a:ext cx="792000" cy="756000"/>
            </a:xfrm>
            <a:prstGeom prst="rect">
              <a:avLst/>
            </a:prstGeom>
            <a:solidFill>
              <a:srgbClr val="FF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100011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001000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101011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2" name="Text Box 77"/>
            <p:cNvSpPr txBox="1">
              <a:spLocks noChangeArrowheads="1"/>
            </p:cNvSpPr>
            <p:nvPr/>
          </p:nvSpPr>
          <p:spPr bwMode="auto">
            <a:xfrm>
              <a:off x="6300192" y="4761232"/>
              <a:ext cx="648000" cy="756000"/>
            </a:xfrm>
            <a:prstGeom prst="rect">
              <a:avLst/>
            </a:prstGeom>
            <a:solidFill>
              <a:srgbClr val="FFCC99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00011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01000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00011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3" name="Text Box 77"/>
            <p:cNvSpPr txBox="1">
              <a:spLocks noChangeArrowheads="1"/>
            </p:cNvSpPr>
            <p:nvPr/>
          </p:nvSpPr>
          <p:spPr bwMode="auto">
            <a:xfrm>
              <a:off x="6948264" y="4761231"/>
              <a:ext cx="648000" cy="756000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01000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01001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01001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4" name="Text Box 77"/>
            <p:cNvSpPr txBox="1">
              <a:spLocks noChangeArrowheads="1"/>
            </p:cNvSpPr>
            <p:nvPr/>
          </p:nvSpPr>
          <p:spPr bwMode="auto">
            <a:xfrm>
              <a:off x="7596336" y="4761231"/>
              <a:ext cx="864000" cy="756000"/>
            </a:xfrm>
            <a:prstGeom prst="rect">
              <a:avLst/>
            </a:prstGeom>
            <a:solidFill>
              <a:srgbClr val="CC99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0010000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1111110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0010100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6" name="Text Box 71"/>
            <p:cNvSpPr txBox="1">
              <a:spLocks noChangeArrowheads="1"/>
            </p:cNvSpPr>
            <p:nvPr/>
          </p:nvSpPr>
          <p:spPr bwMode="auto">
            <a:xfrm>
              <a:off x="5508104" y="4401191"/>
              <a:ext cx="1583952" cy="36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机器语言程序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: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252875" y="4293096"/>
            <a:ext cx="2615269" cy="1101119"/>
            <a:chOff x="3108787" y="4293096"/>
            <a:chExt cx="2615269" cy="1101119"/>
          </a:xfrm>
        </p:grpSpPr>
        <p:sp>
          <p:nvSpPr>
            <p:cNvPr id="158" name="Text Box 77"/>
            <p:cNvSpPr txBox="1">
              <a:spLocks noChangeArrowheads="1"/>
            </p:cNvSpPr>
            <p:nvPr/>
          </p:nvSpPr>
          <p:spPr bwMode="auto">
            <a:xfrm>
              <a:off x="3108787" y="4653136"/>
              <a:ext cx="1872000" cy="504000"/>
            </a:xfrm>
            <a:prstGeom prst="rect">
              <a:avLst/>
            </a:prstGeom>
            <a:solidFill>
              <a:srgbClr val="99CC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宋体" panose="02010600030101010101" pitchFamily="2" charset="-122"/>
                </a:rPr>
                <a:t>lw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   R8, 16(R3)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宋体" panose="02010600030101010101" pitchFamily="2" charset="-122"/>
                </a:rPr>
                <a:t>subi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 R9, R8, 2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59" name="Text Box 77"/>
            <p:cNvSpPr txBox="1">
              <a:spLocks noChangeArrowheads="1"/>
            </p:cNvSpPr>
            <p:nvPr/>
          </p:nvSpPr>
          <p:spPr bwMode="auto">
            <a:xfrm>
              <a:off x="3108787" y="5142215"/>
              <a:ext cx="1872000" cy="252000"/>
            </a:xfrm>
            <a:prstGeom prst="rect">
              <a:avLst/>
            </a:prstGeom>
            <a:solidFill>
              <a:srgbClr val="FFC000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宋体" panose="02010600030101010101" pitchFamily="2" charset="-122"/>
                </a:rPr>
                <a:t>sw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   R9, 20(R3)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5" name="Text Box 71"/>
            <p:cNvSpPr txBox="1">
              <a:spLocks noChangeArrowheads="1"/>
            </p:cNvSpPr>
            <p:nvPr/>
          </p:nvSpPr>
          <p:spPr bwMode="auto">
            <a:xfrm>
              <a:off x="3109011" y="4293096"/>
              <a:ext cx="1583952" cy="36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汇编语言程序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:</a:t>
              </a:r>
            </a:p>
          </p:txBody>
        </p:sp>
        <p:sp>
          <p:nvSpPr>
            <p:cNvPr id="168" name="右箭头 167"/>
            <p:cNvSpPr/>
            <p:nvPr/>
          </p:nvSpPr>
          <p:spPr bwMode="auto">
            <a:xfrm>
              <a:off x="5076056" y="4869160"/>
              <a:ext cx="648000" cy="180000"/>
            </a:xfrm>
            <a:prstGeom prst="rightArrow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6" name="Text Box 23"/>
            <p:cNvSpPr txBox="1">
              <a:spLocks noChangeArrowheads="1"/>
            </p:cNvSpPr>
            <p:nvPr/>
          </p:nvSpPr>
          <p:spPr bwMode="auto">
            <a:xfrm>
              <a:off x="5163683" y="4689136"/>
              <a:ext cx="432000" cy="216000"/>
            </a:xfrm>
            <a:prstGeom prst="rect">
              <a:avLst/>
            </a:prstGeom>
            <a:noFill/>
            <a:ln w="12700">
              <a:noFill/>
              <a:prstDash val="sysDash"/>
            </a:ln>
          </p:spPr>
          <p:txBody>
            <a:bodyPr wrap="square" lIns="18000" tIns="10800" rIns="18000" bIns="10800" anchor="ctr" anchorCtr="0">
              <a:noAutofit/>
            </a:bodyPr>
            <a:lstStyle>
              <a:lvl1pPr eaLnBrk="0" hangingPunct="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0"/>
                </a:spcBef>
                <a:buFontTx/>
                <a:buNone/>
              </a:pPr>
              <a:r>
                <a:rPr lang="en-US" altLang="zh-CN" sz="1800" dirty="0">
                  <a:latin typeface="+mn-ea"/>
                </a:rPr>
                <a:t>1:1</a:t>
              </a:r>
              <a:endParaRPr lang="zh-CN" altLang="en-US" sz="1800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899592" y="4293096"/>
            <a:ext cx="2304256" cy="864096"/>
            <a:chOff x="899592" y="4293096"/>
            <a:chExt cx="2304256" cy="864096"/>
          </a:xfrm>
        </p:grpSpPr>
        <p:sp>
          <p:nvSpPr>
            <p:cNvPr id="156" name="Text Box 71"/>
            <p:cNvSpPr txBox="1">
              <a:spLocks noChangeArrowheads="1"/>
            </p:cNvSpPr>
            <p:nvPr/>
          </p:nvSpPr>
          <p:spPr bwMode="auto">
            <a:xfrm>
              <a:off x="899592" y="4293096"/>
              <a:ext cx="1583952" cy="36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高级语言程序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:</a:t>
              </a:r>
            </a:p>
          </p:txBody>
        </p:sp>
        <p:sp>
          <p:nvSpPr>
            <p:cNvPr id="157" name="Text Box 77"/>
            <p:cNvSpPr txBox="1">
              <a:spLocks noChangeArrowheads="1"/>
            </p:cNvSpPr>
            <p:nvPr/>
          </p:nvSpPr>
          <p:spPr bwMode="auto">
            <a:xfrm>
              <a:off x="900213" y="4653136"/>
              <a:ext cx="1584000" cy="252000"/>
            </a:xfrm>
            <a:prstGeom prst="rect">
              <a:avLst/>
            </a:prstGeom>
            <a:solidFill>
              <a:srgbClr val="99CCFF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err="1">
                  <a:latin typeface="宋体" panose="02010600030101010101" pitchFamily="2" charset="-122"/>
                </a:rPr>
                <a:t>tmp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=a[</a:t>
              </a:r>
              <a:r>
                <a:rPr lang="en-US" altLang="zh-CN" sz="1800" b="1" dirty="0" err="1">
                  <a:latin typeface="宋体" panose="02010600030101010101" pitchFamily="2" charset="-122"/>
                </a:rPr>
                <a:t>i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]-2; </a:t>
              </a:r>
            </a:p>
          </p:txBody>
        </p:sp>
        <p:sp>
          <p:nvSpPr>
            <p:cNvPr id="160" name="Text Box 77"/>
            <p:cNvSpPr txBox="1">
              <a:spLocks noChangeArrowheads="1"/>
            </p:cNvSpPr>
            <p:nvPr/>
          </p:nvSpPr>
          <p:spPr bwMode="auto">
            <a:xfrm>
              <a:off x="900213" y="4905192"/>
              <a:ext cx="1584000" cy="252000"/>
            </a:xfrm>
            <a:prstGeom prst="rect">
              <a:avLst/>
            </a:prstGeom>
            <a:solidFill>
              <a:srgbClr val="FFC000"/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a[i+1]=</a:t>
              </a:r>
              <a:r>
                <a:rPr lang="en-US" altLang="zh-CN" sz="1800" b="1" dirty="0" err="1">
                  <a:latin typeface="宋体" panose="02010600030101010101" pitchFamily="2" charset="-122"/>
                </a:rPr>
                <a:t>tmp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;</a:t>
              </a:r>
            </a:p>
          </p:txBody>
        </p:sp>
        <p:sp>
          <p:nvSpPr>
            <p:cNvPr id="177" name="右箭头 176"/>
            <p:cNvSpPr/>
            <p:nvPr/>
          </p:nvSpPr>
          <p:spPr bwMode="auto">
            <a:xfrm>
              <a:off x="2555848" y="4833160"/>
              <a:ext cx="648000" cy="180000"/>
            </a:xfrm>
            <a:prstGeom prst="rightArrow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8" name="Text Box 23"/>
            <p:cNvSpPr txBox="1">
              <a:spLocks noChangeArrowheads="1"/>
            </p:cNvSpPr>
            <p:nvPr/>
          </p:nvSpPr>
          <p:spPr bwMode="auto">
            <a:xfrm>
              <a:off x="2643475" y="4653136"/>
              <a:ext cx="432000" cy="216000"/>
            </a:xfrm>
            <a:prstGeom prst="rect">
              <a:avLst/>
            </a:prstGeom>
            <a:noFill/>
            <a:ln w="12700">
              <a:noFill/>
              <a:prstDash val="sysDash"/>
            </a:ln>
          </p:spPr>
          <p:txBody>
            <a:bodyPr wrap="square" lIns="18000" tIns="10800" rIns="18000" bIns="10800" anchor="ctr" anchorCtr="0">
              <a:noAutofit/>
            </a:bodyPr>
            <a:lstStyle>
              <a:lvl1pPr eaLnBrk="0" hangingPunct="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lnSpc>
                  <a:spcPct val="115000"/>
                </a:lnSpc>
                <a:spcBef>
                  <a:spcPct val="20000"/>
                </a:spcBef>
                <a:buChar char="–"/>
                <a:defRPr sz="2000" b="1">
                  <a:solidFill>
                    <a:srgbClr val="0000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lnSpc>
                  <a:spcPct val="115000"/>
                </a:lnSpc>
                <a:spcBef>
                  <a:spcPct val="20000"/>
                </a:spcBef>
                <a:buChar char="•"/>
                <a:defRPr sz="2400" b="1">
                  <a:solidFill>
                    <a:srgbClr val="00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lnSpc>
                  <a:spcPct val="115000"/>
                </a:lnSpc>
                <a:spcBef>
                  <a:spcPct val="20000"/>
                </a:spcBef>
                <a:buChar char="–"/>
                <a:defRPr sz="1600" b="1">
                  <a:solidFill>
                    <a:srgbClr val="CC33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lnSpc>
                  <a:spcPct val="115000"/>
                </a:lnSpc>
                <a:spcBef>
                  <a:spcPct val="20000"/>
                </a:spcBef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15000"/>
                </a:lnSpc>
                <a:spcBef>
                  <a:spcPct val="20000"/>
                </a:spcBef>
                <a:spcAft>
                  <a:spcPct val="0"/>
                </a:spcAft>
                <a:buChar char="»"/>
                <a:defRPr sz="1500" b="1">
                  <a:solidFill>
                    <a:srgbClr val="9966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ts val="0"/>
                </a:spcBef>
                <a:buFontTx/>
                <a:buNone/>
              </a:pPr>
              <a:r>
                <a:rPr lang="en-US" altLang="zh-CN" sz="1800" dirty="0">
                  <a:latin typeface="+mn-ea"/>
                </a:rPr>
                <a:t>1:n</a:t>
              </a:r>
              <a:endParaRPr lang="zh-CN" altLang="en-US" sz="1800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98" grpId="0" animBg="1"/>
      <p:bldP spid="116" grpId="0" animBg="1"/>
      <p:bldP spid="124" grpId="0"/>
      <p:bldP spid="131" grpId="0"/>
      <p:bldP spid="138" grpId="0"/>
      <p:bldP spid="145" grpId="0" animBg="1"/>
      <p:bldP spid="146" grpId="0" animBg="1"/>
      <p:bldP spid="147" grpId="0" animBg="1"/>
      <p:bldP spid="14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28</a:t>
            </a:fld>
            <a:endParaRPr lang="en-US" altLang="zh-CN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79388" y="420053"/>
            <a:ext cx="8785225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90000"/>
              </a:lnSpc>
              <a:defRPr sz="28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CN" sz="2400" dirty="0">
                <a:solidFill>
                  <a:srgbClr val="FF3399"/>
                </a:solidFill>
                <a:latin typeface="+mn-ea"/>
                <a:ea typeface="+mn-ea"/>
              </a:rPr>
              <a:t>2</a:t>
            </a:r>
            <a:r>
              <a:rPr lang="zh-CN" altLang="en-US" sz="2400" dirty="0">
                <a:solidFill>
                  <a:srgbClr val="FF3399"/>
                </a:solidFill>
                <a:latin typeface="+mn-ea"/>
                <a:ea typeface="+mn-ea"/>
              </a:rPr>
              <a:t>、计算机软硬件关系</a:t>
            </a:r>
          </a:p>
        </p:txBody>
      </p:sp>
      <p:sp>
        <p:nvSpPr>
          <p:cNvPr id="5" name="Text Box 109"/>
          <p:cNvSpPr txBox="1">
            <a:spLocks noChangeArrowheads="1"/>
          </p:cNvSpPr>
          <p:nvPr/>
        </p:nvSpPr>
        <p:spPr bwMode="auto">
          <a:xfrm>
            <a:off x="179389" y="911083"/>
            <a:ext cx="3528516" cy="31196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从系统组成看：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从用户角度看：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从设计者角度看：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发展趋势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8" name="Text Box 109"/>
          <p:cNvSpPr txBox="1">
            <a:spLocks noChangeArrowheads="1"/>
          </p:cNvSpPr>
          <p:nvPr/>
        </p:nvSpPr>
        <p:spPr bwMode="auto">
          <a:xfrm>
            <a:off x="2195736" y="910800"/>
            <a:ext cx="6912768" cy="30226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软件和硬件是一个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整体</a:t>
            </a:r>
            <a:r>
              <a:rPr lang="zh-CN" altLang="en-US" sz="2200" b="1" dirty="0">
                <a:latin typeface="宋体" panose="02010600030101010101" pitchFamily="2" charset="-122"/>
              </a:rPr>
              <a:t> 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   </a:t>
            </a:r>
            <a:r>
              <a:rPr lang="zh-CN" altLang="en-US" sz="1800" b="1" u="sng" dirty="0">
                <a:latin typeface="宋体" panose="02010600030101010101" pitchFamily="2" charset="-122"/>
              </a:rPr>
              <a:t>软件功能</a:t>
            </a:r>
            <a:r>
              <a:rPr lang="zh-CN" altLang="en-US" sz="1800" b="1" dirty="0">
                <a:latin typeface="宋体" panose="02010600030101010101" pitchFamily="2" charset="-122"/>
              </a:rPr>
              <a:t>靠硬件实现→</a:t>
            </a:r>
            <a:r>
              <a:rPr lang="zh-CN" altLang="en-US" sz="1800" dirty="0">
                <a:latin typeface="宋体" panose="02010600030101010101" pitchFamily="2" charset="-122"/>
              </a:rPr>
              <a:t>┴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u="sng" dirty="0">
                <a:latin typeface="宋体" panose="02010600030101010101" pitchFamily="2" charset="-122"/>
              </a:rPr>
              <a:t>硬件性能</a:t>
            </a:r>
            <a:r>
              <a:rPr lang="zh-CN" altLang="en-US" sz="1800" b="1" dirty="0">
                <a:latin typeface="宋体" panose="02010600030101010101" pitchFamily="2" charset="-122"/>
              </a:rPr>
              <a:t>靠软件反映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  软件和硬件的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功能在逻辑上是等价的</a:t>
            </a:r>
            <a:endParaRPr lang="en-US" altLang="zh-CN" sz="2200" b="1" u="sng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    (</a:t>
            </a:r>
            <a:r>
              <a:rPr lang="zh-CN" altLang="en-US" sz="1800" b="1" dirty="0">
                <a:latin typeface="宋体" panose="02010600030101010101" pitchFamily="2" charset="-122"/>
              </a:rPr>
              <a:t>性能、成本有所不同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 如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</a:rPr>
              <a:t>乘运算可用</a:t>
            </a:r>
            <a:r>
              <a:rPr lang="zh-CN" altLang="en-US" sz="1800" b="1" u="sng" dirty="0">
                <a:latin typeface="宋体" panose="02010600030101010101" pitchFamily="2" charset="-122"/>
              </a:rPr>
              <a:t>乘法指令</a:t>
            </a:r>
            <a:r>
              <a:rPr lang="zh-CN" altLang="en-US" sz="1800" b="1" dirty="0">
                <a:latin typeface="宋体" panose="02010600030101010101" pitchFamily="2" charset="-122"/>
              </a:rPr>
              <a:t>实现，也可用</a:t>
            </a:r>
            <a:r>
              <a:rPr lang="zh-CN" altLang="en-US" sz="1800" b="1" u="sng" dirty="0">
                <a:latin typeface="宋体" panose="02010600030101010101" pitchFamily="2" charset="-122"/>
              </a:rPr>
              <a:t>加法指令＋移位指令</a:t>
            </a:r>
            <a:r>
              <a:rPr lang="zh-CN" altLang="en-US" sz="1800" b="1" dirty="0">
                <a:latin typeface="宋体" panose="02010600030101010101" pitchFamily="2" charset="-122"/>
              </a:rPr>
              <a:t>实现</a:t>
            </a:r>
            <a:endParaRPr lang="en-US" altLang="zh-CN" b="1" u="sng" dirty="0">
              <a:solidFill>
                <a:schemeClr val="accent2"/>
              </a:solidFill>
              <a:latin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    软件和硬件的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交界面影响性能与成本</a:t>
            </a:r>
            <a:endParaRPr lang="en-US" altLang="zh-CN" sz="2200" b="1" u="sng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    (</a:t>
            </a:r>
            <a:r>
              <a:rPr lang="zh-CN" altLang="en-US" sz="1800" b="1" dirty="0">
                <a:latin typeface="宋体" panose="02010600030101010101" pitchFamily="2" charset="-122"/>
              </a:rPr>
              <a:t>向上时性能提高、成本增加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软硬件交界面上移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目前硬件价格较低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Box 242"/>
          <p:cNvSpPr txBox="1">
            <a:spLocks noChangeArrowheads="1"/>
          </p:cNvSpPr>
          <p:nvPr/>
        </p:nvSpPr>
        <p:spPr bwMode="auto">
          <a:xfrm>
            <a:off x="179264" y="836712"/>
            <a:ext cx="4032696" cy="534332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计算机结构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600" dirty="0">
                <a:solidFill>
                  <a:srgbClr val="C00000"/>
                </a:solidFill>
                <a:latin typeface="+mn-lt"/>
              </a:rPr>
              <a:t>Architecture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</a:p>
          <a:p>
            <a:pPr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计算机组成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600" dirty="0">
                <a:solidFill>
                  <a:srgbClr val="C00000"/>
                </a:solidFill>
              </a:rPr>
              <a:t>Organization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计算机实现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600" dirty="0">
                <a:solidFill>
                  <a:srgbClr val="C00000"/>
                </a:solidFill>
              </a:rPr>
              <a:t>Implementation</a:t>
            </a:r>
            <a:r>
              <a:rPr lang="en-US" altLang="zh-CN" sz="1600" b="1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相互关系： 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107504" y="1591200"/>
            <a:ext cx="3458991" cy="2232000"/>
            <a:chOff x="538460" y="1736108"/>
            <a:chExt cx="3458991" cy="2232000"/>
          </a:xfrm>
        </p:grpSpPr>
        <p:sp>
          <p:nvSpPr>
            <p:cNvPr id="69" name="Text Box 218"/>
            <p:cNvSpPr txBox="1">
              <a:spLocks noChangeArrowheads="1"/>
            </p:cNvSpPr>
            <p:nvPr/>
          </p:nvSpPr>
          <p:spPr bwMode="auto">
            <a:xfrm>
              <a:off x="1620515" y="2996952"/>
              <a:ext cx="2159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机器语言级机器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M1</a:t>
              </a:r>
            </a:p>
          </p:txBody>
        </p:sp>
        <p:sp>
          <p:nvSpPr>
            <p:cNvPr id="70" name="Text Box 219"/>
            <p:cNvSpPr txBox="1">
              <a:spLocks noChangeArrowheads="1"/>
            </p:cNvSpPr>
            <p:nvPr/>
          </p:nvSpPr>
          <p:spPr bwMode="auto">
            <a:xfrm>
              <a:off x="1620515" y="3320108"/>
              <a:ext cx="2159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  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微程序级机器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M0</a:t>
              </a:r>
            </a:p>
          </p:txBody>
        </p:sp>
        <p:sp>
          <p:nvSpPr>
            <p:cNvPr id="71" name="AutoShape 222"/>
            <p:cNvSpPr/>
            <p:nvPr/>
          </p:nvSpPr>
          <p:spPr bwMode="auto">
            <a:xfrm>
              <a:off x="1501945" y="3050293"/>
              <a:ext cx="45719" cy="900000"/>
            </a:xfrm>
            <a:prstGeom prst="leftBrace">
              <a:avLst>
                <a:gd name="adj1" fmla="val 151111"/>
                <a:gd name="adj2" fmla="val 50000"/>
              </a:avLst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Text Box 223"/>
            <p:cNvSpPr txBox="1">
              <a:spLocks noChangeArrowheads="1"/>
            </p:cNvSpPr>
            <p:nvPr/>
          </p:nvSpPr>
          <p:spPr bwMode="auto">
            <a:xfrm>
              <a:off x="972418" y="3356108"/>
              <a:ext cx="503238" cy="2889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硬件</a:t>
              </a:r>
            </a:p>
          </p:txBody>
        </p:sp>
        <p:sp>
          <p:nvSpPr>
            <p:cNvPr id="73" name="AutoShape 224"/>
            <p:cNvSpPr/>
            <p:nvPr/>
          </p:nvSpPr>
          <p:spPr bwMode="auto">
            <a:xfrm>
              <a:off x="1495259" y="1782908"/>
              <a:ext cx="52405" cy="828000"/>
            </a:xfrm>
            <a:prstGeom prst="leftBrace">
              <a:avLst>
                <a:gd name="adj1" fmla="val 151111"/>
                <a:gd name="adj2" fmla="val 50000"/>
              </a:avLst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Text Box 225"/>
            <p:cNvSpPr txBox="1">
              <a:spLocks noChangeArrowheads="1"/>
            </p:cNvSpPr>
            <p:nvPr/>
          </p:nvSpPr>
          <p:spPr bwMode="auto">
            <a:xfrm>
              <a:off x="970831" y="2056508"/>
              <a:ext cx="504825" cy="28733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软件</a:t>
              </a:r>
            </a:p>
          </p:txBody>
        </p:sp>
        <p:sp>
          <p:nvSpPr>
            <p:cNvPr id="75" name="Text Box 226"/>
            <p:cNvSpPr txBox="1">
              <a:spLocks noChangeArrowheads="1"/>
            </p:cNvSpPr>
            <p:nvPr/>
          </p:nvSpPr>
          <p:spPr bwMode="auto">
            <a:xfrm>
              <a:off x="1620515" y="2060108"/>
              <a:ext cx="2159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汇编语言级机器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M3</a:t>
              </a:r>
            </a:p>
          </p:txBody>
        </p:sp>
        <p:sp>
          <p:nvSpPr>
            <p:cNvPr id="76" name="Text Box 229"/>
            <p:cNvSpPr txBox="1">
              <a:spLocks noChangeArrowheads="1"/>
            </p:cNvSpPr>
            <p:nvPr/>
          </p:nvSpPr>
          <p:spPr bwMode="auto">
            <a:xfrm>
              <a:off x="1620515" y="1736108"/>
              <a:ext cx="2159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高级语言级机器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M4</a:t>
              </a:r>
            </a:p>
          </p:txBody>
        </p:sp>
        <p:sp>
          <p:nvSpPr>
            <p:cNvPr id="77" name="Text Box 237"/>
            <p:cNvSpPr txBox="1">
              <a:spLocks noChangeArrowheads="1"/>
            </p:cNvSpPr>
            <p:nvPr/>
          </p:nvSpPr>
          <p:spPr bwMode="auto">
            <a:xfrm>
              <a:off x="1620515" y="2387708"/>
              <a:ext cx="2159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操作系统级机器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M2</a:t>
              </a:r>
            </a:p>
          </p:txBody>
        </p:sp>
        <p:sp>
          <p:nvSpPr>
            <p:cNvPr id="78" name="Line 249"/>
            <p:cNvSpPr>
              <a:spLocks noChangeShapeType="1"/>
            </p:cNvSpPr>
            <p:nvPr/>
          </p:nvSpPr>
          <p:spPr bwMode="auto">
            <a:xfrm>
              <a:off x="2700015" y="2852936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AutoShape 248"/>
            <p:cNvSpPr>
              <a:spLocks noChangeArrowheads="1"/>
            </p:cNvSpPr>
            <p:nvPr/>
          </p:nvSpPr>
          <p:spPr bwMode="auto">
            <a:xfrm>
              <a:off x="1403648" y="2708796"/>
              <a:ext cx="2593803" cy="144140"/>
            </a:xfrm>
            <a:prstGeom prst="parallelogram">
              <a:avLst>
                <a:gd name="adj" fmla="val 120619"/>
              </a:avLst>
            </a:prstGeom>
            <a:solidFill>
              <a:srgbClr val="FF99CC">
                <a:alpha val="70000"/>
              </a:srgbClr>
            </a:solidFill>
            <a:ln w="1905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80" name="Text Box 255"/>
            <p:cNvSpPr txBox="1">
              <a:spLocks noChangeArrowheads="1"/>
            </p:cNvSpPr>
            <p:nvPr/>
          </p:nvSpPr>
          <p:spPr bwMode="auto">
            <a:xfrm>
              <a:off x="538460" y="2492896"/>
              <a:ext cx="865188" cy="5762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软硬件交界面</a:t>
              </a:r>
            </a:p>
          </p:txBody>
        </p:sp>
        <p:sp>
          <p:nvSpPr>
            <p:cNvPr id="81" name="Line 244"/>
            <p:cNvSpPr>
              <a:spLocks noChangeShapeType="1"/>
            </p:cNvSpPr>
            <p:nvPr/>
          </p:nvSpPr>
          <p:spPr bwMode="auto">
            <a:xfrm>
              <a:off x="2700015" y="2640034"/>
              <a:ext cx="0" cy="1409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246"/>
            <p:cNvSpPr>
              <a:spLocks noChangeShapeType="1"/>
            </p:cNvSpPr>
            <p:nvPr/>
          </p:nvSpPr>
          <p:spPr bwMode="auto">
            <a:xfrm flipH="1">
              <a:off x="2699172" y="3572108"/>
              <a:ext cx="620" cy="144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Text Box 247"/>
            <p:cNvSpPr txBox="1">
              <a:spLocks noChangeArrowheads="1"/>
            </p:cNvSpPr>
            <p:nvPr/>
          </p:nvSpPr>
          <p:spPr bwMode="auto">
            <a:xfrm>
              <a:off x="1619672" y="3716108"/>
              <a:ext cx="2159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物理电路级机器</a:t>
              </a:r>
            </a:p>
          </p:txBody>
        </p:sp>
      </p:grpSp>
      <p:sp>
        <p:nvSpPr>
          <p:cNvPr id="45" name="Oval 287"/>
          <p:cNvSpPr>
            <a:spLocks noChangeArrowheads="1"/>
          </p:cNvSpPr>
          <p:nvPr/>
        </p:nvSpPr>
        <p:spPr bwMode="auto">
          <a:xfrm>
            <a:off x="4067944" y="5749722"/>
            <a:ext cx="1296000" cy="324000"/>
          </a:xfrm>
          <a:prstGeom prst="ellipse">
            <a:avLst/>
          </a:prstGeom>
          <a:solidFill>
            <a:srgbClr val="CCFFFF"/>
          </a:solidFill>
          <a:ln w="15875">
            <a:solidFill>
              <a:srgbClr val="FF3399"/>
            </a:solidFill>
            <a:prstDash val="sysDash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AB9F-9786-4D27-8482-651DB90E2F0F}" type="slidenum">
              <a:rPr lang="en-US" altLang="zh-CN"/>
              <a:t>29</a:t>
            </a:fld>
            <a:endParaRPr lang="en-US" altLang="zh-CN"/>
          </a:p>
        </p:txBody>
      </p:sp>
      <p:sp>
        <p:nvSpPr>
          <p:cNvPr id="157881" name="Text Box 185"/>
          <p:cNvSpPr txBox="1">
            <a:spLocks noChangeArrowheads="1"/>
          </p:cNvSpPr>
          <p:nvPr/>
        </p:nvSpPr>
        <p:spPr bwMode="auto">
          <a:xfrm>
            <a:off x="179263" y="420053"/>
            <a:ext cx="8785225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en-US" altLang="zh-CN" sz="2400" dirty="0">
                <a:solidFill>
                  <a:srgbClr val="FF3399"/>
                </a:solidFill>
                <a:latin typeface="+mn-ea"/>
                <a:ea typeface="+mn-ea"/>
              </a:rPr>
              <a:t>3</a:t>
            </a:r>
            <a:r>
              <a:rPr lang="zh-CN" altLang="en-US" sz="2400" dirty="0">
                <a:solidFill>
                  <a:srgbClr val="FF3399"/>
                </a:solidFill>
                <a:latin typeface="+mn-ea"/>
                <a:ea typeface="+mn-ea"/>
              </a:rPr>
              <a:t>、计算机结构与组成</a:t>
            </a:r>
          </a:p>
        </p:txBody>
      </p:sp>
      <p:sp>
        <p:nvSpPr>
          <p:cNvPr id="157949" name="AutoShape 253"/>
          <p:cNvSpPr/>
          <p:nvPr/>
        </p:nvSpPr>
        <p:spPr bwMode="auto">
          <a:xfrm rot="10800000">
            <a:off x="3384000" y="2905200"/>
            <a:ext cx="108000" cy="504000"/>
          </a:xfrm>
          <a:prstGeom prst="leftBrace">
            <a:avLst>
              <a:gd name="adj1" fmla="val 46204"/>
              <a:gd name="adj2" fmla="val 52903"/>
            </a:avLst>
          </a:prstGeom>
          <a:noFill/>
          <a:ln w="15875">
            <a:solidFill>
              <a:schemeClr val="accent2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7977" name="Group 281"/>
          <p:cNvGrpSpPr/>
          <p:nvPr/>
        </p:nvGrpSpPr>
        <p:grpSpPr bwMode="auto">
          <a:xfrm>
            <a:off x="3527376" y="2853308"/>
            <a:ext cx="4573589" cy="574675"/>
            <a:chOff x="2915" y="2478"/>
            <a:chExt cx="2881" cy="362"/>
          </a:xfrm>
        </p:grpSpPr>
        <p:sp>
          <p:nvSpPr>
            <p:cNvPr id="157958" name="Line 262"/>
            <p:cNvSpPr>
              <a:spLocks noChangeShapeType="1"/>
            </p:cNvSpPr>
            <p:nvPr/>
          </p:nvSpPr>
          <p:spPr bwMode="auto">
            <a:xfrm flipH="1" flipV="1">
              <a:off x="2915" y="2672"/>
              <a:ext cx="363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959" name="Rectangle 263"/>
            <p:cNvSpPr>
              <a:spLocks noChangeArrowheads="1"/>
            </p:cNvSpPr>
            <p:nvPr/>
          </p:nvSpPr>
          <p:spPr bwMode="auto">
            <a:xfrm>
              <a:off x="3379" y="2478"/>
              <a:ext cx="2417" cy="36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功能部件组织、数据通路设计、控制机构、排队及缓冲机制等</a:t>
              </a:r>
            </a:p>
          </p:txBody>
        </p:sp>
        <p:sp>
          <p:nvSpPr>
            <p:cNvPr id="157960" name="AutoShape 264"/>
            <p:cNvSpPr/>
            <p:nvPr/>
          </p:nvSpPr>
          <p:spPr bwMode="auto">
            <a:xfrm>
              <a:off x="3290" y="2554"/>
              <a:ext cx="49" cy="249"/>
            </a:xfrm>
            <a:prstGeom prst="leftBrace">
              <a:avLst>
                <a:gd name="adj1" fmla="val 49094"/>
                <a:gd name="adj2" fmla="val 47972"/>
              </a:avLst>
            </a:prstGeom>
            <a:noFill/>
            <a:ln w="15875">
              <a:solidFill>
                <a:schemeClr val="accent2"/>
              </a:solidFill>
              <a:prstDash val="sysDash"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7969" name="Group 273"/>
          <p:cNvGrpSpPr/>
          <p:nvPr/>
        </p:nvGrpSpPr>
        <p:grpSpPr bwMode="auto">
          <a:xfrm>
            <a:off x="3420318" y="3500695"/>
            <a:ext cx="3600450" cy="288925"/>
            <a:chOff x="2835" y="3022"/>
            <a:chExt cx="2268" cy="182"/>
          </a:xfrm>
        </p:grpSpPr>
        <p:sp>
          <p:nvSpPr>
            <p:cNvPr id="157937" name="Text Box 241"/>
            <p:cNvSpPr txBox="1">
              <a:spLocks noChangeArrowheads="1"/>
            </p:cNvSpPr>
            <p:nvPr/>
          </p:nvSpPr>
          <p:spPr bwMode="auto">
            <a:xfrm>
              <a:off x="3379" y="3022"/>
              <a:ext cx="1724" cy="18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器件技术、组装技术等</a:t>
              </a:r>
            </a:p>
          </p:txBody>
        </p:sp>
        <p:sp>
          <p:nvSpPr>
            <p:cNvPr id="157961" name="Line 265"/>
            <p:cNvSpPr>
              <a:spLocks noChangeShapeType="1"/>
            </p:cNvSpPr>
            <p:nvPr/>
          </p:nvSpPr>
          <p:spPr bwMode="auto">
            <a:xfrm flipH="1">
              <a:off x="2835" y="3135"/>
              <a:ext cx="433" cy="43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157962" name="AutoShape 266"/>
            <p:cNvSpPr/>
            <p:nvPr/>
          </p:nvSpPr>
          <p:spPr bwMode="auto">
            <a:xfrm>
              <a:off x="3278" y="3068"/>
              <a:ext cx="46" cy="136"/>
            </a:xfrm>
            <a:prstGeom prst="leftBrace">
              <a:avLst>
                <a:gd name="adj1" fmla="val 24638"/>
                <a:gd name="adj2" fmla="val 48924"/>
              </a:avLst>
            </a:prstGeom>
            <a:noFill/>
            <a:ln w="15875">
              <a:solidFill>
                <a:srgbClr val="CC3300"/>
              </a:solidFill>
              <a:prstDash val="sysDash"/>
              <a:round/>
            </a:ln>
            <a:effectLst/>
          </p:spPr>
          <p:txBody>
            <a:bodyPr wrap="none" anchor="ctr"/>
            <a:lstStyle/>
            <a:p>
              <a:endParaRPr lang="zh-CN" altLang="en-US" sz="2000"/>
            </a:p>
          </p:txBody>
        </p:sp>
      </p:grpSp>
      <p:grpSp>
        <p:nvGrpSpPr>
          <p:cNvPr id="157984" name="Group 288"/>
          <p:cNvGrpSpPr/>
          <p:nvPr/>
        </p:nvGrpSpPr>
        <p:grpSpPr bwMode="auto">
          <a:xfrm>
            <a:off x="3528390" y="2200479"/>
            <a:ext cx="5330831" cy="579438"/>
            <a:chOff x="2901" y="2024"/>
            <a:chExt cx="3358" cy="365"/>
          </a:xfrm>
        </p:grpSpPr>
        <p:sp>
          <p:nvSpPr>
            <p:cNvPr id="157986" name="Rectangle 290"/>
            <p:cNvSpPr>
              <a:spLocks noChangeArrowheads="1"/>
            </p:cNvSpPr>
            <p:nvPr/>
          </p:nvSpPr>
          <p:spPr bwMode="auto">
            <a:xfrm>
              <a:off x="3379" y="2024"/>
              <a:ext cx="2880" cy="363"/>
            </a:xfrm>
            <a:prstGeom prst="rect">
              <a:avLst/>
            </a:prstGeom>
            <a:noFill/>
            <a:ln w="12700">
              <a:solidFill>
                <a:srgbClr val="FF3399"/>
              </a:solidFill>
              <a:prstDash val="dash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u="sng" dirty="0">
                  <a:latin typeface="宋体" panose="02010600030101010101" pitchFamily="2" charset="-122"/>
                </a:rPr>
                <a:t>包含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数据表示、寻址方式、指令功能与格式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,</a:t>
              </a:r>
            </a:p>
            <a:p>
              <a:r>
                <a:rPr lang="zh-CN" altLang="en-US" sz="1800" b="1" u="sng" dirty="0">
                  <a:latin typeface="宋体" panose="02010600030101010101" pitchFamily="2" charset="-122"/>
                </a:rPr>
                <a:t>涉及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存储系统、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系统、信息保护等</a:t>
              </a:r>
            </a:p>
          </p:txBody>
        </p:sp>
        <p:sp>
          <p:nvSpPr>
            <p:cNvPr id="157987" name="AutoShape 291"/>
            <p:cNvSpPr/>
            <p:nvPr/>
          </p:nvSpPr>
          <p:spPr bwMode="auto">
            <a:xfrm>
              <a:off x="3285" y="2026"/>
              <a:ext cx="49" cy="363"/>
            </a:xfrm>
            <a:prstGeom prst="leftBrace">
              <a:avLst>
                <a:gd name="adj1" fmla="val 49275"/>
                <a:gd name="adj2" fmla="val 50000"/>
              </a:avLst>
            </a:prstGeom>
            <a:noFill/>
            <a:ln w="15875">
              <a:solidFill>
                <a:srgbClr val="FF3399"/>
              </a:solidFill>
              <a:prstDash val="sysDash"/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985" name="Line 289"/>
            <p:cNvSpPr>
              <a:spLocks noChangeShapeType="1"/>
            </p:cNvSpPr>
            <p:nvPr/>
          </p:nvSpPr>
          <p:spPr bwMode="auto">
            <a:xfrm flipH="1">
              <a:off x="2901" y="2229"/>
              <a:ext cx="386" cy="6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4" name="Text Box 4"/>
          <p:cNvSpPr txBox="1">
            <a:spLocks noChangeArrowheads="1"/>
          </p:cNvSpPr>
          <p:nvPr/>
        </p:nvSpPr>
        <p:spPr bwMode="auto">
          <a:xfrm>
            <a:off x="1835696" y="5652393"/>
            <a:ext cx="6696744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硬件的功能设计→逻辑实现→物理实现 </a:t>
            </a:r>
          </a:p>
        </p:txBody>
      </p:sp>
      <p:sp>
        <p:nvSpPr>
          <p:cNvPr id="65" name="Text Box 242"/>
          <p:cNvSpPr txBox="1">
            <a:spLocks noChangeArrowheads="1"/>
          </p:cNvSpPr>
          <p:nvPr/>
        </p:nvSpPr>
        <p:spPr bwMode="auto">
          <a:xfrm>
            <a:off x="3419872" y="836712"/>
            <a:ext cx="5256063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sng" dirty="0">
                <a:latin typeface="宋体" panose="02010600030101010101" pitchFamily="2" charset="-122"/>
              </a:rPr>
              <a:t>机器语言程序员</a:t>
            </a:r>
            <a:r>
              <a:rPr lang="zh-CN" altLang="en-US" sz="2200" b="1" dirty="0">
                <a:latin typeface="宋体" panose="02010600030101010101" pitchFamily="2" charset="-122"/>
              </a:rPr>
              <a:t>看到的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计算机属性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包括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硬件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概念性结构</a:t>
            </a:r>
            <a:r>
              <a:rPr lang="zh-CN" altLang="en-US" sz="2200" b="1" dirty="0">
                <a:latin typeface="宋体" panose="02010600030101010101" pitchFamily="2" charset="-122"/>
              </a:rPr>
              <a:t>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功能特性</a:t>
            </a:r>
            <a:endParaRPr lang="en-US" altLang="zh-CN" sz="2200" b="1" u="sng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66" name="Text Box 256"/>
          <p:cNvSpPr txBox="1">
            <a:spLocks noChangeArrowheads="1"/>
          </p:cNvSpPr>
          <p:nvPr/>
        </p:nvSpPr>
        <p:spPr bwMode="auto">
          <a:xfrm>
            <a:off x="3419872" y="3933056"/>
            <a:ext cx="5544616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sng" dirty="0">
                <a:latin typeface="宋体" panose="02010600030101010101" pitchFamily="2" charset="-122"/>
              </a:rPr>
              <a:t>硬件设计人员</a:t>
            </a:r>
            <a:r>
              <a:rPr lang="zh-CN" altLang="en-US" sz="2200" b="1" dirty="0">
                <a:latin typeface="宋体" panose="02010600030101010101" pitchFamily="2" charset="-122"/>
              </a:rPr>
              <a:t>看到的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计算机属性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是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计算机结构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逻辑实现</a:t>
            </a:r>
            <a:endParaRPr lang="en-US" altLang="zh-CN" sz="2200" b="1" u="sng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67" name="Text Box 256"/>
          <p:cNvSpPr txBox="1">
            <a:spLocks noChangeArrowheads="1"/>
          </p:cNvSpPr>
          <p:nvPr/>
        </p:nvSpPr>
        <p:spPr bwMode="auto">
          <a:xfrm>
            <a:off x="3635896" y="4797152"/>
            <a:ext cx="4788024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sng" dirty="0">
                <a:latin typeface="宋体" panose="02010600030101010101" pitchFamily="2" charset="-122"/>
              </a:rPr>
              <a:t>硬件制造人员</a:t>
            </a:r>
            <a:r>
              <a:rPr lang="zh-CN" altLang="en-US" sz="2200" b="1" dirty="0">
                <a:latin typeface="宋体" panose="02010600030101010101" pitchFamily="2" charset="-122"/>
              </a:rPr>
              <a:t>看到的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计算机属性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是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计算机组成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物理实现</a:t>
            </a:r>
            <a:endParaRPr lang="en-US" altLang="zh-CN" sz="2200" b="1" u="sng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03848" y="1272090"/>
            <a:ext cx="5256584" cy="869524"/>
            <a:chOff x="3348385" y="1487354"/>
            <a:chExt cx="5256584" cy="869524"/>
          </a:xfrm>
        </p:grpSpPr>
        <p:sp>
          <p:nvSpPr>
            <p:cNvPr id="157981" name="Text Box 285"/>
            <p:cNvSpPr txBox="1">
              <a:spLocks noChangeArrowheads="1"/>
            </p:cNvSpPr>
            <p:nvPr/>
          </p:nvSpPr>
          <p:spPr bwMode="auto">
            <a:xfrm>
              <a:off x="4716537" y="1916832"/>
              <a:ext cx="3888432" cy="2889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又称为</a:t>
              </a:r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ISA</a:t>
              </a:r>
              <a:r>
                <a:rPr lang="en-US" altLang="zh-CN" sz="1800" dirty="0">
                  <a:latin typeface="宋体" panose="02010600030101010101" pitchFamily="2" charset="-122"/>
                </a:rPr>
                <a:t>(</a:t>
              </a:r>
              <a:r>
                <a:rPr lang="en-US" altLang="zh-CN" sz="1800" dirty="0">
                  <a:latin typeface="+mn-lt"/>
                </a:rPr>
                <a:t>Instruction Set Architecture</a:t>
              </a:r>
              <a:r>
                <a:rPr lang="en-US" altLang="zh-CN" sz="1800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157982" name="Line 286"/>
            <p:cNvSpPr>
              <a:spLocks noChangeShapeType="1"/>
            </p:cNvSpPr>
            <p:nvPr/>
          </p:nvSpPr>
          <p:spPr bwMode="auto">
            <a:xfrm>
              <a:off x="3852537" y="2056758"/>
              <a:ext cx="864096" cy="4535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prstDash val="solid"/>
              <a:round/>
              <a:tailEnd type="triangle" w="lg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286"/>
            <p:cNvSpPr>
              <a:spLocks noChangeShapeType="1"/>
            </p:cNvSpPr>
            <p:nvPr/>
          </p:nvSpPr>
          <p:spPr bwMode="auto">
            <a:xfrm>
              <a:off x="3348385" y="1487354"/>
              <a:ext cx="504000" cy="569155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prstDash val="solid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286"/>
            <p:cNvSpPr>
              <a:spLocks noChangeShapeType="1"/>
            </p:cNvSpPr>
            <p:nvPr/>
          </p:nvSpPr>
          <p:spPr bwMode="auto">
            <a:xfrm flipH="1" flipV="1">
              <a:off x="4376100" y="2075974"/>
              <a:ext cx="156139" cy="28090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dash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57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15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57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7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4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ldLvl="0" animBg="1"/>
      <p:bldP spid="157949" grpId="0" animBg="1"/>
      <p:bldP spid="64" grpId="0"/>
      <p:bldP spid="65" grpId="0"/>
      <p:bldP spid="66" grpId="0"/>
      <p:bldP spid="6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07504" y="2204864"/>
            <a:ext cx="8856984" cy="39029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*程序的执行顺序：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指令地址的表示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执行顺序的表示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                        </a:t>
            </a:r>
            <a:r>
              <a:rPr lang="zh-CN" altLang="en-US" sz="1600" b="1" dirty="0">
                <a:latin typeface="宋体" panose="02010600030101010101" pitchFamily="2" charset="-122"/>
              </a:rPr>
              <a:t>←程序中指令需</a:t>
            </a:r>
            <a:r>
              <a:rPr lang="zh-CN" altLang="en-US" sz="16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串行执行</a:t>
            </a:r>
            <a:endParaRPr lang="en-US" altLang="zh-CN" b="1" u="sng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下条指令地址的形成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30</a:t>
            </a:fld>
            <a:endParaRPr lang="en-US" altLang="zh-CN" dirty="0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776808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§1.4 </a:t>
            </a:r>
            <a:r>
              <a:rPr lang="zh-CN" altLang="en-US" sz="2800" b="1" dirty="0">
                <a:latin typeface="宋体" panose="02010600030101010101" pitchFamily="2" charset="-122"/>
              </a:rPr>
              <a:t>计算机的工作过程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79263" y="1268760"/>
            <a:ext cx="8785225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en-US" altLang="zh-CN" sz="2400" dirty="0">
                <a:solidFill>
                  <a:srgbClr val="FF3399"/>
                </a:solidFill>
                <a:latin typeface="+mn-ea"/>
                <a:ea typeface="+mn-ea"/>
              </a:rPr>
              <a:t>1</a:t>
            </a:r>
            <a:r>
              <a:rPr lang="zh-CN" altLang="en-US" sz="2400" dirty="0">
                <a:solidFill>
                  <a:srgbClr val="FF3399"/>
                </a:solidFill>
                <a:latin typeface="+mn-ea"/>
                <a:ea typeface="+mn-ea"/>
              </a:rPr>
              <a:t>、工作方式的实现方案</a:t>
            </a:r>
          </a:p>
        </p:txBody>
      </p:sp>
      <p:sp>
        <p:nvSpPr>
          <p:cNvPr id="12" name="AutoShape 17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3528000" y="5661248"/>
            <a:ext cx="5328592" cy="4298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dirty="0" err="1">
                <a:latin typeface="宋体" panose="02010600030101010101" pitchFamily="2" charset="-122"/>
              </a:rPr>
              <a:t>NextPC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(PC)</a:t>
            </a:r>
            <a:r>
              <a:rPr lang="zh-CN" altLang="en-US" sz="2200" b="1" dirty="0">
                <a:latin typeface="宋体" panose="02010600030101010101" pitchFamily="2" charset="-122"/>
              </a:rPr>
              <a:t>＋</a:t>
            </a:r>
            <a:r>
              <a:rPr lang="zh-CN" altLang="en-US" sz="22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200" b="1" baseline="-25000" dirty="0">
                <a:latin typeface="+mn-ea"/>
                <a:ea typeface="+mn-ea"/>
                <a:cs typeface="Arial Unicode MS" panose="020B0604020202020204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或</a:t>
            </a:r>
            <a:r>
              <a:rPr lang="zh-CN" altLang="en-US" sz="2200" b="1" baseline="-25000" dirty="0"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</a:rPr>
              <a:t>＝对</a:t>
            </a:r>
            <a:r>
              <a:rPr lang="en-US" altLang="zh-CN" sz="2200" b="1" dirty="0">
                <a:latin typeface="宋体" panose="02010600030101010101" pitchFamily="2" charset="-122"/>
              </a:rPr>
              <a:t>(IR)</a:t>
            </a:r>
            <a:r>
              <a:rPr lang="zh-CN" altLang="en-US" sz="2200" b="1" dirty="0">
                <a:latin typeface="宋体" panose="02010600030101010101" pitchFamily="2" charset="-122"/>
              </a:rPr>
              <a:t>操作结果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5" name="Text Box 526"/>
          <p:cNvSpPr txBox="1">
            <a:spLocks noChangeArrowheads="1"/>
          </p:cNvSpPr>
          <p:nvPr/>
        </p:nvSpPr>
        <p:spPr bwMode="auto">
          <a:xfrm>
            <a:off x="179512" y="764704"/>
            <a:ext cx="8785225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000" b="1" u="none" dirty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sz="2000" b="1" u="none" dirty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000" b="1" dirty="0">
                <a:latin typeface="+mn-ea"/>
                <a:ea typeface="+mn-ea"/>
              </a:rPr>
              <a:t>工作方式的实现方案，程序执行的过程</a:t>
            </a:r>
            <a:r>
              <a:rPr lang="en-US" altLang="zh-CN" sz="2000" b="1" dirty="0">
                <a:latin typeface="+mn-ea"/>
                <a:ea typeface="+mn-ea"/>
              </a:rPr>
              <a:t>(</a:t>
            </a:r>
            <a:r>
              <a:rPr lang="zh-CN" altLang="en-US" sz="2000" b="1" dirty="0">
                <a:latin typeface="+mn-ea"/>
                <a:ea typeface="+mn-ea"/>
              </a:rPr>
              <a:t>准备</a:t>
            </a:r>
            <a:r>
              <a:rPr lang="en-US" altLang="zh-CN" sz="2000" b="1" dirty="0">
                <a:latin typeface="+mn-ea"/>
                <a:ea typeface="+mn-ea"/>
              </a:rPr>
              <a:t>/</a:t>
            </a:r>
            <a:r>
              <a:rPr lang="zh-CN" altLang="en-US" sz="2000" b="1" dirty="0">
                <a:latin typeface="+mn-ea"/>
                <a:ea typeface="+mn-ea"/>
              </a:rPr>
              <a:t>执行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endParaRPr lang="en-US" altLang="zh-CN" sz="2000" b="1" u="none" dirty="0">
              <a:latin typeface="+mn-ea"/>
              <a:ea typeface="+mn-ea"/>
            </a:endParaRPr>
          </a:p>
        </p:txBody>
      </p:sp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611560" y="1802433"/>
            <a:ext cx="4032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54000" tIns="10800" rIns="18000" bIns="10800" anchor="ctr" anchorCtr="0">
            <a:noAutofit/>
          </a:bodyPr>
          <a:lstStyle/>
          <a:p>
            <a:pPr marL="990600" indent="-990600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</a:rPr>
              <a:t>存储程序工作方式的主要思想？</a:t>
            </a:r>
            <a:endParaRPr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33" name="Text Box 4"/>
          <p:cNvSpPr txBox="1">
            <a:spLocks noChangeArrowheads="1"/>
          </p:cNvSpPr>
          <p:nvPr/>
        </p:nvSpPr>
        <p:spPr bwMode="auto">
          <a:xfrm>
            <a:off x="2952000" y="2636912"/>
            <a:ext cx="6084376" cy="12342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使用</a:t>
            </a:r>
            <a:r>
              <a:rPr lang="zh-CN" altLang="en-US" sz="2200" b="1" u="sng" dirty="0">
                <a:latin typeface="宋体" panose="02010600030101010101" pitchFamily="2" charset="-122"/>
              </a:rPr>
              <a:t>程序</a:t>
            </a:r>
            <a:r>
              <a:rPr lang="en-US" altLang="zh-CN" sz="2200" b="1" u="sng" dirty="0">
                <a:latin typeface="宋体" panose="02010600030101010101" pitchFamily="2" charset="-122"/>
              </a:rPr>
              <a:t>MEM</a:t>
            </a:r>
            <a:r>
              <a:rPr lang="zh-CN" altLang="en-US" sz="2200" b="1" u="sng" dirty="0">
                <a:latin typeface="宋体" panose="02010600030101010101" pitchFamily="2" charset="-122"/>
              </a:rPr>
              <a:t>地址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逻辑地址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使用</a:t>
            </a:r>
            <a:r>
              <a:rPr lang="zh-CN" altLang="en-US" sz="2200" b="1" u="sng" dirty="0">
                <a:latin typeface="宋体" panose="02010600030101010101" pitchFamily="2" charset="-122"/>
              </a:rPr>
              <a:t>下条指令地址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         </a:t>
            </a:r>
            <a:r>
              <a:rPr lang="zh-CN" altLang="en-US" sz="1800" dirty="0">
                <a:latin typeface="宋体" panose="02010600030101010101" pitchFamily="2" charset="-122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</a:rPr>
              <a:t>←由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当前指令</a:t>
            </a:r>
            <a:r>
              <a:rPr lang="zh-CN" altLang="en-US" sz="1800" b="1" dirty="0">
                <a:latin typeface="宋体" panose="02010600030101010101" pitchFamily="2" charset="-122"/>
              </a:rPr>
              <a:t>产生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graphicFrame>
        <p:nvGraphicFramePr>
          <p:cNvPr id="24" name="Group 4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825032"/>
              </p:ext>
            </p:extLst>
          </p:nvPr>
        </p:nvGraphicFramePr>
        <p:xfrm>
          <a:off x="1763688" y="3861048"/>
          <a:ext cx="6336704" cy="1676546"/>
        </p:xfrm>
        <a:graphic>
          <a:graphicData uri="http://schemas.openxmlformats.org/drawingml/2006/table">
            <a:tbl>
              <a:tblPr/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0994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指令地址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指令内容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1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暂用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语言描述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执行顺序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8000" marR="18000" marT="18000" marB="18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x+0</a:t>
                      </a:r>
                    </a:p>
                  </a:txBody>
                  <a:tcPr marL="18000" marR="18000" marT="18000" marB="18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LP: 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nSum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+=6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；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18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x+1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4572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if (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nCnt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&lt;3)</a:t>
                      </a:r>
                    </a:p>
                    <a:p>
                      <a:pPr marL="0" marR="0" lvl="0" indent="45720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goto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LP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；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18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x+3</a:t>
                      </a:r>
                    </a:p>
                  </a:txBody>
                  <a:tcPr marL="18000" marR="18000" marT="18000" marB="18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COUT&gt;&gt;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nSum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；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1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18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Text Box 311"/>
          <p:cNvSpPr txBox="1">
            <a:spLocks noChangeArrowheads="1"/>
          </p:cNvSpPr>
          <p:nvPr/>
        </p:nvSpPr>
        <p:spPr bwMode="auto">
          <a:xfrm>
            <a:off x="4860032" y="4437112"/>
            <a:ext cx="4248472" cy="108012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46800" rIns="18000" bIns="10800" anchor="t" anchorCtr="0"/>
          <a:lstStyle/>
          <a:p>
            <a:pPr lvl="0">
              <a:lnSpc>
                <a:spcPct val="90000"/>
              </a:lnSpc>
            </a:pPr>
            <a:r>
              <a:rPr lang="zh-CN" altLang="en-US" sz="1800" b="1" dirty="0">
                <a:latin typeface="+mn-ea"/>
                <a:ea typeface="+mn-ea"/>
              </a:rPr>
              <a:t>＝当前地址</a:t>
            </a:r>
            <a:r>
              <a:rPr lang="en-US" altLang="zh-CN" sz="1800" b="1" dirty="0">
                <a:solidFill>
                  <a:srgbClr val="990099"/>
                </a:solidFill>
                <a:latin typeface="+mn-ea"/>
                <a:ea typeface="+mn-ea"/>
              </a:rPr>
              <a:t>+1</a:t>
            </a:r>
            <a:r>
              <a:rPr lang="zh-CN" altLang="en-US" sz="1800" b="1" dirty="0">
                <a:latin typeface="+mn-ea"/>
                <a:ea typeface="+mn-ea"/>
              </a:rPr>
              <a:t>，     即 ＝</a:t>
            </a:r>
            <a:r>
              <a:rPr lang="en-US" altLang="zh-CN" sz="1800" b="1" dirty="0">
                <a:latin typeface="+mn-ea"/>
                <a:ea typeface="+mn-ea"/>
              </a:rPr>
              <a:t>(PC)</a:t>
            </a:r>
            <a:r>
              <a:rPr lang="en-US" altLang="zh-CN" sz="1800" b="1" dirty="0">
                <a:solidFill>
                  <a:srgbClr val="990099"/>
                </a:solidFill>
                <a:latin typeface="+mn-ea"/>
                <a:ea typeface="+mn-ea"/>
              </a:rPr>
              <a:t>+1</a:t>
            </a:r>
          </a:p>
          <a:p>
            <a:pPr>
              <a:lnSpc>
                <a:spcPct val="90000"/>
              </a:lnSpc>
            </a:pPr>
            <a:r>
              <a:rPr lang="zh-CN" altLang="en-US" sz="1800" b="1" dirty="0">
                <a:latin typeface="+mn-ea"/>
                <a:ea typeface="+mn-ea"/>
              </a:rPr>
              <a:t>＝</a:t>
            </a:r>
            <a:r>
              <a:rPr lang="en-US" altLang="zh-CN" sz="1800" b="1" dirty="0">
                <a:solidFill>
                  <a:schemeClr val="accent2"/>
                </a:solidFill>
                <a:latin typeface="+mn-ea"/>
                <a:ea typeface="+mn-ea"/>
              </a:rPr>
              <a:t>x</a:t>
            </a:r>
            <a:r>
              <a:rPr lang="en-US" altLang="zh-CN" sz="1800" b="1" dirty="0">
                <a:latin typeface="+mn-ea"/>
                <a:ea typeface="+mn-ea"/>
              </a:rPr>
              <a:t> </a:t>
            </a:r>
            <a:r>
              <a:rPr lang="zh-CN" altLang="en-US" sz="1800" b="1" dirty="0">
                <a:solidFill>
                  <a:srgbClr val="C00000"/>
                </a:solidFill>
                <a:latin typeface="+mn-ea"/>
                <a:ea typeface="+mn-ea"/>
              </a:rPr>
              <a:t>或 </a:t>
            </a:r>
            <a:r>
              <a:rPr lang="zh-CN" altLang="en-US" sz="1800" b="1" dirty="0">
                <a:latin typeface="+mn-ea"/>
              </a:rPr>
              <a:t>当前地址</a:t>
            </a:r>
            <a:r>
              <a:rPr lang="en-US" altLang="zh-CN" sz="1800" b="1" dirty="0">
                <a:solidFill>
                  <a:srgbClr val="990099"/>
                </a:solidFill>
                <a:latin typeface="+mn-ea"/>
              </a:rPr>
              <a:t>+2</a:t>
            </a:r>
            <a:r>
              <a:rPr lang="zh-CN" altLang="en-US" sz="1800" b="1" dirty="0">
                <a:latin typeface="+mn-ea"/>
              </a:rPr>
              <a:t>，</a:t>
            </a:r>
            <a:r>
              <a:rPr lang="zh-CN" altLang="en-US" sz="1800" b="1" dirty="0">
                <a:latin typeface="+mn-ea"/>
                <a:ea typeface="+mn-ea"/>
              </a:rPr>
              <a:t>即 ＝</a:t>
            </a:r>
            <a:r>
              <a:rPr lang="en-US" altLang="zh-CN" sz="1800" b="1" dirty="0">
                <a:solidFill>
                  <a:schemeClr val="accent2"/>
                </a:solidFill>
                <a:latin typeface="+mn-ea"/>
                <a:ea typeface="+mn-ea"/>
              </a:rPr>
              <a:t>x</a:t>
            </a:r>
            <a:r>
              <a:rPr lang="en-US" altLang="zh-CN" sz="1800" b="1" dirty="0">
                <a:latin typeface="+mn-ea"/>
                <a:ea typeface="+mn-ea"/>
              </a:rPr>
              <a:t> </a:t>
            </a:r>
            <a:r>
              <a:rPr lang="zh-CN" altLang="en-US" sz="1800" b="1" dirty="0">
                <a:solidFill>
                  <a:srgbClr val="C00000"/>
                </a:solidFill>
                <a:latin typeface="+mn-ea"/>
                <a:ea typeface="+mn-ea"/>
              </a:rPr>
              <a:t>或 </a:t>
            </a:r>
            <a:r>
              <a:rPr lang="en-US" altLang="zh-CN" sz="1800" b="1" dirty="0">
                <a:latin typeface="+mn-ea"/>
              </a:rPr>
              <a:t>(PC)</a:t>
            </a:r>
            <a:r>
              <a:rPr lang="en-US" altLang="zh-CN" sz="1800" b="1" dirty="0">
                <a:solidFill>
                  <a:srgbClr val="990099"/>
                </a:solidFill>
                <a:latin typeface="+mn-ea"/>
              </a:rPr>
              <a:t>+2</a:t>
            </a:r>
            <a:endParaRPr lang="en-US" altLang="zh-CN" sz="18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90000"/>
              </a:lnSpc>
            </a:pPr>
            <a:r>
              <a:rPr lang="en-US" altLang="zh-CN" sz="1800" b="1" dirty="0">
                <a:latin typeface="+mn-ea"/>
                <a:ea typeface="+mn-ea"/>
              </a:rPr>
              <a:t> </a:t>
            </a:r>
            <a:endParaRPr lang="en-US" altLang="zh-CN" sz="1800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zh-CN" altLang="en-US" sz="1800" b="1" dirty="0">
                <a:latin typeface="+mn-ea"/>
                <a:ea typeface="+mn-ea"/>
              </a:rPr>
              <a:t>＝当前地址</a:t>
            </a:r>
            <a:r>
              <a:rPr lang="en-US" altLang="zh-CN" sz="1800" b="1" dirty="0">
                <a:solidFill>
                  <a:srgbClr val="990099"/>
                </a:solidFill>
                <a:latin typeface="+mn-ea"/>
                <a:ea typeface="+mn-ea"/>
              </a:rPr>
              <a:t>+1</a:t>
            </a:r>
            <a:r>
              <a:rPr lang="zh-CN" altLang="en-US" sz="1800" b="1" dirty="0">
                <a:latin typeface="+mn-ea"/>
                <a:ea typeface="+mn-ea"/>
              </a:rPr>
              <a:t>，     即 ＝</a:t>
            </a:r>
            <a:r>
              <a:rPr lang="en-US" altLang="zh-CN" sz="1800" b="1" dirty="0">
                <a:latin typeface="+mn-ea"/>
                <a:ea typeface="+mn-ea"/>
              </a:rPr>
              <a:t>(PC)</a:t>
            </a:r>
            <a:r>
              <a:rPr lang="en-US" altLang="zh-CN" sz="1800" b="1" dirty="0">
                <a:solidFill>
                  <a:srgbClr val="990099"/>
                </a:solidFill>
                <a:latin typeface="+mn-ea"/>
                <a:ea typeface="+mn-ea"/>
              </a:rPr>
              <a:t>+1</a:t>
            </a:r>
            <a:endParaRPr lang="zh-CN" altLang="en-US" sz="1800" b="1" dirty="0">
              <a:solidFill>
                <a:srgbClr val="990099"/>
              </a:solidFill>
              <a:latin typeface="+mn-ea"/>
              <a:ea typeface="+mn-ea"/>
            </a:endParaRPr>
          </a:p>
        </p:txBody>
      </p:sp>
      <p:sp>
        <p:nvSpPr>
          <p:cNvPr id="25" name="AutoShape 338"/>
          <p:cNvSpPr/>
          <p:nvPr/>
        </p:nvSpPr>
        <p:spPr bwMode="auto">
          <a:xfrm>
            <a:off x="539680" y="4961530"/>
            <a:ext cx="1152000" cy="504000"/>
          </a:xfrm>
          <a:prstGeom prst="borderCallout2">
            <a:avLst>
              <a:gd name="adj1" fmla="val 52831"/>
              <a:gd name="adj2" fmla="val 101598"/>
              <a:gd name="adj3" fmla="val 53674"/>
              <a:gd name="adj4" fmla="val 120927"/>
              <a:gd name="adj5" fmla="val 9487"/>
              <a:gd name="adj6" fmla="val 210064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lvl="0" algn="ctr">
              <a:lnSpc>
                <a:spcPct val="900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假设该指令占</a:t>
            </a:r>
            <a:r>
              <a: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个单元</a:t>
            </a:r>
          </a:p>
        </p:txBody>
      </p:sp>
      <p:sp>
        <p:nvSpPr>
          <p:cNvPr id="29" name="Text Box 311"/>
          <p:cNvSpPr txBox="1">
            <a:spLocks noChangeArrowheads="1"/>
          </p:cNvSpPr>
          <p:nvPr/>
        </p:nvSpPr>
        <p:spPr bwMode="auto">
          <a:xfrm>
            <a:off x="5652288" y="4185112"/>
            <a:ext cx="1512000" cy="252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下条指令地址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30" name="Text Box 311"/>
          <p:cNvSpPr txBox="1">
            <a:spLocks noChangeArrowheads="1"/>
          </p:cNvSpPr>
          <p:nvPr/>
        </p:nvSpPr>
        <p:spPr bwMode="auto">
          <a:xfrm>
            <a:off x="1691800" y="4185112"/>
            <a:ext cx="1080000" cy="252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highlight>
                  <a:srgbClr val="CCFFFF"/>
                </a:highlight>
                <a:latin typeface="宋体" panose="02010600030101010101" pitchFamily="2" charset="-122"/>
              </a:rPr>
              <a:t>逻辑地址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18" name="Text Box 140">
            <a:extLst>
              <a:ext uri="{FF2B5EF4-FFF2-40B4-BE49-F238E27FC236}">
                <a16:creationId xmlns:a16="http://schemas.microsoft.com/office/drawing/2014/main" id="{5B82B76D-7D2A-4F3F-B4BB-05D77F5FB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024" y="1412776"/>
            <a:ext cx="4284000" cy="1224136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54000" tIns="10800" rIns="54000" bIns="10800" anchor="ctr"/>
          <a:lstStyle/>
          <a:p>
            <a:pPr marL="177800" indent="-177800">
              <a:lnSpc>
                <a:spcPct val="1140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+mn-ea"/>
                <a:ea typeface="+mn-ea"/>
              </a:rPr>
              <a:t>物理地址</a:t>
            </a:r>
            <a:r>
              <a:rPr lang="en-US" altLang="zh-CN" sz="1600" b="1" dirty="0">
                <a:solidFill>
                  <a:srgbClr val="C00000"/>
                </a:solidFill>
                <a:latin typeface="+mn-ea"/>
                <a:ea typeface="+mn-ea"/>
              </a:rPr>
              <a:t>—</a:t>
            </a:r>
            <a:r>
              <a:rPr lang="zh-CN" altLang="en-US" sz="1600" b="1" dirty="0">
                <a:latin typeface="+mn-ea"/>
                <a:ea typeface="+mn-ea"/>
              </a:rPr>
              <a:t>主存空间的单元地址</a:t>
            </a:r>
            <a:endParaRPr lang="en-US" altLang="zh-CN" sz="1600" b="1" dirty="0">
              <a:latin typeface="+mn-ea"/>
              <a:ea typeface="+mn-ea"/>
            </a:endParaRPr>
          </a:p>
          <a:p>
            <a:pPr marL="177800" indent="-177800">
              <a:lnSpc>
                <a:spcPct val="1140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+mn-ea"/>
                <a:ea typeface="+mn-ea"/>
              </a:rPr>
              <a:t>程序</a:t>
            </a:r>
            <a:r>
              <a:rPr lang="en-US" altLang="zh-CN" sz="1600" b="1" dirty="0">
                <a:solidFill>
                  <a:srgbClr val="C00000"/>
                </a:solidFill>
                <a:latin typeface="+mn-ea"/>
                <a:ea typeface="+mn-ea"/>
              </a:rPr>
              <a:t>MEM— </a:t>
            </a:r>
            <a:r>
              <a:rPr lang="zh-CN" altLang="en-US" sz="1600" b="1" dirty="0">
                <a:latin typeface="+mn-ea"/>
                <a:ea typeface="+mn-ea"/>
              </a:rPr>
              <a:t>程序空间的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ea typeface="+mn-ea"/>
              </a:rPr>
              <a:t>MEM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  <a:ea typeface="+mn-ea"/>
              </a:rPr>
              <a:t>抽象</a:t>
            </a:r>
            <a:r>
              <a:rPr lang="zh-CN" altLang="en-US" sz="1600" b="1" dirty="0">
                <a:latin typeface="+mn-ea"/>
                <a:ea typeface="+mn-ea"/>
              </a:rPr>
              <a:t>，不真实存在！</a:t>
            </a:r>
            <a:endParaRPr lang="en-US" altLang="zh-CN" sz="1600" b="1" dirty="0">
              <a:latin typeface="+mn-ea"/>
              <a:ea typeface="+mn-ea"/>
            </a:endParaRPr>
          </a:p>
          <a:p>
            <a:pPr marL="177800" indent="-177800">
              <a:lnSpc>
                <a:spcPct val="114000"/>
              </a:lnSpc>
            </a:pPr>
            <a:r>
              <a:rPr lang="en-US" altLang="zh-CN" sz="1600" b="1" dirty="0">
                <a:latin typeface="+mn-ea"/>
                <a:ea typeface="+mn-ea"/>
              </a:rPr>
              <a:t>          (</a:t>
            </a:r>
            <a:r>
              <a: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单元长度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＝</a:t>
            </a:r>
            <a:r>
              <a: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主存单元长度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</a:p>
          <a:p>
            <a:pPr marL="177800" indent="-177800">
              <a:lnSpc>
                <a:spcPct val="114000"/>
              </a:lnSpc>
            </a:pPr>
            <a:r>
              <a:rPr lang="zh-CN" altLang="en-US" sz="1600" b="1" u="none" dirty="0">
                <a:solidFill>
                  <a:srgbClr val="C00000"/>
                </a:solidFill>
                <a:latin typeface="+mn-ea"/>
                <a:ea typeface="+mn-ea"/>
              </a:rPr>
              <a:t>逻辑地址</a:t>
            </a:r>
            <a:r>
              <a:rPr lang="en-US" altLang="zh-CN" sz="1600" b="1" u="none" dirty="0">
                <a:solidFill>
                  <a:srgbClr val="C00000"/>
                </a:solidFill>
                <a:latin typeface="+mn-ea"/>
                <a:ea typeface="+mn-ea"/>
              </a:rPr>
              <a:t>—</a:t>
            </a:r>
            <a:r>
              <a:rPr lang="zh-CN" altLang="en-US" sz="1600" b="1" u="none" dirty="0">
                <a:latin typeface="+mn-ea"/>
                <a:ea typeface="+mn-ea"/>
              </a:rPr>
              <a:t>程序空间的单元地址</a:t>
            </a:r>
            <a:endParaRPr lang="en-US" altLang="zh-CN" sz="1600" b="1" u="none" dirty="0">
              <a:latin typeface="+mn-ea"/>
              <a:ea typeface="+mn-ea"/>
            </a:endParaRPr>
          </a:p>
        </p:txBody>
      </p:sp>
      <p:sp>
        <p:nvSpPr>
          <p:cNvPr id="19" name="AutoShape 338">
            <a:extLst>
              <a:ext uri="{FF2B5EF4-FFF2-40B4-BE49-F238E27FC236}">
                <a16:creationId xmlns:a16="http://schemas.microsoft.com/office/drawing/2014/main" id="{4F11B551-8DA6-450E-847E-CEB54B9D5A89}"/>
              </a:ext>
            </a:extLst>
          </p:cNvPr>
          <p:cNvSpPr/>
          <p:nvPr/>
        </p:nvSpPr>
        <p:spPr bwMode="auto">
          <a:xfrm>
            <a:off x="6649292" y="2762968"/>
            <a:ext cx="2387204" cy="233984"/>
          </a:xfrm>
          <a:prstGeom prst="borderCallout2">
            <a:avLst>
              <a:gd name="adj1" fmla="val 50018"/>
              <a:gd name="adj2" fmla="val 463"/>
              <a:gd name="adj3" fmla="val 51333"/>
              <a:gd name="adj4" fmla="val -6162"/>
              <a:gd name="adj5" fmla="val -222664"/>
              <a:gd name="adj6" fmla="val 10093"/>
            </a:avLst>
          </a:prstGeom>
          <a:noFill/>
          <a:ln w="12700">
            <a:solidFill>
              <a:srgbClr val="0070C0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lvl="0" algn="ctr">
              <a:lnSpc>
                <a:spcPct val="900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便于装入后</a:t>
            </a:r>
            <a:r>
              <a:rPr lang="zh-CN" alt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地址相对不变</a:t>
            </a:r>
            <a:endParaRPr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6" grpId="0" bldLvl="0"/>
      <p:bldP spid="28" grpId="0" animBg="1"/>
      <p:bldP spid="27" grpId="0"/>
      <p:bldP spid="25" grpId="0" animBg="1"/>
      <p:bldP spid="29" grpId="0"/>
      <p:bldP spid="30" grpId="0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/>
          <p:cNvGrpSpPr/>
          <p:nvPr/>
        </p:nvGrpSpPr>
        <p:grpSpPr>
          <a:xfrm>
            <a:off x="1835696" y="4867958"/>
            <a:ext cx="5544616" cy="1513370"/>
            <a:chOff x="2195736" y="4365136"/>
            <a:chExt cx="5544616" cy="1513370"/>
          </a:xfrm>
        </p:grpSpPr>
        <p:sp>
          <p:nvSpPr>
            <p:cNvPr id="78" name="Text Box 354"/>
            <p:cNvSpPr txBox="1">
              <a:spLocks noChangeArrowheads="1"/>
            </p:cNvSpPr>
            <p:nvPr/>
          </p:nvSpPr>
          <p:spPr bwMode="auto">
            <a:xfrm>
              <a:off x="2195736" y="5590506"/>
              <a:ext cx="2376264" cy="28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存储器</a:t>
              </a:r>
            </a:p>
          </p:txBody>
        </p:sp>
        <p:sp>
          <p:nvSpPr>
            <p:cNvPr id="79" name="Text Box 354"/>
            <p:cNvSpPr txBox="1">
              <a:spLocks noChangeArrowheads="1"/>
            </p:cNvSpPr>
            <p:nvPr/>
          </p:nvSpPr>
          <p:spPr bwMode="auto">
            <a:xfrm>
              <a:off x="6232320" y="5589240"/>
              <a:ext cx="855966" cy="28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0" name="Text Box 354"/>
            <p:cNvSpPr txBox="1">
              <a:spLocks noChangeArrowheads="1"/>
            </p:cNvSpPr>
            <p:nvPr/>
          </p:nvSpPr>
          <p:spPr bwMode="auto">
            <a:xfrm>
              <a:off x="7088286" y="5589240"/>
              <a:ext cx="648072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1" name="Text Box 354"/>
            <p:cNvSpPr txBox="1">
              <a:spLocks noChangeArrowheads="1"/>
            </p:cNvSpPr>
            <p:nvPr/>
          </p:nvSpPr>
          <p:spPr bwMode="auto">
            <a:xfrm>
              <a:off x="6228184" y="5589240"/>
              <a:ext cx="1512168" cy="288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存储器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/REGs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2" name="Text Box 352"/>
            <p:cNvSpPr txBox="1">
              <a:spLocks noChangeArrowheads="1"/>
            </p:cNvSpPr>
            <p:nvPr/>
          </p:nvSpPr>
          <p:spPr bwMode="auto">
            <a:xfrm>
              <a:off x="2195736" y="4725208"/>
              <a:ext cx="1080120" cy="57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指令地址寄存器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83" name="Text Box 365"/>
            <p:cNvSpPr txBox="1">
              <a:spLocks noChangeArrowheads="1"/>
            </p:cNvSpPr>
            <p:nvPr/>
          </p:nvSpPr>
          <p:spPr bwMode="auto">
            <a:xfrm>
              <a:off x="3507839" y="4725208"/>
              <a:ext cx="1064161" cy="57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指令内容寄存器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84" name="Text Box 408"/>
            <p:cNvSpPr txBox="1">
              <a:spLocks noChangeArrowheads="1"/>
            </p:cNvSpPr>
            <p:nvPr/>
          </p:nvSpPr>
          <p:spPr bwMode="auto">
            <a:xfrm>
              <a:off x="4932040" y="4725143"/>
              <a:ext cx="792088" cy="864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指令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译码器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85" name="Text Box 439"/>
            <p:cNvSpPr txBox="1">
              <a:spLocks noChangeArrowheads="1"/>
            </p:cNvSpPr>
            <p:nvPr/>
          </p:nvSpPr>
          <p:spPr bwMode="auto">
            <a:xfrm>
              <a:off x="3670908" y="4365136"/>
              <a:ext cx="757076" cy="28800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/>
                <a:t>＋</a:t>
              </a:r>
              <a:r>
                <a:rPr lang="zh-CN" altLang="en-US" sz="18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8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zh-CN" altLang="en-US" sz="18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endParaRPr lang="en-US" altLang="zh-CN" sz="1800" b="1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sp>
          <p:nvSpPr>
            <p:cNvPr id="86" name="Text Box 460"/>
            <p:cNvSpPr txBox="1">
              <a:spLocks noChangeArrowheads="1"/>
            </p:cNvSpPr>
            <p:nvPr/>
          </p:nvSpPr>
          <p:spPr bwMode="auto">
            <a:xfrm>
              <a:off x="6300192" y="4365136"/>
              <a:ext cx="1440160" cy="28800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地址计算部件</a:t>
              </a:r>
            </a:p>
          </p:txBody>
        </p:sp>
        <p:sp>
          <p:nvSpPr>
            <p:cNvPr id="87" name="Text Box 460"/>
            <p:cNvSpPr txBox="1">
              <a:spLocks noChangeArrowheads="1"/>
            </p:cNvSpPr>
            <p:nvPr/>
          </p:nvSpPr>
          <p:spPr bwMode="auto">
            <a:xfrm>
              <a:off x="6300192" y="4725176"/>
              <a:ext cx="1424483" cy="28800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功能部件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31</a:t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79705" y="332740"/>
            <a:ext cx="8784000" cy="43895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*程序的执行机制： </a:t>
            </a:r>
            <a:r>
              <a:rPr lang="en-US" altLang="zh-CN" sz="2200" b="1" dirty="0">
                <a:latin typeface="宋体" panose="02010600030101010101" pitchFamily="2" charset="-122"/>
              </a:rPr>
              <a:t>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工作方式之程序执行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需求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1500"/>
              </a:spcBef>
            </a:pPr>
            <a:r>
              <a:rPr lang="en-US" altLang="zh-CN" sz="1800" b="1" dirty="0">
                <a:latin typeface="宋体" panose="02010600030101010101" pitchFamily="2" charset="-122"/>
              </a:rPr>
              <a:t>     </a:t>
            </a:r>
            <a:r>
              <a:rPr lang="zh-CN" altLang="en-US" sz="1800" b="1" dirty="0">
                <a:latin typeface="宋体" panose="02010600030101010101" pitchFamily="2" charset="-122"/>
              </a:rPr>
              <a:t>   指令例：               </a:t>
            </a:r>
            <a:r>
              <a:rPr lang="en-US" altLang="zh-CN" sz="1800" b="1" dirty="0">
                <a:latin typeface="宋体" panose="02010600030101010101" pitchFamily="2" charset="-122"/>
              </a:rPr>
              <a:t>    R[2]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</a:rPr>
              <a:t>R[2]+3  (</a:t>
            </a:r>
            <a:r>
              <a:rPr lang="zh-CN" altLang="en-US" sz="1800" b="1" dirty="0">
                <a:latin typeface="宋体" panose="02010600030101010101" pitchFamily="2" charset="-122"/>
              </a:rPr>
              <a:t>隐含</a:t>
            </a:r>
            <a:r>
              <a:rPr lang="en-US" altLang="zh-CN" sz="1800" b="1" dirty="0">
                <a:latin typeface="宋体" panose="02010600030101010101" pitchFamily="2" charset="-122"/>
              </a:rPr>
              <a:t>:PC=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PC+</a:t>
            </a:r>
            <a:r>
              <a:rPr lang="zh-CN" altLang="en-US" sz="1800" b="1" dirty="0">
                <a:solidFill>
                  <a:srgbClr val="0070C0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solidFill>
                  <a:srgbClr val="0070C0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                    R[2]=0</a:t>
            </a:r>
            <a:r>
              <a:rPr lang="zh-CN" altLang="en-US" sz="1800" b="1" dirty="0">
                <a:latin typeface="宋体" panose="02010600030101010101" pitchFamily="2" charset="-122"/>
              </a:rPr>
              <a:t>时</a:t>
            </a:r>
            <a:r>
              <a:rPr lang="en-US" altLang="zh-CN" sz="1800" b="1" dirty="0">
                <a:latin typeface="宋体" panose="02010600030101010101" pitchFamily="2" charset="-122"/>
              </a:rPr>
              <a:t>PC=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48</a:t>
            </a:r>
            <a:r>
              <a:rPr lang="en-US" altLang="zh-CN" sz="1800" b="1" dirty="0">
                <a:latin typeface="宋体" panose="02010600030101010101" pitchFamily="2" charset="-122"/>
              </a:rPr>
              <a:t> (</a:t>
            </a:r>
            <a:r>
              <a:rPr lang="zh-CN" altLang="en-US" sz="1800" b="1" dirty="0">
                <a:latin typeface="宋体" panose="02010600030101010101" pitchFamily="2" charset="-122"/>
              </a:rPr>
              <a:t>隐含</a:t>
            </a:r>
            <a:r>
              <a:rPr lang="en-US" altLang="zh-CN" sz="1800" b="1" dirty="0">
                <a:latin typeface="宋体" panose="02010600030101010101" pitchFamily="2" charset="-122"/>
              </a:rPr>
              <a:t>:</a:t>
            </a:r>
            <a:r>
              <a:rPr lang="zh-CN" altLang="en-US" sz="1800" b="1" dirty="0">
                <a:latin typeface="宋体" panose="02010600030101010101" pitchFamily="2" charset="-122"/>
              </a:rPr>
              <a:t>不转移时</a:t>
            </a:r>
            <a:r>
              <a:rPr lang="en-US" altLang="zh-CN" sz="1800" b="1" dirty="0">
                <a:latin typeface="宋体" panose="02010600030101010101" pitchFamily="2" charset="-122"/>
              </a:rPr>
              <a:t>PC=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PC+</a:t>
            </a:r>
            <a:r>
              <a:rPr lang="zh-CN" altLang="en-US" sz="1800" b="1" dirty="0">
                <a:solidFill>
                  <a:srgbClr val="0070C0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8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b="1" dirty="0">
                <a:solidFill>
                  <a:srgbClr val="0070C0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优化分析：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方案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实现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14" name="Text Box 309"/>
          <p:cNvSpPr txBox="1">
            <a:spLocks noChangeArrowheads="1"/>
          </p:cNvSpPr>
          <p:nvPr/>
        </p:nvSpPr>
        <p:spPr bwMode="auto">
          <a:xfrm>
            <a:off x="2483768" y="2132856"/>
            <a:ext cx="6227517" cy="9387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u="sng" dirty="0">
                <a:latin typeface="宋体" panose="02010600030101010101" pitchFamily="2" charset="-122"/>
              </a:rPr>
              <a:t>顺序型</a:t>
            </a:r>
            <a:r>
              <a:rPr lang="zh-CN" altLang="en-US" sz="2200" b="1" dirty="0">
                <a:latin typeface="宋体" panose="02010600030101010101" pitchFamily="2" charset="-122"/>
              </a:rPr>
              <a:t>指令的</a:t>
            </a:r>
            <a:r>
              <a:rPr lang="en-US" altLang="zh-CN" sz="2200" b="1" dirty="0" err="1">
                <a:latin typeface="宋体" panose="02010600030101010101" pitchFamily="2" charset="-122"/>
              </a:rPr>
              <a:t>NextPC</a:t>
            </a:r>
            <a:r>
              <a:rPr lang="zh-CN" altLang="en-US" sz="2200" b="1" dirty="0">
                <a:latin typeface="宋体" panose="02010600030101010101" pitchFamily="2" charset="-122"/>
              </a:rPr>
              <a:t>计算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与</a:t>
            </a:r>
            <a:r>
              <a:rPr lang="zh-CN" altLang="en-US" sz="1800" b="1" u="sng" dirty="0">
                <a:latin typeface="宋体" panose="02010600030101010101" pitchFamily="2" charset="-122"/>
              </a:rPr>
              <a:t>指令内容</a:t>
            </a:r>
            <a:r>
              <a:rPr lang="zh-CN" altLang="en-US" sz="1800" b="1" dirty="0">
                <a:latin typeface="宋体" panose="02010600030101010101" pitchFamily="2" charset="-122"/>
              </a:rPr>
              <a:t>无关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可提前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u="sng" dirty="0">
                <a:latin typeface="宋体" panose="02010600030101010101" pitchFamily="2" charset="-122"/>
              </a:rPr>
              <a:t>转移型</a:t>
            </a:r>
            <a:r>
              <a:rPr lang="zh-CN" altLang="en-US" sz="2200" b="1" dirty="0">
                <a:latin typeface="宋体" panose="02010600030101010101" pitchFamily="2" charset="-122"/>
              </a:rPr>
              <a:t>指令的</a:t>
            </a:r>
            <a:r>
              <a:rPr lang="en-US" altLang="zh-CN" sz="2200" b="1" dirty="0" err="1">
                <a:latin typeface="宋体" panose="02010600030101010101" pitchFamily="2" charset="-122"/>
              </a:rPr>
              <a:t>NextPC</a:t>
            </a:r>
            <a:r>
              <a:rPr lang="zh-CN" altLang="en-US" sz="2200" b="1" dirty="0">
                <a:latin typeface="宋体" panose="02010600030101010101" pitchFamily="2" charset="-122"/>
              </a:rPr>
              <a:t>计算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与</a:t>
            </a:r>
            <a:r>
              <a:rPr lang="zh-CN" altLang="en-US" sz="1800" b="1" u="sng" dirty="0">
                <a:latin typeface="宋体" panose="02010600030101010101" pitchFamily="2" charset="-122"/>
              </a:rPr>
              <a:t>数据操作</a:t>
            </a:r>
            <a:r>
              <a:rPr lang="zh-CN" altLang="en-US" sz="1800" b="1" dirty="0">
                <a:latin typeface="宋体" panose="02010600030101010101" pitchFamily="2" charset="-122"/>
              </a:rPr>
              <a:t>无关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可提前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051720" y="3140968"/>
            <a:ext cx="5040000" cy="792000"/>
            <a:chOff x="2195735" y="3434700"/>
            <a:chExt cx="5040000" cy="792000"/>
          </a:xfrm>
        </p:grpSpPr>
        <p:sp>
          <p:nvSpPr>
            <p:cNvPr id="17" name="矩形 16"/>
            <p:cNvSpPr/>
            <p:nvPr/>
          </p:nvSpPr>
          <p:spPr bwMode="auto">
            <a:xfrm>
              <a:off x="2195735" y="3434700"/>
              <a:ext cx="5040000" cy="79200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Text Box 311"/>
            <p:cNvSpPr txBox="1">
              <a:spLocks noChangeArrowheads="1"/>
            </p:cNvSpPr>
            <p:nvPr/>
          </p:nvSpPr>
          <p:spPr bwMode="auto">
            <a:xfrm>
              <a:off x="2339751" y="3501008"/>
              <a:ext cx="1296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取指令</a:t>
              </a:r>
            </a:p>
          </p:txBody>
        </p:sp>
        <p:sp>
          <p:nvSpPr>
            <p:cNvPr id="20" name="Text Box 314"/>
            <p:cNvSpPr txBox="1">
              <a:spLocks noChangeArrowheads="1"/>
            </p:cNvSpPr>
            <p:nvPr/>
          </p:nvSpPr>
          <p:spPr bwMode="auto">
            <a:xfrm>
              <a:off x="4067944" y="3501008"/>
              <a:ext cx="1080000" cy="28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分析指令</a:t>
              </a:r>
            </a:p>
          </p:txBody>
        </p:sp>
        <p:sp>
          <p:nvSpPr>
            <p:cNvPr id="21" name="Text Box 316"/>
            <p:cNvSpPr txBox="1">
              <a:spLocks noChangeArrowheads="1"/>
            </p:cNvSpPr>
            <p:nvPr/>
          </p:nvSpPr>
          <p:spPr bwMode="auto">
            <a:xfrm>
              <a:off x="5508104" y="3501008"/>
              <a:ext cx="1656000" cy="28800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执行指令</a:t>
              </a:r>
            </a:p>
          </p:txBody>
        </p:sp>
        <p:cxnSp>
          <p:nvCxnSpPr>
            <p:cNvPr id="22" name="直接箭头连接符 21"/>
            <p:cNvCxnSpPr>
              <a:stCxn id="19" idx="3"/>
              <a:endCxn id="20" idx="1"/>
            </p:cNvCxnSpPr>
            <p:nvPr/>
          </p:nvCxnSpPr>
          <p:spPr bwMode="auto">
            <a:xfrm>
              <a:off x="3635751" y="3645008"/>
              <a:ext cx="432193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" name="直接箭头连接符 22"/>
            <p:cNvCxnSpPr>
              <a:stCxn id="20" idx="3"/>
              <a:endCxn id="21" idx="1"/>
            </p:cNvCxnSpPr>
            <p:nvPr/>
          </p:nvCxnSpPr>
          <p:spPr bwMode="auto">
            <a:xfrm>
              <a:off x="5147944" y="3645008"/>
              <a:ext cx="36016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4" name="Text Box 316"/>
            <p:cNvSpPr txBox="1">
              <a:spLocks noChangeArrowheads="1"/>
            </p:cNvSpPr>
            <p:nvPr/>
          </p:nvSpPr>
          <p:spPr bwMode="auto">
            <a:xfrm>
              <a:off x="2951844" y="3866748"/>
              <a:ext cx="2196000" cy="28800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FF3399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(PC)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＋</a:t>
              </a:r>
              <a:r>
                <a:rPr lang="zh-CN" altLang="en-US" sz="18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8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zh-CN" altLang="en-US" sz="18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endParaRPr lang="zh-CN" altLang="en-US" sz="1800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cxnSp>
          <p:nvCxnSpPr>
            <p:cNvPr id="25" name="直接箭头连接符 27"/>
            <p:cNvCxnSpPr>
              <a:stCxn id="21" idx="3"/>
              <a:endCxn id="19" idx="1"/>
            </p:cNvCxnSpPr>
            <p:nvPr/>
          </p:nvCxnSpPr>
          <p:spPr bwMode="auto">
            <a:xfrm flipH="1">
              <a:off x="2339751" y="3645008"/>
              <a:ext cx="4824353" cy="12700"/>
            </a:xfrm>
            <a:prstGeom prst="bentConnector5">
              <a:avLst>
                <a:gd name="adj1" fmla="val -4738"/>
                <a:gd name="adj2" fmla="val -2123283"/>
                <a:gd name="adj3" fmla="val 104738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Text Box 316"/>
            <p:cNvSpPr txBox="1">
              <a:spLocks noChangeArrowheads="1"/>
            </p:cNvSpPr>
            <p:nvPr/>
          </p:nvSpPr>
          <p:spPr bwMode="auto">
            <a:xfrm>
              <a:off x="5508288" y="3866748"/>
              <a:ext cx="1656000" cy="28800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←计算结果</a:t>
              </a:r>
            </a:p>
          </p:txBody>
        </p:sp>
      </p:grpSp>
      <p:cxnSp>
        <p:nvCxnSpPr>
          <p:cNvPr id="53" name="直接箭头连接符 52"/>
          <p:cNvCxnSpPr/>
          <p:nvPr/>
        </p:nvCxnSpPr>
        <p:spPr bwMode="auto">
          <a:xfrm flipV="1">
            <a:off x="3707904" y="5804062"/>
            <a:ext cx="0" cy="288000"/>
          </a:xfrm>
          <a:prstGeom prst="straightConnector1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4" name="直接箭头连接符 53"/>
          <p:cNvCxnSpPr/>
          <p:nvPr/>
        </p:nvCxnSpPr>
        <p:spPr bwMode="auto">
          <a:xfrm>
            <a:off x="2411756" y="5804062"/>
            <a:ext cx="4" cy="288000"/>
          </a:xfrm>
          <a:prstGeom prst="straightConnector1">
            <a:avLst/>
          </a:prstGeom>
          <a:noFill/>
          <a:ln w="19050" cap="flat" cmpd="sng" algn="ctr">
            <a:solidFill>
              <a:srgbClr val="CC33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5" name="直接箭头连接符 54"/>
          <p:cNvCxnSpPr/>
          <p:nvPr/>
        </p:nvCxnSpPr>
        <p:spPr bwMode="auto">
          <a:xfrm>
            <a:off x="4211960" y="5514410"/>
            <a:ext cx="360000" cy="1588"/>
          </a:xfrm>
          <a:prstGeom prst="straightConnector1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56" name="组合 55"/>
          <p:cNvGrpSpPr/>
          <p:nvPr/>
        </p:nvGrpSpPr>
        <p:grpSpPr>
          <a:xfrm>
            <a:off x="5364088" y="5371982"/>
            <a:ext cx="360040" cy="504056"/>
            <a:chOff x="4286248" y="4491575"/>
            <a:chExt cx="360040" cy="504056"/>
          </a:xfrm>
        </p:grpSpPr>
        <p:cxnSp>
          <p:nvCxnSpPr>
            <p:cNvPr id="57" name="直接连接符 56"/>
            <p:cNvCxnSpPr/>
            <p:nvPr/>
          </p:nvCxnSpPr>
          <p:spPr bwMode="auto">
            <a:xfrm>
              <a:off x="4286248" y="4491575"/>
              <a:ext cx="36004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 bwMode="auto">
            <a:xfrm>
              <a:off x="4286248" y="4779607"/>
              <a:ext cx="360040" cy="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 bwMode="auto">
            <a:xfrm>
              <a:off x="4286248" y="4923623"/>
              <a:ext cx="360040" cy="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 bwMode="auto">
            <a:xfrm flipV="1">
              <a:off x="4286248" y="4995631"/>
              <a:ext cx="360040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1" name="组合 60"/>
          <p:cNvGrpSpPr/>
          <p:nvPr/>
        </p:nvGrpSpPr>
        <p:grpSpPr>
          <a:xfrm>
            <a:off x="5652120" y="5516062"/>
            <a:ext cx="1224136" cy="576000"/>
            <a:chOff x="4571430" y="4833886"/>
            <a:chExt cx="1224136" cy="576000"/>
          </a:xfrm>
        </p:grpSpPr>
        <p:cxnSp>
          <p:nvCxnSpPr>
            <p:cNvPr id="62" name="直接连接符 141"/>
            <p:cNvCxnSpPr/>
            <p:nvPr/>
          </p:nvCxnSpPr>
          <p:spPr bwMode="auto">
            <a:xfrm>
              <a:off x="4571430" y="5121886"/>
              <a:ext cx="1152000" cy="288000"/>
            </a:xfrm>
            <a:prstGeom prst="bentConnector3">
              <a:avLst>
                <a:gd name="adj1" fmla="val 99568"/>
              </a:avLst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3" name="直接连接符 141"/>
            <p:cNvCxnSpPr/>
            <p:nvPr/>
          </p:nvCxnSpPr>
          <p:spPr bwMode="auto">
            <a:xfrm>
              <a:off x="4571430" y="5193886"/>
              <a:ext cx="504000" cy="216000"/>
            </a:xfrm>
            <a:prstGeom prst="bentConnector3">
              <a:avLst>
                <a:gd name="adj1" fmla="val 100195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4" name="直接箭头连接符 63"/>
            <p:cNvCxnSpPr/>
            <p:nvPr/>
          </p:nvCxnSpPr>
          <p:spPr bwMode="auto">
            <a:xfrm flipV="1">
              <a:off x="5147494" y="4833886"/>
              <a:ext cx="0" cy="57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5" name="直接箭头连接符 64"/>
            <p:cNvCxnSpPr/>
            <p:nvPr/>
          </p:nvCxnSpPr>
          <p:spPr bwMode="auto">
            <a:xfrm flipH="1" flipV="1">
              <a:off x="5788429" y="4833886"/>
              <a:ext cx="7137" cy="57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cxnSp>
        <p:nvCxnSpPr>
          <p:cNvPr id="66" name="直接连接符 65"/>
          <p:cNvCxnSpPr/>
          <p:nvPr/>
        </p:nvCxnSpPr>
        <p:spPr bwMode="auto">
          <a:xfrm>
            <a:off x="5652120" y="5370394"/>
            <a:ext cx="288000" cy="1588"/>
          </a:xfrm>
          <a:prstGeom prst="line">
            <a:avLst/>
          </a:prstGeom>
          <a:noFill/>
          <a:ln w="12700" cap="flat" cmpd="sng" algn="ctr">
            <a:solidFill>
              <a:srgbClr val="FF3399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67" name="直接箭头连接符 160"/>
          <p:cNvCxnSpPr/>
          <p:nvPr/>
        </p:nvCxnSpPr>
        <p:spPr bwMode="auto">
          <a:xfrm>
            <a:off x="7236296" y="5515997"/>
            <a:ext cx="0" cy="324000"/>
          </a:xfrm>
          <a:prstGeom prst="straightConnector1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39" name="组合 138"/>
          <p:cNvGrpSpPr/>
          <p:nvPr/>
        </p:nvGrpSpPr>
        <p:grpSpPr>
          <a:xfrm>
            <a:off x="5652120" y="5660014"/>
            <a:ext cx="1584176" cy="432048"/>
            <a:chOff x="5220072" y="5445224"/>
            <a:chExt cx="1584176" cy="432048"/>
          </a:xfrm>
        </p:grpSpPr>
        <p:cxnSp>
          <p:nvCxnSpPr>
            <p:cNvPr id="69" name="直接连接符 141"/>
            <p:cNvCxnSpPr/>
            <p:nvPr/>
          </p:nvCxnSpPr>
          <p:spPr bwMode="auto">
            <a:xfrm>
              <a:off x="5220072" y="5445224"/>
              <a:ext cx="1512000" cy="432000"/>
            </a:xfrm>
            <a:prstGeom prst="bentConnector3">
              <a:avLst>
                <a:gd name="adj1" fmla="val 100077"/>
              </a:avLst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70" name="直接箭头连接符 160"/>
            <p:cNvCxnSpPr/>
            <p:nvPr/>
          </p:nvCxnSpPr>
          <p:spPr bwMode="auto">
            <a:xfrm>
              <a:off x="6804248" y="5517272"/>
              <a:ext cx="0" cy="360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38" name="组合 137"/>
          <p:cNvGrpSpPr/>
          <p:nvPr/>
        </p:nvGrpSpPr>
        <p:grpSpPr>
          <a:xfrm>
            <a:off x="4283968" y="4795942"/>
            <a:ext cx="3096344" cy="864000"/>
            <a:chOff x="4139952" y="4581152"/>
            <a:chExt cx="3096344" cy="864000"/>
          </a:xfrm>
        </p:grpSpPr>
        <p:cxnSp>
          <p:nvCxnSpPr>
            <p:cNvPr id="72" name="直接箭头连接符 222"/>
            <p:cNvCxnSpPr/>
            <p:nvPr/>
          </p:nvCxnSpPr>
          <p:spPr bwMode="auto">
            <a:xfrm rot="5400000" flipH="1" flipV="1">
              <a:off x="5328136" y="4977152"/>
              <a:ext cx="648000" cy="288000"/>
            </a:xfrm>
            <a:prstGeom prst="bentConnector3">
              <a:avLst>
                <a:gd name="adj1" fmla="val 100474"/>
              </a:avLst>
            </a:prstGeom>
            <a:noFill/>
            <a:ln w="15875" cap="flat" cmpd="sng" algn="ctr">
              <a:solidFill>
                <a:srgbClr val="CC3300"/>
              </a:solidFill>
              <a:prstDash val="sysDash"/>
              <a:round/>
              <a:headEnd type="oval" w="sm" len="sm"/>
              <a:tailEnd type="triangle"/>
            </a:ln>
            <a:effectLst/>
          </p:spPr>
        </p:cxnSp>
        <p:sp>
          <p:nvSpPr>
            <p:cNvPr id="74" name="Text Box 479"/>
            <p:cNvSpPr txBox="1">
              <a:spLocks noChangeArrowheads="1"/>
            </p:cNvSpPr>
            <p:nvPr/>
          </p:nvSpPr>
          <p:spPr bwMode="auto">
            <a:xfrm>
              <a:off x="4788024" y="4725168"/>
              <a:ext cx="72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转移时</a:t>
              </a:r>
            </a:p>
          </p:txBody>
        </p:sp>
        <p:cxnSp>
          <p:nvCxnSpPr>
            <p:cNvPr id="77" name="直接箭头连接符 222"/>
            <p:cNvCxnSpPr/>
            <p:nvPr/>
          </p:nvCxnSpPr>
          <p:spPr bwMode="auto">
            <a:xfrm flipH="1" flipV="1">
              <a:off x="4139952" y="4581152"/>
              <a:ext cx="3096344" cy="216000"/>
            </a:xfrm>
            <a:prstGeom prst="bentConnector3">
              <a:avLst>
                <a:gd name="adj1" fmla="val -6626"/>
              </a:avLst>
            </a:prstGeom>
            <a:noFill/>
            <a:ln w="19050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37" name="组合 136"/>
          <p:cNvGrpSpPr/>
          <p:nvPr/>
        </p:nvGrpSpPr>
        <p:grpSpPr>
          <a:xfrm>
            <a:off x="2411755" y="5011942"/>
            <a:ext cx="1656189" cy="900096"/>
            <a:chOff x="2267739" y="4797152"/>
            <a:chExt cx="1656189" cy="900096"/>
          </a:xfrm>
        </p:grpSpPr>
        <p:cxnSp>
          <p:nvCxnSpPr>
            <p:cNvPr id="88" name="直接箭头连接符 222"/>
            <p:cNvCxnSpPr/>
            <p:nvPr/>
          </p:nvCxnSpPr>
          <p:spPr bwMode="auto">
            <a:xfrm>
              <a:off x="2915816" y="4797152"/>
              <a:ext cx="251008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5" name="直接箭头连接符 222"/>
            <p:cNvCxnSpPr/>
            <p:nvPr/>
          </p:nvCxnSpPr>
          <p:spPr bwMode="auto">
            <a:xfrm flipH="1">
              <a:off x="2267928" y="4797176"/>
              <a:ext cx="1656000" cy="216000"/>
            </a:xfrm>
            <a:prstGeom prst="bentConnector4">
              <a:avLst>
                <a:gd name="adj1" fmla="val -13509"/>
                <a:gd name="adj2" fmla="val -105175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6" name="直接箭头连接符 222"/>
            <p:cNvCxnSpPr/>
            <p:nvPr/>
          </p:nvCxnSpPr>
          <p:spPr bwMode="auto">
            <a:xfrm rot="5400000" flipH="1" flipV="1">
              <a:off x="2141791" y="4923196"/>
              <a:ext cx="900000" cy="648103"/>
            </a:xfrm>
            <a:prstGeom prst="bentConnector3">
              <a:avLst>
                <a:gd name="adj1" fmla="val -514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</p:grpSp>
      <p:sp>
        <p:nvSpPr>
          <p:cNvPr id="68" name="AutoShape 30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Text Box 63"/>
          <p:cNvSpPr txBox="1">
            <a:spLocks noChangeArrowheads="1"/>
          </p:cNvSpPr>
          <p:nvPr/>
        </p:nvSpPr>
        <p:spPr bwMode="auto">
          <a:xfrm>
            <a:off x="1619672" y="4294257"/>
            <a:ext cx="5886400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按序</a:t>
            </a:r>
            <a:r>
              <a:rPr lang="zh-CN" altLang="en-US" sz="2200" b="1" dirty="0">
                <a:latin typeface="宋体" panose="02010600030101010101" pitchFamily="2" charset="-122"/>
              </a:rPr>
              <a:t>进行相应操作，指令转移时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重写</a:t>
            </a:r>
            <a:r>
              <a:rPr lang="en-US" altLang="zh-CN" sz="2200" b="1" dirty="0">
                <a:latin typeface="宋体" panose="02010600030101010101" pitchFamily="2" charset="-122"/>
              </a:rPr>
              <a:t>PC</a:t>
            </a:r>
          </a:p>
        </p:txBody>
      </p:sp>
      <p:sp>
        <p:nvSpPr>
          <p:cNvPr id="73" name="AutoShape 338"/>
          <p:cNvSpPr/>
          <p:nvPr/>
        </p:nvSpPr>
        <p:spPr bwMode="auto">
          <a:xfrm>
            <a:off x="4499992" y="4005064"/>
            <a:ext cx="1800000" cy="252000"/>
          </a:xfrm>
          <a:prstGeom prst="borderCallout2">
            <a:avLst>
              <a:gd name="adj1" fmla="val 48751"/>
              <a:gd name="adj2" fmla="val 703"/>
              <a:gd name="adj3" fmla="val 48554"/>
              <a:gd name="adj4" fmla="val -19197"/>
              <a:gd name="adj5" fmla="val -46705"/>
              <a:gd name="adj6" fmla="val -27991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algn="ctr"/>
            <a:r>
              <a:rPr lang="zh-CN" altLang="en-US" sz="1600" b="1" dirty="0">
                <a:solidFill>
                  <a:srgbClr val="FF3399"/>
                </a:solidFill>
                <a:latin typeface="+mn-ea"/>
                <a:ea typeface="+mn-ea"/>
                <a:cs typeface="Arial Unicode MS" panose="020B0604020202020204" charset="-122"/>
              </a:rPr>
              <a:t>常</a:t>
            </a:r>
            <a:r>
              <a:rPr lang="zh-CN" altLang="en-US" sz="1600" b="1" dirty="0">
                <a:latin typeface="+mn-ea"/>
                <a:ea typeface="+mn-ea"/>
                <a:cs typeface="Arial Unicode MS" panose="020B0604020202020204" charset="-122"/>
              </a:rPr>
              <a:t>放在取指令阶段</a:t>
            </a:r>
          </a:p>
        </p:txBody>
      </p:sp>
      <p:grpSp>
        <p:nvGrpSpPr>
          <p:cNvPr id="75" name="组合 74"/>
          <p:cNvGrpSpPr/>
          <p:nvPr/>
        </p:nvGrpSpPr>
        <p:grpSpPr>
          <a:xfrm>
            <a:off x="2052056" y="764704"/>
            <a:ext cx="6192352" cy="504056"/>
            <a:chOff x="1907704" y="1340768"/>
            <a:chExt cx="6192352" cy="504056"/>
          </a:xfrm>
        </p:grpSpPr>
        <p:sp>
          <p:nvSpPr>
            <p:cNvPr id="89" name="矩形 88"/>
            <p:cNvSpPr/>
            <p:nvPr/>
          </p:nvSpPr>
          <p:spPr bwMode="auto">
            <a:xfrm>
              <a:off x="1907704" y="1412824"/>
              <a:ext cx="4320000" cy="43200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" name="Text Box 311"/>
            <p:cNvSpPr txBox="1">
              <a:spLocks noChangeArrowheads="1"/>
            </p:cNvSpPr>
            <p:nvPr/>
          </p:nvSpPr>
          <p:spPr bwMode="auto">
            <a:xfrm>
              <a:off x="2051720" y="1484816"/>
              <a:ext cx="1080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取指令</a:t>
              </a:r>
            </a:p>
          </p:txBody>
        </p:sp>
        <p:sp>
          <p:nvSpPr>
            <p:cNvPr id="91" name="Text Box 314"/>
            <p:cNvSpPr txBox="1">
              <a:spLocks noChangeArrowheads="1"/>
            </p:cNvSpPr>
            <p:nvPr/>
          </p:nvSpPr>
          <p:spPr bwMode="auto">
            <a:xfrm>
              <a:off x="3563720" y="1484816"/>
              <a:ext cx="1080000" cy="288000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分析指令</a:t>
              </a:r>
            </a:p>
          </p:txBody>
        </p:sp>
        <p:sp>
          <p:nvSpPr>
            <p:cNvPr id="92" name="Text Box 316"/>
            <p:cNvSpPr txBox="1">
              <a:spLocks noChangeArrowheads="1"/>
            </p:cNvSpPr>
            <p:nvPr/>
          </p:nvSpPr>
          <p:spPr bwMode="auto">
            <a:xfrm>
              <a:off x="5075888" y="1484816"/>
              <a:ext cx="1080000" cy="28800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执行指令</a:t>
              </a:r>
            </a:p>
          </p:txBody>
        </p:sp>
        <p:cxnSp>
          <p:nvCxnSpPr>
            <p:cNvPr id="93" name="直接箭头连接符 92"/>
            <p:cNvCxnSpPr>
              <a:stCxn id="90" idx="3"/>
              <a:endCxn id="91" idx="1"/>
            </p:cNvCxnSpPr>
            <p:nvPr/>
          </p:nvCxnSpPr>
          <p:spPr bwMode="auto">
            <a:xfrm>
              <a:off x="3131720" y="1628816"/>
              <a:ext cx="432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4" name="直接箭头连接符 93"/>
            <p:cNvCxnSpPr>
              <a:stCxn id="91" idx="3"/>
              <a:endCxn id="92" idx="1"/>
            </p:cNvCxnSpPr>
            <p:nvPr/>
          </p:nvCxnSpPr>
          <p:spPr bwMode="auto">
            <a:xfrm>
              <a:off x="4643720" y="1628816"/>
              <a:ext cx="432168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5" name="Text Box 316"/>
            <p:cNvSpPr txBox="1">
              <a:spLocks noChangeArrowheads="1"/>
            </p:cNvSpPr>
            <p:nvPr/>
          </p:nvSpPr>
          <p:spPr bwMode="auto">
            <a:xfrm>
              <a:off x="6588056" y="1340768"/>
              <a:ext cx="1512000" cy="504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rgbClr val="FF3399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计算指令地址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循环处理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6" name="直接箭头连接符 95"/>
            <p:cNvCxnSpPr/>
            <p:nvPr/>
          </p:nvCxnSpPr>
          <p:spPr bwMode="auto">
            <a:xfrm flipV="1">
              <a:off x="6156008" y="1628800"/>
              <a:ext cx="432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7" name="直接箭头连接符 27"/>
            <p:cNvCxnSpPr>
              <a:stCxn id="95" idx="3"/>
              <a:endCxn id="90" idx="1"/>
            </p:cNvCxnSpPr>
            <p:nvPr/>
          </p:nvCxnSpPr>
          <p:spPr bwMode="auto">
            <a:xfrm flipH="1">
              <a:off x="2051720" y="1592768"/>
              <a:ext cx="6048336" cy="36048"/>
            </a:xfrm>
            <a:prstGeom prst="bentConnector5">
              <a:avLst>
                <a:gd name="adj1" fmla="val -3780"/>
                <a:gd name="adj2" fmla="val 884030"/>
                <a:gd name="adj3" fmla="val 104567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99" name="组合 98"/>
          <p:cNvGrpSpPr/>
          <p:nvPr/>
        </p:nvGrpSpPr>
        <p:grpSpPr>
          <a:xfrm>
            <a:off x="2231960" y="1484784"/>
            <a:ext cx="1980000" cy="576064"/>
            <a:chOff x="1547664" y="1340768"/>
            <a:chExt cx="1980000" cy="576064"/>
          </a:xfrm>
        </p:grpSpPr>
        <p:sp>
          <p:nvSpPr>
            <p:cNvPr id="100" name="Text Box 354"/>
            <p:cNvSpPr txBox="1">
              <a:spLocks noChangeArrowheads="1"/>
            </p:cNvSpPr>
            <p:nvPr/>
          </p:nvSpPr>
          <p:spPr bwMode="auto">
            <a:xfrm>
              <a:off x="1547664" y="1340768"/>
              <a:ext cx="697591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加法</a:t>
              </a:r>
            </a:p>
          </p:txBody>
        </p:sp>
        <p:sp>
          <p:nvSpPr>
            <p:cNvPr id="101" name="Text Box 354"/>
            <p:cNvSpPr txBox="1">
              <a:spLocks noChangeArrowheads="1"/>
            </p:cNvSpPr>
            <p:nvPr/>
          </p:nvSpPr>
          <p:spPr bwMode="auto">
            <a:xfrm>
              <a:off x="2245895" y="1340768"/>
              <a:ext cx="86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R[2] 3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2" name="Text Box 354"/>
            <p:cNvSpPr txBox="1">
              <a:spLocks noChangeArrowheads="1"/>
            </p:cNvSpPr>
            <p:nvPr/>
          </p:nvSpPr>
          <p:spPr bwMode="auto">
            <a:xfrm>
              <a:off x="1547664" y="1700808"/>
              <a:ext cx="1008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=0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时转移</a:t>
              </a:r>
            </a:p>
          </p:txBody>
        </p:sp>
        <p:sp>
          <p:nvSpPr>
            <p:cNvPr id="103" name="Text Box 354"/>
            <p:cNvSpPr txBox="1">
              <a:spLocks noChangeArrowheads="1"/>
            </p:cNvSpPr>
            <p:nvPr/>
          </p:nvSpPr>
          <p:spPr bwMode="auto">
            <a:xfrm>
              <a:off x="2555664" y="1700808"/>
              <a:ext cx="97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R[2] 48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04" name="直接连接符 103"/>
            <p:cNvCxnSpPr/>
            <p:nvPr/>
          </p:nvCxnSpPr>
          <p:spPr bwMode="auto">
            <a:xfrm>
              <a:off x="2771294" y="1340768"/>
              <a:ext cx="0" cy="216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5" name="直接连接符 104"/>
            <p:cNvCxnSpPr/>
            <p:nvPr/>
          </p:nvCxnSpPr>
          <p:spPr bwMode="auto">
            <a:xfrm>
              <a:off x="3059214" y="1700832"/>
              <a:ext cx="0" cy="216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50"/>
                            </p:stCondLst>
                            <p:childTnLst>
                              <p:par>
                                <p:cTn id="50" presetID="5" presetClass="entr" presetSubtype="1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5" presetClass="entr" presetSubtype="1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71" grpId="0"/>
      <p:bldP spid="7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Box 374"/>
          <p:cNvSpPr txBox="1">
            <a:spLocks noChangeArrowheads="1"/>
          </p:cNvSpPr>
          <p:nvPr/>
        </p:nvSpPr>
        <p:spPr bwMode="auto">
          <a:xfrm>
            <a:off x="179263" y="332656"/>
            <a:ext cx="8785350" cy="35351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、程序的执行过程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程序执行过程的步骤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准备阶段：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工作方式之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程序存放</a:t>
            </a:r>
            <a:r>
              <a:rPr lang="en-US" altLang="zh-CN" sz="1800" b="1" dirty="0">
                <a:latin typeface="宋体" panose="02010600030101010101" pitchFamily="2" charset="-122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</a:rPr>
              <a:t>由</a:t>
            </a:r>
            <a:r>
              <a:rPr lang="zh-CN" altLang="en-US" sz="1800" b="1" u="sng" dirty="0">
                <a:latin typeface="宋体" panose="02010600030101010101" pitchFamily="2" charset="-122"/>
              </a:rPr>
              <a:t>操作系统</a:t>
            </a:r>
            <a:r>
              <a:rPr lang="zh-CN" altLang="en-US" sz="1800" b="1" dirty="0">
                <a:latin typeface="宋体" panose="02010600030101010101" pitchFamily="2" charset="-122"/>
              </a:rPr>
              <a:t>负责</a:t>
            </a:r>
            <a:r>
              <a:rPr lang="en-US" altLang="zh-CN" sz="1800" b="1" dirty="0">
                <a:latin typeface="宋体" panose="02010600030101010101" pitchFamily="2" charset="-122"/>
              </a:rPr>
              <a:t>])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①</a:t>
            </a:r>
            <a:r>
              <a:rPr lang="zh-CN" altLang="en-US" sz="2200" b="1" dirty="0">
                <a:latin typeface="宋体" panose="02010600030101010101" pitchFamily="2" charset="-122"/>
              </a:rPr>
              <a:t>程序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装入</a:t>
            </a:r>
            <a:r>
              <a:rPr lang="zh-CN" altLang="en-US" sz="2200" b="1" dirty="0">
                <a:latin typeface="宋体" panose="02010600030101010101" pitchFamily="2" charset="-122"/>
              </a:rPr>
              <a:t>主存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假设入口为</a:t>
            </a:r>
            <a:r>
              <a:rPr lang="en-US" altLang="zh-CN" sz="1800" b="1" i="1" dirty="0"/>
              <a:t>y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②设置</a:t>
            </a:r>
            <a:r>
              <a:rPr lang="zh-CN" altLang="en-US" sz="2200" b="1" dirty="0">
                <a:latin typeface="宋体" panose="02010600030101010101" pitchFamily="2" charset="-122"/>
              </a:rPr>
              <a:t>程序入口地址</a:t>
            </a:r>
            <a:r>
              <a:rPr lang="en-US" altLang="zh-CN" sz="1800" b="1" dirty="0">
                <a:latin typeface="宋体" panose="02010600030101010101" pitchFamily="2" charset="-122"/>
              </a:rPr>
              <a:t>(PC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b="1" i="1" dirty="0"/>
              <a:t>y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执行阶段：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工作方式之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程序执行</a:t>
            </a:r>
            <a:r>
              <a:rPr lang="en-US" altLang="zh-CN" sz="1800" b="1" dirty="0">
                <a:latin typeface="宋体" panose="02010600030101010101" pitchFamily="2" charset="-122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</a:rPr>
              <a:t>由</a:t>
            </a:r>
            <a:r>
              <a:rPr lang="en-US" altLang="zh-CN" sz="1800" b="1" dirty="0">
                <a:latin typeface="宋体" panose="02010600030101010101" pitchFamily="2" charset="-122"/>
              </a:rPr>
              <a:t>CPU</a:t>
            </a:r>
            <a:r>
              <a:rPr lang="zh-CN" altLang="en-US" sz="1800" b="1" dirty="0">
                <a:latin typeface="宋体" panose="02010600030101010101" pitchFamily="2" charset="-122"/>
              </a:rPr>
              <a:t>控制实现</a:t>
            </a:r>
            <a:r>
              <a:rPr lang="en-US" altLang="zh-CN" sz="1800" b="1" dirty="0">
                <a:latin typeface="宋体" panose="02010600030101010101" pitchFamily="2" charset="-122"/>
              </a:rPr>
              <a:t>])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①取指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b="1" dirty="0">
                <a:latin typeface="宋体" panose="02010600030101010101" pitchFamily="2" charset="-122"/>
              </a:rPr>
              <a:t>(PC)→MEM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读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</a:rPr>
              <a:t>→IR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(PC)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＋</a:t>
            </a:r>
            <a:r>
              <a:rPr lang="zh-CN" altLang="en-US" sz="2200" b="1" dirty="0">
                <a:solidFill>
                  <a:srgbClr val="990099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solidFill>
                  <a:srgbClr val="990099"/>
                </a:solidFill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→PC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②分析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b="1" dirty="0">
                <a:latin typeface="宋体" panose="02010600030101010101" pitchFamily="2" charset="-122"/>
              </a:rPr>
              <a:t>(IR)→ID→</a:t>
            </a:r>
            <a:r>
              <a:rPr lang="zh-CN" altLang="en-US" sz="2200" b="1" u="sng" dirty="0">
                <a:latin typeface="宋体" panose="02010600030101010101" pitchFamily="2" charset="-122"/>
              </a:rPr>
              <a:t>按序产生</a:t>
            </a:r>
            <a:r>
              <a:rPr lang="zh-CN" altLang="en-US" sz="2200" b="1" dirty="0">
                <a:latin typeface="宋体" panose="02010600030101010101" pitchFamily="2" charset="-122"/>
              </a:rPr>
              <a:t>指令所需操作控制信号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③执行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实现指令约定操作，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指令转移时重写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PC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转①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32</a:t>
            </a:fld>
            <a:endParaRPr lang="en-US" altLang="zh-CN"/>
          </a:p>
        </p:txBody>
      </p:sp>
      <p:sp>
        <p:nvSpPr>
          <p:cNvPr id="43" name="Text Box 4"/>
          <p:cNvSpPr txBox="1">
            <a:spLocks noChangeArrowheads="1"/>
          </p:cNvSpPr>
          <p:nvPr/>
        </p:nvSpPr>
        <p:spPr bwMode="auto">
          <a:xfrm>
            <a:off x="1025748" y="5481707"/>
            <a:ext cx="2340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marL="990600" indent="-990600">
              <a:lnSpc>
                <a:spcPct val="90000"/>
              </a:lnSpc>
            </a:pP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思考：</a:t>
            </a:r>
            <a:r>
              <a:rPr lang="zh-CN" altLang="en-US" sz="1800" b="1" dirty="0">
                <a:latin typeface="宋体" panose="02010600030101010101" pitchFamily="2" charset="-122"/>
              </a:rPr>
              <a:t>转①如何实现？</a:t>
            </a:r>
            <a:endParaRPr lang="zh-CN" altLang="en-US" sz="18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1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1404302" y="4005064"/>
            <a:ext cx="6408058" cy="1236893"/>
            <a:chOff x="1187752" y="4509072"/>
            <a:chExt cx="6408058" cy="1236893"/>
          </a:xfrm>
        </p:grpSpPr>
        <p:sp>
          <p:nvSpPr>
            <p:cNvPr id="48" name="Text Box 119"/>
            <p:cNvSpPr txBox="1">
              <a:spLocks noChangeArrowheads="1"/>
            </p:cNvSpPr>
            <p:nvPr/>
          </p:nvSpPr>
          <p:spPr bwMode="auto">
            <a:xfrm>
              <a:off x="6227810" y="5085184"/>
              <a:ext cx="1224000" cy="216000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功能部件</a:t>
              </a:r>
            </a:p>
          </p:txBody>
        </p:sp>
        <p:sp>
          <p:nvSpPr>
            <p:cNvPr id="49" name="Text Box 113"/>
            <p:cNvSpPr txBox="1">
              <a:spLocks noChangeArrowheads="1"/>
            </p:cNvSpPr>
            <p:nvPr/>
          </p:nvSpPr>
          <p:spPr bwMode="auto">
            <a:xfrm>
              <a:off x="1979792" y="5013200"/>
              <a:ext cx="72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52" name="Text Box 115"/>
            <p:cNvSpPr txBox="1">
              <a:spLocks noChangeArrowheads="1"/>
            </p:cNvSpPr>
            <p:nvPr/>
          </p:nvSpPr>
          <p:spPr bwMode="auto">
            <a:xfrm>
              <a:off x="4932040" y="4665837"/>
              <a:ext cx="288000" cy="864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53" name="Text Box 120"/>
            <p:cNvSpPr txBox="1">
              <a:spLocks noChangeArrowheads="1"/>
            </p:cNvSpPr>
            <p:nvPr/>
          </p:nvSpPr>
          <p:spPr bwMode="auto">
            <a:xfrm>
              <a:off x="2627784" y="4653160"/>
              <a:ext cx="719138" cy="216000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  <a:cs typeface="Arial Unicode MS" panose="020B0604020202020204" charset="-122"/>
                </a:rPr>
                <a:t>＋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endParaRPr lang="en-US" altLang="zh-CN" sz="1600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sp>
          <p:nvSpPr>
            <p:cNvPr id="54" name="Text Box 129"/>
            <p:cNvSpPr txBox="1">
              <a:spLocks noChangeArrowheads="1"/>
            </p:cNvSpPr>
            <p:nvPr/>
          </p:nvSpPr>
          <p:spPr bwMode="auto">
            <a:xfrm>
              <a:off x="3923928" y="5013200"/>
              <a:ext cx="72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57" name="Text Box 133"/>
            <p:cNvSpPr txBox="1">
              <a:spLocks noChangeArrowheads="1"/>
            </p:cNvSpPr>
            <p:nvPr/>
          </p:nvSpPr>
          <p:spPr bwMode="auto">
            <a:xfrm>
              <a:off x="1187752" y="4689160"/>
              <a:ext cx="115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400" b="1" dirty="0">
                  <a:latin typeface="宋体" panose="02010600030101010101" pitchFamily="2" charset="-122"/>
                </a:rPr>
                <a:t>下条指令地址</a:t>
              </a:r>
            </a:p>
          </p:txBody>
        </p:sp>
        <p:sp>
          <p:nvSpPr>
            <p:cNvPr id="59" name="Text Box 134"/>
            <p:cNvSpPr txBox="1">
              <a:spLocks noChangeArrowheads="1"/>
            </p:cNvSpPr>
            <p:nvPr/>
          </p:nvSpPr>
          <p:spPr bwMode="auto">
            <a:xfrm>
              <a:off x="1187752" y="5265224"/>
              <a:ext cx="115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400" b="1" dirty="0">
                  <a:latin typeface="宋体" panose="02010600030101010101" pitchFamily="2" charset="-122"/>
                </a:rPr>
                <a:t>当前指令地址</a:t>
              </a:r>
            </a:p>
          </p:txBody>
        </p:sp>
        <p:sp>
          <p:nvSpPr>
            <p:cNvPr id="60" name="Text Box 135"/>
            <p:cNvSpPr txBox="1">
              <a:spLocks noChangeArrowheads="1"/>
            </p:cNvSpPr>
            <p:nvPr/>
          </p:nvSpPr>
          <p:spPr bwMode="auto">
            <a:xfrm>
              <a:off x="3131840" y="5265224"/>
              <a:ext cx="115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400" b="1" dirty="0">
                  <a:latin typeface="宋体" panose="02010600030101010101" pitchFamily="2" charset="-122"/>
                </a:rPr>
                <a:t>当前指令内容</a:t>
              </a:r>
            </a:p>
          </p:txBody>
        </p:sp>
        <p:cxnSp>
          <p:nvCxnSpPr>
            <p:cNvPr id="61" name="直接箭头连接符 60"/>
            <p:cNvCxnSpPr/>
            <p:nvPr/>
          </p:nvCxnSpPr>
          <p:spPr bwMode="auto">
            <a:xfrm>
              <a:off x="2339751" y="5229224"/>
              <a:ext cx="1" cy="28800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2" name="直接箭头连接符 41"/>
            <p:cNvCxnSpPr/>
            <p:nvPr/>
          </p:nvCxnSpPr>
          <p:spPr bwMode="auto">
            <a:xfrm rot="10800000">
              <a:off x="2340246" y="4509072"/>
              <a:ext cx="648000" cy="144064"/>
            </a:xfrm>
            <a:prstGeom prst="bentConnector3">
              <a:avLst>
                <a:gd name="adj1" fmla="val 350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3" name="直接箭头连接符 44"/>
            <p:cNvCxnSpPr/>
            <p:nvPr/>
          </p:nvCxnSpPr>
          <p:spPr bwMode="auto">
            <a:xfrm flipV="1">
              <a:off x="2339776" y="4869216"/>
              <a:ext cx="647130" cy="504000"/>
            </a:xfrm>
            <a:prstGeom prst="bentConnector2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64" name="直接箭头连接符 63"/>
            <p:cNvCxnSpPr/>
            <p:nvPr/>
          </p:nvCxnSpPr>
          <p:spPr bwMode="auto">
            <a:xfrm flipV="1">
              <a:off x="4283968" y="5229232"/>
              <a:ext cx="248" cy="28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5" name="直接箭头连接符 64"/>
            <p:cNvCxnSpPr/>
            <p:nvPr/>
          </p:nvCxnSpPr>
          <p:spPr bwMode="auto">
            <a:xfrm>
              <a:off x="4643928" y="5157192"/>
              <a:ext cx="288112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3" name="直接箭头连接符 72"/>
            <p:cNvCxnSpPr/>
            <p:nvPr/>
          </p:nvCxnSpPr>
          <p:spPr bwMode="auto">
            <a:xfrm>
              <a:off x="5220072" y="5229200"/>
              <a:ext cx="100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9" name="直接箭头连接符 88"/>
            <p:cNvCxnSpPr/>
            <p:nvPr/>
          </p:nvCxnSpPr>
          <p:spPr bwMode="auto">
            <a:xfrm flipV="1">
              <a:off x="6588570" y="5301208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0" name="直接箭头连接符 89"/>
            <p:cNvCxnSpPr/>
            <p:nvPr/>
          </p:nvCxnSpPr>
          <p:spPr bwMode="auto">
            <a:xfrm flipV="1">
              <a:off x="6732586" y="5301208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1" name="直接箭头连接符 90"/>
            <p:cNvCxnSpPr/>
            <p:nvPr/>
          </p:nvCxnSpPr>
          <p:spPr bwMode="auto">
            <a:xfrm>
              <a:off x="7164634" y="5301208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2" name="Text Box 354"/>
            <p:cNvSpPr txBox="1">
              <a:spLocks noChangeArrowheads="1"/>
            </p:cNvSpPr>
            <p:nvPr/>
          </p:nvSpPr>
          <p:spPr bwMode="auto">
            <a:xfrm>
              <a:off x="1980928" y="5529965"/>
              <a:ext cx="2664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存储器</a:t>
              </a:r>
            </a:p>
          </p:txBody>
        </p:sp>
        <p:sp>
          <p:nvSpPr>
            <p:cNvPr id="93" name="Text Box 354"/>
            <p:cNvSpPr txBox="1">
              <a:spLocks noChangeArrowheads="1"/>
            </p:cNvSpPr>
            <p:nvPr/>
          </p:nvSpPr>
          <p:spPr bwMode="auto">
            <a:xfrm>
              <a:off x="6231946" y="5529965"/>
              <a:ext cx="720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94" name="Text Box 354"/>
            <p:cNvSpPr txBox="1">
              <a:spLocks noChangeArrowheads="1"/>
            </p:cNvSpPr>
            <p:nvPr/>
          </p:nvSpPr>
          <p:spPr bwMode="auto">
            <a:xfrm>
              <a:off x="6948610" y="5529965"/>
              <a:ext cx="50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95" name="Text Box 354"/>
            <p:cNvSpPr txBox="1">
              <a:spLocks noChangeArrowheads="1"/>
            </p:cNvSpPr>
            <p:nvPr/>
          </p:nvSpPr>
          <p:spPr bwMode="auto">
            <a:xfrm>
              <a:off x="6227810" y="5529933"/>
              <a:ext cx="1224000" cy="216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存储器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/REGs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6" name="直接连接符 141"/>
            <p:cNvCxnSpPr/>
            <p:nvPr/>
          </p:nvCxnSpPr>
          <p:spPr bwMode="auto">
            <a:xfrm>
              <a:off x="5220530" y="5517232"/>
              <a:ext cx="100800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7" name="Text Box 127"/>
            <p:cNvSpPr txBox="1">
              <a:spLocks noChangeArrowheads="1"/>
            </p:cNvSpPr>
            <p:nvPr/>
          </p:nvSpPr>
          <p:spPr bwMode="auto">
            <a:xfrm>
              <a:off x="6227810" y="4797152"/>
              <a:ext cx="1368000" cy="216000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地址计算部件</a:t>
              </a:r>
            </a:p>
          </p:txBody>
        </p:sp>
        <p:sp>
          <p:nvSpPr>
            <p:cNvPr id="98" name="Text Box 130"/>
            <p:cNvSpPr txBox="1">
              <a:spLocks noChangeArrowheads="1"/>
            </p:cNvSpPr>
            <p:nvPr/>
          </p:nvSpPr>
          <p:spPr bwMode="auto">
            <a:xfrm>
              <a:off x="5220522" y="4725168"/>
              <a:ext cx="93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400" b="1" dirty="0">
                  <a:latin typeface="宋体" panose="02010600030101010101" pitchFamily="2" charset="-122"/>
                </a:rPr>
                <a:t>转移型指令</a:t>
              </a:r>
            </a:p>
          </p:txBody>
        </p:sp>
        <p:cxnSp>
          <p:nvCxnSpPr>
            <p:cNvPr id="99" name="直接箭头连接符 98"/>
            <p:cNvCxnSpPr/>
            <p:nvPr/>
          </p:nvCxnSpPr>
          <p:spPr bwMode="auto">
            <a:xfrm flipV="1">
              <a:off x="5220072" y="4941168"/>
              <a:ext cx="100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1" name="直接连接符 141"/>
            <p:cNvCxnSpPr/>
            <p:nvPr/>
          </p:nvCxnSpPr>
          <p:spPr bwMode="auto">
            <a:xfrm>
              <a:off x="5220418" y="5445240"/>
              <a:ext cx="100800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4" name="直接连接符 141"/>
            <p:cNvCxnSpPr/>
            <p:nvPr/>
          </p:nvCxnSpPr>
          <p:spPr bwMode="auto">
            <a:xfrm>
              <a:off x="7092626" y="5409232"/>
              <a:ext cx="0" cy="10800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5" name="直接连接符 141"/>
            <p:cNvCxnSpPr/>
            <p:nvPr/>
          </p:nvCxnSpPr>
          <p:spPr bwMode="auto">
            <a:xfrm>
              <a:off x="5220418" y="5409232"/>
              <a:ext cx="187220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6" name="直接箭头连接符 105"/>
            <p:cNvCxnSpPr/>
            <p:nvPr/>
          </p:nvCxnSpPr>
          <p:spPr bwMode="auto">
            <a:xfrm>
              <a:off x="2339752" y="4509176"/>
              <a:ext cx="40" cy="50400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07" name="组合 106"/>
          <p:cNvGrpSpPr/>
          <p:nvPr/>
        </p:nvGrpSpPr>
        <p:grpSpPr>
          <a:xfrm>
            <a:off x="3203905" y="4005112"/>
            <a:ext cx="4464901" cy="300701"/>
            <a:chOff x="2267995" y="4437107"/>
            <a:chExt cx="4464901" cy="300701"/>
          </a:xfrm>
        </p:grpSpPr>
        <p:sp>
          <p:nvSpPr>
            <p:cNvPr id="108" name="Text Box 140"/>
            <p:cNvSpPr txBox="1">
              <a:spLocks noChangeArrowheads="1"/>
            </p:cNvSpPr>
            <p:nvPr/>
          </p:nvSpPr>
          <p:spPr bwMode="auto">
            <a:xfrm>
              <a:off x="6156896" y="4449832"/>
              <a:ext cx="57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转移时</a:t>
              </a:r>
            </a:p>
          </p:txBody>
        </p:sp>
        <p:cxnSp>
          <p:nvCxnSpPr>
            <p:cNvPr id="109" name="直接箭头连接符 41"/>
            <p:cNvCxnSpPr/>
            <p:nvPr/>
          </p:nvCxnSpPr>
          <p:spPr bwMode="auto">
            <a:xfrm flipH="1" flipV="1">
              <a:off x="2267995" y="4437107"/>
              <a:ext cx="388800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0" name="直接箭头连接符 41"/>
            <p:cNvCxnSpPr/>
            <p:nvPr/>
          </p:nvCxnSpPr>
          <p:spPr bwMode="auto">
            <a:xfrm flipV="1">
              <a:off x="6156895" y="4449808"/>
              <a:ext cx="1" cy="28800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3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456304" y="5435968"/>
            <a:ext cx="5580191" cy="61214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18000" tIns="10800" rIns="18000" bIns="10800" anchor="t" anchorCtr="0">
            <a:noAutofit/>
          </a:bodyPr>
          <a:lstStyle/>
          <a:p>
            <a:pPr marL="990600" indent="-990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时序信号形成部件产生的</a:t>
            </a:r>
            <a:r>
              <a:rPr lang="zh-CN" altLang="en-US" sz="1800" b="1" u="sng" dirty="0">
                <a:solidFill>
                  <a:schemeClr val="tx1"/>
                </a:solidFill>
                <a:latin typeface="宋体" panose="02010600030101010101" pitchFamily="2" charset="-122"/>
              </a:rPr>
              <a:t>时序信号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是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周期性的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；</a:t>
            </a:r>
          </a:p>
          <a:p>
            <a:pPr marL="990600" indent="-990600">
              <a:lnSpc>
                <a:spcPct val="100000"/>
              </a:lnSpc>
              <a:spcBef>
                <a:spcPts val="300"/>
              </a:spcBef>
            </a:pP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操作控制信号的</a:t>
            </a:r>
            <a:r>
              <a:rPr lang="zh-CN" altLang="en-US" sz="18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逻辑函数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＝操作需求逻辑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•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某时序信号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bldLvl="0" animBg="1"/>
      <p:bldP spid="3" grpId="0" bldLvl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31394-182B-479F-95CC-F41E63C6F1B6}" type="slidenum">
              <a:rPr lang="en-US" altLang="zh-CN"/>
              <a:t>33</a:t>
            </a:fld>
            <a:endParaRPr lang="en-US" altLang="zh-CN" dirty="0"/>
          </a:p>
        </p:txBody>
      </p:sp>
      <p:sp>
        <p:nvSpPr>
          <p:cNvPr id="209526" name="Text Box 630"/>
          <p:cNvSpPr txBox="1">
            <a:spLocks noChangeArrowheads="1"/>
          </p:cNvSpPr>
          <p:nvPr/>
        </p:nvSpPr>
        <p:spPr bwMode="auto">
          <a:xfrm>
            <a:off x="179388" y="332656"/>
            <a:ext cx="7056908" cy="3034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程序执行过程示例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*模型机指令系统：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*模型机结构：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90" name="AutoShape 711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1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18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2" name="AutoShape 62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aphicFrame>
        <p:nvGraphicFramePr>
          <p:cNvPr id="83" name="Group 2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025038"/>
              </p:ext>
            </p:extLst>
          </p:nvPr>
        </p:nvGraphicFramePr>
        <p:xfrm>
          <a:off x="1043608" y="1268760"/>
          <a:ext cx="7200800" cy="1577304"/>
        </p:xfrm>
        <a:graphic>
          <a:graphicData uri="http://schemas.openxmlformats.org/drawingml/2006/table">
            <a:tbl>
              <a:tblPr/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指令系统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指令名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指令功能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功能说明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72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取数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AC←M[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maddr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取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MEM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maddr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单元内容到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86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存数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maddr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←(AC)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将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内容存到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MEM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maddr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单元中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1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加法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AC←(AC)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M[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maddr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]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将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AC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内容与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MEM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</a:t>
                      </a: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maddr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单元内容相加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1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停机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停机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程序执行结束</a:t>
                      </a: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16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8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注：</a:t>
                      </a:r>
                      <a:r>
                        <a:rPr kumimoji="0" lang="en-US" altLang="zh-CN" sz="18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AC—</a:t>
                      </a:r>
                      <a:r>
                        <a:rPr kumimoji="0" lang="zh-CN" altLang="en-US" sz="1800" b="1" dirty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称为累加器，既存放源操作数、又存放目的操作数的寄存器</a:t>
                      </a:r>
                      <a:endParaRPr kumimoji="0" lang="en-US" altLang="zh-CN" sz="1800" b="1" dirty="0">
                        <a:latin typeface="宋体" panose="02010600030101010101" pitchFamily="2" charset="-122"/>
                      </a:endParaRPr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4" name="AutoShape 9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190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5" name="组合 84"/>
          <p:cNvGrpSpPr/>
          <p:nvPr/>
        </p:nvGrpSpPr>
        <p:grpSpPr>
          <a:xfrm>
            <a:off x="1043608" y="3356992"/>
            <a:ext cx="6985868" cy="2520248"/>
            <a:chOff x="1115616" y="1268760"/>
            <a:chExt cx="6985868" cy="2520248"/>
          </a:xfrm>
        </p:grpSpPr>
        <p:sp>
          <p:nvSpPr>
            <p:cNvPr id="88" name="AutoShape 702"/>
            <p:cNvSpPr>
              <a:spLocks noChangeArrowheads="1"/>
            </p:cNvSpPr>
            <p:nvPr/>
          </p:nvSpPr>
          <p:spPr bwMode="auto">
            <a:xfrm rot="10800000">
              <a:off x="1336063" y="1556792"/>
              <a:ext cx="863600" cy="288000"/>
            </a:xfrm>
            <a:custGeom>
              <a:avLst/>
              <a:gdLst>
                <a:gd name="G0" fmla="+- 3811 0 0"/>
                <a:gd name="G1" fmla="+- 21600 0 3811"/>
                <a:gd name="G2" fmla="*/ 3811 1 2"/>
                <a:gd name="G3" fmla="+- 21600 0 G2"/>
                <a:gd name="G4" fmla="+/ 3811 21600 2"/>
                <a:gd name="G5" fmla="+/ G1 0 2"/>
                <a:gd name="G6" fmla="*/ 21600 21600 3811"/>
                <a:gd name="G7" fmla="*/ G6 1 2"/>
                <a:gd name="G8" fmla="+- 21600 0 G7"/>
                <a:gd name="G9" fmla="*/ 21600 1 2"/>
                <a:gd name="G10" fmla="+- 3811 0 G9"/>
                <a:gd name="G11" fmla="?: G10 G8 0"/>
                <a:gd name="G12" fmla="?: G10 G7 21600"/>
                <a:gd name="T0" fmla="*/ 19694 w 21600"/>
                <a:gd name="T1" fmla="*/ 10800 h 21600"/>
                <a:gd name="T2" fmla="*/ 10800 w 21600"/>
                <a:gd name="T3" fmla="*/ 21600 h 21600"/>
                <a:gd name="T4" fmla="*/ 1906 w 21600"/>
                <a:gd name="T5" fmla="*/ 10800 h 21600"/>
                <a:gd name="T6" fmla="*/ 10800 w 21600"/>
                <a:gd name="T7" fmla="*/ 0 h 21600"/>
                <a:gd name="T8" fmla="*/ 3706 w 21600"/>
                <a:gd name="T9" fmla="*/ 3706 h 21600"/>
                <a:gd name="T10" fmla="*/ 17894 w 21600"/>
                <a:gd name="T11" fmla="*/ 17894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3811" y="21600"/>
                  </a:lnTo>
                  <a:lnTo>
                    <a:pt x="17789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99CC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Text Box 638"/>
            <p:cNvSpPr txBox="1">
              <a:spLocks noChangeArrowheads="1"/>
            </p:cNvSpPr>
            <p:nvPr/>
          </p:nvSpPr>
          <p:spPr bwMode="auto">
            <a:xfrm>
              <a:off x="1115616" y="2852936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/>
            <a:lstStyle/>
            <a:p>
              <a:pPr algn="ctr"/>
              <a:r>
                <a:rPr kumimoji="0"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CPU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93" name="Rectangle 641"/>
            <p:cNvSpPr>
              <a:spLocks noChangeArrowheads="1"/>
            </p:cNvSpPr>
            <p:nvPr/>
          </p:nvSpPr>
          <p:spPr bwMode="auto">
            <a:xfrm>
              <a:off x="1259632" y="1336550"/>
              <a:ext cx="1512000" cy="1440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prstDash val="sysDash"/>
              <a:miter lim="800000"/>
            </a:ln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94" name="Text Box 642"/>
            <p:cNvSpPr txBox="1">
              <a:spLocks noChangeArrowheads="1"/>
            </p:cNvSpPr>
            <p:nvPr/>
          </p:nvSpPr>
          <p:spPr bwMode="auto">
            <a:xfrm>
              <a:off x="3131896" y="3213000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Addr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6" name="Text Box 643"/>
            <p:cNvSpPr txBox="1">
              <a:spLocks noChangeArrowheads="1"/>
            </p:cNvSpPr>
            <p:nvPr/>
          </p:nvSpPr>
          <p:spPr bwMode="auto">
            <a:xfrm>
              <a:off x="1907760" y="3213000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Data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7" name="Text Box 644"/>
            <p:cNvSpPr txBox="1">
              <a:spLocks noChangeArrowheads="1"/>
            </p:cNvSpPr>
            <p:nvPr/>
          </p:nvSpPr>
          <p:spPr bwMode="auto">
            <a:xfrm>
              <a:off x="4431974" y="3213000"/>
              <a:ext cx="504000" cy="216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Cmd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8" name="Text Box 647"/>
            <p:cNvSpPr txBox="1">
              <a:spLocks noChangeArrowheads="1"/>
            </p:cNvSpPr>
            <p:nvPr/>
          </p:nvSpPr>
          <p:spPr bwMode="auto">
            <a:xfrm>
              <a:off x="4716016" y="1484784"/>
              <a:ext cx="216000" cy="288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rgbClr val="FF3399"/>
                  </a:solidFill>
                </a:rPr>
                <a:t>…</a:t>
              </a:r>
            </a:p>
          </p:txBody>
        </p:sp>
        <p:sp>
          <p:nvSpPr>
            <p:cNvPr id="99" name="Text Box 648"/>
            <p:cNvSpPr txBox="1">
              <a:spLocks noChangeArrowheads="1"/>
            </p:cNvSpPr>
            <p:nvPr/>
          </p:nvSpPr>
          <p:spPr bwMode="auto">
            <a:xfrm>
              <a:off x="3707904" y="1412776"/>
              <a:ext cx="936000" cy="504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控制信号形成部件</a:t>
              </a:r>
              <a:endParaRPr kumimoji="0"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0" name="Text Box 650"/>
            <p:cNvSpPr txBox="1">
              <a:spLocks noChangeArrowheads="1"/>
            </p:cNvSpPr>
            <p:nvPr/>
          </p:nvSpPr>
          <p:spPr bwMode="auto">
            <a:xfrm>
              <a:off x="2987880" y="1412776"/>
              <a:ext cx="504000" cy="504000"/>
            </a:xfrm>
            <a:prstGeom prst="rect">
              <a:avLst/>
            </a:prstGeom>
            <a:solidFill>
              <a:schemeClr val="hlink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时序部件</a:t>
              </a:r>
              <a:endParaRPr kumimoji="0"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1" name="Text Box 654"/>
            <p:cNvSpPr txBox="1">
              <a:spLocks noChangeArrowheads="1"/>
            </p:cNvSpPr>
            <p:nvPr/>
          </p:nvSpPr>
          <p:spPr bwMode="auto">
            <a:xfrm>
              <a:off x="3995984" y="2060848"/>
              <a:ext cx="432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102" name="Text Box 659"/>
            <p:cNvSpPr txBox="1">
              <a:spLocks noChangeArrowheads="1"/>
            </p:cNvSpPr>
            <p:nvPr/>
          </p:nvSpPr>
          <p:spPr bwMode="auto">
            <a:xfrm>
              <a:off x="2200158" y="2420888"/>
              <a:ext cx="504000" cy="216000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/>
              <a:r>
                <a:rPr kumimoji="0"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+</a:t>
              </a:r>
              <a:r>
                <a:rPr lang="zh-CN" altLang="en-US" sz="18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8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zh-CN" altLang="en-US" sz="18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endParaRPr kumimoji="0" lang="en-US" altLang="zh-CN" sz="1800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sp>
          <p:nvSpPr>
            <p:cNvPr id="104" name="Text Box 673"/>
            <p:cNvSpPr txBox="1">
              <a:spLocks noChangeArrowheads="1"/>
            </p:cNvSpPr>
            <p:nvPr/>
          </p:nvSpPr>
          <p:spPr bwMode="auto">
            <a:xfrm>
              <a:off x="1696474" y="1988840"/>
              <a:ext cx="576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AC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5" name="Text Box 674"/>
            <p:cNvSpPr txBox="1">
              <a:spLocks noChangeArrowheads="1"/>
            </p:cNvSpPr>
            <p:nvPr/>
          </p:nvSpPr>
          <p:spPr bwMode="auto">
            <a:xfrm>
              <a:off x="1552086" y="1556792"/>
              <a:ext cx="452438" cy="24606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/>
            <a:lstStyle/>
            <a:p>
              <a:pPr algn="ctr"/>
              <a:r>
                <a:rPr kumimoji="0"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ALU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6" name="Text Box 681"/>
            <p:cNvSpPr txBox="1">
              <a:spLocks noChangeArrowheads="1"/>
            </p:cNvSpPr>
            <p:nvPr/>
          </p:nvSpPr>
          <p:spPr bwMode="auto">
            <a:xfrm>
              <a:off x="4067944" y="2420888"/>
              <a:ext cx="576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IR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4" name="Text Box 682"/>
            <p:cNvSpPr txBox="1">
              <a:spLocks noChangeArrowheads="1"/>
            </p:cNvSpPr>
            <p:nvPr/>
          </p:nvSpPr>
          <p:spPr bwMode="auto">
            <a:xfrm>
              <a:off x="3205347" y="2420888"/>
              <a:ext cx="576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PC</a:t>
              </a:r>
              <a:endParaRPr kumimoji="0"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0" name="Text Box 704"/>
            <p:cNvSpPr txBox="1">
              <a:spLocks noChangeArrowheads="1"/>
            </p:cNvSpPr>
            <p:nvPr/>
          </p:nvSpPr>
          <p:spPr bwMode="auto">
            <a:xfrm>
              <a:off x="3491880" y="1520816"/>
              <a:ext cx="180000" cy="252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rgbClr val="990099"/>
                  </a:solidFill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121" name="直接箭头连接符 120"/>
            <p:cNvCxnSpPr/>
            <p:nvPr/>
          </p:nvCxnSpPr>
          <p:spPr bwMode="auto">
            <a:xfrm>
              <a:off x="2056142" y="2780944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2" name="直接箭头连接符 121"/>
            <p:cNvCxnSpPr/>
            <p:nvPr/>
          </p:nvCxnSpPr>
          <p:spPr bwMode="auto">
            <a:xfrm rot="5400000">
              <a:off x="3421236" y="2851572"/>
              <a:ext cx="142082" cy="794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3" name="直接箭头连接符 122"/>
            <p:cNvCxnSpPr/>
            <p:nvPr/>
          </p:nvCxnSpPr>
          <p:spPr bwMode="auto">
            <a:xfrm rot="5400000">
              <a:off x="4284539" y="2852365"/>
              <a:ext cx="142876" cy="2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4" name="直接箭头连接符 123"/>
            <p:cNvCxnSpPr/>
            <p:nvPr/>
          </p:nvCxnSpPr>
          <p:spPr bwMode="auto">
            <a:xfrm rot="5400000">
              <a:off x="4718174" y="2852366"/>
              <a:ext cx="142876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25" name="直接箭头连接符 124"/>
            <p:cNvCxnSpPr/>
            <p:nvPr/>
          </p:nvCxnSpPr>
          <p:spPr bwMode="auto">
            <a:xfrm>
              <a:off x="3491880" y="1484784"/>
              <a:ext cx="214314" cy="1588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6" name="直接箭头连接符 125"/>
            <p:cNvCxnSpPr/>
            <p:nvPr/>
          </p:nvCxnSpPr>
          <p:spPr bwMode="auto">
            <a:xfrm>
              <a:off x="3491880" y="1772816"/>
              <a:ext cx="214314" cy="1588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7" name="直接箭头连接符 126"/>
            <p:cNvCxnSpPr/>
            <p:nvPr/>
          </p:nvCxnSpPr>
          <p:spPr bwMode="auto">
            <a:xfrm>
              <a:off x="4644008" y="1483196"/>
              <a:ext cx="285752" cy="1588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8" name="直接箭头连接符 127"/>
            <p:cNvCxnSpPr/>
            <p:nvPr/>
          </p:nvCxnSpPr>
          <p:spPr bwMode="auto">
            <a:xfrm>
              <a:off x="4644008" y="1772816"/>
              <a:ext cx="285752" cy="1588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9" name="直接箭头连接符 128"/>
            <p:cNvCxnSpPr/>
            <p:nvPr/>
          </p:nvCxnSpPr>
          <p:spPr bwMode="auto">
            <a:xfrm rot="5400000" flipH="1" flipV="1">
              <a:off x="4139728" y="1987476"/>
              <a:ext cx="142876" cy="1588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0" name="直接箭头连接符 208"/>
            <p:cNvCxnSpPr/>
            <p:nvPr/>
          </p:nvCxnSpPr>
          <p:spPr bwMode="auto">
            <a:xfrm rot="5400000" flipH="1" flipV="1">
              <a:off x="3131840" y="2420888"/>
              <a:ext cx="360000" cy="360000"/>
            </a:xfrm>
            <a:prstGeom prst="bentConnector3">
              <a:avLst>
                <a:gd name="adj1" fmla="val 153825"/>
              </a:avLst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1" name="直接箭头连接符 130"/>
            <p:cNvCxnSpPr/>
            <p:nvPr/>
          </p:nvCxnSpPr>
          <p:spPr bwMode="auto">
            <a:xfrm flipV="1">
              <a:off x="4211960" y="2276872"/>
              <a:ext cx="1589" cy="14968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2" name="直接箭头连接符 103"/>
            <p:cNvCxnSpPr/>
            <p:nvPr/>
          </p:nvCxnSpPr>
          <p:spPr bwMode="auto">
            <a:xfrm rot="16200000" flipH="1">
              <a:off x="4463992" y="2456888"/>
              <a:ext cx="360000" cy="288000"/>
            </a:xfrm>
            <a:prstGeom prst="bentConnector3">
              <a:avLst>
                <a:gd name="adj1" fmla="val -27574"/>
              </a:avLst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3" name="直接箭头连接符 132"/>
            <p:cNvCxnSpPr/>
            <p:nvPr/>
          </p:nvCxnSpPr>
          <p:spPr bwMode="auto">
            <a:xfrm rot="5400000">
              <a:off x="3421236" y="2707556"/>
              <a:ext cx="142082" cy="794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4" name="直接箭头连接符 133"/>
            <p:cNvCxnSpPr/>
            <p:nvPr/>
          </p:nvCxnSpPr>
          <p:spPr bwMode="auto">
            <a:xfrm rot="5400000" flipH="1" flipV="1">
              <a:off x="4285332" y="2707556"/>
              <a:ext cx="142876" cy="1588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5" name="直接箭头连接符 125"/>
            <p:cNvCxnSpPr/>
            <p:nvPr/>
          </p:nvCxnSpPr>
          <p:spPr bwMode="auto">
            <a:xfrm rot="5400000">
              <a:off x="2051744" y="1628856"/>
              <a:ext cx="648000" cy="216000"/>
            </a:xfrm>
            <a:prstGeom prst="bentConnector3">
              <a:avLst>
                <a:gd name="adj1" fmla="val 100050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6" name="直接箭头连接符 135"/>
            <p:cNvCxnSpPr/>
            <p:nvPr/>
          </p:nvCxnSpPr>
          <p:spPr bwMode="auto">
            <a:xfrm flipH="1" flipV="1">
              <a:off x="2056141" y="1844824"/>
              <a:ext cx="1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7" name="直接箭头连接符 216"/>
            <p:cNvCxnSpPr/>
            <p:nvPr/>
          </p:nvCxnSpPr>
          <p:spPr bwMode="auto">
            <a:xfrm rot="16200000" flipV="1">
              <a:off x="1120091" y="2204813"/>
              <a:ext cx="936000" cy="216022"/>
            </a:xfrm>
            <a:prstGeom prst="bentConnector3">
              <a:avLst>
                <a:gd name="adj1" fmla="val 50000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8" name="直接箭头连接符 137"/>
            <p:cNvCxnSpPr/>
            <p:nvPr/>
          </p:nvCxnSpPr>
          <p:spPr bwMode="auto">
            <a:xfrm>
              <a:off x="2056142" y="2204864"/>
              <a:ext cx="0" cy="57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9" name="直接箭头连接符 170"/>
            <p:cNvCxnSpPr/>
            <p:nvPr/>
          </p:nvCxnSpPr>
          <p:spPr bwMode="auto">
            <a:xfrm rot="16200000" flipH="1">
              <a:off x="3960008" y="2529007"/>
              <a:ext cx="1656000" cy="288000"/>
            </a:xfrm>
            <a:prstGeom prst="bentConnector3">
              <a:avLst>
                <a:gd name="adj1" fmla="val 123"/>
              </a:avLst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0" name="直接箭头连接符 139"/>
            <p:cNvCxnSpPr/>
            <p:nvPr/>
          </p:nvCxnSpPr>
          <p:spPr bwMode="auto">
            <a:xfrm flipV="1">
              <a:off x="2414594" y="3141008"/>
              <a:ext cx="1588" cy="360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41" name="Text Box 705"/>
            <p:cNvSpPr txBox="1">
              <a:spLocks noChangeArrowheads="1"/>
            </p:cNvSpPr>
            <p:nvPr/>
          </p:nvSpPr>
          <p:spPr bwMode="auto">
            <a:xfrm>
              <a:off x="1620048" y="2924944"/>
              <a:ext cx="3384000" cy="216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prstDash val="sysDash"/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部件互连结构</a:t>
              </a: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(</a:t>
              </a:r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如总线结构</a:t>
              </a: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)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2" name="直接连接符 66"/>
            <p:cNvCxnSpPr/>
            <p:nvPr/>
          </p:nvCxnSpPr>
          <p:spPr bwMode="auto">
            <a:xfrm>
              <a:off x="3640317" y="3141008"/>
              <a:ext cx="2" cy="36000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43" name="Text Box 701"/>
            <p:cNvSpPr txBox="1">
              <a:spLocks noChangeArrowheads="1"/>
            </p:cNvSpPr>
            <p:nvPr/>
          </p:nvSpPr>
          <p:spPr bwMode="auto">
            <a:xfrm>
              <a:off x="3318704" y="3501008"/>
              <a:ext cx="2808000" cy="2880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 anchor="ctr"/>
            <a:lstStyle/>
            <a:p>
              <a:pPr algn="ctr"/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系统总线</a:t>
              </a: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(</a:t>
              </a:r>
              <a:r>
                <a:rPr kumimoji="0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ABus</a:t>
              </a:r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、</a:t>
              </a:r>
              <a:r>
                <a:rPr kumimoji="0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DBus</a:t>
              </a:r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、</a:t>
              </a:r>
              <a:r>
                <a:rPr kumimoji="0" lang="en-US" altLang="zh-CN" sz="1600" b="1" dirty="0" err="1">
                  <a:solidFill>
                    <a:srgbClr val="000000"/>
                  </a:solidFill>
                  <a:latin typeface="宋体" panose="02010600030101010101" pitchFamily="2" charset="-122"/>
                </a:rPr>
                <a:t>CBus</a:t>
              </a: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)</a:t>
              </a:r>
              <a:endParaRPr kumimoji="0"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4" name="Text Box 639"/>
            <p:cNvSpPr txBox="1">
              <a:spLocks noChangeArrowheads="1"/>
            </p:cNvSpPr>
            <p:nvPr/>
          </p:nvSpPr>
          <p:spPr bwMode="auto">
            <a:xfrm>
              <a:off x="7380759" y="1376904"/>
              <a:ext cx="720725" cy="11880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vert="eaVert" lIns="0" tIns="0" rIns="0" bIns="0" anchor="ctr"/>
            <a:lstStyle/>
            <a:p>
              <a:pPr algn="ctr"/>
              <a:r>
                <a:rPr kumimoji="0" lang="zh-CN" altLang="en-US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外部设备</a:t>
              </a:r>
              <a:endParaRPr kumimoji="0"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algn="ctr"/>
              <a:r>
                <a:rPr kumimoji="0"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(</a:t>
              </a:r>
              <a:r>
                <a:rPr kumimoji="0" lang="zh-CN" altLang="en-US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含辅存</a:t>
              </a:r>
              <a:r>
                <a:rPr kumimoji="0"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)</a:t>
              </a:r>
              <a:endParaRPr kumimoji="0"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5" name="Text Box 670"/>
            <p:cNvSpPr txBox="1">
              <a:spLocks noChangeArrowheads="1"/>
            </p:cNvSpPr>
            <p:nvPr/>
          </p:nvSpPr>
          <p:spPr bwMode="auto">
            <a:xfrm>
              <a:off x="7236296" y="2852936"/>
              <a:ext cx="863600" cy="288000"/>
            </a:xfrm>
            <a:prstGeom prst="rect">
              <a:avLst/>
            </a:prstGeom>
            <a:solidFill>
              <a:srgbClr val="FFFF99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/>
              <a:r>
                <a:rPr kumimoji="0" lang="en-US" altLang="zh-CN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I/O</a:t>
              </a:r>
              <a:r>
                <a:rPr kumimoji="0" lang="zh-CN" altLang="en-US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接口</a:t>
              </a:r>
              <a:endParaRPr kumimoji="0"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6" name="Rectangle 684"/>
            <p:cNvSpPr>
              <a:spLocks noChangeArrowheads="1"/>
            </p:cNvSpPr>
            <p:nvPr/>
          </p:nvSpPr>
          <p:spPr bwMode="auto">
            <a:xfrm>
              <a:off x="5292080" y="1268760"/>
              <a:ext cx="1728000" cy="187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47" name="Line 685"/>
            <p:cNvSpPr>
              <a:spLocks noChangeShapeType="1"/>
            </p:cNvSpPr>
            <p:nvPr/>
          </p:nvSpPr>
          <p:spPr bwMode="auto">
            <a:xfrm>
              <a:off x="5939780" y="1626967"/>
              <a:ext cx="2873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48" name="Text Box 686"/>
            <p:cNvSpPr txBox="1">
              <a:spLocks noChangeArrowheads="1"/>
            </p:cNvSpPr>
            <p:nvPr/>
          </p:nvSpPr>
          <p:spPr bwMode="auto">
            <a:xfrm>
              <a:off x="6011218" y="1916864"/>
              <a:ext cx="216000" cy="28800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vert="eaVert" lIns="0" tIns="0" rIns="0" bIns="0" anchor="ctr"/>
            <a:lstStyle/>
            <a:p>
              <a:pPr algn="ctr"/>
              <a:r>
                <a:rPr kumimoji="0" lang="en-US" altLang="zh-CN" sz="1800" b="1" dirty="0">
                  <a:solidFill>
                    <a:srgbClr val="000000"/>
                  </a:solidFill>
                </a:rPr>
                <a:t>…</a:t>
              </a:r>
              <a:endParaRPr kumimoji="0" lang="en-US" altLang="zh-CN" sz="1800" b="1" dirty="0"/>
            </a:p>
          </p:txBody>
        </p:sp>
        <p:sp>
          <p:nvSpPr>
            <p:cNvPr id="150" name="Text Box 687"/>
            <p:cNvSpPr txBox="1">
              <a:spLocks noChangeArrowheads="1"/>
            </p:cNvSpPr>
            <p:nvPr/>
          </p:nvSpPr>
          <p:spPr bwMode="auto">
            <a:xfrm>
              <a:off x="6227118" y="1549179"/>
              <a:ext cx="720000" cy="86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/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存储</a:t>
              </a:r>
            </a:p>
            <a:p>
              <a:pPr algn="ctr"/>
              <a:r>
                <a:rPr kumimoji="0"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阵列</a:t>
              </a:r>
              <a:endParaRPr kumimoji="0"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2" name="Text Box 688"/>
            <p:cNvSpPr txBox="1">
              <a:spLocks noChangeArrowheads="1"/>
            </p:cNvSpPr>
            <p:nvPr/>
          </p:nvSpPr>
          <p:spPr bwMode="auto">
            <a:xfrm>
              <a:off x="6084168" y="2636912"/>
              <a:ext cx="864000" cy="288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I/O</a:t>
              </a:r>
              <a:r>
                <a:rPr kumimoji="0" lang="zh-CN" altLang="en-US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电路</a:t>
              </a:r>
              <a:endParaRPr kumimoji="0"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53" name="Text Box 689"/>
            <p:cNvSpPr txBox="1">
              <a:spLocks noChangeArrowheads="1"/>
            </p:cNvSpPr>
            <p:nvPr/>
          </p:nvSpPr>
          <p:spPr bwMode="auto">
            <a:xfrm>
              <a:off x="5579418" y="1340768"/>
              <a:ext cx="360363" cy="122396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  <a:miter lim="800000"/>
            </a:ln>
          </p:spPr>
          <p:txBody>
            <a:bodyPr vert="eaVert" lIns="0" tIns="0" rIns="0" bIns="0" anchor="ctr"/>
            <a:lstStyle/>
            <a:p>
              <a:pPr algn="ctr"/>
              <a:r>
                <a:rPr kumimoji="0" lang="zh-CN" altLang="en-US" sz="1600" b="1">
                  <a:solidFill>
                    <a:srgbClr val="000000"/>
                  </a:solidFill>
                  <a:latin typeface="宋体" panose="02010600030101010101" pitchFamily="2" charset="-122"/>
                </a:rPr>
                <a:t>地址译码器</a:t>
              </a:r>
              <a:endParaRPr kumimoji="0" lang="zh-CN" altLang="en-US" sz="1600" b="1">
                <a:latin typeface="宋体" panose="02010600030101010101" pitchFamily="2" charset="-122"/>
              </a:endParaRPr>
            </a:p>
          </p:txBody>
        </p:sp>
        <p:sp>
          <p:nvSpPr>
            <p:cNvPr id="155" name="Line 690"/>
            <p:cNvSpPr>
              <a:spLocks noChangeShapeType="1"/>
            </p:cNvSpPr>
            <p:nvPr/>
          </p:nvSpPr>
          <p:spPr bwMode="auto">
            <a:xfrm>
              <a:off x="5939780" y="1769842"/>
              <a:ext cx="2873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57" name="Line 691"/>
            <p:cNvSpPr>
              <a:spLocks noChangeShapeType="1"/>
            </p:cNvSpPr>
            <p:nvPr/>
          </p:nvSpPr>
          <p:spPr bwMode="auto">
            <a:xfrm>
              <a:off x="5939780" y="2348880"/>
              <a:ext cx="2873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61" name="Line 692"/>
            <p:cNvSpPr>
              <a:spLocks noChangeShapeType="1"/>
            </p:cNvSpPr>
            <p:nvPr/>
          </p:nvSpPr>
          <p:spPr bwMode="auto">
            <a:xfrm>
              <a:off x="6300192" y="2420888"/>
              <a:ext cx="3175" cy="2159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62" name="Line 694"/>
            <p:cNvSpPr>
              <a:spLocks noChangeShapeType="1"/>
            </p:cNvSpPr>
            <p:nvPr/>
          </p:nvSpPr>
          <p:spPr bwMode="auto">
            <a:xfrm flipH="1">
              <a:off x="6804248" y="2420888"/>
              <a:ext cx="0" cy="2159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sp>
          <p:nvSpPr>
            <p:cNvPr id="164" name="Text Box 695"/>
            <p:cNvSpPr txBox="1">
              <a:spLocks noChangeArrowheads="1"/>
            </p:cNvSpPr>
            <p:nvPr/>
          </p:nvSpPr>
          <p:spPr bwMode="auto">
            <a:xfrm>
              <a:off x="6444208" y="2384904"/>
              <a:ext cx="288000" cy="18000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0" tIns="0" rIns="0" bIns="0" anchor="ctr"/>
            <a:lstStyle/>
            <a:p>
              <a:pPr algn="ctr"/>
              <a:r>
                <a:rPr kumimoji="0" lang="en-US" altLang="zh-CN" sz="1800" b="1" dirty="0">
                  <a:solidFill>
                    <a:srgbClr val="000000"/>
                  </a:solidFill>
                </a:rPr>
                <a:t>…</a:t>
              </a:r>
              <a:endParaRPr kumimoji="0" lang="en-US" altLang="zh-CN" sz="1800" b="1" dirty="0"/>
            </a:p>
          </p:txBody>
        </p:sp>
        <p:sp>
          <p:nvSpPr>
            <p:cNvPr id="165" name="Text Box 707"/>
            <p:cNvSpPr txBox="1">
              <a:spLocks noChangeArrowheads="1"/>
            </p:cNvSpPr>
            <p:nvPr/>
          </p:nvSpPr>
          <p:spPr bwMode="auto">
            <a:xfrm>
              <a:off x="6231236" y="1268784"/>
              <a:ext cx="576000" cy="216000"/>
            </a:xfrm>
            <a:prstGeom prst="rect">
              <a:avLst/>
            </a:prstGeom>
            <a:noFill/>
            <a:ln w="19050">
              <a:noFill/>
              <a:miter lim="800000"/>
            </a:ln>
          </p:spPr>
          <p:txBody>
            <a:bodyPr lIns="0" tIns="0" rIns="0" bIns="0" anchor="ctr"/>
            <a:lstStyle/>
            <a:p>
              <a:pPr algn="ctr"/>
              <a:r>
                <a:rPr kumimoji="0" lang="zh-CN" altLang="en-US" sz="18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主存</a:t>
              </a:r>
              <a:endParaRPr kumimoji="0"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6" name="直接箭头连接符 163"/>
            <p:cNvCxnSpPr/>
            <p:nvPr/>
          </p:nvCxnSpPr>
          <p:spPr bwMode="auto">
            <a:xfrm rot="5400000" flipH="1" flipV="1">
              <a:off x="4841418" y="2763008"/>
              <a:ext cx="1296000" cy="180000"/>
            </a:xfrm>
            <a:prstGeom prst="bentConnector2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7" name="直接箭头连接符 167"/>
            <p:cNvCxnSpPr/>
            <p:nvPr/>
          </p:nvCxnSpPr>
          <p:spPr bwMode="auto">
            <a:xfrm rot="5400000" flipH="1" flipV="1">
              <a:off x="5616144" y="3032929"/>
              <a:ext cx="720000" cy="216000"/>
            </a:xfrm>
            <a:prstGeom prst="bentConnector2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8" name="直接箭头连接符 167"/>
            <p:cNvCxnSpPr/>
            <p:nvPr/>
          </p:nvCxnSpPr>
          <p:spPr bwMode="auto">
            <a:xfrm rot="5400000" flipH="1" flipV="1">
              <a:off x="6229010" y="3212214"/>
              <a:ext cx="576000" cy="1588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9" name="直接箭头连接符 168"/>
            <p:cNvCxnSpPr/>
            <p:nvPr/>
          </p:nvCxnSpPr>
          <p:spPr bwMode="auto">
            <a:xfrm rot="5400000" flipH="1" flipV="1">
              <a:off x="7678621" y="3320969"/>
              <a:ext cx="360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0" name="直接箭头连接符 167"/>
            <p:cNvCxnSpPr/>
            <p:nvPr/>
          </p:nvCxnSpPr>
          <p:spPr bwMode="auto">
            <a:xfrm rot="5400000" flipH="1" flipV="1">
              <a:off x="7462718" y="3320971"/>
              <a:ext cx="36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1" name="直接箭头连接符 167"/>
            <p:cNvCxnSpPr/>
            <p:nvPr/>
          </p:nvCxnSpPr>
          <p:spPr bwMode="auto">
            <a:xfrm rot="5400000" flipH="1" flipV="1">
              <a:off x="7248407" y="3320969"/>
              <a:ext cx="36000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2" name="直接箭头连接符 167"/>
            <p:cNvCxnSpPr/>
            <p:nvPr/>
          </p:nvCxnSpPr>
          <p:spPr bwMode="auto">
            <a:xfrm rot="5400000" flipH="1" flipV="1">
              <a:off x="7498718" y="2708935"/>
              <a:ext cx="288000" cy="1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3" name="直接箭头连接符 172"/>
            <p:cNvCxnSpPr/>
            <p:nvPr/>
          </p:nvCxnSpPr>
          <p:spPr bwMode="auto">
            <a:xfrm rot="5400000" flipH="1" flipV="1">
              <a:off x="7713827" y="2708142"/>
              <a:ext cx="288000" cy="1588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4" name="直接箭头连接符 173"/>
            <p:cNvCxnSpPr/>
            <p:nvPr/>
          </p:nvCxnSpPr>
          <p:spPr bwMode="auto">
            <a:xfrm>
              <a:off x="1116392" y="3501008"/>
              <a:ext cx="6984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5" name="直接箭头连接符 174"/>
            <p:cNvCxnSpPr/>
            <p:nvPr/>
          </p:nvCxnSpPr>
          <p:spPr bwMode="auto">
            <a:xfrm>
              <a:off x="1691680" y="2780928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77" name="Rectangle 641"/>
            <p:cNvSpPr>
              <a:spLocks noChangeArrowheads="1"/>
            </p:cNvSpPr>
            <p:nvPr/>
          </p:nvSpPr>
          <p:spPr bwMode="auto">
            <a:xfrm>
              <a:off x="2915816" y="1340768"/>
              <a:ext cx="2088000" cy="1440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prstDash val="sysDash"/>
              <a:miter lim="800000"/>
            </a:ln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cxnSp>
          <p:nvCxnSpPr>
            <p:cNvPr id="178" name="直接箭头连接符 177"/>
            <p:cNvCxnSpPr/>
            <p:nvPr/>
          </p:nvCxnSpPr>
          <p:spPr bwMode="auto">
            <a:xfrm rot="5400000">
              <a:off x="3064824" y="2853506"/>
              <a:ext cx="142082" cy="794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9" name="直接箭头连接符 178"/>
            <p:cNvCxnSpPr/>
            <p:nvPr/>
          </p:nvCxnSpPr>
          <p:spPr bwMode="auto">
            <a:xfrm flipH="1" flipV="1">
              <a:off x="2344172" y="2636912"/>
              <a:ext cx="2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0" name="直接箭头连接符 179"/>
            <p:cNvCxnSpPr/>
            <p:nvPr/>
          </p:nvCxnSpPr>
          <p:spPr bwMode="auto">
            <a:xfrm flipH="1">
              <a:off x="2559404" y="2636912"/>
              <a:ext cx="794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1" name="直接箭头连接符 180"/>
            <p:cNvCxnSpPr/>
            <p:nvPr/>
          </p:nvCxnSpPr>
          <p:spPr bwMode="auto">
            <a:xfrm rot="5400000">
              <a:off x="2268314" y="2853506"/>
              <a:ext cx="142082" cy="794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2" name="直接箭头连接符 181"/>
            <p:cNvCxnSpPr/>
            <p:nvPr/>
          </p:nvCxnSpPr>
          <p:spPr bwMode="auto">
            <a:xfrm rot="5400000">
              <a:off x="2488760" y="2853506"/>
              <a:ext cx="142082" cy="794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3" name="直接箭头连接符 182"/>
            <p:cNvCxnSpPr/>
            <p:nvPr/>
          </p:nvCxnSpPr>
          <p:spPr bwMode="auto">
            <a:xfrm flipV="1">
              <a:off x="1912126" y="2204864"/>
              <a:ext cx="0" cy="57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4" name="直接箭头连接符 183"/>
            <p:cNvCxnSpPr/>
            <p:nvPr/>
          </p:nvCxnSpPr>
          <p:spPr bwMode="auto">
            <a:xfrm>
              <a:off x="1907704" y="2780944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85" name="Rectangle 640"/>
            <p:cNvSpPr>
              <a:spLocks noChangeArrowheads="1"/>
            </p:cNvSpPr>
            <p:nvPr/>
          </p:nvSpPr>
          <p:spPr bwMode="auto">
            <a:xfrm>
              <a:off x="1115616" y="1268760"/>
              <a:ext cx="3960000" cy="18720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</a:ln>
          </p:spPr>
          <p:txBody>
            <a:bodyPr lIns="0" tIns="0" rIns="0" bIns="0" anchor="ctr"/>
            <a:lstStyle/>
            <a:p>
              <a:endParaRPr lang="zh-CN" altLang="en-US"/>
            </a:p>
          </p:txBody>
        </p:sp>
        <p:cxnSp>
          <p:nvCxnSpPr>
            <p:cNvPr id="186" name="直接箭头连接符 216"/>
            <p:cNvCxnSpPr/>
            <p:nvPr/>
          </p:nvCxnSpPr>
          <p:spPr bwMode="auto">
            <a:xfrm flipV="1">
              <a:off x="1763688" y="1412775"/>
              <a:ext cx="720000" cy="144000"/>
            </a:xfrm>
            <a:prstGeom prst="bentConnector3">
              <a:avLst>
                <a:gd name="adj1" fmla="val -706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34</a:t>
            </a:fld>
            <a:endParaRPr lang="en-US" altLang="zh-CN"/>
          </a:p>
        </p:txBody>
      </p:sp>
      <p:sp>
        <p:nvSpPr>
          <p:cNvPr id="132" name="Text Box 47"/>
          <p:cNvSpPr txBox="1">
            <a:spLocks noChangeArrowheads="1"/>
          </p:cNvSpPr>
          <p:nvPr/>
        </p:nvSpPr>
        <p:spPr bwMode="auto">
          <a:xfrm>
            <a:off x="142844" y="332656"/>
            <a:ext cx="5437268" cy="21501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*机器语言程序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(y=</a:t>
            </a:r>
            <a:r>
              <a:rPr lang="en-US" altLang="zh-CN" sz="2200" b="1" dirty="0" err="1">
                <a:solidFill>
                  <a:srgbClr val="C00000"/>
                </a:solidFill>
                <a:latin typeface="宋体" panose="02010600030101010101" pitchFamily="2" charset="-122"/>
              </a:rPr>
              <a:t>x+b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的执行过程：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编程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准备阶段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执行阶段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33" name="Text Box 47"/>
          <p:cNvSpPr txBox="1">
            <a:spLocks noChangeArrowheads="1"/>
          </p:cNvSpPr>
          <p:nvPr/>
        </p:nvSpPr>
        <p:spPr bwMode="auto">
          <a:xfrm>
            <a:off x="1547664" y="764704"/>
            <a:ext cx="4608859" cy="17269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假设</a:t>
            </a:r>
            <a:r>
              <a:rPr lang="zh-CN" altLang="en-US" sz="2200" b="1" dirty="0">
                <a:latin typeface="宋体" panose="02010600030101010101" pitchFamily="2" charset="-122"/>
              </a:rPr>
              <a:t>程序入口地址为</a:t>
            </a:r>
            <a:r>
              <a:rPr lang="en-US" altLang="zh-CN" sz="2200" b="1" dirty="0">
                <a:latin typeface="宋体" panose="02010600030101010101" pitchFamily="2" charset="-122"/>
              </a:rPr>
              <a:t>2000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假设</a:t>
            </a:r>
            <a:r>
              <a:rPr lang="zh-CN" altLang="en-US" sz="2200" b="1" dirty="0">
                <a:latin typeface="宋体" panose="02010600030101010101" pitchFamily="2" charset="-122"/>
              </a:rPr>
              <a:t>装入位置为</a:t>
            </a:r>
            <a:r>
              <a:rPr lang="en-US" altLang="zh-CN" sz="2200" b="1" dirty="0">
                <a:latin typeface="宋体" panose="02010600030101010101" pitchFamily="2" charset="-122"/>
              </a:rPr>
              <a:t>2000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    则</a:t>
            </a:r>
            <a:r>
              <a:rPr lang="en-US" altLang="zh-CN" sz="2200" b="1" dirty="0">
                <a:latin typeface="宋体" panose="02010600030101010101" pitchFamily="2" charset="-122"/>
              </a:rPr>
              <a:t>PC</a:t>
            </a:r>
            <a:r>
              <a:rPr lang="zh-CN" altLang="en-US" sz="2200" b="1" dirty="0">
                <a:latin typeface="宋体" panose="02010600030101010101" pitchFamily="2" charset="-122"/>
              </a:rPr>
              <a:t>←</a:t>
            </a:r>
            <a:r>
              <a:rPr lang="en-US" altLang="zh-CN" sz="2200" b="1" dirty="0">
                <a:latin typeface="宋体" panose="02010600030101010101" pitchFamily="2" charset="-122"/>
              </a:rPr>
              <a:t>2000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</a:rPr>
              <a:t>自动、逐条地取并执行指令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grpSp>
        <p:nvGrpSpPr>
          <p:cNvPr id="134" name="组合 133"/>
          <p:cNvGrpSpPr/>
          <p:nvPr/>
        </p:nvGrpSpPr>
        <p:grpSpPr>
          <a:xfrm>
            <a:off x="6300408" y="836712"/>
            <a:ext cx="2592072" cy="1584000"/>
            <a:chOff x="7625091" y="3637294"/>
            <a:chExt cx="2592072" cy="1584000"/>
          </a:xfrm>
        </p:grpSpPr>
        <p:sp>
          <p:nvSpPr>
            <p:cNvPr id="135" name="Text Box 36"/>
            <p:cNvSpPr txBox="1">
              <a:spLocks noChangeArrowheads="1"/>
            </p:cNvSpPr>
            <p:nvPr/>
          </p:nvSpPr>
          <p:spPr bwMode="auto">
            <a:xfrm>
              <a:off x="8273163" y="3637294"/>
              <a:ext cx="1944000" cy="1584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square" tIns="10800" bIns="1080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AC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M[</a:t>
              </a:r>
              <a:r>
                <a:rPr lang="en-US" altLang="zh-CN" sz="1600" b="1" dirty="0">
                  <a:solidFill>
                    <a:srgbClr val="0070C0"/>
                  </a:solidFill>
                  <a:latin typeface="宋体" panose="02010600030101010101" pitchFamily="2" charset="-122"/>
                </a:rPr>
                <a:t>2004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AC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(AC)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M[2005]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M[2006]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(AC)</a:t>
              </a:r>
            </a:p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停机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 x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 b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 y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6" name="Text Box 36"/>
            <p:cNvSpPr txBox="1">
              <a:spLocks noChangeArrowheads="1"/>
            </p:cNvSpPr>
            <p:nvPr/>
          </p:nvSpPr>
          <p:spPr bwMode="auto">
            <a:xfrm>
              <a:off x="7625091" y="3637294"/>
              <a:ext cx="648000" cy="158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2000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2001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2002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2003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2004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2005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2006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7" name="直接连接符 136"/>
            <p:cNvCxnSpPr/>
            <p:nvPr/>
          </p:nvCxnSpPr>
          <p:spPr bwMode="auto">
            <a:xfrm flipV="1">
              <a:off x="8273163" y="3860938"/>
              <a:ext cx="1944000" cy="1424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8" name="直接连接符 137"/>
            <p:cNvCxnSpPr/>
            <p:nvPr/>
          </p:nvCxnSpPr>
          <p:spPr bwMode="auto">
            <a:xfrm flipV="1">
              <a:off x="8273163" y="4084582"/>
              <a:ext cx="1944000" cy="1424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9" name="直接连接符 138"/>
            <p:cNvCxnSpPr/>
            <p:nvPr/>
          </p:nvCxnSpPr>
          <p:spPr bwMode="auto">
            <a:xfrm flipV="1">
              <a:off x="8273163" y="4308226"/>
              <a:ext cx="1944000" cy="1424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1" name="直接连接符 140"/>
            <p:cNvCxnSpPr/>
            <p:nvPr/>
          </p:nvCxnSpPr>
          <p:spPr bwMode="auto">
            <a:xfrm>
              <a:off x="8273163" y="4539490"/>
              <a:ext cx="1944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2" name="直接连接符 141"/>
            <p:cNvCxnSpPr/>
            <p:nvPr/>
          </p:nvCxnSpPr>
          <p:spPr bwMode="auto">
            <a:xfrm>
              <a:off x="8273163" y="4751322"/>
              <a:ext cx="1944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3" name="直接连接符 142"/>
            <p:cNvCxnSpPr/>
            <p:nvPr/>
          </p:nvCxnSpPr>
          <p:spPr bwMode="auto">
            <a:xfrm>
              <a:off x="8273163" y="4997826"/>
              <a:ext cx="1944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44" name="Text Box 65"/>
          <p:cNvSpPr txBox="1">
            <a:spLocks noChangeArrowheads="1"/>
          </p:cNvSpPr>
          <p:nvPr/>
        </p:nvSpPr>
        <p:spPr bwMode="auto">
          <a:xfrm>
            <a:off x="3419872" y="2856356"/>
            <a:ext cx="2160000" cy="288000"/>
          </a:xfrm>
          <a:prstGeom prst="rect">
            <a:avLst/>
          </a:prstGeom>
          <a:solidFill>
            <a:srgbClr val="FFCCFF">
              <a:alpha val="80000"/>
            </a:srgbClr>
          </a:solidFill>
          <a:ln w="12700">
            <a:solidFill>
              <a:schemeClr val="tx1"/>
            </a:solidFill>
            <a:prstDash val="dash"/>
            <a:miter lim="800000"/>
          </a:ln>
          <a:effectLst/>
        </p:spPr>
        <p:txBody>
          <a:bodyPr lIns="54000" tIns="10800" rIns="18000" bIns="10800" anchor="ctr"/>
          <a:lstStyle/>
          <a:p>
            <a:pPr algn="just">
              <a:lnSpc>
                <a:spcPct val="90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(IR)</a:t>
            </a:r>
            <a:r>
              <a:rPr lang="en-US" altLang="zh-CN" sz="1800" b="1" baseline="-18000" dirty="0" err="1">
                <a:latin typeface="宋体" panose="02010600030101010101" pitchFamily="2" charset="-122"/>
              </a:rPr>
              <a:t>Ad</a:t>
            </a:r>
            <a:r>
              <a:rPr lang="en-US" altLang="zh-CN" sz="1800" b="1" dirty="0" err="1">
                <a:solidFill>
                  <a:schemeClr val="accent2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1800" b="1" dirty="0" err="1">
                <a:latin typeface="宋体" panose="02010600030101010101" pitchFamily="2" charset="-122"/>
              </a:rPr>
              <a:t>MEM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(R)</a:t>
            </a:r>
            <a:r>
              <a: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1800" b="1" dirty="0">
                <a:latin typeface="宋体" panose="02010600030101010101" pitchFamily="2" charset="-122"/>
              </a:rPr>
              <a:t>AC</a:t>
            </a:r>
          </a:p>
        </p:txBody>
      </p:sp>
      <p:cxnSp>
        <p:nvCxnSpPr>
          <p:cNvPr id="145" name="直接连接符 10"/>
          <p:cNvCxnSpPr>
            <a:stCxn id="144" idx="3"/>
            <a:endCxn id="158" idx="1"/>
          </p:cNvCxnSpPr>
          <p:nvPr/>
        </p:nvCxnSpPr>
        <p:spPr bwMode="auto">
          <a:xfrm flipH="1">
            <a:off x="539744" y="3000356"/>
            <a:ext cx="5040128" cy="644676"/>
          </a:xfrm>
          <a:prstGeom prst="bentConnector5">
            <a:avLst>
              <a:gd name="adj1" fmla="val -4536"/>
              <a:gd name="adj2" fmla="val 64775"/>
              <a:gd name="adj3" fmla="val 104536"/>
            </a:avLst>
          </a:prstGeom>
          <a:noFill/>
          <a:ln w="1270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46" name="直接连接符 10"/>
          <p:cNvCxnSpPr>
            <a:stCxn id="154" idx="3"/>
            <a:endCxn id="166" idx="1"/>
          </p:cNvCxnSpPr>
          <p:nvPr/>
        </p:nvCxnSpPr>
        <p:spPr bwMode="auto">
          <a:xfrm flipH="1">
            <a:off x="539552" y="3651159"/>
            <a:ext cx="5976664" cy="641921"/>
          </a:xfrm>
          <a:prstGeom prst="bentConnector5">
            <a:avLst>
              <a:gd name="adj1" fmla="val -3825"/>
              <a:gd name="adj2" fmla="val 64245"/>
              <a:gd name="adj3" fmla="val 103825"/>
            </a:avLst>
          </a:prstGeom>
          <a:noFill/>
          <a:ln w="1270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153" name="组合 152"/>
          <p:cNvGrpSpPr/>
          <p:nvPr/>
        </p:nvGrpSpPr>
        <p:grpSpPr>
          <a:xfrm>
            <a:off x="539744" y="3501032"/>
            <a:ext cx="5976472" cy="504032"/>
            <a:chOff x="1364322" y="4153070"/>
            <a:chExt cx="5976472" cy="504032"/>
          </a:xfrm>
        </p:grpSpPr>
        <p:sp>
          <p:nvSpPr>
            <p:cNvPr id="154" name="Text Box 65"/>
            <p:cNvSpPr txBox="1">
              <a:spLocks noChangeArrowheads="1"/>
            </p:cNvSpPr>
            <p:nvPr/>
          </p:nvSpPr>
          <p:spPr bwMode="auto">
            <a:xfrm>
              <a:off x="4244794" y="4159197"/>
              <a:ext cx="3096000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just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(IR)</a:t>
              </a:r>
              <a:r>
                <a:rPr lang="en-US" altLang="zh-CN" sz="1800" b="1" baseline="-18000" dirty="0" err="1">
                  <a:latin typeface="宋体" panose="02010600030101010101" pitchFamily="2" charset="-122"/>
                </a:rPr>
                <a:t>Ad</a:t>
              </a:r>
              <a:r>
                <a:rPr lang="en-US" altLang="zh-CN" sz="1800" b="1" dirty="0" err="1">
                  <a:solidFill>
                    <a:schemeClr val="accent2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1800" b="1" dirty="0" err="1">
                  <a:latin typeface="宋体" panose="02010600030101010101" pitchFamily="2" charset="-122"/>
                </a:rPr>
                <a:t>MEM</a:t>
              </a:r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(R)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ALU</a:t>
              </a:r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(+)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AC</a:t>
              </a:r>
            </a:p>
          </p:txBody>
        </p:sp>
        <p:sp>
          <p:nvSpPr>
            <p:cNvPr id="156" name="Text Box 65"/>
            <p:cNvSpPr txBox="1">
              <a:spLocks noChangeArrowheads="1"/>
            </p:cNvSpPr>
            <p:nvPr/>
          </p:nvSpPr>
          <p:spPr bwMode="auto">
            <a:xfrm>
              <a:off x="5540594" y="4441102"/>
              <a:ext cx="936000" cy="216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just"/>
              <a:r>
                <a:rPr lang="en-US" altLang="zh-CN" sz="1800" b="1" dirty="0">
                  <a:latin typeface="宋体" panose="02010600030101010101" pitchFamily="2" charset="-122"/>
                </a:rPr>
                <a:t>AC→ALU</a:t>
              </a:r>
            </a:p>
          </p:txBody>
        </p:sp>
        <p:grpSp>
          <p:nvGrpSpPr>
            <p:cNvPr id="157" name="组合 156"/>
            <p:cNvGrpSpPr/>
            <p:nvPr/>
          </p:nvGrpSpPr>
          <p:grpSpPr>
            <a:xfrm>
              <a:off x="1364322" y="4153070"/>
              <a:ext cx="2880128" cy="504032"/>
              <a:chOff x="357350" y="3138688"/>
              <a:chExt cx="2880128" cy="504032"/>
            </a:xfrm>
          </p:grpSpPr>
          <p:sp>
            <p:nvSpPr>
              <p:cNvPr id="162" name="Text Box 65"/>
              <p:cNvSpPr txBox="1">
                <a:spLocks noChangeArrowheads="1"/>
              </p:cNvSpPr>
              <p:nvPr/>
            </p:nvSpPr>
            <p:spPr bwMode="auto">
              <a:xfrm>
                <a:off x="357350" y="3138688"/>
                <a:ext cx="1728000" cy="504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dash"/>
                <a:miter lim="800000"/>
              </a:ln>
              <a:effectLst/>
            </p:spPr>
            <p:txBody>
              <a:bodyPr lIns="54000" tIns="10800" rIns="18000" bIns="10800" anchor="ctr"/>
              <a:lstStyle/>
              <a:p>
                <a:pPr algn="just"/>
                <a:endParaRPr lang="en-US" altLang="zh-CN" sz="1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58" name="Text Box 65"/>
              <p:cNvSpPr txBox="1">
                <a:spLocks noChangeArrowheads="1"/>
              </p:cNvSpPr>
              <p:nvPr/>
            </p:nvSpPr>
            <p:spPr bwMode="auto">
              <a:xfrm>
                <a:off x="357350" y="3138688"/>
                <a:ext cx="1728000" cy="288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noFill/>
                <a:prstDash val="sysDot"/>
                <a:miter lim="800000"/>
              </a:ln>
              <a:effectLst/>
            </p:spPr>
            <p:txBody>
              <a:bodyPr lIns="54000" tIns="10800" rIns="18000" bIns="10800" anchor="ctr"/>
              <a:lstStyle/>
              <a:p>
                <a:pPr algn="just">
                  <a:lnSpc>
                    <a:spcPct val="90000"/>
                  </a:lnSpc>
                </a:pPr>
                <a:r>
                  <a:rPr lang="en-US" altLang="zh-CN" sz="1800" b="1" dirty="0">
                    <a:latin typeface="宋体" panose="02010600030101010101" pitchFamily="2" charset="-122"/>
                  </a:rPr>
                  <a:t>PC</a:t>
                </a:r>
                <a:r>
                  <a:rPr lang="en-US" altLang="zh-CN" sz="18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→</a:t>
                </a:r>
                <a:r>
                  <a:rPr lang="en-US" altLang="zh-CN" sz="1800" b="1" dirty="0">
                    <a:latin typeface="宋体" panose="02010600030101010101" pitchFamily="2" charset="-122"/>
                  </a:rPr>
                  <a:t>MEM</a:t>
                </a:r>
                <a:r>
                  <a:rPr lang="en-US" altLang="zh-CN" sz="1800" b="1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(R)</a:t>
                </a:r>
                <a:r>
                  <a:rPr lang="en-US" altLang="zh-CN" sz="18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→</a:t>
                </a:r>
                <a:r>
                  <a:rPr lang="en-US" altLang="zh-CN" sz="1800" b="1" dirty="0">
                    <a:latin typeface="宋体" panose="02010600030101010101" pitchFamily="2" charset="-122"/>
                  </a:rPr>
                  <a:t>IR</a:t>
                </a:r>
              </a:p>
            </p:txBody>
          </p:sp>
          <p:sp>
            <p:nvSpPr>
              <p:cNvPr id="159" name="Text Box 65"/>
              <p:cNvSpPr txBox="1">
                <a:spLocks noChangeArrowheads="1"/>
              </p:cNvSpPr>
              <p:nvPr/>
            </p:nvSpPr>
            <p:spPr bwMode="auto">
              <a:xfrm>
                <a:off x="2085478" y="3138720"/>
                <a:ext cx="1152000" cy="288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2700">
                <a:solidFill>
                  <a:schemeClr val="tx1"/>
                </a:solidFill>
                <a:prstDash val="dash"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b="1" dirty="0">
                    <a:latin typeface="宋体" panose="02010600030101010101" pitchFamily="2" charset="-122"/>
                  </a:rPr>
                  <a:t>(IR)</a:t>
                </a:r>
                <a:r>
                  <a:rPr lang="en-US" altLang="zh-CN" sz="1800" b="1" baseline="-18000" dirty="0">
                    <a:latin typeface="宋体" panose="02010600030101010101" pitchFamily="2" charset="-122"/>
                  </a:rPr>
                  <a:t>OP</a:t>
                </a:r>
                <a:r>
                  <a:rPr lang="en-US" altLang="zh-CN" sz="1800" b="1" dirty="0">
                    <a:latin typeface="宋体" panose="02010600030101010101" pitchFamily="2" charset="-122"/>
                  </a:rPr>
                  <a:t>→ID</a:t>
                </a:r>
              </a:p>
            </p:txBody>
          </p:sp>
          <p:sp>
            <p:nvSpPr>
              <p:cNvPr id="160" name="Text Box 65"/>
              <p:cNvSpPr txBox="1">
                <a:spLocks noChangeArrowheads="1"/>
              </p:cNvSpPr>
              <p:nvPr/>
            </p:nvSpPr>
            <p:spPr bwMode="auto">
              <a:xfrm>
                <a:off x="717350" y="3426720"/>
                <a:ext cx="1368000" cy="216000"/>
              </a:xfrm>
              <a:prstGeom prst="rect">
                <a:avLst/>
              </a:prstGeom>
              <a:solidFill>
                <a:srgbClr val="CCFFFF">
                  <a:alpha val="90000"/>
                </a:srgbClr>
              </a:solidFill>
              <a:ln w="12700">
                <a:noFill/>
                <a:prstDash val="sysDot"/>
                <a:miter lim="800000"/>
              </a:ln>
              <a:effectLst/>
            </p:spPr>
            <p:txBody>
              <a:bodyPr lIns="54000" tIns="10800" rIns="18000" bIns="10800" anchor="ctr"/>
              <a:lstStyle/>
              <a:p>
                <a:pPr algn="just">
                  <a:lnSpc>
                    <a:spcPct val="90000"/>
                  </a:lnSpc>
                </a:pPr>
                <a:r>
                  <a:rPr lang="en-US" altLang="zh-CN" sz="18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  </a:t>
                </a:r>
                <a:r>
                  <a:rPr lang="zh-CN" altLang="en-US" sz="1800" b="1" dirty="0">
                    <a:latin typeface="宋体" panose="02010600030101010101" pitchFamily="2" charset="-122"/>
                  </a:rPr>
                  <a:t>＋</a:t>
                </a:r>
                <a:r>
                  <a:rPr lang="en-US" altLang="zh-CN" sz="1800" b="1" dirty="0">
                    <a:latin typeface="宋体" panose="02010600030101010101" pitchFamily="2" charset="-122"/>
                  </a:rPr>
                  <a:t>1→PC</a:t>
                </a:r>
              </a:p>
            </p:txBody>
          </p:sp>
          <p:cxnSp>
            <p:nvCxnSpPr>
              <p:cNvPr id="161" name="直接连接符 10"/>
              <p:cNvCxnSpPr/>
              <p:nvPr/>
            </p:nvCxnSpPr>
            <p:spPr bwMode="auto">
              <a:xfrm rot="16200000" flipH="1">
                <a:off x="711928" y="3300704"/>
                <a:ext cx="252000" cy="216000"/>
              </a:xfrm>
              <a:prstGeom prst="bentConnector3">
                <a:avLst>
                  <a:gd name="adj1" fmla="val 100807"/>
                </a:avLst>
              </a:prstGeom>
              <a:noFill/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</p:grpSp>
      </p:grpSp>
      <p:grpSp>
        <p:nvGrpSpPr>
          <p:cNvPr id="163" name="组合 162"/>
          <p:cNvGrpSpPr/>
          <p:nvPr/>
        </p:nvGrpSpPr>
        <p:grpSpPr>
          <a:xfrm>
            <a:off x="539552" y="4149080"/>
            <a:ext cx="4536504" cy="505567"/>
            <a:chOff x="1353076" y="4941168"/>
            <a:chExt cx="4536504" cy="505567"/>
          </a:xfrm>
        </p:grpSpPr>
        <p:sp>
          <p:nvSpPr>
            <p:cNvPr id="164" name="Text Box 65"/>
            <p:cNvSpPr txBox="1">
              <a:spLocks noChangeArrowheads="1"/>
            </p:cNvSpPr>
            <p:nvPr/>
          </p:nvSpPr>
          <p:spPr bwMode="auto">
            <a:xfrm>
              <a:off x="4233396" y="4942735"/>
              <a:ext cx="1656184" cy="504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just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(IR)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Ad</a:t>
              </a: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MEM</a:t>
              </a:r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(W)</a:t>
              </a:r>
            </a:p>
            <a:p>
              <a:pPr algn="just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(AC)—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→</a:t>
              </a:r>
              <a:r>
                <a:rPr lang="zh-CN" altLang="en-US" sz="1800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┘</a:t>
              </a:r>
              <a:endParaRPr lang="en-US" altLang="zh-CN" sz="1800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165" name="组合 164"/>
            <p:cNvGrpSpPr/>
            <p:nvPr/>
          </p:nvGrpSpPr>
          <p:grpSpPr>
            <a:xfrm>
              <a:off x="1353076" y="4941168"/>
              <a:ext cx="2880192" cy="504032"/>
              <a:chOff x="346104" y="3138688"/>
              <a:chExt cx="2880192" cy="504032"/>
            </a:xfrm>
          </p:grpSpPr>
          <p:sp>
            <p:nvSpPr>
              <p:cNvPr id="171" name="Text Box 65"/>
              <p:cNvSpPr txBox="1">
                <a:spLocks noChangeArrowheads="1"/>
              </p:cNvSpPr>
              <p:nvPr/>
            </p:nvSpPr>
            <p:spPr bwMode="auto">
              <a:xfrm>
                <a:off x="346104" y="3138688"/>
                <a:ext cx="1728000" cy="504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dash"/>
                <a:miter lim="800000"/>
              </a:ln>
              <a:effectLst/>
            </p:spPr>
            <p:txBody>
              <a:bodyPr lIns="54000" tIns="10800" rIns="18000" bIns="10800" anchor="ctr"/>
              <a:lstStyle/>
              <a:p>
                <a:pPr algn="just"/>
                <a:endParaRPr lang="en-US" altLang="zh-CN" sz="1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66" name="Text Box 65"/>
              <p:cNvSpPr txBox="1">
                <a:spLocks noChangeArrowheads="1"/>
              </p:cNvSpPr>
              <p:nvPr/>
            </p:nvSpPr>
            <p:spPr bwMode="auto">
              <a:xfrm>
                <a:off x="346104" y="3138688"/>
                <a:ext cx="1728000" cy="288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noFill/>
                <a:prstDash val="sysDot"/>
                <a:miter lim="800000"/>
              </a:ln>
              <a:effectLst/>
            </p:spPr>
            <p:txBody>
              <a:bodyPr lIns="54000" tIns="10800" rIns="18000" bIns="10800" anchor="ctr"/>
              <a:lstStyle/>
              <a:p>
                <a:pPr algn="just">
                  <a:lnSpc>
                    <a:spcPct val="90000"/>
                  </a:lnSpc>
                </a:pPr>
                <a:r>
                  <a:rPr lang="en-US" altLang="zh-CN" sz="1800" b="1" dirty="0">
                    <a:latin typeface="宋体" panose="02010600030101010101" pitchFamily="2" charset="-122"/>
                  </a:rPr>
                  <a:t>PC</a:t>
                </a:r>
                <a:r>
                  <a:rPr lang="en-US" altLang="zh-CN" sz="18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→</a:t>
                </a:r>
                <a:r>
                  <a:rPr lang="en-US" altLang="zh-CN" sz="1800" b="1" dirty="0">
                    <a:latin typeface="宋体" panose="02010600030101010101" pitchFamily="2" charset="-122"/>
                  </a:rPr>
                  <a:t>MEM</a:t>
                </a:r>
                <a:r>
                  <a:rPr lang="en-US" altLang="zh-CN" sz="1800" b="1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(R)</a:t>
                </a:r>
                <a:r>
                  <a:rPr lang="en-US" altLang="zh-CN" sz="18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→</a:t>
                </a:r>
                <a:r>
                  <a:rPr lang="en-US" altLang="zh-CN" sz="1800" b="1" dirty="0">
                    <a:latin typeface="宋体" panose="02010600030101010101" pitchFamily="2" charset="-122"/>
                  </a:rPr>
                  <a:t>IR</a:t>
                </a:r>
              </a:p>
            </p:txBody>
          </p:sp>
          <p:sp>
            <p:nvSpPr>
              <p:cNvPr id="168" name="Text Box 65"/>
              <p:cNvSpPr txBox="1">
                <a:spLocks noChangeArrowheads="1"/>
              </p:cNvSpPr>
              <p:nvPr/>
            </p:nvSpPr>
            <p:spPr bwMode="auto">
              <a:xfrm>
                <a:off x="2074296" y="3140968"/>
                <a:ext cx="1152000" cy="288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2700">
                <a:solidFill>
                  <a:schemeClr val="tx1"/>
                </a:solidFill>
                <a:prstDash val="dash"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b="1" dirty="0">
                    <a:latin typeface="宋体" panose="02010600030101010101" pitchFamily="2" charset="-122"/>
                  </a:rPr>
                  <a:t>(IR)</a:t>
                </a:r>
                <a:r>
                  <a:rPr lang="en-US" altLang="zh-CN" sz="1800" b="1" baseline="-18000" dirty="0">
                    <a:latin typeface="宋体" panose="02010600030101010101" pitchFamily="2" charset="-122"/>
                  </a:rPr>
                  <a:t>OP</a:t>
                </a:r>
                <a:r>
                  <a:rPr lang="en-US" altLang="zh-CN" sz="1800" b="1" dirty="0">
                    <a:latin typeface="宋体" panose="02010600030101010101" pitchFamily="2" charset="-122"/>
                  </a:rPr>
                  <a:t>→ID</a:t>
                </a:r>
              </a:p>
            </p:txBody>
          </p:sp>
          <p:sp>
            <p:nvSpPr>
              <p:cNvPr id="169" name="Text Box 65"/>
              <p:cNvSpPr txBox="1">
                <a:spLocks noChangeArrowheads="1"/>
              </p:cNvSpPr>
              <p:nvPr/>
            </p:nvSpPr>
            <p:spPr bwMode="auto">
              <a:xfrm>
                <a:off x="706296" y="3426720"/>
                <a:ext cx="1368000" cy="216000"/>
              </a:xfrm>
              <a:prstGeom prst="rect">
                <a:avLst/>
              </a:prstGeom>
              <a:solidFill>
                <a:srgbClr val="CCFFFF">
                  <a:alpha val="90000"/>
                </a:srgbClr>
              </a:solidFill>
              <a:ln w="12700">
                <a:noFill/>
                <a:prstDash val="sysDot"/>
                <a:miter lim="800000"/>
              </a:ln>
              <a:effectLst/>
            </p:spPr>
            <p:txBody>
              <a:bodyPr lIns="54000" tIns="10800" rIns="18000" bIns="10800" anchor="ctr"/>
              <a:lstStyle/>
              <a:p>
                <a:pPr algn="just">
                  <a:lnSpc>
                    <a:spcPct val="90000"/>
                  </a:lnSpc>
                </a:pPr>
                <a:r>
                  <a:rPr lang="en-US" altLang="zh-CN" sz="18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  </a:t>
                </a:r>
                <a:r>
                  <a:rPr lang="zh-CN" altLang="en-US" sz="1800" b="1" dirty="0">
                    <a:latin typeface="宋体" panose="02010600030101010101" pitchFamily="2" charset="-122"/>
                  </a:rPr>
                  <a:t>＋</a:t>
                </a:r>
                <a:r>
                  <a:rPr lang="en-US" altLang="zh-CN" sz="1800" b="1" dirty="0">
                    <a:latin typeface="宋体" panose="02010600030101010101" pitchFamily="2" charset="-122"/>
                  </a:rPr>
                  <a:t>1→PC</a:t>
                </a:r>
              </a:p>
            </p:txBody>
          </p:sp>
          <p:cxnSp>
            <p:nvCxnSpPr>
              <p:cNvPr id="170" name="直接连接符 10"/>
              <p:cNvCxnSpPr/>
              <p:nvPr/>
            </p:nvCxnSpPr>
            <p:spPr bwMode="auto">
              <a:xfrm rot="16200000" flipH="1">
                <a:off x="727822" y="3300704"/>
                <a:ext cx="252000" cy="216000"/>
              </a:xfrm>
              <a:prstGeom prst="bentConnector3">
                <a:avLst>
                  <a:gd name="adj1" fmla="val 100807"/>
                </a:avLst>
              </a:prstGeom>
              <a:noFill/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</p:grpSp>
      </p:grpSp>
      <p:grpSp>
        <p:nvGrpSpPr>
          <p:cNvPr id="172" name="组合 171"/>
          <p:cNvGrpSpPr/>
          <p:nvPr/>
        </p:nvGrpSpPr>
        <p:grpSpPr>
          <a:xfrm>
            <a:off x="539552" y="4797152"/>
            <a:ext cx="3744416" cy="504064"/>
            <a:chOff x="1353076" y="5733256"/>
            <a:chExt cx="3744416" cy="504064"/>
          </a:xfrm>
        </p:grpSpPr>
        <p:sp>
          <p:nvSpPr>
            <p:cNvPr id="173" name="Text Box 65"/>
            <p:cNvSpPr txBox="1">
              <a:spLocks noChangeArrowheads="1"/>
            </p:cNvSpPr>
            <p:nvPr/>
          </p:nvSpPr>
          <p:spPr bwMode="auto">
            <a:xfrm>
              <a:off x="4233396" y="5736106"/>
              <a:ext cx="864096" cy="288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just"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(STOP)</a:t>
              </a:r>
            </a:p>
          </p:txBody>
        </p:sp>
        <p:grpSp>
          <p:nvGrpSpPr>
            <p:cNvPr id="174" name="组合 173"/>
            <p:cNvGrpSpPr/>
            <p:nvPr/>
          </p:nvGrpSpPr>
          <p:grpSpPr>
            <a:xfrm>
              <a:off x="1353076" y="5733256"/>
              <a:ext cx="2880192" cy="504064"/>
              <a:chOff x="346104" y="3138688"/>
              <a:chExt cx="2880192" cy="504064"/>
            </a:xfrm>
          </p:grpSpPr>
          <p:sp>
            <p:nvSpPr>
              <p:cNvPr id="179" name="Text Box 65"/>
              <p:cNvSpPr txBox="1">
                <a:spLocks noChangeArrowheads="1"/>
              </p:cNvSpPr>
              <p:nvPr/>
            </p:nvSpPr>
            <p:spPr bwMode="auto">
              <a:xfrm>
                <a:off x="346104" y="3138752"/>
                <a:ext cx="1728000" cy="504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dash"/>
                <a:miter lim="800000"/>
              </a:ln>
              <a:effectLst/>
            </p:spPr>
            <p:txBody>
              <a:bodyPr lIns="54000" tIns="10800" rIns="18000" bIns="10800" anchor="ctr"/>
              <a:lstStyle/>
              <a:p>
                <a:pPr algn="just"/>
                <a:endParaRPr lang="en-US" altLang="zh-CN" sz="1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75" name="Text Box 65"/>
              <p:cNvSpPr txBox="1">
                <a:spLocks noChangeArrowheads="1"/>
              </p:cNvSpPr>
              <p:nvPr/>
            </p:nvSpPr>
            <p:spPr bwMode="auto">
              <a:xfrm>
                <a:off x="346104" y="3138688"/>
                <a:ext cx="1728000" cy="288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noFill/>
                <a:prstDash val="sysDot"/>
                <a:miter lim="800000"/>
              </a:ln>
              <a:effectLst/>
            </p:spPr>
            <p:txBody>
              <a:bodyPr lIns="54000" tIns="10800" rIns="18000" bIns="10800" anchor="ctr"/>
              <a:lstStyle/>
              <a:p>
                <a:pPr algn="just">
                  <a:lnSpc>
                    <a:spcPct val="90000"/>
                  </a:lnSpc>
                </a:pPr>
                <a:r>
                  <a:rPr lang="en-US" altLang="zh-CN" sz="1800" b="1" dirty="0">
                    <a:latin typeface="宋体" panose="02010600030101010101" pitchFamily="2" charset="-122"/>
                  </a:rPr>
                  <a:t>PC</a:t>
                </a:r>
                <a:r>
                  <a:rPr lang="en-US" altLang="zh-CN" sz="18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→</a:t>
                </a:r>
                <a:r>
                  <a:rPr lang="en-US" altLang="zh-CN" sz="1800" b="1" dirty="0">
                    <a:latin typeface="宋体" panose="02010600030101010101" pitchFamily="2" charset="-122"/>
                  </a:rPr>
                  <a:t>MEM</a:t>
                </a:r>
                <a:r>
                  <a:rPr lang="en-US" altLang="zh-CN" sz="1800" b="1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(R)</a:t>
                </a:r>
                <a:r>
                  <a:rPr lang="en-US" altLang="zh-CN" sz="18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→</a:t>
                </a:r>
                <a:r>
                  <a:rPr lang="en-US" altLang="zh-CN" sz="1800" b="1" dirty="0">
                    <a:latin typeface="宋体" panose="02010600030101010101" pitchFamily="2" charset="-122"/>
                  </a:rPr>
                  <a:t>IR</a:t>
                </a:r>
              </a:p>
            </p:txBody>
          </p:sp>
          <p:sp>
            <p:nvSpPr>
              <p:cNvPr id="176" name="Text Box 65"/>
              <p:cNvSpPr txBox="1">
                <a:spLocks noChangeArrowheads="1"/>
              </p:cNvSpPr>
              <p:nvPr/>
            </p:nvSpPr>
            <p:spPr bwMode="auto">
              <a:xfrm>
                <a:off x="2074296" y="3140968"/>
                <a:ext cx="1152000" cy="288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2700">
                <a:solidFill>
                  <a:schemeClr val="tx1"/>
                </a:solidFill>
                <a:prstDash val="dash"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800" b="1" dirty="0">
                    <a:latin typeface="宋体" panose="02010600030101010101" pitchFamily="2" charset="-122"/>
                  </a:rPr>
                  <a:t>(IR)</a:t>
                </a:r>
                <a:r>
                  <a:rPr lang="en-US" altLang="zh-CN" sz="1800" b="1" baseline="-18000" dirty="0">
                    <a:latin typeface="宋体" panose="02010600030101010101" pitchFamily="2" charset="-122"/>
                  </a:rPr>
                  <a:t>OP</a:t>
                </a:r>
                <a:r>
                  <a:rPr lang="en-US" altLang="zh-CN" sz="1800" b="1" dirty="0">
                    <a:latin typeface="宋体" panose="02010600030101010101" pitchFamily="2" charset="-122"/>
                  </a:rPr>
                  <a:t>→ID</a:t>
                </a:r>
              </a:p>
            </p:txBody>
          </p:sp>
          <p:sp>
            <p:nvSpPr>
              <p:cNvPr id="177" name="Text Box 65"/>
              <p:cNvSpPr txBox="1">
                <a:spLocks noChangeArrowheads="1"/>
              </p:cNvSpPr>
              <p:nvPr/>
            </p:nvSpPr>
            <p:spPr bwMode="auto">
              <a:xfrm>
                <a:off x="706296" y="3426720"/>
                <a:ext cx="1368000" cy="216000"/>
              </a:xfrm>
              <a:prstGeom prst="rect">
                <a:avLst/>
              </a:prstGeom>
              <a:solidFill>
                <a:srgbClr val="CCFFFF">
                  <a:alpha val="90000"/>
                </a:srgbClr>
              </a:solidFill>
              <a:ln w="12700">
                <a:noFill/>
                <a:prstDash val="sysDot"/>
                <a:miter lim="800000"/>
              </a:ln>
              <a:effectLst/>
            </p:spPr>
            <p:txBody>
              <a:bodyPr lIns="54000" tIns="10800" rIns="18000" bIns="10800" anchor="ctr"/>
              <a:lstStyle/>
              <a:p>
                <a:pPr algn="just">
                  <a:lnSpc>
                    <a:spcPct val="90000"/>
                  </a:lnSpc>
                </a:pPr>
                <a:r>
                  <a:rPr lang="en-US" altLang="zh-CN" sz="1800" b="1" dirty="0">
                    <a:solidFill>
                      <a:schemeClr val="accent2"/>
                    </a:solidFill>
                    <a:latin typeface="宋体" panose="02010600030101010101" pitchFamily="2" charset="-122"/>
                  </a:rPr>
                  <a:t>  </a:t>
                </a:r>
                <a:r>
                  <a:rPr lang="zh-CN" altLang="en-US" sz="1800" b="1" dirty="0">
                    <a:latin typeface="宋体" panose="02010600030101010101" pitchFamily="2" charset="-122"/>
                  </a:rPr>
                  <a:t>＋</a:t>
                </a:r>
                <a:r>
                  <a:rPr lang="en-US" altLang="zh-CN" sz="1800" b="1" dirty="0">
                    <a:latin typeface="宋体" panose="02010600030101010101" pitchFamily="2" charset="-122"/>
                  </a:rPr>
                  <a:t>1→PC</a:t>
                </a:r>
              </a:p>
            </p:txBody>
          </p:sp>
          <p:cxnSp>
            <p:nvCxnSpPr>
              <p:cNvPr id="178" name="直接连接符 10"/>
              <p:cNvCxnSpPr/>
              <p:nvPr/>
            </p:nvCxnSpPr>
            <p:spPr bwMode="auto">
              <a:xfrm rot="16200000" flipH="1">
                <a:off x="727822" y="3300704"/>
                <a:ext cx="252000" cy="216000"/>
              </a:xfrm>
              <a:prstGeom prst="bentConnector3">
                <a:avLst>
                  <a:gd name="adj1" fmla="val 100807"/>
                </a:avLst>
              </a:prstGeom>
              <a:noFill/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</p:cxnSp>
        </p:grpSp>
      </p:grpSp>
      <p:sp>
        <p:nvSpPr>
          <p:cNvPr id="180" name="Text Box 36"/>
          <p:cNvSpPr txBox="1">
            <a:spLocks noChangeArrowheads="1"/>
          </p:cNvSpPr>
          <p:nvPr/>
        </p:nvSpPr>
        <p:spPr bwMode="auto">
          <a:xfrm>
            <a:off x="7175342" y="2817000"/>
            <a:ext cx="1368152" cy="612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18000" tIns="10800" rIns="18000" bIns="10800">
            <a:noAutofit/>
          </a:bodyPr>
          <a:lstStyle/>
          <a:p>
            <a:r>
              <a:rPr lang="en-US" altLang="zh-CN" sz="1800" b="1" dirty="0">
                <a:latin typeface="宋体" panose="02010600030101010101" pitchFamily="2" charset="-122"/>
              </a:rPr>
              <a:t>(PC)=2001</a:t>
            </a:r>
          </a:p>
          <a:p>
            <a:r>
              <a:rPr lang="en-US" altLang="zh-CN" sz="1800" b="1" dirty="0">
                <a:latin typeface="宋体" panose="02010600030101010101" pitchFamily="2" charset="-122"/>
              </a:rPr>
              <a:t>(AC)=x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181" name="Text Box 36"/>
          <p:cNvSpPr txBox="1">
            <a:spLocks noChangeArrowheads="1"/>
          </p:cNvSpPr>
          <p:nvPr/>
        </p:nvSpPr>
        <p:spPr bwMode="auto">
          <a:xfrm>
            <a:off x="7175342" y="3465072"/>
            <a:ext cx="1368152" cy="612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18000" tIns="10800" rIns="18000" bIns="10800">
            <a:noAutofit/>
          </a:bodyPr>
          <a:lstStyle/>
          <a:p>
            <a:r>
              <a:rPr lang="en-US" altLang="zh-CN" sz="1800" b="1" dirty="0">
                <a:latin typeface="宋体" panose="02010600030101010101" pitchFamily="2" charset="-122"/>
              </a:rPr>
              <a:t>(PC)=2002</a:t>
            </a:r>
          </a:p>
          <a:p>
            <a:r>
              <a:rPr lang="en-US" altLang="zh-CN" sz="1800" b="1" dirty="0">
                <a:latin typeface="宋体" panose="02010600030101010101" pitchFamily="2" charset="-122"/>
              </a:rPr>
              <a:t>(AC)=</a:t>
            </a:r>
            <a:r>
              <a:rPr lang="en-US" altLang="zh-CN" sz="1800" b="1" dirty="0" err="1">
                <a:latin typeface="宋体" panose="02010600030101010101" pitchFamily="2" charset="-122"/>
              </a:rPr>
              <a:t>x+b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182" name="Text Box 36"/>
          <p:cNvSpPr txBox="1">
            <a:spLocks noChangeArrowheads="1"/>
          </p:cNvSpPr>
          <p:nvPr/>
        </p:nvSpPr>
        <p:spPr bwMode="auto">
          <a:xfrm>
            <a:off x="7175342" y="4185152"/>
            <a:ext cx="1368152" cy="612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18000" tIns="10800" rIns="18000" bIns="10800">
            <a:noAutofit/>
          </a:bodyPr>
          <a:lstStyle/>
          <a:p>
            <a:r>
              <a:rPr lang="en-US" altLang="zh-CN" sz="1800" b="1" dirty="0">
                <a:latin typeface="宋体" panose="02010600030101010101" pitchFamily="2" charset="-122"/>
              </a:rPr>
              <a:t>(PC)=2003</a:t>
            </a:r>
          </a:p>
          <a:p>
            <a:r>
              <a:rPr lang="en-US" altLang="zh-CN" sz="1800" b="1" dirty="0">
                <a:latin typeface="宋体" panose="02010600030101010101" pitchFamily="2" charset="-122"/>
              </a:rPr>
              <a:t>M[&amp;y]=</a:t>
            </a:r>
            <a:r>
              <a:rPr lang="en-US" altLang="zh-CN" sz="1800" b="1" dirty="0" err="1">
                <a:latin typeface="宋体" panose="02010600030101010101" pitchFamily="2" charset="-122"/>
              </a:rPr>
              <a:t>x+b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cxnSp>
        <p:nvCxnSpPr>
          <p:cNvPr id="217" name="直接连接符 10"/>
          <p:cNvCxnSpPr>
            <a:stCxn id="164" idx="3"/>
            <a:endCxn id="175" idx="1"/>
          </p:cNvCxnSpPr>
          <p:nvPr/>
        </p:nvCxnSpPr>
        <p:spPr bwMode="auto">
          <a:xfrm flipH="1">
            <a:off x="539552" y="4402647"/>
            <a:ext cx="4536504" cy="538505"/>
          </a:xfrm>
          <a:prstGeom prst="bentConnector5">
            <a:avLst>
              <a:gd name="adj1" fmla="val -5039"/>
              <a:gd name="adj2" fmla="val 60028"/>
              <a:gd name="adj3" fmla="val 105039"/>
            </a:avLst>
          </a:prstGeom>
          <a:noFill/>
          <a:ln w="12700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  <a:effectLst/>
        </p:spPr>
      </p:cxnSp>
      <p:sp>
        <p:nvSpPr>
          <p:cNvPr id="86" name="AutoShape 62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sp>
        <p:nvSpPr>
          <p:cNvPr id="89" name="Text Box 36"/>
          <p:cNvSpPr txBox="1">
            <a:spLocks noChangeArrowheads="1"/>
          </p:cNvSpPr>
          <p:nvPr/>
        </p:nvSpPr>
        <p:spPr bwMode="auto">
          <a:xfrm>
            <a:off x="1669673" y="2492896"/>
            <a:ext cx="6862767" cy="322326"/>
          </a:xfrm>
          <a:prstGeom prst="rect">
            <a:avLst/>
          </a:prstGeom>
          <a:solidFill>
            <a:srgbClr val="CCCCFF">
              <a:alpha val="80000"/>
            </a:srgbClr>
          </a:solidFill>
          <a:ln w="19050">
            <a:noFill/>
            <a:miter lim="800000"/>
          </a:ln>
          <a:effectLst/>
        </p:spPr>
        <p:txBody>
          <a:bodyPr wrap="square" lIns="18000" tIns="10800" rIns="18000" bIns="10800">
            <a:noAutofit/>
          </a:bodyPr>
          <a:lstStyle/>
          <a:p>
            <a:r>
              <a:rPr lang="zh-CN" altLang="en-US" sz="1800" b="1" dirty="0">
                <a:latin typeface="宋体" panose="02010600030101010101" pitchFamily="2" charset="-122"/>
              </a:rPr>
              <a:t>指令执行过程的操作                            指令执行结果</a:t>
            </a:r>
          </a:p>
        </p:txBody>
      </p:sp>
      <p:sp>
        <p:nvSpPr>
          <p:cNvPr id="90" name="AutoShape 338"/>
          <p:cNvSpPr/>
          <p:nvPr/>
        </p:nvSpPr>
        <p:spPr bwMode="auto">
          <a:xfrm>
            <a:off x="5508104" y="499532"/>
            <a:ext cx="1876922" cy="265172"/>
          </a:xfrm>
          <a:prstGeom prst="borderCallout2">
            <a:avLst>
              <a:gd name="adj1" fmla="val 50491"/>
              <a:gd name="adj2" fmla="val 40"/>
              <a:gd name="adj3" fmla="val 52983"/>
              <a:gd name="adj4" fmla="val -15530"/>
              <a:gd name="adj5" fmla="val 338126"/>
              <a:gd name="adj6" fmla="val -37737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lvl="0" algn="ctr">
              <a:lnSpc>
                <a:spcPct val="90000"/>
              </a:lnSpc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/>
              </a:rPr>
              <a:t>忽略地址变换问题</a:t>
            </a:r>
          </a:p>
        </p:txBody>
      </p:sp>
      <p:sp>
        <p:nvSpPr>
          <p:cNvPr id="91" name="AutoShape 30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1908000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7" name="组合 146"/>
          <p:cNvGrpSpPr/>
          <p:nvPr/>
        </p:nvGrpSpPr>
        <p:grpSpPr>
          <a:xfrm>
            <a:off x="539552" y="2852936"/>
            <a:ext cx="2880320" cy="504032"/>
            <a:chOff x="357158" y="3133558"/>
            <a:chExt cx="2880320" cy="504032"/>
          </a:xfrm>
        </p:grpSpPr>
        <p:sp>
          <p:nvSpPr>
            <p:cNvPr id="152" name="Text Box 65"/>
            <p:cNvSpPr txBox="1">
              <a:spLocks noChangeArrowheads="1"/>
            </p:cNvSpPr>
            <p:nvPr/>
          </p:nvSpPr>
          <p:spPr bwMode="auto">
            <a:xfrm>
              <a:off x="357350" y="3133558"/>
              <a:ext cx="1728000" cy="50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just">
                <a:lnSpc>
                  <a:spcPct val="90000"/>
                </a:lnSpc>
              </a:pP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8" name="Text Box 65"/>
            <p:cNvSpPr txBox="1">
              <a:spLocks noChangeArrowheads="1"/>
            </p:cNvSpPr>
            <p:nvPr/>
          </p:nvSpPr>
          <p:spPr bwMode="auto">
            <a:xfrm>
              <a:off x="357158" y="3133558"/>
              <a:ext cx="1728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noFill/>
              <a:prstDash val="sysDot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just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PC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MEM</a:t>
              </a:r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(R)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→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149" name="Text Box 65"/>
            <p:cNvSpPr txBox="1">
              <a:spLocks noChangeArrowheads="1"/>
            </p:cNvSpPr>
            <p:nvPr/>
          </p:nvSpPr>
          <p:spPr bwMode="auto">
            <a:xfrm>
              <a:off x="2085478" y="3140968"/>
              <a:ext cx="1152000" cy="28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(IR)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OP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→ID</a:t>
              </a:r>
            </a:p>
          </p:txBody>
        </p:sp>
        <p:sp>
          <p:nvSpPr>
            <p:cNvPr id="150" name="Text Box 65"/>
            <p:cNvSpPr txBox="1">
              <a:spLocks noChangeArrowheads="1"/>
            </p:cNvSpPr>
            <p:nvPr/>
          </p:nvSpPr>
          <p:spPr bwMode="auto">
            <a:xfrm>
              <a:off x="717350" y="3421590"/>
              <a:ext cx="1368000" cy="216000"/>
            </a:xfrm>
            <a:prstGeom prst="rect">
              <a:avLst/>
            </a:prstGeom>
            <a:solidFill>
              <a:srgbClr val="CCFFFF">
                <a:alpha val="90000"/>
              </a:srgbClr>
            </a:solidFill>
            <a:ln w="12700">
              <a:noFill/>
              <a:prstDash val="sysDot"/>
              <a:miter lim="800000"/>
            </a:ln>
            <a:effectLst/>
          </p:spPr>
          <p:txBody>
            <a:bodyPr lIns="54000" tIns="10800" rIns="18000" bIns="10800" anchor="ctr"/>
            <a:lstStyle/>
            <a:p>
              <a:pPr algn="just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  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1→PC</a:t>
              </a:r>
            </a:p>
          </p:txBody>
        </p:sp>
        <p:cxnSp>
          <p:nvCxnSpPr>
            <p:cNvPr id="151" name="直接连接符 10"/>
            <p:cNvCxnSpPr/>
            <p:nvPr/>
          </p:nvCxnSpPr>
          <p:spPr bwMode="auto">
            <a:xfrm rot="16200000" flipH="1">
              <a:off x="727823" y="3295574"/>
              <a:ext cx="252000" cy="216000"/>
            </a:xfrm>
            <a:prstGeom prst="bentConnector3">
              <a:avLst>
                <a:gd name="adj1" fmla="val 100807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3" name="组合 2"/>
          <p:cNvGrpSpPr/>
          <p:nvPr/>
        </p:nvGrpSpPr>
        <p:grpSpPr>
          <a:xfrm>
            <a:off x="5289803" y="4941168"/>
            <a:ext cx="3384376" cy="1224136"/>
            <a:chOff x="4644008" y="5085184"/>
            <a:chExt cx="3384376" cy="1224136"/>
          </a:xfrm>
        </p:grpSpPr>
        <p:sp>
          <p:nvSpPr>
            <p:cNvPr id="128" name="Text Box 705"/>
            <p:cNvSpPr txBox="1">
              <a:spLocks noChangeArrowheads="1"/>
            </p:cNvSpPr>
            <p:nvPr/>
          </p:nvSpPr>
          <p:spPr bwMode="auto">
            <a:xfrm>
              <a:off x="5076056" y="6021288"/>
              <a:ext cx="2376000" cy="180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prstDash val="solid"/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kumimoji="0" lang="en-US" altLang="zh-CN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 </a:t>
              </a:r>
              <a:r>
                <a:rPr kumimoji="0" lang="zh-CN" altLang="en-US" sz="14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部件互连结构</a:t>
              </a:r>
              <a:endParaRPr kumimoji="0"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29" name="Text Box 174"/>
            <p:cNvSpPr txBox="1">
              <a:spLocks noChangeArrowheads="1"/>
            </p:cNvSpPr>
            <p:nvPr/>
          </p:nvSpPr>
          <p:spPr bwMode="auto">
            <a:xfrm>
              <a:off x="7668344" y="5301208"/>
              <a:ext cx="360040" cy="828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130" name="Rectangle 175"/>
            <p:cNvSpPr>
              <a:spLocks noChangeArrowheads="1"/>
            </p:cNvSpPr>
            <p:nvPr/>
          </p:nvSpPr>
          <p:spPr bwMode="auto">
            <a:xfrm>
              <a:off x="4644008" y="5085184"/>
              <a:ext cx="2880000" cy="11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" name="Rectangle 178" descr="轮廓式菱形"/>
            <p:cNvSpPr>
              <a:spLocks noChangeArrowheads="1"/>
            </p:cNvSpPr>
            <p:nvPr/>
          </p:nvSpPr>
          <p:spPr bwMode="auto">
            <a:xfrm>
              <a:off x="6300192" y="5229200"/>
              <a:ext cx="1152000" cy="72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" name="Rectangle 179" descr="瓦形"/>
            <p:cNvSpPr>
              <a:spLocks noChangeArrowheads="1"/>
            </p:cNvSpPr>
            <p:nvPr/>
          </p:nvSpPr>
          <p:spPr bwMode="auto">
            <a:xfrm>
              <a:off x="4716016" y="5157192"/>
              <a:ext cx="1512000" cy="792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Text Box 190"/>
            <p:cNvSpPr txBox="1">
              <a:spLocks noChangeArrowheads="1"/>
            </p:cNvSpPr>
            <p:nvPr/>
          </p:nvSpPr>
          <p:spPr bwMode="auto">
            <a:xfrm>
              <a:off x="4932040" y="5661272"/>
              <a:ext cx="43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AC</a:t>
              </a:r>
            </a:p>
          </p:txBody>
        </p:sp>
        <p:sp>
          <p:nvSpPr>
            <p:cNvPr id="167" name="AutoShape 191"/>
            <p:cNvSpPr>
              <a:spLocks noChangeArrowheads="1"/>
            </p:cNvSpPr>
            <p:nvPr/>
          </p:nvSpPr>
          <p:spPr bwMode="auto">
            <a:xfrm rot="10800000">
              <a:off x="5004049" y="5301231"/>
              <a:ext cx="648000" cy="216000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83" name="Text Box 201"/>
            <p:cNvSpPr txBox="1">
              <a:spLocks noChangeArrowheads="1"/>
            </p:cNvSpPr>
            <p:nvPr/>
          </p:nvSpPr>
          <p:spPr bwMode="auto">
            <a:xfrm>
              <a:off x="6372296" y="5661272"/>
              <a:ext cx="43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184" name="Text Box 202"/>
            <p:cNvSpPr txBox="1">
              <a:spLocks noChangeArrowheads="1"/>
            </p:cNvSpPr>
            <p:nvPr/>
          </p:nvSpPr>
          <p:spPr bwMode="auto">
            <a:xfrm>
              <a:off x="6876304" y="5661272"/>
              <a:ext cx="43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185" name="Text Box 203"/>
            <p:cNvSpPr txBox="1">
              <a:spLocks noChangeArrowheads="1"/>
            </p:cNvSpPr>
            <p:nvPr/>
          </p:nvSpPr>
          <p:spPr bwMode="auto">
            <a:xfrm>
              <a:off x="6948304" y="5301208"/>
              <a:ext cx="36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186" name="Text Box 209"/>
            <p:cNvSpPr txBox="1">
              <a:spLocks noChangeArrowheads="1"/>
            </p:cNvSpPr>
            <p:nvPr/>
          </p:nvSpPr>
          <p:spPr bwMode="auto">
            <a:xfrm>
              <a:off x="5580112" y="5661248"/>
              <a:ext cx="504000" cy="216000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+mn-ea"/>
                  <a:ea typeface="+mn-ea"/>
                  <a:cs typeface="Arial Unicode MS" panose="020B0604020202020204" charset="-122"/>
                </a:rPr>
                <a:t>+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endParaRPr lang="en-US" altLang="zh-CN" sz="1600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cxnSp>
          <p:nvCxnSpPr>
            <p:cNvPr id="187" name="直接连接符 56"/>
            <p:cNvCxnSpPr/>
            <p:nvPr/>
          </p:nvCxnSpPr>
          <p:spPr bwMode="auto">
            <a:xfrm rot="10800000">
              <a:off x="4788025" y="5229272"/>
              <a:ext cx="144000" cy="540000"/>
            </a:xfrm>
            <a:prstGeom prst="bentConnector2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none" w="med" len="sm"/>
            </a:ln>
            <a:effectLst/>
          </p:spPr>
        </p:cxnSp>
        <p:cxnSp>
          <p:nvCxnSpPr>
            <p:cNvPr id="188" name="直接连接符 56"/>
            <p:cNvCxnSpPr/>
            <p:nvPr/>
          </p:nvCxnSpPr>
          <p:spPr bwMode="auto">
            <a:xfrm>
              <a:off x="5148064" y="5877288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9" name="直接连接符 56"/>
            <p:cNvCxnSpPr/>
            <p:nvPr/>
          </p:nvCxnSpPr>
          <p:spPr bwMode="auto">
            <a:xfrm flipV="1">
              <a:off x="5148064" y="5517248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190" name="直接连接符 56"/>
            <p:cNvCxnSpPr/>
            <p:nvPr/>
          </p:nvCxnSpPr>
          <p:spPr bwMode="auto">
            <a:xfrm flipV="1">
              <a:off x="5508104" y="5517288"/>
              <a:ext cx="1" cy="50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191" name="直接连接符 56"/>
            <p:cNvCxnSpPr/>
            <p:nvPr/>
          </p:nvCxnSpPr>
          <p:spPr bwMode="auto">
            <a:xfrm flipH="1">
              <a:off x="6804264" y="5373216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192" name="直接连接符 56"/>
            <p:cNvCxnSpPr/>
            <p:nvPr/>
          </p:nvCxnSpPr>
          <p:spPr bwMode="auto">
            <a:xfrm flipH="1">
              <a:off x="5580112" y="5408677"/>
              <a:ext cx="144016" cy="1588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3" name="直接连接符 56"/>
            <p:cNvCxnSpPr/>
            <p:nvPr/>
          </p:nvCxnSpPr>
          <p:spPr bwMode="auto">
            <a:xfrm flipV="1">
              <a:off x="7020272" y="5517232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194" name="直接连接符 56"/>
            <p:cNvCxnSpPr/>
            <p:nvPr/>
          </p:nvCxnSpPr>
          <p:spPr bwMode="auto">
            <a:xfrm flipH="1" flipV="1">
              <a:off x="7092328" y="5877272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195" name="直接连接符 56"/>
            <p:cNvCxnSpPr/>
            <p:nvPr/>
          </p:nvCxnSpPr>
          <p:spPr bwMode="auto">
            <a:xfrm rot="5400000">
              <a:off x="5547053" y="6255320"/>
              <a:ext cx="10800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196" name="直接连接符 56"/>
            <p:cNvCxnSpPr/>
            <p:nvPr/>
          </p:nvCxnSpPr>
          <p:spPr bwMode="auto">
            <a:xfrm rot="5400000">
              <a:off x="6822256" y="6255320"/>
              <a:ext cx="10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97" name="直接连接符 56"/>
            <p:cNvCxnSpPr/>
            <p:nvPr/>
          </p:nvCxnSpPr>
          <p:spPr bwMode="auto">
            <a:xfrm rot="5400000">
              <a:off x="6339338" y="6255320"/>
              <a:ext cx="10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198" name="直接连接符 56"/>
            <p:cNvCxnSpPr/>
            <p:nvPr/>
          </p:nvCxnSpPr>
          <p:spPr bwMode="auto">
            <a:xfrm rot="16200000" flipH="1">
              <a:off x="5832144" y="5697249"/>
              <a:ext cx="360000" cy="288000"/>
            </a:xfrm>
            <a:prstGeom prst="bentConnector3">
              <a:avLst>
                <a:gd name="adj1" fmla="val -19250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9" name="直接连接符 56"/>
            <p:cNvCxnSpPr/>
            <p:nvPr/>
          </p:nvCxnSpPr>
          <p:spPr bwMode="auto">
            <a:xfrm flipH="1" flipV="1">
              <a:off x="6228184" y="5373216"/>
              <a:ext cx="21606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sp>
          <p:nvSpPr>
            <p:cNvPr id="200" name="Text Box 190"/>
            <p:cNvSpPr txBox="1">
              <a:spLocks noChangeArrowheads="1"/>
            </p:cNvSpPr>
            <p:nvPr/>
          </p:nvSpPr>
          <p:spPr bwMode="auto">
            <a:xfrm>
              <a:off x="5148064" y="5302348"/>
              <a:ext cx="360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ALU</a:t>
              </a:r>
            </a:p>
          </p:txBody>
        </p:sp>
        <p:cxnSp>
          <p:nvCxnSpPr>
            <p:cNvPr id="201" name="直接连接符 56"/>
            <p:cNvCxnSpPr/>
            <p:nvPr/>
          </p:nvCxnSpPr>
          <p:spPr bwMode="auto">
            <a:xfrm>
              <a:off x="6588272" y="5877272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2" name="直接箭头连接符 201"/>
            <p:cNvCxnSpPr/>
            <p:nvPr/>
          </p:nvCxnSpPr>
          <p:spPr bwMode="auto">
            <a:xfrm>
              <a:off x="5508104" y="6309320"/>
              <a:ext cx="2520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3" name="直接连接符 56"/>
            <p:cNvCxnSpPr/>
            <p:nvPr/>
          </p:nvCxnSpPr>
          <p:spPr bwMode="auto">
            <a:xfrm flipV="1">
              <a:off x="7740352" y="6129312"/>
              <a:ext cx="0" cy="18000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204" name="直接连接符 56"/>
            <p:cNvCxnSpPr/>
            <p:nvPr/>
          </p:nvCxnSpPr>
          <p:spPr bwMode="auto">
            <a:xfrm flipV="1">
              <a:off x="7852280" y="6129312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205" name="直接连接符 56"/>
            <p:cNvCxnSpPr/>
            <p:nvPr/>
          </p:nvCxnSpPr>
          <p:spPr bwMode="auto">
            <a:xfrm>
              <a:off x="4788024" y="5229208"/>
              <a:ext cx="540000" cy="72000"/>
            </a:xfrm>
            <a:prstGeom prst="bentConnector2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06" name="Text Box 203"/>
            <p:cNvSpPr txBox="1">
              <a:spLocks noChangeArrowheads="1"/>
            </p:cNvSpPr>
            <p:nvPr/>
          </p:nvSpPr>
          <p:spPr bwMode="auto">
            <a:xfrm>
              <a:off x="6444248" y="5301208"/>
              <a:ext cx="36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OP</a:t>
              </a:r>
            </a:p>
          </p:txBody>
        </p:sp>
        <p:cxnSp>
          <p:nvCxnSpPr>
            <p:cNvPr id="207" name="直接连接符 56"/>
            <p:cNvCxnSpPr/>
            <p:nvPr/>
          </p:nvCxnSpPr>
          <p:spPr bwMode="auto">
            <a:xfrm flipH="1">
              <a:off x="6804264" y="5445224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208" name="直接连接符 56"/>
            <p:cNvCxnSpPr/>
            <p:nvPr/>
          </p:nvCxnSpPr>
          <p:spPr bwMode="auto">
            <a:xfrm flipH="1" flipV="1">
              <a:off x="6228144" y="5445224"/>
              <a:ext cx="21606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209" name="直接连接符 56"/>
            <p:cNvCxnSpPr/>
            <p:nvPr/>
          </p:nvCxnSpPr>
          <p:spPr bwMode="auto">
            <a:xfrm rot="5400000">
              <a:off x="7866376" y="6219312"/>
              <a:ext cx="180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10" name="直接连接符 56"/>
            <p:cNvCxnSpPr/>
            <p:nvPr/>
          </p:nvCxnSpPr>
          <p:spPr bwMode="auto">
            <a:xfrm flipH="1" flipV="1">
              <a:off x="5868144" y="5877272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</p:cxnSp>
        <p:cxnSp>
          <p:nvCxnSpPr>
            <p:cNvPr id="92" name="直接连接符 56"/>
            <p:cNvCxnSpPr/>
            <p:nvPr/>
          </p:nvCxnSpPr>
          <p:spPr bwMode="auto">
            <a:xfrm rot="16200000" flipH="1">
              <a:off x="7128328" y="5769249"/>
              <a:ext cx="360000" cy="144000"/>
            </a:xfrm>
            <a:prstGeom prst="bentConnector3">
              <a:avLst>
                <a:gd name="adj1" fmla="val -19250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sp>
        <p:nvSpPr>
          <p:cNvPr id="4" name="Text Box 3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26393" y="5409264"/>
            <a:ext cx="4176000" cy="396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18000" tIns="10800" rIns="18000" bIns="10800">
            <a:noAutofit/>
          </a:bodyPr>
          <a:lstStyle/>
          <a:p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特征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由若干</a:t>
            </a:r>
            <a:r>
              <a:rPr lang="zh-CN" altLang="en-US" sz="2200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有序的操作</a:t>
            </a:r>
            <a:r>
              <a:rPr lang="zh-CN" altLang="en-US" sz="22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组成</a:t>
            </a:r>
          </a:p>
        </p:txBody>
      </p:sp>
      <p:sp>
        <p:nvSpPr>
          <p:cNvPr id="5" name="AutoShape 711">
            <a:hlinkClick r:id="rId6" action="ppaction://hlinksldjump" highlightClick="1"/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0800000">
            <a:off x="622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 animBg="1"/>
      <p:bldP spid="181" grpId="0"/>
      <p:bldP spid="182" grpId="0"/>
      <p:bldP spid="89" grpId="0" animBg="1"/>
      <p:bldP spid="90" grpId="0" animBg="1"/>
      <p:bldP spid="4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35</a:t>
            </a:fld>
            <a:endParaRPr lang="en-US" altLang="zh-CN"/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251520" y="404664"/>
            <a:ext cx="8640960" cy="4963859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 ※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课后思考题（多选题）：</a:t>
            </a:r>
            <a:endParaRPr lang="en-US" altLang="zh-CN" sz="2200" b="1" dirty="0">
              <a:latin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1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、使用逻辑地址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(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不是物理地址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)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编程的原因有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A.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主存容量可变           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程序装入位置未知  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C.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允许程序空间≥主存空间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2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PC</a:t>
            </a:r>
            <a:r>
              <a:rPr lang="zh-CN" altLang="en-US" sz="2000" b="1" dirty="0">
                <a:latin typeface="宋体" panose="02010600030101010101" pitchFamily="2" charset="-122"/>
              </a:rPr>
              <a:t>←</a:t>
            </a:r>
            <a:r>
              <a:rPr lang="en-US" altLang="zh-CN" sz="2000" b="1" dirty="0">
                <a:latin typeface="宋体" panose="02010600030101010101" pitchFamily="2" charset="-122"/>
              </a:rPr>
              <a:t>(PC)</a:t>
            </a:r>
            <a:r>
              <a:rPr lang="zh-CN" altLang="en-US" sz="2000" b="1" dirty="0">
                <a:latin typeface="宋体" panose="02010600030101010101" pitchFamily="2" charset="-122"/>
              </a:rPr>
              <a:t>＋</a:t>
            </a:r>
            <a:r>
              <a:rPr lang="zh-CN" altLang="en-US" sz="20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0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000" b="1" dirty="0">
                <a:latin typeface="宋体" panose="02010600030101010101" pitchFamily="2" charset="-122"/>
              </a:rPr>
              <a:t>中的</a:t>
            </a:r>
            <a:r>
              <a:rPr lang="en-US" altLang="zh-CN" sz="2000" b="1" dirty="0">
                <a:latin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宋体" panose="02010600030101010101" pitchFamily="2" charset="-122"/>
              </a:rPr>
              <a:t>是指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446405" indent="-446405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  <a:sym typeface="微软雅黑" panose="020B0503020204020204" charset="-122"/>
              </a:rPr>
              <a:t>      A. </a:t>
            </a:r>
            <a:r>
              <a:rPr lang="zh-CN" altLang="en-US" sz="2000" b="1" dirty="0">
                <a:latin typeface="宋体" panose="02010600030101010101" pitchFamily="2" charset="-122"/>
                <a:sym typeface="微软雅黑" panose="020B0503020204020204" charset="-122"/>
              </a:rPr>
              <a:t>指令所占存储单元数  </a:t>
            </a:r>
            <a:r>
              <a:rPr lang="en-US" altLang="zh-CN" sz="2000" b="1" dirty="0">
                <a:latin typeface="宋体" panose="02010600030101010101" pitchFamily="2" charset="-122"/>
                <a:sym typeface="微软雅黑" panose="020B0503020204020204" charset="-122"/>
              </a:rPr>
              <a:t>B. </a:t>
            </a:r>
            <a:r>
              <a:rPr lang="zh-CN" altLang="en-US" sz="2000" b="1" dirty="0">
                <a:latin typeface="宋体" panose="02010600030101010101" pitchFamily="2" charset="-122"/>
                <a:sym typeface="微软雅黑" panose="020B0503020204020204" charset="-122"/>
              </a:rPr>
              <a:t>指令所占二进制位数  </a:t>
            </a:r>
            <a:endParaRPr lang="en-US" altLang="zh-CN" sz="2000" b="1" dirty="0">
              <a:latin typeface="宋体" panose="02010600030101010101" pitchFamily="2" charset="-122"/>
              <a:sym typeface="微软雅黑" panose="020B0503020204020204" charset="-122"/>
            </a:endParaRPr>
          </a:p>
          <a:p>
            <a:pPr marL="446405" indent="-446405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  <a:sym typeface="微软雅黑" panose="020B0503020204020204" charset="-122"/>
              </a:rPr>
              <a:t>      C.</a:t>
            </a:r>
            <a:r>
              <a:rPr lang="zh-CN" altLang="en-US" sz="2000" b="1" dirty="0">
                <a:latin typeface="宋体" panose="02010600030101010101" pitchFamily="2" charset="-122"/>
                <a:sym typeface="微软雅黑" panose="020B0503020204020204" charset="-122"/>
              </a:rPr>
              <a:t> 数值</a:t>
            </a:r>
            <a:r>
              <a:rPr lang="en-US" altLang="zh-CN" sz="2000" b="1" dirty="0">
                <a:latin typeface="宋体" panose="02010600030101010101" pitchFamily="2" charset="-122"/>
                <a:sym typeface="微软雅黑" panose="020B0503020204020204" charset="-122"/>
              </a:rPr>
              <a:t>1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3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、转移型指令的下条指令地址计算，可以提前进行的原因是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A. 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计算与指令内容无关  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 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计算与数据操作无关  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C. 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其他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4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、程序执行过程中的循环，其实现方法是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A. 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时序信号具有周期性  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B. 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用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PC</a:t>
            </a:r>
            <a:r>
              <a:rPr lang="zh-CN" altLang="en-US" sz="2000" b="1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存放下条指令地址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9248A-FA8B-4991-AE0A-CBD8CD257108}" type="slidenum">
              <a:rPr lang="en-US" altLang="zh-CN"/>
              <a:t>36</a:t>
            </a:fld>
            <a:endParaRPr lang="en-US" altLang="zh-CN"/>
          </a:p>
        </p:txBody>
      </p:sp>
      <p:sp>
        <p:nvSpPr>
          <p:cNvPr id="261124" name="Text Box 4"/>
          <p:cNvSpPr txBox="1">
            <a:spLocks noChangeArrowheads="1"/>
          </p:cNvSpPr>
          <p:nvPr/>
        </p:nvSpPr>
        <p:spPr bwMode="auto">
          <a:xfrm>
            <a:off x="7620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2800" b="1" dirty="0">
                <a:latin typeface="宋体" panose="02010600030101010101" pitchFamily="2" charset="-122"/>
              </a:rPr>
              <a:t>§1.5 </a:t>
            </a:r>
            <a:r>
              <a:rPr lang="zh-CN" altLang="en-US" sz="2800" b="1" dirty="0">
                <a:latin typeface="宋体" panose="02010600030101010101" pitchFamily="2" charset="-122"/>
              </a:rPr>
              <a:t>计算机的性能指标</a:t>
            </a:r>
          </a:p>
        </p:txBody>
      </p:sp>
      <p:sp>
        <p:nvSpPr>
          <p:cNvPr id="13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1" name="Text Box 526"/>
          <p:cNvSpPr txBox="1">
            <a:spLocks noChangeArrowheads="1"/>
          </p:cNvSpPr>
          <p:nvPr/>
        </p:nvSpPr>
        <p:spPr bwMode="auto">
          <a:xfrm>
            <a:off x="179512" y="908720"/>
            <a:ext cx="8785225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000" b="1" u="none" dirty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  <a:ea typeface="+mn-ea"/>
              </a:rPr>
              <a:t>主要</a:t>
            </a:r>
            <a:r>
              <a:rPr lang="zh-CN" altLang="en-US" sz="2000" b="1" u="none" dirty="0">
                <a:solidFill>
                  <a:srgbClr val="FF3399"/>
                </a:solidFill>
                <a:latin typeface="+mn-ea"/>
                <a:ea typeface="+mn-ea"/>
              </a:rPr>
              <a:t>内容：</a:t>
            </a:r>
            <a:r>
              <a:rPr lang="zh-CN" altLang="en-US" sz="2000" b="1" u="none" dirty="0">
                <a:latin typeface="+mn-ea"/>
                <a:ea typeface="+mn-ea"/>
              </a:rPr>
              <a:t>硬件技术指标，计算机性能指标</a:t>
            </a:r>
            <a:endParaRPr lang="en-US" altLang="zh-CN" sz="2000" b="1" u="none" dirty="0">
              <a:latin typeface="+mn-ea"/>
              <a:ea typeface="+mn-ea"/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179389" y="1844824"/>
            <a:ext cx="2088355" cy="419839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机器字长：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</a:p>
          <a:p>
            <a:pPr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单位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特点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</a:p>
          <a:p>
            <a:pPr marL="2599055" indent="-2599055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*CPU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主频：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marL="2599055" indent="-2599055">
              <a:lnSpc>
                <a:spcPct val="105000"/>
              </a:lnSpc>
            </a:pPr>
            <a:endParaRPr lang="en-US" altLang="zh-CN" sz="1800" b="1" dirty="0">
              <a:latin typeface="宋体" panose="02010600030101010101" pitchFamily="2" charset="-122"/>
            </a:endParaRPr>
          </a:p>
          <a:p>
            <a:pPr marL="2599055" indent="-2599055">
              <a:lnSpc>
                <a:spcPct val="105000"/>
              </a:lnSpc>
              <a:spcBef>
                <a:spcPts val="300"/>
              </a:spcBef>
            </a:pPr>
            <a:endParaRPr lang="en-US" altLang="zh-CN" sz="1800" b="1" dirty="0">
              <a:latin typeface="宋体" panose="02010600030101010101" pitchFamily="2" charset="-122"/>
            </a:endParaRPr>
          </a:p>
          <a:p>
            <a:pPr marL="2599055" indent="-2599055">
              <a:lnSpc>
                <a:spcPct val="105000"/>
              </a:lnSpc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 marL="2599055" indent="-2599055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单位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 marL="2599055" indent="-2599055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特点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179388" y="1340768"/>
            <a:ext cx="8785225" cy="490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、硬件的技术指标</a:t>
            </a:r>
          </a:p>
        </p:txBody>
      </p:sp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1619672" y="1844824"/>
            <a:ext cx="7344939" cy="244098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latin typeface="宋体" panose="02010600030101010101" pitchFamily="2" charset="-122"/>
              </a:rPr>
              <a:t>指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u="sng" dirty="0">
                <a:latin typeface="宋体" panose="02010600030101010101" pitchFamily="2" charset="-122"/>
              </a:rPr>
              <a:t>一次能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处理</a:t>
            </a:r>
            <a:r>
              <a:rPr lang="zh-CN" altLang="en-US" sz="2200" b="1" dirty="0">
                <a:latin typeface="宋体" panose="02010600030101010101" pitchFamily="2" charset="-122"/>
              </a:rPr>
              <a:t>数据的二进制位数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                 </a:t>
            </a:r>
            <a:r>
              <a:rPr lang="zh-CN" altLang="en-US" sz="1800" dirty="0">
                <a:latin typeface="宋体" panose="02010600030101010101" pitchFamily="2" charset="-122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</a:rPr>
              <a:t>←指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整数运算         </a:t>
            </a:r>
            <a:r>
              <a:rPr lang="zh-CN" altLang="en-US" sz="1800" b="1" spc="500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</a:rPr>
              <a:t>←早期</a:t>
            </a:r>
            <a:r>
              <a:rPr lang="en-US" altLang="zh-CN" sz="1800" b="1" dirty="0">
                <a:latin typeface="宋体" panose="02010600030101010101" pitchFamily="2" charset="-122"/>
              </a:rPr>
              <a:t>:</a:t>
            </a:r>
            <a:r>
              <a:rPr lang="zh-CN" altLang="en-US" sz="1800" b="1" dirty="0">
                <a:latin typeface="宋体" panose="02010600030101010101" pitchFamily="2" charset="-122"/>
              </a:rPr>
              <a:t>浮点运算</a:t>
            </a:r>
            <a:r>
              <a:rPr lang="zh-CN" altLang="en-US" sz="1800" b="1" dirty="0">
                <a:latin typeface="宋体" panose="02010600030101010101" pitchFamily="2" charset="-122"/>
                <a:sym typeface="Symbol" panose="05050102010706020507"/>
              </a:rPr>
              <a:t></a:t>
            </a:r>
            <a:r>
              <a:rPr lang="en-US" altLang="zh-CN" sz="1800" b="1" dirty="0">
                <a:latin typeface="宋体" panose="02010600030101010101" pitchFamily="2" charset="-122"/>
                <a:sym typeface="Symbol" panose="05050102010706020507"/>
              </a:rPr>
              <a:t>CPU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二进制位</a:t>
            </a:r>
            <a:r>
              <a:rPr lang="en-US" altLang="zh-CN" sz="2200" b="1" dirty="0">
                <a:latin typeface="宋体" panose="02010600030101010101" pitchFamily="2" charset="-122"/>
              </a:rPr>
              <a:t>(</a:t>
            </a:r>
            <a:r>
              <a:rPr lang="en-US" altLang="zh-CN" sz="2200" dirty="0">
                <a:latin typeface="+mn-lt"/>
              </a:rPr>
              <a:t>bit</a:t>
            </a:r>
            <a:r>
              <a:rPr lang="en-US" altLang="zh-CN" sz="22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zh-CN" altLang="en-US" sz="2200" b="1" dirty="0">
                <a:latin typeface="+mn-ea"/>
                <a:ea typeface="+mn-ea"/>
              </a:rPr>
              <a:t>如</a:t>
            </a:r>
            <a:r>
              <a:rPr lang="en-US" altLang="zh-CN" sz="2200" b="1" dirty="0">
                <a:latin typeface="+mn-ea"/>
                <a:ea typeface="+mn-ea"/>
              </a:rPr>
              <a:t>n</a:t>
            </a:r>
            <a:r>
              <a:rPr lang="zh-CN" altLang="en-US" sz="2200" b="1" dirty="0">
                <a:latin typeface="+mn-ea"/>
                <a:ea typeface="+mn-ea"/>
              </a:rPr>
              <a:t>位</a:t>
            </a:r>
            <a:r>
              <a:rPr lang="en-US" altLang="zh-CN" sz="2200" b="1" dirty="0">
                <a:latin typeface="+mn-ea"/>
                <a:ea typeface="+mn-ea"/>
              </a:rPr>
              <a:t>CPU</a:t>
            </a:r>
            <a:r>
              <a:rPr lang="zh-CN" altLang="en-US" sz="2200" b="1" dirty="0">
                <a:latin typeface="+mn-ea"/>
                <a:ea typeface="+mn-ea"/>
              </a:rPr>
              <a:t>的机器字长为</a:t>
            </a:r>
            <a:r>
              <a:rPr lang="en-US" altLang="zh-CN" sz="2200" b="1" dirty="0">
                <a:latin typeface="+mn-ea"/>
                <a:ea typeface="+mn-ea"/>
              </a:rPr>
              <a:t>n</a:t>
            </a:r>
            <a:r>
              <a:rPr lang="zh-CN" altLang="en-US" sz="2200" b="1" dirty="0">
                <a:latin typeface="宋体" panose="02010600030101010101" pitchFamily="2" charset="-122"/>
              </a:rPr>
              <a:t>位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反映</a:t>
            </a:r>
            <a:r>
              <a:rPr lang="zh-CN" altLang="en-US" sz="2200" b="1" u="sng" dirty="0">
                <a:latin typeface="宋体" panose="02010600030101010101" pitchFamily="2" charset="-122"/>
              </a:rPr>
              <a:t>整数运算</a:t>
            </a:r>
            <a:r>
              <a:rPr lang="zh-CN" altLang="en-US" sz="2200" b="1" dirty="0">
                <a:latin typeface="宋体" panose="02010600030101010101" pitchFamily="2" charset="-122"/>
              </a:rPr>
              <a:t>的性能；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dirty="0">
                <a:latin typeface="+mn-ea"/>
                <a:ea typeface="+mn-ea"/>
              </a:rPr>
              <a:t>T</a:t>
            </a:r>
            <a:r>
              <a:rPr lang="en-US" altLang="zh-CN" sz="1800" b="1" baseline="-18000" dirty="0">
                <a:latin typeface="宋体" panose="02010600030101010101" pitchFamily="2" charset="-122"/>
              </a:rPr>
              <a:t>32</a:t>
            </a:r>
            <a:r>
              <a:rPr lang="zh-CN" altLang="en-US" sz="1800" b="1" baseline="-18000" dirty="0">
                <a:latin typeface="宋体" panose="02010600030101010101" pitchFamily="2" charset="-122"/>
              </a:rPr>
              <a:t>位加法</a:t>
            </a:r>
            <a:r>
              <a:rPr lang="zh-CN" altLang="en-US" sz="1800" b="1" dirty="0">
                <a:latin typeface="宋体" panose="02010600030101010101" pitchFamily="2" charset="-122"/>
              </a:rPr>
              <a:t>＜</a:t>
            </a:r>
            <a:r>
              <a:rPr lang="en-US" altLang="zh-CN" sz="1800" b="1" dirty="0">
                <a:latin typeface="宋体" panose="02010600030101010101" pitchFamily="2" charset="-122"/>
              </a:rPr>
              <a:t>2×</a:t>
            </a:r>
            <a:r>
              <a:rPr lang="en-US" altLang="zh-CN" sz="1800" dirty="0">
                <a:latin typeface="+mn-ea"/>
                <a:ea typeface="+mn-ea"/>
              </a:rPr>
              <a:t>T</a:t>
            </a:r>
            <a:r>
              <a:rPr lang="en-US" altLang="zh-CN" sz="1800" b="1" baseline="-18000" dirty="0">
                <a:latin typeface="宋体" panose="02010600030101010101" pitchFamily="2" charset="-122"/>
              </a:rPr>
              <a:t>16</a:t>
            </a:r>
            <a:r>
              <a:rPr lang="zh-CN" altLang="en-US" sz="1800" b="1" baseline="-18000" dirty="0">
                <a:latin typeface="宋体" panose="02010600030101010101" pitchFamily="2" charset="-122"/>
              </a:rPr>
              <a:t>位加法</a:t>
            </a:r>
            <a:endParaRPr lang="en-US" altLang="zh-CN" sz="1800" b="1" baseline="-1800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决定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ALU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、数据</a:t>
            </a:r>
            <a:r>
              <a:rPr lang="en-US" altLang="zh-CN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REG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、数据通路</a:t>
            </a:r>
            <a:r>
              <a:rPr lang="zh-CN" altLang="en-US" sz="2200" b="1" dirty="0">
                <a:latin typeface="宋体" panose="02010600030101010101" pitchFamily="2" charset="-122"/>
              </a:rPr>
              <a:t>的位数  </a:t>
            </a:r>
            <a:r>
              <a:rPr lang="zh-CN" altLang="en-US" sz="1800" b="1" dirty="0">
                <a:latin typeface="宋体" panose="02010600030101010101" pitchFamily="2" charset="-122"/>
              </a:rPr>
              <a:t>←应等于机器字长</a:t>
            </a:r>
            <a:endParaRPr lang="en-US" altLang="zh-CN" sz="1800" b="1" dirty="0">
              <a:solidFill>
                <a:schemeClr val="bg1">
                  <a:lumMod val="75000"/>
                </a:schemeClr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21" name="Text Box 4"/>
          <p:cNvSpPr txBox="1">
            <a:spLocks noChangeArrowheads="1"/>
          </p:cNvSpPr>
          <p:nvPr/>
        </p:nvSpPr>
        <p:spPr bwMode="auto">
          <a:xfrm>
            <a:off x="779145" y="3861048"/>
            <a:ext cx="8061325" cy="22019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599055" indent="-2599055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</a:rPr>
              <a:t> 指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latin typeface="宋体" panose="02010600030101010101" pitchFamily="2" charset="-122"/>
              </a:rPr>
              <a:t>内部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主时钟脉冲</a:t>
            </a:r>
            <a:r>
              <a:rPr lang="zh-CN" altLang="en-US" sz="2200" b="1" dirty="0">
                <a:latin typeface="宋体" panose="02010600030101010101" pitchFamily="2" charset="-122"/>
              </a:rPr>
              <a:t>的频率，常记为</a:t>
            </a:r>
            <a:r>
              <a:rPr lang="zh-CN" altLang="en-US" sz="2200" b="1" dirty="0">
                <a:latin typeface="+mn-lt"/>
              </a:rPr>
              <a:t> </a:t>
            </a:r>
            <a:r>
              <a:rPr lang="en-US" altLang="zh-CN" sz="2200" i="1" dirty="0">
                <a:latin typeface="+mn-lt"/>
              </a:rPr>
              <a:t>f</a:t>
            </a:r>
            <a:r>
              <a:rPr lang="en-US" altLang="zh-CN" sz="2200" b="1" i="1" dirty="0"/>
              <a:t> 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marL="2599055" indent="-2599055"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         </a:t>
            </a:r>
            <a:r>
              <a:rPr lang="zh-CN" altLang="en-US" sz="1800" dirty="0">
                <a:latin typeface="宋体" panose="02010600030101010101" pitchFamily="2" charset="-122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</a:rPr>
              <a:t>←宽度＝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主时钟周期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常记为</a:t>
            </a:r>
            <a:r>
              <a:rPr lang="en-US" altLang="zh-CN" sz="1800" b="1" i="1" dirty="0">
                <a:latin typeface="宋体" panose="02010600030101010101" pitchFamily="2" charset="-122"/>
              </a:rPr>
              <a:t>T</a:t>
            </a:r>
            <a:r>
              <a:rPr lang="en-US" altLang="zh-CN" sz="1800" b="1" baseline="-18000" dirty="0">
                <a:latin typeface="宋体" panose="02010600030101010101" pitchFamily="2" charset="-122"/>
              </a:rPr>
              <a:t>C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 marL="2599055" indent="-2599055">
              <a:lnSpc>
                <a:spcPct val="105000"/>
              </a:lnSpc>
              <a:spcBef>
                <a:spcPts val="300"/>
              </a:spcBef>
            </a:pPr>
            <a:r>
              <a:rPr lang="zh-CN" altLang="en-US" sz="1800" b="1" dirty="0">
                <a:latin typeface="宋体" panose="02010600030101010101" pitchFamily="2" charset="-122"/>
              </a:rPr>
              <a:t>                                ＝</a:t>
            </a:r>
            <a:r>
              <a:rPr lang="zh-CN" altLang="en-US" sz="18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最基本</a:t>
            </a:r>
            <a:r>
              <a:rPr lang="zh-CN" altLang="en-US" sz="1800" b="1" u="sng" dirty="0">
                <a:latin typeface="宋体" panose="02010600030101010101" pitchFamily="2" charset="-122"/>
              </a:rPr>
              <a:t>原子操作</a:t>
            </a:r>
            <a:r>
              <a:rPr lang="zh-CN" altLang="en-US" sz="1800" b="1" dirty="0">
                <a:latin typeface="宋体" panose="02010600030101010101" pitchFamily="2" charset="-122"/>
              </a:rPr>
              <a:t>的时延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marL="2599055" indent="-2599055">
              <a:lnSpc>
                <a:spcPct val="105000"/>
              </a:lnSpc>
            </a:pP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                                      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指令执行过程＝</a:t>
            </a:r>
            <a:r>
              <a:rPr lang="en-US" altLang="zh-CN" sz="1600" i="1" dirty="0">
                <a:sym typeface="+mn-ea"/>
              </a:rPr>
              <a:t>k</a:t>
            </a:r>
            <a:r>
              <a:rPr lang="zh-CN" altLang="en-US" sz="1600" b="1" dirty="0">
                <a:sym typeface="+mn-ea"/>
              </a:rPr>
              <a:t>个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原子操作≥</a:t>
            </a:r>
            <a:r>
              <a:rPr lang="en-US" altLang="zh-CN" sz="1600" i="1" dirty="0" err="1">
                <a:sym typeface="+mn-ea"/>
              </a:rPr>
              <a:t>k</a:t>
            </a:r>
            <a:r>
              <a:rPr lang="en-US" altLang="zh-CN" sz="1600" b="1" dirty="0" err="1">
                <a:sym typeface="+mn-ea"/>
              </a:rPr>
              <a:t>·</a:t>
            </a:r>
            <a:r>
              <a:rPr lang="en-US" altLang="zh-CN" sz="1600" dirty="0" err="1">
                <a:latin typeface="+mn-ea"/>
                <a:ea typeface="+mn-ea"/>
                <a:sym typeface="+mn-ea"/>
              </a:rPr>
              <a:t>T</a:t>
            </a:r>
            <a:r>
              <a:rPr lang="en-US" altLang="zh-CN" sz="1600" b="1" baseline="-18000" dirty="0" err="1">
                <a:latin typeface="宋体" panose="02010600030101010101" pitchFamily="2" charset="-122"/>
                <a:sym typeface="+mn-ea"/>
              </a:rPr>
              <a:t>C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 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 marL="2599055" indent="-2599055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1GHz=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10</a:t>
            </a:r>
            <a:r>
              <a:rPr lang="en-US" altLang="zh-CN" sz="2200" b="1" baseline="30000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en-US" altLang="zh-CN" sz="2200" b="1" baseline="30000" dirty="0">
                <a:latin typeface="+mn-lt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MHz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</a:rPr>
              <a:t>1MHz=1×10</a:t>
            </a:r>
            <a:r>
              <a:rPr lang="en-US" altLang="zh-CN" sz="2200" b="1" baseline="30000" dirty="0">
                <a:latin typeface="宋体" panose="02010600030101010101" pitchFamily="2" charset="-122"/>
              </a:rPr>
              <a:t>3</a:t>
            </a:r>
            <a:r>
              <a:rPr lang="en-US" altLang="zh-CN" sz="2200" b="1" baseline="30000" dirty="0"/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kHz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</a:rPr>
              <a:t>1kHz=1×10</a:t>
            </a:r>
            <a:r>
              <a:rPr lang="en-US" altLang="zh-CN" sz="2200" b="1" baseline="30000" dirty="0">
                <a:latin typeface="宋体" panose="02010600030101010101" pitchFamily="2" charset="-122"/>
              </a:rPr>
              <a:t>3</a:t>
            </a:r>
            <a:r>
              <a:rPr lang="en-US" altLang="zh-CN" sz="2200" b="1" baseline="30000" dirty="0"/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Hz</a:t>
            </a:r>
          </a:p>
          <a:p>
            <a:pPr marL="2599055" indent="-2599055"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</a:rPr>
              <a:t>反映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latin typeface="宋体" panose="02010600030101010101" pitchFamily="2" charset="-122"/>
              </a:rPr>
              <a:t>工作的速度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2" name="AutoShape 62">
            <a:hlinkClick r:id="rId5" action="ppaction://hlinksldjump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6200000">
            <a:off x="6228000" y="650918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Box 6"/>
          <p:cNvSpPr txBox="1">
            <a:spLocks noChangeArrowheads="1"/>
          </p:cNvSpPr>
          <p:nvPr/>
        </p:nvSpPr>
        <p:spPr bwMode="auto">
          <a:xfrm>
            <a:off x="179512" y="332656"/>
            <a:ext cx="8136904" cy="22142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存储容量：</a:t>
            </a:r>
            <a:r>
              <a:rPr lang="zh-CN" altLang="en-US" sz="2200" b="1" dirty="0">
                <a:latin typeface="宋体" panose="02010600030101010101" pitchFamily="2" charset="-122"/>
              </a:rPr>
              <a:t>包括主存容量、辅存容量，大小均</a:t>
            </a:r>
            <a:r>
              <a:rPr lang="zh-CN" altLang="en-US" sz="2200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可配置</a:t>
            </a:r>
            <a:endParaRPr lang="en-US" altLang="zh-CN" sz="2200" b="1" u="sng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单位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RAM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类：           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←主存、</a:t>
            </a:r>
            <a:r>
              <a:rPr lang="en-US" altLang="zh-CN" sz="1800" b="1" dirty="0">
                <a:latin typeface="宋体" panose="02010600030101010101" pitchFamily="2" charset="-122"/>
              </a:rPr>
              <a:t>OS</a:t>
            </a:r>
            <a:r>
              <a:rPr lang="zh-CN" altLang="en-US" sz="1800" b="1" dirty="0">
                <a:latin typeface="宋体" panose="02010600030101010101" pitchFamily="2" charset="-122"/>
              </a:rPr>
              <a:t>等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   其 余：           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←磁盘、网络等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特点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07" name="Text Box 6"/>
          <p:cNvSpPr txBox="1">
            <a:spLocks noChangeArrowheads="1"/>
          </p:cNvSpPr>
          <p:nvPr/>
        </p:nvSpPr>
        <p:spPr bwMode="auto">
          <a:xfrm>
            <a:off x="1619672" y="740165"/>
            <a:ext cx="4680520" cy="1743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      1GB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200" b="1" baseline="30000" dirty="0">
                <a:solidFill>
                  <a:srgbClr val="FF3399"/>
                </a:solidFill>
                <a:latin typeface="宋体" panose="02010600030101010101" pitchFamily="2" charset="-122"/>
              </a:rPr>
              <a:t>10</a:t>
            </a:r>
            <a:r>
              <a:rPr lang="en-US" altLang="zh-CN" sz="2200" b="1" baseline="30000" dirty="0">
                <a:solidFill>
                  <a:srgbClr val="FF3399"/>
                </a:solidFill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MB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2</a:t>
            </a:r>
            <a:r>
              <a:rPr lang="en-US" altLang="zh-CN" sz="2200" b="1" baseline="30000" dirty="0">
                <a:latin typeface="宋体" panose="02010600030101010101" pitchFamily="2" charset="-122"/>
              </a:rPr>
              <a:t>20</a:t>
            </a:r>
            <a:r>
              <a:rPr lang="en-US" altLang="zh-CN" sz="2200" b="1" baseline="30000" dirty="0"/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KB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2</a:t>
            </a:r>
            <a:r>
              <a:rPr lang="en-US" altLang="zh-CN" sz="2200" b="1" baseline="30000" dirty="0">
                <a:latin typeface="宋体" panose="02010600030101010101" pitchFamily="2" charset="-122"/>
              </a:rPr>
              <a:t>30</a:t>
            </a:r>
            <a:r>
              <a:rPr lang="en-US" altLang="zh-CN" sz="2200" b="1" baseline="30000" dirty="0"/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B</a:t>
            </a:r>
            <a:r>
              <a:rPr lang="zh-CN" altLang="en-US" sz="2200" b="1" dirty="0">
                <a:latin typeface="宋体" panose="02010600030101010101" pitchFamily="2" charset="-122"/>
              </a:rPr>
              <a:t>；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      1GB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10</a:t>
            </a:r>
            <a:r>
              <a:rPr lang="en-US" altLang="zh-CN" sz="2200" b="1" baseline="30000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en-US" altLang="zh-CN" sz="2200" b="1" baseline="30000" dirty="0"/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MB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10</a:t>
            </a:r>
            <a:r>
              <a:rPr lang="en-US" altLang="zh-CN" sz="2200" b="1" baseline="30000" dirty="0">
                <a:latin typeface="宋体" panose="02010600030101010101" pitchFamily="2" charset="-122"/>
              </a:rPr>
              <a:t>6</a:t>
            </a:r>
            <a:r>
              <a:rPr lang="en-US" altLang="zh-CN" sz="2200" b="1" baseline="30000" dirty="0"/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KB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10</a:t>
            </a:r>
            <a:r>
              <a:rPr lang="en-US" altLang="zh-CN" sz="2200" b="1" baseline="30000" dirty="0">
                <a:latin typeface="宋体" panose="02010600030101010101" pitchFamily="2" charset="-122"/>
              </a:rPr>
              <a:t>9</a:t>
            </a:r>
            <a:r>
              <a:rPr lang="en-US" altLang="zh-CN" sz="2200" b="1" baseline="30000" dirty="0"/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B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     1GiB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2</a:t>
            </a:r>
            <a:r>
              <a:rPr lang="en-US" altLang="zh-CN" sz="2200" b="1" baseline="30000" dirty="0">
                <a:latin typeface="宋体" panose="02010600030101010101" pitchFamily="2" charset="-122"/>
              </a:rPr>
              <a:t>10</a:t>
            </a:r>
            <a:r>
              <a:rPr lang="en-US" altLang="zh-CN" sz="2200" b="1" baseline="30000" dirty="0"/>
              <a:t> </a:t>
            </a:r>
            <a:r>
              <a:rPr lang="en-US" altLang="zh-CN" sz="2200" b="1" dirty="0" err="1">
                <a:latin typeface="宋体" panose="02010600030101010101" pitchFamily="2" charset="-122"/>
              </a:rPr>
              <a:t>MiB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2</a:t>
            </a:r>
            <a:r>
              <a:rPr lang="en-US" altLang="zh-CN" sz="2200" b="1" baseline="30000" dirty="0">
                <a:latin typeface="宋体" panose="02010600030101010101" pitchFamily="2" charset="-122"/>
              </a:rPr>
              <a:t>20</a:t>
            </a:r>
            <a:r>
              <a:rPr lang="en-US" altLang="zh-CN" sz="2200" b="1" baseline="30000" dirty="0"/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KiB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2</a:t>
            </a:r>
            <a:r>
              <a:rPr lang="en-US" altLang="zh-CN" sz="2200" b="1" baseline="30000" dirty="0">
                <a:latin typeface="宋体" panose="02010600030101010101" pitchFamily="2" charset="-122"/>
              </a:rPr>
              <a:t>30</a:t>
            </a:r>
            <a:r>
              <a:rPr lang="en-US" altLang="zh-CN" sz="2200" b="1" baseline="30000" dirty="0"/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B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反映主存、辅存的最大容量</a:t>
            </a:r>
            <a:endParaRPr lang="zh-CN" altLang="en-US" sz="2200" b="1" spc="-50" dirty="0">
              <a:latin typeface="宋体" panose="02010600030101010101" pitchFamily="2" charset="-122"/>
            </a:endParaRPr>
          </a:p>
        </p:txBody>
      </p:sp>
      <p:sp>
        <p:nvSpPr>
          <p:cNvPr id="3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B01D6-EAE4-40DB-99A1-CC99F9935E07}" type="slidenum">
              <a:rPr lang="en-US" altLang="zh-CN"/>
              <a:t>37</a:t>
            </a:fld>
            <a:endParaRPr lang="en-US" altLang="zh-CN" dirty="0"/>
          </a:p>
        </p:txBody>
      </p:sp>
      <p:sp>
        <p:nvSpPr>
          <p:cNvPr id="71" name="Text Box 6"/>
          <p:cNvSpPr txBox="1">
            <a:spLocks noChangeArrowheads="1"/>
          </p:cNvSpPr>
          <p:nvPr/>
        </p:nvSpPr>
        <p:spPr bwMode="auto">
          <a:xfrm>
            <a:off x="179327" y="2511656"/>
            <a:ext cx="3888617" cy="8636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71780" indent="-271780">
              <a:lnSpc>
                <a:spcPct val="120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术语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主存地址空间：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   CPU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可寻址空间：</a:t>
            </a:r>
            <a:endParaRPr lang="zh-CN" altLang="en-US" sz="2200" b="1" spc="-50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3275905" y="3643634"/>
            <a:ext cx="3816375" cy="2305298"/>
            <a:chOff x="3779515" y="4077072"/>
            <a:chExt cx="3816375" cy="2305298"/>
          </a:xfrm>
        </p:grpSpPr>
        <p:sp>
          <p:nvSpPr>
            <p:cNvPr id="73" name="Rectangle 17"/>
            <p:cNvSpPr>
              <a:spLocks noChangeArrowheads="1"/>
            </p:cNvSpPr>
            <p:nvPr/>
          </p:nvSpPr>
          <p:spPr bwMode="auto">
            <a:xfrm>
              <a:off x="4427984" y="4365997"/>
              <a:ext cx="632347" cy="820738"/>
            </a:xfrm>
            <a:prstGeom prst="rect">
              <a:avLst/>
            </a:prstGeom>
            <a:solidFill>
              <a:srgbClr val="CC3300"/>
            </a:solidFill>
            <a:ln w="19050">
              <a:noFill/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Text Box 36"/>
            <p:cNvSpPr txBox="1">
              <a:spLocks noChangeArrowheads="1"/>
            </p:cNvSpPr>
            <p:nvPr/>
          </p:nvSpPr>
          <p:spPr bwMode="auto">
            <a:xfrm>
              <a:off x="3779913" y="4365997"/>
              <a:ext cx="1294706" cy="1584325"/>
            </a:xfrm>
            <a:prstGeom prst="rect">
              <a:avLst/>
            </a:prstGeom>
            <a:solidFill>
              <a:srgbClr val="FFCC99">
                <a:alpha val="60000"/>
              </a:srgbClr>
            </a:solidFill>
            <a:ln w="9525">
              <a:noFill/>
              <a:miter lim="800000"/>
            </a:ln>
            <a:effectLst/>
          </p:spPr>
          <p:txBody>
            <a:bodyPr lIns="54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spc="300" dirty="0">
                  <a:latin typeface="宋体" panose="02010600030101010101" pitchFamily="2" charset="-122"/>
                </a:rPr>
                <a:t>0…00…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12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 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1" spc="300" dirty="0">
                  <a:latin typeface="宋体" panose="02010600030101010101" pitchFamily="2" charset="-122"/>
                </a:rPr>
                <a:t>0…01…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 </a:t>
              </a:r>
              <a:r>
                <a:rPr lang="en-US" altLang="zh-CN" sz="1800" b="1" spc="300" dirty="0">
                  <a:latin typeface="宋体" panose="02010600030101010101" pitchFamily="2" charset="-122"/>
                </a:rPr>
                <a:t>0…10…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 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800" b="1" spc="300" dirty="0">
                  <a:latin typeface="宋体" panose="02010600030101010101" pitchFamily="2" charset="-122"/>
                </a:rPr>
                <a:t>1…11…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75" name="Rectangle 19"/>
            <p:cNvSpPr>
              <a:spLocks noChangeArrowheads="1"/>
            </p:cNvSpPr>
            <p:nvPr/>
          </p:nvSpPr>
          <p:spPr bwMode="auto">
            <a:xfrm>
              <a:off x="5147644" y="4365997"/>
              <a:ext cx="1440000" cy="1584325"/>
            </a:xfrm>
            <a:prstGeom prst="rect">
              <a:avLst/>
            </a:prstGeom>
            <a:solidFill>
              <a:srgbClr val="99CCFF">
                <a:alpha val="25000"/>
              </a:srgbClr>
            </a:solidFill>
            <a:ln w="222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Text Box 26"/>
            <p:cNvSpPr txBox="1">
              <a:spLocks noChangeArrowheads="1"/>
            </p:cNvSpPr>
            <p:nvPr/>
          </p:nvSpPr>
          <p:spPr bwMode="auto">
            <a:xfrm>
              <a:off x="5147618" y="5661745"/>
              <a:ext cx="1440160" cy="28892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dirty="0">
                  <a:latin typeface="+mn-ea"/>
                  <a:ea typeface="+mn-ea"/>
                </a:rPr>
                <a:t>…</a:t>
              </a:r>
              <a:endParaRPr lang="en-US" altLang="zh-CN" sz="2000" b="1" baseline="-20000" dirty="0">
                <a:latin typeface="+mn-ea"/>
                <a:ea typeface="+mn-ea"/>
              </a:endParaRPr>
            </a:p>
          </p:txBody>
        </p:sp>
        <p:sp>
          <p:nvSpPr>
            <p:cNvPr id="77" name="Rectangle 18"/>
            <p:cNvSpPr>
              <a:spLocks noChangeArrowheads="1"/>
            </p:cNvSpPr>
            <p:nvPr/>
          </p:nvSpPr>
          <p:spPr bwMode="auto">
            <a:xfrm>
              <a:off x="5148064" y="4365997"/>
              <a:ext cx="1440581" cy="792237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Text Box 15"/>
            <p:cNvSpPr txBox="1">
              <a:spLocks noChangeArrowheads="1"/>
            </p:cNvSpPr>
            <p:nvPr/>
          </p:nvSpPr>
          <p:spPr bwMode="auto">
            <a:xfrm>
              <a:off x="6731794" y="4294486"/>
              <a:ext cx="360040" cy="10081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配置容量</a:t>
              </a: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79" name="AutoShape 16"/>
            <p:cNvSpPr/>
            <p:nvPr/>
          </p:nvSpPr>
          <p:spPr bwMode="auto">
            <a:xfrm>
              <a:off x="6660232" y="4365997"/>
              <a:ext cx="71438" cy="792163"/>
            </a:xfrm>
            <a:prstGeom prst="rightBrace">
              <a:avLst>
                <a:gd name="adj1" fmla="val 36231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Text Box 20"/>
            <p:cNvSpPr txBox="1">
              <a:spLocks noChangeArrowheads="1"/>
            </p:cNvSpPr>
            <p:nvPr/>
          </p:nvSpPr>
          <p:spPr bwMode="auto">
            <a:xfrm>
              <a:off x="5147643" y="4078661"/>
              <a:ext cx="1440581" cy="2874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b</a:t>
              </a:r>
              <a:r>
                <a:rPr lang="en-US" altLang="zh-CN" sz="2000" b="1" i="1" baseline="-20000" dirty="0">
                  <a:latin typeface="+mn-lt"/>
                </a:rPr>
                <a:t>w</a:t>
              </a:r>
              <a:r>
                <a:rPr lang="en-US" altLang="zh-CN" sz="2000" b="1" baseline="-20000" dirty="0">
                  <a:latin typeface="宋体" panose="02010600030101010101" pitchFamily="2" charset="-122"/>
                </a:rPr>
                <a:t>-1</a:t>
              </a:r>
              <a:r>
                <a:rPr lang="en-US" altLang="zh-CN" sz="1800" b="1" dirty="0"/>
                <a:t>     …    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b</a:t>
              </a:r>
              <a:r>
                <a:rPr lang="en-US" altLang="zh-CN" sz="2000" b="1" baseline="-20000" dirty="0">
                  <a:latin typeface="宋体" panose="02010600030101010101" pitchFamily="2" charset="-122"/>
                </a:rPr>
                <a:t>0</a:t>
              </a:r>
              <a:endParaRPr lang="en-US" altLang="zh-CN" sz="18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81" name="Text Box 21"/>
            <p:cNvSpPr txBox="1">
              <a:spLocks noChangeArrowheads="1"/>
            </p:cNvSpPr>
            <p:nvPr/>
          </p:nvSpPr>
          <p:spPr bwMode="auto">
            <a:xfrm>
              <a:off x="5723805" y="4797796"/>
              <a:ext cx="360363" cy="8644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2000" b="1" dirty="0"/>
                <a:t>…    …</a:t>
              </a:r>
              <a:endParaRPr lang="en-US" altLang="zh-CN" sz="2000" b="1" baseline="-20000" dirty="0"/>
            </a:p>
          </p:txBody>
        </p:sp>
        <p:sp>
          <p:nvSpPr>
            <p:cNvPr id="82" name="AutoShape 28"/>
            <p:cNvSpPr/>
            <p:nvPr/>
          </p:nvSpPr>
          <p:spPr bwMode="auto">
            <a:xfrm rot="16200000">
              <a:off x="5832142" y="5338254"/>
              <a:ext cx="72007" cy="1440161"/>
            </a:xfrm>
            <a:prstGeom prst="rightBrace">
              <a:avLst>
                <a:gd name="adj1" fmla="val 47554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Text Box 29"/>
            <p:cNvSpPr txBox="1">
              <a:spLocks noChangeArrowheads="1"/>
            </p:cNvSpPr>
            <p:nvPr/>
          </p:nvSpPr>
          <p:spPr bwMode="auto">
            <a:xfrm>
              <a:off x="5148064" y="6096620"/>
              <a:ext cx="1439863" cy="28575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主存单元长度</a:t>
              </a: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84" name="Text Box 43"/>
            <p:cNvSpPr txBox="1">
              <a:spLocks noChangeArrowheads="1"/>
            </p:cNvSpPr>
            <p:nvPr/>
          </p:nvSpPr>
          <p:spPr bwMode="auto">
            <a:xfrm>
              <a:off x="3779515" y="4077072"/>
              <a:ext cx="1296541" cy="28907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2000" b="1" i="1" baseline="-20000" dirty="0">
                  <a:latin typeface="+mn-lt"/>
                </a:rPr>
                <a:t>n</a:t>
              </a:r>
              <a:r>
                <a:rPr lang="en-US" altLang="zh-CN" sz="2000" b="1" baseline="-20000" dirty="0">
                  <a:latin typeface="宋体" panose="02010600030101010101" pitchFamily="2" charset="-122"/>
                </a:rPr>
                <a:t>-1 </a:t>
              </a:r>
              <a:r>
                <a:rPr lang="en-US" altLang="zh-CN" sz="2000" b="1" dirty="0"/>
                <a:t> </a:t>
              </a:r>
              <a:r>
                <a:rPr lang="en-US" altLang="zh-CN" sz="1800" b="1" dirty="0"/>
                <a:t>  …  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2000" b="1" baseline="-20000" dirty="0">
                  <a:latin typeface="宋体" panose="02010600030101010101" pitchFamily="2" charset="-122"/>
                </a:rPr>
                <a:t>0</a:t>
              </a:r>
              <a:endParaRPr lang="en-US" altLang="zh-CN" sz="18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148064" y="4366146"/>
              <a:ext cx="1440160" cy="288032"/>
            </a:xfrm>
            <a:prstGeom prst="rect">
              <a:avLst/>
            </a:prstGeom>
            <a:solidFill>
              <a:srgbClr val="CC99FF">
                <a:alpha val="0"/>
              </a:srgbClr>
            </a:solidFill>
            <a:ln w="12700">
              <a:solidFill>
                <a:schemeClr val="tx1"/>
              </a:solidFill>
            </a:ln>
          </p:spPr>
          <p:txBody>
            <a:bodyPr wrap="none" lIns="18000" tIns="10800" rIns="18000" bIns="1080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2000" dirty="0">
                  <a:latin typeface="+mn-ea"/>
                  <a:ea typeface="+mn-ea"/>
                </a:rPr>
                <a:t>…</a:t>
              </a:r>
              <a:endParaRPr lang="zh-CN" altLang="en-US" sz="2000" dirty="0">
                <a:latin typeface="+mn-ea"/>
                <a:ea typeface="+mn-ea"/>
              </a:endParaRPr>
            </a:p>
          </p:txBody>
        </p:sp>
        <p:sp>
          <p:nvSpPr>
            <p:cNvPr id="86" name="Line 32"/>
            <p:cNvSpPr>
              <a:spLocks noChangeShapeType="1"/>
            </p:cNvSpPr>
            <p:nvPr/>
          </p:nvSpPr>
          <p:spPr bwMode="auto">
            <a:xfrm>
              <a:off x="5436568" y="4365997"/>
              <a:ext cx="0" cy="2873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33"/>
            <p:cNvSpPr>
              <a:spLocks noChangeShapeType="1"/>
            </p:cNvSpPr>
            <p:nvPr/>
          </p:nvSpPr>
          <p:spPr bwMode="auto">
            <a:xfrm>
              <a:off x="6300192" y="4366146"/>
              <a:ext cx="0" cy="2873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32"/>
            <p:cNvSpPr>
              <a:spLocks noChangeShapeType="1"/>
            </p:cNvSpPr>
            <p:nvPr/>
          </p:nvSpPr>
          <p:spPr bwMode="auto">
            <a:xfrm>
              <a:off x="5436096" y="5662835"/>
              <a:ext cx="0" cy="2873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33"/>
            <p:cNvSpPr>
              <a:spLocks noChangeShapeType="1"/>
            </p:cNvSpPr>
            <p:nvPr/>
          </p:nvSpPr>
          <p:spPr bwMode="auto">
            <a:xfrm>
              <a:off x="6299720" y="5662984"/>
              <a:ext cx="0" cy="2873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AutoShape 16"/>
            <p:cNvSpPr/>
            <p:nvPr/>
          </p:nvSpPr>
          <p:spPr bwMode="auto">
            <a:xfrm>
              <a:off x="7091834" y="4365996"/>
              <a:ext cx="100905" cy="1584177"/>
            </a:xfrm>
            <a:prstGeom prst="rightBrace">
              <a:avLst>
                <a:gd name="adj1" fmla="val 31275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Text Box 15"/>
            <p:cNvSpPr txBox="1">
              <a:spLocks noChangeArrowheads="1"/>
            </p:cNvSpPr>
            <p:nvPr/>
          </p:nvSpPr>
          <p:spPr bwMode="auto">
            <a:xfrm>
              <a:off x="7235850" y="4654526"/>
              <a:ext cx="360040" cy="107907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最大容量</a:t>
              </a: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92" name="Text Box 39"/>
            <p:cNvSpPr txBox="1">
              <a:spLocks noChangeArrowheads="1"/>
            </p:cNvSpPr>
            <p:nvPr/>
          </p:nvSpPr>
          <p:spPr bwMode="auto">
            <a:xfrm>
              <a:off x="3995936" y="4654178"/>
              <a:ext cx="936104" cy="115212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/>
            <a:lstStyle/>
            <a:p>
              <a:pPr>
                <a:lnSpc>
                  <a:spcPct val="80000"/>
                </a:lnSpc>
              </a:pPr>
              <a:r>
                <a:rPr lang="en-US" altLang="zh-CN" sz="2000" b="1" dirty="0"/>
                <a:t>…       </a:t>
              </a:r>
              <a:r>
                <a:rPr lang="en-US" altLang="zh-CN" sz="1200" b="1" dirty="0"/>
                <a:t>  </a:t>
              </a:r>
              <a:r>
                <a:rPr lang="en-US" altLang="zh-CN" sz="2000" b="1" dirty="0"/>
                <a:t>…</a:t>
              </a:r>
            </a:p>
            <a:p>
              <a:pPr>
                <a:lnSpc>
                  <a:spcPct val="90000"/>
                </a:lnSpc>
              </a:pPr>
              <a:endParaRPr lang="en-US" altLang="zh-CN" sz="2000" b="1" baseline="-20000" dirty="0"/>
            </a:p>
            <a:p>
              <a:pPr>
                <a:lnSpc>
                  <a:spcPct val="90000"/>
                </a:lnSpc>
              </a:pPr>
              <a:endParaRPr lang="en-US" altLang="zh-CN" sz="2000" b="1" baseline="-20000" dirty="0"/>
            </a:p>
            <a:p>
              <a:pPr>
                <a:lnSpc>
                  <a:spcPct val="90000"/>
                </a:lnSpc>
              </a:pPr>
              <a:r>
                <a:rPr lang="en-US" altLang="zh-CN" sz="2000" b="1" dirty="0"/>
                <a:t>…       </a:t>
              </a:r>
              <a:r>
                <a:rPr lang="en-US" altLang="zh-CN" sz="1200" b="1" dirty="0"/>
                <a:t>  </a:t>
              </a:r>
              <a:r>
                <a:rPr lang="en-US" altLang="zh-CN" sz="2000" b="1" dirty="0"/>
                <a:t>…</a:t>
              </a:r>
            </a:p>
            <a:p>
              <a:pPr>
                <a:lnSpc>
                  <a:spcPct val="80000"/>
                </a:lnSpc>
              </a:pPr>
              <a:endParaRPr lang="en-US" altLang="zh-CN" sz="2000" b="1" baseline="-20000" dirty="0"/>
            </a:p>
            <a:p>
              <a:pPr>
                <a:lnSpc>
                  <a:spcPct val="80000"/>
                </a:lnSpc>
              </a:pPr>
              <a:endParaRPr lang="en-US" altLang="zh-CN" sz="2000" b="1" baseline="-20000" dirty="0"/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2412180" y="3788692"/>
            <a:ext cx="792261" cy="2016919"/>
            <a:chOff x="4184784" y="4372446"/>
            <a:chExt cx="792261" cy="2016919"/>
          </a:xfrm>
        </p:grpSpPr>
        <p:sp>
          <p:nvSpPr>
            <p:cNvPr id="94" name="Text Box 27"/>
            <p:cNvSpPr txBox="1">
              <a:spLocks noChangeArrowheads="1"/>
            </p:cNvSpPr>
            <p:nvPr/>
          </p:nvSpPr>
          <p:spPr bwMode="auto">
            <a:xfrm>
              <a:off x="4184785" y="4372446"/>
              <a:ext cx="324036" cy="194649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CPU</a:t>
              </a:r>
              <a:r>
                <a:rPr lang="zh-CN" altLang="en-US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可寻址空间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</a:t>
              </a: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  <p:cxnSp>
          <p:nvCxnSpPr>
            <p:cNvPr id="97" name="直接箭头连接符 39"/>
            <p:cNvCxnSpPr/>
            <p:nvPr/>
          </p:nvCxnSpPr>
          <p:spPr bwMode="auto">
            <a:xfrm rot="10800000" flipH="1" flipV="1">
              <a:off x="4184784" y="5345695"/>
              <a:ext cx="792261" cy="1043670"/>
            </a:xfrm>
            <a:prstGeom prst="bentConnector3">
              <a:avLst>
                <a:gd name="adj1" fmla="val -28854"/>
              </a:avLst>
            </a:prstGeom>
            <a:noFill/>
            <a:ln w="15875" cap="flat" cmpd="sng" algn="ctr">
              <a:solidFill>
                <a:srgbClr val="C00000"/>
              </a:solidFill>
              <a:prstDash val="sysDash"/>
              <a:round/>
              <a:headEnd type="arrow" w="med" len="sm"/>
              <a:tailEnd type="arrow" w="med" len="sm"/>
            </a:ln>
            <a:effectLst/>
          </p:spPr>
        </p:cxnSp>
      </p:grpSp>
      <p:sp>
        <p:nvSpPr>
          <p:cNvPr id="101" name="AutoShape 338"/>
          <p:cNvSpPr/>
          <p:nvPr/>
        </p:nvSpPr>
        <p:spPr bwMode="auto">
          <a:xfrm>
            <a:off x="1331712" y="3648214"/>
            <a:ext cx="648000" cy="1980000"/>
          </a:xfrm>
          <a:prstGeom prst="borderCallout2">
            <a:avLst>
              <a:gd name="adj1" fmla="val 8072"/>
              <a:gd name="adj2" fmla="val 99012"/>
              <a:gd name="adj3" fmla="val 7901"/>
              <a:gd name="adj4" fmla="val 227547"/>
              <a:gd name="adj5" fmla="val 33408"/>
              <a:gd name="adj6" fmla="val 281877"/>
            </a:avLst>
          </a:prstGeom>
          <a:noFill/>
          <a:ln w="12700">
            <a:solidFill>
              <a:srgbClr val="0066FF"/>
            </a:solidFill>
            <a:prstDash val="sysDash"/>
            <a:miter lim="800000"/>
            <a:tailEnd type="triangle" w="med" len="med"/>
          </a:ln>
          <a:effectLst/>
        </p:spPr>
        <p:txBody>
          <a:bodyPr vert="eaVert" lIns="18000" tIns="10800" rIns="18000" bIns="10800" anchor="ctr" anchorCtr="0"/>
          <a:lstStyle/>
          <a:p>
            <a:pPr lvl="0" algn="ctr">
              <a:lnSpc>
                <a:spcPct val="90000"/>
              </a:lnSpc>
            </a:pP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主存所占地址范围</a:t>
            </a:r>
            <a:endParaRPr lang="en-US" altLang="zh-CN" sz="18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lvl="0" algn="ctr">
              <a:lnSpc>
                <a:spcPct val="90000"/>
              </a:lnSpc>
            </a:pP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地址空间的子集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endParaRPr lang="zh-CN" altLang="en-US" sz="18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102" name="AutoShape 22"/>
          <p:cNvSpPr/>
          <p:nvPr/>
        </p:nvSpPr>
        <p:spPr bwMode="auto">
          <a:xfrm rot="10800000">
            <a:off x="3182228" y="3941879"/>
            <a:ext cx="73025" cy="756000"/>
          </a:xfrm>
          <a:prstGeom prst="rightBrace">
            <a:avLst>
              <a:gd name="adj1" fmla="val 55380"/>
              <a:gd name="adj2" fmla="val 50000"/>
            </a:avLst>
          </a:prstGeom>
          <a:noFill/>
          <a:ln w="15875">
            <a:solidFill>
              <a:srgbClr val="0066FF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" name="Text Box 6"/>
          <p:cNvSpPr txBox="1">
            <a:spLocks noChangeArrowheads="1"/>
          </p:cNvSpPr>
          <p:nvPr/>
        </p:nvSpPr>
        <p:spPr bwMode="auto">
          <a:xfrm>
            <a:off x="3563888" y="2492896"/>
            <a:ext cx="5256496" cy="11957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主存</a:t>
            </a:r>
            <a:r>
              <a:rPr lang="zh-CN" altLang="en-US" sz="2200" b="1" u="sng" dirty="0">
                <a:latin typeface="宋体" panose="02010600030101010101" pitchFamily="2" charset="-122"/>
              </a:rPr>
              <a:t>最大容量时</a:t>
            </a:r>
            <a:r>
              <a:rPr lang="zh-CN" altLang="en-US" sz="2200" b="1" dirty="0">
                <a:latin typeface="宋体" panose="02010600030101010101" pitchFamily="2" charset="-122"/>
              </a:rPr>
              <a:t>的地址空间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由地址引脚</a:t>
            </a:r>
            <a:r>
              <a:rPr lang="zh-CN" altLang="en-US" sz="2200" b="1" u="sng" dirty="0">
                <a:latin typeface="宋体" panose="02010600030101010101" pitchFamily="2" charset="-122"/>
              </a:rPr>
              <a:t>构成</a:t>
            </a:r>
            <a:r>
              <a:rPr lang="zh-CN" altLang="en-US" sz="2200" b="1" dirty="0">
                <a:latin typeface="宋体" panose="02010600030101010101" pitchFamily="2" charset="-122"/>
              </a:rPr>
              <a:t>的地址空间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b="1" spc="-50" dirty="0">
                <a:latin typeface="宋体" panose="02010600030101010101" pitchFamily="2" charset="-122"/>
              </a:rPr>
              <a:t>                  </a:t>
            </a:r>
            <a:r>
              <a:rPr lang="zh-CN" altLang="en-US" sz="1600" spc="-50" dirty="0">
                <a:latin typeface="宋体" panose="02010600030101010101" pitchFamily="2" charset="-122"/>
              </a:rPr>
              <a:t>└─</a:t>
            </a:r>
            <a:r>
              <a:rPr lang="zh-CN" altLang="en-US" sz="1600" b="1" spc="-50" dirty="0">
                <a:latin typeface="宋体" panose="02010600030101010101" pitchFamily="2" charset="-122"/>
              </a:rPr>
              <a:t>大小</a:t>
            </a:r>
            <a:r>
              <a:rPr lang="zh-CN" altLang="en-US" sz="1600" b="1" spc="-50" dirty="0">
                <a:solidFill>
                  <a:srgbClr val="0070C0"/>
                </a:solidFill>
                <a:latin typeface="宋体" panose="02010600030101010101" pitchFamily="2" charset="-122"/>
              </a:rPr>
              <a:t>常＝</a:t>
            </a:r>
            <a:r>
              <a:rPr lang="zh-CN" altLang="en-US" sz="1600" b="1" spc="-50" dirty="0">
                <a:latin typeface="宋体" panose="02010600030101010101" pitchFamily="2" charset="-122"/>
              </a:rPr>
              <a:t>主存地址空间</a:t>
            </a:r>
          </a:p>
        </p:txBody>
      </p:sp>
      <p:sp>
        <p:nvSpPr>
          <p:cNvPr id="61" name="Text Box 65"/>
          <p:cNvSpPr txBox="1">
            <a:spLocks noChangeArrowheads="1"/>
          </p:cNvSpPr>
          <p:nvPr/>
        </p:nvSpPr>
        <p:spPr bwMode="auto">
          <a:xfrm>
            <a:off x="8172488" y="1700808"/>
            <a:ext cx="792000" cy="252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931GiB</a:t>
            </a:r>
          </a:p>
        </p:txBody>
      </p:sp>
      <p:sp>
        <p:nvSpPr>
          <p:cNvPr id="48" name="AutoShape 338"/>
          <p:cNvSpPr/>
          <p:nvPr/>
        </p:nvSpPr>
        <p:spPr bwMode="auto">
          <a:xfrm>
            <a:off x="179512" y="1232816"/>
            <a:ext cx="1151984" cy="504000"/>
          </a:xfrm>
          <a:prstGeom prst="borderCallout2">
            <a:avLst>
              <a:gd name="adj1" fmla="val 50223"/>
              <a:gd name="adj2" fmla="val 99590"/>
              <a:gd name="adj3" fmla="val 51839"/>
              <a:gd name="adj4" fmla="val 110353"/>
              <a:gd name="adj5" fmla="val -13074"/>
              <a:gd name="adj6" fmla="val 139225"/>
            </a:avLst>
          </a:prstGeom>
          <a:noFill/>
          <a:ln w="12700">
            <a:solidFill>
              <a:srgbClr val="0066FF"/>
            </a:solidFill>
            <a:prstDash val="sysDash"/>
            <a:miter lim="800000"/>
            <a:tailEnd type="triangle" w="med" len="med"/>
          </a:ln>
          <a:effectLst/>
        </p:spPr>
        <p:txBody>
          <a:bodyPr vert="horz" lIns="18000" tIns="10800" rIns="18000" bIns="10800" anchor="ctr" anchorCtr="0"/>
          <a:lstStyle/>
          <a:p>
            <a:pPr lvl="0" algn="ctr">
              <a:lnSpc>
                <a:spcPct val="90000"/>
              </a:lnSpc>
            </a:pPr>
            <a:r>
              <a:rPr lang="zh-CN" altLang="en-US" sz="1600" b="1" dirty="0"/>
              <a:t>指用</a:t>
            </a:r>
            <a:r>
              <a:rPr lang="zh-CN" altLang="en-US" sz="1600" b="1" u="sng" dirty="0"/>
              <a:t>译码器</a:t>
            </a:r>
            <a:r>
              <a:rPr lang="zh-CN" altLang="en-US" sz="1600" b="1" dirty="0"/>
              <a:t>识别地址</a:t>
            </a:r>
            <a:endParaRPr lang="zh-CN" altLang="en-US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8172400" y="908720"/>
            <a:ext cx="792096" cy="648072"/>
            <a:chOff x="7020238" y="1410643"/>
            <a:chExt cx="792096" cy="648072"/>
          </a:xfrm>
        </p:grpSpPr>
        <p:sp>
          <p:nvSpPr>
            <p:cNvPr id="50" name="Text Box 65"/>
            <p:cNvSpPr txBox="1">
              <a:spLocks noChangeArrowheads="1"/>
            </p:cNvSpPr>
            <p:nvPr/>
          </p:nvSpPr>
          <p:spPr bwMode="auto">
            <a:xfrm>
              <a:off x="7020334" y="1806715"/>
              <a:ext cx="792000" cy="252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1TB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硬盘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3" name="Text Box 65"/>
            <p:cNvSpPr txBox="1">
              <a:spLocks noChangeArrowheads="1"/>
            </p:cNvSpPr>
            <p:nvPr/>
          </p:nvSpPr>
          <p:spPr bwMode="auto">
            <a:xfrm>
              <a:off x="7020238" y="1410643"/>
              <a:ext cx="792000" cy="252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＝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931GB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700213" y="3787650"/>
            <a:ext cx="1944216" cy="2161630"/>
            <a:chOff x="1764109" y="4003674"/>
            <a:chExt cx="1944216" cy="2161630"/>
          </a:xfrm>
        </p:grpSpPr>
        <p:sp>
          <p:nvSpPr>
            <p:cNvPr id="99" name="AutoShape 22"/>
            <p:cNvSpPr/>
            <p:nvPr/>
          </p:nvSpPr>
          <p:spPr bwMode="auto">
            <a:xfrm rot="10800000">
              <a:off x="2086880" y="4148583"/>
              <a:ext cx="73025" cy="1584325"/>
            </a:xfrm>
            <a:prstGeom prst="rightBrace">
              <a:avLst>
                <a:gd name="adj1" fmla="val 55380"/>
                <a:gd name="adj2" fmla="val 50000"/>
              </a:avLst>
            </a:prstGeom>
            <a:noFill/>
            <a:ln w="15875">
              <a:solidFill>
                <a:srgbClr val="990099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Text Box 27"/>
            <p:cNvSpPr txBox="1">
              <a:spLocks noChangeArrowheads="1"/>
            </p:cNvSpPr>
            <p:nvPr/>
          </p:nvSpPr>
          <p:spPr bwMode="auto">
            <a:xfrm>
              <a:off x="1764109" y="4003674"/>
              <a:ext cx="324036" cy="194649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主存地址空间</a:t>
              </a:r>
              <a:endPara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4" name="AutoShape 41"/>
            <p:cNvSpPr/>
            <p:nvPr/>
          </p:nvSpPr>
          <p:spPr bwMode="auto">
            <a:xfrm rot="16200000">
              <a:off x="2951733" y="5193381"/>
              <a:ext cx="73025" cy="1296143"/>
            </a:xfrm>
            <a:prstGeom prst="rightBrace">
              <a:avLst>
                <a:gd name="adj1" fmla="val 48004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  <a:tailEnd type="none" w="sm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Text Box 42"/>
            <p:cNvSpPr txBox="1">
              <a:spLocks noChangeArrowheads="1"/>
            </p:cNvSpPr>
            <p:nvPr/>
          </p:nvSpPr>
          <p:spPr bwMode="auto">
            <a:xfrm>
              <a:off x="2268338" y="5877966"/>
              <a:ext cx="1439987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主存地址位数</a:t>
              </a:r>
              <a:endParaRPr lang="zh-CN" altLang="en-US" sz="1800" b="1" baseline="-20000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101" grpId="0" animBg="1"/>
      <p:bldP spid="102" grpId="0" animBg="1"/>
      <p:bldP spid="6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4"/>
          <p:cNvSpPr txBox="1">
            <a:spLocks noChangeArrowheads="1"/>
          </p:cNvSpPr>
          <p:nvPr/>
        </p:nvSpPr>
        <p:spPr bwMode="auto">
          <a:xfrm>
            <a:off x="179512" y="1772816"/>
            <a:ext cx="3096344" cy="367260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CPU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时间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等待时间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优化设计：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特点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179512" y="1268760"/>
            <a:ext cx="8856984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响应时间：</a:t>
            </a:r>
            <a:r>
              <a:rPr lang="zh-CN" altLang="en-US" sz="2200" b="1" dirty="0">
                <a:latin typeface="宋体" panose="02010600030101010101" pitchFamily="2" charset="-122"/>
              </a:rPr>
              <a:t>指一个任务</a:t>
            </a:r>
            <a:r>
              <a:rPr lang="zh-CN" altLang="en-US" sz="2200" b="1" u="sng" dirty="0">
                <a:latin typeface="宋体" panose="02010600030101010101" pitchFamily="2" charset="-122"/>
              </a:rPr>
              <a:t>从提交到完成</a:t>
            </a:r>
            <a:r>
              <a:rPr lang="zh-CN" altLang="en-US" sz="2200" b="1" dirty="0">
                <a:latin typeface="宋体" panose="02010600030101010101" pitchFamily="2" charset="-122"/>
              </a:rPr>
              <a:t>的总时间</a:t>
            </a:r>
            <a:r>
              <a:rPr lang="en-US" altLang="zh-CN" sz="2200" b="1" dirty="0">
                <a:latin typeface="宋体" panose="02010600030101010101" pitchFamily="2" charset="-122"/>
              </a:rPr>
              <a:t>(＝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20000" dirty="0">
                <a:latin typeface="宋体" panose="02010600030101010101" pitchFamily="2" charset="-122"/>
              </a:rPr>
              <a:t>CPU</a:t>
            </a:r>
            <a:r>
              <a:rPr lang="en-US" altLang="zh-CN" sz="2200" b="1" dirty="0">
                <a:latin typeface="宋体" panose="02010600030101010101" pitchFamily="2" charset="-122"/>
              </a:rPr>
              <a:t>＋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zh-CN" altLang="en-US" sz="2200" b="1" baseline="-20000" dirty="0">
                <a:latin typeface="宋体" panose="02010600030101010101" pitchFamily="2" charset="-122"/>
              </a:rPr>
              <a:t>等待</a:t>
            </a:r>
            <a:r>
              <a:rPr lang="zh-CN" altLang="en-US" sz="2200" b="1" baseline="-20000" dirty="0">
                <a:latin typeface="+mn-lt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90DD-2F5E-4233-B7D8-F0064FE5DB0A}" type="slidenum">
              <a:rPr lang="en-US" altLang="zh-CN"/>
              <a:t>38</a:t>
            </a:fld>
            <a:endParaRPr lang="en-US" altLang="zh-CN"/>
          </a:p>
        </p:txBody>
      </p:sp>
      <p:sp>
        <p:nvSpPr>
          <p:cNvPr id="263173" name="Text Box 5"/>
          <p:cNvSpPr txBox="1">
            <a:spLocks noChangeArrowheads="1"/>
          </p:cNvSpPr>
          <p:nvPr/>
        </p:nvSpPr>
        <p:spPr bwMode="auto">
          <a:xfrm>
            <a:off x="179388" y="334293"/>
            <a:ext cx="8785225" cy="91903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、计算机的性能指标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计算机的性能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指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硬件</a:t>
            </a:r>
            <a:r>
              <a:rPr lang="zh-CN" altLang="en-US" sz="2200" b="1" dirty="0">
                <a:latin typeface="宋体" panose="02010600030101010101" pitchFamily="2" charset="-122"/>
              </a:rPr>
              <a:t>的性能，通过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软件</a:t>
            </a:r>
            <a:r>
              <a:rPr lang="zh-CN" altLang="en-US" sz="2200" b="1" dirty="0">
                <a:latin typeface="宋体" panose="02010600030101010101" pitchFamily="2" charset="-122"/>
              </a:rPr>
              <a:t>反映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24" name="AutoShape 1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AutoShape 19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Text Box 28"/>
          <p:cNvSpPr txBox="1">
            <a:spLocks noChangeArrowheads="1"/>
          </p:cNvSpPr>
          <p:nvPr/>
        </p:nvSpPr>
        <p:spPr bwMode="auto">
          <a:xfrm>
            <a:off x="1619672" y="3717032"/>
            <a:ext cx="7272808" cy="209557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指磁盘访问、</a:t>
            </a:r>
            <a:r>
              <a:rPr lang="en-US" altLang="zh-CN" sz="2200" b="1" dirty="0">
                <a:latin typeface="宋体" panose="02010600030101010101" pitchFamily="2" charset="-122"/>
              </a:rPr>
              <a:t>OS</a:t>
            </a:r>
            <a:r>
              <a:rPr lang="zh-CN" altLang="en-US" sz="2200" b="1" dirty="0">
                <a:latin typeface="宋体" panose="02010600030101010101" pitchFamily="2" charset="-122"/>
              </a:rPr>
              <a:t>开销等时间   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←</a:t>
            </a:r>
            <a:r>
              <a:rPr lang="en-US" altLang="zh-CN" sz="1800" b="1" i="1" dirty="0">
                <a:solidFill>
                  <a:srgbClr val="0070C0"/>
                </a:solidFill>
                <a:latin typeface="宋体" panose="02010600030101010101" pitchFamily="2" charset="-122"/>
              </a:rPr>
              <a:t>T</a:t>
            </a:r>
            <a:r>
              <a:rPr lang="zh-CN" altLang="en-US" sz="1800" b="1" baseline="-20000" dirty="0">
                <a:solidFill>
                  <a:srgbClr val="0070C0"/>
                </a:solidFill>
                <a:latin typeface="宋体" panose="02010600030101010101" pitchFamily="2" charset="-122"/>
              </a:rPr>
              <a:t>等待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时任务不执行</a:t>
            </a:r>
            <a:endParaRPr lang="en-US" altLang="zh-CN" sz="18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600" b="1" dirty="0">
                <a:latin typeface="+mn-ea"/>
                <a:ea typeface="+mn-ea"/>
              </a:rPr>
              <a:t>      (</a:t>
            </a:r>
            <a:r>
              <a:rPr lang="zh-CN" altLang="en-US" sz="1600" b="1" dirty="0">
                <a:latin typeface="+mn-ea"/>
                <a:ea typeface="+mn-ea"/>
              </a:rPr>
              <a:t>如磁盘→主存</a:t>
            </a:r>
            <a:r>
              <a:rPr lang="en-US" altLang="zh-CN" sz="1600" b="1" dirty="0">
                <a:latin typeface="+mn-ea"/>
                <a:ea typeface="+mn-ea"/>
              </a:rPr>
              <a:t>) (</a:t>
            </a:r>
            <a:r>
              <a:rPr lang="zh-CN" altLang="en-US" sz="1600" b="1" dirty="0">
                <a:latin typeface="+mn-ea"/>
                <a:ea typeface="+mn-ea"/>
              </a:rPr>
              <a:t>如进程调度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      CPU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zh-CN" altLang="en-US" sz="2200" b="1" baseline="-20000" dirty="0">
                <a:latin typeface="宋体" panose="02010600030101010101" pitchFamily="2" charset="-122"/>
              </a:rPr>
              <a:t>等待</a:t>
            </a:r>
            <a:r>
              <a:rPr lang="zh-CN" altLang="en-US" sz="2200" b="1" dirty="0">
                <a:latin typeface="宋体" panose="02010600030101010101" pitchFamily="2" charset="-122"/>
              </a:rPr>
              <a:t>时执行其他程序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单任务→多任务系统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反映</a:t>
            </a:r>
            <a:r>
              <a:rPr lang="zh-CN" altLang="en-US" sz="2200" b="1" u="sng" dirty="0">
                <a:latin typeface="宋体" panose="02010600030101010101" pitchFamily="2" charset="-122"/>
              </a:rPr>
              <a:t>单任务系统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总体</a:t>
            </a:r>
            <a:r>
              <a:rPr lang="zh-CN" altLang="en-US" sz="2200" b="1" dirty="0">
                <a:latin typeface="宋体" panose="02010600030101010101" pitchFamily="2" charset="-122"/>
              </a:rPr>
              <a:t>性能，    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zh-CN" altLang="en-US" sz="1600" b="1" dirty="0">
                <a:latin typeface="宋体" panose="02010600030101010101" pitchFamily="2" charset="-122"/>
              </a:rPr>
              <a:t>←多任务系统用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吞吐率</a:t>
            </a:r>
            <a:r>
              <a:rPr lang="zh-CN" altLang="en-US" sz="1600" b="1" dirty="0">
                <a:latin typeface="宋体" panose="02010600030101010101" pitchFamily="2" charset="-122"/>
              </a:rPr>
              <a:t>评测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常用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20000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latin typeface="宋体" panose="02010600030101010101" pitchFamily="2" charset="-122"/>
              </a:rPr>
              <a:t>评测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latin typeface="宋体" panose="02010600030101010101" pitchFamily="2" charset="-122"/>
              </a:rPr>
              <a:t>性能             </a:t>
            </a:r>
            <a:r>
              <a:rPr lang="zh-CN" altLang="en-US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spc="-50" dirty="0">
                <a:solidFill>
                  <a:srgbClr val="0070C0"/>
                </a:solidFill>
                <a:latin typeface="宋体" panose="02010600030101010101" pitchFamily="2" charset="-122"/>
              </a:rPr>
              <a:t>～</a:t>
            </a:r>
            <a:r>
              <a:rPr lang="zh-CN" altLang="en-US" sz="1600" b="1" spc="-50" dirty="0">
                <a:latin typeface="宋体" panose="02010600030101010101" pitchFamily="2" charset="-122"/>
              </a:rPr>
              <a:t>算法及编译、</a:t>
            </a:r>
            <a:r>
              <a:rPr lang="en-US" altLang="zh-CN" sz="1600" b="1" spc="-50" dirty="0">
                <a:latin typeface="宋体" panose="02010600030101010101" pitchFamily="2" charset="-122"/>
              </a:rPr>
              <a:t>ISA</a:t>
            </a:r>
            <a:r>
              <a:rPr lang="zh-CN" altLang="en-US" sz="1600" b="1" spc="-50" dirty="0">
                <a:latin typeface="宋体" panose="02010600030101010101" pitchFamily="2" charset="-122"/>
              </a:rPr>
              <a:t>及组成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21" name="AutoShape 62">
            <a:hlinkClick r:id="rId5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20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1332236" y="1772816"/>
            <a:ext cx="7488236" cy="20191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i="1" dirty="0">
                <a:latin typeface="宋体" panose="02010600030101010101" pitchFamily="2" charset="-122"/>
              </a:rPr>
              <a:t>     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CPU</a:t>
            </a:r>
            <a:r>
              <a:rPr lang="en-US" altLang="zh-CN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i="1" dirty="0">
                <a:latin typeface="宋体" panose="02010600030101010101" pitchFamily="2" charset="-122"/>
              </a:rPr>
              <a:t>I</a:t>
            </a:r>
            <a:r>
              <a:rPr lang="en-US" altLang="zh-CN" sz="2200" b="1" i="1" baseline="-18000" dirty="0">
                <a:latin typeface="+mn-lt"/>
              </a:rPr>
              <a:t>N </a:t>
            </a:r>
            <a:r>
              <a:rPr lang="en-US" altLang="zh-CN" sz="2200" b="1" dirty="0">
                <a:latin typeface="宋体" panose="02010600030101010101" pitchFamily="2" charset="-122"/>
              </a:rPr>
              <a:t>×CPI×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C</a:t>
            </a:r>
            <a:r>
              <a:rPr lang="en-US" altLang="zh-CN" sz="2200" b="1" dirty="0">
                <a:latin typeface="宋体" panose="02010600030101010101" pitchFamily="2" charset="-122"/>
              </a:rPr>
              <a:t>＝</a:t>
            </a:r>
          </a:p>
          <a:p>
            <a:pPr>
              <a:lnSpc>
                <a:spcPct val="125000"/>
              </a:lnSpc>
              <a:spcBef>
                <a:spcPts val="900"/>
              </a:spcBef>
            </a:pPr>
            <a:r>
              <a:rPr lang="en-US" altLang="zh-CN" sz="1800" b="1" i="1" dirty="0">
                <a:latin typeface="宋体" panose="02010600030101010101" pitchFamily="2" charset="-122"/>
              </a:rPr>
              <a:t>I</a:t>
            </a:r>
            <a:r>
              <a:rPr lang="en-US" altLang="zh-CN" sz="1800" b="1" i="1" baseline="-18000" dirty="0">
                <a:latin typeface="宋体" panose="02010600030101010101" pitchFamily="2" charset="-122"/>
              </a:rPr>
              <a:t>N</a:t>
            </a:r>
            <a:r>
              <a:rPr lang="en-US" altLang="zh-CN" sz="1800" b="1" i="1" baseline="-18000" dirty="0"/>
              <a:t>  </a:t>
            </a:r>
            <a:r>
              <a:rPr lang="en-US" altLang="zh-CN" sz="1800" b="1" dirty="0">
                <a:latin typeface="宋体" panose="02010600030101010101" pitchFamily="2" charset="-122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</a:rPr>
              <a:t>执行的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指令条数</a:t>
            </a:r>
            <a:r>
              <a:rPr lang="en-US" altLang="zh-CN" sz="1800" b="1" dirty="0">
                <a:latin typeface="宋体" panose="02010600030101010101" pitchFamily="2" charset="-122"/>
              </a:rPr>
              <a:t>(≠</a:t>
            </a:r>
            <a:r>
              <a:rPr lang="zh-CN" altLang="en-US" sz="1800" b="1" dirty="0">
                <a:latin typeface="宋体" panose="02010600030101010101" pitchFamily="2" charset="-122"/>
              </a:rPr>
              <a:t>代码的指令条数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，</a:t>
            </a:r>
            <a:r>
              <a:rPr lang="en-US" altLang="zh-CN" sz="1800" b="1" i="1" dirty="0">
                <a:latin typeface="宋体" panose="02010600030101010101" pitchFamily="2" charset="-122"/>
              </a:rPr>
              <a:t>T</a:t>
            </a:r>
            <a:r>
              <a:rPr lang="en-US" altLang="zh-CN" sz="1800" b="1" baseline="-18000" dirty="0">
                <a:latin typeface="宋体" panose="02010600030101010101" pitchFamily="2" charset="-122"/>
              </a:rPr>
              <a:t>C</a:t>
            </a:r>
            <a:r>
              <a:rPr lang="en-US" altLang="zh-CN" sz="1800" b="1" dirty="0">
                <a:latin typeface="宋体" panose="02010600030101010101" pitchFamily="2" charset="-122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</a:rPr>
              <a:t>主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时钟周期</a:t>
            </a:r>
            <a:r>
              <a:rPr lang="en-US" altLang="zh-CN" sz="1800" b="1" dirty="0">
                <a:latin typeface="宋体" panose="02010600030101010101" pitchFamily="2" charset="-122"/>
              </a:rPr>
              <a:t>(=1/</a:t>
            </a:r>
            <a:r>
              <a:rPr lang="en-US" altLang="zh-CN" sz="1800" i="1" dirty="0">
                <a:latin typeface="+mn-lt"/>
              </a:rPr>
              <a:t>f</a:t>
            </a:r>
            <a:r>
              <a:rPr lang="en-US" altLang="zh-CN" sz="1800" b="1" dirty="0">
                <a:latin typeface="宋体" panose="02010600030101010101" pitchFamily="2" charset="-122"/>
              </a:rPr>
              <a:t> )</a:t>
            </a:r>
            <a:r>
              <a:rPr lang="zh-CN" altLang="en-US" sz="1800" b="1" dirty="0">
                <a:latin typeface="宋体" panose="02010600030101010101" pitchFamily="2" charset="-122"/>
              </a:rPr>
              <a:t>，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1800" b="1" dirty="0">
                <a:latin typeface="宋体" panose="02010600030101010101" pitchFamily="2" charset="-122"/>
              </a:rPr>
              <a:t>CPI(</a:t>
            </a:r>
            <a:r>
              <a:rPr lang="en-US" altLang="zh-CN" sz="1800" dirty="0">
                <a:latin typeface="+mn-lt"/>
              </a:rPr>
              <a:t>Cycles per Instruction</a:t>
            </a:r>
            <a:r>
              <a:rPr lang="en-US" altLang="zh-CN" sz="1800" b="1" dirty="0">
                <a:latin typeface="宋体" panose="02010600030101010101" pitchFamily="2" charset="-122"/>
              </a:rPr>
              <a:t>)—</a:t>
            </a:r>
            <a:r>
              <a:rPr lang="zh-CN" altLang="en-US" sz="1800" b="1" dirty="0">
                <a:latin typeface="宋体" panose="02010600030101010101" pitchFamily="2" charset="-122"/>
              </a:rPr>
              <a:t>执行一条指令所需的</a:t>
            </a:r>
            <a:r>
              <a:rPr lang="en-US" altLang="zh-CN" sz="1800" b="1" i="1" u="sng" dirty="0">
                <a:solidFill>
                  <a:srgbClr val="990099"/>
                </a:solidFill>
                <a:latin typeface="宋体" panose="02010600030101010101" pitchFamily="2" charset="-122"/>
              </a:rPr>
              <a:t>T</a:t>
            </a:r>
            <a:r>
              <a:rPr lang="en-US" altLang="zh-CN" sz="1800" b="1" u="sng" baseline="-18000" dirty="0">
                <a:solidFill>
                  <a:srgbClr val="990099"/>
                </a:solidFill>
                <a:latin typeface="宋体" panose="02010600030101010101" pitchFamily="2" charset="-122"/>
              </a:rPr>
              <a:t>C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数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平均值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，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1800" i="1" dirty="0">
                <a:latin typeface="+mn-lt"/>
              </a:rPr>
              <a:t>n</a:t>
            </a:r>
            <a:r>
              <a:rPr lang="en-US" altLang="zh-CN" sz="1800" b="1" i="1" baseline="-25000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</a:rPr>
              <a:t>—</a:t>
            </a:r>
            <a:r>
              <a:rPr lang="zh-CN" altLang="en-US" sz="1800" b="1" u="sng" dirty="0">
                <a:latin typeface="宋体" panose="02010600030101010101" pitchFamily="2" charset="-122"/>
              </a:rPr>
              <a:t>指令系统</a:t>
            </a:r>
            <a:r>
              <a:rPr lang="zh-CN" altLang="en-US" sz="1800" b="1" dirty="0">
                <a:latin typeface="宋体" panose="02010600030101010101" pitchFamily="2" charset="-122"/>
              </a:rPr>
              <a:t>的指令类型数，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800" b="1" i="1" dirty="0">
                <a:latin typeface="宋体" panose="02010600030101010101" pitchFamily="2" charset="-122"/>
              </a:rPr>
              <a:t>I</a:t>
            </a:r>
            <a:r>
              <a:rPr lang="en-US" altLang="zh-CN" sz="1800" b="1" i="1" baseline="-18000" dirty="0">
                <a:latin typeface="+mn-lt"/>
              </a:rPr>
              <a:t>i</a:t>
            </a:r>
            <a:r>
              <a:rPr lang="en-US" altLang="zh-CN" sz="1800" b="1" i="1" baseline="-18000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</a:rPr>
              <a:t>程序中第</a:t>
            </a:r>
            <a:r>
              <a:rPr lang="en-US" altLang="zh-CN" sz="1800" i="1" dirty="0" err="1">
                <a:latin typeface="+mn-lt"/>
              </a:rPr>
              <a:t>i</a:t>
            </a:r>
            <a:r>
              <a:rPr lang="en-US" altLang="zh-CN" sz="1800" b="1" i="1" dirty="0"/>
              <a:t> </a:t>
            </a:r>
            <a:r>
              <a:rPr lang="zh-CN" altLang="en-US" sz="1800" b="1" dirty="0">
                <a:latin typeface="宋体" panose="02010600030101010101" pitchFamily="2" charset="-122"/>
              </a:rPr>
              <a:t>种指令的执行条数，</a:t>
            </a:r>
            <a:r>
              <a:rPr lang="en-US" altLang="zh-CN" sz="1800" b="1" dirty="0" err="1">
                <a:latin typeface="宋体" panose="02010600030101010101" pitchFamily="2" charset="-122"/>
              </a:rPr>
              <a:t>CPI</a:t>
            </a:r>
            <a:r>
              <a:rPr lang="en-US" altLang="zh-CN" sz="1800" b="1" i="1" baseline="-18000" dirty="0" err="1"/>
              <a:t>i</a:t>
            </a:r>
            <a:r>
              <a:rPr lang="en-US" altLang="zh-CN" sz="1800" b="1" i="1" baseline="-18000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</a:rPr>
              <a:t>—</a:t>
            </a:r>
            <a:r>
              <a:rPr lang="zh-CN" altLang="en-US" sz="1800" b="1" dirty="0">
                <a:latin typeface="宋体" panose="02010600030101010101" pitchFamily="2" charset="-122"/>
              </a:rPr>
              <a:t>第</a:t>
            </a:r>
            <a:r>
              <a:rPr lang="en-US" altLang="zh-CN" sz="1800" i="1" dirty="0" err="1"/>
              <a:t>i</a:t>
            </a:r>
            <a:r>
              <a:rPr lang="en-US" altLang="zh-CN" sz="1800" b="1" i="1" dirty="0"/>
              <a:t> </a:t>
            </a:r>
            <a:r>
              <a:rPr lang="zh-CN" altLang="en-US" sz="1800" b="1" dirty="0">
                <a:latin typeface="宋体" panose="02010600030101010101" pitchFamily="2" charset="-122"/>
              </a:rPr>
              <a:t>种指令的</a:t>
            </a:r>
            <a:r>
              <a:rPr lang="en-US" altLang="zh-CN" sz="1800" b="1" dirty="0">
                <a:latin typeface="宋体" panose="02010600030101010101" pitchFamily="2" charset="-122"/>
              </a:rPr>
              <a:t>CPI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9382621"/>
              </p:ext>
            </p:extLst>
          </p:nvPr>
        </p:nvGraphicFramePr>
        <p:xfrm>
          <a:off x="4644008" y="1700808"/>
          <a:ext cx="1814904" cy="659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957" name="Equation" r:id="rId6" imgW="26822400" imgH="9753600" progId="Equation.DSMT4">
                  <p:embed/>
                </p:oleObj>
              </mc:Choice>
              <mc:Fallback>
                <p:oleObj name="Equation" r:id="rId6" imgW="26822400" imgH="9753600" progId="Equation.DSMT4">
                  <p:embed/>
                  <p:pic>
                    <p:nvPicPr>
                      <p:cNvPr id="0" name="图片 26379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44008" y="1700808"/>
                        <a:ext cx="1814904" cy="659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AC38-6360-4109-9FCF-488A37030BC5}" type="slidenum">
              <a:rPr lang="en-US" altLang="zh-CN"/>
              <a:t>39</a:t>
            </a:fld>
            <a:endParaRPr lang="en-US" altLang="zh-CN"/>
          </a:p>
        </p:txBody>
      </p:sp>
      <p:sp>
        <p:nvSpPr>
          <p:cNvPr id="264196" name="Text Box 4"/>
          <p:cNvSpPr txBox="1">
            <a:spLocks noChangeArrowheads="1"/>
          </p:cNvSpPr>
          <p:nvPr/>
        </p:nvSpPr>
        <p:spPr bwMode="auto">
          <a:xfrm>
            <a:off x="179512" y="332259"/>
            <a:ext cx="8785225" cy="22467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1—</a:t>
            </a:r>
            <a:r>
              <a:rPr lang="zh-CN" altLang="en-US" sz="2200" b="1" dirty="0">
                <a:latin typeface="宋体" panose="02010600030101010101" pitchFamily="2" charset="-122"/>
              </a:rPr>
              <a:t>某机主频为</a:t>
            </a:r>
            <a:r>
              <a:rPr lang="en-US" altLang="zh-CN" sz="2200" b="1" dirty="0">
                <a:latin typeface="宋体" panose="02010600030101010101" pitchFamily="2" charset="-122"/>
              </a:rPr>
              <a:t>2GHz</a:t>
            </a:r>
            <a:r>
              <a:rPr lang="zh-CN" altLang="en-US" sz="2200" b="1" dirty="0">
                <a:latin typeface="宋体" panose="02010600030101010101" pitchFamily="2" charset="-122"/>
              </a:rPr>
              <a:t>，指令系统包含</a:t>
            </a:r>
            <a:r>
              <a:rPr lang="en-US" altLang="zh-CN" sz="2200" b="1" dirty="0"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</a:rPr>
              <a:t>类指令</a:t>
            </a:r>
            <a:r>
              <a:rPr lang="en-US" altLang="zh-CN" sz="2200" b="1" dirty="0">
                <a:latin typeface="宋体" panose="02010600030101010101" pitchFamily="2" charset="-122"/>
              </a:rPr>
              <a:t>(</a:t>
            </a:r>
            <a:r>
              <a:rPr lang="en-US" altLang="zh-CN" sz="2200" dirty="0"/>
              <a:t>Ⅰ</a:t>
            </a:r>
            <a:r>
              <a:rPr lang="zh-CN" altLang="en-US" sz="2200" b="1" dirty="0">
                <a:latin typeface="宋体" panose="02010600030101010101" pitchFamily="2" charset="-122"/>
              </a:rPr>
              <a:t>类及</a:t>
            </a:r>
            <a:r>
              <a:rPr lang="en-US" altLang="zh-CN" sz="2200" dirty="0" err="1"/>
              <a:t>ⅠⅠ</a:t>
            </a:r>
            <a:r>
              <a:rPr lang="zh-CN" altLang="en-US" sz="2200" b="1" dirty="0">
                <a:latin typeface="宋体" panose="02010600030101010101" pitchFamily="2" charset="-122"/>
              </a:rPr>
              <a:t>类</a:t>
            </a:r>
            <a:r>
              <a:rPr lang="en-US" altLang="zh-CN" sz="22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，指令长度均为</a:t>
            </a:r>
            <a:r>
              <a:rPr lang="en-US" altLang="zh-CN" sz="2200" b="1" dirty="0">
                <a:latin typeface="宋体" panose="02010600030101010101" pitchFamily="2" charset="-122"/>
              </a:rPr>
              <a:t>2B</a:t>
            </a:r>
            <a:r>
              <a:rPr lang="zh-CN" altLang="en-US" sz="2200" b="1" dirty="0">
                <a:latin typeface="宋体" panose="02010600030101010101" pitchFamily="2" charset="-122"/>
              </a:rPr>
              <a:t>，指令执行时间分别为</a:t>
            </a:r>
            <a:r>
              <a:rPr lang="en-US" altLang="zh-CN" sz="2200" b="1" dirty="0">
                <a:latin typeface="宋体" panose="02010600030101010101" pitchFamily="2" charset="-122"/>
              </a:rPr>
              <a:t>5</a:t>
            </a:r>
            <a:r>
              <a:rPr lang="zh-CN" altLang="en-US" sz="2200" b="1" dirty="0">
                <a:latin typeface="宋体" panose="02010600030101010101" pitchFamily="2" charset="-122"/>
              </a:rPr>
              <a:t>个和</a:t>
            </a:r>
            <a:r>
              <a:rPr lang="en-US" altLang="zh-CN" sz="2200" b="1" dirty="0">
                <a:latin typeface="宋体" panose="02010600030101010101" pitchFamily="2" charset="-122"/>
              </a:rPr>
              <a:t>8</a:t>
            </a:r>
            <a:r>
              <a:rPr lang="zh-CN" altLang="en-US" sz="2200" b="1" dirty="0">
                <a:latin typeface="宋体" panose="02010600030101010101" pitchFamily="2" charset="-122"/>
              </a:rPr>
              <a:t>个主时钟周期。程序</a:t>
            </a:r>
            <a:r>
              <a:rPr lang="en-US" altLang="zh-CN" sz="2200" b="1" dirty="0">
                <a:latin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</a:rPr>
              <a:t>执行时，执行了</a:t>
            </a:r>
            <a:r>
              <a:rPr lang="en-US" altLang="zh-CN" sz="2200" b="1" dirty="0">
                <a:latin typeface="宋体" panose="02010600030101010101" pitchFamily="2" charset="-122"/>
              </a:rPr>
              <a:t>30000</a:t>
            </a:r>
            <a:r>
              <a:rPr lang="zh-CN" altLang="en-US" sz="2200" b="1" dirty="0">
                <a:latin typeface="宋体" panose="02010600030101010101" pitchFamily="2" charset="-122"/>
              </a:rPr>
              <a:t>条</a:t>
            </a:r>
            <a:r>
              <a:rPr lang="en-US" altLang="zh-CN" sz="2200" dirty="0"/>
              <a:t>Ⅰ</a:t>
            </a:r>
            <a:r>
              <a:rPr lang="zh-CN" altLang="en-US" sz="2200" b="1" dirty="0">
                <a:latin typeface="宋体" panose="02010600030101010101" pitchFamily="2" charset="-122"/>
              </a:rPr>
              <a:t>类指令、</a:t>
            </a:r>
            <a:r>
              <a:rPr lang="en-US" altLang="zh-CN" sz="2200" b="1" dirty="0">
                <a:latin typeface="宋体" panose="02010600030101010101" pitchFamily="2" charset="-122"/>
              </a:rPr>
              <a:t>70000</a:t>
            </a:r>
            <a:r>
              <a:rPr lang="zh-CN" altLang="en-US" sz="2200" b="1" dirty="0">
                <a:latin typeface="宋体" panose="02010600030101010101" pitchFamily="2" charset="-122"/>
              </a:rPr>
              <a:t>条</a:t>
            </a:r>
            <a:r>
              <a:rPr lang="en-US" altLang="zh-CN" sz="2200" dirty="0"/>
              <a:t>Ⅱ</a:t>
            </a:r>
            <a:r>
              <a:rPr lang="zh-CN" altLang="en-US" sz="2200" b="1" dirty="0"/>
              <a:t>类</a:t>
            </a:r>
            <a:r>
              <a:rPr lang="zh-CN" altLang="en-US" sz="2200" b="1" dirty="0">
                <a:latin typeface="宋体" panose="02010600030101010101" pitchFamily="2" charset="-122"/>
              </a:rPr>
              <a:t>指令，求程序</a:t>
            </a:r>
            <a:r>
              <a:rPr lang="en-US" altLang="zh-CN" sz="2200" b="1" dirty="0">
                <a:latin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</a:rPr>
              <a:t>执行的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latin typeface="宋体" panose="02010600030101010101" pitchFamily="2" charset="-122"/>
              </a:rPr>
              <a:t>时间、平均</a:t>
            </a:r>
            <a:r>
              <a:rPr lang="en-US" altLang="zh-CN" sz="2200" b="1" dirty="0">
                <a:latin typeface="宋体" panose="02010600030101010101" pitchFamily="2" charset="-122"/>
              </a:rPr>
              <a:t>CPI</a:t>
            </a:r>
            <a:r>
              <a:rPr lang="zh-CN" altLang="en-US" sz="2200" b="1" dirty="0">
                <a:latin typeface="宋体" panose="02010600030101010101" pitchFamily="2" charset="-122"/>
              </a:rPr>
              <a:t>。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  </a:t>
            </a:r>
            <a:r>
              <a:rPr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解：</a:t>
            </a:r>
          </a:p>
        </p:txBody>
      </p:sp>
      <p:sp>
        <p:nvSpPr>
          <p:cNvPr id="264201" name="Text Box 9"/>
          <p:cNvSpPr txBox="1">
            <a:spLocks noChangeArrowheads="1"/>
          </p:cNvSpPr>
          <p:nvPr/>
        </p:nvSpPr>
        <p:spPr bwMode="auto">
          <a:xfrm>
            <a:off x="1331516" y="2044382"/>
            <a:ext cx="6840884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20000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(30000×5</a:t>
            </a:r>
            <a:r>
              <a:rPr lang="zh-CN" altLang="en-US" sz="2200" b="1" dirty="0">
                <a:latin typeface="宋体" panose="02010600030101010101" pitchFamily="2" charset="-122"/>
              </a:rPr>
              <a:t>＋</a:t>
            </a:r>
            <a:r>
              <a:rPr lang="en-US" altLang="zh-CN" sz="2200" b="1" dirty="0">
                <a:latin typeface="宋体" panose="02010600030101010101" pitchFamily="2" charset="-122"/>
              </a:rPr>
              <a:t>70000×8)/(2×10</a:t>
            </a:r>
            <a:r>
              <a:rPr lang="en-US" altLang="zh-CN" sz="2200" b="1" baseline="30000" dirty="0">
                <a:latin typeface="宋体" panose="02010600030101010101" pitchFamily="2" charset="-122"/>
              </a:rPr>
              <a:t>9</a:t>
            </a:r>
            <a:r>
              <a:rPr lang="en-US" altLang="zh-CN" sz="22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355</a:t>
            </a:r>
            <a:r>
              <a:rPr lang="en-US" altLang="zh-CN" sz="2200" b="1" dirty="0">
                <a:latin typeface="+mn-lt"/>
              </a:rPr>
              <a:t> </a:t>
            </a:r>
            <a:r>
              <a:rPr lang="en-US" altLang="zh-CN" sz="2200" dirty="0" err="1">
                <a:latin typeface="+mn-lt"/>
              </a:rPr>
              <a:t>μ</a:t>
            </a:r>
            <a:r>
              <a:rPr lang="en-US" altLang="zh-CN" sz="2200" b="1" dirty="0" err="1">
                <a:latin typeface="宋体" panose="02010600030101010101" pitchFamily="2" charset="-122"/>
              </a:rPr>
              <a:t>s</a:t>
            </a:r>
            <a:r>
              <a:rPr lang="zh-CN" altLang="en-US" sz="2200" b="1" dirty="0">
                <a:latin typeface="宋体" panose="02010600030101010101" pitchFamily="2" charset="-122"/>
              </a:rPr>
              <a:t>；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CPI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30000/100000×5</a:t>
            </a:r>
            <a:r>
              <a:rPr lang="zh-CN" altLang="en-US" sz="2200" b="1" dirty="0">
                <a:latin typeface="宋体" panose="02010600030101010101" pitchFamily="2" charset="-122"/>
              </a:rPr>
              <a:t>＋</a:t>
            </a:r>
            <a:r>
              <a:rPr lang="en-US" altLang="zh-CN" sz="2200" b="1" dirty="0">
                <a:latin typeface="宋体" panose="02010600030101010101" pitchFamily="2" charset="-122"/>
              </a:rPr>
              <a:t>70000/100000×8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7.1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79388" y="2926188"/>
            <a:ext cx="8785225" cy="18235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2—</a:t>
            </a:r>
            <a:r>
              <a:rPr lang="zh-CN" altLang="en-US" sz="2200" b="1" dirty="0">
                <a:latin typeface="宋体" panose="02010600030101010101" pitchFamily="2" charset="-122"/>
              </a:rPr>
              <a:t>续例</a:t>
            </a:r>
            <a:r>
              <a:rPr lang="en-US" altLang="zh-CN" sz="2200" b="1" dirty="0"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</a:rPr>
              <a:t>。程序</a:t>
            </a:r>
            <a:r>
              <a:rPr lang="en-US" altLang="zh-CN" sz="2200" b="1" dirty="0">
                <a:latin typeface="宋体" panose="02010600030101010101" pitchFamily="2" charset="-122"/>
              </a:rPr>
              <a:t>B</a:t>
            </a:r>
            <a:r>
              <a:rPr lang="zh-CN" altLang="en-US" sz="2200" b="1" dirty="0">
                <a:latin typeface="宋体" panose="02010600030101010101" pitchFamily="2" charset="-122"/>
              </a:rPr>
              <a:t>大小为</a:t>
            </a:r>
            <a:r>
              <a:rPr lang="en-US" altLang="zh-CN" sz="2200" b="1" dirty="0">
                <a:latin typeface="宋体" panose="02010600030101010101" pitchFamily="2" charset="-122"/>
              </a:rPr>
              <a:t>2MB</a:t>
            </a:r>
            <a:r>
              <a:rPr lang="zh-CN" altLang="en-US" sz="2200" b="1" dirty="0">
                <a:latin typeface="宋体" panose="02010600030101010101" pitchFamily="2" charset="-122"/>
              </a:rPr>
              <a:t>，其中</a:t>
            </a:r>
            <a:r>
              <a:rPr lang="en-US" altLang="zh-CN" sz="2200" b="1" dirty="0">
                <a:latin typeface="宋体" panose="02010600030101010101" pitchFamily="2" charset="-122"/>
              </a:rPr>
              <a:t>30%</a:t>
            </a:r>
            <a:r>
              <a:rPr lang="zh-CN" altLang="en-US" sz="2200" b="1" dirty="0">
                <a:latin typeface="宋体" panose="02010600030101010101" pitchFamily="2" charset="-122"/>
              </a:rPr>
              <a:t>为</a:t>
            </a:r>
            <a:r>
              <a:rPr lang="en-US" altLang="zh-CN" sz="2200" dirty="0"/>
              <a:t>Ⅰ</a:t>
            </a:r>
            <a:r>
              <a:rPr lang="zh-CN" altLang="en-US" sz="2200" b="1" dirty="0">
                <a:latin typeface="宋体" panose="02010600030101010101" pitchFamily="2" charset="-122"/>
              </a:rPr>
              <a:t>类指令；程序</a:t>
            </a:r>
            <a:r>
              <a:rPr lang="en-US" altLang="zh-CN" sz="2200" b="1" dirty="0">
                <a:latin typeface="宋体" panose="02010600030101010101" pitchFamily="2" charset="-122"/>
              </a:rPr>
              <a:t>B</a:t>
            </a:r>
            <a:r>
              <a:rPr lang="zh-CN" altLang="en-US" sz="2200" b="1" dirty="0">
                <a:latin typeface="宋体" panose="02010600030101010101" pitchFamily="2" charset="-122"/>
              </a:rPr>
              <a:t>执行时，</a:t>
            </a:r>
            <a:r>
              <a:rPr lang="en-US" altLang="zh-CN" sz="2200" dirty="0"/>
              <a:t>Ⅰ</a:t>
            </a:r>
            <a:r>
              <a:rPr lang="zh-CN" altLang="en-US" sz="2200" b="1" dirty="0">
                <a:latin typeface="宋体" panose="02010600030101010101" pitchFamily="2" charset="-122"/>
              </a:rPr>
              <a:t>类指令的</a:t>
            </a:r>
            <a:r>
              <a:rPr lang="en-US" altLang="zh-CN" sz="2200" b="1" dirty="0">
                <a:latin typeface="宋体" panose="02010600030101010101" pitchFamily="2" charset="-122"/>
              </a:rPr>
              <a:t>10%</a:t>
            </a:r>
            <a:r>
              <a:rPr lang="zh-CN" altLang="en-US" sz="2200" b="1" dirty="0">
                <a:latin typeface="宋体" panose="02010600030101010101" pitchFamily="2" charset="-122"/>
              </a:rPr>
              <a:t>和</a:t>
            </a:r>
            <a:r>
              <a:rPr lang="en-US" altLang="zh-CN" sz="2200" dirty="0" err="1"/>
              <a:t>ⅠⅠ</a:t>
            </a:r>
            <a:r>
              <a:rPr lang="zh-CN" altLang="en-US" sz="2200" b="1" dirty="0"/>
              <a:t>类</a:t>
            </a:r>
            <a:r>
              <a:rPr lang="zh-CN" altLang="en-US" sz="2200" b="1" dirty="0">
                <a:latin typeface="宋体" panose="02010600030101010101" pitchFamily="2" charset="-122"/>
              </a:rPr>
              <a:t>指令的</a:t>
            </a:r>
            <a:r>
              <a:rPr lang="en-US" altLang="zh-CN" sz="2200" b="1" dirty="0">
                <a:latin typeface="宋体" panose="02010600030101010101" pitchFamily="2" charset="-122"/>
              </a:rPr>
              <a:t>20%</a:t>
            </a:r>
            <a:r>
              <a:rPr lang="zh-CN" altLang="en-US" sz="2200" b="1" dirty="0">
                <a:latin typeface="宋体" panose="02010600030101010101" pitchFamily="2" charset="-122"/>
              </a:rPr>
              <a:t>各执行了</a:t>
            </a:r>
            <a:r>
              <a:rPr lang="en-US" altLang="zh-CN" sz="2200" b="1" dirty="0">
                <a:latin typeface="宋体" panose="02010600030101010101" pitchFamily="2" charset="-122"/>
              </a:rPr>
              <a:t>30</a:t>
            </a:r>
            <a:r>
              <a:rPr lang="zh-CN" altLang="en-US" sz="2200" b="1" dirty="0">
                <a:latin typeface="宋体" panose="02010600030101010101" pitchFamily="2" charset="-122"/>
              </a:rPr>
              <a:t>次，其余指令均只执行了</a:t>
            </a:r>
            <a:r>
              <a:rPr lang="en-US" altLang="zh-CN" sz="2200" b="1" dirty="0"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</a:rPr>
              <a:t>次。求程序</a:t>
            </a:r>
            <a:r>
              <a:rPr lang="en-US" altLang="zh-CN" sz="2200" b="1" dirty="0">
                <a:latin typeface="宋体" panose="02010600030101010101" pitchFamily="2" charset="-122"/>
              </a:rPr>
              <a:t>B</a:t>
            </a:r>
            <a:r>
              <a:rPr lang="zh-CN" altLang="en-US" sz="2200" b="1" dirty="0">
                <a:latin typeface="宋体" panose="02010600030101010101" pitchFamily="2" charset="-122"/>
              </a:rPr>
              <a:t>执行所需的时钟周期数。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 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解：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259383" y="4221088"/>
            <a:ext cx="7273057" cy="18620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代码中指令数</a:t>
            </a:r>
            <a:r>
              <a:rPr lang="en-US" altLang="zh-CN" sz="2200" b="1" dirty="0">
                <a:latin typeface="宋体" panose="02010600030101010101" pitchFamily="2" charset="-122"/>
              </a:rPr>
              <a:t>—</a:t>
            </a:r>
            <a:r>
              <a:rPr lang="en-US" altLang="zh-CN" sz="2200" dirty="0"/>
              <a:t>Ⅰ</a:t>
            </a:r>
            <a:r>
              <a:rPr lang="zh-CN" altLang="en-US" sz="2200" b="1" dirty="0">
                <a:latin typeface="宋体" panose="02010600030101010101" pitchFamily="2" charset="-122"/>
              </a:rPr>
              <a:t>类有  </a:t>
            </a:r>
            <a:r>
              <a:rPr lang="en-US" altLang="zh-CN" sz="2200" b="1" dirty="0">
                <a:latin typeface="宋体" panose="02010600030101010101" pitchFamily="2" charset="-122"/>
              </a:rPr>
              <a:t>      </a:t>
            </a:r>
            <a:r>
              <a:rPr lang="zh-CN" altLang="en-US" sz="2200" b="1" dirty="0">
                <a:latin typeface="宋体" panose="02010600030101010101" pitchFamily="2" charset="-122"/>
              </a:rPr>
              <a:t>条，</a:t>
            </a:r>
            <a:r>
              <a:rPr lang="en-US" altLang="zh-CN" sz="2200" b="1" dirty="0">
                <a:latin typeface="宋体" panose="02010600030101010101" pitchFamily="2" charset="-122"/>
              </a:rPr>
              <a:t>Ⅱ</a:t>
            </a:r>
            <a:r>
              <a:rPr lang="zh-CN" altLang="en-US" sz="2200" b="1" dirty="0">
                <a:latin typeface="宋体" panose="02010600030101010101" pitchFamily="2" charset="-122"/>
              </a:rPr>
              <a:t>类有 </a:t>
            </a:r>
            <a:r>
              <a:rPr lang="en-US" altLang="zh-CN" sz="2200" b="1" dirty="0">
                <a:latin typeface="宋体" panose="02010600030101010101" pitchFamily="2" charset="-122"/>
              </a:rPr>
              <a:t>     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latin typeface="宋体" panose="02010600030101010101" pitchFamily="2" charset="-122"/>
              </a:rPr>
              <a:t>条；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spc="-50" dirty="0">
                <a:latin typeface="宋体" panose="02010600030101010101" pitchFamily="2" charset="-122"/>
              </a:rPr>
              <a:t>执行的指令数</a:t>
            </a:r>
            <a:r>
              <a:rPr lang="en-US" altLang="zh-CN" sz="2200" b="1" spc="-50" dirty="0">
                <a:latin typeface="宋体" panose="02010600030101010101" pitchFamily="2" charset="-122"/>
              </a:rPr>
              <a:t>—</a:t>
            </a:r>
            <a:r>
              <a:rPr lang="en-US" altLang="zh-CN" sz="2200" b="1" spc="-50" dirty="0">
                <a:latin typeface="+mn-lt"/>
              </a:rPr>
              <a:t> </a:t>
            </a:r>
            <a:r>
              <a:rPr lang="en-US" altLang="zh-CN" sz="2200" dirty="0"/>
              <a:t>Ⅰ</a:t>
            </a:r>
            <a:r>
              <a:rPr lang="zh-CN" altLang="en-US" sz="2200" b="1" spc="-50" dirty="0">
                <a:latin typeface="宋体" panose="02010600030101010101" pitchFamily="2" charset="-122"/>
              </a:rPr>
              <a:t>类为</a:t>
            </a:r>
            <a:endParaRPr lang="en-US" altLang="zh-CN" sz="2200" b="1" spc="-5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spc="-50" dirty="0">
                <a:latin typeface="宋体" panose="02010600030101010101" pitchFamily="2" charset="-122"/>
              </a:rPr>
              <a:t>        </a:t>
            </a:r>
            <a:r>
              <a:rPr lang="en-US" altLang="zh-CN" sz="2200" b="1" dirty="0">
                <a:latin typeface="宋体" panose="02010600030101010101" pitchFamily="2" charset="-122"/>
              </a:rPr>
              <a:t>      </a:t>
            </a:r>
            <a:r>
              <a:rPr lang="en-US" altLang="zh-CN" sz="2200" dirty="0" err="1"/>
              <a:t>ⅠⅠ</a:t>
            </a:r>
            <a:r>
              <a:rPr lang="zh-CN" altLang="en-US" sz="2200" b="1" spc="-50" dirty="0">
                <a:latin typeface="宋体" panose="02010600030101010101" pitchFamily="2" charset="-122"/>
              </a:rPr>
              <a:t>类为</a:t>
            </a:r>
            <a:endParaRPr lang="en-US" altLang="zh-CN" sz="2200" b="1" spc="-5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所需时钟周期数</a:t>
            </a:r>
            <a:r>
              <a:rPr lang="en-US" altLang="zh-CN" sz="2200" b="1" dirty="0">
                <a:latin typeface="宋体" panose="02010600030101010101" pitchFamily="2" charset="-122"/>
              </a:rPr>
              <a:t>—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3635896" y="4221088"/>
            <a:ext cx="5328841" cy="186204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spc="-50" dirty="0">
                <a:solidFill>
                  <a:srgbClr val="C00000"/>
                </a:solidFill>
                <a:latin typeface="宋体" panose="02010600030101010101" pitchFamily="2" charset="-122"/>
              </a:rPr>
              <a:t>   0.3</a:t>
            </a:r>
            <a:r>
              <a:rPr lang="en-US" altLang="zh-CN" sz="2200" b="1" spc="-50" dirty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200" b="1" spc="-50" baseline="30000" dirty="0">
                <a:solidFill>
                  <a:srgbClr val="FF3399"/>
                </a:solidFill>
                <a:latin typeface="宋体" panose="02010600030101010101" pitchFamily="2" charset="-122"/>
              </a:rPr>
              <a:t>20</a:t>
            </a:r>
            <a:r>
              <a:rPr lang="en-US" altLang="zh-CN" sz="2200" b="1" spc="-50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spc="-50" dirty="0">
                <a:latin typeface="宋体" panose="02010600030101010101" pitchFamily="2" charset="-122"/>
              </a:rPr>
              <a:t>           </a:t>
            </a:r>
            <a:r>
              <a:rPr lang="en-US" altLang="zh-CN" sz="2200" b="1" spc="-50" dirty="0">
                <a:latin typeface="宋体" panose="02010600030101010101" pitchFamily="2" charset="-122"/>
              </a:rPr>
              <a:t>0.7*2</a:t>
            </a:r>
            <a:r>
              <a:rPr lang="en-US" altLang="zh-CN" sz="2200" b="1" spc="-50" baseline="30000" dirty="0">
                <a:latin typeface="宋体" panose="02010600030101010101" pitchFamily="2" charset="-122"/>
              </a:rPr>
              <a:t>20</a:t>
            </a:r>
            <a:endParaRPr lang="en-US" altLang="zh-CN" sz="2200" b="1" spc="-5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spc="-50" dirty="0">
                <a:latin typeface="宋体" panose="02010600030101010101" pitchFamily="2" charset="-122"/>
              </a:rPr>
              <a:t>   0.3*2</a:t>
            </a:r>
            <a:r>
              <a:rPr lang="en-US" altLang="zh-CN" sz="2200" b="1" spc="-50" baseline="30000" dirty="0">
                <a:latin typeface="宋体" panose="02010600030101010101" pitchFamily="2" charset="-122"/>
              </a:rPr>
              <a:t>20</a:t>
            </a:r>
            <a:r>
              <a:rPr lang="zh-CN" altLang="en-US" sz="2200" b="1" spc="-50" dirty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>
                <a:latin typeface="宋体" panose="02010600030101010101" pitchFamily="2" charset="-122"/>
              </a:rPr>
              <a:t>(10%</a:t>
            </a:r>
            <a:r>
              <a:rPr lang="zh-CN" altLang="en-US" sz="2200" b="1" spc="-50" dirty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>
                <a:latin typeface="宋体" panose="02010600030101010101" pitchFamily="2" charset="-122"/>
              </a:rPr>
              <a:t>30+90%</a:t>
            </a:r>
            <a:r>
              <a:rPr lang="zh-CN" altLang="en-US" sz="2200" b="1" spc="-50" dirty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>
                <a:latin typeface="宋体" panose="02010600030101010101" pitchFamily="2" charset="-122"/>
              </a:rPr>
              <a:t>1)</a:t>
            </a:r>
            <a:r>
              <a:rPr lang="zh-CN" altLang="en-US" sz="2200" b="1" spc="-50" dirty="0">
                <a:latin typeface="宋体" panose="02010600030101010101" pitchFamily="2" charset="-122"/>
              </a:rPr>
              <a:t>＝</a:t>
            </a:r>
            <a:r>
              <a:rPr lang="en-US" altLang="zh-CN" sz="2200" b="1" spc="-50" dirty="0">
                <a:latin typeface="宋体" panose="02010600030101010101" pitchFamily="2" charset="-122"/>
              </a:rPr>
              <a:t>1.17*2</a:t>
            </a:r>
            <a:r>
              <a:rPr lang="en-US" altLang="zh-CN" sz="2200" b="1" spc="-50" baseline="30000" dirty="0">
                <a:latin typeface="宋体" panose="02010600030101010101" pitchFamily="2" charset="-122"/>
              </a:rPr>
              <a:t>20 </a:t>
            </a:r>
            <a:r>
              <a:rPr lang="zh-CN" altLang="en-US" sz="2200" b="1" spc="-50" dirty="0">
                <a:latin typeface="宋体" panose="02010600030101010101" pitchFamily="2" charset="-122"/>
              </a:rPr>
              <a:t>条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</a:p>
          <a:p>
            <a:pPr>
              <a:lnSpc>
                <a:spcPct val="125000"/>
              </a:lnSpc>
            </a:pPr>
            <a:r>
              <a:rPr lang="en-US" altLang="zh-CN" sz="2200" b="1" spc="-50" dirty="0">
                <a:latin typeface="宋体" panose="02010600030101010101" pitchFamily="2" charset="-122"/>
              </a:rPr>
              <a:t>   0.7*2</a:t>
            </a:r>
            <a:r>
              <a:rPr lang="en-US" altLang="zh-CN" sz="2200" b="1" spc="-50" baseline="30000" dirty="0">
                <a:latin typeface="宋体" panose="02010600030101010101" pitchFamily="2" charset="-122"/>
              </a:rPr>
              <a:t>20</a:t>
            </a:r>
            <a:r>
              <a:rPr lang="zh-CN" altLang="en-US" sz="2200" b="1" spc="-50" dirty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>
                <a:latin typeface="宋体" panose="02010600030101010101" pitchFamily="2" charset="-122"/>
              </a:rPr>
              <a:t>(20%</a:t>
            </a:r>
            <a:r>
              <a:rPr lang="zh-CN" altLang="en-US" sz="2200" b="1" spc="-50" dirty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>
                <a:latin typeface="宋体" panose="02010600030101010101" pitchFamily="2" charset="-122"/>
              </a:rPr>
              <a:t>30+80%</a:t>
            </a:r>
            <a:r>
              <a:rPr lang="zh-CN" altLang="en-US" sz="2200" b="1" spc="-50" dirty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>
                <a:latin typeface="宋体" panose="02010600030101010101" pitchFamily="2" charset="-122"/>
              </a:rPr>
              <a:t>1)</a:t>
            </a:r>
            <a:r>
              <a:rPr lang="zh-CN" altLang="en-US" sz="2200" b="1" spc="-50" dirty="0">
                <a:latin typeface="宋体" panose="02010600030101010101" pitchFamily="2" charset="-122"/>
              </a:rPr>
              <a:t>＝</a:t>
            </a:r>
            <a:r>
              <a:rPr lang="en-US" altLang="zh-CN" sz="2200" b="1" spc="-50" dirty="0">
                <a:latin typeface="宋体" panose="02010600030101010101" pitchFamily="2" charset="-122"/>
              </a:rPr>
              <a:t>4.76*2</a:t>
            </a:r>
            <a:r>
              <a:rPr lang="en-US" altLang="zh-CN" sz="2200" b="1" spc="-50" baseline="30000" dirty="0">
                <a:latin typeface="宋体" panose="02010600030101010101" pitchFamily="2" charset="-122"/>
              </a:rPr>
              <a:t>20 </a:t>
            </a:r>
            <a:r>
              <a:rPr lang="zh-CN" altLang="en-US" sz="2200" b="1" spc="-50" dirty="0">
                <a:latin typeface="宋体" panose="02010600030101010101" pitchFamily="2" charset="-122"/>
              </a:rPr>
              <a:t>条</a:t>
            </a:r>
            <a:r>
              <a:rPr lang="zh-CN" altLang="en-US" sz="2200" b="1" dirty="0">
                <a:latin typeface="宋体" panose="02010600030101010101" pitchFamily="2" charset="-122"/>
              </a:rPr>
              <a:t>；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spc="-50" dirty="0">
                <a:latin typeface="宋体" panose="02010600030101010101" pitchFamily="2" charset="-122"/>
              </a:rPr>
              <a:t>(1.17*2</a:t>
            </a:r>
            <a:r>
              <a:rPr lang="en-US" altLang="zh-CN" sz="2200" b="1" spc="-50" baseline="30000" dirty="0">
                <a:latin typeface="宋体" panose="02010600030101010101" pitchFamily="2" charset="-122"/>
              </a:rPr>
              <a:t>20</a:t>
            </a:r>
            <a:r>
              <a:rPr lang="zh-CN" altLang="en-US" sz="2200" b="1" spc="-50" dirty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>
                <a:latin typeface="宋体" panose="02010600030101010101" pitchFamily="2" charset="-122"/>
              </a:rPr>
              <a:t>5</a:t>
            </a:r>
            <a:r>
              <a:rPr lang="zh-CN" altLang="en-US" sz="2200" b="1" spc="-50" dirty="0">
                <a:latin typeface="宋体" panose="02010600030101010101" pitchFamily="2" charset="-122"/>
              </a:rPr>
              <a:t>＋</a:t>
            </a:r>
            <a:r>
              <a:rPr lang="en-US" altLang="zh-CN" sz="2200" b="1" spc="-50" dirty="0">
                <a:latin typeface="宋体" panose="02010600030101010101" pitchFamily="2" charset="-122"/>
              </a:rPr>
              <a:t>4.76*2</a:t>
            </a:r>
            <a:r>
              <a:rPr lang="en-US" altLang="zh-CN" sz="2200" b="1" spc="-50" baseline="30000" dirty="0">
                <a:latin typeface="宋体" panose="02010600030101010101" pitchFamily="2" charset="-122"/>
              </a:rPr>
              <a:t>20</a:t>
            </a:r>
            <a:r>
              <a:rPr lang="zh-CN" altLang="en-US" sz="2200" b="1" spc="-50" dirty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>
                <a:latin typeface="宋体" panose="02010600030101010101" pitchFamily="2" charset="-122"/>
              </a:rPr>
              <a:t>8)</a:t>
            </a:r>
            <a:r>
              <a:rPr lang="zh-CN" altLang="en-US" sz="2200" b="1" spc="-50" dirty="0">
                <a:latin typeface="宋体" panose="02010600030101010101" pitchFamily="2" charset="-122"/>
              </a:rPr>
              <a:t>＝</a:t>
            </a:r>
            <a:r>
              <a:rPr lang="en-US" altLang="zh-CN" sz="2200" b="1" spc="-50" dirty="0">
                <a:latin typeface="宋体" panose="02010600030101010101" pitchFamily="2" charset="-122"/>
              </a:rPr>
              <a:t>43.93</a:t>
            </a:r>
            <a:r>
              <a:rPr lang="zh-CN" altLang="en-US" sz="2200" b="1" spc="-50" dirty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>
                <a:latin typeface="宋体" panose="02010600030101010101" pitchFamily="2" charset="-122"/>
              </a:rPr>
              <a:t>2</a:t>
            </a:r>
            <a:r>
              <a:rPr lang="en-US" altLang="zh-CN" sz="2200" b="1" spc="-50" baseline="30000" dirty="0">
                <a:latin typeface="宋体" panose="02010600030101010101" pitchFamily="2" charset="-122"/>
              </a:rPr>
              <a:t>20 </a:t>
            </a:r>
            <a:r>
              <a:rPr lang="zh-CN" altLang="en-US" sz="2200" b="1" spc="-50" dirty="0">
                <a:latin typeface="宋体" panose="02010600030101010101" pitchFamily="2" charset="-122"/>
              </a:rPr>
              <a:t>个</a:t>
            </a:r>
            <a:endParaRPr lang="en-US" altLang="zh-CN" sz="2200" b="1" spc="-50" dirty="0"/>
          </a:p>
        </p:txBody>
      </p:sp>
      <p:sp>
        <p:nvSpPr>
          <p:cNvPr id="15" name="AutoShape 1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4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4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30075-6A9C-4F36-9F5B-72E0214112E2}" type="slidenum">
              <a:rPr lang="en-US" altLang="zh-CN"/>
              <a:t>40</a:t>
            </a:fld>
            <a:endParaRPr lang="en-US" altLang="zh-CN"/>
          </a:p>
        </p:txBody>
      </p:sp>
      <p:sp>
        <p:nvSpPr>
          <p:cNvPr id="294916" name="Text Box 4"/>
          <p:cNvSpPr txBox="1">
            <a:spLocks noChangeArrowheads="1"/>
          </p:cNvSpPr>
          <p:nvPr/>
        </p:nvSpPr>
        <p:spPr bwMode="auto">
          <a:xfrm>
            <a:off x="179388" y="357166"/>
            <a:ext cx="8785225" cy="22467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3—</a:t>
            </a:r>
            <a:r>
              <a:rPr lang="zh-CN" altLang="en-US" sz="2200" b="1" dirty="0">
                <a:latin typeface="宋体" panose="02010600030101010101" pitchFamily="2" charset="-122"/>
              </a:rPr>
              <a:t>计算机</a:t>
            </a:r>
            <a:r>
              <a:rPr lang="en-US" altLang="zh-CN" sz="2200" b="1" dirty="0">
                <a:latin typeface="宋体" panose="02010600030101010101" pitchFamily="2" charset="-122"/>
              </a:rPr>
              <a:t>M1</a:t>
            </a:r>
            <a:r>
              <a:rPr lang="zh-CN" altLang="en-US" sz="2200" b="1" dirty="0">
                <a:latin typeface="宋体" panose="02010600030101010101" pitchFamily="2" charset="-122"/>
              </a:rPr>
              <a:t>的主频为</a:t>
            </a:r>
            <a:r>
              <a:rPr lang="en-US" altLang="zh-CN" sz="2200" b="1" dirty="0">
                <a:latin typeface="宋体" panose="02010600030101010101" pitchFamily="2" charset="-122"/>
              </a:rPr>
              <a:t>2GHz</a:t>
            </a:r>
            <a:r>
              <a:rPr lang="zh-CN" altLang="en-US" sz="2200" b="1" dirty="0">
                <a:latin typeface="宋体" panose="02010600030101010101" pitchFamily="2" charset="-122"/>
              </a:rPr>
              <a:t>，计算机</a:t>
            </a:r>
            <a:r>
              <a:rPr lang="en-US" altLang="zh-CN" sz="2200" b="1" dirty="0">
                <a:latin typeface="宋体" panose="02010600030101010101" pitchFamily="2" charset="-122"/>
              </a:rPr>
              <a:t>M2</a:t>
            </a:r>
            <a:r>
              <a:rPr lang="zh-CN" altLang="en-US" sz="2200" b="1" dirty="0">
                <a:latin typeface="宋体" panose="02010600030101010101" pitchFamily="2" charset="-122"/>
              </a:rPr>
              <a:t>与</a:t>
            </a:r>
            <a:r>
              <a:rPr lang="en-US" altLang="zh-CN" sz="2200" b="1" dirty="0">
                <a:latin typeface="宋体" panose="02010600030101010101" pitchFamily="2" charset="-122"/>
              </a:rPr>
              <a:t>M1</a:t>
            </a:r>
            <a:r>
              <a:rPr lang="zh-CN" altLang="en-US" sz="2200" b="1" dirty="0">
                <a:latin typeface="宋体" panose="02010600030101010101" pitchFamily="2" charset="-122"/>
              </a:rPr>
              <a:t>具有相同的</a:t>
            </a:r>
            <a:r>
              <a:rPr lang="en-US" altLang="zh-CN" sz="2200" b="1" dirty="0">
                <a:latin typeface="宋体" panose="02010600030101010101" pitchFamily="2" charset="-122"/>
              </a:rPr>
              <a:t>ISA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dirty="0">
                <a:latin typeface="+mn-lt"/>
              </a:rPr>
              <a:t>Instruction Set Architecture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</a:rPr>
              <a:t>M2</a:t>
            </a:r>
            <a:r>
              <a:rPr lang="zh-CN" altLang="en-US" sz="2200" b="1" dirty="0">
                <a:latin typeface="宋体" panose="02010600030101010101" pitchFamily="2" charset="-122"/>
              </a:rPr>
              <a:t>的主频高于</a:t>
            </a:r>
            <a:r>
              <a:rPr lang="en-US" altLang="zh-CN" sz="2200" b="1" dirty="0">
                <a:latin typeface="宋体" panose="02010600030101010101" pitchFamily="2" charset="-122"/>
              </a:rPr>
              <a:t>M1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CPI</a:t>
            </a:r>
            <a:r>
              <a:rPr lang="zh-CN" altLang="en-US" sz="2200" b="1" dirty="0">
                <a:latin typeface="宋体" panose="02010600030101010101" pitchFamily="2" charset="-122"/>
              </a:rPr>
              <a:t>大于</a:t>
            </a:r>
            <a:r>
              <a:rPr lang="en-US" altLang="zh-CN" sz="2200" b="1" dirty="0">
                <a:latin typeface="宋体" panose="02010600030101010101" pitchFamily="2" charset="-122"/>
              </a:rPr>
              <a:t>M1</a:t>
            </a:r>
            <a:r>
              <a:rPr lang="zh-CN" altLang="en-US" sz="2200" b="1" dirty="0">
                <a:latin typeface="宋体" panose="02010600030101010101" pitchFamily="2" charset="-122"/>
              </a:rPr>
              <a:t>。若程序</a:t>
            </a:r>
            <a:r>
              <a:rPr lang="en-US" altLang="zh-CN" sz="2200" b="1" dirty="0">
                <a:latin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lang="en-US" altLang="zh-CN" sz="2200" b="1" dirty="0">
                <a:latin typeface="宋体" panose="02010600030101010101" pitchFamily="2" charset="-122"/>
              </a:rPr>
              <a:t>M1</a:t>
            </a:r>
            <a:r>
              <a:rPr lang="zh-CN" altLang="en-US" sz="2200" b="1" dirty="0">
                <a:latin typeface="宋体" panose="02010600030101010101" pitchFamily="2" charset="-122"/>
              </a:rPr>
              <a:t>上的运行时间为</a:t>
            </a:r>
            <a:r>
              <a:rPr lang="en-US" altLang="zh-CN" sz="2200" b="1" dirty="0">
                <a:latin typeface="宋体" panose="02010600030101010101" pitchFamily="2" charset="-122"/>
              </a:rPr>
              <a:t>10s</a:t>
            </a:r>
            <a:r>
              <a:rPr lang="zh-CN" altLang="en-US" sz="2200" b="1" dirty="0">
                <a:latin typeface="宋体" panose="02010600030101010101" pitchFamily="2" charset="-122"/>
              </a:rPr>
              <a:t>，程序</a:t>
            </a:r>
            <a:r>
              <a:rPr lang="en-US" altLang="zh-CN" sz="2200" b="1" dirty="0">
                <a:latin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lang="en-US" altLang="zh-CN" sz="2200" b="1" dirty="0">
                <a:latin typeface="宋体" panose="02010600030101010101" pitchFamily="2" charset="-122"/>
              </a:rPr>
              <a:t>M2</a:t>
            </a:r>
            <a:r>
              <a:rPr lang="zh-CN" altLang="en-US" sz="2200" b="1" dirty="0">
                <a:latin typeface="宋体" panose="02010600030101010101" pitchFamily="2" charset="-122"/>
              </a:rPr>
              <a:t>上运行所需时钟周期数为在</a:t>
            </a:r>
            <a:r>
              <a:rPr lang="en-US" altLang="zh-CN" sz="2200" b="1" dirty="0">
                <a:latin typeface="宋体" panose="02010600030101010101" pitchFamily="2" charset="-122"/>
              </a:rPr>
              <a:t>M1</a:t>
            </a:r>
            <a:r>
              <a:rPr lang="zh-CN" altLang="en-US" sz="2200" b="1" dirty="0">
                <a:latin typeface="宋体" panose="02010600030101010101" pitchFamily="2" charset="-122"/>
              </a:rPr>
              <a:t>上的</a:t>
            </a:r>
            <a:r>
              <a:rPr lang="en-US" altLang="zh-CN" sz="2200" b="1" dirty="0">
                <a:latin typeface="宋体" panose="02010600030101010101" pitchFamily="2" charset="-122"/>
              </a:rPr>
              <a:t>1.5</a:t>
            </a:r>
            <a:r>
              <a:rPr lang="zh-CN" altLang="en-US" sz="2200" b="1" dirty="0">
                <a:latin typeface="宋体" panose="02010600030101010101" pitchFamily="2" charset="-122"/>
              </a:rPr>
              <a:t>倍，欲使程序</a:t>
            </a:r>
            <a:r>
              <a:rPr lang="en-US" altLang="zh-CN" sz="2200" b="1" dirty="0">
                <a:latin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lang="en-US" altLang="zh-CN" sz="2200" b="1" dirty="0">
                <a:latin typeface="宋体" panose="02010600030101010101" pitchFamily="2" charset="-122"/>
              </a:rPr>
              <a:t>M2</a:t>
            </a:r>
            <a:r>
              <a:rPr lang="zh-CN" altLang="en-US" sz="2200" b="1" dirty="0">
                <a:latin typeface="宋体" panose="02010600030101010101" pitchFamily="2" charset="-122"/>
              </a:rPr>
              <a:t>上运行时间为</a:t>
            </a:r>
            <a:r>
              <a:rPr lang="en-US" altLang="zh-CN" sz="2200" b="1" dirty="0">
                <a:latin typeface="宋体" panose="02010600030101010101" pitchFamily="2" charset="-122"/>
              </a:rPr>
              <a:t>6s</a:t>
            </a:r>
            <a:r>
              <a:rPr lang="zh-CN" altLang="en-US" sz="2200" b="1" dirty="0">
                <a:latin typeface="宋体" panose="02010600030101010101" pitchFamily="2" charset="-122"/>
              </a:rPr>
              <a:t>，则</a:t>
            </a:r>
            <a:r>
              <a:rPr lang="en-US" altLang="zh-CN" sz="2200" b="1" dirty="0">
                <a:latin typeface="宋体" panose="02010600030101010101" pitchFamily="2" charset="-122"/>
              </a:rPr>
              <a:t>M2</a:t>
            </a:r>
            <a:r>
              <a:rPr lang="zh-CN" altLang="en-US" sz="2200" b="1" dirty="0">
                <a:latin typeface="宋体" panose="02010600030101010101" pitchFamily="2" charset="-122"/>
              </a:rPr>
              <a:t>的主频至少为多少？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 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解：</a:t>
            </a:r>
          </a:p>
        </p:txBody>
      </p:sp>
      <p:sp>
        <p:nvSpPr>
          <p:cNvPr id="294917" name="Text Box 5"/>
          <p:cNvSpPr txBox="1">
            <a:spLocks noChangeArrowheads="1"/>
          </p:cNvSpPr>
          <p:nvPr/>
        </p:nvSpPr>
        <p:spPr bwMode="auto">
          <a:xfrm>
            <a:off x="1331516" y="2097729"/>
            <a:ext cx="7416948" cy="22082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设 程序</a:t>
            </a:r>
            <a:r>
              <a:rPr lang="en-US" altLang="zh-CN" sz="2200" b="1" dirty="0">
                <a:latin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lang="en-US" altLang="zh-CN" sz="2200" b="1" dirty="0">
                <a:latin typeface="宋体" panose="02010600030101010101" pitchFamily="2" charset="-122"/>
              </a:rPr>
              <a:t>M1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M2</a:t>
            </a:r>
            <a:r>
              <a:rPr lang="zh-CN" altLang="en-US" sz="2200" b="1" dirty="0">
                <a:latin typeface="宋体" panose="02010600030101010101" pitchFamily="2" charset="-122"/>
              </a:rPr>
              <a:t>上运行的时钟周期数各为</a:t>
            </a:r>
            <a:r>
              <a:rPr lang="en-US" altLang="zh-CN" sz="2200" i="1" dirty="0">
                <a:latin typeface="+mn-lt"/>
              </a:rPr>
              <a:t>N</a:t>
            </a:r>
            <a:r>
              <a:rPr lang="en-US" altLang="zh-CN" sz="2200" b="1" dirty="0"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i="1" dirty="0">
                <a:latin typeface="+mn-lt"/>
              </a:rPr>
              <a:t>N</a:t>
            </a:r>
            <a:r>
              <a:rPr lang="en-US" altLang="zh-CN" sz="2200" b="1" dirty="0"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则 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CPU-</a:t>
            </a:r>
            <a:r>
              <a:rPr lang="en-US" altLang="zh-CN" sz="2200" b="1" baseline="-14000" dirty="0">
                <a:latin typeface="宋体" panose="02010600030101010101" pitchFamily="2" charset="-122"/>
              </a:rPr>
              <a:t>M1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i="1" dirty="0">
                <a:latin typeface="+mn-lt"/>
              </a:rPr>
              <a:t>N</a:t>
            </a:r>
            <a:r>
              <a:rPr lang="en-US" altLang="zh-CN" sz="2200" b="1" dirty="0">
                <a:latin typeface="宋体" panose="02010600030101010101" pitchFamily="2" charset="-122"/>
              </a:rPr>
              <a:t>1×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C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10s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i="1" dirty="0">
                <a:latin typeface="+mn-lt"/>
              </a:rPr>
              <a:t>N</a:t>
            </a:r>
            <a:r>
              <a:rPr lang="en-US" altLang="zh-CN" sz="2200" b="1" dirty="0"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   </a:t>
            </a:r>
            <a:r>
              <a:rPr lang="en-US" altLang="zh-CN" sz="2200" i="1" dirty="0"/>
              <a:t>N</a:t>
            </a:r>
            <a:r>
              <a:rPr lang="en-US" altLang="zh-CN" sz="2200" b="1" dirty="0"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1.5×</a:t>
            </a:r>
            <a:r>
              <a:rPr lang="en-US" altLang="zh-CN" sz="2200" i="1" dirty="0"/>
              <a:t>N</a:t>
            </a:r>
            <a:r>
              <a:rPr lang="en-US" altLang="zh-CN" sz="2200" b="1" dirty="0"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i="1" dirty="0"/>
              <a:t> N</a:t>
            </a:r>
            <a:r>
              <a:rPr lang="en-US" altLang="zh-CN" sz="2200" b="1" dirty="0"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</a:rPr>
              <a:t>  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CPU-M2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i="1" dirty="0"/>
              <a:t>N</a:t>
            </a:r>
            <a:r>
              <a:rPr lang="en-US" altLang="zh-CN" sz="2200" b="1" dirty="0">
                <a:latin typeface="宋体" panose="02010600030101010101" pitchFamily="2" charset="-122"/>
              </a:rPr>
              <a:t>2×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C</a:t>
            </a:r>
            <a:r>
              <a:rPr lang="en-US" altLang="zh-CN" sz="2200" b="1" dirty="0">
                <a:sym typeface="Symbol" panose="05050102010706020507"/>
              </a:rPr>
              <a:t> 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6s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C</a:t>
            </a:r>
            <a:r>
              <a:rPr lang="en-US" altLang="zh-CN" sz="2200" b="1" dirty="0">
                <a:sym typeface="Symbol" panose="05050102010706020507"/>
              </a:rPr>
              <a:t>  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则 </a:t>
            </a:r>
            <a:r>
              <a:rPr lang="en-US" altLang="zh-CN" sz="2200" i="1" dirty="0"/>
              <a:t>f</a:t>
            </a:r>
            <a:r>
              <a:rPr lang="en-US" altLang="zh-CN" sz="2200" b="1" i="1" dirty="0"/>
              <a:t> </a:t>
            </a:r>
            <a:r>
              <a:rPr lang="en-US" altLang="zh-CN" sz="2200" b="1" dirty="0">
                <a:sym typeface="Symbol" panose="05050102010706020507"/>
              </a:rPr>
              <a:t>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1/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C</a:t>
            </a:r>
            <a:r>
              <a:rPr lang="en-US" altLang="zh-CN" sz="2200" b="1" dirty="0">
                <a:sym typeface="Symbol" panose="05050102010706020507"/>
              </a:rPr>
              <a:t> 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</a:p>
        </p:txBody>
      </p:sp>
      <p:sp>
        <p:nvSpPr>
          <p:cNvPr id="294919" name="Text Box 7"/>
          <p:cNvSpPr txBox="1">
            <a:spLocks noChangeArrowheads="1"/>
          </p:cNvSpPr>
          <p:nvPr/>
        </p:nvSpPr>
        <p:spPr bwMode="auto">
          <a:xfrm>
            <a:off x="3275856" y="2492896"/>
            <a:ext cx="5112568" cy="17420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      </a:t>
            </a:r>
            <a:r>
              <a:rPr lang="en-US" altLang="zh-CN" sz="2200" b="1" dirty="0">
                <a:latin typeface="+mn-lt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10s</a:t>
            </a:r>
            <a:r>
              <a:rPr lang="en-US" altLang="zh-CN" sz="2200" b="1" dirty="0"/>
              <a:t>×</a:t>
            </a:r>
            <a:r>
              <a:rPr lang="en-US" altLang="zh-CN" sz="2200" b="1" dirty="0">
                <a:latin typeface="宋体" panose="02010600030101010101" pitchFamily="2" charset="-122"/>
              </a:rPr>
              <a:t>2GHz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20G</a:t>
            </a:r>
            <a:r>
              <a:rPr lang="zh-CN" altLang="en-US" sz="2200" b="1" dirty="0">
                <a:latin typeface="宋体" panose="02010600030101010101" pitchFamily="2" charset="-122"/>
              </a:rPr>
              <a:t>个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 1.5×20G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30G</a:t>
            </a:r>
            <a:r>
              <a:rPr lang="zh-CN" altLang="en-US" sz="2200" b="1" dirty="0">
                <a:latin typeface="宋体" panose="02010600030101010101" pitchFamily="2" charset="-122"/>
              </a:rPr>
              <a:t>个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       </a:t>
            </a:r>
            <a:r>
              <a:rPr lang="en-US" altLang="zh-CN" sz="2200" b="1" dirty="0">
                <a:latin typeface="+mn-lt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6s/30G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0.2</a:t>
            </a:r>
            <a:r>
              <a:rPr lang="en-US" altLang="zh-CN" sz="2200" b="1" dirty="0"/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ns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1/0.2</a:t>
            </a:r>
            <a:r>
              <a:rPr lang="en-US" altLang="zh-CN" sz="2200" b="1" dirty="0"/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ns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5GHz</a:t>
            </a:r>
          </a:p>
        </p:txBody>
      </p:sp>
      <p:sp>
        <p:nvSpPr>
          <p:cNvPr id="294922" name="Text Box 10"/>
          <p:cNvSpPr txBox="1">
            <a:spLocks noChangeArrowheads="1"/>
          </p:cNvSpPr>
          <p:nvPr/>
        </p:nvSpPr>
        <p:spPr bwMode="auto">
          <a:xfrm>
            <a:off x="179388" y="4293096"/>
            <a:ext cx="8785225" cy="9387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分析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b="1" dirty="0">
                <a:latin typeface="宋体" panose="02010600030101010101" pitchFamily="2" charset="-122"/>
              </a:rPr>
              <a:t>∵</a:t>
            </a:r>
            <a:r>
              <a:rPr lang="en-US" altLang="zh-CN" sz="2200" i="1" dirty="0">
                <a:latin typeface="+mn-lt"/>
              </a:rPr>
              <a:t>f</a:t>
            </a:r>
            <a:r>
              <a:rPr lang="en-US" altLang="zh-CN" sz="2200" b="1" i="1" dirty="0"/>
              <a:t> </a:t>
            </a:r>
            <a:r>
              <a:rPr lang="en-US" altLang="zh-CN" sz="2200" b="1" dirty="0">
                <a:sym typeface="Symbol" panose="05050102010706020507"/>
              </a:rPr>
              <a:t>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en-US" altLang="zh-CN" sz="2200" i="1" dirty="0">
                <a:latin typeface="+mn-lt"/>
              </a:rPr>
              <a:t>f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5/2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2.5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CPU-M1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CPU-M2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10/6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1.67 </a:t>
            </a:r>
            <a:r>
              <a:rPr lang="zh-CN" altLang="en-US" sz="2200" b="1" dirty="0">
                <a:latin typeface="宋体" panose="02010600030101010101" pitchFamily="2" charset="-122"/>
              </a:rPr>
              <a:t>＜</a:t>
            </a:r>
            <a:r>
              <a:rPr lang="en-US" altLang="zh-CN" sz="2200" i="1" dirty="0"/>
              <a:t> f</a:t>
            </a:r>
            <a:r>
              <a:rPr lang="en-US" altLang="zh-CN" sz="2200" b="1" i="1" dirty="0"/>
              <a:t> </a:t>
            </a:r>
            <a:r>
              <a:rPr lang="en-US" altLang="zh-CN" sz="2200" b="1" dirty="0">
                <a:sym typeface="Symbol" panose="05050102010706020507"/>
              </a:rPr>
              <a:t>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en-US" altLang="zh-CN" sz="2200" i="1" dirty="0"/>
              <a:t>f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      ∴主频只是影响系统性能的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因素之一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4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4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49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949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94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7" grpId="0"/>
      <p:bldP spid="2949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196358" y="1196752"/>
            <a:ext cx="1855362" cy="42661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表示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特点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其他指标：</a:t>
            </a:r>
            <a:endParaRPr lang="zh-CN" altLang="en-US" sz="2200" b="1" dirty="0">
              <a:latin typeface="+mn-ea"/>
              <a:ea typeface="+mn-ea"/>
            </a:endParaRPr>
          </a:p>
        </p:txBody>
      </p:sp>
      <p:sp>
        <p:nvSpPr>
          <p:cNvPr id="265244" name="Text Box 28"/>
          <p:cNvSpPr txBox="1">
            <a:spLocks noChangeArrowheads="1"/>
          </p:cNvSpPr>
          <p:nvPr/>
        </p:nvSpPr>
        <p:spPr bwMode="auto">
          <a:xfrm>
            <a:off x="1187624" y="1202060"/>
            <a:ext cx="7462540" cy="33812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latin typeface="+mn-ea"/>
                <a:ea typeface="+mn-ea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</a:rPr>
              <a:t>常用</a:t>
            </a:r>
            <a:r>
              <a:rPr lang="en-US" altLang="zh-CN" sz="2200" b="1" dirty="0">
                <a:latin typeface="宋体" panose="02010600030101010101" pitchFamily="2" charset="-122"/>
              </a:rPr>
              <a:t>MIPS</a:t>
            </a:r>
            <a:r>
              <a:rPr lang="zh-CN" altLang="en-US" sz="2200" b="1" dirty="0">
                <a:latin typeface="宋体" panose="02010600030101010101" pitchFamily="2" charset="-122"/>
              </a:rPr>
              <a:t>及</a:t>
            </a:r>
            <a:r>
              <a:rPr lang="en-US" altLang="zh-CN" sz="2200" b="1" dirty="0">
                <a:latin typeface="宋体" panose="02010600030101010101" pitchFamily="2" charset="-122"/>
              </a:rPr>
              <a:t>MFLOPS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代替</a:t>
            </a:r>
            <a:r>
              <a:rPr lang="zh-CN" altLang="en-US" sz="22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∵工作量定义未能统一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MIPS(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每秒百万次指令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2200" b="1" dirty="0">
                <a:solidFill>
                  <a:srgbClr val="CC3300"/>
                </a:solidFill>
                <a:latin typeface="宋体" panose="02010600030101010101" pitchFamily="2" charset="-122"/>
              </a:rPr>
              <a:t>   缺点</a:t>
            </a:r>
            <a:r>
              <a:rPr lang="en-US" altLang="zh-CN" sz="2200" b="1" dirty="0">
                <a:solidFill>
                  <a:srgbClr val="CC33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不能反映</a:t>
            </a:r>
            <a:r>
              <a:rPr lang="zh-CN" altLang="en-US" sz="2200" b="1" u="sng" dirty="0">
                <a:latin typeface="宋体" panose="02010600030101010101" pitchFamily="2" charset="-122"/>
              </a:rPr>
              <a:t>指令功能</a:t>
            </a:r>
            <a:r>
              <a:rPr lang="zh-CN" altLang="en-US" sz="2200" b="1" dirty="0">
                <a:latin typeface="宋体" panose="02010600030101010101" pitchFamily="2" charset="-122"/>
              </a:rPr>
              <a:t>强弱</a:t>
            </a:r>
            <a:r>
              <a:rPr lang="en-US" altLang="zh-CN" sz="1800" b="1" dirty="0">
                <a:latin typeface="宋体" panose="02010600030101010101" pitchFamily="2" charset="-122"/>
              </a:rPr>
              <a:t>   →</a:t>
            </a:r>
            <a:r>
              <a:rPr lang="zh-CN" altLang="en-US" sz="1800" b="1" dirty="0">
                <a:latin typeface="宋体" panose="02010600030101010101" pitchFamily="2" charset="-122"/>
              </a:rPr>
              <a:t>可采用相对</a:t>
            </a:r>
            <a:r>
              <a:rPr lang="en-US" altLang="zh-CN" sz="1800" b="1" dirty="0">
                <a:latin typeface="宋体" panose="02010600030101010101" pitchFamily="2" charset="-122"/>
              </a:rPr>
              <a:t>MIPS</a:t>
            </a:r>
            <a:r>
              <a:rPr lang="zh-CN" altLang="en-US" sz="1800" b="1" dirty="0">
                <a:latin typeface="宋体" panose="02010600030101010101" pitchFamily="2" charset="-122"/>
              </a:rPr>
              <a:t>方法</a:t>
            </a: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MFLOPS(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每秒百万次浮点运算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rgbClr val="CC3300"/>
                </a:solidFill>
                <a:latin typeface="宋体" panose="02010600030101010101" pitchFamily="2" charset="-122"/>
              </a:rPr>
              <a:t>缺点</a:t>
            </a:r>
            <a:r>
              <a:rPr lang="en-US" altLang="zh-CN" sz="2200" b="1" dirty="0">
                <a:solidFill>
                  <a:srgbClr val="CC3300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不能反映</a:t>
            </a:r>
            <a:r>
              <a:rPr lang="zh-CN" altLang="en-US" sz="2200" b="1" u="sng" dirty="0">
                <a:latin typeface="宋体" panose="02010600030101010101" pitchFamily="2" charset="-122"/>
              </a:rPr>
              <a:t>整体</a:t>
            </a:r>
            <a:r>
              <a:rPr lang="zh-CN" altLang="en-US" sz="2200" b="1" dirty="0">
                <a:latin typeface="宋体" panose="02010600030101010101" pitchFamily="2" charset="-122"/>
              </a:rPr>
              <a:t>性能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只为浮点操作能力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1702E1-CA0C-45C3-A7C2-E719A9CDFFD7}" type="slidenum">
              <a:rPr lang="en-US" altLang="zh-CN"/>
              <a:t>41</a:t>
            </a:fld>
            <a:endParaRPr lang="en-US" altLang="zh-CN"/>
          </a:p>
        </p:txBody>
      </p:sp>
      <p:sp>
        <p:nvSpPr>
          <p:cNvPr id="265222" name="Text Box 6"/>
          <p:cNvSpPr txBox="1">
            <a:spLocks noChangeArrowheads="1"/>
          </p:cNvSpPr>
          <p:nvPr/>
        </p:nvSpPr>
        <p:spPr bwMode="auto">
          <a:xfrm>
            <a:off x="1619672" y="4564662"/>
            <a:ext cx="7272808" cy="146963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反映了</a:t>
            </a:r>
            <a:r>
              <a:rPr lang="zh-CN" altLang="en-US" sz="2200" b="1" u="sng" dirty="0"/>
              <a:t>多任务系统</a:t>
            </a:r>
            <a:r>
              <a:rPr lang="zh-CN" altLang="en-US" sz="2200" b="1" dirty="0"/>
              <a:t>的</a:t>
            </a:r>
            <a:r>
              <a:rPr lang="zh-CN" altLang="en-US" sz="2200" b="1" u="sng" dirty="0"/>
              <a:t>总体性能</a:t>
            </a:r>
            <a:r>
              <a:rPr lang="zh-CN" altLang="en-US" sz="2200" b="1" dirty="0"/>
              <a:t>，单位不统一</a:t>
            </a:r>
            <a:endParaRPr lang="en-US" altLang="zh-CN" sz="2200" b="1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 RAS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可靠性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可用性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可维护性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，兼容性等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r>
              <a:rPr lang="zh-CN" altLang="en-US" sz="1600" b="1" dirty="0">
                <a:latin typeface="+mn-ea"/>
                <a:ea typeface="+mn-ea"/>
              </a:rPr>
              <a:t>可用性＝</a:t>
            </a:r>
            <a:r>
              <a:rPr lang="en-US" altLang="zh-CN" sz="1600" b="1" dirty="0">
                <a:latin typeface="+mn-ea"/>
                <a:ea typeface="+mn-ea"/>
              </a:rPr>
              <a:t>MTTF/(MTTF+MTTR)</a:t>
            </a:r>
            <a:r>
              <a:rPr lang="zh-CN" altLang="en-US" sz="1600" b="1" dirty="0">
                <a:latin typeface="+mn-ea"/>
                <a:ea typeface="+mn-ea"/>
              </a:rPr>
              <a:t>，</a:t>
            </a:r>
            <a:r>
              <a:rPr lang="en-US" altLang="zh-CN" sz="1600" b="1" dirty="0">
                <a:latin typeface="+mn-ea"/>
                <a:ea typeface="+mn-ea"/>
              </a:rPr>
              <a:t>MTTF</a:t>
            </a:r>
            <a:r>
              <a:rPr lang="zh-CN" altLang="en-US" sz="1600" b="1" dirty="0">
                <a:latin typeface="+mn-ea"/>
                <a:ea typeface="+mn-ea"/>
              </a:rPr>
              <a:t>为平均无故障时间，</a:t>
            </a:r>
            <a:r>
              <a:rPr lang="en-US" altLang="zh-CN" sz="1600" b="1" dirty="0">
                <a:latin typeface="+mn-ea"/>
                <a:ea typeface="+mn-ea"/>
              </a:rPr>
              <a:t>MTTR</a:t>
            </a:r>
            <a:r>
              <a:rPr lang="zh-CN" altLang="en-US" sz="1600" b="1" dirty="0">
                <a:latin typeface="+mn-ea"/>
                <a:ea typeface="+mn-ea"/>
              </a:rPr>
              <a:t>为平均修复时间</a:t>
            </a:r>
            <a:endParaRPr lang="en-US" altLang="zh-CN" sz="1600" b="1" dirty="0">
              <a:latin typeface="+mn-ea"/>
              <a:ea typeface="+mn-ea"/>
            </a:endParaRPr>
          </a:p>
          <a:p>
            <a:r>
              <a:rPr lang="zh-CN" altLang="en-US" sz="1600" b="1" dirty="0">
                <a:latin typeface="+mn-ea"/>
                <a:ea typeface="+mn-ea"/>
              </a:rPr>
              <a:t>好用性～环境系统、界面，环境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命令行</a:t>
            </a:r>
            <a:r>
              <a:rPr lang="en-US" altLang="zh-CN" sz="1600" b="1" dirty="0">
                <a:latin typeface="+mn-ea"/>
                <a:ea typeface="+mn-ea"/>
              </a:rPr>
              <a:t>/GUI/</a:t>
            </a:r>
            <a:r>
              <a:rPr lang="zh-CN" altLang="en-US" sz="1600" b="1" dirty="0">
                <a:latin typeface="+mn-ea"/>
                <a:ea typeface="+mn-ea"/>
              </a:rPr>
              <a:t>服务器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浏览器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zh-CN" altLang="en-US" sz="1600" b="1" dirty="0">
              <a:latin typeface="+mn-ea"/>
              <a:ea typeface="+mn-ea"/>
            </a:endParaRPr>
          </a:p>
        </p:txBody>
      </p:sp>
      <p:sp>
        <p:nvSpPr>
          <p:cNvPr id="265245" name="Text Box 29"/>
          <p:cNvSpPr txBox="1">
            <a:spLocks noChangeArrowheads="1"/>
          </p:cNvSpPr>
          <p:nvPr/>
        </p:nvSpPr>
        <p:spPr bwMode="auto">
          <a:xfrm>
            <a:off x="179388" y="404664"/>
            <a:ext cx="8736012" cy="82650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吞吐率：</a:t>
            </a:r>
            <a:r>
              <a:rPr lang="zh-CN" altLang="en-US" sz="2200" b="1" dirty="0">
                <a:latin typeface="宋体" panose="02010600030101010101" pitchFamily="2" charset="-122"/>
              </a:rPr>
              <a:t>指</a:t>
            </a:r>
            <a:r>
              <a:rPr lang="zh-CN" altLang="en-US" sz="2200" b="1" u="sng" dirty="0">
                <a:latin typeface="宋体" panose="02010600030101010101" pitchFamily="2" charset="-122"/>
              </a:rPr>
              <a:t>单位时间内</a:t>
            </a:r>
            <a:r>
              <a:rPr lang="zh-CN" altLang="en-US" sz="2200" b="1" dirty="0">
                <a:latin typeface="宋体" panose="02010600030101010101" pitchFamily="2" charset="-122"/>
              </a:rPr>
              <a:t>能处理的工作量，即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P</a:t>
            </a:r>
            <a:r>
              <a:rPr lang="zh-CN" altLang="en-US" sz="2200" b="1" dirty="0"/>
              <a:t>＝</a:t>
            </a:r>
            <a:r>
              <a:rPr lang="en-US" altLang="zh-CN" sz="2200" b="1" dirty="0">
                <a:latin typeface="+mn-ea"/>
                <a:ea typeface="+mn-ea"/>
              </a:rPr>
              <a:t>(</a:t>
            </a:r>
            <a:r>
              <a:rPr lang="zh-CN" altLang="en-US" sz="2200" b="1" dirty="0">
                <a:latin typeface="+mn-lt"/>
              </a:rPr>
              <a:t>∑</a:t>
            </a:r>
            <a:r>
              <a:rPr lang="en-US" altLang="zh-CN" sz="2200" b="1" i="1" dirty="0">
                <a:latin typeface="+mn-ea"/>
                <a:ea typeface="+mn-ea"/>
              </a:rPr>
              <a:t>W</a:t>
            </a:r>
            <a:r>
              <a:rPr lang="en-US" altLang="zh-CN" sz="2200" b="1" i="1" baseline="-18000" dirty="0">
                <a:latin typeface="+mn-lt"/>
                <a:ea typeface="+mn-ea"/>
              </a:rPr>
              <a:t>i</a:t>
            </a:r>
            <a:r>
              <a:rPr lang="en-US" altLang="zh-CN" sz="2200" b="1" dirty="0">
                <a:latin typeface="+mn-ea"/>
                <a:ea typeface="+mn-ea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i="1" baseline="-18000" dirty="0">
                <a:latin typeface="+mn-lt"/>
              </a:rPr>
              <a:t>n</a:t>
            </a:r>
            <a:r>
              <a:rPr lang="zh-CN" altLang="en-US" sz="2200" dirty="0">
                <a:latin typeface="+mn-ea"/>
                <a:ea typeface="+mn-ea"/>
              </a:rPr>
              <a:t> </a:t>
            </a:r>
            <a:endParaRPr lang="en-US" altLang="zh-CN" sz="2200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1800" b="1" dirty="0">
                <a:latin typeface="+mn-ea"/>
                <a:ea typeface="+mn-ea"/>
              </a:rPr>
              <a:t>              </a:t>
            </a:r>
            <a:r>
              <a:rPr lang="zh-CN" altLang="en-US" sz="1800" b="1" dirty="0">
                <a:latin typeface="+mn-ea"/>
                <a:ea typeface="+mn-ea"/>
              </a:rPr>
              <a:t>其中，</a:t>
            </a:r>
            <a:r>
              <a:rPr lang="en-US" altLang="zh-CN" sz="1800" b="1" i="1" dirty="0">
                <a:latin typeface="+mn-ea"/>
                <a:ea typeface="+mn-ea"/>
              </a:rPr>
              <a:t>W</a:t>
            </a:r>
            <a:r>
              <a:rPr lang="en-US" altLang="zh-CN" sz="1800" b="1" i="1" baseline="-18000" dirty="0">
                <a:latin typeface="+mn-lt"/>
                <a:ea typeface="+mn-ea"/>
              </a:rPr>
              <a:t>i</a:t>
            </a:r>
            <a:r>
              <a:rPr lang="en-US" altLang="zh-CN" sz="1800" b="1" dirty="0">
                <a:latin typeface="+mn-ea"/>
                <a:ea typeface="+mn-ea"/>
              </a:rPr>
              <a:t>—</a:t>
            </a:r>
            <a:r>
              <a:rPr lang="zh-CN" altLang="en-US" sz="1800" b="1" dirty="0">
                <a:latin typeface="+mn-ea"/>
                <a:ea typeface="+mn-ea"/>
              </a:rPr>
              <a:t>任务</a:t>
            </a:r>
            <a:r>
              <a:rPr lang="en-US" altLang="zh-CN" sz="1800" b="1" i="1" dirty="0" err="1">
                <a:latin typeface="+mn-lt"/>
                <a:ea typeface="+mn-ea"/>
              </a:rPr>
              <a:t>i</a:t>
            </a:r>
            <a:r>
              <a:rPr lang="zh-CN" altLang="en-US" sz="1800" b="1" dirty="0">
                <a:latin typeface="+mn-ea"/>
                <a:ea typeface="+mn-ea"/>
              </a:rPr>
              <a:t>的工作量，</a:t>
            </a:r>
            <a:r>
              <a:rPr lang="en-US" altLang="zh-CN" sz="1800" b="1" i="1" dirty="0">
                <a:latin typeface="+mn-ea"/>
                <a:ea typeface="+mn-ea"/>
              </a:rPr>
              <a:t>T</a:t>
            </a:r>
            <a:r>
              <a:rPr lang="en-US" altLang="zh-CN" sz="1800" b="1" i="1" baseline="-18000" dirty="0">
                <a:latin typeface="+mn-lt"/>
                <a:ea typeface="+mn-ea"/>
              </a:rPr>
              <a:t>n</a:t>
            </a:r>
            <a:r>
              <a:rPr lang="en-US" altLang="zh-CN" sz="1800" b="1" dirty="0">
                <a:latin typeface="+mn-ea"/>
                <a:ea typeface="+mn-ea"/>
              </a:rPr>
              <a:t>—</a:t>
            </a:r>
            <a:r>
              <a:rPr lang="zh-CN" altLang="en-US" sz="1800" b="1" dirty="0">
                <a:latin typeface="+mn-ea"/>
                <a:ea typeface="+mn-ea"/>
              </a:rPr>
              <a:t>完成</a:t>
            </a:r>
            <a:r>
              <a:rPr lang="en-US" altLang="zh-CN" sz="1800" b="1" i="1" dirty="0">
                <a:latin typeface="+mn-lt"/>
                <a:ea typeface="+mn-ea"/>
              </a:rPr>
              <a:t>n</a:t>
            </a:r>
            <a:r>
              <a:rPr lang="zh-CN" altLang="en-US" sz="1800" b="1" dirty="0">
                <a:latin typeface="+mn-ea"/>
                <a:ea typeface="+mn-ea"/>
              </a:rPr>
              <a:t>个任务的总时间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en-US" altLang="zh-CN" sz="1800" b="1" i="1" dirty="0">
                <a:latin typeface="+mn-ea"/>
              </a:rPr>
              <a:t>T</a:t>
            </a:r>
            <a:r>
              <a:rPr lang="en-US" altLang="zh-CN" sz="1800" b="1" i="1" baseline="-18000" dirty="0"/>
              <a:t>n</a:t>
            </a:r>
            <a:r>
              <a:rPr lang="zh-CN" altLang="en-US" sz="1800" b="1" dirty="0"/>
              <a:t>＜</a:t>
            </a:r>
            <a:r>
              <a:rPr lang="zh-CN" altLang="en-US" sz="1800" b="1" dirty="0">
                <a:solidFill>
                  <a:srgbClr val="000000"/>
                </a:solidFill>
              </a:rPr>
              <a:t>∑</a:t>
            </a:r>
            <a:r>
              <a:rPr lang="en-US" altLang="zh-CN" sz="1800" b="1" i="1" dirty="0">
                <a:solidFill>
                  <a:srgbClr val="000000"/>
                </a:solidFill>
                <a:latin typeface="宋体" panose="02010600030101010101" pitchFamily="2" charset="-122"/>
              </a:rPr>
              <a:t>T</a:t>
            </a:r>
            <a:r>
              <a:rPr lang="zh-CN" altLang="en-US" sz="1800" b="1" baseline="-18000" dirty="0">
                <a:solidFill>
                  <a:srgbClr val="000000"/>
                </a:solidFill>
                <a:latin typeface="宋体" panose="02010600030101010101" pitchFamily="2" charset="-122"/>
              </a:rPr>
              <a:t>响应</a:t>
            </a:r>
            <a:r>
              <a:rPr lang="en-US" altLang="zh-CN" sz="1800" b="1" i="1" baseline="-18000" dirty="0" err="1">
                <a:solidFill>
                  <a:srgbClr val="000000"/>
                </a:solidFill>
              </a:rPr>
              <a:t>i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8961924"/>
              </p:ext>
            </p:extLst>
          </p:nvPr>
        </p:nvGraphicFramePr>
        <p:xfrm>
          <a:off x="1949721" y="1988840"/>
          <a:ext cx="3103563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31" name="Equation" r:id="rId4" imgW="1193165" imgH="266700" progId="Equation.DSMT4">
                  <p:embed/>
                </p:oleObj>
              </mc:Choice>
              <mc:Fallback>
                <p:oleObj name="Equation" r:id="rId4" imgW="1193165" imgH="2667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9721" y="1988840"/>
                        <a:ext cx="3103563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434564"/>
              </p:ext>
            </p:extLst>
          </p:nvPr>
        </p:nvGraphicFramePr>
        <p:xfrm>
          <a:off x="5010918" y="1916832"/>
          <a:ext cx="3665538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32" name="Equation" r:id="rId6" imgW="1409700" imgH="279400" progId="Equation.DSMT4">
                  <p:embed/>
                </p:oleObj>
              </mc:Choice>
              <mc:Fallback>
                <p:oleObj name="Equation" r:id="rId6" imgW="1409700" imgH="279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0918" y="1916832"/>
                        <a:ext cx="3665538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5207"/>
              </p:ext>
            </p:extLst>
          </p:nvPr>
        </p:nvGraphicFramePr>
        <p:xfrm>
          <a:off x="1907704" y="3501008"/>
          <a:ext cx="626745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33" name="Equation" r:id="rId8" imgW="2400300" imgH="266700" progId="Equation.DSMT4">
                  <p:embed/>
                </p:oleObj>
              </mc:Choice>
              <mc:Fallback>
                <p:oleObj name="Equation" r:id="rId8" imgW="2400300" imgH="2667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3501008"/>
                        <a:ext cx="6267450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AutoShape 62">
            <a:hlinkClick r:id="rId10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2" y="652410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38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1" name="AutoShape 1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5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5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5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5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5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65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65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65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65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42</a:t>
            </a:fld>
            <a:endParaRPr lang="en-US" altLang="zh-CN"/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324000" y="404664"/>
            <a:ext cx="8604000" cy="4348306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 ※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课后思考题：</a:t>
            </a:r>
            <a:endParaRPr lang="en-US" altLang="zh-CN" sz="2200" b="1" dirty="0">
              <a:latin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+mn-ea"/>
                <a:ea typeface="+mn-ea"/>
              </a:rPr>
              <a:t>   某</a:t>
            </a:r>
            <a:r>
              <a:rPr lang="en-US" altLang="zh-CN" sz="2000" b="1" dirty="0">
                <a:latin typeface="+mn-ea"/>
                <a:ea typeface="+mn-ea"/>
              </a:rPr>
              <a:t>CPU</a:t>
            </a:r>
            <a:r>
              <a:rPr lang="zh-CN" altLang="en-US" sz="2000" b="1" dirty="0">
                <a:latin typeface="+mn-ea"/>
              </a:rPr>
              <a:t>主频为</a:t>
            </a:r>
            <a:r>
              <a:rPr lang="en-US" altLang="zh-CN" sz="2000" b="1" dirty="0">
                <a:latin typeface="+mn-ea"/>
              </a:rPr>
              <a:t>50MHz</a:t>
            </a:r>
            <a:r>
              <a:rPr lang="zh-CN" altLang="en-US" sz="2000" b="1" dirty="0">
                <a:latin typeface="+mn-ea"/>
              </a:rPr>
              <a:t>，所</a:t>
            </a:r>
            <a:r>
              <a:rPr lang="zh-CN" altLang="en-US" sz="2000" b="1" dirty="0">
                <a:latin typeface="+mn-ea"/>
                <a:ea typeface="+mn-ea"/>
              </a:rPr>
              <a:t>支持指令有</a:t>
            </a:r>
            <a:r>
              <a:rPr lang="en-US" altLang="zh-CN" sz="2000" b="1" dirty="0">
                <a:latin typeface="+mn-ea"/>
                <a:ea typeface="+mn-ea"/>
              </a:rPr>
              <a:t>X</a:t>
            </a:r>
            <a:r>
              <a:rPr lang="zh-CN" altLang="en-US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>
                <a:latin typeface="+mn-ea"/>
                <a:ea typeface="+mn-ea"/>
              </a:rPr>
              <a:t>Y</a:t>
            </a:r>
            <a:r>
              <a:rPr lang="zh-CN" altLang="en-US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>
                <a:latin typeface="+mn-ea"/>
                <a:ea typeface="+mn-ea"/>
              </a:rPr>
              <a:t>Z</a:t>
            </a:r>
            <a:r>
              <a:rPr lang="zh-CN" altLang="en-US" sz="2000" b="1" dirty="0">
                <a:latin typeface="+mn-ea"/>
                <a:ea typeface="+mn-ea"/>
              </a:rPr>
              <a:t>三类，其</a:t>
            </a:r>
            <a:r>
              <a:rPr lang="en-US" altLang="zh-CN" sz="2000" b="1" dirty="0">
                <a:latin typeface="+mn-ea"/>
                <a:ea typeface="+mn-ea"/>
              </a:rPr>
              <a:t>CPI</a:t>
            </a:r>
            <a:r>
              <a:rPr lang="zh-CN" altLang="en-US" sz="2000" b="1" dirty="0">
                <a:latin typeface="+mn-ea"/>
                <a:ea typeface="+mn-ea"/>
              </a:rPr>
              <a:t>分别为</a:t>
            </a:r>
            <a:r>
              <a:rPr lang="en-US" altLang="zh-CN" sz="2000" b="1" dirty="0">
                <a:latin typeface="+mn-ea"/>
                <a:ea typeface="+mn-ea"/>
              </a:rPr>
              <a:t>4</a:t>
            </a:r>
            <a:r>
              <a:rPr lang="zh-CN" altLang="en-US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>
                <a:latin typeface="+mn-ea"/>
                <a:ea typeface="+mn-ea"/>
              </a:rPr>
              <a:t>6</a:t>
            </a:r>
            <a:r>
              <a:rPr lang="zh-CN" altLang="en-US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>
                <a:latin typeface="+mn-ea"/>
                <a:ea typeface="+mn-ea"/>
              </a:rPr>
              <a:t>8</a:t>
            </a:r>
            <a:r>
              <a:rPr lang="zh-CN" altLang="en-US" sz="2000" b="1" dirty="0">
                <a:latin typeface="+mn-ea"/>
                <a:ea typeface="+mn-ea"/>
              </a:rPr>
              <a:t>。假设程序</a:t>
            </a:r>
            <a:r>
              <a:rPr lang="en-US" altLang="zh-CN" sz="2000" b="1" dirty="0">
                <a:latin typeface="+mn-ea"/>
                <a:ea typeface="+mn-ea"/>
              </a:rPr>
              <a:t>P</a:t>
            </a:r>
            <a:r>
              <a:rPr lang="zh-CN" altLang="en-US" sz="2000" b="1" dirty="0">
                <a:latin typeface="+mn-ea"/>
                <a:ea typeface="+mn-ea"/>
              </a:rPr>
              <a:t>的目标代码中，</a:t>
            </a:r>
            <a:r>
              <a:rPr lang="en-US" altLang="zh-CN" sz="2000" b="1" dirty="0">
                <a:latin typeface="+mn-ea"/>
                <a:ea typeface="+mn-ea"/>
              </a:rPr>
              <a:t>X</a:t>
            </a:r>
            <a:r>
              <a:rPr lang="zh-CN" altLang="en-US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>
                <a:latin typeface="+mn-ea"/>
                <a:ea typeface="+mn-ea"/>
              </a:rPr>
              <a:t>Y</a:t>
            </a:r>
            <a:r>
              <a:rPr lang="zh-CN" altLang="en-US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>
                <a:latin typeface="+mn-ea"/>
                <a:ea typeface="+mn-ea"/>
              </a:rPr>
              <a:t>Z</a:t>
            </a:r>
            <a:r>
              <a:rPr lang="zh-CN" altLang="en-US" sz="2000" b="1" dirty="0">
                <a:latin typeface="+mn-ea"/>
                <a:ea typeface="+mn-ea"/>
              </a:rPr>
              <a:t>类指令所占比例分别为</a:t>
            </a:r>
            <a:r>
              <a:rPr lang="en-US" altLang="zh-CN" sz="2000" b="1" dirty="0">
                <a:latin typeface="+mn-ea"/>
                <a:ea typeface="+mn-ea"/>
              </a:rPr>
              <a:t>50%</a:t>
            </a:r>
            <a:r>
              <a:rPr lang="zh-CN" altLang="en-US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>
                <a:latin typeface="+mn-ea"/>
                <a:ea typeface="+mn-ea"/>
              </a:rPr>
              <a:t>30%</a:t>
            </a:r>
            <a:r>
              <a:rPr lang="zh-CN" altLang="en-US" sz="2000" b="1" dirty="0">
                <a:latin typeface="+mn-ea"/>
                <a:ea typeface="+mn-ea"/>
              </a:rPr>
              <a:t>、</a:t>
            </a:r>
            <a:r>
              <a:rPr lang="en-US" altLang="zh-CN" sz="2000" b="1" dirty="0">
                <a:latin typeface="+mn-ea"/>
                <a:ea typeface="+mn-ea"/>
              </a:rPr>
              <a:t>20%</a:t>
            </a:r>
            <a:r>
              <a:rPr lang="zh-CN" altLang="en-US" sz="2000" b="1" dirty="0">
                <a:latin typeface="+mn-ea"/>
                <a:ea typeface="+mn-ea"/>
              </a:rPr>
              <a:t>。</a:t>
            </a:r>
            <a:r>
              <a:rPr lang="en-US" altLang="zh-CN" sz="2000" b="1" dirty="0">
                <a:latin typeface="+mn-ea"/>
                <a:ea typeface="+mn-ea"/>
              </a:rPr>
              <a:t>P</a:t>
            </a:r>
            <a:r>
              <a:rPr lang="zh-CN" altLang="en-US" sz="2000" b="1" dirty="0">
                <a:latin typeface="+mn-ea"/>
                <a:ea typeface="+mn-ea"/>
              </a:rPr>
              <a:t>经过编译优化后，某类指令数量减少了</a:t>
            </a:r>
            <a:r>
              <a:rPr lang="en-US" altLang="zh-CN" sz="2000" b="1" dirty="0">
                <a:latin typeface="+mn-ea"/>
                <a:ea typeface="+mn-ea"/>
              </a:rPr>
              <a:t>20%</a:t>
            </a:r>
            <a:r>
              <a:rPr lang="zh-CN" altLang="en-US" sz="2000" b="1" dirty="0">
                <a:latin typeface="+mn-ea"/>
                <a:ea typeface="+mn-ea"/>
              </a:rPr>
              <a:t>，平均</a:t>
            </a:r>
            <a:r>
              <a:rPr lang="en-US" altLang="zh-CN" sz="2000" b="1" dirty="0">
                <a:latin typeface="+mn-ea"/>
                <a:ea typeface="+mn-ea"/>
              </a:rPr>
              <a:t>CPI</a:t>
            </a:r>
            <a:r>
              <a:rPr lang="zh-CN" altLang="en-US" sz="2000" b="1" dirty="0">
                <a:latin typeface="+mn-ea"/>
                <a:ea typeface="+mn-ea"/>
              </a:rPr>
              <a:t>减少了</a:t>
            </a:r>
            <a:r>
              <a:rPr lang="en-US" altLang="zh-CN" sz="2000" b="1" dirty="0">
                <a:latin typeface="+mn-ea"/>
                <a:ea typeface="+mn-ea"/>
              </a:rPr>
              <a:t>0.11</a:t>
            </a:r>
            <a:r>
              <a:rPr lang="zh-CN" altLang="en-US" sz="2000" b="1" dirty="0">
                <a:latin typeface="+mn-ea"/>
                <a:ea typeface="+mn-ea"/>
              </a:rPr>
              <a:t>。回答下列问题：</a:t>
            </a:r>
            <a:endParaRPr lang="en-US" altLang="zh-CN" sz="20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+mn-ea"/>
                <a:ea typeface="+mn-ea"/>
              </a:rPr>
              <a:t>   （</a:t>
            </a:r>
            <a:r>
              <a:rPr lang="en-US" altLang="zh-CN" sz="2000" b="1" dirty="0">
                <a:latin typeface="+mn-ea"/>
                <a:ea typeface="+mn-ea"/>
              </a:rPr>
              <a:t>1</a:t>
            </a:r>
            <a:r>
              <a:rPr lang="zh-CN" altLang="en-US" sz="2000" b="1" dirty="0">
                <a:latin typeface="+mn-ea"/>
                <a:ea typeface="+mn-ea"/>
              </a:rPr>
              <a:t>）程序</a:t>
            </a:r>
            <a:r>
              <a:rPr lang="en-US" altLang="zh-CN" sz="2000" b="1" dirty="0">
                <a:latin typeface="+mn-ea"/>
                <a:ea typeface="+mn-ea"/>
              </a:rPr>
              <a:t>P</a:t>
            </a:r>
            <a:r>
              <a:rPr lang="zh-CN" altLang="en-US" sz="2000" b="1" dirty="0">
                <a:latin typeface="+mn-ea"/>
                <a:ea typeface="+mn-ea"/>
              </a:rPr>
              <a:t>优化前的平均</a:t>
            </a:r>
            <a:r>
              <a:rPr lang="en-US" altLang="zh-CN" sz="2000" b="1" dirty="0">
                <a:latin typeface="+mn-ea"/>
                <a:ea typeface="+mn-ea"/>
              </a:rPr>
              <a:t>CPI</a:t>
            </a:r>
            <a:r>
              <a:rPr lang="zh-CN" altLang="en-US" sz="2000" b="1" dirty="0">
                <a:latin typeface="+mn-ea"/>
                <a:ea typeface="+mn-ea"/>
              </a:rPr>
              <a:t>为</a:t>
            </a:r>
            <a:endParaRPr lang="en-US" altLang="zh-CN" sz="20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+mn-ea"/>
                <a:ea typeface="+mn-ea"/>
              </a:rPr>
              <a:t>         A. 5.4          B. 5.8        C. 6.6  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+mn-ea"/>
                <a:ea typeface="+mn-ea"/>
              </a:rPr>
              <a:t>   （</a:t>
            </a:r>
            <a:r>
              <a:rPr lang="en-US" altLang="zh-CN" sz="2000" b="1" dirty="0">
                <a:latin typeface="+mn-ea"/>
                <a:ea typeface="+mn-ea"/>
              </a:rPr>
              <a:t>2</a:t>
            </a:r>
            <a:r>
              <a:rPr lang="zh-CN" altLang="en-US" sz="2000" b="1" dirty="0">
                <a:latin typeface="+mn-ea"/>
                <a:ea typeface="+mn-ea"/>
              </a:rPr>
              <a:t>）程序</a:t>
            </a:r>
            <a:r>
              <a:rPr lang="en-US" altLang="zh-CN" sz="2000" b="1" dirty="0">
                <a:latin typeface="+mn-ea"/>
                <a:ea typeface="+mn-ea"/>
              </a:rPr>
              <a:t>P</a:t>
            </a:r>
            <a:r>
              <a:rPr lang="zh-CN" altLang="en-US" sz="2000" b="1" dirty="0">
                <a:latin typeface="+mn-ea"/>
                <a:ea typeface="+mn-ea"/>
              </a:rPr>
              <a:t>优化前的吞吐率</a:t>
            </a:r>
            <a:r>
              <a:rPr lang="en-US" altLang="zh-CN" sz="2000" b="1" dirty="0">
                <a:latin typeface="+mn-ea"/>
                <a:ea typeface="+mn-ea"/>
              </a:rPr>
              <a:t>(MPIS</a:t>
            </a:r>
            <a:r>
              <a:rPr lang="zh-CN" altLang="en-US" sz="2000" b="1" dirty="0">
                <a:latin typeface="+mn-ea"/>
                <a:ea typeface="+mn-ea"/>
              </a:rPr>
              <a:t>数</a:t>
            </a:r>
            <a:r>
              <a:rPr lang="en-US" altLang="zh-CN" sz="2000" b="1" dirty="0">
                <a:latin typeface="+mn-ea"/>
                <a:ea typeface="+mn-ea"/>
              </a:rPr>
              <a:t>)</a:t>
            </a:r>
            <a:r>
              <a:rPr lang="zh-CN" altLang="en-US" sz="2000" b="1" dirty="0">
                <a:latin typeface="+mn-ea"/>
                <a:ea typeface="+mn-ea"/>
              </a:rPr>
              <a:t>为</a:t>
            </a:r>
            <a:endParaRPr lang="en-US" altLang="zh-CN" sz="20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+mn-ea"/>
              </a:rPr>
              <a:t>         A. 0.108</a:t>
            </a:r>
            <a:r>
              <a:rPr lang="en-US" altLang="zh-CN" sz="2000" b="1" baseline="-25000" dirty="0">
                <a:latin typeface="+mn-ea"/>
              </a:rPr>
              <a:t> </a:t>
            </a:r>
            <a:r>
              <a:rPr lang="en-US" altLang="zh-CN" sz="2000" b="1" dirty="0">
                <a:latin typeface="+mn-ea"/>
              </a:rPr>
              <a:t>MIPS   B. 9.26</a:t>
            </a:r>
            <a:r>
              <a:rPr lang="en-US" altLang="zh-CN" sz="2000" b="1" baseline="-25000" dirty="0">
                <a:latin typeface="+mn-ea"/>
              </a:rPr>
              <a:t> </a:t>
            </a:r>
            <a:r>
              <a:rPr lang="en-US" altLang="zh-CN" sz="2000" b="1" dirty="0">
                <a:latin typeface="+mn-ea"/>
              </a:rPr>
              <a:t>MIPS   C. 270</a:t>
            </a:r>
            <a:r>
              <a:rPr lang="en-US" altLang="zh-CN" sz="2000" b="1" baseline="-25000" dirty="0">
                <a:latin typeface="+mn-ea"/>
              </a:rPr>
              <a:t> </a:t>
            </a:r>
            <a:r>
              <a:rPr lang="en-US" altLang="zh-CN" sz="2000" b="1" dirty="0">
                <a:latin typeface="+mn-ea"/>
              </a:rPr>
              <a:t>MIPS</a:t>
            </a: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+mn-ea"/>
                <a:ea typeface="+mn-ea"/>
              </a:rPr>
              <a:t>   </a:t>
            </a:r>
            <a:r>
              <a:rPr lang="zh-CN" altLang="en-US" sz="2000" b="1" dirty="0">
                <a:latin typeface="+mn-ea"/>
                <a:ea typeface="+mn-ea"/>
              </a:rPr>
              <a:t>（</a:t>
            </a:r>
            <a:r>
              <a:rPr lang="en-US" altLang="zh-CN" sz="2000" b="1" dirty="0">
                <a:latin typeface="+mn-ea"/>
                <a:ea typeface="+mn-ea"/>
              </a:rPr>
              <a:t>3</a:t>
            </a:r>
            <a:r>
              <a:rPr lang="zh-CN" altLang="en-US" sz="2000" b="1" dirty="0">
                <a:latin typeface="+mn-ea"/>
                <a:ea typeface="+mn-ea"/>
              </a:rPr>
              <a:t>）优化程序</a:t>
            </a:r>
            <a:r>
              <a:rPr lang="en-US" altLang="zh-CN" sz="2000" b="1" dirty="0">
                <a:latin typeface="+mn-ea"/>
                <a:ea typeface="+mn-ea"/>
              </a:rPr>
              <a:t>P</a:t>
            </a:r>
            <a:r>
              <a:rPr lang="zh-CN" altLang="en-US" sz="2000" b="1" dirty="0">
                <a:latin typeface="+mn-ea"/>
                <a:ea typeface="+mn-ea"/>
              </a:rPr>
              <a:t>时，优化的指令类型为</a:t>
            </a:r>
            <a:endParaRPr lang="en-US" altLang="zh-CN" sz="20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+mn-ea"/>
                <a:ea typeface="+mn-ea"/>
              </a:rPr>
              <a:t>         A. X            B. Y          C. Z</a:t>
            </a:r>
          </a:p>
        </p:txBody>
      </p:sp>
      <p:sp>
        <p:nvSpPr>
          <p:cNvPr id="4" name="Text Box 32"/>
          <p:cNvSpPr txBox="1">
            <a:spLocks noChangeArrowheads="1"/>
          </p:cNvSpPr>
          <p:nvPr/>
        </p:nvSpPr>
        <p:spPr bwMode="auto">
          <a:xfrm>
            <a:off x="755453" y="5877272"/>
            <a:ext cx="3888555" cy="40011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457200" indent="-457200"/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宋体" panose="02010600030101010101" pitchFamily="2" charset="-122"/>
              </a:rPr>
              <a:t>P19—3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10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16</a:t>
            </a:r>
          </a:p>
        </p:txBody>
      </p:sp>
      <p:sp>
        <p:nvSpPr>
          <p:cNvPr id="5" name="AutoShape 10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55242-2205-42B3-90B7-E4C4C9FF1235}" type="slidenum">
              <a:rPr lang="en-US" altLang="zh-CN"/>
              <a:t>43</a:t>
            </a:fld>
            <a:endParaRPr lang="en-US" altLang="zh-CN" dirty="0"/>
          </a:p>
        </p:txBody>
      </p:sp>
      <p:sp>
        <p:nvSpPr>
          <p:cNvPr id="42" name="AutoShape 62">
            <a:hlinkClick r:id="rId3" action="ppaction://hlinkpres?slideindex=25&amp;slidetitle=PowerPoint 演示文稿"/>
          </p:cNvPr>
          <p:cNvSpPr>
            <a:spLocks noChangeArrowheads="1"/>
          </p:cNvSpPr>
          <p:nvPr/>
        </p:nvSpPr>
        <p:spPr bwMode="auto">
          <a:xfrm rot="5400000">
            <a:off x="6219459" y="6534764"/>
            <a:ext cx="287337" cy="26988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270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</a:t>
            </a:r>
          </a:p>
        </p:txBody>
      </p:sp>
      <p:sp>
        <p:nvSpPr>
          <p:cNvPr id="38" name="Text Box 5">
            <a:extLst>
              <a:ext uri="{FF2B5EF4-FFF2-40B4-BE49-F238E27FC236}">
                <a16:creationId xmlns:a16="http://schemas.microsoft.com/office/drawing/2014/main" id="{84A9A9B0-175D-4991-AD21-D2680B4D0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332656"/>
            <a:ext cx="5112568" cy="561262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+mn-ea"/>
                <a:ea typeface="+mn-ea"/>
              </a:rPr>
              <a:t>3</a:t>
            </a:r>
            <a:r>
              <a:rPr lang="zh-CN" altLang="en-US" b="1" dirty="0">
                <a:solidFill>
                  <a:srgbClr val="FF3399"/>
                </a:solidFill>
                <a:latin typeface="+mn-ea"/>
                <a:ea typeface="+mn-ea"/>
              </a:rPr>
              <a:t>、计算机的性能优化   </a:t>
            </a:r>
            <a:r>
              <a:rPr lang="en-US" altLang="zh-CN" sz="1800" b="1" dirty="0">
                <a:latin typeface="+mn-ea"/>
                <a:ea typeface="+mn-ea"/>
              </a:rPr>
              <a:t>(</a:t>
            </a:r>
            <a:r>
              <a:rPr lang="zh-CN" altLang="en-US" sz="1800" b="1" dirty="0">
                <a:latin typeface="+mn-ea"/>
                <a:ea typeface="+mn-ea"/>
              </a:rPr>
              <a:t>拓展，不考</a:t>
            </a:r>
            <a:r>
              <a:rPr lang="en-US" altLang="zh-CN" sz="1800" b="1" dirty="0">
                <a:latin typeface="+mn-ea"/>
                <a:ea typeface="+mn-ea"/>
              </a:rPr>
              <a:t>)</a:t>
            </a:r>
            <a:endParaRPr lang="en-US" altLang="zh-CN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*冯</a:t>
            </a:r>
            <a:r>
              <a:rPr lang="en-US" altLang="zh-CN" sz="2200" b="1" dirty="0">
                <a:solidFill>
                  <a:srgbClr val="C00000"/>
                </a:solidFill>
                <a:latin typeface="+mn-lt"/>
                <a:ea typeface="+mn-ea"/>
              </a:rPr>
              <a:t>·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诺依曼计算机的性能瓶颈：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①指令执行瓶颈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②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访问瓶颈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③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方式瓶颈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*现代计算机的性能优化：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采用并行处理技术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优化存储器结构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改进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方式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45" name="Text Box 7">
            <a:extLst>
              <a:ext uri="{FF2B5EF4-FFF2-40B4-BE49-F238E27FC236}">
                <a16:creationId xmlns:a16="http://schemas.microsoft.com/office/drawing/2014/main" id="{A8D5C8F8-925B-46F4-B289-AE14F6A6F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1235948"/>
            <a:ext cx="6048671" cy="119577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指令</a:t>
            </a:r>
            <a:r>
              <a:rPr lang="zh-CN" altLang="en-US" sz="2200" b="1" u="sng" dirty="0">
                <a:latin typeface="宋体" panose="02010600030101010101" pitchFamily="2" charset="-122"/>
              </a:rPr>
              <a:t>串行</a:t>
            </a:r>
            <a:r>
              <a:rPr lang="zh-CN" altLang="en-US" sz="2200" b="1" dirty="0">
                <a:latin typeface="宋体" panose="02010600030101010101" pitchFamily="2" charset="-122"/>
              </a:rPr>
              <a:t>执行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下条指令地址由当前指令产生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主存</a:t>
            </a:r>
            <a:r>
              <a:rPr lang="zh-CN" altLang="en-US" sz="2200" b="1" u="sng" dirty="0">
                <a:latin typeface="宋体" panose="02010600030101010101" pitchFamily="2" charset="-122"/>
              </a:rPr>
              <a:t>较慢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需求矛盾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zh-CN" altLang="en-US" sz="2200" b="1" u="sng" dirty="0">
                <a:latin typeface="宋体" panose="02010600030101010101" pitchFamily="2" charset="-122"/>
              </a:rPr>
              <a:t>按逻辑地址</a:t>
            </a:r>
            <a:r>
              <a:rPr lang="zh-CN" altLang="en-US" sz="2200" b="1" dirty="0">
                <a:latin typeface="宋体" panose="02010600030101010101" pitchFamily="2" charset="-122"/>
              </a:rPr>
              <a:t>访问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程序装入所致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           </a:t>
            </a:r>
            <a:r>
              <a:rPr lang="en-US" altLang="zh-CN" sz="1800" dirty="0">
                <a:solidFill>
                  <a:srgbClr val="990099"/>
                </a:solidFill>
                <a:latin typeface="宋体" panose="02010600030101010101" pitchFamily="2" charset="-122"/>
              </a:rPr>
              <a:t>└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先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变换地址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←</a:t>
            </a:r>
            <a:r>
              <a:rPr lang="zh-CN" altLang="en-US" sz="1800" dirty="0">
                <a:solidFill>
                  <a:srgbClr val="990099"/>
                </a:solidFill>
                <a:latin typeface="宋体" panose="02010600030101010101" pitchFamily="2" charset="-122"/>
              </a:rPr>
              <a:t>┘</a:t>
            </a:r>
            <a:endParaRPr lang="en-US" altLang="zh-CN" sz="1800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55" name="Text Box 140">
            <a:extLst>
              <a:ext uri="{FF2B5EF4-FFF2-40B4-BE49-F238E27FC236}">
                <a16:creationId xmlns:a16="http://schemas.microsoft.com/office/drawing/2014/main" id="{C4076519-65C3-4C51-87E7-AF0DC57B7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2637008"/>
            <a:ext cx="1872000" cy="864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lIns="54000" tIns="10800" rIns="54000" bIns="10800" anchor="ctr"/>
          <a:lstStyle/>
          <a:p>
            <a:pPr marL="177800" indent="-177800">
              <a:lnSpc>
                <a:spcPct val="114000"/>
              </a:lnSpc>
            </a:pPr>
            <a:r>
              <a:rPr lang="zh-CN" altLang="en-US" sz="1600" b="1" u="none" dirty="0">
                <a:solidFill>
                  <a:srgbClr val="C00000"/>
                </a:solidFill>
                <a:latin typeface="+mn-ea"/>
                <a:ea typeface="+mn-ea"/>
              </a:rPr>
              <a:t>程序</a:t>
            </a:r>
            <a:r>
              <a:rPr lang="en-US" altLang="zh-CN" sz="1600" b="1" u="none" dirty="0">
                <a:solidFill>
                  <a:srgbClr val="C00000"/>
                </a:solidFill>
                <a:latin typeface="+mn-ea"/>
                <a:ea typeface="+mn-ea"/>
              </a:rPr>
              <a:t>MEM—</a:t>
            </a:r>
            <a:r>
              <a:rPr lang="zh-CN" altLang="en-US" sz="1600" b="1" dirty="0">
                <a:latin typeface="+mn-ea"/>
                <a:ea typeface="+mn-ea"/>
              </a:rPr>
              <a:t>程序空间的</a:t>
            </a:r>
            <a:r>
              <a:rPr lang="en-US" altLang="zh-CN" sz="1600" b="1" dirty="0">
                <a:solidFill>
                  <a:srgbClr val="0070C0"/>
                </a:solidFill>
                <a:latin typeface="+mn-ea"/>
                <a:ea typeface="+mn-ea"/>
              </a:rPr>
              <a:t>MEM</a:t>
            </a:r>
            <a:r>
              <a:rPr lang="zh-CN" altLang="en-US" sz="1600" b="1" dirty="0">
                <a:solidFill>
                  <a:srgbClr val="0070C0"/>
                </a:solidFill>
                <a:latin typeface="+mn-ea"/>
                <a:ea typeface="+mn-ea"/>
              </a:rPr>
              <a:t>抽象</a:t>
            </a:r>
            <a:r>
              <a:rPr lang="zh-CN" altLang="en-US" sz="1600" b="1" dirty="0">
                <a:latin typeface="+mn-ea"/>
                <a:ea typeface="+mn-ea"/>
              </a:rPr>
              <a:t>，并不真实存在！</a:t>
            </a:r>
            <a:endParaRPr lang="en-US" altLang="zh-CN" sz="1600" b="1" dirty="0">
              <a:latin typeface="+mn-ea"/>
              <a:ea typeface="+mn-ea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CC58E965-76E4-4F57-A69C-7ADFF70C65E1}"/>
              </a:ext>
            </a:extLst>
          </p:cNvPr>
          <p:cNvGrpSpPr/>
          <p:nvPr/>
        </p:nvGrpSpPr>
        <p:grpSpPr>
          <a:xfrm>
            <a:off x="2333955" y="2348880"/>
            <a:ext cx="6126477" cy="1260041"/>
            <a:chOff x="2411760" y="2386800"/>
            <a:chExt cx="6126477" cy="1260041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A3ED8CE8-A10E-4C9F-95C7-0429F446F48B}"/>
                </a:ext>
              </a:extLst>
            </p:cNvPr>
            <p:cNvGrpSpPr/>
            <p:nvPr/>
          </p:nvGrpSpPr>
          <p:grpSpPr>
            <a:xfrm>
              <a:off x="2411760" y="2386800"/>
              <a:ext cx="2598085" cy="1260041"/>
              <a:chOff x="1325627" y="1484784"/>
              <a:chExt cx="2598085" cy="1260041"/>
            </a:xfrm>
          </p:grpSpPr>
          <p:sp>
            <p:nvSpPr>
              <p:cNvPr id="69" name="Text Box 36">
                <a:extLst>
                  <a:ext uri="{FF2B5EF4-FFF2-40B4-BE49-F238E27FC236}">
                    <a16:creationId xmlns:a16="http://schemas.microsoft.com/office/drawing/2014/main" id="{0432A04B-1321-47ED-822C-B450820251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9712" y="1844824"/>
                <a:ext cx="1944000" cy="900000"/>
              </a:xfrm>
              <a:prstGeom prst="rect">
                <a:avLst/>
              </a:prstGeom>
              <a:solidFill>
                <a:srgbClr val="CC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tIns="10800" bIns="1080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AC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M[</a:t>
                </a:r>
                <a:r>
                  <a:rPr lang="en-US" altLang="zh-CN" sz="16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0002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]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AC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(AC)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＋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M[</a:t>
                </a:r>
                <a:r>
                  <a:rPr lang="en-US" altLang="zh-CN" sz="16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0003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]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 x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 …</a:t>
                </a:r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70" name="Text Box 36">
                <a:extLst>
                  <a:ext uri="{FF2B5EF4-FFF2-40B4-BE49-F238E27FC236}">
                    <a16:creationId xmlns:a16="http://schemas.microsoft.com/office/drawing/2014/main" id="{61829F8A-B2D2-4A04-A39D-23CDED7DC5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5699" y="1844825"/>
                <a:ext cx="648000" cy="90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tIns="10800" bIns="1080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rgbClr val="0070C0"/>
                    </a:solidFill>
                    <a:latin typeface="宋体" panose="02010600030101010101" pitchFamily="2" charset="-122"/>
                  </a:rPr>
                  <a:t>0000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0001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0002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0003</a:t>
                </a:r>
              </a:p>
            </p:txBody>
          </p: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A17EDC79-C3F0-4265-ADFD-DA997DCD517A}"/>
                  </a:ext>
                </a:extLst>
              </p:cNvPr>
              <p:cNvCxnSpPr/>
              <p:nvPr/>
            </p:nvCxnSpPr>
            <p:spPr bwMode="auto">
              <a:xfrm>
                <a:off x="1979712" y="2071734"/>
                <a:ext cx="1944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45F65A96-B511-40CA-B732-85F13835ACE7}"/>
                  </a:ext>
                </a:extLst>
              </p:cNvPr>
              <p:cNvCxnSpPr/>
              <p:nvPr/>
            </p:nvCxnSpPr>
            <p:spPr bwMode="auto">
              <a:xfrm>
                <a:off x="1979712" y="2299732"/>
                <a:ext cx="1944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C15A4DBA-C131-469F-9430-5FF1852A411C}"/>
                  </a:ext>
                </a:extLst>
              </p:cNvPr>
              <p:cNvCxnSpPr/>
              <p:nvPr/>
            </p:nvCxnSpPr>
            <p:spPr bwMode="auto">
              <a:xfrm>
                <a:off x="1979712" y="2515756"/>
                <a:ext cx="1944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4" name="Text Box 36">
                <a:extLst>
                  <a:ext uri="{FF2B5EF4-FFF2-40B4-BE49-F238E27FC236}">
                    <a16:creationId xmlns:a16="http://schemas.microsoft.com/office/drawing/2014/main" id="{BE3F31F3-4DC4-4A0A-8E1D-74CF54AF5F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5627" y="1484784"/>
                <a:ext cx="2592000" cy="36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18000" tIns="10800" rIns="18000" bIns="10800" anchor="ctr" anchorCtr="0">
                <a:noAutofit/>
              </a:bodyPr>
              <a:lstStyle/>
              <a:p>
                <a:r>
                  <a:rPr lang="zh-CN" altLang="en-US" sz="1600" b="1" dirty="0">
                    <a:latin typeface="宋体" panose="02010600030101010101" pitchFamily="2" charset="-122"/>
                  </a:rPr>
                  <a:t>逻辑地址  </a:t>
                </a:r>
                <a:r>
                  <a:rPr lang="zh-CN" altLang="en-US" sz="18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程序存储器</a:t>
                </a:r>
              </a:p>
            </p:txBody>
          </p:sp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BC645FFE-1142-4E45-98A8-EACFA40CC015}"/>
                </a:ext>
              </a:extLst>
            </p:cNvPr>
            <p:cNvGrpSpPr/>
            <p:nvPr/>
          </p:nvGrpSpPr>
          <p:grpSpPr>
            <a:xfrm>
              <a:off x="5148064" y="2890856"/>
              <a:ext cx="648000" cy="432024"/>
              <a:chOff x="5076056" y="4703372"/>
              <a:chExt cx="648000" cy="432024"/>
            </a:xfrm>
          </p:grpSpPr>
          <p:sp>
            <p:nvSpPr>
              <p:cNvPr id="67" name="右箭头 39">
                <a:extLst>
                  <a:ext uri="{FF2B5EF4-FFF2-40B4-BE49-F238E27FC236}">
                    <a16:creationId xmlns:a16="http://schemas.microsoft.com/office/drawing/2014/main" id="{30987547-B93F-474B-98AD-F9DB849BDACA}"/>
                  </a:ext>
                </a:extLst>
              </p:cNvPr>
              <p:cNvSpPr/>
              <p:nvPr/>
            </p:nvSpPr>
            <p:spPr bwMode="auto">
              <a:xfrm>
                <a:off x="5076056" y="4919396"/>
                <a:ext cx="648000" cy="216000"/>
              </a:xfrm>
              <a:prstGeom prst="rightArrow">
                <a:avLst>
                  <a:gd name="adj1" fmla="val 33789"/>
                  <a:gd name="adj2" fmla="val 50000"/>
                </a:avLst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8" name="Text Box 223">
                <a:extLst>
                  <a:ext uri="{FF2B5EF4-FFF2-40B4-BE49-F238E27FC236}">
                    <a16:creationId xmlns:a16="http://schemas.microsoft.com/office/drawing/2014/main" id="{1AC2C3C6-B37C-4039-8610-41FECB573C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34240" y="4703372"/>
                <a:ext cx="504000" cy="288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zh-CN" altLang="en-US" sz="1600" b="1" dirty="0">
                    <a:latin typeface="宋体" panose="02010600030101010101" pitchFamily="2" charset="-122"/>
                  </a:rPr>
                  <a:t>装入</a:t>
                </a:r>
              </a:p>
            </p:txBody>
          </p:sp>
        </p:grp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B76341BA-1FEA-4F09-99A4-3B91E50E756B}"/>
                </a:ext>
              </a:extLst>
            </p:cNvPr>
            <p:cNvGrpSpPr/>
            <p:nvPr/>
          </p:nvGrpSpPr>
          <p:grpSpPr>
            <a:xfrm>
              <a:off x="5940152" y="2386800"/>
              <a:ext cx="2598085" cy="1260009"/>
              <a:chOff x="1325627" y="1484816"/>
              <a:chExt cx="2598085" cy="1260009"/>
            </a:xfrm>
          </p:grpSpPr>
          <p:sp>
            <p:nvSpPr>
              <p:cNvPr id="61" name="Text Box 36">
                <a:extLst>
                  <a:ext uri="{FF2B5EF4-FFF2-40B4-BE49-F238E27FC236}">
                    <a16:creationId xmlns:a16="http://schemas.microsoft.com/office/drawing/2014/main" id="{83915449-4373-4F77-9781-10E5C95981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9712" y="1844824"/>
                <a:ext cx="1944000" cy="900000"/>
              </a:xfrm>
              <a:prstGeom prst="rect">
                <a:avLst/>
              </a:prstGeom>
              <a:solidFill>
                <a:srgbClr val="CCE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tIns="10800" bIns="1080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AC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M[</a:t>
                </a:r>
                <a:r>
                  <a:rPr lang="en-US" altLang="zh-CN" sz="16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0002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]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AC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(AC)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＋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M[</a:t>
                </a:r>
                <a:r>
                  <a:rPr lang="en-US" altLang="zh-CN" sz="16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0003</a:t>
                </a:r>
                <a:r>
                  <a:rPr lang="en-US" altLang="zh-CN" sz="1600" b="1" dirty="0">
                    <a:latin typeface="宋体" panose="02010600030101010101" pitchFamily="2" charset="-122"/>
                  </a:rPr>
                  <a:t>]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 x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 …</a:t>
                </a:r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62" name="Text Box 36">
                <a:extLst>
                  <a:ext uri="{FF2B5EF4-FFF2-40B4-BE49-F238E27FC236}">
                    <a16:creationId xmlns:a16="http://schemas.microsoft.com/office/drawing/2014/main" id="{26D8350F-B0A6-49F1-8695-348A1EA0AA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5699" y="1844825"/>
                <a:ext cx="648000" cy="90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tIns="10800" bIns="1080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rgbClr val="0070C0"/>
                    </a:solidFill>
                    <a:latin typeface="宋体" panose="02010600030101010101" pitchFamily="2" charset="-122"/>
                  </a:rPr>
                  <a:t>2000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2001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2002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2003</a:t>
                </a:r>
              </a:p>
            </p:txBody>
          </p: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38DCED8C-4D14-48BB-8DD0-34A00CCFD450}"/>
                  </a:ext>
                </a:extLst>
              </p:cNvPr>
              <p:cNvCxnSpPr/>
              <p:nvPr/>
            </p:nvCxnSpPr>
            <p:spPr bwMode="auto">
              <a:xfrm>
                <a:off x="1979712" y="2071734"/>
                <a:ext cx="1944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B3690799-50AC-4E8F-B76C-34A7DA1185AB}"/>
                  </a:ext>
                </a:extLst>
              </p:cNvPr>
              <p:cNvCxnSpPr/>
              <p:nvPr/>
            </p:nvCxnSpPr>
            <p:spPr bwMode="auto">
              <a:xfrm>
                <a:off x="1979712" y="2299732"/>
                <a:ext cx="1944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6F03F9F9-F1A9-4C19-BC29-1A304787F036}"/>
                  </a:ext>
                </a:extLst>
              </p:cNvPr>
              <p:cNvCxnSpPr/>
              <p:nvPr/>
            </p:nvCxnSpPr>
            <p:spPr bwMode="auto">
              <a:xfrm>
                <a:off x="1979712" y="2515756"/>
                <a:ext cx="1944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6" name="Text Box 36">
                <a:extLst>
                  <a:ext uri="{FF2B5EF4-FFF2-40B4-BE49-F238E27FC236}">
                    <a16:creationId xmlns:a16="http://schemas.microsoft.com/office/drawing/2014/main" id="{33AB02E0-1659-447D-8C35-4B0C618FAD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5627" y="1484816"/>
                <a:ext cx="2592000" cy="36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18000" tIns="10800" rIns="18000" bIns="10800" anchor="ctr" anchorCtr="0">
                <a:noAutofit/>
              </a:bodyPr>
              <a:lstStyle/>
              <a:p>
                <a:r>
                  <a:rPr lang="zh-CN" altLang="en-US" sz="1600" b="1" dirty="0">
                    <a:latin typeface="宋体" panose="02010600030101010101" pitchFamily="2" charset="-122"/>
                  </a:rPr>
                  <a:t>物理地址    </a:t>
                </a:r>
                <a:r>
                  <a:rPr lang="zh-CN" altLang="en-US" sz="1800" b="1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主存</a:t>
                </a:r>
              </a:p>
            </p:txBody>
          </p:sp>
        </p:grp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CFC8780A-2337-453B-BB6B-016C6264BFA8}"/>
                </a:ext>
              </a:extLst>
            </p:cNvPr>
            <p:cNvCxnSpPr/>
            <p:nvPr/>
          </p:nvCxnSpPr>
          <p:spPr bwMode="auto">
            <a:xfrm flipH="1">
              <a:off x="6479999" y="2962800"/>
              <a:ext cx="900000" cy="324000"/>
            </a:xfrm>
            <a:prstGeom prst="straightConnector1">
              <a:avLst/>
            </a:prstGeom>
            <a:noFill/>
            <a:ln w="15875" cap="flat" cmpd="sng" algn="ctr">
              <a:solidFill>
                <a:srgbClr val="FF0000"/>
              </a:solidFill>
              <a:prstDash val="sysDash"/>
              <a:round/>
              <a:headEnd type="oval" w="med" len="med"/>
              <a:tailEnd type="arrow"/>
            </a:ln>
            <a:effectLst/>
          </p:spPr>
        </p:cxnSp>
      </p:grpSp>
      <p:sp>
        <p:nvSpPr>
          <p:cNvPr id="75" name="Text Box 20">
            <a:extLst>
              <a:ext uri="{FF2B5EF4-FFF2-40B4-BE49-F238E27FC236}">
                <a16:creationId xmlns:a16="http://schemas.microsoft.com/office/drawing/2014/main" id="{626D2826-C359-4CF8-8877-FB57E17E6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2162" y="4509120"/>
            <a:ext cx="6382326" cy="1303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     指令流水线、动态调度、前瞻执行等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   增设</a:t>
            </a:r>
            <a:r>
              <a:rPr lang="en-US" altLang="zh-CN" sz="2200" b="1" dirty="0">
                <a:latin typeface="宋体" panose="02010600030101010101" pitchFamily="2" charset="-122"/>
              </a:rPr>
              <a:t>Cache</a:t>
            </a:r>
            <a:r>
              <a:rPr lang="zh-CN" altLang="en-US" sz="2200" b="1" dirty="0">
                <a:latin typeface="宋体" panose="02010600030101010101" pitchFamily="2" charset="-122"/>
              </a:rPr>
              <a:t>、采用哈佛结构，优化地址变换等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latin typeface="宋体" panose="02010600030101010101" pitchFamily="2" charset="-122"/>
              </a:rPr>
              <a:t>采用中断、</a:t>
            </a:r>
            <a:r>
              <a:rPr lang="en-US" altLang="zh-CN" sz="2200" b="1" dirty="0">
                <a:latin typeface="宋体" panose="02010600030101010101" pitchFamily="2" charset="-122"/>
              </a:rPr>
              <a:t>DMA</a:t>
            </a:r>
            <a:r>
              <a:rPr lang="zh-CN" altLang="en-US" sz="2200" b="1" dirty="0">
                <a:latin typeface="宋体" panose="02010600030101010101" pitchFamily="2" charset="-122"/>
              </a:rPr>
              <a:t>方式，改进总线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宽度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级数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2E6050E4-36B2-4D1D-A226-DD21109FEA35}"/>
              </a:ext>
            </a:extLst>
          </p:cNvPr>
          <p:cNvSpPr txBox="1"/>
          <p:nvPr/>
        </p:nvSpPr>
        <p:spPr>
          <a:xfrm>
            <a:off x="2888190" y="3645024"/>
            <a:ext cx="5068186" cy="457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与运算</a:t>
            </a:r>
            <a:r>
              <a:rPr lang="zh-CN" altLang="en-US" sz="2200" b="1" u="sng" dirty="0">
                <a:latin typeface="宋体" panose="02010600030101010101" pitchFamily="2" charset="-122"/>
              </a:rPr>
              <a:t>串行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以运算器为中心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7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85525-FA2E-4E3D-ACB5-6A59B8FCBE70}" type="slidenum">
              <a:rPr lang="en-US" altLang="zh-CN"/>
              <a:t>44</a:t>
            </a:fld>
            <a:endParaRPr lang="en-US" altLang="zh-CN"/>
          </a:p>
        </p:txBody>
      </p:sp>
      <p:sp>
        <p:nvSpPr>
          <p:cNvPr id="178180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85225" cy="8805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现代计算机的结构类型：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</a:rPr>
              <a:t>按</a:t>
            </a:r>
            <a:r>
              <a:rPr lang="en-US" altLang="zh-CN" sz="2200" b="1" dirty="0">
                <a:latin typeface="宋体" panose="02010600030101010101" pitchFamily="2" charset="-122"/>
              </a:rPr>
              <a:t>Flynn</a:t>
            </a:r>
            <a:r>
              <a:rPr lang="zh-CN" altLang="en-US" sz="2200" b="1" dirty="0">
                <a:latin typeface="宋体" panose="02010600030101010101" pitchFamily="2" charset="-122"/>
              </a:rPr>
              <a:t>分类法，结构有</a:t>
            </a:r>
            <a:r>
              <a:rPr lang="en-US" altLang="zh-CN" sz="2200" b="1" dirty="0">
                <a:latin typeface="宋体" panose="02010600030101010101" pitchFamily="2" charset="-122"/>
              </a:rPr>
              <a:t>SISD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SIMD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MISD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MIMD</a:t>
            </a:r>
            <a:r>
              <a:rPr lang="zh-CN" altLang="en-US" sz="2200" b="1" dirty="0">
                <a:latin typeface="宋体" panose="02010600030101010101" pitchFamily="2" charset="-122"/>
              </a:rPr>
              <a:t>四种</a:t>
            </a:r>
          </a:p>
        </p:txBody>
      </p:sp>
      <p:sp>
        <p:nvSpPr>
          <p:cNvPr id="109" name="Text Box 379"/>
          <p:cNvSpPr txBox="1">
            <a:spLocks noChangeArrowheads="1"/>
          </p:cNvSpPr>
          <p:nvPr/>
        </p:nvSpPr>
        <p:spPr bwMode="auto">
          <a:xfrm>
            <a:off x="179388" y="5085184"/>
            <a:ext cx="8785225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※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本课程的目标：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SISD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结构</a:t>
            </a:r>
            <a:r>
              <a:rPr lang="zh-CN" altLang="en-US" sz="2200" b="1" dirty="0">
                <a:latin typeface="宋体" panose="02010600030101010101" pitchFamily="2" charset="-122"/>
              </a:rPr>
              <a:t>计算机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串行计算机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zh-CN" altLang="en-US" sz="1600" b="1" dirty="0">
                <a:latin typeface="宋体" panose="02010600030101010101" pitchFamily="2" charset="-122"/>
              </a:rPr>
              <a:t>←硬件</a:t>
            </a:r>
            <a:r>
              <a:rPr lang="zh-CN" altLang="en-US" sz="1600" b="1" u="sng" dirty="0">
                <a:solidFill>
                  <a:srgbClr val="FF0000"/>
                </a:solidFill>
                <a:latin typeface="宋体" panose="02010600030101010101" pitchFamily="2" charset="-122"/>
              </a:rPr>
              <a:t>基础课</a:t>
            </a:r>
            <a:endParaRPr lang="zh-CN" altLang="en-US" sz="1800" b="1" u="sng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13" name="AutoShape 338"/>
          <p:cNvSpPr/>
          <p:nvPr/>
        </p:nvSpPr>
        <p:spPr bwMode="auto">
          <a:xfrm>
            <a:off x="5292080" y="584712"/>
            <a:ext cx="2808000" cy="252000"/>
          </a:xfrm>
          <a:prstGeom prst="borderCallout2">
            <a:avLst>
              <a:gd name="adj1" fmla="val 51268"/>
              <a:gd name="adj2" fmla="val -290"/>
              <a:gd name="adj3" fmla="val 50567"/>
              <a:gd name="adj4" fmla="val -7625"/>
              <a:gd name="adj5" fmla="val 123627"/>
              <a:gd name="adj6" fmla="val -12878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 anchorCtr="0"/>
          <a:lstStyle/>
          <a:p>
            <a:pPr lvl="0" algn="ctr">
              <a:lnSpc>
                <a:spcPct val="90000"/>
              </a:lnSpc>
            </a:pPr>
            <a:r>
              <a:rPr lang="en-US" altLang="zh-CN" sz="1600" dirty="0">
                <a:solidFill>
                  <a:srgbClr val="000000"/>
                </a:solidFill>
              </a:rPr>
              <a:t>Single Instruction Multiple Data</a:t>
            </a: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112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001120" y="3212976"/>
            <a:ext cx="3891360" cy="1800200"/>
            <a:chOff x="5074468" y="3789040"/>
            <a:chExt cx="3891360" cy="1800200"/>
          </a:xfrm>
        </p:grpSpPr>
        <p:sp>
          <p:nvSpPr>
            <p:cNvPr id="178523" name="Text Box 347"/>
            <p:cNvSpPr txBox="1">
              <a:spLocks noChangeArrowheads="1"/>
            </p:cNvSpPr>
            <p:nvPr/>
          </p:nvSpPr>
          <p:spPr bwMode="auto">
            <a:xfrm>
              <a:off x="5795838" y="5301240"/>
              <a:ext cx="2664000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>
                  <a:latin typeface="+mn-ea"/>
                  <a:ea typeface="+mn-ea"/>
                </a:rPr>
                <a:t>MIMD</a:t>
              </a:r>
              <a:r>
                <a:rPr lang="zh-CN" altLang="en-US" sz="1800" b="1" dirty="0">
                  <a:latin typeface="+mn-ea"/>
                  <a:ea typeface="+mn-ea"/>
                </a:rPr>
                <a:t>结构</a:t>
              </a:r>
              <a:r>
                <a:rPr lang="en-US" altLang="zh-CN" sz="1800" b="1" dirty="0">
                  <a:latin typeface="+mn-ea"/>
                  <a:ea typeface="+mn-ea"/>
                </a:rPr>
                <a:t>(</a:t>
              </a:r>
              <a:r>
                <a:rPr lang="zh-CN" altLang="en-US" sz="1800" b="1" dirty="0">
                  <a:latin typeface="+mn-ea"/>
                  <a:ea typeface="+mn-ea"/>
                </a:rPr>
                <a:t>多处理机</a:t>
              </a:r>
              <a:r>
                <a:rPr lang="en-US" altLang="zh-CN" sz="1800" b="1" dirty="0">
                  <a:latin typeface="+mn-ea"/>
                  <a:ea typeface="+mn-ea"/>
                </a:rPr>
                <a:t>)</a:t>
              </a:r>
            </a:p>
          </p:txBody>
        </p:sp>
        <p:sp>
          <p:nvSpPr>
            <p:cNvPr id="178527" name="Text Box 351"/>
            <p:cNvSpPr txBox="1">
              <a:spLocks noChangeArrowheads="1"/>
            </p:cNvSpPr>
            <p:nvPr/>
          </p:nvSpPr>
          <p:spPr bwMode="auto">
            <a:xfrm>
              <a:off x="6012200" y="3789064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600" dirty="0">
                  <a:latin typeface="+mn-ea"/>
                  <a:ea typeface="+mn-ea"/>
                </a:rPr>
                <a:t>IS1</a:t>
              </a:r>
            </a:p>
          </p:txBody>
        </p:sp>
        <p:sp>
          <p:nvSpPr>
            <p:cNvPr id="178528" name="Line 352"/>
            <p:cNvSpPr>
              <a:spLocks noChangeShapeType="1"/>
            </p:cNvSpPr>
            <p:nvPr/>
          </p:nvSpPr>
          <p:spPr bwMode="auto">
            <a:xfrm>
              <a:off x="5940216" y="4005064"/>
              <a:ext cx="50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78534" name="Text Box 358"/>
            <p:cNvSpPr txBox="1">
              <a:spLocks noChangeArrowheads="1"/>
            </p:cNvSpPr>
            <p:nvPr/>
          </p:nvSpPr>
          <p:spPr bwMode="auto">
            <a:xfrm>
              <a:off x="6012200" y="4581152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600" dirty="0" err="1">
                  <a:latin typeface="+mn-ea"/>
                  <a:ea typeface="+mn-ea"/>
                </a:rPr>
                <a:t>IS</a:t>
              </a:r>
              <a:r>
                <a:rPr lang="en-US" altLang="zh-CN" sz="1600" i="1" dirty="0" err="1">
                  <a:latin typeface="+mn-lt"/>
                  <a:ea typeface="+mn-ea"/>
                </a:rPr>
                <a:t>n</a:t>
              </a:r>
              <a:endParaRPr lang="en-US" altLang="zh-CN" sz="1600" i="1" dirty="0">
                <a:latin typeface="+mn-lt"/>
                <a:ea typeface="+mn-ea"/>
              </a:endParaRPr>
            </a:p>
          </p:txBody>
        </p:sp>
        <p:sp>
          <p:nvSpPr>
            <p:cNvPr id="178535" name="Line 359"/>
            <p:cNvSpPr>
              <a:spLocks noChangeShapeType="1"/>
            </p:cNvSpPr>
            <p:nvPr/>
          </p:nvSpPr>
          <p:spPr bwMode="auto">
            <a:xfrm>
              <a:off x="5940216" y="4796259"/>
              <a:ext cx="50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78536" name="Line 360"/>
            <p:cNvSpPr>
              <a:spLocks noChangeShapeType="1"/>
            </p:cNvSpPr>
            <p:nvPr/>
          </p:nvSpPr>
          <p:spPr bwMode="auto">
            <a:xfrm>
              <a:off x="8532440" y="4005064"/>
              <a:ext cx="433388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37" name="Line 361"/>
            <p:cNvSpPr>
              <a:spLocks noChangeShapeType="1"/>
            </p:cNvSpPr>
            <p:nvPr/>
          </p:nvSpPr>
          <p:spPr bwMode="auto">
            <a:xfrm>
              <a:off x="8964488" y="4005361"/>
              <a:ext cx="0" cy="122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38" name="Line 362"/>
            <p:cNvSpPr>
              <a:spLocks noChangeShapeType="1"/>
            </p:cNvSpPr>
            <p:nvPr/>
          </p:nvSpPr>
          <p:spPr bwMode="auto">
            <a:xfrm>
              <a:off x="8531547" y="4725144"/>
              <a:ext cx="28892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39" name="Line 363"/>
            <p:cNvSpPr>
              <a:spLocks noChangeShapeType="1"/>
            </p:cNvSpPr>
            <p:nvPr/>
          </p:nvSpPr>
          <p:spPr bwMode="auto">
            <a:xfrm>
              <a:off x="8820472" y="4725144"/>
              <a:ext cx="0" cy="36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40" name="Line 364"/>
            <p:cNvSpPr>
              <a:spLocks noChangeShapeType="1"/>
            </p:cNvSpPr>
            <p:nvPr/>
          </p:nvSpPr>
          <p:spPr bwMode="auto">
            <a:xfrm>
              <a:off x="5220488" y="5085184"/>
              <a:ext cx="360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41" name="Line 365"/>
            <p:cNvSpPr>
              <a:spLocks noChangeShapeType="1"/>
            </p:cNvSpPr>
            <p:nvPr/>
          </p:nvSpPr>
          <p:spPr bwMode="auto">
            <a:xfrm>
              <a:off x="5076504" y="5229200"/>
              <a:ext cx="388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42" name="Line 366"/>
            <p:cNvSpPr>
              <a:spLocks noChangeShapeType="1"/>
            </p:cNvSpPr>
            <p:nvPr/>
          </p:nvSpPr>
          <p:spPr bwMode="auto">
            <a:xfrm>
              <a:off x="5218484" y="4796829"/>
              <a:ext cx="1588" cy="288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43" name="Line 367"/>
            <p:cNvSpPr>
              <a:spLocks noChangeShapeType="1"/>
            </p:cNvSpPr>
            <p:nvPr/>
          </p:nvSpPr>
          <p:spPr bwMode="auto">
            <a:xfrm>
              <a:off x="5220088" y="4796259"/>
              <a:ext cx="1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44" name="Line 368"/>
            <p:cNvSpPr>
              <a:spLocks noChangeShapeType="1"/>
            </p:cNvSpPr>
            <p:nvPr/>
          </p:nvSpPr>
          <p:spPr bwMode="auto">
            <a:xfrm>
              <a:off x="5074468" y="4005361"/>
              <a:ext cx="1588" cy="122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45" name="Line 369"/>
            <p:cNvSpPr>
              <a:spLocks noChangeShapeType="1"/>
            </p:cNvSpPr>
            <p:nvPr/>
          </p:nvSpPr>
          <p:spPr bwMode="auto">
            <a:xfrm>
              <a:off x="5076088" y="4005064"/>
              <a:ext cx="288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52" name="Text Box 376"/>
            <p:cNvSpPr txBox="1">
              <a:spLocks noChangeArrowheads="1"/>
            </p:cNvSpPr>
            <p:nvPr/>
          </p:nvSpPr>
          <p:spPr bwMode="auto">
            <a:xfrm>
              <a:off x="5364152" y="3860155"/>
              <a:ext cx="576000" cy="288925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2222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/>
              <a:r>
                <a:rPr lang="en-US" altLang="zh-CN" sz="1800" b="1" dirty="0">
                  <a:latin typeface="+mn-ea"/>
                  <a:ea typeface="+mn-ea"/>
                </a:rPr>
                <a:t>CU</a:t>
              </a:r>
              <a:r>
                <a:rPr lang="en-US" altLang="zh-CN" sz="18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178553" name="Text Box 377"/>
            <p:cNvSpPr txBox="1">
              <a:spLocks noChangeArrowheads="1"/>
            </p:cNvSpPr>
            <p:nvPr/>
          </p:nvSpPr>
          <p:spPr bwMode="auto">
            <a:xfrm>
              <a:off x="5364152" y="4652243"/>
              <a:ext cx="576000" cy="288925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2222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/>
              <a:r>
                <a:rPr lang="en-US" altLang="zh-CN" sz="1800" b="1" dirty="0" err="1">
                  <a:latin typeface="+mn-ea"/>
                  <a:ea typeface="+mn-ea"/>
                </a:rPr>
                <a:t>CU</a:t>
              </a:r>
              <a:r>
                <a:rPr lang="en-US" altLang="zh-CN" sz="1800" i="1" dirty="0" err="1">
                  <a:latin typeface="+mn-lt"/>
                  <a:ea typeface="+mn-ea"/>
                </a:rPr>
                <a:t>n</a:t>
              </a:r>
              <a:endParaRPr lang="en-US" altLang="zh-CN" sz="1800" i="1" dirty="0">
                <a:latin typeface="+mn-lt"/>
                <a:ea typeface="+mn-ea"/>
              </a:endParaRPr>
            </a:p>
          </p:txBody>
        </p:sp>
        <p:sp>
          <p:nvSpPr>
            <p:cNvPr id="115" name="Text Box 291"/>
            <p:cNvSpPr txBox="1">
              <a:spLocks noChangeArrowheads="1"/>
            </p:cNvSpPr>
            <p:nvPr/>
          </p:nvSpPr>
          <p:spPr bwMode="auto">
            <a:xfrm rot="5400000">
              <a:off x="6612483" y="4256561"/>
              <a:ext cx="360363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>
              <a:noAutofit/>
            </a:bodyPr>
            <a:lstStyle/>
            <a:p>
              <a:pPr algn="ctr"/>
              <a:r>
                <a:rPr lang="en-US" altLang="zh-CN" sz="1800" b="1" dirty="0"/>
                <a:t>…</a:t>
              </a:r>
            </a:p>
          </p:txBody>
        </p:sp>
        <p:sp>
          <p:nvSpPr>
            <p:cNvPr id="116" name="Rectangle 294"/>
            <p:cNvSpPr>
              <a:spLocks noChangeArrowheads="1"/>
            </p:cNvSpPr>
            <p:nvPr/>
          </p:nvSpPr>
          <p:spPr bwMode="auto">
            <a:xfrm>
              <a:off x="7668170" y="3789168"/>
              <a:ext cx="863600" cy="11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tIns="10800" bIns="10800" anchor="ctr"/>
            <a:lstStyle/>
            <a:p>
              <a:endParaRPr lang="zh-CN" altLang="en-US"/>
            </a:p>
          </p:txBody>
        </p:sp>
        <p:sp>
          <p:nvSpPr>
            <p:cNvPr id="117" name="Text Box 295"/>
            <p:cNvSpPr txBox="1">
              <a:spLocks noChangeArrowheads="1"/>
            </p:cNvSpPr>
            <p:nvPr/>
          </p:nvSpPr>
          <p:spPr bwMode="auto">
            <a:xfrm>
              <a:off x="7164933" y="3789168"/>
              <a:ext cx="4318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DS1</a:t>
              </a:r>
            </a:p>
          </p:txBody>
        </p:sp>
        <p:sp>
          <p:nvSpPr>
            <p:cNvPr id="118" name="Line 296"/>
            <p:cNvSpPr>
              <a:spLocks noChangeShapeType="1"/>
            </p:cNvSpPr>
            <p:nvPr/>
          </p:nvSpPr>
          <p:spPr bwMode="auto">
            <a:xfrm flipH="1">
              <a:off x="7093495" y="4005068"/>
              <a:ext cx="576263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19" name="Text Box 301"/>
            <p:cNvSpPr txBox="1">
              <a:spLocks noChangeArrowheads="1"/>
            </p:cNvSpPr>
            <p:nvPr/>
          </p:nvSpPr>
          <p:spPr bwMode="auto">
            <a:xfrm>
              <a:off x="6444208" y="4652446"/>
              <a:ext cx="612775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  <a:ea typeface="+mn-ea"/>
                </a:rPr>
                <a:t>PU</a:t>
              </a:r>
              <a:r>
                <a:rPr lang="en-US" altLang="zh-CN" sz="1800" i="1" dirty="0" err="1">
                  <a:latin typeface="+mn-lt"/>
                  <a:ea typeface="+mn-ea"/>
                </a:rPr>
                <a:t>n</a:t>
              </a:r>
              <a:endParaRPr lang="en-US" altLang="zh-CN" sz="1800" i="1" dirty="0">
                <a:latin typeface="+mn-lt"/>
                <a:ea typeface="+mn-ea"/>
              </a:endParaRPr>
            </a:p>
          </p:txBody>
        </p:sp>
        <p:sp>
          <p:nvSpPr>
            <p:cNvPr id="120" name="Text Box 302"/>
            <p:cNvSpPr txBox="1">
              <a:spLocks noChangeArrowheads="1"/>
            </p:cNvSpPr>
            <p:nvPr/>
          </p:nvSpPr>
          <p:spPr bwMode="auto">
            <a:xfrm>
              <a:off x="7164933" y="4581252"/>
              <a:ext cx="4318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>
                  <a:latin typeface="+mn-ea"/>
                  <a:ea typeface="+mn-ea"/>
                </a:rPr>
                <a:t>DS</a:t>
              </a:r>
              <a:r>
                <a:rPr lang="en-US" altLang="zh-CN" sz="1600" i="1" dirty="0" err="1">
                  <a:latin typeface="+mn-lt"/>
                  <a:ea typeface="+mn-ea"/>
                </a:rPr>
                <a:t>n</a:t>
              </a:r>
              <a:endParaRPr lang="en-US" altLang="zh-CN" sz="1600" i="1" dirty="0">
                <a:latin typeface="+mn-lt"/>
                <a:ea typeface="+mn-ea"/>
              </a:endParaRPr>
            </a:p>
          </p:txBody>
        </p:sp>
        <p:sp>
          <p:nvSpPr>
            <p:cNvPr id="121" name="Line 303"/>
            <p:cNvSpPr>
              <a:spLocks noChangeShapeType="1"/>
            </p:cNvSpPr>
            <p:nvPr/>
          </p:nvSpPr>
          <p:spPr bwMode="auto">
            <a:xfrm>
              <a:off x="7050633" y="4796908"/>
              <a:ext cx="6175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22" name="Text Box 311"/>
            <p:cNvSpPr txBox="1">
              <a:spLocks noChangeArrowheads="1"/>
            </p:cNvSpPr>
            <p:nvPr/>
          </p:nvSpPr>
          <p:spPr bwMode="auto">
            <a:xfrm>
              <a:off x="6444877" y="3861742"/>
              <a:ext cx="648000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PU</a:t>
              </a:r>
              <a:r>
                <a:rPr lang="en-US" altLang="zh-CN" sz="18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123" name="Text Box 380"/>
            <p:cNvSpPr txBox="1">
              <a:spLocks noChangeArrowheads="1"/>
            </p:cNvSpPr>
            <p:nvPr/>
          </p:nvSpPr>
          <p:spPr bwMode="auto">
            <a:xfrm>
              <a:off x="7739608" y="4581097"/>
              <a:ext cx="720725" cy="2873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  <a:ea typeface="+mn-ea"/>
                </a:rPr>
                <a:t>MEM</a:t>
              </a:r>
              <a:r>
                <a:rPr lang="en-US" altLang="zh-CN" sz="1800" i="1" dirty="0" err="1">
                  <a:latin typeface="+mn-lt"/>
                  <a:ea typeface="+mn-ea"/>
                </a:rPr>
                <a:t>m</a:t>
              </a:r>
              <a:endParaRPr lang="en-US" altLang="zh-CN" sz="1800" i="1" dirty="0">
                <a:latin typeface="+mn-lt"/>
                <a:ea typeface="+mn-ea"/>
              </a:endParaRPr>
            </a:p>
          </p:txBody>
        </p:sp>
        <p:sp>
          <p:nvSpPr>
            <p:cNvPr id="124" name="Text Box 382"/>
            <p:cNvSpPr txBox="1">
              <a:spLocks noChangeArrowheads="1"/>
            </p:cNvSpPr>
            <p:nvPr/>
          </p:nvSpPr>
          <p:spPr bwMode="auto">
            <a:xfrm>
              <a:off x="7739608" y="3860606"/>
              <a:ext cx="720725" cy="2873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MEM</a:t>
              </a:r>
              <a:r>
                <a:rPr lang="en-US" altLang="zh-CN" sz="18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125" name="Text Box 291"/>
            <p:cNvSpPr txBox="1">
              <a:spLocks noChangeArrowheads="1"/>
            </p:cNvSpPr>
            <p:nvPr/>
          </p:nvSpPr>
          <p:spPr bwMode="auto">
            <a:xfrm rot="5400000">
              <a:off x="7993234" y="4256561"/>
              <a:ext cx="360363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>
              <a:noAutofit/>
            </a:bodyPr>
            <a:lstStyle/>
            <a:p>
              <a:pPr algn="ctr"/>
              <a:r>
                <a:rPr lang="en-US" altLang="zh-CN" sz="1800" b="1" dirty="0"/>
                <a:t>…</a:t>
              </a:r>
            </a:p>
          </p:txBody>
        </p:sp>
        <p:sp>
          <p:nvSpPr>
            <p:cNvPr id="126" name="Text Box 291"/>
            <p:cNvSpPr txBox="1">
              <a:spLocks noChangeArrowheads="1"/>
            </p:cNvSpPr>
            <p:nvPr/>
          </p:nvSpPr>
          <p:spPr bwMode="auto">
            <a:xfrm rot="5400000">
              <a:off x="5543600" y="4256592"/>
              <a:ext cx="360363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>
              <a:noAutofit/>
            </a:bodyPr>
            <a:lstStyle/>
            <a:p>
              <a:pPr algn="ctr"/>
              <a:r>
                <a:rPr lang="en-US" altLang="zh-CN" sz="1800" b="1" dirty="0"/>
                <a:t>…</a:t>
              </a:r>
            </a:p>
          </p:txBody>
        </p:sp>
        <p:sp>
          <p:nvSpPr>
            <p:cNvPr id="127" name="Text Box 351"/>
            <p:cNvSpPr txBox="1">
              <a:spLocks noChangeArrowheads="1"/>
            </p:cNvSpPr>
            <p:nvPr/>
          </p:nvSpPr>
          <p:spPr bwMode="auto">
            <a:xfrm>
              <a:off x="8604488" y="3789040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600" dirty="0">
                  <a:latin typeface="+mn-ea"/>
                  <a:ea typeface="+mn-ea"/>
                </a:rPr>
                <a:t>IS1</a:t>
              </a:r>
            </a:p>
          </p:txBody>
        </p:sp>
        <p:sp>
          <p:nvSpPr>
            <p:cNvPr id="128" name="Text Box 358"/>
            <p:cNvSpPr txBox="1">
              <a:spLocks noChangeArrowheads="1"/>
            </p:cNvSpPr>
            <p:nvPr/>
          </p:nvSpPr>
          <p:spPr bwMode="auto">
            <a:xfrm>
              <a:off x="8604488" y="4509096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600" dirty="0" err="1">
                  <a:latin typeface="+mn-ea"/>
                  <a:ea typeface="+mn-ea"/>
                </a:rPr>
                <a:t>IS</a:t>
              </a:r>
              <a:r>
                <a:rPr lang="en-US" altLang="zh-CN" sz="1600" i="1" dirty="0" err="1">
                  <a:latin typeface="+mn-lt"/>
                  <a:ea typeface="+mn-ea"/>
                </a:rPr>
                <a:t>n</a:t>
              </a:r>
              <a:endParaRPr lang="en-US" altLang="zh-CN" sz="1600" i="1" dirty="0">
                <a:latin typeface="+mn-lt"/>
                <a:ea typeface="+mn-ea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80640" y="3212976"/>
            <a:ext cx="3963170" cy="1800200"/>
            <a:chOff x="539552" y="3789040"/>
            <a:chExt cx="3963170" cy="1800200"/>
          </a:xfrm>
        </p:grpSpPr>
        <p:sp>
          <p:nvSpPr>
            <p:cNvPr id="178489" name="Text Box 313"/>
            <p:cNvSpPr txBox="1">
              <a:spLocks noChangeArrowheads="1"/>
            </p:cNvSpPr>
            <p:nvPr/>
          </p:nvSpPr>
          <p:spPr bwMode="auto">
            <a:xfrm>
              <a:off x="1115616" y="5301240"/>
              <a:ext cx="2809677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>
                  <a:latin typeface="+mn-ea"/>
                  <a:ea typeface="+mn-ea"/>
                </a:rPr>
                <a:t>MISD</a:t>
              </a:r>
              <a:r>
                <a:rPr lang="zh-CN" altLang="en-US" sz="1800" b="1" dirty="0">
                  <a:latin typeface="+mn-ea"/>
                  <a:ea typeface="+mn-ea"/>
                </a:rPr>
                <a:t>结构</a:t>
              </a:r>
              <a:r>
                <a:rPr lang="en-US" altLang="zh-CN" sz="1800" b="1" dirty="0">
                  <a:latin typeface="+mn-ea"/>
                  <a:ea typeface="+mn-ea"/>
                </a:rPr>
                <a:t>(</a:t>
              </a:r>
              <a:r>
                <a:rPr lang="zh-CN" altLang="en-US" sz="1800" b="1" dirty="0">
                  <a:latin typeface="+mn-ea"/>
                  <a:ea typeface="+mn-ea"/>
                </a:rPr>
                <a:t>专用处理机</a:t>
              </a:r>
              <a:r>
                <a:rPr lang="en-US" altLang="zh-CN" sz="1800" b="1" dirty="0">
                  <a:latin typeface="+mn-ea"/>
                  <a:ea typeface="+mn-ea"/>
                </a:rPr>
                <a:t>)</a:t>
              </a:r>
            </a:p>
          </p:txBody>
        </p:sp>
        <p:sp>
          <p:nvSpPr>
            <p:cNvPr id="178512" name="Line 336"/>
            <p:cNvSpPr>
              <a:spLocks noChangeShapeType="1"/>
            </p:cNvSpPr>
            <p:nvPr/>
          </p:nvSpPr>
          <p:spPr bwMode="auto">
            <a:xfrm>
              <a:off x="2267744" y="4150221"/>
              <a:ext cx="0" cy="142875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513" name="Line 337"/>
            <p:cNvSpPr>
              <a:spLocks noChangeShapeType="1"/>
            </p:cNvSpPr>
            <p:nvPr/>
          </p:nvSpPr>
          <p:spPr bwMode="auto">
            <a:xfrm>
              <a:off x="2267744" y="4508227"/>
              <a:ext cx="0" cy="142875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Text Box 351"/>
            <p:cNvSpPr txBox="1">
              <a:spLocks noChangeArrowheads="1"/>
            </p:cNvSpPr>
            <p:nvPr/>
          </p:nvSpPr>
          <p:spPr bwMode="auto">
            <a:xfrm>
              <a:off x="1549094" y="3789064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600" dirty="0">
                  <a:latin typeface="+mn-ea"/>
                  <a:ea typeface="+mn-ea"/>
                </a:rPr>
                <a:t>IS1</a:t>
              </a:r>
            </a:p>
          </p:txBody>
        </p:sp>
        <p:sp>
          <p:nvSpPr>
            <p:cNvPr id="130" name="Line 352"/>
            <p:cNvSpPr>
              <a:spLocks noChangeShapeType="1"/>
            </p:cNvSpPr>
            <p:nvPr/>
          </p:nvSpPr>
          <p:spPr bwMode="auto">
            <a:xfrm>
              <a:off x="1477102" y="4005064"/>
              <a:ext cx="50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31" name="Text Box 358"/>
            <p:cNvSpPr txBox="1">
              <a:spLocks noChangeArrowheads="1"/>
            </p:cNvSpPr>
            <p:nvPr/>
          </p:nvSpPr>
          <p:spPr bwMode="auto">
            <a:xfrm>
              <a:off x="1549094" y="4580235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600" dirty="0" err="1">
                  <a:latin typeface="+mn-ea"/>
                  <a:ea typeface="+mn-ea"/>
                </a:rPr>
                <a:t>IS</a:t>
              </a:r>
              <a:r>
                <a:rPr lang="en-US" altLang="zh-CN" sz="1600" i="1" dirty="0" err="1">
                  <a:latin typeface="+mn-lt"/>
                  <a:ea typeface="+mn-ea"/>
                </a:rPr>
                <a:t>n</a:t>
              </a:r>
              <a:endParaRPr lang="en-US" altLang="zh-CN" sz="1600" i="1" dirty="0">
                <a:latin typeface="+mn-lt"/>
                <a:ea typeface="+mn-ea"/>
              </a:endParaRPr>
            </a:p>
          </p:txBody>
        </p:sp>
        <p:sp>
          <p:nvSpPr>
            <p:cNvPr id="132" name="Line 359"/>
            <p:cNvSpPr>
              <a:spLocks noChangeShapeType="1"/>
            </p:cNvSpPr>
            <p:nvPr/>
          </p:nvSpPr>
          <p:spPr bwMode="auto">
            <a:xfrm>
              <a:off x="1477102" y="4796259"/>
              <a:ext cx="50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33" name="Line 360"/>
            <p:cNvSpPr>
              <a:spLocks noChangeShapeType="1"/>
            </p:cNvSpPr>
            <p:nvPr/>
          </p:nvSpPr>
          <p:spPr bwMode="auto">
            <a:xfrm>
              <a:off x="4069334" y="4005064"/>
              <a:ext cx="433388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Line 361"/>
            <p:cNvSpPr>
              <a:spLocks noChangeShapeType="1"/>
            </p:cNvSpPr>
            <p:nvPr/>
          </p:nvSpPr>
          <p:spPr bwMode="auto">
            <a:xfrm>
              <a:off x="4501382" y="4005361"/>
              <a:ext cx="0" cy="122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362"/>
            <p:cNvSpPr>
              <a:spLocks noChangeShapeType="1"/>
            </p:cNvSpPr>
            <p:nvPr/>
          </p:nvSpPr>
          <p:spPr bwMode="auto">
            <a:xfrm>
              <a:off x="4068441" y="4725144"/>
              <a:ext cx="28892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363"/>
            <p:cNvSpPr>
              <a:spLocks noChangeShapeType="1"/>
            </p:cNvSpPr>
            <p:nvPr/>
          </p:nvSpPr>
          <p:spPr bwMode="auto">
            <a:xfrm>
              <a:off x="4357366" y="4725144"/>
              <a:ext cx="0" cy="36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364"/>
            <p:cNvSpPr>
              <a:spLocks noChangeShapeType="1"/>
            </p:cNvSpPr>
            <p:nvPr/>
          </p:nvSpPr>
          <p:spPr bwMode="auto">
            <a:xfrm>
              <a:off x="684461" y="5085184"/>
              <a:ext cx="367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365"/>
            <p:cNvSpPr>
              <a:spLocks noChangeShapeType="1"/>
            </p:cNvSpPr>
            <p:nvPr/>
          </p:nvSpPr>
          <p:spPr bwMode="auto">
            <a:xfrm>
              <a:off x="539552" y="5229200"/>
              <a:ext cx="396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366"/>
            <p:cNvSpPr>
              <a:spLocks noChangeShapeType="1"/>
            </p:cNvSpPr>
            <p:nvPr/>
          </p:nvSpPr>
          <p:spPr bwMode="auto">
            <a:xfrm>
              <a:off x="684958" y="4796829"/>
              <a:ext cx="1588" cy="288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367"/>
            <p:cNvSpPr>
              <a:spLocks noChangeShapeType="1"/>
            </p:cNvSpPr>
            <p:nvPr/>
          </p:nvSpPr>
          <p:spPr bwMode="auto">
            <a:xfrm>
              <a:off x="684957" y="4796259"/>
              <a:ext cx="21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368"/>
            <p:cNvSpPr>
              <a:spLocks noChangeShapeType="1"/>
            </p:cNvSpPr>
            <p:nvPr/>
          </p:nvSpPr>
          <p:spPr bwMode="auto">
            <a:xfrm>
              <a:off x="540942" y="4005361"/>
              <a:ext cx="1588" cy="1224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369"/>
            <p:cNvSpPr>
              <a:spLocks noChangeShapeType="1"/>
            </p:cNvSpPr>
            <p:nvPr/>
          </p:nvSpPr>
          <p:spPr bwMode="auto">
            <a:xfrm>
              <a:off x="540941" y="4005064"/>
              <a:ext cx="36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Text Box 376"/>
            <p:cNvSpPr txBox="1">
              <a:spLocks noChangeArrowheads="1"/>
            </p:cNvSpPr>
            <p:nvPr/>
          </p:nvSpPr>
          <p:spPr bwMode="auto">
            <a:xfrm>
              <a:off x="901046" y="3860155"/>
              <a:ext cx="576000" cy="288925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2222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/>
              <a:r>
                <a:rPr lang="en-US" altLang="zh-CN" sz="1800" b="1" dirty="0">
                  <a:latin typeface="+mn-ea"/>
                  <a:ea typeface="+mn-ea"/>
                </a:rPr>
                <a:t>CU</a:t>
              </a:r>
              <a:r>
                <a:rPr lang="en-US" altLang="zh-CN" sz="18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144" name="Text Box 377"/>
            <p:cNvSpPr txBox="1">
              <a:spLocks noChangeArrowheads="1"/>
            </p:cNvSpPr>
            <p:nvPr/>
          </p:nvSpPr>
          <p:spPr bwMode="auto">
            <a:xfrm>
              <a:off x="901046" y="4652243"/>
              <a:ext cx="576000" cy="288925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2222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/>
              <a:r>
                <a:rPr lang="en-US" altLang="zh-CN" sz="1800" b="1" dirty="0" err="1">
                  <a:latin typeface="+mn-ea"/>
                  <a:ea typeface="+mn-ea"/>
                </a:rPr>
                <a:t>CU</a:t>
              </a:r>
              <a:r>
                <a:rPr lang="en-US" altLang="zh-CN" sz="1800" i="1" dirty="0" err="1">
                  <a:latin typeface="+mn-lt"/>
                  <a:ea typeface="+mn-ea"/>
                </a:rPr>
                <a:t>n</a:t>
              </a:r>
              <a:endParaRPr lang="en-US" altLang="zh-CN" sz="1800" i="1" dirty="0">
                <a:latin typeface="+mn-lt"/>
                <a:ea typeface="+mn-ea"/>
              </a:endParaRPr>
            </a:p>
          </p:txBody>
        </p:sp>
        <p:sp>
          <p:nvSpPr>
            <p:cNvPr id="145" name="Text Box 291"/>
            <p:cNvSpPr txBox="1">
              <a:spLocks noChangeArrowheads="1"/>
            </p:cNvSpPr>
            <p:nvPr/>
          </p:nvSpPr>
          <p:spPr bwMode="auto">
            <a:xfrm>
              <a:off x="2123405" y="4221112"/>
              <a:ext cx="360363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>
              <a:noAutofit/>
            </a:bodyPr>
            <a:lstStyle/>
            <a:p>
              <a:pPr algn="ctr"/>
              <a:r>
                <a:rPr lang="en-US" altLang="zh-CN" sz="1800" b="1" dirty="0"/>
                <a:t>…</a:t>
              </a:r>
            </a:p>
          </p:txBody>
        </p:sp>
        <p:sp>
          <p:nvSpPr>
            <p:cNvPr id="146" name="Rectangle 294"/>
            <p:cNvSpPr>
              <a:spLocks noChangeArrowheads="1"/>
            </p:cNvSpPr>
            <p:nvPr/>
          </p:nvSpPr>
          <p:spPr bwMode="auto">
            <a:xfrm>
              <a:off x="3204344" y="3789168"/>
              <a:ext cx="863600" cy="11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tIns="10800" bIns="10800" anchor="ctr"/>
            <a:lstStyle/>
            <a:p>
              <a:endParaRPr lang="zh-CN" altLang="en-US"/>
            </a:p>
          </p:txBody>
        </p:sp>
        <p:sp>
          <p:nvSpPr>
            <p:cNvPr id="147" name="Text Box 295"/>
            <p:cNvSpPr txBox="1">
              <a:spLocks noChangeArrowheads="1"/>
            </p:cNvSpPr>
            <p:nvPr/>
          </p:nvSpPr>
          <p:spPr bwMode="auto">
            <a:xfrm>
              <a:off x="2701827" y="3789168"/>
              <a:ext cx="4318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DS1</a:t>
              </a:r>
            </a:p>
          </p:txBody>
        </p:sp>
        <p:sp>
          <p:nvSpPr>
            <p:cNvPr id="148" name="Line 296"/>
            <p:cNvSpPr>
              <a:spLocks noChangeShapeType="1"/>
            </p:cNvSpPr>
            <p:nvPr/>
          </p:nvSpPr>
          <p:spPr bwMode="auto">
            <a:xfrm flipH="1">
              <a:off x="2630389" y="4005068"/>
              <a:ext cx="576263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49" name="Text Box 301"/>
            <p:cNvSpPr txBox="1">
              <a:spLocks noChangeArrowheads="1"/>
            </p:cNvSpPr>
            <p:nvPr/>
          </p:nvSpPr>
          <p:spPr bwMode="auto">
            <a:xfrm>
              <a:off x="1981102" y="4652446"/>
              <a:ext cx="612775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  <a:ea typeface="+mn-ea"/>
                </a:rPr>
                <a:t>PU</a:t>
              </a:r>
              <a:r>
                <a:rPr lang="en-US" altLang="zh-CN" sz="1800" i="1" dirty="0" err="1">
                  <a:latin typeface="+mn-lt"/>
                  <a:ea typeface="+mn-ea"/>
                </a:rPr>
                <a:t>n</a:t>
              </a:r>
              <a:endParaRPr lang="en-US" altLang="zh-CN" sz="1800" i="1" dirty="0">
                <a:latin typeface="+mn-lt"/>
                <a:ea typeface="+mn-ea"/>
              </a:endParaRPr>
            </a:p>
          </p:txBody>
        </p:sp>
        <p:sp>
          <p:nvSpPr>
            <p:cNvPr id="150" name="Text Box 302"/>
            <p:cNvSpPr txBox="1">
              <a:spLocks noChangeArrowheads="1"/>
            </p:cNvSpPr>
            <p:nvPr/>
          </p:nvSpPr>
          <p:spPr bwMode="auto">
            <a:xfrm>
              <a:off x="2701827" y="4581008"/>
              <a:ext cx="4318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>
                  <a:latin typeface="+mn-ea"/>
                  <a:ea typeface="+mn-ea"/>
                </a:rPr>
                <a:t>DS</a:t>
              </a:r>
              <a:r>
                <a:rPr lang="en-US" altLang="zh-CN" sz="1600" i="1" dirty="0" err="1">
                  <a:latin typeface="+mn-lt"/>
                  <a:ea typeface="+mn-ea"/>
                </a:rPr>
                <a:t>n</a:t>
              </a:r>
              <a:endParaRPr lang="en-US" altLang="zh-CN" sz="1600" i="1" dirty="0">
                <a:latin typeface="+mn-lt"/>
                <a:ea typeface="+mn-ea"/>
              </a:endParaRPr>
            </a:p>
          </p:txBody>
        </p:sp>
        <p:sp>
          <p:nvSpPr>
            <p:cNvPr id="151" name="Line 303"/>
            <p:cNvSpPr>
              <a:spLocks noChangeShapeType="1"/>
            </p:cNvSpPr>
            <p:nvPr/>
          </p:nvSpPr>
          <p:spPr bwMode="auto">
            <a:xfrm>
              <a:off x="2587527" y="4796908"/>
              <a:ext cx="6175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52" name="Text Box 311"/>
            <p:cNvSpPr txBox="1">
              <a:spLocks noChangeArrowheads="1"/>
            </p:cNvSpPr>
            <p:nvPr/>
          </p:nvSpPr>
          <p:spPr bwMode="auto">
            <a:xfrm>
              <a:off x="1981771" y="3861742"/>
              <a:ext cx="648000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PU</a:t>
              </a:r>
              <a:r>
                <a:rPr lang="en-US" altLang="zh-CN" sz="18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153" name="Text Box 380"/>
            <p:cNvSpPr txBox="1">
              <a:spLocks noChangeArrowheads="1"/>
            </p:cNvSpPr>
            <p:nvPr/>
          </p:nvSpPr>
          <p:spPr bwMode="auto">
            <a:xfrm>
              <a:off x="3276502" y="4581097"/>
              <a:ext cx="720725" cy="2873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  <a:ea typeface="+mn-ea"/>
                </a:rPr>
                <a:t>MEM</a:t>
              </a:r>
              <a:r>
                <a:rPr lang="en-US" altLang="zh-CN" sz="1800" i="1" dirty="0" err="1">
                  <a:latin typeface="+mn-lt"/>
                  <a:ea typeface="+mn-ea"/>
                </a:rPr>
                <a:t>m</a:t>
              </a:r>
              <a:endParaRPr lang="en-US" altLang="zh-CN" sz="1800" i="1" dirty="0">
                <a:latin typeface="+mn-lt"/>
                <a:ea typeface="+mn-ea"/>
              </a:endParaRPr>
            </a:p>
          </p:txBody>
        </p:sp>
        <p:sp>
          <p:nvSpPr>
            <p:cNvPr id="154" name="Text Box 382"/>
            <p:cNvSpPr txBox="1">
              <a:spLocks noChangeArrowheads="1"/>
            </p:cNvSpPr>
            <p:nvPr/>
          </p:nvSpPr>
          <p:spPr bwMode="auto">
            <a:xfrm>
              <a:off x="3276502" y="3860606"/>
              <a:ext cx="720725" cy="2873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MEM</a:t>
              </a:r>
              <a:r>
                <a:rPr lang="en-US" altLang="zh-CN" sz="18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155" name="Text Box 291"/>
            <p:cNvSpPr txBox="1">
              <a:spLocks noChangeArrowheads="1"/>
            </p:cNvSpPr>
            <p:nvPr/>
          </p:nvSpPr>
          <p:spPr bwMode="auto">
            <a:xfrm rot="5400000">
              <a:off x="3530128" y="4257277"/>
              <a:ext cx="360363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>
              <a:noAutofit/>
            </a:bodyPr>
            <a:lstStyle/>
            <a:p>
              <a:pPr algn="ctr"/>
              <a:r>
                <a:rPr lang="en-US" altLang="zh-CN" sz="1800" b="1" dirty="0"/>
                <a:t>…</a:t>
              </a:r>
            </a:p>
          </p:txBody>
        </p:sp>
        <p:sp>
          <p:nvSpPr>
            <p:cNvPr id="156" name="Text Box 291"/>
            <p:cNvSpPr txBox="1">
              <a:spLocks noChangeArrowheads="1"/>
            </p:cNvSpPr>
            <p:nvPr/>
          </p:nvSpPr>
          <p:spPr bwMode="auto">
            <a:xfrm rot="5400000">
              <a:off x="1080494" y="4257277"/>
              <a:ext cx="360363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>
              <a:noAutofit/>
            </a:bodyPr>
            <a:lstStyle/>
            <a:p>
              <a:pPr algn="ctr"/>
              <a:r>
                <a:rPr lang="en-US" altLang="zh-CN" sz="1800" b="1" dirty="0"/>
                <a:t>…</a:t>
              </a:r>
            </a:p>
          </p:txBody>
        </p:sp>
        <p:sp>
          <p:nvSpPr>
            <p:cNvPr id="157" name="Text Box 351"/>
            <p:cNvSpPr txBox="1">
              <a:spLocks noChangeArrowheads="1"/>
            </p:cNvSpPr>
            <p:nvPr/>
          </p:nvSpPr>
          <p:spPr bwMode="auto">
            <a:xfrm>
              <a:off x="4141382" y="3789040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600" dirty="0">
                  <a:latin typeface="+mn-ea"/>
                  <a:ea typeface="+mn-ea"/>
                </a:rPr>
                <a:t>IS1</a:t>
              </a:r>
            </a:p>
          </p:txBody>
        </p:sp>
        <p:sp>
          <p:nvSpPr>
            <p:cNvPr id="158" name="Text Box 358"/>
            <p:cNvSpPr txBox="1">
              <a:spLocks noChangeArrowheads="1"/>
            </p:cNvSpPr>
            <p:nvPr/>
          </p:nvSpPr>
          <p:spPr bwMode="auto">
            <a:xfrm>
              <a:off x="4141382" y="4509096"/>
              <a:ext cx="360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600" dirty="0" err="1">
                  <a:latin typeface="+mn-ea"/>
                  <a:ea typeface="+mn-ea"/>
                </a:rPr>
                <a:t>IS</a:t>
              </a:r>
              <a:r>
                <a:rPr lang="en-US" altLang="zh-CN" sz="1600" i="1" dirty="0" err="1">
                  <a:latin typeface="+mn-lt"/>
                  <a:ea typeface="+mn-ea"/>
                </a:rPr>
                <a:t>n</a:t>
              </a:r>
              <a:endParaRPr lang="en-US" altLang="zh-CN" sz="1600" i="1" dirty="0">
                <a:latin typeface="+mn-lt"/>
                <a:ea typeface="+mn-ea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9004" y="1268075"/>
            <a:ext cx="3816945" cy="1728877"/>
            <a:chOff x="467916" y="1340768"/>
            <a:chExt cx="3816945" cy="1728877"/>
          </a:xfrm>
        </p:grpSpPr>
        <p:sp>
          <p:nvSpPr>
            <p:cNvPr id="178451" name="Text Box 275"/>
            <p:cNvSpPr txBox="1">
              <a:spLocks noChangeArrowheads="1"/>
            </p:cNvSpPr>
            <p:nvPr/>
          </p:nvSpPr>
          <p:spPr bwMode="auto">
            <a:xfrm>
              <a:off x="900932" y="2782307"/>
              <a:ext cx="2735264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>
                  <a:latin typeface="+mn-ea"/>
                  <a:ea typeface="+mn-ea"/>
                </a:rPr>
                <a:t>SISD</a:t>
              </a:r>
              <a:r>
                <a:rPr lang="zh-CN" altLang="en-US" sz="1800" b="1" dirty="0">
                  <a:latin typeface="+mn-ea"/>
                  <a:ea typeface="+mn-ea"/>
                </a:rPr>
                <a:t>结构</a:t>
              </a:r>
              <a:r>
                <a:rPr lang="en-US" altLang="zh-CN" sz="1800" b="1" dirty="0">
                  <a:latin typeface="+mn-ea"/>
                  <a:ea typeface="+mn-ea"/>
                </a:rPr>
                <a:t>(</a:t>
              </a:r>
              <a:r>
                <a:rPr lang="zh-CN" altLang="en-US" sz="1800" b="1" dirty="0">
                  <a:latin typeface="+mn-ea"/>
                  <a:ea typeface="+mn-ea"/>
                </a:rPr>
                <a:t>串行处理机</a:t>
              </a:r>
              <a:r>
                <a:rPr lang="en-US" altLang="zh-CN" sz="1800" b="1" dirty="0">
                  <a:latin typeface="+mn-ea"/>
                  <a:ea typeface="+mn-ea"/>
                </a:rPr>
                <a:t>)</a:t>
              </a:r>
            </a:p>
          </p:txBody>
        </p:sp>
        <p:sp>
          <p:nvSpPr>
            <p:cNvPr id="178452" name="Text Box 276"/>
            <p:cNvSpPr txBox="1">
              <a:spLocks noChangeArrowheads="1"/>
            </p:cNvSpPr>
            <p:nvPr/>
          </p:nvSpPr>
          <p:spPr bwMode="auto">
            <a:xfrm>
              <a:off x="827907" y="2133020"/>
              <a:ext cx="647700" cy="287338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CU</a:t>
              </a:r>
            </a:p>
          </p:txBody>
        </p:sp>
        <p:sp>
          <p:nvSpPr>
            <p:cNvPr id="178453" name="Text Box 277"/>
            <p:cNvSpPr txBox="1">
              <a:spLocks noChangeArrowheads="1"/>
            </p:cNvSpPr>
            <p:nvPr/>
          </p:nvSpPr>
          <p:spPr bwMode="auto">
            <a:xfrm>
              <a:off x="3275834" y="2133020"/>
              <a:ext cx="720725" cy="287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MEM</a:t>
              </a:r>
            </a:p>
          </p:txBody>
        </p:sp>
        <p:sp>
          <p:nvSpPr>
            <p:cNvPr id="178454" name="Text Box 278"/>
            <p:cNvSpPr txBox="1">
              <a:spLocks noChangeArrowheads="1"/>
            </p:cNvSpPr>
            <p:nvPr/>
          </p:nvSpPr>
          <p:spPr bwMode="auto">
            <a:xfrm>
              <a:off x="1477195" y="2061582"/>
              <a:ext cx="4318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IS</a:t>
              </a:r>
            </a:p>
          </p:txBody>
        </p:sp>
        <p:sp>
          <p:nvSpPr>
            <p:cNvPr id="178455" name="Line 279"/>
            <p:cNvSpPr>
              <a:spLocks noChangeShapeType="1"/>
            </p:cNvSpPr>
            <p:nvPr/>
          </p:nvSpPr>
          <p:spPr bwMode="auto">
            <a:xfrm>
              <a:off x="1477195" y="2277482"/>
              <a:ext cx="503238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78456" name="Text Box 280"/>
            <p:cNvSpPr txBox="1">
              <a:spLocks noChangeArrowheads="1"/>
            </p:cNvSpPr>
            <p:nvPr/>
          </p:nvSpPr>
          <p:spPr bwMode="auto">
            <a:xfrm>
              <a:off x="2115371" y="2493382"/>
              <a:ext cx="287338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IS</a:t>
              </a:r>
            </a:p>
          </p:txBody>
        </p:sp>
        <p:sp>
          <p:nvSpPr>
            <p:cNvPr id="178457" name="Text Box 281"/>
            <p:cNvSpPr txBox="1">
              <a:spLocks noChangeArrowheads="1"/>
            </p:cNvSpPr>
            <p:nvPr/>
          </p:nvSpPr>
          <p:spPr bwMode="auto">
            <a:xfrm>
              <a:off x="1980433" y="2133020"/>
              <a:ext cx="647700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PU</a:t>
              </a:r>
            </a:p>
          </p:txBody>
        </p:sp>
        <p:sp>
          <p:nvSpPr>
            <p:cNvPr id="178458" name="Text Box 282"/>
            <p:cNvSpPr txBox="1">
              <a:spLocks noChangeArrowheads="1"/>
            </p:cNvSpPr>
            <p:nvPr/>
          </p:nvSpPr>
          <p:spPr bwMode="auto">
            <a:xfrm>
              <a:off x="2701158" y="2061582"/>
              <a:ext cx="4318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DS</a:t>
              </a:r>
            </a:p>
          </p:txBody>
        </p:sp>
        <p:sp>
          <p:nvSpPr>
            <p:cNvPr id="178459" name="Line 283"/>
            <p:cNvSpPr>
              <a:spLocks noChangeShapeType="1"/>
            </p:cNvSpPr>
            <p:nvPr/>
          </p:nvSpPr>
          <p:spPr bwMode="auto">
            <a:xfrm>
              <a:off x="2629721" y="2277482"/>
              <a:ext cx="6477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78460" name="Line 284"/>
            <p:cNvSpPr>
              <a:spLocks noChangeShapeType="1"/>
            </p:cNvSpPr>
            <p:nvPr/>
          </p:nvSpPr>
          <p:spPr bwMode="auto">
            <a:xfrm>
              <a:off x="538982" y="2709282"/>
              <a:ext cx="3743327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461" name="Line 285"/>
            <p:cNvSpPr>
              <a:spLocks noChangeShapeType="1"/>
            </p:cNvSpPr>
            <p:nvPr/>
          </p:nvSpPr>
          <p:spPr bwMode="auto">
            <a:xfrm>
              <a:off x="538982" y="2277482"/>
              <a:ext cx="0" cy="4318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462" name="Line 286"/>
            <p:cNvSpPr>
              <a:spLocks noChangeShapeType="1"/>
            </p:cNvSpPr>
            <p:nvPr/>
          </p:nvSpPr>
          <p:spPr bwMode="auto">
            <a:xfrm>
              <a:off x="538982" y="2277482"/>
              <a:ext cx="28892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463" name="Line 287"/>
            <p:cNvSpPr>
              <a:spLocks noChangeShapeType="1"/>
            </p:cNvSpPr>
            <p:nvPr/>
          </p:nvSpPr>
          <p:spPr bwMode="auto">
            <a:xfrm>
              <a:off x="4283897" y="2277482"/>
              <a:ext cx="0" cy="4318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Text Box 280"/>
            <p:cNvSpPr txBox="1">
              <a:spLocks noChangeArrowheads="1"/>
            </p:cNvSpPr>
            <p:nvPr/>
          </p:nvSpPr>
          <p:spPr bwMode="auto">
            <a:xfrm>
              <a:off x="467916" y="1340768"/>
              <a:ext cx="3600000" cy="64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/>
                <a:t>注：</a:t>
              </a:r>
              <a:r>
                <a:rPr lang="en-US" altLang="zh-CN" sz="1800" b="1" baseline="-25000" dirty="0"/>
                <a:t> </a:t>
              </a:r>
              <a:r>
                <a:rPr lang="en-US" altLang="zh-CN" sz="1800" dirty="0"/>
                <a:t>IS</a:t>
              </a:r>
              <a:r>
                <a:rPr lang="en-US" altLang="zh-CN" sz="1800" b="1" dirty="0"/>
                <a:t>—</a:t>
              </a:r>
              <a:r>
                <a:rPr lang="zh-CN" altLang="en-US" sz="1800" b="1" dirty="0"/>
                <a:t>指令流</a:t>
              </a:r>
              <a:r>
                <a:rPr lang="en-US" altLang="zh-CN" sz="1800" b="1" dirty="0">
                  <a:latin typeface="+mn-ea"/>
                  <a:ea typeface="+mn-ea"/>
                </a:rPr>
                <a:t>(</a:t>
              </a:r>
              <a:r>
                <a:rPr lang="en-US" altLang="zh-CN" sz="1800" dirty="0"/>
                <a:t>Instruction Stream</a:t>
              </a:r>
              <a:r>
                <a:rPr lang="en-US" altLang="zh-CN" sz="1800" b="1" dirty="0">
                  <a:latin typeface="+mn-ea"/>
                  <a:ea typeface="+mn-ea"/>
                </a:rPr>
                <a:t>)</a:t>
              </a:r>
            </a:p>
            <a:p>
              <a:r>
                <a:rPr lang="en-US" altLang="zh-CN" sz="1800" b="1" dirty="0"/>
                <a:t>        </a:t>
              </a:r>
              <a:r>
                <a:rPr lang="en-US" altLang="zh-CN" sz="1800" dirty="0"/>
                <a:t>DS</a:t>
              </a:r>
              <a:r>
                <a:rPr lang="en-US" altLang="zh-CN" sz="1800" b="1" dirty="0"/>
                <a:t>—</a:t>
              </a:r>
              <a:r>
                <a:rPr lang="zh-CN" altLang="en-US" sz="1800" b="1" dirty="0"/>
                <a:t>数据流</a:t>
              </a:r>
              <a:r>
                <a:rPr lang="en-US" altLang="zh-CN" sz="1800" b="1" dirty="0">
                  <a:latin typeface="+mn-ea"/>
                  <a:ea typeface="+mn-ea"/>
                </a:rPr>
                <a:t>(</a:t>
              </a:r>
              <a:r>
                <a:rPr lang="en-US" altLang="zh-CN" sz="1800" dirty="0"/>
                <a:t>Data Stream</a:t>
              </a:r>
              <a:r>
                <a:rPr lang="en-US" altLang="zh-CN" sz="1800" b="1" dirty="0">
                  <a:latin typeface="+mn-ea"/>
                  <a:ea typeface="+mn-ea"/>
                </a:rPr>
                <a:t>)</a:t>
              </a:r>
            </a:p>
          </p:txBody>
        </p:sp>
        <p:sp>
          <p:nvSpPr>
            <p:cNvPr id="159" name="Line 362"/>
            <p:cNvSpPr>
              <a:spLocks noChangeShapeType="1"/>
            </p:cNvSpPr>
            <p:nvPr/>
          </p:nvSpPr>
          <p:spPr bwMode="auto">
            <a:xfrm>
              <a:off x="3995936" y="2276872"/>
              <a:ext cx="28892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001815" y="1340892"/>
            <a:ext cx="3746202" cy="1656060"/>
            <a:chOff x="5075163" y="1413585"/>
            <a:chExt cx="3746202" cy="1656060"/>
          </a:xfrm>
        </p:grpSpPr>
        <p:sp>
          <p:nvSpPr>
            <p:cNvPr id="178465" name="Text Box 289"/>
            <p:cNvSpPr txBox="1">
              <a:spLocks noChangeArrowheads="1"/>
            </p:cNvSpPr>
            <p:nvPr/>
          </p:nvSpPr>
          <p:spPr bwMode="auto">
            <a:xfrm>
              <a:off x="5509493" y="2781645"/>
              <a:ext cx="2808000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>
                  <a:latin typeface="+mn-ea"/>
                  <a:ea typeface="+mn-ea"/>
                </a:rPr>
                <a:t>SIMD</a:t>
              </a:r>
              <a:r>
                <a:rPr lang="zh-CN" altLang="en-US" sz="1800" b="1" dirty="0">
                  <a:latin typeface="+mn-ea"/>
                  <a:ea typeface="+mn-ea"/>
                </a:rPr>
                <a:t>结构</a:t>
              </a:r>
              <a:r>
                <a:rPr lang="en-US" altLang="zh-CN" sz="1800" b="1" dirty="0">
                  <a:latin typeface="+mn-ea"/>
                  <a:ea typeface="+mn-ea"/>
                </a:rPr>
                <a:t>(</a:t>
              </a:r>
              <a:r>
                <a:rPr lang="zh-CN" altLang="en-US" sz="1800" b="1" dirty="0">
                  <a:latin typeface="+mn-ea"/>
                  <a:ea typeface="+mn-ea"/>
                </a:rPr>
                <a:t>并行处理机</a:t>
              </a:r>
              <a:r>
                <a:rPr lang="en-US" altLang="zh-CN" sz="1800" b="1" dirty="0">
                  <a:latin typeface="+mn-ea"/>
                  <a:ea typeface="+mn-ea"/>
                </a:rPr>
                <a:t>)</a:t>
              </a:r>
            </a:p>
          </p:txBody>
        </p:sp>
        <p:sp>
          <p:nvSpPr>
            <p:cNvPr id="178466" name="Text Box 290"/>
            <p:cNvSpPr txBox="1">
              <a:spLocks noChangeArrowheads="1"/>
            </p:cNvSpPr>
            <p:nvPr/>
          </p:nvSpPr>
          <p:spPr bwMode="auto">
            <a:xfrm>
              <a:off x="5363889" y="1845509"/>
              <a:ext cx="576263" cy="287338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CU</a:t>
              </a:r>
            </a:p>
          </p:txBody>
        </p:sp>
        <p:sp>
          <p:nvSpPr>
            <p:cNvPr id="178467" name="Text Box 291"/>
            <p:cNvSpPr txBox="1">
              <a:spLocks noChangeArrowheads="1"/>
            </p:cNvSpPr>
            <p:nvPr/>
          </p:nvSpPr>
          <p:spPr bwMode="auto">
            <a:xfrm rot="5400000">
              <a:off x="6613203" y="1810014"/>
              <a:ext cx="360363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>
              <a:noAutofit/>
            </a:bodyPr>
            <a:lstStyle/>
            <a:p>
              <a:pPr algn="ctr"/>
              <a:r>
                <a:rPr lang="en-US" altLang="zh-CN" sz="1800" b="1" dirty="0"/>
                <a:t>…</a:t>
              </a:r>
            </a:p>
          </p:txBody>
        </p:sp>
        <p:sp>
          <p:nvSpPr>
            <p:cNvPr id="178470" name="Rectangle 294"/>
            <p:cNvSpPr>
              <a:spLocks noChangeArrowheads="1"/>
            </p:cNvSpPr>
            <p:nvPr/>
          </p:nvSpPr>
          <p:spPr bwMode="auto">
            <a:xfrm>
              <a:off x="7668890" y="1413620"/>
              <a:ext cx="863600" cy="11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tIns="10800" bIns="10800" anchor="ctr"/>
            <a:lstStyle/>
            <a:p>
              <a:endParaRPr lang="zh-CN" altLang="en-US"/>
            </a:p>
          </p:txBody>
        </p:sp>
        <p:sp>
          <p:nvSpPr>
            <p:cNvPr id="178471" name="Text Box 295"/>
            <p:cNvSpPr txBox="1">
              <a:spLocks noChangeArrowheads="1"/>
            </p:cNvSpPr>
            <p:nvPr/>
          </p:nvSpPr>
          <p:spPr bwMode="auto">
            <a:xfrm>
              <a:off x="7165653" y="1413585"/>
              <a:ext cx="4318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DS1</a:t>
              </a:r>
            </a:p>
          </p:txBody>
        </p:sp>
        <p:sp>
          <p:nvSpPr>
            <p:cNvPr id="178472" name="Line 296"/>
            <p:cNvSpPr>
              <a:spLocks noChangeShapeType="1"/>
            </p:cNvSpPr>
            <p:nvPr/>
          </p:nvSpPr>
          <p:spPr bwMode="auto">
            <a:xfrm flipH="1">
              <a:off x="7094215" y="1629485"/>
              <a:ext cx="576263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78473" name="Text Box 297"/>
            <p:cNvSpPr txBox="1">
              <a:spLocks noChangeArrowheads="1"/>
            </p:cNvSpPr>
            <p:nvPr/>
          </p:nvSpPr>
          <p:spPr bwMode="auto">
            <a:xfrm>
              <a:off x="6014243" y="1773501"/>
              <a:ext cx="287338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IS</a:t>
              </a:r>
            </a:p>
          </p:txBody>
        </p:sp>
        <p:sp>
          <p:nvSpPr>
            <p:cNvPr id="178474" name="Line 298"/>
            <p:cNvSpPr>
              <a:spLocks noChangeShapeType="1"/>
            </p:cNvSpPr>
            <p:nvPr/>
          </p:nvSpPr>
          <p:spPr bwMode="auto">
            <a:xfrm>
              <a:off x="5940216" y="1989525"/>
              <a:ext cx="50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78475" name="Text Box 299"/>
            <p:cNvSpPr txBox="1">
              <a:spLocks noChangeArrowheads="1"/>
            </p:cNvSpPr>
            <p:nvPr/>
          </p:nvSpPr>
          <p:spPr bwMode="auto">
            <a:xfrm>
              <a:off x="5438179" y="2493581"/>
              <a:ext cx="287338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IS</a:t>
              </a:r>
            </a:p>
          </p:txBody>
        </p:sp>
        <p:sp>
          <p:nvSpPr>
            <p:cNvPr id="178477" name="Text Box 301"/>
            <p:cNvSpPr txBox="1">
              <a:spLocks noChangeArrowheads="1"/>
            </p:cNvSpPr>
            <p:nvPr/>
          </p:nvSpPr>
          <p:spPr bwMode="auto">
            <a:xfrm>
              <a:off x="6444928" y="2206243"/>
              <a:ext cx="612775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  <a:ea typeface="+mn-ea"/>
                </a:rPr>
                <a:t>PU</a:t>
              </a:r>
              <a:r>
                <a:rPr lang="en-US" altLang="zh-CN" sz="1800" i="1" dirty="0" err="1">
                  <a:latin typeface="+mn-lt"/>
                  <a:ea typeface="+mn-ea"/>
                </a:rPr>
                <a:t>n</a:t>
              </a:r>
              <a:endParaRPr lang="en-US" altLang="zh-CN" sz="1800" i="1" dirty="0">
                <a:latin typeface="+mn-lt"/>
                <a:ea typeface="+mn-ea"/>
              </a:endParaRPr>
            </a:p>
          </p:txBody>
        </p:sp>
        <p:sp>
          <p:nvSpPr>
            <p:cNvPr id="178478" name="Text Box 302"/>
            <p:cNvSpPr txBox="1">
              <a:spLocks noChangeArrowheads="1"/>
            </p:cNvSpPr>
            <p:nvPr/>
          </p:nvSpPr>
          <p:spPr bwMode="auto">
            <a:xfrm>
              <a:off x="7165653" y="2134345"/>
              <a:ext cx="431800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>
                  <a:latin typeface="+mn-ea"/>
                  <a:ea typeface="+mn-ea"/>
                </a:rPr>
                <a:t>DS</a:t>
              </a:r>
              <a:r>
                <a:rPr lang="en-US" altLang="zh-CN" sz="1600" i="1" dirty="0" err="1">
                  <a:latin typeface="+mn-lt"/>
                  <a:ea typeface="+mn-ea"/>
                </a:rPr>
                <a:t>n</a:t>
              </a:r>
              <a:endParaRPr lang="en-US" altLang="zh-CN" sz="1600" i="1" dirty="0">
                <a:latin typeface="+mn-lt"/>
                <a:ea typeface="+mn-ea"/>
              </a:endParaRPr>
            </a:p>
          </p:txBody>
        </p:sp>
        <p:sp>
          <p:nvSpPr>
            <p:cNvPr id="178479" name="Line 303"/>
            <p:cNvSpPr>
              <a:spLocks noChangeShapeType="1"/>
            </p:cNvSpPr>
            <p:nvPr/>
          </p:nvSpPr>
          <p:spPr bwMode="auto">
            <a:xfrm>
              <a:off x="7051353" y="2350245"/>
              <a:ext cx="617538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78480" name="Line 304"/>
            <p:cNvSpPr>
              <a:spLocks noChangeShapeType="1"/>
            </p:cNvSpPr>
            <p:nvPr/>
          </p:nvSpPr>
          <p:spPr bwMode="auto">
            <a:xfrm>
              <a:off x="6301597" y="2349565"/>
              <a:ext cx="1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 tIns="10800" bIns="10800"/>
            <a:lstStyle/>
            <a:p>
              <a:endParaRPr lang="zh-CN" altLang="en-US"/>
            </a:p>
          </p:txBody>
        </p:sp>
        <p:sp>
          <p:nvSpPr>
            <p:cNvPr id="178481" name="Line 305"/>
            <p:cNvSpPr>
              <a:spLocks noChangeShapeType="1"/>
            </p:cNvSpPr>
            <p:nvPr/>
          </p:nvSpPr>
          <p:spPr bwMode="auto">
            <a:xfrm>
              <a:off x="5075758" y="2709605"/>
              <a:ext cx="37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482" name="Line 306"/>
            <p:cNvSpPr>
              <a:spLocks noChangeShapeType="1"/>
            </p:cNvSpPr>
            <p:nvPr/>
          </p:nvSpPr>
          <p:spPr bwMode="auto">
            <a:xfrm>
              <a:off x="6301597" y="1629485"/>
              <a:ext cx="14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483" name="Line 307"/>
            <p:cNvSpPr>
              <a:spLocks noChangeShapeType="1"/>
            </p:cNvSpPr>
            <p:nvPr/>
          </p:nvSpPr>
          <p:spPr bwMode="auto">
            <a:xfrm>
              <a:off x="5076056" y="1989525"/>
              <a:ext cx="0" cy="72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484" name="Line 308"/>
            <p:cNvSpPr>
              <a:spLocks noChangeShapeType="1"/>
            </p:cNvSpPr>
            <p:nvPr/>
          </p:nvSpPr>
          <p:spPr bwMode="auto">
            <a:xfrm>
              <a:off x="5075163" y="1989525"/>
              <a:ext cx="28892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485" name="Line 309"/>
            <p:cNvSpPr>
              <a:spLocks noChangeShapeType="1"/>
            </p:cNvSpPr>
            <p:nvPr/>
          </p:nvSpPr>
          <p:spPr bwMode="auto">
            <a:xfrm>
              <a:off x="6301581" y="1629565"/>
              <a:ext cx="0" cy="72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487" name="Text Box 311"/>
            <p:cNvSpPr txBox="1">
              <a:spLocks noChangeArrowheads="1"/>
            </p:cNvSpPr>
            <p:nvPr/>
          </p:nvSpPr>
          <p:spPr bwMode="auto">
            <a:xfrm>
              <a:off x="6445597" y="1485469"/>
              <a:ext cx="648000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PU</a:t>
              </a:r>
              <a:r>
                <a:rPr lang="en-US" altLang="zh-CN" sz="18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178556" name="Text Box 380"/>
            <p:cNvSpPr txBox="1">
              <a:spLocks noChangeArrowheads="1"/>
            </p:cNvSpPr>
            <p:nvPr/>
          </p:nvSpPr>
          <p:spPr bwMode="auto">
            <a:xfrm>
              <a:off x="7740328" y="2205549"/>
              <a:ext cx="720725" cy="2873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err="1">
                  <a:latin typeface="+mn-ea"/>
                  <a:ea typeface="+mn-ea"/>
                </a:rPr>
                <a:t>MEM</a:t>
              </a:r>
              <a:r>
                <a:rPr lang="en-US" altLang="zh-CN" sz="1800" i="1" dirty="0" err="1">
                  <a:latin typeface="+mn-lt"/>
                  <a:ea typeface="+mn-ea"/>
                </a:rPr>
                <a:t>m</a:t>
              </a:r>
              <a:endParaRPr lang="en-US" altLang="zh-CN" sz="1800" i="1" dirty="0">
                <a:latin typeface="+mn-lt"/>
                <a:ea typeface="+mn-ea"/>
              </a:endParaRPr>
            </a:p>
          </p:txBody>
        </p:sp>
        <p:sp>
          <p:nvSpPr>
            <p:cNvPr id="178558" name="Text Box 382"/>
            <p:cNvSpPr txBox="1">
              <a:spLocks noChangeArrowheads="1"/>
            </p:cNvSpPr>
            <p:nvPr/>
          </p:nvSpPr>
          <p:spPr bwMode="auto">
            <a:xfrm>
              <a:off x="7740328" y="1485058"/>
              <a:ext cx="720725" cy="28733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MEM</a:t>
              </a:r>
              <a:r>
                <a:rPr lang="en-US" altLang="zh-CN" sz="18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178559" name="Line 383"/>
            <p:cNvSpPr>
              <a:spLocks noChangeShapeType="1"/>
            </p:cNvSpPr>
            <p:nvPr/>
          </p:nvSpPr>
          <p:spPr bwMode="auto">
            <a:xfrm>
              <a:off x="8820472" y="1988839"/>
              <a:ext cx="0" cy="72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Text Box 291"/>
            <p:cNvSpPr txBox="1">
              <a:spLocks noChangeArrowheads="1"/>
            </p:cNvSpPr>
            <p:nvPr/>
          </p:nvSpPr>
          <p:spPr bwMode="auto">
            <a:xfrm rot="5400000">
              <a:off x="7993954" y="1810014"/>
              <a:ext cx="360363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>
              <a:noAutofit/>
            </a:bodyPr>
            <a:lstStyle/>
            <a:p>
              <a:pPr algn="ctr"/>
              <a:r>
                <a:rPr lang="en-US" altLang="zh-CN" sz="1800" b="1" dirty="0"/>
                <a:t>…</a:t>
              </a:r>
            </a:p>
          </p:txBody>
        </p:sp>
        <p:sp>
          <p:nvSpPr>
            <p:cNvPr id="160" name="Line 362"/>
            <p:cNvSpPr>
              <a:spLocks noChangeShapeType="1"/>
            </p:cNvSpPr>
            <p:nvPr/>
          </p:nvSpPr>
          <p:spPr bwMode="auto">
            <a:xfrm>
              <a:off x="8532440" y="1988840"/>
              <a:ext cx="288925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102826" y="6381328"/>
            <a:ext cx="1040904" cy="360040"/>
          </a:xfrm>
        </p:spPr>
        <p:txBody>
          <a:bodyPr/>
          <a:lstStyle/>
          <a:p>
            <a:fld id="{D4956B0B-AB87-4307-BB1D-829EC9002D4F}" type="slidenum">
              <a:rPr lang="en-US" altLang="zh-CN" smtClean="0"/>
              <a:t>45</a:t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79388" y="303292"/>
            <a:ext cx="8857108" cy="57854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anchor="t" anchorCtr="0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b="1">
                <a:solidFill>
                  <a:srgbClr val="FF3399"/>
                </a:solidFill>
                <a:latin typeface="宋体" panose="02010600030101010101" pitchFamily="2" charset="-122"/>
              </a:defRPr>
            </a:lvl1pPr>
          </a:lstStyle>
          <a:p>
            <a:r>
              <a:rPr lang="en-US" altLang="zh-CN" sz="2200" dirty="0"/>
              <a:t>※</a:t>
            </a:r>
            <a:r>
              <a:rPr lang="zh-CN" altLang="en-US" sz="2200" dirty="0"/>
              <a:t>附</a:t>
            </a:r>
            <a:r>
              <a:rPr lang="en-US" altLang="zh-CN" sz="2200" dirty="0"/>
              <a:t>1</a:t>
            </a:r>
            <a:r>
              <a:rPr lang="zh-CN" altLang="en-US" sz="2200" dirty="0"/>
              <a:t>：课程内容的组织</a:t>
            </a:r>
            <a:endParaRPr lang="en-US" altLang="zh-CN" sz="2200" dirty="0"/>
          </a:p>
          <a:p>
            <a:r>
              <a:rPr lang="en-US" altLang="zh-CN" sz="2200" dirty="0">
                <a:solidFill>
                  <a:srgbClr val="C00000"/>
                </a:solidFill>
              </a:rPr>
              <a:t>  </a:t>
            </a:r>
            <a:r>
              <a:rPr lang="zh-CN" altLang="en-US" sz="2200" dirty="0">
                <a:solidFill>
                  <a:srgbClr val="C00000"/>
                </a:solidFill>
              </a:rPr>
              <a:t>第</a:t>
            </a:r>
            <a:r>
              <a:rPr lang="en-US" altLang="zh-CN" sz="2200" dirty="0">
                <a:solidFill>
                  <a:srgbClr val="C00000"/>
                </a:solidFill>
              </a:rPr>
              <a:t>1</a:t>
            </a:r>
            <a:r>
              <a:rPr lang="zh-CN" altLang="en-US" sz="2200" dirty="0">
                <a:solidFill>
                  <a:srgbClr val="C00000"/>
                </a:solidFill>
              </a:rPr>
              <a:t>章</a:t>
            </a:r>
            <a:r>
              <a:rPr lang="en-US" altLang="zh-CN" sz="2200" dirty="0">
                <a:solidFill>
                  <a:srgbClr val="C00000"/>
                </a:solidFill>
              </a:rPr>
              <a:t>—</a:t>
            </a:r>
            <a:r>
              <a:rPr lang="zh-CN" altLang="en-US" sz="2200" dirty="0">
                <a:solidFill>
                  <a:srgbClr val="C00000"/>
                </a:solidFill>
              </a:rPr>
              <a:t>计算机</a:t>
            </a:r>
            <a:r>
              <a:rPr lang="zh-CN" altLang="en-US" sz="2200" dirty="0">
                <a:solidFill>
                  <a:schemeClr val="tx1"/>
                </a:solidFill>
              </a:rPr>
              <a:t>的模型、硬件组成、工作过程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工作方式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、性能指标</a:t>
            </a: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endParaRPr lang="en-US" altLang="zh-CN" sz="2200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</a:pPr>
            <a:r>
              <a:rPr lang="en-US" altLang="zh-CN" sz="2200" dirty="0">
                <a:solidFill>
                  <a:srgbClr val="C00000"/>
                </a:solidFill>
              </a:rPr>
              <a:t>  </a:t>
            </a:r>
            <a:r>
              <a:rPr lang="zh-CN" altLang="en-US" sz="2200" dirty="0">
                <a:solidFill>
                  <a:srgbClr val="C00000"/>
                </a:solidFill>
              </a:rPr>
              <a:t>第</a:t>
            </a:r>
            <a:r>
              <a:rPr lang="en-US" altLang="zh-CN" sz="2200" dirty="0">
                <a:solidFill>
                  <a:srgbClr val="C00000"/>
                </a:solidFill>
              </a:rPr>
              <a:t>2</a:t>
            </a:r>
            <a:r>
              <a:rPr lang="zh-CN" altLang="en-US" sz="2200" dirty="0">
                <a:solidFill>
                  <a:srgbClr val="C00000"/>
                </a:solidFill>
              </a:rPr>
              <a:t>章</a:t>
            </a:r>
            <a:r>
              <a:rPr lang="en-US" altLang="zh-CN" sz="2200" dirty="0">
                <a:solidFill>
                  <a:srgbClr val="C00000"/>
                </a:solidFill>
              </a:rPr>
              <a:t>—</a:t>
            </a:r>
            <a:r>
              <a:rPr lang="zh-CN" altLang="en-US" sz="2200" dirty="0">
                <a:solidFill>
                  <a:srgbClr val="C00000"/>
                </a:solidFill>
              </a:rPr>
              <a:t>数据</a:t>
            </a:r>
            <a:r>
              <a:rPr lang="zh-CN" altLang="en-US" sz="2200" dirty="0">
                <a:solidFill>
                  <a:schemeClr val="tx1"/>
                </a:solidFill>
              </a:rPr>
              <a:t>的表示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含格式</a:t>
            </a:r>
            <a:r>
              <a:rPr lang="en-US" altLang="zh-CN" sz="1600" dirty="0">
                <a:solidFill>
                  <a:schemeClr val="tx1"/>
                </a:solidFill>
              </a:rPr>
              <a:t>/</a:t>
            </a:r>
            <a:r>
              <a:rPr lang="zh-CN" altLang="en-US" sz="1600" dirty="0">
                <a:solidFill>
                  <a:schemeClr val="tx1"/>
                </a:solidFill>
              </a:rPr>
              <a:t>编码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zh-CN" altLang="en-US" sz="2200" dirty="0">
                <a:solidFill>
                  <a:srgbClr val="C00000"/>
                </a:solidFill>
              </a:rPr>
              <a:t>运算</a:t>
            </a:r>
            <a:r>
              <a:rPr lang="zh-CN" altLang="en-US" sz="2200" dirty="0">
                <a:solidFill>
                  <a:schemeClr val="tx1"/>
                </a:solidFill>
              </a:rPr>
              <a:t>的组织，运算器的组成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2200" dirty="0">
                <a:solidFill>
                  <a:srgbClr val="C00000"/>
                </a:solidFill>
              </a:rPr>
              <a:t>  第</a:t>
            </a:r>
            <a:r>
              <a:rPr lang="en-US" altLang="zh-CN" sz="2200" dirty="0">
                <a:solidFill>
                  <a:srgbClr val="C00000"/>
                </a:solidFill>
              </a:rPr>
              <a:t>3</a:t>
            </a:r>
            <a:r>
              <a:rPr lang="zh-CN" altLang="en-US" sz="2200" dirty="0">
                <a:solidFill>
                  <a:srgbClr val="C00000"/>
                </a:solidFill>
              </a:rPr>
              <a:t>章</a:t>
            </a:r>
            <a:r>
              <a:rPr lang="en-US" altLang="zh-CN" sz="2200" dirty="0">
                <a:solidFill>
                  <a:srgbClr val="C00000"/>
                </a:solidFill>
              </a:rPr>
              <a:t>—</a:t>
            </a:r>
            <a:r>
              <a:rPr lang="zh-CN" altLang="en-US" sz="2200" dirty="0">
                <a:solidFill>
                  <a:srgbClr val="C00000"/>
                </a:solidFill>
              </a:rPr>
              <a:t>存储器</a:t>
            </a:r>
            <a:r>
              <a:rPr lang="zh-CN" altLang="en-US" sz="2200" dirty="0">
                <a:solidFill>
                  <a:schemeClr val="tx1"/>
                </a:solidFill>
              </a:rPr>
              <a:t>的结构，</a:t>
            </a:r>
            <a:r>
              <a:rPr lang="zh-CN" altLang="en-US" sz="2200" dirty="0">
                <a:solidFill>
                  <a:srgbClr val="000000"/>
                </a:solidFill>
              </a:rPr>
              <a:t>主存组成，</a:t>
            </a:r>
            <a:r>
              <a:rPr lang="en-US" altLang="zh-CN" sz="2200" dirty="0">
                <a:solidFill>
                  <a:srgbClr val="000000"/>
                </a:solidFill>
              </a:rPr>
              <a:t>Cache</a:t>
            </a:r>
            <a:r>
              <a:rPr lang="zh-CN" altLang="en-US" sz="2200" dirty="0">
                <a:solidFill>
                  <a:srgbClr val="000000"/>
                </a:solidFill>
              </a:rPr>
              <a:t>原理，虚存实现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 </a:t>
            </a:r>
            <a:r>
              <a:rPr lang="zh-CN" altLang="en-US" sz="2200" dirty="0">
                <a:solidFill>
                  <a:srgbClr val="C00000"/>
                </a:solidFill>
              </a:rPr>
              <a:t>第</a:t>
            </a:r>
            <a:r>
              <a:rPr lang="en-US" altLang="zh-CN" sz="2200" dirty="0">
                <a:solidFill>
                  <a:srgbClr val="C00000"/>
                </a:solidFill>
              </a:rPr>
              <a:t>4</a:t>
            </a:r>
            <a:r>
              <a:rPr lang="zh-CN" altLang="en-US" sz="2200" dirty="0">
                <a:solidFill>
                  <a:srgbClr val="C00000"/>
                </a:solidFill>
              </a:rPr>
              <a:t>章</a:t>
            </a:r>
            <a:r>
              <a:rPr lang="en-US" altLang="zh-CN" sz="2200" dirty="0">
                <a:solidFill>
                  <a:srgbClr val="C00000"/>
                </a:solidFill>
              </a:rPr>
              <a:t>—</a:t>
            </a:r>
            <a:r>
              <a:rPr lang="zh-CN" altLang="en-US" sz="2200" dirty="0">
                <a:solidFill>
                  <a:srgbClr val="C00000"/>
                </a:solidFill>
              </a:rPr>
              <a:t>指令</a:t>
            </a:r>
            <a:r>
              <a:rPr lang="zh-CN" altLang="en-US" sz="2200" dirty="0">
                <a:solidFill>
                  <a:schemeClr val="tx1"/>
                </a:solidFill>
              </a:rPr>
              <a:t>的表示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功能</a:t>
            </a:r>
            <a:r>
              <a:rPr lang="en-US" altLang="zh-CN" sz="1600" dirty="0">
                <a:solidFill>
                  <a:schemeClr val="tx1"/>
                </a:solidFill>
              </a:rPr>
              <a:t>-</a:t>
            </a:r>
            <a:r>
              <a:rPr lang="zh-CN" altLang="en-US" sz="1600" dirty="0">
                <a:solidFill>
                  <a:schemeClr val="tx1"/>
                </a:solidFill>
              </a:rPr>
              <a:t>格式约定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，操作数的寻址</a:t>
            </a:r>
            <a:r>
              <a:rPr lang="en-US" altLang="zh-CN" sz="1600" dirty="0">
                <a:solidFill>
                  <a:schemeClr val="tx1"/>
                </a:solidFill>
              </a:rPr>
              <a:t>(</a:t>
            </a:r>
            <a:r>
              <a:rPr lang="zh-CN" altLang="en-US" sz="1600" dirty="0">
                <a:solidFill>
                  <a:schemeClr val="tx1"/>
                </a:solidFill>
              </a:rPr>
              <a:t>存放</a:t>
            </a:r>
            <a:r>
              <a:rPr lang="en-US" altLang="zh-CN" sz="1600" dirty="0">
                <a:solidFill>
                  <a:schemeClr val="tx1"/>
                </a:solidFill>
              </a:rPr>
              <a:t>+</a:t>
            </a:r>
            <a:r>
              <a:rPr lang="zh-CN" altLang="en-US" sz="1600" dirty="0">
                <a:solidFill>
                  <a:schemeClr val="tx1"/>
                </a:solidFill>
              </a:rPr>
              <a:t>寻址方式</a:t>
            </a:r>
            <a:r>
              <a:rPr lang="en-US" altLang="zh-CN" sz="1600" dirty="0">
                <a:solidFill>
                  <a:schemeClr val="tx1"/>
                </a:solidFill>
              </a:rPr>
              <a:t>)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1701800" indent="-1701800"/>
            <a:r>
              <a:rPr lang="en-US" altLang="zh-CN" sz="2200" dirty="0">
                <a:solidFill>
                  <a:srgbClr val="C00000"/>
                </a:solidFill>
              </a:rPr>
              <a:t>  </a:t>
            </a:r>
            <a:r>
              <a:rPr lang="zh-CN" altLang="en-US" sz="2200" dirty="0">
                <a:solidFill>
                  <a:srgbClr val="C00000"/>
                </a:solidFill>
              </a:rPr>
              <a:t>第</a:t>
            </a:r>
            <a:r>
              <a:rPr lang="en-US" altLang="zh-CN" sz="2200" dirty="0">
                <a:solidFill>
                  <a:srgbClr val="C00000"/>
                </a:solidFill>
              </a:rPr>
              <a:t>5</a:t>
            </a:r>
            <a:r>
              <a:rPr lang="zh-CN" altLang="en-US" sz="2200" dirty="0">
                <a:solidFill>
                  <a:srgbClr val="C00000"/>
                </a:solidFill>
              </a:rPr>
              <a:t>章</a:t>
            </a:r>
            <a:r>
              <a:rPr lang="en-US" altLang="zh-CN" sz="2200" dirty="0">
                <a:solidFill>
                  <a:srgbClr val="C00000"/>
                </a:solidFill>
              </a:rPr>
              <a:t>—CPU</a:t>
            </a:r>
            <a:r>
              <a:rPr lang="zh-CN" altLang="en-US" sz="2200" dirty="0">
                <a:solidFill>
                  <a:srgbClr val="000000"/>
                </a:solidFill>
              </a:rPr>
              <a:t>的组成及工作流程，数据通路组织，控制器组成，异常及中断处理</a:t>
            </a:r>
            <a:r>
              <a:rPr lang="en-US" altLang="zh-CN" sz="1600" dirty="0">
                <a:solidFill>
                  <a:srgbClr val="000000"/>
                </a:solidFill>
              </a:rPr>
              <a:t>(</a:t>
            </a:r>
            <a:r>
              <a:rPr lang="zh-CN" altLang="en-US" sz="1600" dirty="0">
                <a:solidFill>
                  <a:srgbClr val="000000"/>
                </a:solidFill>
              </a:rPr>
              <a:t>中断机构</a:t>
            </a:r>
            <a:r>
              <a:rPr lang="en-US" altLang="zh-CN" sz="1600" dirty="0">
                <a:solidFill>
                  <a:srgbClr val="000000"/>
                </a:solidFill>
              </a:rPr>
              <a:t>)</a:t>
            </a:r>
            <a:r>
              <a:rPr lang="zh-CN" altLang="en-US" sz="2200" dirty="0">
                <a:solidFill>
                  <a:srgbClr val="000000"/>
                </a:solidFill>
              </a:rPr>
              <a:t>，指令流水线原理</a:t>
            </a:r>
            <a:endParaRPr lang="en-US" altLang="zh-CN" sz="2200" dirty="0">
              <a:solidFill>
                <a:srgbClr val="C00000"/>
              </a:solidFill>
            </a:endParaRPr>
          </a:p>
          <a:p>
            <a:r>
              <a:rPr lang="en-US" altLang="zh-CN" sz="2200" dirty="0">
                <a:solidFill>
                  <a:srgbClr val="C00000"/>
                </a:solidFill>
              </a:rPr>
              <a:t>  </a:t>
            </a:r>
            <a:r>
              <a:rPr lang="zh-CN" altLang="en-US" sz="2200" dirty="0">
                <a:solidFill>
                  <a:srgbClr val="C00000"/>
                </a:solidFill>
              </a:rPr>
              <a:t>第</a:t>
            </a:r>
            <a:r>
              <a:rPr lang="en-US" altLang="zh-CN" sz="2200" dirty="0">
                <a:solidFill>
                  <a:srgbClr val="C00000"/>
                </a:solidFill>
              </a:rPr>
              <a:t>6</a:t>
            </a:r>
            <a:r>
              <a:rPr lang="zh-CN" altLang="en-US" sz="2200" dirty="0">
                <a:solidFill>
                  <a:srgbClr val="C00000"/>
                </a:solidFill>
              </a:rPr>
              <a:t>章</a:t>
            </a:r>
            <a:r>
              <a:rPr lang="en-US" altLang="zh-CN" sz="2200" dirty="0">
                <a:solidFill>
                  <a:srgbClr val="C00000"/>
                </a:solidFill>
              </a:rPr>
              <a:t>—</a:t>
            </a:r>
            <a:r>
              <a:rPr lang="zh-CN" altLang="en-US" sz="2200" dirty="0">
                <a:solidFill>
                  <a:srgbClr val="C00000"/>
                </a:solidFill>
              </a:rPr>
              <a:t>总线</a:t>
            </a:r>
            <a:r>
              <a:rPr lang="zh-CN" altLang="en-US" sz="2200" dirty="0">
                <a:solidFill>
                  <a:srgbClr val="000000"/>
                </a:solidFill>
              </a:rPr>
              <a:t>的</a:t>
            </a:r>
            <a:r>
              <a:rPr lang="zh-CN" altLang="en-US" sz="2200" dirty="0">
                <a:solidFill>
                  <a:schemeClr val="tx1"/>
                </a:solidFill>
              </a:rPr>
              <a:t>操作</a:t>
            </a:r>
            <a:r>
              <a:rPr lang="zh-CN" altLang="en-US" sz="2200" dirty="0">
                <a:solidFill>
                  <a:srgbClr val="000000"/>
                </a:solidFill>
              </a:rPr>
              <a:t>过程，总线仲裁，总线传输与定时，总线结构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marL="2060575" indent="-2060575"/>
            <a:r>
              <a:rPr lang="en-US" altLang="zh-CN" sz="2200" dirty="0">
                <a:solidFill>
                  <a:srgbClr val="C00000"/>
                </a:solidFill>
              </a:rPr>
              <a:t>  </a:t>
            </a:r>
            <a:r>
              <a:rPr lang="zh-CN" altLang="en-US" sz="2200" dirty="0">
                <a:solidFill>
                  <a:srgbClr val="C00000"/>
                </a:solidFill>
              </a:rPr>
              <a:t>第</a:t>
            </a:r>
            <a:r>
              <a:rPr lang="en-US" altLang="zh-CN" sz="2200" dirty="0">
                <a:solidFill>
                  <a:srgbClr val="C00000"/>
                </a:solidFill>
              </a:rPr>
              <a:t>7</a:t>
            </a:r>
            <a:r>
              <a:rPr lang="zh-CN" altLang="en-US" sz="2200" dirty="0">
                <a:solidFill>
                  <a:srgbClr val="C00000"/>
                </a:solidFill>
              </a:rPr>
              <a:t>章</a:t>
            </a:r>
            <a:r>
              <a:rPr lang="en-US" altLang="zh-CN" sz="2200" dirty="0">
                <a:solidFill>
                  <a:srgbClr val="C00000"/>
                </a:solidFill>
              </a:rPr>
              <a:t>—I/O</a:t>
            </a:r>
            <a:r>
              <a:rPr lang="zh-CN" altLang="en-US" sz="2200" dirty="0">
                <a:solidFill>
                  <a:srgbClr val="C00000"/>
                </a:solidFill>
              </a:rPr>
              <a:t>系统</a:t>
            </a:r>
            <a:r>
              <a:rPr lang="zh-CN" altLang="en-US" sz="2200" dirty="0">
                <a:solidFill>
                  <a:schemeClr val="tx1"/>
                </a:solidFill>
              </a:rPr>
              <a:t>的</a:t>
            </a:r>
            <a:r>
              <a:rPr lang="zh-CN" altLang="en-US" sz="2200" dirty="0">
                <a:solidFill>
                  <a:srgbClr val="000000"/>
                </a:solidFill>
              </a:rPr>
              <a:t>组成，外设组成，</a:t>
            </a:r>
            <a:r>
              <a:rPr lang="en-US" altLang="zh-CN" sz="2200" dirty="0">
                <a:solidFill>
                  <a:srgbClr val="000000"/>
                </a:solidFill>
              </a:rPr>
              <a:t>I/O</a:t>
            </a:r>
            <a:r>
              <a:rPr lang="zh-CN" altLang="en-US" sz="2200" dirty="0">
                <a:solidFill>
                  <a:srgbClr val="000000"/>
                </a:solidFill>
              </a:rPr>
              <a:t>接口原理，</a:t>
            </a:r>
            <a:r>
              <a:rPr lang="en-US" altLang="zh-CN" sz="2200" dirty="0">
                <a:solidFill>
                  <a:srgbClr val="000000"/>
                </a:solidFill>
              </a:rPr>
              <a:t>I/O</a:t>
            </a:r>
            <a:r>
              <a:rPr lang="zh-CN" altLang="en-US" sz="2200" dirty="0">
                <a:solidFill>
                  <a:srgbClr val="000000"/>
                </a:solidFill>
              </a:rPr>
              <a:t>方式的组织</a:t>
            </a:r>
            <a:endParaRPr lang="en-US" altLang="zh-CN" sz="2200" dirty="0">
              <a:solidFill>
                <a:srgbClr val="000000"/>
              </a:solidFill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899592" y="1292547"/>
            <a:ext cx="3960000" cy="1691185"/>
            <a:chOff x="1835125" y="1591285"/>
            <a:chExt cx="3960000" cy="1691185"/>
          </a:xfrm>
        </p:grpSpPr>
        <p:sp>
          <p:nvSpPr>
            <p:cNvPr id="45" name="Text Box 32"/>
            <p:cNvSpPr txBox="1">
              <a:spLocks noChangeArrowheads="1"/>
            </p:cNvSpPr>
            <p:nvPr/>
          </p:nvSpPr>
          <p:spPr bwMode="auto">
            <a:xfrm>
              <a:off x="1835125" y="1591285"/>
              <a:ext cx="3960000" cy="253285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36000" tIns="36000" rIns="36000" bIns="360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计算机软件（</a:t>
              </a:r>
              <a:r>
                <a:rPr lang="zh-CN" altLang="en-US" sz="1600" b="1" u="sng" dirty="0">
                  <a:solidFill>
                    <a:srgbClr val="000000"/>
                  </a:solidFill>
                  <a:latin typeface="宋体" panose="02010600030101010101" pitchFamily="2" charset="-122"/>
                </a:rPr>
                <a:t>指令</a:t>
              </a: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序列及</a:t>
              </a:r>
              <a:r>
                <a:rPr lang="zh-CN" altLang="en-US" sz="1600" b="1" u="sng" dirty="0">
                  <a:solidFill>
                    <a:srgbClr val="000000"/>
                  </a:solidFill>
                  <a:latin typeface="宋体" panose="02010600030101010101" pitchFamily="2" charset="-122"/>
                </a:rPr>
                <a:t>数据</a:t>
              </a: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）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" name="Text Box 35"/>
            <p:cNvSpPr txBox="1">
              <a:spLocks noChangeArrowheads="1"/>
            </p:cNvSpPr>
            <p:nvPr/>
          </p:nvSpPr>
          <p:spPr bwMode="auto">
            <a:xfrm>
              <a:off x="1978572" y="2022358"/>
              <a:ext cx="793228" cy="252000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36000" tIns="36000" rIns="36000" bIns="360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控制器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7" name="Text Box 36"/>
            <p:cNvSpPr txBox="1">
              <a:spLocks noChangeArrowheads="1"/>
            </p:cNvSpPr>
            <p:nvPr/>
          </p:nvSpPr>
          <p:spPr bwMode="auto">
            <a:xfrm>
              <a:off x="2771800" y="2022358"/>
              <a:ext cx="792088" cy="25200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36000" tIns="36000" rIns="36000" bIns="360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运算器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8" name="Text Box 38"/>
            <p:cNvSpPr txBox="1">
              <a:spLocks noChangeArrowheads="1"/>
            </p:cNvSpPr>
            <p:nvPr/>
          </p:nvSpPr>
          <p:spPr bwMode="auto">
            <a:xfrm>
              <a:off x="4931584" y="2022358"/>
              <a:ext cx="710390" cy="252000"/>
            </a:xfrm>
            <a:prstGeom prst="rect">
              <a:avLst/>
            </a:prstGeom>
            <a:solidFill>
              <a:srgbClr val="99CCFF">
                <a:alpha val="79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36000" rIns="36000" bIns="360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49" name="Text Box 39"/>
            <p:cNvSpPr txBox="1">
              <a:spLocks noChangeArrowheads="1"/>
            </p:cNvSpPr>
            <p:nvPr/>
          </p:nvSpPr>
          <p:spPr bwMode="auto">
            <a:xfrm>
              <a:off x="4139952" y="2647273"/>
              <a:ext cx="360000" cy="288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rgbClr val="000000"/>
                  </a:solidFill>
                </a:rPr>
                <a:t>…</a:t>
              </a:r>
            </a:p>
          </p:txBody>
        </p:sp>
        <p:sp>
          <p:nvSpPr>
            <p:cNvPr id="50" name="Text Box 42"/>
            <p:cNvSpPr txBox="1">
              <a:spLocks noChangeArrowheads="1"/>
            </p:cNvSpPr>
            <p:nvPr/>
          </p:nvSpPr>
          <p:spPr bwMode="auto">
            <a:xfrm>
              <a:off x="3779912" y="2126586"/>
              <a:ext cx="936000" cy="288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solidFill>
                    <a:srgbClr val="000000"/>
                  </a:solidFill>
                </a:rPr>
                <a:t>系统总线</a:t>
              </a:r>
            </a:p>
          </p:txBody>
        </p:sp>
        <p:sp>
          <p:nvSpPr>
            <p:cNvPr id="51" name="Rectangle 47"/>
            <p:cNvSpPr>
              <a:spLocks noChangeArrowheads="1"/>
            </p:cNvSpPr>
            <p:nvPr/>
          </p:nvSpPr>
          <p:spPr bwMode="auto">
            <a:xfrm>
              <a:off x="1835125" y="1950470"/>
              <a:ext cx="3960000" cy="1332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52" name="Text Box 49"/>
            <p:cNvSpPr txBox="1">
              <a:spLocks noChangeArrowheads="1"/>
            </p:cNvSpPr>
            <p:nvPr/>
          </p:nvSpPr>
          <p:spPr bwMode="auto">
            <a:xfrm>
              <a:off x="1979792" y="2958462"/>
              <a:ext cx="720000" cy="252000"/>
            </a:xfrm>
            <a:prstGeom prst="rect">
              <a:avLst/>
            </a:prstGeom>
            <a:solidFill>
              <a:srgbClr val="CCFF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36000" rIns="36000" bIns="360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键盘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3" name="Text Box 50"/>
            <p:cNvSpPr txBox="1">
              <a:spLocks noChangeArrowheads="1"/>
            </p:cNvSpPr>
            <p:nvPr/>
          </p:nvSpPr>
          <p:spPr bwMode="auto">
            <a:xfrm>
              <a:off x="1907800" y="2562390"/>
              <a:ext cx="864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36000" rIns="36000" bIns="36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USB</a:t>
              </a: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接口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54" name="直接连接符 53"/>
            <p:cNvCxnSpPr/>
            <p:nvPr/>
          </p:nvCxnSpPr>
          <p:spPr bwMode="auto">
            <a:xfrm>
              <a:off x="2339752" y="2816904"/>
              <a:ext cx="0" cy="1440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5" name="直接连接符 54"/>
            <p:cNvCxnSpPr/>
            <p:nvPr/>
          </p:nvCxnSpPr>
          <p:spPr bwMode="auto">
            <a:xfrm>
              <a:off x="1906737" y="2416612"/>
              <a:ext cx="3816000" cy="0"/>
            </a:xfrm>
            <a:prstGeom prst="line">
              <a:avLst/>
            </a:prstGeom>
            <a:noFill/>
            <a:ln w="317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直接连接符 55"/>
            <p:cNvCxnSpPr/>
            <p:nvPr/>
          </p:nvCxnSpPr>
          <p:spPr bwMode="auto">
            <a:xfrm rot="5400000">
              <a:off x="2268314" y="2483775"/>
              <a:ext cx="143670" cy="794"/>
            </a:xfrm>
            <a:prstGeom prst="line">
              <a:avLst/>
            </a:prstGeom>
            <a:noFill/>
            <a:ln w="317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7" name="直接连接符 56"/>
            <p:cNvCxnSpPr/>
            <p:nvPr/>
          </p:nvCxnSpPr>
          <p:spPr bwMode="auto">
            <a:xfrm rot="5400000">
              <a:off x="2699568" y="2340900"/>
              <a:ext cx="143670" cy="794"/>
            </a:xfrm>
            <a:prstGeom prst="line">
              <a:avLst/>
            </a:prstGeom>
            <a:noFill/>
            <a:ln w="317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 bwMode="auto">
            <a:xfrm rot="5400000">
              <a:off x="5219392" y="2340900"/>
              <a:ext cx="143670" cy="794"/>
            </a:xfrm>
            <a:prstGeom prst="line">
              <a:avLst/>
            </a:prstGeom>
            <a:noFill/>
            <a:ln w="317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0" name="Text Box 49"/>
            <p:cNvSpPr txBox="1">
              <a:spLocks noChangeArrowheads="1"/>
            </p:cNvSpPr>
            <p:nvPr/>
          </p:nvSpPr>
          <p:spPr bwMode="auto">
            <a:xfrm>
              <a:off x="2987936" y="2958462"/>
              <a:ext cx="1008000" cy="252000"/>
            </a:xfrm>
            <a:prstGeom prst="rect">
              <a:avLst/>
            </a:prstGeom>
            <a:solidFill>
              <a:srgbClr val="CCFF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36000" rIns="36000" bIns="360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显示器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1" name="Text Box 50"/>
            <p:cNvSpPr txBox="1">
              <a:spLocks noChangeArrowheads="1"/>
            </p:cNvSpPr>
            <p:nvPr/>
          </p:nvSpPr>
          <p:spPr bwMode="auto">
            <a:xfrm>
              <a:off x="2915815" y="2562390"/>
              <a:ext cx="115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36000" rIns="36000" bIns="360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显示适配器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2" name="直接连接符 61"/>
            <p:cNvCxnSpPr/>
            <p:nvPr/>
          </p:nvCxnSpPr>
          <p:spPr bwMode="auto">
            <a:xfrm>
              <a:off x="3491759" y="2814406"/>
              <a:ext cx="121" cy="1440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直接连接符 62"/>
            <p:cNvCxnSpPr/>
            <p:nvPr/>
          </p:nvCxnSpPr>
          <p:spPr bwMode="auto">
            <a:xfrm rot="5400000">
              <a:off x="3359092" y="2483775"/>
              <a:ext cx="143670" cy="794"/>
            </a:xfrm>
            <a:prstGeom prst="line">
              <a:avLst/>
            </a:prstGeom>
            <a:noFill/>
            <a:ln w="317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4" name="Text Box 49"/>
            <p:cNvSpPr txBox="1">
              <a:spLocks noChangeArrowheads="1"/>
            </p:cNvSpPr>
            <p:nvPr/>
          </p:nvSpPr>
          <p:spPr bwMode="auto">
            <a:xfrm>
              <a:off x="4572000" y="2958462"/>
              <a:ext cx="1152000" cy="252000"/>
            </a:xfrm>
            <a:prstGeom prst="rect">
              <a:avLst/>
            </a:prstGeom>
            <a:solidFill>
              <a:srgbClr val="CCFF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36000" rIns="36000" bIns="360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硬盘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5" name="Text Box 50"/>
            <p:cNvSpPr txBox="1">
              <a:spLocks noChangeArrowheads="1"/>
            </p:cNvSpPr>
            <p:nvPr/>
          </p:nvSpPr>
          <p:spPr bwMode="auto">
            <a:xfrm>
              <a:off x="4572000" y="2564904"/>
              <a:ext cx="115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36000" rIns="36000" bIns="360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磁盘控制器</a:t>
              </a:r>
              <a:endParaRPr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66" name="直接连接符 65"/>
            <p:cNvCxnSpPr/>
            <p:nvPr/>
          </p:nvCxnSpPr>
          <p:spPr bwMode="auto">
            <a:xfrm>
              <a:off x="5130792" y="2816904"/>
              <a:ext cx="0" cy="14400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直接连接符 66"/>
            <p:cNvCxnSpPr/>
            <p:nvPr/>
          </p:nvCxnSpPr>
          <p:spPr bwMode="auto">
            <a:xfrm rot="5400000">
              <a:off x="5076170" y="2483775"/>
              <a:ext cx="143670" cy="794"/>
            </a:xfrm>
            <a:prstGeom prst="line">
              <a:avLst/>
            </a:prstGeom>
            <a:noFill/>
            <a:ln w="317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8" name="组合 67"/>
          <p:cNvGrpSpPr/>
          <p:nvPr/>
        </p:nvGrpSpPr>
        <p:grpSpPr>
          <a:xfrm>
            <a:off x="5995312" y="1268760"/>
            <a:ext cx="2897168" cy="1662719"/>
            <a:chOff x="4915192" y="3566481"/>
            <a:chExt cx="2897168" cy="1662719"/>
          </a:xfrm>
        </p:grpSpPr>
        <p:sp>
          <p:nvSpPr>
            <p:cNvPr id="69" name="Text Box 36"/>
            <p:cNvSpPr txBox="1">
              <a:spLocks noChangeArrowheads="1"/>
            </p:cNvSpPr>
            <p:nvPr/>
          </p:nvSpPr>
          <p:spPr bwMode="auto">
            <a:xfrm>
              <a:off x="5645659" y="3797724"/>
              <a:ext cx="942565" cy="133176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1001</a:t>
              </a: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01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00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01000100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0101</a:t>
              </a:r>
              <a:r>
                <a:rPr lang="en-US" altLang="zh-CN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01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00110011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70" name="直接连接符 69"/>
            <p:cNvCxnSpPr/>
            <p:nvPr/>
          </p:nvCxnSpPr>
          <p:spPr bwMode="auto">
            <a:xfrm>
              <a:off x="5645659" y="4012594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直接连接符 70"/>
            <p:cNvCxnSpPr/>
            <p:nvPr/>
          </p:nvCxnSpPr>
          <p:spPr bwMode="auto">
            <a:xfrm>
              <a:off x="5645659" y="3789040"/>
              <a:ext cx="0" cy="144016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直接连接符 71"/>
            <p:cNvCxnSpPr/>
            <p:nvPr/>
          </p:nvCxnSpPr>
          <p:spPr bwMode="auto">
            <a:xfrm>
              <a:off x="6588224" y="3789040"/>
              <a:ext cx="0" cy="144016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直接连接符 72"/>
            <p:cNvCxnSpPr/>
            <p:nvPr/>
          </p:nvCxnSpPr>
          <p:spPr bwMode="auto">
            <a:xfrm>
              <a:off x="5645659" y="3797724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直接连接符 73"/>
            <p:cNvCxnSpPr/>
            <p:nvPr/>
          </p:nvCxnSpPr>
          <p:spPr bwMode="auto">
            <a:xfrm>
              <a:off x="5645659" y="4462180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5" name="Text Box 36"/>
            <p:cNvSpPr txBox="1">
              <a:spLocks noChangeArrowheads="1"/>
            </p:cNvSpPr>
            <p:nvPr/>
          </p:nvSpPr>
          <p:spPr bwMode="auto">
            <a:xfrm>
              <a:off x="4921652" y="3797724"/>
              <a:ext cx="730468" cy="132780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</a:rPr>
                <a:t>0…000</a:t>
              </a:r>
              <a:endParaRPr lang="en-US" altLang="zh-CN" sz="1600" b="1" dirty="0"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0</a:t>
              </a:r>
              <a:r>
                <a:rPr lang="en-US" altLang="zh-CN" sz="1600" b="1" dirty="0">
                  <a:latin typeface="+mn-ea"/>
                </a:rPr>
                <a:t>…</a:t>
              </a:r>
              <a:r>
                <a:rPr lang="en-US" altLang="zh-CN" sz="1600" b="1" dirty="0">
                  <a:latin typeface="+mn-ea"/>
                  <a:ea typeface="+mn-ea"/>
                </a:rPr>
                <a:t>001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+mn-ea"/>
                  <a:ea typeface="+mn-ea"/>
                </a:rPr>
                <a:t>0…010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</a:rPr>
                <a:t>…</a:t>
              </a:r>
              <a:r>
                <a:rPr lang="en-US" altLang="zh-CN" sz="1600" b="1" u="none" dirty="0">
                  <a:latin typeface="+mn-ea"/>
                  <a:ea typeface="+mn-ea"/>
                </a:rPr>
                <a:t>   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</a:rPr>
                <a:t>0…044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</a:rPr>
                <a:t>…</a:t>
              </a:r>
            </a:p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+mn-ea"/>
              </a:endParaRPr>
            </a:p>
          </p:txBody>
        </p:sp>
        <p:cxnSp>
          <p:nvCxnSpPr>
            <p:cNvPr id="76" name="直接连接符 75"/>
            <p:cNvCxnSpPr/>
            <p:nvPr/>
          </p:nvCxnSpPr>
          <p:spPr bwMode="auto">
            <a:xfrm>
              <a:off x="5645659" y="4242058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直接连接符 76"/>
            <p:cNvCxnSpPr/>
            <p:nvPr/>
          </p:nvCxnSpPr>
          <p:spPr bwMode="auto">
            <a:xfrm>
              <a:off x="5645659" y="4686825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直接连接符 77"/>
            <p:cNvCxnSpPr/>
            <p:nvPr/>
          </p:nvCxnSpPr>
          <p:spPr bwMode="auto">
            <a:xfrm>
              <a:off x="5645659" y="5129484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直接连接符 78"/>
            <p:cNvCxnSpPr/>
            <p:nvPr/>
          </p:nvCxnSpPr>
          <p:spPr bwMode="auto">
            <a:xfrm>
              <a:off x="5645659" y="4909362"/>
              <a:ext cx="936104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0" name="Text Box 36"/>
            <p:cNvSpPr txBox="1">
              <a:spLocks noChangeArrowheads="1"/>
            </p:cNvSpPr>
            <p:nvPr/>
          </p:nvSpPr>
          <p:spPr bwMode="auto">
            <a:xfrm>
              <a:off x="4915192" y="3566481"/>
              <a:ext cx="2897168" cy="22255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</a:rPr>
                <a:t> 地址</a:t>
              </a:r>
              <a:r>
                <a:rPr lang="zh-CN" altLang="en-US" sz="1400" b="1" dirty="0">
                  <a:latin typeface="+mn-ea"/>
                </a:rPr>
                <a:t>   </a:t>
              </a:r>
              <a:r>
                <a:rPr lang="zh-CN" altLang="en-US" sz="1600" b="1" dirty="0">
                  <a:latin typeface="+mn-ea"/>
                </a:rPr>
                <a:t>程序内容</a:t>
              </a:r>
              <a:r>
                <a:rPr lang="zh-CN" altLang="en-US" sz="1400" b="1" dirty="0">
                  <a:latin typeface="+mn-ea"/>
                </a:rPr>
                <a:t>   </a:t>
              </a:r>
              <a:r>
                <a:rPr lang="zh-CN" altLang="en-US" sz="1600" b="1" dirty="0">
                  <a:latin typeface="+mn-ea"/>
                </a:rPr>
                <a:t>约定功能</a:t>
              </a:r>
              <a:endParaRPr lang="en-US" altLang="zh-CN" sz="1800" b="1" dirty="0">
                <a:latin typeface="+mn-ea"/>
              </a:endParaRPr>
            </a:p>
          </p:txBody>
        </p:sp>
        <p:sp>
          <p:nvSpPr>
            <p:cNvPr id="81" name="Text Box 36"/>
            <p:cNvSpPr txBox="1">
              <a:spLocks noChangeArrowheads="1"/>
            </p:cNvSpPr>
            <p:nvPr/>
          </p:nvSpPr>
          <p:spPr bwMode="auto">
            <a:xfrm>
              <a:off x="6660232" y="3789040"/>
              <a:ext cx="1152128" cy="132780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r>
                <a:rPr lang="en-US" altLang="zh-CN" sz="1600" b="1" dirty="0">
                  <a:latin typeface="宋体" panose="02010600030101010101" pitchFamily="2" charset="-122"/>
                </a:rPr>
                <a:t>R1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M[44H]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 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</a:rPr>
                <a:t>R1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(R1)+2</a:t>
              </a:r>
              <a:r>
                <a:rPr lang="en-US" altLang="zh-CN" sz="1600" b="1" u="none" dirty="0">
                  <a:latin typeface="+mn-ea"/>
                  <a:ea typeface="+mn-ea"/>
                </a:rPr>
                <a:t>   </a:t>
              </a:r>
            </a:p>
            <a:p>
              <a:pPr>
                <a:lnSpc>
                  <a:spcPct val="90000"/>
                </a:lnSpc>
              </a:pPr>
              <a:endParaRPr lang="en-US" altLang="zh-CN" sz="1600" b="1" dirty="0">
                <a:latin typeface="+mn-ea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</a:rPr>
                <a:t>x=33H</a:t>
              </a:r>
            </a:p>
            <a:p>
              <a:pPr>
                <a:lnSpc>
                  <a:spcPct val="90000"/>
                </a:lnSpc>
              </a:pPr>
              <a:endParaRPr lang="en-US" altLang="zh-CN" sz="1600" b="1" dirty="0">
                <a:latin typeface="+mn-ea"/>
              </a:endParaRPr>
            </a:p>
          </p:txBody>
        </p:sp>
      </p:grpSp>
      <p:grpSp>
        <p:nvGrpSpPr>
          <p:cNvPr id="115" name="组合 114"/>
          <p:cNvGrpSpPr/>
          <p:nvPr/>
        </p:nvGrpSpPr>
        <p:grpSpPr>
          <a:xfrm>
            <a:off x="2483883" y="1529419"/>
            <a:ext cx="1655044" cy="322193"/>
            <a:chOff x="2627784" y="1686655"/>
            <a:chExt cx="1655044" cy="322193"/>
          </a:xfrm>
        </p:grpSpPr>
        <p:cxnSp>
          <p:nvCxnSpPr>
            <p:cNvPr id="85" name="直接箭头连接符 84"/>
            <p:cNvCxnSpPr/>
            <p:nvPr/>
          </p:nvCxnSpPr>
          <p:spPr bwMode="auto">
            <a:xfrm>
              <a:off x="4015240" y="1686655"/>
              <a:ext cx="196150" cy="28800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86" name="椭圆 85"/>
            <p:cNvSpPr/>
            <p:nvPr/>
          </p:nvSpPr>
          <p:spPr bwMode="auto">
            <a:xfrm>
              <a:off x="4139952" y="1936840"/>
              <a:ext cx="142876" cy="71438"/>
            </a:xfrm>
            <a:prstGeom prst="ellipse">
              <a:avLst/>
            </a:prstGeom>
            <a:solidFill>
              <a:srgbClr val="0070C0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cxnSp>
          <p:nvCxnSpPr>
            <p:cNvPr id="88" name="直接箭头连接符 87"/>
            <p:cNvCxnSpPr>
              <a:endCxn id="89" idx="6"/>
            </p:cNvCxnSpPr>
            <p:nvPr/>
          </p:nvCxnSpPr>
          <p:spPr bwMode="auto">
            <a:xfrm flipH="1" flipV="1">
              <a:off x="2770660" y="1973129"/>
              <a:ext cx="1368000" cy="1954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89" name="椭圆 88"/>
            <p:cNvSpPr/>
            <p:nvPr/>
          </p:nvSpPr>
          <p:spPr bwMode="auto">
            <a:xfrm>
              <a:off x="2627784" y="1937410"/>
              <a:ext cx="142876" cy="71438"/>
            </a:xfrm>
            <a:prstGeom prst="ellipse">
              <a:avLst/>
            </a:prstGeom>
            <a:solidFill>
              <a:srgbClr val="0070C0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94" name="AutoShape 338"/>
          <p:cNvSpPr/>
          <p:nvPr/>
        </p:nvSpPr>
        <p:spPr bwMode="auto">
          <a:xfrm>
            <a:off x="5076056" y="2767708"/>
            <a:ext cx="1368000" cy="252000"/>
          </a:xfrm>
          <a:prstGeom prst="borderCallout2">
            <a:avLst>
              <a:gd name="adj1" fmla="val 51438"/>
              <a:gd name="adj2" fmla="val -167"/>
              <a:gd name="adj3" fmla="val 52179"/>
              <a:gd name="adj4" fmla="val -7104"/>
              <a:gd name="adj5" fmla="val -358954"/>
              <a:gd name="adj6" fmla="val -35238"/>
            </a:avLst>
          </a:prstGeom>
          <a:solidFill>
            <a:srgbClr val="CCFFFF"/>
          </a:solidFill>
          <a:ln w="15875">
            <a:solidFill>
              <a:srgbClr val="CC3300"/>
            </a:solidFill>
            <a:prstDash val="sysDash"/>
            <a:miter lim="800000"/>
            <a:tailEnd type="triangle" w="med" len="med"/>
          </a:ln>
          <a:effectLst/>
        </p:spPr>
        <p:txBody>
          <a:bodyPr lIns="54000" tIns="10800" rIns="54000" bIns="10800" anchor="ctr" anchorCtr="0"/>
          <a:lstStyle/>
          <a:p>
            <a:pPr lvl="0" algn="ctr">
              <a:lnSpc>
                <a:spcPct val="90000"/>
              </a:lnSpc>
            </a:pPr>
            <a:r>
              <a:rPr lang="zh-CN" altLang="en-US" sz="1600" b="1" dirty="0">
                <a:solidFill>
                  <a:srgbClr val="000000"/>
                </a:solidFill>
              </a:rPr>
              <a:t>性能如何优化</a:t>
            </a:r>
            <a:endParaRPr lang="zh-CN" altLang="en-US" sz="1600" b="1" i="1" baseline="-18000" dirty="0">
              <a:solidFill>
                <a:srgbClr val="000000"/>
              </a:solidFill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2987939" y="1498519"/>
            <a:ext cx="1152128" cy="477101"/>
            <a:chOff x="3203848" y="1583177"/>
            <a:chExt cx="1152128" cy="477101"/>
          </a:xfrm>
        </p:grpSpPr>
        <p:cxnSp>
          <p:nvCxnSpPr>
            <p:cNvPr id="100" name="直接箭头连接符 99"/>
            <p:cNvCxnSpPr>
              <a:endCxn id="101" idx="1"/>
            </p:cNvCxnSpPr>
            <p:nvPr/>
          </p:nvCxnSpPr>
          <p:spPr bwMode="auto">
            <a:xfrm>
              <a:off x="3203848" y="1583177"/>
              <a:ext cx="1030176" cy="43200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01" name="椭圆 100"/>
            <p:cNvSpPr/>
            <p:nvPr/>
          </p:nvSpPr>
          <p:spPr bwMode="auto">
            <a:xfrm>
              <a:off x="4213100" y="1988840"/>
              <a:ext cx="142876" cy="71438"/>
            </a:xfrm>
            <a:prstGeom prst="ellipse">
              <a:avLst/>
            </a:prstGeom>
            <a:solidFill>
              <a:srgbClr val="FFCCFF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1764943" y="1858496"/>
            <a:ext cx="2230876" cy="76492"/>
            <a:chOff x="3359264" y="4529069"/>
            <a:chExt cx="2230876" cy="76492"/>
          </a:xfrm>
        </p:grpSpPr>
        <p:cxnSp>
          <p:nvCxnSpPr>
            <p:cNvPr id="103" name="直接箭头连接符 102"/>
            <p:cNvCxnSpPr>
              <a:endCxn id="104" idx="6"/>
            </p:cNvCxnSpPr>
            <p:nvPr/>
          </p:nvCxnSpPr>
          <p:spPr bwMode="auto">
            <a:xfrm flipH="1" flipV="1">
              <a:off x="3502140" y="4564788"/>
              <a:ext cx="2088000" cy="40773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04" name="椭圆 103"/>
            <p:cNvSpPr/>
            <p:nvPr/>
          </p:nvSpPr>
          <p:spPr bwMode="auto">
            <a:xfrm>
              <a:off x="3359264" y="4529069"/>
              <a:ext cx="142876" cy="71438"/>
            </a:xfrm>
            <a:prstGeom prst="ellipse">
              <a:avLst/>
            </a:prstGeom>
            <a:solidFill>
              <a:srgbClr val="FFCCFF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1834223" y="1975620"/>
            <a:ext cx="2378646" cy="287686"/>
            <a:chOff x="1978918" y="2132856"/>
            <a:chExt cx="2378646" cy="287686"/>
          </a:xfrm>
        </p:grpSpPr>
        <p:cxnSp>
          <p:nvCxnSpPr>
            <p:cNvPr id="116" name="直接连接符 115"/>
            <p:cNvCxnSpPr/>
            <p:nvPr/>
          </p:nvCxnSpPr>
          <p:spPr bwMode="auto">
            <a:xfrm>
              <a:off x="1978918" y="2276872"/>
              <a:ext cx="2376000" cy="0"/>
            </a:xfrm>
            <a:prstGeom prst="line">
              <a:avLst/>
            </a:prstGeom>
            <a:noFill/>
            <a:ln w="317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7" name="直接连接符 116"/>
            <p:cNvCxnSpPr/>
            <p:nvPr/>
          </p:nvCxnSpPr>
          <p:spPr bwMode="auto">
            <a:xfrm rot="5400000">
              <a:off x="1908274" y="2204294"/>
              <a:ext cx="143670" cy="794"/>
            </a:xfrm>
            <a:prstGeom prst="line">
              <a:avLst/>
            </a:prstGeom>
            <a:noFill/>
            <a:ln w="317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8" name="直接连接符 117"/>
            <p:cNvCxnSpPr/>
            <p:nvPr/>
          </p:nvCxnSpPr>
          <p:spPr bwMode="auto">
            <a:xfrm rot="5400000">
              <a:off x="4285332" y="2348310"/>
              <a:ext cx="143670" cy="794"/>
            </a:xfrm>
            <a:prstGeom prst="line">
              <a:avLst/>
            </a:prstGeom>
            <a:noFill/>
            <a:ln w="317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7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7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7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46</a:t>
            </a:fld>
            <a:endParaRPr lang="en-US" altLang="zh-CN"/>
          </a:p>
        </p:txBody>
      </p:sp>
      <p:sp>
        <p:nvSpPr>
          <p:cNvPr id="3" name="Text Box 205"/>
          <p:cNvSpPr txBox="1">
            <a:spLocks noChangeArrowheads="1"/>
          </p:cNvSpPr>
          <p:nvPr/>
        </p:nvSpPr>
        <p:spPr bwMode="auto">
          <a:xfrm>
            <a:off x="179388" y="332909"/>
            <a:ext cx="8857108" cy="553568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附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：课程学习思考</a:t>
            </a:r>
            <a:endParaRPr lang="en-US" altLang="zh-CN" sz="22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⑴为什么要设置这门课？这门课的主要内容是什么？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marL="4659630" indent="-4659630"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</a:rPr>
              <a:t>     本课程是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</a:rPr>
              <a:t>硬件基础课</a:t>
            </a:r>
            <a:r>
              <a:rPr lang="zh-CN" altLang="en-US" sz="2200" b="1" dirty="0">
                <a:latin typeface="+mn-ea"/>
                <a:ea typeface="+mn-ea"/>
              </a:rPr>
              <a:t>，是</a:t>
            </a:r>
            <a:r>
              <a:rPr lang="zh-CN" altLang="en-US" sz="2200" b="1" u="sng" dirty="0">
                <a:latin typeface="+mn-ea"/>
                <a:ea typeface="+mn-ea"/>
              </a:rPr>
              <a:t>后续课程</a:t>
            </a:r>
            <a:r>
              <a:rPr lang="zh-CN" altLang="en-US" sz="2200" b="1" dirty="0">
                <a:latin typeface="+mn-ea"/>
                <a:ea typeface="+mn-ea"/>
              </a:rPr>
              <a:t>的基石</a:t>
            </a:r>
            <a:endParaRPr lang="en-US" altLang="zh-CN" sz="2200" b="1" dirty="0">
              <a:latin typeface="+mn-ea"/>
              <a:ea typeface="+mn-ea"/>
            </a:endParaRPr>
          </a:p>
          <a:p>
            <a:pPr marL="4659630" indent="-4659630">
              <a:lnSpc>
                <a:spcPct val="125000"/>
              </a:lnSpc>
            </a:pPr>
            <a:r>
              <a:rPr lang="en-US" altLang="zh-CN" sz="1600" b="1" dirty="0">
                <a:latin typeface="+mn-ea"/>
                <a:ea typeface="+mn-ea"/>
              </a:rPr>
              <a:t>                                    (</a:t>
            </a:r>
            <a:r>
              <a:rPr lang="zh-CN" altLang="en-US" sz="1600" b="1" dirty="0">
                <a:latin typeface="+mn-ea"/>
                <a:ea typeface="+mn-ea"/>
              </a:rPr>
              <a:t>计算机接口、嵌入式系统、计算机系统结构、</a:t>
            </a:r>
            <a:endParaRPr lang="en-US" altLang="zh-CN" sz="1600" b="1" dirty="0">
              <a:latin typeface="+mn-ea"/>
              <a:ea typeface="+mn-ea"/>
            </a:endParaRPr>
          </a:p>
          <a:p>
            <a:pPr marL="4659630" indent="-4659630">
              <a:lnSpc>
                <a:spcPct val="125000"/>
              </a:lnSpc>
            </a:pPr>
            <a:r>
              <a:rPr lang="en-US" altLang="zh-CN" sz="1600" b="1" dirty="0">
                <a:latin typeface="+mn-ea"/>
                <a:ea typeface="+mn-ea"/>
              </a:rPr>
              <a:t>                                     </a:t>
            </a:r>
            <a:r>
              <a:rPr lang="zh-CN" altLang="en-US" sz="1600" b="1" dirty="0">
                <a:latin typeface="+mn-ea"/>
                <a:ea typeface="+mn-ea"/>
              </a:rPr>
              <a:t>计算机系统综合课程设计等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altLang="zh-CN" sz="1600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latin typeface="+mn-ea"/>
                <a:ea typeface="+mn-ea"/>
              </a:rPr>
              <a:t>     计算机硬件的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</a:rPr>
              <a:t>组成及工作原理</a:t>
            </a:r>
            <a:r>
              <a:rPr lang="zh-CN" altLang="en-US" sz="2200" b="1" dirty="0">
                <a:latin typeface="+mn-ea"/>
                <a:ea typeface="+mn-ea"/>
              </a:rPr>
              <a:t>，即部件的组织、互连及控制</a:t>
            </a: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⑵学习本课程要注意哪些？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     重视概念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sz="2200" b="1" dirty="0">
                <a:latin typeface="+mn-ea"/>
                <a:ea typeface="+mn-ea"/>
              </a:rPr>
              <a:t>是一切的基础！理解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分析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→应用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做题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→融合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点→面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altLang="zh-CN" sz="20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     关注需求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sz="2200" b="1" dirty="0">
                <a:latin typeface="+mn-ea"/>
              </a:rPr>
              <a:t>是</a:t>
            </a:r>
            <a:r>
              <a:rPr lang="zh-CN" altLang="en-US" sz="2200" b="1" dirty="0">
                <a:latin typeface="+mn-ea"/>
                <a:ea typeface="+mn-ea"/>
              </a:rPr>
              <a:t>组成与原理的依据！分析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功能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参数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</a:rPr>
              <a:t>→</a:t>
            </a:r>
            <a:r>
              <a:rPr lang="zh-CN" altLang="en-US" sz="2200" b="1" dirty="0">
                <a:latin typeface="+mn-ea"/>
                <a:ea typeface="+mn-ea"/>
              </a:rPr>
              <a:t>细化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部件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关联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⑶如何防止挂科？</a:t>
            </a:r>
            <a:endParaRPr lang="en-US" altLang="zh-CN" sz="22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     保证学习时间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sz="2200" b="1" dirty="0">
                <a:latin typeface="+mn-ea"/>
                <a:ea typeface="+mn-ea"/>
              </a:rPr>
              <a:t>多看多想多练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基础课的通用要求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altLang="zh-CN" sz="20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     提高学习效率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sz="2200" b="1" dirty="0">
                <a:latin typeface="+mn-ea"/>
                <a:ea typeface="+mn-ea"/>
              </a:rPr>
              <a:t>方法多样化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看书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听课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作业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答疑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，及时补缺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拖危害大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altLang="zh-CN" sz="20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     不要轻易放弃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sz="2200" b="1" dirty="0">
                <a:latin typeface="+mn-ea"/>
                <a:ea typeface="+mn-ea"/>
              </a:rPr>
              <a:t>自己不笨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常找原因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，对自己负责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不要影响其他课程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  <a:endParaRPr lang="en-US" altLang="zh-CN" sz="1800" b="1" dirty="0">
              <a:latin typeface="+mn-ea"/>
              <a:ea typeface="+mn-ea"/>
            </a:endParaRPr>
          </a:p>
        </p:txBody>
      </p:sp>
      <p:sp>
        <p:nvSpPr>
          <p:cNvPr id="8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2808000" y="6057639"/>
            <a:ext cx="287337" cy="1224136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>
                <a:solidFill>
                  <a:schemeClr val="bg2"/>
                </a:solidFill>
                <a:latin typeface="+mn-ea"/>
                <a:ea typeface="+mn-ea"/>
              </a:rPr>
              <a:t>回教学要求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47</a:t>
            </a:fld>
            <a:endParaRPr lang="en-US" altLang="zh-CN"/>
          </a:p>
        </p:txBody>
      </p:sp>
      <p:sp>
        <p:nvSpPr>
          <p:cNvPr id="3" name="Text Box 10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285115"/>
            <a:ext cx="3079750" cy="5759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※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附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3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  <a:sym typeface="+mn-ea"/>
              </a:rPr>
              <a:t>：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PPT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界面组织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标题结构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sym typeface="+mn-ea"/>
              </a:rPr>
              <a:t>—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文字标注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sym typeface="+mn-ea"/>
              </a:rPr>
              <a:t>—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插图约定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</a:rPr>
              <a:t>—</a:t>
            </a: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其它说明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sym typeface="+mn-ea"/>
              </a:rPr>
              <a:t>—</a:t>
            </a:r>
            <a:endParaRPr lang="zh-CN" altLang="en-US" sz="22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4" name="Text Box 103"/>
          <p:cNvSpPr txBox="1">
            <a:spLocks noChangeArrowheads="1"/>
          </p:cNvSpPr>
          <p:nvPr/>
        </p:nvSpPr>
        <p:spPr bwMode="auto">
          <a:xfrm>
            <a:off x="1908175" y="764704"/>
            <a:ext cx="7153910" cy="4800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有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6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层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/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/</a:t>
            </a:r>
            <a:r>
              <a:rPr lang="en-US" altLang="zh-CN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/</a:t>
            </a:r>
            <a:r>
              <a:rPr lang="en-US" altLang="zh-CN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/</a:t>
            </a:r>
            <a:r>
              <a:rPr lang="en-US" altLang="zh-CN" sz="1800" b="1" dirty="0">
                <a:solidFill>
                  <a:schemeClr val="accent2"/>
                </a:solidFill>
                <a:latin typeface="+mn-ea"/>
                <a:sym typeface="+mn-ea"/>
              </a:rPr>
              <a:t>—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sym typeface="+mn-ea"/>
              </a:rPr>
              <a:t>/</a:t>
            </a:r>
            <a:r>
              <a:rPr lang="zh-CN" altLang="en-US" sz="1800" b="1" dirty="0">
                <a:solidFill>
                  <a:srgbClr val="990099"/>
                </a:solidFill>
                <a:latin typeface="+mn-ea"/>
                <a:sym typeface="+mn-ea"/>
              </a:rPr>
              <a:t>：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sym typeface="+mn-ea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sym typeface="+mn-ea"/>
              </a:rPr>
              <a:t>，可缺省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sym typeface="+mn-ea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+mn-ea"/>
                <a:sym typeface="+mn-ea"/>
              </a:rPr>
              <a:t>基于内容多少</a:t>
            </a:r>
            <a:r>
              <a:rPr lang="en-US" altLang="zh-CN" sz="1800" b="1" dirty="0">
                <a:solidFill>
                  <a:schemeClr val="tx1"/>
                </a:solidFill>
                <a:latin typeface="+mn-ea"/>
                <a:sym typeface="+mn-ea"/>
              </a:rPr>
              <a:t>)</a:t>
            </a:r>
            <a:endParaRPr lang="en-US" altLang="zh-CN" sz="1800" b="1" dirty="0">
              <a:solidFill>
                <a:schemeClr val="tx1"/>
              </a:solidFill>
              <a:latin typeface="+mn-ea"/>
              <a:ea typeface="+mn-ea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74090" y="1196752"/>
            <a:ext cx="3782695" cy="22485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852670" y="1199927"/>
            <a:ext cx="3560445" cy="2245360"/>
          </a:xfrm>
          <a:prstGeom prst="rect">
            <a:avLst/>
          </a:prstGeom>
        </p:spPr>
      </p:pic>
      <p:sp>
        <p:nvSpPr>
          <p:cNvPr id="7" name="Text Box 103"/>
          <p:cNvSpPr txBox="1">
            <a:spLocks noChangeArrowheads="1"/>
          </p:cNvSpPr>
          <p:nvPr/>
        </p:nvSpPr>
        <p:spPr bwMode="auto">
          <a:xfrm>
            <a:off x="1891665" y="3501008"/>
            <a:ext cx="7153910" cy="305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不同颜色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2200" b="1" dirty="0">
                <a:solidFill>
                  <a:srgbClr val="990099"/>
                </a:solidFill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下划线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表示关键信息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醒目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200" b="1" dirty="0">
                <a:solidFill>
                  <a:srgbClr val="990099"/>
                </a:solidFill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()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为说明信息，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dirty="0">
                <a:solidFill>
                  <a:srgbClr val="990099"/>
                </a:solidFill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2200" b="1" dirty="0">
                <a:solidFill>
                  <a:srgbClr val="990099"/>
                </a:solidFill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表示原因，</a:t>
            </a:r>
            <a:r>
              <a:rPr lang="zh-CN" altLang="en-US" sz="2200" dirty="0">
                <a:solidFill>
                  <a:srgbClr val="990099"/>
                </a:solidFill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2200" b="1" dirty="0">
                <a:solidFill>
                  <a:srgbClr val="990099"/>
                </a:solidFill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→</a:t>
            </a: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表示结果，</a:t>
            </a:r>
            <a:r>
              <a:rPr lang="zh-CN" altLang="en-US" sz="2200" b="1" dirty="0">
                <a:solidFill>
                  <a:srgbClr val="990099"/>
                </a:solidFill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行尾←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为说明</a:t>
            </a:r>
            <a:r>
              <a:rPr lang="en-US" altLang="zh-CN" sz="22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解</a:t>
            </a: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  <a:sym typeface="+mn-ea"/>
              </a:rPr>
              <a:t>释，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ea typeface="+mn-ea"/>
                <a:sym typeface="+mn-ea"/>
              </a:rPr>
              <a:t>部分</a:t>
            </a:r>
            <a:r>
              <a:rPr lang="zh-CN" altLang="en-US" sz="2200" b="1" dirty="0">
                <a:solidFill>
                  <a:srgbClr val="990099"/>
                </a:solidFill>
                <a:highlight>
                  <a:srgbClr val="FFFF00"/>
                </a:highlight>
                <a:latin typeface="宋体" panose="02010600030101010101" pitchFamily="2" charset="-122"/>
                <a:ea typeface="+mn-ea"/>
                <a:sym typeface="+mn-ea"/>
              </a:rPr>
              <a:t>缩写</a:t>
            </a: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非标准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(REG/MEM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表示寄存器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/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存储器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)</a:t>
            </a:r>
            <a:endParaRPr lang="zh-CN" altLang="en-US" sz="2200" b="1" dirty="0">
              <a:solidFill>
                <a:srgbClr val="000000"/>
              </a:solidFill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highlight>
                  <a:srgbClr val="FFFF00"/>
                </a:highlight>
                <a:latin typeface="宋体" panose="02010600030101010101" pitchFamily="2" charset="-122"/>
                <a:ea typeface="+mn-ea"/>
                <a:sym typeface="+mn-ea"/>
              </a:rPr>
              <a:t>线条颜色</a:t>
            </a: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表示</a:t>
            </a:r>
            <a:r>
              <a:rPr lang="zh-CN" altLang="en-US" sz="2200" b="1" u="sng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功能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(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地址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/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数据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/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控制线为橙色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/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蓝色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/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粉红色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)</a:t>
            </a: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990099"/>
                </a:solidFill>
                <a:highlight>
                  <a:srgbClr val="FFFF00"/>
                </a:highlight>
                <a:latin typeface="宋体" panose="02010600030101010101" pitchFamily="2" charset="-122"/>
                <a:ea typeface="+mn-ea"/>
                <a:sym typeface="+mn-ea"/>
              </a:rPr>
              <a:t>文本框颜色</a:t>
            </a: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表示电路类型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(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时序逻辑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/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组合逻辑为橙色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/</a:t>
            </a:r>
            <a:r>
              <a:rPr lang="zh-CN" altLang="en-US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粉红色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+mn-ea"/>
              </a:rPr>
              <a:t>)</a:t>
            </a:r>
            <a:endParaRPr lang="zh-CN" altLang="en-US" sz="2200" b="1" dirty="0">
              <a:solidFill>
                <a:srgbClr val="000000"/>
              </a:solidFill>
              <a:latin typeface="宋体" panose="02010600030101010101" pitchFamily="2" charset="-122"/>
              <a:ea typeface="+mn-ea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00" b="1" dirty="0">
                <a:latin typeface="宋体" panose="02010600030101010101" pitchFamily="2" charset="-122"/>
                <a:ea typeface="+mn-ea"/>
                <a:sym typeface="+mn-ea"/>
              </a:rPr>
              <a:t>所有</a:t>
            </a:r>
            <a:r>
              <a:rPr lang="zh-CN" sz="2200" b="1" dirty="0">
                <a:solidFill>
                  <a:srgbClr val="990099"/>
                </a:solidFill>
                <a:highlight>
                  <a:srgbClr val="FFFF00"/>
                </a:highlight>
                <a:latin typeface="宋体" panose="02010600030101010101" pitchFamily="2" charset="-122"/>
                <a:ea typeface="+mn-ea"/>
                <a:sym typeface="+mn-ea"/>
              </a:rPr>
              <a:t>动画</a:t>
            </a:r>
            <a:r>
              <a:rPr lang="zh-CN" sz="2200" b="1" dirty="0">
                <a:latin typeface="宋体" panose="02010600030101010101" pitchFamily="2" charset="-122"/>
                <a:ea typeface="+mn-ea"/>
                <a:sym typeface="+mn-ea"/>
              </a:rPr>
              <a:t>均可用于互动</a:t>
            </a:r>
            <a:r>
              <a:rPr lang="en-US" altLang="zh-CN" sz="1800" b="1" dirty="0">
                <a:latin typeface="宋体" panose="02010600030101010101" pitchFamily="2" charset="-122"/>
                <a:ea typeface="+mn-ea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ea typeface="+mn-ea"/>
                <a:sym typeface="+mn-ea"/>
              </a:rPr>
              <a:t>思考后再看结果</a:t>
            </a:r>
            <a:r>
              <a:rPr lang="en-US" altLang="zh-CN" sz="1800" b="1" dirty="0">
                <a:latin typeface="宋体" panose="02010600030101010101" pitchFamily="2" charset="-122"/>
                <a:ea typeface="+mn-ea"/>
                <a:sym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所有</a:t>
            </a:r>
            <a:r>
              <a:rPr lang="zh-CN" altLang="en-US" sz="2200" b="1" dirty="0">
                <a:solidFill>
                  <a:srgbClr val="990099"/>
                </a:solidFill>
                <a:highlight>
                  <a:srgbClr val="FFFF00"/>
                </a:highlight>
                <a:latin typeface="宋体" panose="02010600030101010101" pitchFamily="2" charset="-122"/>
                <a:sym typeface="+mn-ea"/>
              </a:rPr>
              <a:t>思考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均有答案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备注栏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当前页中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  <a:ea typeface="+mn-ea"/>
              <a:sym typeface="+mn-ea"/>
            </a:endParaRPr>
          </a:p>
        </p:txBody>
      </p:sp>
      <p:sp>
        <p:nvSpPr>
          <p:cNvPr id="11" name="AutoShape 230">
            <a:hlinkClick r:id="rId8" action="ppaction://hlinksldjump" highlightClick="1"/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58587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  <a:scene3d>
            <a:camera prst="orthographicFront">
              <a:rot lat="0" lon="0" rev="10800000"/>
            </a:camera>
            <a:lightRig rig="threePt" dir="t"/>
          </a:scene3d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99"/>
          <p:cNvSpPr txBox="1">
            <a:spLocks noChangeArrowheads="1"/>
          </p:cNvSpPr>
          <p:nvPr/>
        </p:nvSpPr>
        <p:spPr bwMode="auto">
          <a:xfrm>
            <a:off x="179512" y="334064"/>
            <a:ext cx="6912768" cy="4409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附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4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：寄存器组设计</a:t>
            </a:r>
            <a:endParaRPr lang="en-US" altLang="zh-CN" sz="22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功能需求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6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引脚定义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读端口：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           </a:t>
            </a:r>
            <a:r>
              <a:rPr lang="zh-CN" altLang="en-US" sz="2200" b="1" dirty="0">
                <a:solidFill>
                  <a:srgbClr val="990099"/>
                </a:solidFill>
                <a:latin typeface="+mn-ea"/>
                <a:ea typeface="+mn-ea"/>
              </a:rPr>
              <a:t>写端口：</a:t>
            </a:r>
            <a:endParaRPr lang="en-US" altLang="zh-CN" sz="2200" b="1" dirty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功能表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18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18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18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   </a:t>
            </a:r>
            <a:r>
              <a:rPr lang="zh-CN" altLang="en-US" sz="2200" b="1" dirty="0">
                <a:solidFill>
                  <a:schemeClr val="accent2"/>
                </a:solidFill>
                <a:latin typeface="+mn-ea"/>
                <a:ea typeface="+mn-ea"/>
              </a:rPr>
              <a:t>内部逻辑</a:t>
            </a:r>
            <a:r>
              <a:rPr lang="en-US" altLang="zh-CN" sz="2200" b="1" dirty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555776" y="4218583"/>
            <a:ext cx="3528360" cy="1514673"/>
            <a:chOff x="2555776" y="4506615"/>
            <a:chExt cx="3528360" cy="1514673"/>
          </a:xfrm>
        </p:grpSpPr>
        <p:sp>
          <p:nvSpPr>
            <p:cNvPr id="7" name="矩形 6"/>
            <p:cNvSpPr/>
            <p:nvPr/>
          </p:nvSpPr>
          <p:spPr>
            <a:xfrm>
              <a:off x="3060184" y="4509144"/>
              <a:ext cx="2592000" cy="151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627816" y="5157216"/>
              <a:ext cx="288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rW</a:t>
              </a:r>
              <a:endParaRPr lang="zh-CN" altLang="en-US" sz="16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96136" y="4941192"/>
              <a:ext cx="288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Q</a:t>
              </a:r>
              <a:endParaRPr lang="zh-CN" altLang="en-US" sz="16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 bwMode="auto">
            <a:xfrm>
              <a:off x="5508104" y="5057568"/>
              <a:ext cx="288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" name="直接连接符 12"/>
            <p:cNvCxnSpPr/>
            <p:nvPr/>
          </p:nvCxnSpPr>
          <p:spPr bwMode="auto">
            <a:xfrm>
              <a:off x="2915816" y="4869183"/>
              <a:ext cx="288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4" name="TextBox 13"/>
            <p:cNvSpPr txBox="1"/>
            <p:nvPr/>
          </p:nvSpPr>
          <p:spPr>
            <a:xfrm>
              <a:off x="2627816" y="5517280"/>
              <a:ext cx="288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Wr</a:t>
              </a:r>
              <a:endParaRPr lang="zh-CN" altLang="en-US" sz="16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627816" y="5805288"/>
              <a:ext cx="288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CP</a:t>
              </a:r>
              <a:endParaRPr lang="zh-CN" altLang="en-US" sz="16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627816" y="4725192"/>
              <a:ext cx="288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endParaRPr lang="zh-CN" altLang="en-US" sz="16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627816" y="4506615"/>
              <a:ext cx="288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rA</a:t>
              </a:r>
              <a:endParaRPr lang="zh-CN" altLang="en-US" sz="16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" name="左大括号 18"/>
            <p:cNvSpPr/>
            <p:nvPr/>
          </p:nvSpPr>
          <p:spPr bwMode="auto">
            <a:xfrm>
              <a:off x="2555776" y="4823100"/>
              <a:ext cx="72008" cy="1152000"/>
            </a:xfrm>
            <a:prstGeom prst="leftBrace">
              <a:avLst>
                <a:gd name="adj1" fmla="val 45937"/>
                <a:gd name="adj2" fmla="val 50000"/>
              </a:avLst>
            </a:prstGeom>
            <a:noFill/>
            <a:ln w="952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 bwMode="auto">
            <a:xfrm>
              <a:off x="2915816" y="4653126"/>
              <a:ext cx="288000" cy="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1" name="直接连接符 20"/>
            <p:cNvCxnSpPr/>
            <p:nvPr/>
          </p:nvCxnSpPr>
          <p:spPr bwMode="auto">
            <a:xfrm>
              <a:off x="2915816" y="5301232"/>
              <a:ext cx="288000" cy="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3" name="直接连接符 22"/>
            <p:cNvCxnSpPr/>
            <p:nvPr/>
          </p:nvCxnSpPr>
          <p:spPr bwMode="auto">
            <a:xfrm>
              <a:off x="2915816" y="5661238"/>
              <a:ext cx="288000" cy="3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4" name="直接连接符 23"/>
            <p:cNvCxnSpPr/>
            <p:nvPr/>
          </p:nvCxnSpPr>
          <p:spPr bwMode="auto">
            <a:xfrm>
              <a:off x="2915816" y="5949304"/>
              <a:ext cx="288000" cy="3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5" name="矩形 44"/>
            <p:cNvSpPr/>
            <p:nvPr/>
          </p:nvSpPr>
          <p:spPr>
            <a:xfrm>
              <a:off x="4139952" y="4797152"/>
              <a:ext cx="576000" cy="288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R7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4139944" y="5589272"/>
              <a:ext cx="576000" cy="288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R0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8" name="Text Box 18"/>
            <p:cNvSpPr txBox="1">
              <a:spLocks noChangeArrowheads="1"/>
            </p:cNvSpPr>
            <p:nvPr/>
          </p:nvSpPr>
          <p:spPr bwMode="auto">
            <a:xfrm rot="16200000">
              <a:off x="4247374" y="5193746"/>
              <a:ext cx="288000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  <a:t>48</a:t>
            </a:fld>
            <a:endParaRPr lang="en-US" altLang="zh-CN"/>
          </a:p>
        </p:txBody>
      </p:sp>
      <p:sp>
        <p:nvSpPr>
          <p:cNvPr id="4" name="Text Box 1015"/>
          <p:cNvSpPr txBox="1">
            <a:spLocks noChangeArrowheads="1"/>
          </p:cNvSpPr>
          <p:nvPr/>
        </p:nvSpPr>
        <p:spPr bwMode="auto">
          <a:xfrm>
            <a:off x="2051720" y="764957"/>
            <a:ext cx="6984776" cy="200474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tIns="64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包含多个寄存器；</a:t>
            </a:r>
            <a:endParaRPr lang="en-US" altLang="zh-CN" sz="22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按地址读、写某个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</a:rPr>
              <a:t>REG</a:t>
            </a:r>
            <a:r>
              <a:rPr lang="zh-CN" altLang="en-US" sz="2200" b="1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zh-CN" altLang="en-US" sz="2200" b="1" dirty="0">
                <a:latin typeface="+mn-ea"/>
                <a:ea typeface="+mn-ea"/>
              </a:rPr>
              <a:t>读和写</a:t>
            </a:r>
            <a:r>
              <a:rPr lang="zh-CN" altLang="en-US" sz="2200" b="1" u="sng" dirty="0">
                <a:solidFill>
                  <a:srgbClr val="990099"/>
                </a:solidFill>
                <a:latin typeface="+mn-ea"/>
                <a:ea typeface="+mn-ea"/>
              </a:rPr>
              <a:t>可同时</a:t>
            </a:r>
            <a:r>
              <a:rPr lang="zh-CN" altLang="en-US" sz="2200" b="1" dirty="0">
                <a:latin typeface="+mn-ea"/>
                <a:ea typeface="+mn-ea"/>
              </a:rPr>
              <a:t>进行</a:t>
            </a:r>
            <a:endParaRPr lang="en-US" altLang="zh-CN" sz="22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zh-CN" altLang="en-US" sz="1600" b="1" dirty="0">
                <a:latin typeface="+mn-ea"/>
              </a:rPr>
              <a:t>                                       </a:t>
            </a:r>
            <a:r>
              <a:rPr lang="zh-CN" altLang="en-US" sz="1600" dirty="0">
                <a:latin typeface="+mn-ea"/>
              </a:rPr>
              <a:t>└</a:t>
            </a:r>
            <a:r>
              <a:rPr lang="zh-CN" altLang="en-US" sz="1600" b="1" dirty="0">
                <a:latin typeface="+mn-ea"/>
              </a:rPr>
              <a:t>←读端口、写端口各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个</a:t>
            </a:r>
            <a:endParaRPr lang="en-US" altLang="zh-CN" sz="1600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+mn-ea"/>
              </a:rPr>
              <a:t>        </a:t>
            </a:r>
            <a:r>
              <a:rPr lang="zh-CN" altLang="en-US" sz="2200" b="1" dirty="0">
                <a:latin typeface="+mn-ea"/>
              </a:rPr>
              <a:t>地址</a:t>
            </a:r>
            <a:r>
              <a:rPr lang="en-US" altLang="zh-CN" sz="2200" b="1" dirty="0" err="1">
                <a:latin typeface="+mn-ea"/>
              </a:rPr>
              <a:t>rA</a:t>
            </a:r>
            <a:r>
              <a:rPr lang="zh-CN" altLang="en-US" sz="2200" b="1" dirty="0">
                <a:latin typeface="+mn-ea"/>
              </a:rPr>
              <a:t>，数据</a:t>
            </a:r>
            <a:r>
              <a:rPr lang="en-US" altLang="zh-CN" sz="2200" b="1" dirty="0">
                <a:latin typeface="+mn-ea"/>
              </a:rPr>
              <a:t>Q              </a:t>
            </a:r>
            <a:r>
              <a:rPr lang="zh-CN" altLang="en-US" sz="1600" b="1" dirty="0">
                <a:latin typeface="+mn-ea"/>
              </a:rPr>
              <a:t>←读为</a:t>
            </a:r>
            <a:r>
              <a:rPr lang="zh-CN" altLang="en-US" sz="1600" b="1" u="sng" dirty="0">
                <a:solidFill>
                  <a:srgbClr val="0070C0"/>
                </a:solidFill>
                <a:latin typeface="+mn-ea"/>
              </a:rPr>
              <a:t>组合逻辑</a:t>
            </a:r>
            <a:r>
              <a:rPr lang="zh-CN" altLang="en-US" sz="1600" b="1" dirty="0">
                <a:latin typeface="+mn-ea"/>
              </a:rPr>
              <a:t>操作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+mn-ea"/>
              </a:rPr>
              <a:t>        </a:t>
            </a:r>
            <a:r>
              <a:rPr lang="zh-CN" altLang="en-US" sz="2200" b="1" dirty="0">
                <a:latin typeface="+mn-ea"/>
              </a:rPr>
              <a:t>地址</a:t>
            </a:r>
            <a:r>
              <a:rPr lang="en-US" altLang="zh-CN" sz="2200" b="1" dirty="0" err="1">
                <a:latin typeface="+mn-ea"/>
              </a:rPr>
              <a:t>wA</a:t>
            </a:r>
            <a:r>
              <a:rPr lang="zh-CN" altLang="en-US" sz="2200" b="1" dirty="0">
                <a:latin typeface="+mn-ea"/>
              </a:rPr>
              <a:t>，数据</a:t>
            </a:r>
            <a:r>
              <a:rPr lang="en-US" altLang="zh-CN" sz="2200" b="1" dirty="0">
                <a:latin typeface="+mn-ea"/>
              </a:rPr>
              <a:t>D</a:t>
            </a:r>
            <a:r>
              <a:rPr lang="zh-CN" altLang="en-US" sz="2200" b="1" dirty="0">
                <a:latin typeface="+mn-ea"/>
              </a:rPr>
              <a:t>，控制</a:t>
            </a:r>
            <a:r>
              <a:rPr lang="en-US" altLang="zh-CN" sz="2200" b="1" dirty="0" err="1">
                <a:latin typeface="+mn-ea"/>
              </a:rPr>
              <a:t>Wr</a:t>
            </a:r>
            <a:r>
              <a:rPr lang="zh-CN" altLang="en-US" sz="2200" b="1" dirty="0">
                <a:latin typeface="+mn-ea"/>
              </a:rPr>
              <a:t>、</a:t>
            </a:r>
            <a:r>
              <a:rPr lang="en-US" altLang="zh-CN" sz="2200" b="1" dirty="0">
                <a:latin typeface="+mn-ea"/>
              </a:rPr>
              <a:t>CP </a:t>
            </a:r>
            <a:r>
              <a:rPr lang="zh-CN" altLang="en-US" sz="1600" b="1" dirty="0">
                <a:latin typeface="+mn-ea"/>
              </a:rPr>
              <a:t> ←写为</a:t>
            </a:r>
            <a:r>
              <a:rPr lang="zh-CN" altLang="en-US" sz="1600" b="1" u="sng" dirty="0">
                <a:solidFill>
                  <a:srgbClr val="0070C0"/>
                </a:solidFill>
                <a:latin typeface="+mn-ea"/>
              </a:rPr>
              <a:t>时序逻辑</a:t>
            </a:r>
            <a:r>
              <a:rPr lang="zh-CN" altLang="en-US" sz="1600" b="1" dirty="0">
                <a:latin typeface="+mn-ea"/>
              </a:rPr>
              <a:t>操作</a:t>
            </a:r>
            <a:endParaRPr lang="en-US" altLang="zh-CN" sz="2200" b="1" dirty="0">
              <a:latin typeface="+mn-ea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467488"/>
              </p:ext>
            </p:extLst>
          </p:nvPr>
        </p:nvGraphicFramePr>
        <p:xfrm>
          <a:off x="1979712" y="2846080"/>
          <a:ext cx="4608512" cy="1158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5979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rA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rW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Wr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CP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R[</a:t>
                      </a:r>
                      <a:r>
                        <a:rPr lang="en-US" altLang="zh-CN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rW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R[a]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不变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上升沿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R[a]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792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非上升沿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R[a]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不变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3131840" y="4365104"/>
            <a:ext cx="2376264" cy="1008113"/>
            <a:chOff x="3131840" y="4653136"/>
            <a:chExt cx="2376264" cy="1008113"/>
          </a:xfrm>
        </p:grpSpPr>
        <p:sp>
          <p:nvSpPr>
            <p:cNvPr id="50" name="流程图: 手动操作 49"/>
            <p:cNvSpPr/>
            <p:nvPr/>
          </p:nvSpPr>
          <p:spPr bwMode="auto">
            <a:xfrm rot="16200000">
              <a:off x="5112104" y="4905145"/>
              <a:ext cx="576000" cy="216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0  7</a:t>
              </a:r>
              <a:endParaRPr kumimoji="1" lang="zh-CN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52" name="直接连接符 51"/>
            <p:cNvCxnSpPr/>
            <p:nvPr/>
          </p:nvCxnSpPr>
          <p:spPr bwMode="auto">
            <a:xfrm flipV="1">
              <a:off x="4715968" y="4869160"/>
              <a:ext cx="576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5" name="直接连接符 54"/>
            <p:cNvCxnSpPr/>
            <p:nvPr/>
          </p:nvCxnSpPr>
          <p:spPr bwMode="auto">
            <a:xfrm flipV="1">
              <a:off x="4715944" y="5661248"/>
              <a:ext cx="216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直接连接符 55"/>
            <p:cNvCxnSpPr/>
            <p:nvPr/>
          </p:nvCxnSpPr>
          <p:spPr bwMode="auto">
            <a:xfrm>
              <a:off x="5436096" y="4653136"/>
              <a:ext cx="0" cy="144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7" name="直接连接符 56"/>
            <p:cNvCxnSpPr/>
            <p:nvPr/>
          </p:nvCxnSpPr>
          <p:spPr bwMode="auto">
            <a:xfrm>
              <a:off x="3131840" y="4653136"/>
              <a:ext cx="230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 bwMode="auto">
            <a:xfrm flipV="1">
              <a:off x="4932040" y="5157192"/>
              <a:ext cx="360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 bwMode="auto">
            <a:xfrm flipV="1">
              <a:off x="4932040" y="5157168"/>
              <a:ext cx="0" cy="504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60" name="Text Box 18"/>
            <p:cNvSpPr txBox="1">
              <a:spLocks noChangeArrowheads="1"/>
            </p:cNvSpPr>
            <p:nvPr/>
          </p:nvSpPr>
          <p:spPr bwMode="auto">
            <a:xfrm rot="16200000">
              <a:off x="5039534" y="4905683"/>
              <a:ext cx="288000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131840" y="4581128"/>
            <a:ext cx="1008040" cy="1080200"/>
            <a:chOff x="3131840" y="4869160"/>
            <a:chExt cx="1008040" cy="1080200"/>
          </a:xfrm>
        </p:grpSpPr>
        <p:cxnSp>
          <p:nvCxnSpPr>
            <p:cNvPr id="34" name="直接连接符 33"/>
            <p:cNvCxnSpPr/>
            <p:nvPr/>
          </p:nvCxnSpPr>
          <p:spPr bwMode="auto">
            <a:xfrm flipV="1">
              <a:off x="3779840" y="5661360"/>
              <a:ext cx="360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35" name="直接连接符 34"/>
            <p:cNvCxnSpPr/>
            <p:nvPr/>
          </p:nvCxnSpPr>
          <p:spPr bwMode="auto">
            <a:xfrm flipV="1">
              <a:off x="3923880" y="4941248"/>
              <a:ext cx="216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6" name="直接连接符 35"/>
            <p:cNvCxnSpPr/>
            <p:nvPr/>
          </p:nvCxnSpPr>
          <p:spPr bwMode="auto">
            <a:xfrm flipV="1">
              <a:off x="3923856" y="5733368"/>
              <a:ext cx="216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37" name="直接连接符 36"/>
            <p:cNvCxnSpPr/>
            <p:nvPr/>
          </p:nvCxnSpPr>
          <p:spPr bwMode="auto">
            <a:xfrm flipV="1">
              <a:off x="3923856" y="4941248"/>
              <a:ext cx="24" cy="1008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直接连接符 37"/>
            <p:cNvCxnSpPr/>
            <p:nvPr/>
          </p:nvCxnSpPr>
          <p:spPr bwMode="auto">
            <a:xfrm flipV="1">
              <a:off x="3491880" y="5013256"/>
              <a:ext cx="648000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 bwMode="auto">
            <a:xfrm flipV="1">
              <a:off x="3491880" y="5805343"/>
              <a:ext cx="648000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40" name="直接连接符 39"/>
            <p:cNvCxnSpPr/>
            <p:nvPr/>
          </p:nvCxnSpPr>
          <p:spPr bwMode="auto">
            <a:xfrm>
              <a:off x="3779840" y="4869160"/>
              <a:ext cx="24" cy="792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41" name="直接连接符 40"/>
            <p:cNvCxnSpPr/>
            <p:nvPr/>
          </p:nvCxnSpPr>
          <p:spPr bwMode="auto">
            <a:xfrm>
              <a:off x="3131840" y="5949360"/>
              <a:ext cx="792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2" name="矩形 41"/>
            <p:cNvSpPr/>
            <p:nvPr/>
          </p:nvSpPr>
          <p:spPr>
            <a:xfrm>
              <a:off x="3203848" y="4941248"/>
              <a:ext cx="288032" cy="93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 anchorCtr="1"/>
            <a:lstStyle/>
            <a:p>
              <a:r>
                <a:rPr lang="zh-CN" altLang="en-US" sz="1600" b="1" dirty="0">
                  <a:solidFill>
                    <a:schemeClr val="tx1"/>
                  </a:solidFill>
                  <a:latin typeface="+mn-ea"/>
                </a:rPr>
                <a:t>译码器</a:t>
              </a:r>
            </a:p>
          </p:txBody>
        </p:sp>
        <p:sp>
          <p:nvSpPr>
            <p:cNvPr id="53" name="Text Box 18"/>
            <p:cNvSpPr txBox="1">
              <a:spLocks noChangeArrowheads="1"/>
            </p:cNvSpPr>
            <p:nvPr/>
          </p:nvSpPr>
          <p:spPr bwMode="auto">
            <a:xfrm rot="16200000">
              <a:off x="3455358" y="5265834"/>
              <a:ext cx="288000" cy="2149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61" name="直接连接符 60"/>
            <p:cNvCxnSpPr/>
            <p:nvPr/>
          </p:nvCxnSpPr>
          <p:spPr bwMode="auto">
            <a:xfrm flipV="1">
              <a:off x="3131840" y="4869160"/>
              <a:ext cx="1008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2b5e824-ef97-4852-b711-217f15a3a636"/>
  <p:tag name="COMMONDATA" val="eyJoZGlkIjoiY2ZiYjY4MjU5YzBkYmJmZjUyNGJiOWY1ZTc3NzM1M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944a799-bd0b-495d-b21b-f7e6b065f748}"/>
  <p:tag name="TABLE_ENDDRAG_ORIGIN_RECT" val="182*16"/>
  <p:tag name="TABLE_ENDDRAG_RECT" val="137*388*182*16"/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9d45bc0-3aa2-4f56-93ad-ad1dea5da0a8}"/>
  <p:tag name="TABLE_ENDDRAG_ORIGIN_RECT" val="126*81"/>
  <p:tag name="TABLE_ENDDRAG_RECT" val="119*356*126*81"/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7810,&quot;width&quot;:13140}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3452</TotalTime>
  <Words>9980</Words>
  <Application>Microsoft Office PowerPoint</Application>
  <PresentationFormat>全屏显示(4:3)</PresentationFormat>
  <Paragraphs>1900</Paragraphs>
  <Slides>48</Slides>
  <Notes>37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6" baseType="lpstr">
      <vt:lpstr>Arial Unicode MS</vt:lpstr>
      <vt:lpstr>MS Gothic</vt:lpstr>
      <vt:lpstr>黑体</vt:lpstr>
      <vt:lpstr>宋体</vt:lpstr>
      <vt:lpstr>Cambria Math</vt:lpstr>
      <vt:lpstr>Times New Roman</vt:lpstr>
      <vt:lpstr>默认设计模板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任国林</dc:creator>
  <cp:lastModifiedBy>guolin</cp:lastModifiedBy>
  <cp:revision>1641</cp:revision>
  <dcterms:created xsi:type="dcterms:W3CDTF">2002-02-16T03:40:00Z</dcterms:created>
  <dcterms:modified xsi:type="dcterms:W3CDTF">2025-09-26T00:57:40Z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F87F95962CE54E15A3459F2AF9FEFC6A_12</vt:lpwstr>
  </property>
  <property fmtid="{D5CDD505-2E9C-101B-9397-08002B2CF9AE}" pid="3" name="KSOProductBuildVer">
    <vt:lpwstr>2052-12.1.0.16250</vt:lpwstr>
  </property>
</Properties>
</file>