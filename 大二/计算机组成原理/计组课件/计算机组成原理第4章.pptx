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3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5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6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7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notesSlides/notesSlide8.xml" ContentType="application/vnd.openxmlformats-officedocument.presentationml.notesSlide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notesSlides/notesSlide9.xml" ContentType="application/vnd.openxmlformats-officedocument.presentationml.notesSlide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notesSlides/notesSlide10.xml" ContentType="application/vnd.openxmlformats-officedocument.presentationml.notesSlide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notesSlides/notesSlide11.xml" ContentType="application/vnd.openxmlformats-officedocument.presentationml.notesSlide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notesSlides/notesSlide12.xml" ContentType="application/vnd.openxmlformats-officedocument.presentationml.notesSlide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notesSlides/notesSlide13.xml" ContentType="application/vnd.openxmlformats-officedocument.presentationml.notesSlide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notesSlides/notesSlide14.xml" ContentType="application/vnd.openxmlformats-officedocument.presentationml.notesSlide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notesSlides/notesSlide15.xml" ContentType="application/vnd.openxmlformats-officedocument.presentationml.notesSlide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notesSlides/notesSlide16.xml" ContentType="application/vnd.openxmlformats-officedocument.presentationml.notesSlide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notesSlides/notesSlide17.xml" ContentType="application/vnd.openxmlformats-officedocument.presentationml.notesSlide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notesSlides/notesSlide18.xml" ContentType="application/vnd.openxmlformats-officedocument.presentationml.notesSlide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notesSlides/notesSlide19.xml" ContentType="application/vnd.openxmlformats-officedocument.presentationml.notesSlide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notesSlides/notesSlide20.xml" ContentType="application/vnd.openxmlformats-officedocument.presentationml.notesSlide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notesSlides/notesSlide21.xml" ContentType="application/vnd.openxmlformats-officedocument.presentationml.notesSlide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8" r:id="rId2"/>
    <p:sldId id="1064" r:id="rId3"/>
    <p:sldId id="922" r:id="rId4"/>
    <p:sldId id="790" r:id="rId5"/>
    <p:sldId id="923" r:id="rId6"/>
    <p:sldId id="521" r:id="rId7"/>
    <p:sldId id="570" r:id="rId8"/>
    <p:sldId id="736" r:id="rId9"/>
    <p:sldId id="813" r:id="rId10"/>
    <p:sldId id="976" r:id="rId11"/>
    <p:sldId id="977" r:id="rId12"/>
    <p:sldId id="979" r:id="rId13"/>
    <p:sldId id="980" r:id="rId14"/>
    <p:sldId id="981" r:id="rId15"/>
    <p:sldId id="982" r:id="rId16"/>
    <p:sldId id="983" r:id="rId17"/>
    <p:sldId id="738" r:id="rId18"/>
    <p:sldId id="984" r:id="rId19"/>
    <p:sldId id="752" r:id="rId20"/>
    <p:sldId id="1033" r:id="rId21"/>
    <p:sldId id="775" r:id="rId22"/>
    <p:sldId id="824" r:id="rId23"/>
    <p:sldId id="832" r:id="rId24"/>
    <p:sldId id="833" r:id="rId25"/>
    <p:sldId id="834" r:id="rId26"/>
    <p:sldId id="835" r:id="rId27"/>
    <p:sldId id="828" r:id="rId28"/>
    <p:sldId id="829" r:id="rId29"/>
    <p:sldId id="1034" r:id="rId30"/>
    <p:sldId id="836" r:id="rId31"/>
    <p:sldId id="842" r:id="rId32"/>
    <p:sldId id="843" r:id="rId33"/>
    <p:sldId id="846" r:id="rId34"/>
    <p:sldId id="1038" r:id="rId35"/>
    <p:sldId id="847" r:id="rId36"/>
    <p:sldId id="1040" r:id="rId37"/>
    <p:sldId id="848" r:id="rId38"/>
    <p:sldId id="1065" r:id="rId39"/>
    <p:sldId id="1041" r:id="rId40"/>
    <p:sldId id="1042" r:id="rId41"/>
    <p:sldId id="849" r:id="rId42"/>
    <p:sldId id="1066" r:id="rId43"/>
    <p:sldId id="1067" r:id="rId44"/>
    <p:sldId id="1069" r:id="rId45"/>
  </p:sldIdLst>
  <p:sldSz cx="9144000" cy="6858000" type="screen4x3"/>
  <p:notesSz cx="6858000" cy="9144000"/>
  <p:custDataLst>
    <p:tags r:id="rId4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3399"/>
    <a:srgbClr val="CCCCFF"/>
    <a:srgbClr val="990099"/>
    <a:srgbClr val="99CCFF"/>
    <a:srgbClr val="FFCC99"/>
    <a:srgbClr val="CC99FF"/>
    <a:srgbClr val="CCECFF"/>
    <a:srgbClr val="FFCC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3631" autoAdjust="0"/>
  </p:normalViewPr>
  <p:slideViewPr>
    <p:cSldViewPr showGuides="1">
      <p:cViewPr varScale="1">
        <p:scale>
          <a:sx n="89" d="100"/>
          <a:sy n="89" d="100"/>
        </p:scale>
        <p:origin x="1256" y="40"/>
      </p:cViewPr>
      <p:guideLst>
        <p:guide orient="horz" pos="2205"/>
        <p:guide pos="25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学时（至</a:t>
            </a:r>
            <a:r>
              <a:rPr lang="en-US" altLang="zh-CN"/>
              <a:t>OPD</a:t>
            </a:r>
            <a:r>
              <a:rPr lang="zh-CN" altLang="en-US"/>
              <a:t>），</a:t>
            </a:r>
            <a:r>
              <a:rPr lang="en-US" altLang="zh-CN"/>
              <a:t>3</a:t>
            </a:r>
            <a:r>
              <a:rPr lang="zh-CN" altLang="en-US"/>
              <a:t>学时（</a:t>
            </a:r>
            <a:r>
              <a:rPr lang="en-US" altLang="zh-CN"/>
              <a:t>4.1</a:t>
            </a:r>
            <a:r>
              <a:rPr lang="zh-CN" altLang="en-US"/>
              <a:t>结束），</a:t>
            </a:r>
            <a:r>
              <a:rPr lang="en-US" altLang="zh-CN"/>
              <a:t>2</a:t>
            </a:r>
            <a:r>
              <a:rPr lang="zh-CN" altLang="en-US"/>
              <a:t>学时（结束）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思考：当前指令中仅</a:t>
            </a:r>
            <a:r>
              <a:rPr lang="en-US" altLang="zh-CN" dirty="0"/>
              <a:t>1</a:t>
            </a:r>
            <a:r>
              <a:rPr lang="zh-CN" altLang="en-US" dirty="0"/>
              <a:t>种取值，基于操作码。   </a:t>
            </a:r>
            <a:r>
              <a:rPr lang="en-US" altLang="zh-CN" dirty="0"/>
              <a:t>P14-</a:t>
            </a:r>
            <a:r>
              <a:rPr lang="zh-CN" altLang="en-US" dirty="0"/>
              <a:t>看</a:t>
            </a:r>
            <a:r>
              <a:rPr lang="en-US" altLang="zh-CN" dirty="0"/>
              <a:t>OPD</a:t>
            </a:r>
            <a:r>
              <a:rPr lang="zh-CN" altLang="en-US" dirty="0"/>
              <a:t>寻址方式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P7-</a:t>
            </a:r>
            <a:r>
              <a:rPr lang="zh-CN" altLang="en-US" dirty="0"/>
              <a:t>看多个</a:t>
            </a:r>
            <a:r>
              <a:rPr lang="en-US" altLang="zh-CN" dirty="0"/>
              <a:t>REG</a:t>
            </a:r>
            <a:r>
              <a:rPr lang="zh-CN" altLang="en-US" dirty="0"/>
              <a:t>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6098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思考：调整结构元素次序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思考：定长指令字结构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OPD</a:t>
            </a:r>
            <a:r>
              <a:rPr lang="zh-CN" altLang="en-US" dirty="0"/>
              <a:t>存放部件不同，导致地址参数是</a:t>
            </a:r>
            <a:r>
              <a:rPr lang="en-US" altLang="zh-CN" dirty="0"/>
              <a:t>OPD</a:t>
            </a:r>
            <a:r>
              <a:rPr lang="zh-CN" altLang="en-US" dirty="0"/>
              <a:t>还是</a:t>
            </a:r>
            <a:r>
              <a:rPr lang="en-US" altLang="zh-CN" dirty="0"/>
              <a:t>OPD</a:t>
            </a:r>
            <a:r>
              <a:rPr lang="zh-CN" altLang="en-US" dirty="0"/>
              <a:t>的</a:t>
            </a:r>
            <a:r>
              <a:rPr lang="en-US" altLang="zh-CN" dirty="0"/>
              <a:t>EA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 eaLnBrk="1" latinLnBrk="0" hangingPunct="1">
              <a:lnSpc>
                <a:spcPct val="90000"/>
              </a:lnSpc>
            </a:pPr>
            <a:r>
              <a:rPr lang="zh-CN" altLang="en-US"/>
              <a:t>思考：变址</a:t>
            </a:r>
            <a:r>
              <a:rPr lang="en-US" altLang="zh-CN"/>
              <a:t>REG</a:t>
            </a:r>
            <a:r>
              <a:rPr lang="zh-CN" altLang="en-US"/>
              <a:t>自动</a:t>
            </a:r>
            <a:r>
              <a:rPr lang="en-US" altLang="zh-CN"/>
              <a:t>+1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P23-</a:t>
            </a:r>
            <a:r>
              <a:rPr lang="zh-CN" altLang="en-US" dirty="0">
                <a:sym typeface="+mn-ea"/>
              </a:rPr>
              <a:t>看指令寻址取指时</a:t>
            </a:r>
            <a:r>
              <a:rPr lang="en-US" altLang="zh-CN" dirty="0">
                <a:sym typeface="+mn-ea"/>
              </a:rPr>
              <a:t>+1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P26-</a:t>
            </a:r>
            <a:r>
              <a:rPr lang="zh-CN" altLang="en-US"/>
              <a:t>看基址</a:t>
            </a:r>
            <a:r>
              <a:rPr lang="en-US" altLang="zh-CN"/>
              <a:t>/</a:t>
            </a:r>
            <a:r>
              <a:rPr lang="zh-CN" altLang="en-US"/>
              <a:t>变址寻址，</a:t>
            </a:r>
            <a:r>
              <a:rPr lang="en-US" altLang="zh-CN"/>
              <a:t> P27-</a:t>
            </a:r>
            <a:r>
              <a:rPr lang="zh-CN" altLang="en-US"/>
              <a:t>看相对寻址</a:t>
            </a:r>
            <a:r>
              <a:rPr lang="en-US" altLang="zh-CN"/>
              <a:t>disp</a:t>
            </a:r>
            <a:r>
              <a:rPr lang="zh-CN" altLang="en-US"/>
              <a:t>位有符号数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P23-</a:t>
            </a:r>
            <a:r>
              <a:rPr lang="zh-CN" altLang="en-US" dirty="0">
                <a:sym typeface="+mn-ea"/>
              </a:rPr>
              <a:t>看指令的寻址方式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理由：直接寻址的地址为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的长度为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长度、机器字长为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位。指令寻址指明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变址单位为</a:t>
            </a:r>
            <a:r>
              <a:rPr lang="en-US" altLang="zh-CN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P36</a:t>
            </a:r>
            <a:r>
              <a:rPr lang="zh-CN" altLang="en-US" dirty="0">
                <a:sym typeface="+mn-ea"/>
              </a:rPr>
              <a:t>、上页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看指令字格式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slide" Target="slide33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2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18.xml"/><Relationship Id="rId5" Type="http://schemas.openxmlformats.org/officeDocument/2006/relationships/tags" Target="../tags/tag7.xml"/><Relationship Id="rId10" Type="http://schemas.openxmlformats.org/officeDocument/2006/relationships/slide" Target="slide3.xml"/><Relationship Id="rId4" Type="http://schemas.openxmlformats.org/officeDocument/2006/relationships/tags" Target="../tags/tag6.xml"/><Relationship Id="rId9" Type="http://schemas.openxmlformats.org/officeDocument/2006/relationships/notesSlide" Target="../notesSlides/notesSlide2.xml"/><Relationship Id="rId14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35.xml"/><Relationship Id="rId21" Type="http://schemas.openxmlformats.org/officeDocument/2006/relationships/tags" Target="../tags/tag30.xml"/><Relationship Id="rId42" Type="http://schemas.openxmlformats.org/officeDocument/2006/relationships/tags" Target="../tags/tag51.xml"/><Relationship Id="rId47" Type="http://schemas.openxmlformats.org/officeDocument/2006/relationships/tags" Target="../tags/tag56.xml"/><Relationship Id="rId63" Type="http://schemas.openxmlformats.org/officeDocument/2006/relationships/tags" Target="../tags/tag72.xml"/><Relationship Id="rId68" Type="http://schemas.openxmlformats.org/officeDocument/2006/relationships/tags" Target="../tags/tag77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9" Type="http://schemas.openxmlformats.org/officeDocument/2006/relationships/tags" Target="../tags/tag38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tags" Target="../tags/tag41.xml"/><Relationship Id="rId37" Type="http://schemas.openxmlformats.org/officeDocument/2006/relationships/tags" Target="../tags/tag46.xml"/><Relationship Id="rId40" Type="http://schemas.openxmlformats.org/officeDocument/2006/relationships/tags" Target="../tags/tag49.xml"/><Relationship Id="rId45" Type="http://schemas.openxmlformats.org/officeDocument/2006/relationships/tags" Target="../tags/tag54.xml"/><Relationship Id="rId53" Type="http://schemas.openxmlformats.org/officeDocument/2006/relationships/tags" Target="../tags/tag62.xml"/><Relationship Id="rId58" Type="http://schemas.openxmlformats.org/officeDocument/2006/relationships/tags" Target="../tags/tag67.xml"/><Relationship Id="rId66" Type="http://schemas.openxmlformats.org/officeDocument/2006/relationships/tags" Target="../tags/tag75.xml"/><Relationship Id="rId5" Type="http://schemas.openxmlformats.org/officeDocument/2006/relationships/tags" Target="../tags/tag14.xml"/><Relationship Id="rId61" Type="http://schemas.openxmlformats.org/officeDocument/2006/relationships/tags" Target="../tags/tag70.xml"/><Relationship Id="rId19" Type="http://schemas.openxmlformats.org/officeDocument/2006/relationships/tags" Target="../tags/tag2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tags" Target="../tags/tag44.xml"/><Relationship Id="rId43" Type="http://schemas.openxmlformats.org/officeDocument/2006/relationships/tags" Target="../tags/tag52.xml"/><Relationship Id="rId48" Type="http://schemas.openxmlformats.org/officeDocument/2006/relationships/tags" Target="../tags/tag57.xml"/><Relationship Id="rId56" Type="http://schemas.openxmlformats.org/officeDocument/2006/relationships/tags" Target="../tags/tag65.xml"/><Relationship Id="rId64" Type="http://schemas.openxmlformats.org/officeDocument/2006/relationships/tags" Target="../tags/tag73.xml"/><Relationship Id="rId69" Type="http://schemas.openxmlformats.org/officeDocument/2006/relationships/tags" Target="../tags/tag78.xml"/><Relationship Id="rId8" Type="http://schemas.openxmlformats.org/officeDocument/2006/relationships/tags" Target="../tags/tag17.xml"/><Relationship Id="rId51" Type="http://schemas.openxmlformats.org/officeDocument/2006/relationships/tags" Target="../tags/tag60.xml"/><Relationship Id="rId72" Type="http://schemas.openxmlformats.org/officeDocument/2006/relationships/slideLayout" Target="../slideLayouts/slideLayout7.xml"/><Relationship Id="rId3" Type="http://schemas.openxmlformats.org/officeDocument/2006/relationships/tags" Target="../tags/tag12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38" Type="http://schemas.openxmlformats.org/officeDocument/2006/relationships/tags" Target="../tags/tag47.xml"/><Relationship Id="rId46" Type="http://schemas.openxmlformats.org/officeDocument/2006/relationships/tags" Target="../tags/tag55.xml"/><Relationship Id="rId59" Type="http://schemas.openxmlformats.org/officeDocument/2006/relationships/tags" Target="../tags/tag68.xml"/><Relationship Id="rId67" Type="http://schemas.openxmlformats.org/officeDocument/2006/relationships/tags" Target="../tags/tag76.xml"/><Relationship Id="rId20" Type="http://schemas.openxmlformats.org/officeDocument/2006/relationships/tags" Target="../tags/tag29.xml"/><Relationship Id="rId41" Type="http://schemas.openxmlformats.org/officeDocument/2006/relationships/tags" Target="../tags/tag50.xml"/><Relationship Id="rId54" Type="http://schemas.openxmlformats.org/officeDocument/2006/relationships/tags" Target="../tags/tag63.xml"/><Relationship Id="rId62" Type="http://schemas.openxmlformats.org/officeDocument/2006/relationships/tags" Target="../tags/tag71.xml"/><Relationship Id="rId70" Type="http://schemas.openxmlformats.org/officeDocument/2006/relationships/tags" Target="../tags/tag79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tags" Target="../tags/tag45.xml"/><Relationship Id="rId49" Type="http://schemas.openxmlformats.org/officeDocument/2006/relationships/tags" Target="../tags/tag58.xml"/><Relationship Id="rId57" Type="http://schemas.openxmlformats.org/officeDocument/2006/relationships/tags" Target="../tags/tag66.xml"/><Relationship Id="rId10" Type="http://schemas.openxmlformats.org/officeDocument/2006/relationships/tags" Target="../tags/tag19.xml"/><Relationship Id="rId31" Type="http://schemas.openxmlformats.org/officeDocument/2006/relationships/tags" Target="../tags/tag40.xml"/><Relationship Id="rId44" Type="http://schemas.openxmlformats.org/officeDocument/2006/relationships/tags" Target="../tags/tag53.xml"/><Relationship Id="rId52" Type="http://schemas.openxmlformats.org/officeDocument/2006/relationships/tags" Target="../tags/tag61.xml"/><Relationship Id="rId60" Type="http://schemas.openxmlformats.org/officeDocument/2006/relationships/tags" Target="../tags/tag69.xml"/><Relationship Id="rId65" Type="http://schemas.openxmlformats.org/officeDocument/2006/relationships/tags" Target="../tags/tag74.xml"/><Relationship Id="rId73" Type="http://schemas.openxmlformats.org/officeDocument/2006/relationships/slide" Target="slide8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9" Type="http://schemas.openxmlformats.org/officeDocument/2006/relationships/tags" Target="../tags/tag48.xml"/><Relationship Id="rId34" Type="http://schemas.openxmlformats.org/officeDocument/2006/relationships/tags" Target="../tags/tag43.xml"/><Relationship Id="rId50" Type="http://schemas.openxmlformats.org/officeDocument/2006/relationships/tags" Target="../tags/tag59.xml"/><Relationship Id="rId55" Type="http://schemas.openxmlformats.org/officeDocument/2006/relationships/tags" Target="../tags/tag64.xml"/><Relationship Id="rId7" Type="http://schemas.openxmlformats.org/officeDocument/2006/relationships/tags" Target="../tags/tag16.xml"/><Relationship Id="rId71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tags" Target="../tags/tag107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slide" Target="slide3.xml"/><Relationship Id="rId5" Type="http://schemas.openxmlformats.org/officeDocument/2006/relationships/tags" Target="../tags/tag114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113.xml"/><Relationship Id="rId9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44.xml"/><Relationship Id="rId18" Type="http://schemas.openxmlformats.org/officeDocument/2006/relationships/tags" Target="../tags/tag149.xml"/><Relationship Id="rId26" Type="http://schemas.openxmlformats.org/officeDocument/2006/relationships/tags" Target="../tags/tag157.xml"/><Relationship Id="rId39" Type="http://schemas.openxmlformats.org/officeDocument/2006/relationships/tags" Target="../tags/tag170.xml"/><Relationship Id="rId21" Type="http://schemas.openxmlformats.org/officeDocument/2006/relationships/tags" Target="../tags/tag152.xml"/><Relationship Id="rId34" Type="http://schemas.openxmlformats.org/officeDocument/2006/relationships/tags" Target="../tags/tag165.xml"/><Relationship Id="rId42" Type="http://schemas.openxmlformats.org/officeDocument/2006/relationships/tags" Target="../tags/tag173.xml"/><Relationship Id="rId47" Type="http://schemas.openxmlformats.org/officeDocument/2006/relationships/slideLayout" Target="../slideLayouts/slideLayout7.xml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29" Type="http://schemas.openxmlformats.org/officeDocument/2006/relationships/tags" Target="../tags/tag160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24" Type="http://schemas.openxmlformats.org/officeDocument/2006/relationships/tags" Target="../tags/tag155.xml"/><Relationship Id="rId32" Type="http://schemas.openxmlformats.org/officeDocument/2006/relationships/tags" Target="../tags/tag163.xml"/><Relationship Id="rId37" Type="http://schemas.openxmlformats.org/officeDocument/2006/relationships/tags" Target="../tags/tag168.xml"/><Relationship Id="rId40" Type="http://schemas.openxmlformats.org/officeDocument/2006/relationships/tags" Target="../tags/tag171.xml"/><Relationship Id="rId45" Type="http://schemas.openxmlformats.org/officeDocument/2006/relationships/tags" Target="../tags/tag176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23" Type="http://schemas.openxmlformats.org/officeDocument/2006/relationships/tags" Target="../tags/tag154.xml"/><Relationship Id="rId28" Type="http://schemas.openxmlformats.org/officeDocument/2006/relationships/tags" Target="../tags/tag159.xml"/><Relationship Id="rId36" Type="http://schemas.openxmlformats.org/officeDocument/2006/relationships/tags" Target="../tags/tag167.xml"/><Relationship Id="rId10" Type="http://schemas.openxmlformats.org/officeDocument/2006/relationships/tags" Target="../tags/tag141.xml"/><Relationship Id="rId19" Type="http://schemas.openxmlformats.org/officeDocument/2006/relationships/tags" Target="../tags/tag150.xml"/><Relationship Id="rId31" Type="http://schemas.openxmlformats.org/officeDocument/2006/relationships/tags" Target="../tags/tag162.xml"/><Relationship Id="rId44" Type="http://schemas.openxmlformats.org/officeDocument/2006/relationships/tags" Target="../tags/tag175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Relationship Id="rId22" Type="http://schemas.openxmlformats.org/officeDocument/2006/relationships/tags" Target="../tags/tag153.xml"/><Relationship Id="rId27" Type="http://schemas.openxmlformats.org/officeDocument/2006/relationships/tags" Target="../tags/tag158.xml"/><Relationship Id="rId30" Type="http://schemas.openxmlformats.org/officeDocument/2006/relationships/tags" Target="../tags/tag161.xml"/><Relationship Id="rId35" Type="http://schemas.openxmlformats.org/officeDocument/2006/relationships/tags" Target="../tags/tag166.xml"/><Relationship Id="rId43" Type="http://schemas.openxmlformats.org/officeDocument/2006/relationships/tags" Target="../tags/tag174.xml"/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5" Type="http://schemas.openxmlformats.org/officeDocument/2006/relationships/tags" Target="../tags/tag156.xml"/><Relationship Id="rId33" Type="http://schemas.openxmlformats.org/officeDocument/2006/relationships/tags" Target="../tags/tag164.xml"/><Relationship Id="rId38" Type="http://schemas.openxmlformats.org/officeDocument/2006/relationships/tags" Target="../tags/tag169.xml"/><Relationship Id="rId46" Type="http://schemas.openxmlformats.org/officeDocument/2006/relationships/tags" Target="../tags/tag177.xml"/><Relationship Id="rId20" Type="http://schemas.openxmlformats.org/officeDocument/2006/relationships/tags" Target="../tags/tag151.xml"/><Relationship Id="rId41" Type="http://schemas.openxmlformats.org/officeDocument/2006/relationships/tags" Target="../tags/tag1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1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207.xml"/><Relationship Id="rId21" Type="http://schemas.openxmlformats.org/officeDocument/2006/relationships/tags" Target="../tags/tag202.xml"/><Relationship Id="rId42" Type="http://schemas.openxmlformats.org/officeDocument/2006/relationships/tags" Target="../tags/tag223.xml"/><Relationship Id="rId47" Type="http://schemas.openxmlformats.org/officeDocument/2006/relationships/tags" Target="../tags/tag228.xml"/><Relationship Id="rId63" Type="http://schemas.openxmlformats.org/officeDocument/2006/relationships/tags" Target="../tags/tag244.xml"/><Relationship Id="rId68" Type="http://schemas.openxmlformats.org/officeDocument/2006/relationships/tags" Target="../tags/tag249.xml"/><Relationship Id="rId16" Type="http://schemas.openxmlformats.org/officeDocument/2006/relationships/tags" Target="../tags/tag197.xml"/><Relationship Id="rId11" Type="http://schemas.openxmlformats.org/officeDocument/2006/relationships/tags" Target="../tags/tag192.xml"/><Relationship Id="rId24" Type="http://schemas.openxmlformats.org/officeDocument/2006/relationships/tags" Target="../tags/tag205.xml"/><Relationship Id="rId32" Type="http://schemas.openxmlformats.org/officeDocument/2006/relationships/tags" Target="../tags/tag213.xml"/><Relationship Id="rId37" Type="http://schemas.openxmlformats.org/officeDocument/2006/relationships/tags" Target="../tags/tag218.xml"/><Relationship Id="rId40" Type="http://schemas.openxmlformats.org/officeDocument/2006/relationships/tags" Target="../tags/tag221.xml"/><Relationship Id="rId45" Type="http://schemas.openxmlformats.org/officeDocument/2006/relationships/tags" Target="../tags/tag226.xml"/><Relationship Id="rId53" Type="http://schemas.openxmlformats.org/officeDocument/2006/relationships/tags" Target="../tags/tag234.xml"/><Relationship Id="rId58" Type="http://schemas.openxmlformats.org/officeDocument/2006/relationships/tags" Target="../tags/tag239.xml"/><Relationship Id="rId66" Type="http://schemas.openxmlformats.org/officeDocument/2006/relationships/tags" Target="../tags/tag247.xml"/><Relationship Id="rId74" Type="http://schemas.openxmlformats.org/officeDocument/2006/relationships/tags" Target="../tags/tag255.xml"/><Relationship Id="rId79" Type="http://schemas.openxmlformats.org/officeDocument/2006/relationships/slideLayout" Target="../slideLayouts/slideLayout7.xml"/><Relationship Id="rId5" Type="http://schemas.openxmlformats.org/officeDocument/2006/relationships/tags" Target="../tags/tag186.xml"/><Relationship Id="rId61" Type="http://schemas.openxmlformats.org/officeDocument/2006/relationships/tags" Target="../tags/tag242.xml"/><Relationship Id="rId19" Type="http://schemas.openxmlformats.org/officeDocument/2006/relationships/tags" Target="../tags/tag200.xml"/><Relationship Id="rId14" Type="http://schemas.openxmlformats.org/officeDocument/2006/relationships/tags" Target="../tags/tag195.xml"/><Relationship Id="rId22" Type="http://schemas.openxmlformats.org/officeDocument/2006/relationships/tags" Target="../tags/tag203.xml"/><Relationship Id="rId27" Type="http://schemas.openxmlformats.org/officeDocument/2006/relationships/tags" Target="../tags/tag208.xml"/><Relationship Id="rId30" Type="http://schemas.openxmlformats.org/officeDocument/2006/relationships/tags" Target="../tags/tag211.xml"/><Relationship Id="rId35" Type="http://schemas.openxmlformats.org/officeDocument/2006/relationships/tags" Target="../tags/tag216.xml"/><Relationship Id="rId43" Type="http://schemas.openxmlformats.org/officeDocument/2006/relationships/tags" Target="../tags/tag224.xml"/><Relationship Id="rId48" Type="http://schemas.openxmlformats.org/officeDocument/2006/relationships/tags" Target="../tags/tag229.xml"/><Relationship Id="rId56" Type="http://schemas.openxmlformats.org/officeDocument/2006/relationships/tags" Target="../tags/tag237.xml"/><Relationship Id="rId64" Type="http://schemas.openxmlformats.org/officeDocument/2006/relationships/tags" Target="../tags/tag245.xml"/><Relationship Id="rId69" Type="http://schemas.openxmlformats.org/officeDocument/2006/relationships/tags" Target="../tags/tag250.xml"/><Relationship Id="rId77" Type="http://schemas.openxmlformats.org/officeDocument/2006/relationships/tags" Target="../tags/tag258.xml"/><Relationship Id="rId8" Type="http://schemas.openxmlformats.org/officeDocument/2006/relationships/tags" Target="../tags/tag189.xml"/><Relationship Id="rId51" Type="http://schemas.openxmlformats.org/officeDocument/2006/relationships/tags" Target="../tags/tag232.xml"/><Relationship Id="rId72" Type="http://schemas.openxmlformats.org/officeDocument/2006/relationships/tags" Target="../tags/tag253.xml"/><Relationship Id="rId3" Type="http://schemas.openxmlformats.org/officeDocument/2006/relationships/tags" Target="../tags/tag184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5" Type="http://schemas.openxmlformats.org/officeDocument/2006/relationships/tags" Target="../tags/tag206.xml"/><Relationship Id="rId33" Type="http://schemas.openxmlformats.org/officeDocument/2006/relationships/tags" Target="../tags/tag214.xml"/><Relationship Id="rId38" Type="http://schemas.openxmlformats.org/officeDocument/2006/relationships/tags" Target="../tags/tag219.xml"/><Relationship Id="rId46" Type="http://schemas.openxmlformats.org/officeDocument/2006/relationships/tags" Target="../tags/tag227.xml"/><Relationship Id="rId59" Type="http://schemas.openxmlformats.org/officeDocument/2006/relationships/tags" Target="../tags/tag240.xml"/><Relationship Id="rId67" Type="http://schemas.openxmlformats.org/officeDocument/2006/relationships/tags" Target="../tags/tag248.xml"/><Relationship Id="rId20" Type="http://schemas.openxmlformats.org/officeDocument/2006/relationships/tags" Target="../tags/tag201.xml"/><Relationship Id="rId41" Type="http://schemas.openxmlformats.org/officeDocument/2006/relationships/tags" Target="../tags/tag222.xml"/><Relationship Id="rId54" Type="http://schemas.openxmlformats.org/officeDocument/2006/relationships/tags" Target="../tags/tag235.xml"/><Relationship Id="rId62" Type="http://schemas.openxmlformats.org/officeDocument/2006/relationships/tags" Target="../tags/tag243.xml"/><Relationship Id="rId70" Type="http://schemas.openxmlformats.org/officeDocument/2006/relationships/tags" Target="../tags/tag251.xml"/><Relationship Id="rId75" Type="http://schemas.openxmlformats.org/officeDocument/2006/relationships/tags" Target="../tags/tag256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5" Type="http://schemas.openxmlformats.org/officeDocument/2006/relationships/tags" Target="../tags/tag196.xml"/><Relationship Id="rId23" Type="http://schemas.openxmlformats.org/officeDocument/2006/relationships/tags" Target="../tags/tag204.xml"/><Relationship Id="rId28" Type="http://schemas.openxmlformats.org/officeDocument/2006/relationships/tags" Target="../tags/tag209.xml"/><Relationship Id="rId36" Type="http://schemas.openxmlformats.org/officeDocument/2006/relationships/tags" Target="../tags/tag217.xml"/><Relationship Id="rId49" Type="http://schemas.openxmlformats.org/officeDocument/2006/relationships/tags" Target="../tags/tag230.xml"/><Relationship Id="rId57" Type="http://schemas.openxmlformats.org/officeDocument/2006/relationships/tags" Target="../tags/tag238.xml"/><Relationship Id="rId10" Type="http://schemas.openxmlformats.org/officeDocument/2006/relationships/tags" Target="../tags/tag191.xml"/><Relationship Id="rId31" Type="http://schemas.openxmlformats.org/officeDocument/2006/relationships/tags" Target="../tags/tag212.xml"/><Relationship Id="rId44" Type="http://schemas.openxmlformats.org/officeDocument/2006/relationships/tags" Target="../tags/tag225.xml"/><Relationship Id="rId52" Type="http://schemas.openxmlformats.org/officeDocument/2006/relationships/tags" Target="../tags/tag233.xml"/><Relationship Id="rId60" Type="http://schemas.openxmlformats.org/officeDocument/2006/relationships/tags" Target="../tags/tag241.xml"/><Relationship Id="rId65" Type="http://schemas.openxmlformats.org/officeDocument/2006/relationships/tags" Target="../tags/tag246.xml"/><Relationship Id="rId73" Type="http://schemas.openxmlformats.org/officeDocument/2006/relationships/tags" Target="../tags/tag254.xml"/><Relationship Id="rId78" Type="http://schemas.openxmlformats.org/officeDocument/2006/relationships/tags" Target="../tags/tag259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3" Type="http://schemas.openxmlformats.org/officeDocument/2006/relationships/tags" Target="../tags/tag194.xml"/><Relationship Id="rId18" Type="http://schemas.openxmlformats.org/officeDocument/2006/relationships/tags" Target="../tags/tag199.xml"/><Relationship Id="rId39" Type="http://schemas.openxmlformats.org/officeDocument/2006/relationships/tags" Target="../tags/tag220.xml"/><Relationship Id="rId34" Type="http://schemas.openxmlformats.org/officeDocument/2006/relationships/tags" Target="../tags/tag215.xml"/><Relationship Id="rId50" Type="http://schemas.openxmlformats.org/officeDocument/2006/relationships/tags" Target="../tags/tag231.xml"/><Relationship Id="rId55" Type="http://schemas.openxmlformats.org/officeDocument/2006/relationships/tags" Target="../tags/tag236.xml"/><Relationship Id="rId76" Type="http://schemas.openxmlformats.org/officeDocument/2006/relationships/tags" Target="../tags/tag257.xml"/><Relationship Id="rId7" Type="http://schemas.openxmlformats.org/officeDocument/2006/relationships/tags" Target="../tags/tag188.xml"/><Relationship Id="rId71" Type="http://schemas.openxmlformats.org/officeDocument/2006/relationships/tags" Target="../tags/tag252.xml"/><Relationship Id="rId2" Type="http://schemas.openxmlformats.org/officeDocument/2006/relationships/tags" Target="../tags/tag183.xml"/><Relationship Id="rId29" Type="http://schemas.openxmlformats.org/officeDocument/2006/relationships/tags" Target="../tags/tag2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tags" Target="../tags/tag272.xml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tags" Target="../tags/tag271.xml"/><Relationship Id="rId17" Type="http://schemas.openxmlformats.org/officeDocument/2006/relationships/slide" Target="slide17.xml"/><Relationship Id="rId2" Type="http://schemas.openxmlformats.org/officeDocument/2006/relationships/tags" Target="../tags/tag261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5" Type="http://schemas.openxmlformats.org/officeDocument/2006/relationships/tags" Target="../tags/tag274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tags" Target="../tags/tag27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tags" Target="../tags/tag287.xml"/><Relationship Id="rId18" Type="http://schemas.openxmlformats.org/officeDocument/2006/relationships/tags" Target="../tags/tag292.xml"/><Relationship Id="rId3" Type="http://schemas.openxmlformats.org/officeDocument/2006/relationships/tags" Target="../tags/tag277.xml"/><Relationship Id="rId21" Type="http://schemas.openxmlformats.org/officeDocument/2006/relationships/tags" Target="../tags/tag295.xml"/><Relationship Id="rId7" Type="http://schemas.openxmlformats.org/officeDocument/2006/relationships/tags" Target="../tags/tag281.xml"/><Relationship Id="rId12" Type="http://schemas.openxmlformats.org/officeDocument/2006/relationships/tags" Target="../tags/tag286.xml"/><Relationship Id="rId17" Type="http://schemas.openxmlformats.org/officeDocument/2006/relationships/tags" Target="../tags/tag291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76.xml"/><Relationship Id="rId16" Type="http://schemas.openxmlformats.org/officeDocument/2006/relationships/tags" Target="../tags/tag290.xml"/><Relationship Id="rId20" Type="http://schemas.openxmlformats.org/officeDocument/2006/relationships/tags" Target="../tags/tag294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24" Type="http://schemas.openxmlformats.org/officeDocument/2006/relationships/tags" Target="../tags/tag298.xml"/><Relationship Id="rId5" Type="http://schemas.openxmlformats.org/officeDocument/2006/relationships/tags" Target="../tags/tag279.xml"/><Relationship Id="rId15" Type="http://schemas.openxmlformats.org/officeDocument/2006/relationships/tags" Target="../tags/tag289.xml"/><Relationship Id="rId23" Type="http://schemas.openxmlformats.org/officeDocument/2006/relationships/tags" Target="../tags/tag297.xml"/><Relationship Id="rId10" Type="http://schemas.openxmlformats.org/officeDocument/2006/relationships/tags" Target="../tags/tag284.xml"/><Relationship Id="rId19" Type="http://schemas.openxmlformats.org/officeDocument/2006/relationships/tags" Target="../tags/tag293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tags" Target="../tags/tag288.xml"/><Relationship Id="rId22" Type="http://schemas.openxmlformats.org/officeDocument/2006/relationships/tags" Target="../tags/tag29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11.xml"/><Relationship Id="rId18" Type="http://schemas.openxmlformats.org/officeDocument/2006/relationships/tags" Target="../tags/tag316.xml"/><Relationship Id="rId26" Type="http://schemas.openxmlformats.org/officeDocument/2006/relationships/tags" Target="../tags/tag324.xml"/><Relationship Id="rId39" Type="http://schemas.openxmlformats.org/officeDocument/2006/relationships/tags" Target="../tags/tag337.xml"/><Relationship Id="rId21" Type="http://schemas.openxmlformats.org/officeDocument/2006/relationships/tags" Target="../tags/tag319.xml"/><Relationship Id="rId34" Type="http://schemas.openxmlformats.org/officeDocument/2006/relationships/tags" Target="../tags/tag332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305.xml"/><Relationship Id="rId2" Type="http://schemas.openxmlformats.org/officeDocument/2006/relationships/tags" Target="../tags/tag300.xml"/><Relationship Id="rId16" Type="http://schemas.openxmlformats.org/officeDocument/2006/relationships/tags" Target="../tags/tag314.xml"/><Relationship Id="rId20" Type="http://schemas.openxmlformats.org/officeDocument/2006/relationships/tags" Target="../tags/tag318.xml"/><Relationship Id="rId29" Type="http://schemas.openxmlformats.org/officeDocument/2006/relationships/tags" Target="../tags/tag327.xml"/><Relationship Id="rId41" Type="http://schemas.openxmlformats.org/officeDocument/2006/relationships/tags" Target="../tags/tag339.xml"/><Relationship Id="rId1" Type="http://schemas.openxmlformats.org/officeDocument/2006/relationships/tags" Target="../tags/tag299.xml"/><Relationship Id="rId6" Type="http://schemas.openxmlformats.org/officeDocument/2006/relationships/tags" Target="../tags/tag304.xml"/><Relationship Id="rId11" Type="http://schemas.openxmlformats.org/officeDocument/2006/relationships/tags" Target="../tags/tag309.xml"/><Relationship Id="rId24" Type="http://schemas.openxmlformats.org/officeDocument/2006/relationships/tags" Target="../tags/tag322.xml"/><Relationship Id="rId32" Type="http://schemas.openxmlformats.org/officeDocument/2006/relationships/tags" Target="../tags/tag330.xml"/><Relationship Id="rId37" Type="http://schemas.openxmlformats.org/officeDocument/2006/relationships/tags" Target="../tags/tag335.xml"/><Relationship Id="rId40" Type="http://schemas.openxmlformats.org/officeDocument/2006/relationships/tags" Target="../tags/tag338.xml"/><Relationship Id="rId5" Type="http://schemas.openxmlformats.org/officeDocument/2006/relationships/tags" Target="../tags/tag303.xml"/><Relationship Id="rId15" Type="http://schemas.openxmlformats.org/officeDocument/2006/relationships/tags" Target="../tags/tag313.xml"/><Relationship Id="rId23" Type="http://schemas.openxmlformats.org/officeDocument/2006/relationships/tags" Target="../tags/tag321.xml"/><Relationship Id="rId28" Type="http://schemas.openxmlformats.org/officeDocument/2006/relationships/tags" Target="../tags/tag326.xml"/><Relationship Id="rId36" Type="http://schemas.openxmlformats.org/officeDocument/2006/relationships/tags" Target="../tags/tag334.xml"/><Relationship Id="rId10" Type="http://schemas.openxmlformats.org/officeDocument/2006/relationships/tags" Target="../tags/tag308.xml"/><Relationship Id="rId19" Type="http://schemas.openxmlformats.org/officeDocument/2006/relationships/tags" Target="../tags/tag317.xml"/><Relationship Id="rId31" Type="http://schemas.openxmlformats.org/officeDocument/2006/relationships/tags" Target="../tags/tag329.xml"/><Relationship Id="rId44" Type="http://schemas.openxmlformats.org/officeDocument/2006/relationships/slide" Target="slide14.xml"/><Relationship Id="rId4" Type="http://schemas.openxmlformats.org/officeDocument/2006/relationships/tags" Target="../tags/tag302.xml"/><Relationship Id="rId9" Type="http://schemas.openxmlformats.org/officeDocument/2006/relationships/tags" Target="../tags/tag307.xml"/><Relationship Id="rId14" Type="http://schemas.openxmlformats.org/officeDocument/2006/relationships/tags" Target="../tags/tag312.xml"/><Relationship Id="rId22" Type="http://schemas.openxmlformats.org/officeDocument/2006/relationships/tags" Target="../tags/tag320.xml"/><Relationship Id="rId27" Type="http://schemas.openxmlformats.org/officeDocument/2006/relationships/tags" Target="../tags/tag325.xml"/><Relationship Id="rId30" Type="http://schemas.openxmlformats.org/officeDocument/2006/relationships/tags" Target="../tags/tag328.xml"/><Relationship Id="rId35" Type="http://schemas.openxmlformats.org/officeDocument/2006/relationships/tags" Target="../tags/tag333.xml"/><Relationship Id="rId43" Type="http://schemas.openxmlformats.org/officeDocument/2006/relationships/notesSlide" Target="../notesSlides/notesSlide8.xml"/><Relationship Id="rId8" Type="http://schemas.openxmlformats.org/officeDocument/2006/relationships/tags" Target="../tags/tag306.xml"/><Relationship Id="rId3" Type="http://schemas.openxmlformats.org/officeDocument/2006/relationships/tags" Target="../tags/tag301.xml"/><Relationship Id="rId12" Type="http://schemas.openxmlformats.org/officeDocument/2006/relationships/tags" Target="../tags/tag310.xml"/><Relationship Id="rId17" Type="http://schemas.openxmlformats.org/officeDocument/2006/relationships/tags" Target="../tags/tag315.xml"/><Relationship Id="rId25" Type="http://schemas.openxmlformats.org/officeDocument/2006/relationships/tags" Target="../tags/tag323.xml"/><Relationship Id="rId33" Type="http://schemas.openxmlformats.org/officeDocument/2006/relationships/tags" Target="../tags/tag331.xml"/><Relationship Id="rId38" Type="http://schemas.openxmlformats.org/officeDocument/2006/relationships/tags" Target="../tags/tag33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352.xml"/><Relationship Id="rId18" Type="http://schemas.openxmlformats.org/officeDocument/2006/relationships/tags" Target="../tags/tag357.xml"/><Relationship Id="rId26" Type="http://schemas.openxmlformats.org/officeDocument/2006/relationships/tags" Target="../tags/tag365.xml"/><Relationship Id="rId39" Type="http://schemas.openxmlformats.org/officeDocument/2006/relationships/tags" Target="../tags/tag378.xml"/><Relationship Id="rId21" Type="http://schemas.openxmlformats.org/officeDocument/2006/relationships/tags" Target="../tags/tag360.xml"/><Relationship Id="rId34" Type="http://schemas.openxmlformats.org/officeDocument/2006/relationships/tags" Target="../tags/tag373.xml"/><Relationship Id="rId42" Type="http://schemas.openxmlformats.org/officeDocument/2006/relationships/tags" Target="../tags/tag381.xml"/><Relationship Id="rId47" Type="http://schemas.openxmlformats.org/officeDocument/2006/relationships/slide" Target="slide7.xml"/><Relationship Id="rId7" Type="http://schemas.openxmlformats.org/officeDocument/2006/relationships/tags" Target="../tags/tag346.xml"/><Relationship Id="rId2" Type="http://schemas.openxmlformats.org/officeDocument/2006/relationships/tags" Target="../tags/tag341.xml"/><Relationship Id="rId16" Type="http://schemas.openxmlformats.org/officeDocument/2006/relationships/tags" Target="../tags/tag355.xml"/><Relationship Id="rId29" Type="http://schemas.openxmlformats.org/officeDocument/2006/relationships/tags" Target="../tags/tag368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11" Type="http://schemas.openxmlformats.org/officeDocument/2006/relationships/tags" Target="../tags/tag350.xml"/><Relationship Id="rId24" Type="http://schemas.openxmlformats.org/officeDocument/2006/relationships/tags" Target="../tags/tag363.xml"/><Relationship Id="rId32" Type="http://schemas.openxmlformats.org/officeDocument/2006/relationships/tags" Target="../tags/tag371.xml"/><Relationship Id="rId37" Type="http://schemas.openxmlformats.org/officeDocument/2006/relationships/tags" Target="../tags/tag376.xml"/><Relationship Id="rId40" Type="http://schemas.openxmlformats.org/officeDocument/2006/relationships/tags" Target="../tags/tag379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344.xml"/><Relationship Id="rId15" Type="http://schemas.openxmlformats.org/officeDocument/2006/relationships/tags" Target="../tags/tag354.xml"/><Relationship Id="rId23" Type="http://schemas.openxmlformats.org/officeDocument/2006/relationships/tags" Target="../tags/tag362.xml"/><Relationship Id="rId28" Type="http://schemas.openxmlformats.org/officeDocument/2006/relationships/tags" Target="../tags/tag367.xml"/><Relationship Id="rId36" Type="http://schemas.openxmlformats.org/officeDocument/2006/relationships/tags" Target="../tags/tag375.xml"/><Relationship Id="rId10" Type="http://schemas.openxmlformats.org/officeDocument/2006/relationships/tags" Target="../tags/tag349.xml"/><Relationship Id="rId19" Type="http://schemas.openxmlformats.org/officeDocument/2006/relationships/tags" Target="../tags/tag358.xml"/><Relationship Id="rId31" Type="http://schemas.openxmlformats.org/officeDocument/2006/relationships/tags" Target="../tags/tag370.xml"/><Relationship Id="rId44" Type="http://schemas.openxmlformats.org/officeDocument/2006/relationships/tags" Target="../tags/tag383.xml"/><Relationship Id="rId4" Type="http://schemas.openxmlformats.org/officeDocument/2006/relationships/tags" Target="../tags/tag343.xml"/><Relationship Id="rId9" Type="http://schemas.openxmlformats.org/officeDocument/2006/relationships/tags" Target="../tags/tag348.xml"/><Relationship Id="rId14" Type="http://schemas.openxmlformats.org/officeDocument/2006/relationships/tags" Target="../tags/tag353.xml"/><Relationship Id="rId22" Type="http://schemas.openxmlformats.org/officeDocument/2006/relationships/tags" Target="../tags/tag361.xml"/><Relationship Id="rId27" Type="http://schemas.openxmlformats.org/officeDocument/2006/relationships/tags" Target="../tags/tag366.xml"/><Relationship Id="rId30" Type="http://schemas.openxmlformats.org/officeDocument/2006/relationships/tags" Target="../tags/tag369.xml"/><Relationship Id="rId35" Type="http://schemas.openxmlformats.org/officeDocument/2006/relationships/tags" Target="../tags/tag374.xml"/><Relationship Id="rId43" Type="http://schemas.openxmlformats.org/officeDocument/2006/relationships/tags" Target="../tags/tag382.xml"/><Relationship Id="rId8" Type="http://schemas.openxmlformats.org/officeDocument/2006/relationships/tags" Target="../tags/tag347.xml"/><Relationship Id="rId3" Type="http://schemas.openxmlformats.org/officeDocument/2006/relationships/tags" Target="../tags/tag342.xml"/><Relationship Id="rId12" Type="http://schemas.openxmlformats.org/officeDocument/2006/relationships/tags" Target="../tags/tag351.xml"/><Relationship Id="rId17" Type="http://schemas.openxmlformats.org/officeDocument/2006/relationships/tags" Target="../tags/tag356.xml"/><Relationship Id="rId25" Type="http://schemas.openxmlformats.org/officeDocument/2006/relationships/tags" Target="../tags/tag364.xml"/><Relationship Id="rId33" Type="http://schemas.openxmlformats.org/officeDocument/2006/relationships/tags" Target="../tags/tag372.xml"/><Relationship Id="rId38" Type="http://schemas.openxmlformats.org/officeDocument/2006/relationships/tags" Target="../tags/tag377.xml"/><Relationship Id="rId46" Type="http://schemas.openxmlformats.org/officeDocument/2006/relationships/notesSlide" Target="../notesSlides/notesSlide9.xml"/><Relationship Id="rId20" Type="http://schemas.openxmlformats.org/officeDocument/2006/relationships/tags" Target="../tags/tag359.xml"/><Relationship Id="rId41" Type="http://schemas.openxmlformats.org/officeDocument/2006/relationships/tags" Target="../tags/tag380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409.xml"/><Relationship Id="rId21" Type="http://schemas.openxmlformats.org/officeDocument/2006/relationships/tags" Target="../tags/tag404.xml"/><Relationship Id="rId34" Type="http://schemas.openxmlformats.org/officeDocument/2006/relationships/tags" Target="../tags/tag417.xml"/><Relationship Id="rId42" Type="http://schemas.openxmlformats.org/officeDocument/2006/relationships/tags" Target="../tags/tag425.xml"/><Relationship Id="rId47" Type="http://schemas.openxmlformats.org/officeDocument/2006/relationships/tags" Target="../tags/tag430.xml"/><Relationship Id="rId50" Type="http://schemas.openxmlformats.org/officeDocument/2006/relationships/tags" Target="../tags/tag433.xml"/><Relationship Id="rId55" Type="http://schemas.openxmlformats.org/officeDocument/2006/relationships/tags" Target="../tags/tag438.xml"/><Relationship Id="rId63" Type="http://schemas.openxmlformats.org/officeDocument/2006/relationships/tags" Target="../tags/tag446.xml"/><Relationship Id="rId7" Type="http://schemas.openxmlformats.org/officeDocument/2006/relationships/tags" Target="../tags/tag390.xml"/><Relationship Id="rId2" Type="http://schemas.openxmlformats.org/officeDocument/2006/relationships/tags" Target="../tags/tag385.xml"/><Relationship Id="rId16" Type="http://schemas.openxmlformats.org/officeDocument/2006/relationships/tags" Target="../tags/tag399.xml"/><Relationship Id="rId29" Type="http://schemas.openxmlformats.org/officeDocument/2006/relationships/tags" Target="../tags/tag412.xml"/><Relationship Id="rId11" Type="http://schemas.openxmlformats.org/officeDocument/2006/relationships/tags" Target="../tags/tag394.xml"/><Relationship Id="rId24" Type="http://schemas.openxmlformats.org/officeDocument/2006/relationships/tags" Target="../tags/tag407.xml"/><Relationship Id="rId32" Type="http://schemas.openxmlformats.org/officeDocument/2006/relationships/tags" Target="../tags/tag415.xml"/><Relationship Id="rId37" Type="http://schemas.openxmlformats.org/officeDocument/2006/relationships/tags" Target="../tags/tag420.xml"/><Relationship Id="rId40" Type="http://schemas.openxmlformats.org/officeDocument/2006/relationships/tags" Target="../tags/tag423.xml"/><Relationship Id="rId45" Type="http://schemas.openxmlformats.org/officeDocument/2006/relationships/tags" Target="../tags/tag428.xml"/><Relationship Id="rId53" Type="http://schemas.openxmlformats.org/officeDocument/2006/relationships/tags" Target="../tags/tag436.xml"/><Relationship Id="rId58" Type="http://schemas.openxmlformats.org/officeDocument/2006/relationships/tags" Target="../tags/tag441.xml"/><Relationship Id="rId66" Type="http://schemas.openxmlformats.org/officeDocument/2006/relationships/slideLayout" Target="../slideLayouts/slideLayout7.xml"/><Relationship Id="rId5" Type="http://schemas.openxmlformats.org/officeDocument/2006/relationships/tags" Target="../tags/tag388.xml"/><Relationship Id="rId61" Type="http://schemas.openxmlformats.org/officeDocument/2006/relationships/tags" Target="../tags/tag444.xml"/><Relationship Id="rId19" Type="http://schemas.openxmlformats.org/officeDocument/2006/relationships/tags" Target="../tags/tag402.xml"/><Relationship Id="rId14" Type="http://schemas.openxmlformats.org/officeDocument/2006/relationships/tags" Target="../tags/tag397.xml"/><Relationship Id="rId22" Type="http://schemas.openxmlformats.org/officeDocument/2006/relationships/tags" Target="../tags/tag405.xml"/><Relationship Id="rId27" Type="http://schemas.openxmlformats.org/officeDocument/2006/relationships/tags" Target="../tags/tag410.xml"/><Relationship Id="rId30" Type="http://schemas.openxmlformats.org/officeDocument/2006/relationships/tags" Target="../tags/tag413.xml"/><Relationship Id="rId35" Type="http://schemas.openxmlformats.org/officeDocument/2006/relationships/tags" Target="../tags/tag418.xml"/><Relationship Id="rId43" Type="http://schemas.openxmlformats.org/officeDocument/2006/relationships/tags" Target="../tags/tag426.xml"/><Relationship Id="rId48" Type="http://schemas.openxmlformats.org/officeDocument/2006/relationships/tags" Target="../tags/tag431.xml"/><Relationship Id="rId56" Type="http://schemas.openxmlformats.org/officeDocument/2006/relationships/tags" Target="../tags/tag439.xml"/><Relationship Id="rId64" Type="http://schemas.openxmlformats.org/officeDocument/2006/relationships/tags" Target="../tags/tag447.xml"/><Relationship Id="rId8" Type="http://schemas.openxmlformats.org/officeDocument/2006/relationships/tags" Target="../tags/tag391.xml"/><Relationship Id="rId51" Type="http://schemas.openxmlformats.org/officeDocument/2006/relationships/tags" Target="../tags/tag434.xml"/><Relationship Id="rId3" Type="http://schemas.openxmlformats.org/officeDocument/2006/relationships/tags" Target="../tags/tag386.xml"/><Relationship Id="rId12" Type="http://schemas.openxmlformats.org/officeDocument/2006/relationships/tags" Target="../tags/tag395.xml"/><Relationship Id="rId17" Type="http://schemas.openxmlformats.org/officeDocument/2006/relationships/tags" Target="../tags/tag400.xml"/><Relationship Id="rId25" Type="http://schemas.openxmlformats.org/officeDocument/2006/relationships/tags" Target="../tags/tag408.xml"/><Relationship Id="rId33" Type="http://schemas.openxmlformats.org/officeDocument/2006/relationships/tags" Target="../tags/tag416.xml"/><Relationship Id="rId38" Type="http://schemas.openxmlformats.org/officeDocument/2006/relationships/tags" Target="../tags/tag421.xml"/><Relationship Id="rId46" Type="http://schemas.openxmlformats.org/officeDocument/2006/relationships/tags" Target="../tags/tag429.xml"/><Relationship Id="rId59" Type="http://schemas.openxmlformats.org/officeDocument/2006/relationships/tags" Target="../tags/tag442.xml"/><Relationship Id="rId67" Type="http://schemas.openxmlformats.org/officeDocument/2006/relationships/notesSlide" Target="../notesSlides/notesSlide10.xml"/><Relationship Id="rId20" Type="http://schemas.openxmlformats.org/officeDocument/2006/relationships/tags" Target="../tags/tag403.xml"/><Relationship Id="rId41" Type="http://schemas.openxmlformats.org/officeDocument/2006/relationships/tags" Target="../tags/tag424.xml"/><Relationship Id="rId54" Type="http://schemas.openxmlformats.org/officeDocument/2006/relationships/tags" Target="../tags/tag437.xml"/><Relationship Id="rId62" Type="http://schemas.openxmlformats.org/officeDocument/2006/relationships/tags" Target="../tags/tag445.xml"/><Relationship Id="rId1" Type="http://schemas.openxmlformats.org/officeDocument/2006/relationships/tags" Target="../tags/tag384.xml"/><Relationship Id="rId6" Type="http://schemas.openxmlformats.org/officeDocument/2006/relationships/tags" Target="../tags/tag389.xml"/><Relationship Id="rId15" Type="http://schemas.openxmlformats.org/officeDocument/2006/relationships/tags" Target="../tags/tag398.xml"/><Relationship Id="rId23" Type="http://schemas.openxmlformats.org/officeDocument/2006/relationships/tags" Target="../tags/tag406.xml"/><Relationship Id="rId28" Type="http://schemas.openxmlformats.org/officeDocument/2006/relationships/tags" Target="../tags/tag411.xml"/><Relationship Id="rId36" Type="http://schemas.openxmlformats.org/officeDocument/2006/relationships/tags" Target="../tags/tag419.xml"/><Relationship Id="rId49" Type="http://schemas.openxmlformats.org/officeDocument/2006/relationships/tags" Target="../tags/tag432.xml"/><Relationship Id="rId57" Type="http://schemas.openxmlformats.org/officeDocument/2006/relationships/tags" Target="../tags/tag440.xml"/><Relationship Id="rId10" Type="http://schemas.openxmlformats.org/officeDocument/2006/relationships/tags" Target="../tags/tag393.xml"/><Relationship Id="rId31" Type="http://schemas.openxmlformats.org/officeDocument/2006/relationships/tags" Target="../tags/tag414.xml"/><Relationship Id="rId44" Type="http://schemas.openxmlformats.org/officeDocument/2006/relationships/tags" Target="../tags/tag427.xml"/><Relationship Id="rId52" Type="http://schemas.openxmlformats.org/officeDocument/2006/relationships/tags" Target="../tags/tag435.xml"/><Relationship Id="rId60" Type="http://schemas.openxmlformats.org/officeDocument/2006/relationships/tags" Target="../tags/tag443.xml"/><Relationship Id="rId65" Type="http://schemas.openxmlformats.org/officeDocument/2006/relationships/tags" Target="../tags/tag448.xml"/><Relationship Id="rId4" Type="http://schemas.openxmlformats.org/officeDocument/2006/relationships/tags" Target="../tags/tag387.xml"/><Relationship Id="rId9" Type="http://schemas.openxmlformats.org/officeDocument/2006/relationships/tags" Target="../tags/tag392.xml"/><Relationship Id="rId13" Type="http://schemas.openxmlformats.org/officeDocument/2006/relationships/tags" Target="../tags/tag396.xml"/><Relationship Id="rId18" Type="http://schemas.openxmlformats.org/officeDocument/2006/relationships/tags" Target="../tags/tag401.xml"/><Relationship Id="rId39" Type="http://schemas.openxmlformats.org/officeDocument/2006/relationships/tags" Target="../tags/tag4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13" Type="http://schemas.openxmlformats.org/officeDocument/2006/relationships/tags" Target="../tags/tag461.xml"/><Relationship Id="rId18" Type="http://schemas.openxmlformats.org/officeDocument/2006/relationships/tags" Target="../tags/tag466.xml"/><Relationship Id="rId3" Type="http://schemas.openxmlformats.org/officeDocument/2006/relationships/tags" Target="../tags/tag451.xml"/><Relationship Id="rId21" Type="http://schemas.openxmlformats.org/officeDocument/2006/relationships/tags" Target="../tags/tag469.xml"/><Relationship Id="rId7" Type="http://schemas.openxmlformats.org/officeDocument/2006/relationships/tags" Target="../tags/tag455.xml"/><Relationship Id="rId12" Type="http://schemas.openxmlformats.org/officeDocument/2006/relationships/tags" Target="../tags/tag460.xml"/><Relationship Id="rId17" Type="http://schemas.openxmlformats.org/officeDocument/2006/relationships/tags" Target="../tags/tag465.xml"/><Relationship Id="rId2" Type="http://schemas.openxmlformats.org/officeDocument/2006/relationships/tags" Target="../tags/tag450.xml"/><Relationship Id="rId16" Type="http://schemas.openxmlformats.org/officeDocument/2006/relationships/tags" Target="../tags/tag464.xml"/><Relationship Id="rId20" Type="http://schemas.openxmlformats.org/officeDocument/2006/relationships/tags" Target="../tags/tag468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11" Type="http://schemas.openxmlformats.org/officeDocument/2006/relationships/tags" Target="../tags/tag459.xml"/><Relationship Id="rId5" Type="http://schemas.openxmlformats.org/officeDocument/2006/relationships/tags" Target="../tags/tag453.xml"/><Relationship Id="rId15" Type="http://schemas.openxmlformats.org/officeDocument/2006/relationships/tags" Target="../tags/tag463.xml"/><Relationship Id="rId23" Type="http://schemas.openxmlformats.org/officeDocument/2006/relationships/notesSlide" Target="../notesSlides/notesSlide11.xml"/><Relationship Id="rId10" Type="http://schemas.openxmlformats.org/officeDocument/2006/relationships/tags" Target="../tags/tag458.xml"/><Relationship Id="rId19" Type="http://schemas.openxmlformats.org/officeDocument/2006/relationships/tags" Target="../tags/tag467.xml"/><Relationship Id="rId4" Type="http://schemas.openxmlformats.org/officeDocument/2006/relationships/tags" Target="../tags/tag452.xml"/><Relationship Id="rId9" Type="http://schemas.openxmlformats.org/officeDocument/2006/relationships/tags" Target="../tags/tag457.xml"/><Relationship Id="rId14" Type="http://schemas.openxmlformats.org/officeDocument/2006/relationships/tags" Target="../tags/tag462.xml"/><Relationship Id="rId22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7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471.xml"/><Relationship Id="rId1" Type="http://schemas.openxmlformats.org/officeDocument/2006/relationships/tags" Target="../tags/tag470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86.xml"/><Relationship Id="rId13" Type="http://schemas.openxmlformats.org/officeDocument/2006/relationships/tags" Target="../tags/tag49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81.xml"/><Relationship Id="rId21" Type="http://schemas.openxmlformats.org/officeDocument/2006/relationships/slide" Target="slide28.xml"/><Relationship Id="rId7" Type="http://schemas.openxmlformats.org/officeDocument/2006/relationships/tags" Target="../tags/tag485.xml"/><Relationship Id="rId12" Type="http://schemas.openxmlformats.org/officeDocument/2006/relationships/tags" Target="../tags/tag490.xml"/><Relationship Id="rId17" Type="http://schemas.openxmlformats.org/officeDocument/2006/relationships/tags" Target="../tags/tag495.xml"/><Relationship Id="rId2" Type="http://schemas.openxmlformats.org/officeDocument/2006/relationships/tags" Target="../tags/tag480.xml"/><Relationship Id="rId16" Type="http://schemas.openxmlformats.org/officeDocument/2006/relationships/tags" Target="../tags/tag494.xml"/><Relationship Id="rId20" Type="http://schemas.openxmlformats.org/officeDocument/2006/relationships/slide" Target="slide30.xml"/><Relationship Id="rId1" Type="http://schemas.openxmlformats.org/officeDocument/2006/relationships/tags" Target="../tags/tag479.xml"/><Relationship Id="rId6" Type="http://schemas.openxmlformats.org/officeDocument/2006/relationships/tags" Target="../tags/tag484.xml"/><Relationship Id="rId11" Type="http://schemas.openxmlformats.org/officeDocument/2006/relationships/tags" Target="../tags/tag489.xml"/><Relationship Id="rId5" Type="http://schemas.openxmlformats.org/officeDocument/2006/relationships/tags" Target="../tags/tag483.xml"/><Relationship Id="rId15" Type="http://schemas.openxmlformats.org/officeDocument/2006/relationships/tags" Target="../tags/tag493.xml"/><Relationship Id="rId10" Type="http://schemas.openxmlformats.org/officeDocument/2006/relationships/tags" Target="../tags/tag488.xml"/><Relationship Id="rId19" Type="http://schemas.openxmlformats.org/officeDocument/2006/relationships/notesSlide" Target="../notesSlides/notesSlide13.xml"/><Relationship Id="rId4" Type="http://schemas.openxmlformats.org/officeDocument/2006/relationships/tags" Target="../tags/tag482.xml"/><Relationship Id="rId9" Type="http://schemas.openxmlformats.org/officeDocument/2006/relationships/tags" Target="../tags/tag487.xml"/><Relationship Id="rId14" Type="http://schemas.openxmlformats.org/officeDocument/2006/relationships/tags" Target="../tags/tag49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508.xml"/><Relationship Id="rId18" Type="http://schemas.openxmlformats.org/officeDocument/2006/relationships/tags" Target="../tags/tag513.xml"/><Relationship Id="rId26" Type="http://schemas.openxmlformats.org/officeDocument/2006/relationships/tags" Target="../tags/tag521.xml"/><Relationship Id="rId21" Type="http://schemas.openxmlformats.org/officeDocument/2006/relationships/tags" Target="../tags/tag516.xml"/><Relationship Id="rId34" Type="http://schemas.openxmlformats.org/officeDocument/2006/relationships/tags" Target="../tags/tag529.xml"/><Relationship Id="rId7" Type="http://schemas.openxmlformats.org/officeDocument/2006/relationships/tags" Target="../tags/tag502.xml"/><Relationship Id="rId12" Type="http://schemas.openxmlformats.org/officeDocument/2006/relationships/tags" Target="../tags/tag507.xml"/><Relationship Id="rId17" Type="http://schemas.openxmlformats.org/officeDocument/2006/relationships/tags" Target="../tags/tag512.xml"/><Relationship Id="rId25" Type="http://schemas.openxmlformats.org/officeDocument/2006/relationships/tags" Target="../tags/tag520.xml"/><Relationship Id="rId33" Type="http://schemas.openxmlformats.org/officeDocument/2006/relationships/tags" Target="../tags/tag528.xml"/><Relationship Id="rId38" Type="http://schemas.openxmlformats.org/officeDocument/2006/relationships/slideLayout" Target="../slideLayouts/slideLayout7.xml"/><Relationship Id="rId2" Type="http://schemas.openxmlformats.org/officeDocument/2006/relationships/tags" Target="../tags/tag497.xml"/><Relationship Id="rId16" Type="http://schemas.openxmlformats.org/officeDocument/2006/relationships/tags" Target="../tags/tag511.xml"/><Relationship Id="rId20" Type="http://schemas.openxmlformats.org/officeDocument/2006/relationships/tags" Target="../tags/tag515.xml"/><Relationship Id="rId29" Type="http://schemas.openxmlformats.org/officeDocument/2006/relationships/tags" Target="../tags/tag524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tags" Target="../tags/tag506.xml"/><Relationship Id="rId24" Type="http://schemas.openxmlformats.org/officeDocument/2006/relationships/tags" Target="../tags/tag519.xml"/><Relationship Id="rId32" Type="http://schemas.openxmlformats.org/officeDocument/2006/relationships/tags" Target="../tags/tag527.xml"/><Relationship Id="rId37" Type="http://schemas.openxmlformats.org/officeDocument/2006/relationships/tags" Target="../tags/tag532.xml"/><Relationship Id="rId5" Type="http://schemas.openxmlformats.org/officeDocument/2006/relationships/tags" Target="../tags/tag500.xml"/><Relationship Id="rId15" Type="http://schemas.openxmlformats.org/officeDocument/2006/relationships/tags" Target="../tags/tag510.xml"/><Relationship Id="rId23" Type="http://schemas.openxmlformats.org/officeDocument/2006/relationships/tags" Target="../tags/tag518.xml"/><Relationship Id="rId28" Type="http://schemas.openxmlformats.org/officeDocument/2006/relationships/tags" Target="../tags/tag523.xml"/><Relationship Id="rId36" Type="http://schemas.openxmlformats.org/officeDocument/2006/relationships/tags" Target="../tags/tag531.xml"/><Relationship Id="rId10" Type="http://schemas.openxmlformats.org/officeDocument/2006/relationships/tags" Target="../tags/tag505.xml"/><Relationship Id="rId19" Type="http://schemas.openxmlformats.org/officeDocument/2006/relationships/tags" Target="../tags/tag514.xml"/><Relationship Id="rId31" Type="http://schemas.openxmlformats.org/officeDocument/2006/relationships/tags" Target="../tags/tag526.xml"/><Relationship Id="rId4" Type="http://schemas.openxmlformats.org/officeDocument/2006/relationships/tags" Target="../tags/tag499.xml"/><Relationship Id="rId9" Type="http://schemas.openxmlformats.org/officeDocument/2006/relationships/tags" Target="../tags/tag504.xml"/><Relationship Id="rId14" Type="http://schemas.openxmlformats.org/officeDocument/2006/relationships/tags" Target="../tags/tag509.xml"/><Relationship Id="rId22" Type="http://schemas.openxmlformats.org/officeDocument/2006/relationships/tags" Target="../tags/tag517.xml"/><Relationship Id="rId27" Type="http://schemas.openxmlformats.org/officeDocument/2006/relationships/tags" Target="../tags/tag522.xml"/><Relationship Id="rId30" Type="http://schemas.openxmlformats.org/officeDocument/2006/relationships/tags" Target="../tags/tag525.xml"/><Relationship Id="rId35" Type="http://schemas.openxmlformats.org/officeDocument/2006/relationships/tags" Target="../tags/tag530.xml"/><Relationship Id="rId8" Type="http://schemas.openxmlformats.org/officeDocument/2006/relationships/tags" Target="../tags/tag503.xml"/><Relationship Id="rId3" Type="http://schemas.openxmlformats.org/officeDocument/2006/relationships/tags" Target="../tags/tag498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545.xml"/><Relationship Id="rId18" Type="http://schemas.openxmlformats.org/officeDocument/2006/relationships/tags" Target="../tags/tag550.xml"/><Relationship Id="rId26" Type="http://schemas.openxmlformats.org/officeDocument/2006/relationships/tags" Target="../tags/tag558.xml"/><Relationship Id="rId39" Type="http://schemas.openxmlformats.org/officeDocument/2006/relationships/tags" Target="../tags/tag571.xml"/><Relationship Id="rId21" Type="http://schemas.openxmlformats.org/officeDocument/2006/relationships/tags" Target="../tags/tag553.xml"/><Relationship Id="rId34" Type="http://schemas.openxmlformats.org/officeDocument/2006/relationships/tags" Target="../tags/tag566.xml"/><Relationship Id="rId42" Type="http://schemas.openxmlformats.org/officeDocument/2006/relationships/tags" Target="../tags/tag574.xml"/><Relationship Id="rId47" Type="http://schemas.openxmlformats.org/officeDocument/2006/relationships/tags" Target="../tags/tag579.xml"/><Relationship Id="rId50" Type="http://schemas.openxmlformats.org/officeDocument/2006/relationships/tags" Target="../tags/tag582.xml"/><Relationship Id="rId55" Type="http://schemas.openxmlformats.org/officeDocument/2006/relationships/tags" Target="../tags/tag587.xml"/><Relationship Id="rId7" Type="http://schemas.openxmlformats.org/officeDocument/2006/relationships/tags" Target="../tags/tag539.xml"/><Relationship Id="rId2" Type="http://schemas.openxmlformats.org/officeDocument/2006/relationships/tags" Target="../tags/tag534.xml"/><Relationship Id="rId16" Type="http://schemas.openxmlformats.org/officeDocument/2006/relationships/tags" Target="../tags/tag548.xml"/><Relationship Id="rId29" Type="http://schemas.openxmlformats.org/officeDocument/2006/relationships/tags" Target="../tags/tag561.xml"/><Relationship Id="rId11" Type="http://schemas.openxmlformats.org/officeDocument/2006/relationships/tags" Target="../tags/tag543.xml"/><Relationship Id="rId24" Type="http://schemas.openxmlformats.org/officeDocument/2006/relationships/tags" Target="../tags/tag556.xml"/><Relationship Id="rId32" Type="http://schemas.openxmlformats.org/officeDocument/2006/relationships/tags" Target="../tags/tag564.xml"/><Relationship Id="rId37" Type="http://schemas.openxmlformats.org/officeDocument/2006/relationships/tags" Target="../tags/tag569.xml"/><Relationship Id="rId40" Type="http://schemas.openxmlformats.org/officeDocument/2006/relationships/tags" Target="../tags/tag572.xml"/><Relationship Id="rId45" Type="http://schemas.openxmlformats.org/officeDocument/2006/relationships/tags" Target="../tags/tag577.xml"/><Relationship Id="rId53" Type="http://schemas.openxmlformats.org/officeDocument/2006/relationships/tags" Target="../tags/tag585.xml"/><Relationship Id="rId5" Type="http://schemas.openxmlformats.org/officeDocument/2006/relationships/tags" Target="../tags/tag537.xml"/><Relationship Id="rId19" Type="http://schemas.openxmlformats.org/officeDocument/2006/relationships/tags" Target="../tags/tag551.xml"/><Relationship Id="rId4" Type="http://schemas.openxmlformats.org/officeDocument/2006/relationships/tags" Target="../tags/tag536.xml"/><Relationship Id="rId9" Type="http://schemas.openxmlformats.org/officeDocument/2006/relationships/tags" Target="../tags/tag541.xml"/><Relationship Id="rId14" Type="http://schemas.openxmlformats.org/officeDocument/2006/relationships/tags" Target="../tags/tag546.xml"/><Relationship Id="rId22" Type="http://schemas.openxmlformats.org/officeDocument/2006/relationships/tags" Target="../tags/tag554.xml"/><Relationship Id="rId27" Type="http://schemas.openxmlformats.org/officeDocument/2006/relationships/tags" Target="../tags/tag559.xml"/><Relationship Id="rId30" Type="http://schemas.openxmlformats.org/officeDocument/2006/relationships/tags" Target="../tags/tag562.xml"/><Relationship Id="rId35" Type="http://schemas.openxmlformats.org/officeDocument/2006/relationships/tags" Target="../tags/tag567.xml"/><Relationship Id="rId43" Type="http://schemas.openxmlformats.org/officeDocument/2006/relationships/tags" Target="../tags/tag575.xml"/><Relationship Id="rId48" Type="http://schemas.openxmlformats.org/officeDocument/2006/relationships/tags" Target="../tags/tag580.xml"/><Relationship Id="rId56" Type="http://schemas.openxmlformats.org/officeDocument/2006/relationships/slideLayout" Target="../slideLayouts/slideLayout7.xml"/><Relationship Id="rId8" Type="http://schemas.openxmlformats.org/officeDocument/2006/relationships/tags" Target="../tags/tag540.xml"/><Relationship Id="rId51" Type="http://schemas.openxmlformats.org/officeDocument/2006/relationships/tags" Target="../tags/tag583.xml"/><Relationship Id="rId3" Type="http://schemas.openxmlformats.org/officeDocument/2006/relationships/tags" Target="../tags/tag535.xml"/><Relationship Id="rId12" Type="http://schemas.openxmlformats.org/officeDocument/2006/relationships/tags" Target="../tags/tag544.xml"/><Relationship Id="rId17" Type="http://schemas.openxmlformats.org/officeDocument/2006/relationships/tags" Target="../tags/tag549.xml"/><Relationship Id="rId25" Type="http://schemas.openxmlformats.org/officeDocument/2006/relationships/tags" Target="../tags/tag557.xml"/><Relationship Id="rId33" Type="http://schemas.openxmlformats.org/officeDocument/2006/relationships/tags" Target="../tags/tag565.xml"/><Relationship Id="rId38" Type="http://schemas.openxmlformats.org/officeDocument/2006/relationships/tags" Target="../tags/tag570.xml"/><Relationship Id="rId46" Type="http://schemas.openxmlformats.org/officeDocument/2006/relationships/tags" Target="../tags/tag578.xml"/><Relationship Id="rId20" Type="http://schemas.openxmlformats.org/officeDocument/2006/relationships/tags" Target="../tags/tag552.xml"/><Relationship Id="rId41" Type="http://schemas.openxmlformats.org/officeDocument/2006/relationships/tags" Target="../tags/tag573.xml"/><Relationship Id="rId54" Type="http://schemas.openxmlformats.org/officeDocument/2006/relationships/tags" Target="../tags/tag586.xml"/><Relationship Id="rId1" Type="http://schemas.openxmlformats.org/officeDocument/2006/relationships/tags" Target="../tags/tag533.xml"/><Relationship Id="rId6" Type="http://schemas.openxmlformats.org/officeDocument/2006/relationships/tags" Target="../tags/tag538.xml"/><Relationship Id="rId15" Type="http://schemas.openxmlformats.org/officeDocument/2006/relationships/tags" Target="../tags/tag547.xml"/><Relationship Id="rId23" Type="http://schemas.openxmlformats.org/officeDocument/2006/relationships/tags" Target="../tags/tag555.xml"/><Relationship Id="rId28" Type="http://schemas.openxmlformats.org/officeDocument/2006/relationships/tags" Target="../tags/tag560.xml"/><Relationship Id="rId36" Type="http://schemas.openxmlformats.org/officeDocument/2006/relationships/tags" Target="../tags/tag568.xml"/><Relationship Id="rId49" Type="http://schemas.openxmlformats.org/officeDocument/2006/relationships/tags" Target="../tags/tag581.xml"/><Relationship Id="rId57" Type="http://schemas.openxmlformats.org/officeDocument/2006/relationships/notesSlide" Target="../notesSlides/notesSlide14.xml"/><Relationship Id="rId10" Type="http://schemas.openxmlformats.org/officeDocument/2006/relationships/tags" Target="../tags/tag542.xml"/><Relationship Id="rId31" Type="http://schemas.openxmlformats.org/officeDocument/2006/relationships/tags" Target="../tags/tag563.xml"/><Relationship Id="rId44" Type="http://schemas.openxmlformats.org/officeDocument/2006/relationships/tags" Target="../tags/tag576.xml"/><Relationship Id="rId52" Type="http://schemas.openxmlformats.org/officeDocument/2006/relationships/tags" Target="../tags/tag584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600.xml"/><Relationship Id="rId18" Type="http://schemas.openxmlformats.org/officeDocument/2006/relationships/tags" Target="../tags/tag605.xml"/><Relationship Id="rId26" Type="http://schemas.openxmlformats.org/officeDocument/2006/relationships/tags" Target="../tags/tag613.xml"/><Relationship Id="rId39" Type="http://schemas.openxmlformats.org/officeDocument/2006/relationships/tags" Target="../tags/tag626.xml"/><Relationship Id="rId21" Type="http://schemas.openxmlformats.org/officeDocument/2006/relationships/tags" Target="../tags/tag608.xml"/><Relationship Id="rId34" Type="http://schemas.openxmlformats.org/officeDocument/2006/relationships/tags" Target="../tags/tag621.xml"/><Relationship Id="rId42" Type="http://schemas.openxmlformats.org/officeDocument/2006/relationships/tags" Target="../tags/tag629.xml"/><Relationship Id="rId47" Type="http://schemas.openxmlformats.org/officeDocument/2006/relationships/tags" Target="../tags/tag634.xml"/><Relationship Id="rId50" Type="http://schemas.openxmlformats.org/officeDocument/2006/relationships/tags" Target="../tags/tag637.xml"/><Relationship Id="rId55" Type="http://schemas.openxmlformats.org/officeDocument/2006/relationships/tags" Target="../tags/tag642.xml"/><Relationship Id="rId7" Type="http://schemas.openxmlformats.org/officeDocument/2006/relationships/tags" Target="../tags/tag594.xml"/><Relationship Id="rId2" Type="http://schemas.openxmlformats.org/officeDocument/2006/relationships/tags" Target="../tags/tag589.xml"/><Relationship Id="rId16" Type="http://schemas.openxmlformats.org/officeDocument/2006/relationships/tags" Target="../tags/tag603.xml"/><Relationship Id="rId29" Type="http://schemas.openxmlformats.org/officeDocument/2006/relationships/tags" Target="../tags/tag616.xml"/><Relationship Id="rId11" Type="http://schemas.openxmlformats.org/officeDocument/2006/relationships/tags" Target="../tags/tag598.xml"/><Relationship Id="rId24" Type="http://schemas.openxmlformats.org/officeDocument/2006/relationships/tags" Target="../tags/tag611.xml"/><Relationship Id="rId32" Type="http://schemas.openxmlformats.org/officeDocument/2006/relationships/tags" Target="../tags/tag619.xml"/><Relationship Id="rId37" Type="http://schemas.openxmlformats.org/officeDocument/2006/relationships/tags" Target="../tags/tag624.xml"/><Relationship Id="rId40" Type="http://schemas.openxmlformats.org/officeDocument/2006/relationships/tags" Target="../tags/tag627.xml"/><Relationship Id="rId45" Type="http://schemas.openxmlformats.org/officeDocument/2006/relationships/tags" Target="../tags/tag632.xml"/><Relationship Id="rId53" Type="http://schemas.openxmlformats.org/officeDocument/2006/relationships/tags" Target="../tags/tag640.xml"/><Relationship Id="rId58" Type="http://schemas.openxmlformats.org/officeDocument/2006/relationships/slide" Target="slide29.xml"/><Relationship Id="rId5" Type="http://schemas.openxmlformats.org/officeDocument/2006/relationships/tags" Target="../tags/tag592.xml"/><Relationship Id="rId19" Type="http://schemas.openxmlformats.org/officeDocument/2006/relationships/tags" Target="../tags/tag606.xml"/><Relationship Id="rId4" Type="http://schemas.openxmlformats.org/officeDocument/2006/relationships/tags" Target="../tags/tag591.xml"/><Relationship Id="rId9" Type="http://schemas.openxmlformats.org/officeDocument/2006/relationships/tags" Target="../tags/tag596.xml"/><Relationship Id="rId14" Type="http://schemas.openxmlformats.org/officeDocument/2006/relationships/tags" Target="../tags/tag601.xml"/><Relationship Id="rId22" Type="http://schemas.openxmlformats.org/officeDocument/2006/relationships/tags" Target="../tags/tag609.xml"/><Relationship Id="rId27" Type="http://schemas.openxmlformats.org/officeDocument/2006/relationships/tags" Target="../tags/tag614.xml"/><Relationship Id="rId30" Type="http://schemas.openxmlformats.org/officeDocument/2006/relationships/tags" Target="../tags/tag617.xml"/><Relationship Id="rId35" Type="http://schemas.openxmlformats.org/officeDocument/2006/relationships/tags" Target="../tags/tag622.xml"/><Relationship Id="rId43" Type="http://schemas.openxmlformats.org/officeDocument/2006/relationships/tags" Target="../tags/tag630.xml"/><Relationship Id="rId48" Type="http://schemas.openxmlformats.org/officeDocument/2006/relationships/tags" Target="../tags/tag635.xml"/><Relationship Id="rId56" Type="http://schemas.openxmlformats.org/officeDocument/2006/relationships/slideLayout" Target="../slideLayouts/slideLayout7.xml"/><Relationship Id="rId8" Type="http://schemas.openxmlformats.org/officeDocument/2006/relationships/tags" Target="../tags/tag595.xml"/><Relationship Id="rId51" Type="http://schemas.openxmlformats.org/officeDocument/2006/relationships/tags" Target="../tags/tag638.xml"/><Relationship Id="rId3" Type="http://schemas.openxmlformats.org/officeDocument/2006/relationships/tags" Target="../tags/tag590.xml"/><Relationship Id="rId12" Type="http://schemas.openxmlformats.org/officeDocument/2006/relationships/tags" Target="../tags/tag599.xml"/><Relationship Id="rId17" Type="http://schemas.openxmlformats.org/officeDocument/2006/relationships/tags" Target="../tags/tag604.xml"/><Relationship Id="rId25" Type="http://schemas.openxmlformats.org/officeDocument/2006/relationships/tags" Target="../tags/tag612.xml"/><Relationship Id="rId33" Type="http://schemas.openxmlformats.org/officeDocument/2006/relationships/tags" Target="../tags/tag620.xml"/><Relationship Id="rId38" Type="http://schemas.openxmlformats.org/officeDocument/2006/relationships/tags" Target="../tags/tag625.xml"/><Relationship Id="rId46" Type="http://schemas.openxmlformats.org/officeDocument/2006/relationships/tags" Target="../tags/tag633.xml"/><Relationship Id="rId20" Type="http://schemas.openxmlformats.org/officeDocument/2006/relationships/tags" Target="../tags/tag607.xml"/><Relationship Id="rId41" Type="http://schemas.openxmlformats.org/officeDocument/2006/relationships/tags" Target="../tags/tag628.xml"/><Relationship Id="rId54" Type="http://schemas.openxmlformats.org/officeDocument/2006/relationships/tags" Target="../tags/tag641.xml"/><Relationship Id="rId1" Type="http://schemas.openxmlformats.org/officeDocument/2006/relationships/tags" Target="../tags/tag588.xml"/><Relationship Id="rId6" Type="http://schemas.openxmlformats.org/officeDocument/2006/relationships/tags" Target="../tags/tag593.xml"/><Relationship Id="rId15" Type="http://schemas.openxmlformats.org/officeDocument/2006/relationships/tags" Target="../tags/tag602.xml"/><Relationship Id="rId23" Type="http://schemas.openxmlformats.org/officeDocument/2006/relationships/tags" Target="../tags/tag610.xml"/><Relationship Id="rId28" Type="http://schemas.openxmlformats.org/officeDocument/2006/relationships/tags" Target="../tags/tag615.xml"/><Relationship Id="rId36" Type="http://schemas.openxmlformats.org/officeDocument/2006/relationships/tags" Target="../tags/tag623.xml"/><Relationship Id="rId49" Type="http://schemas.openxmlformats.org/officeDocument/2006/relationships/tags" Target="../tags/tag636.xml"/><Relationship Id="rId57" Type="http://schemas.openxmlformats.org/officeDocument/2006/relationships/notesSlide" Target="../notesSlides/notesSlide15.xml"/><Relationship Id="rId10" Type="http://schemas.openxmlformats.org/officeDocument/2006/relationships/tags" Target="../tags/tag597.xml"/><Relationship Id="rId31" Type="http://schemas.openxmlformats.org/officeDocument/2006/relationships/tags" Target="../tags/tag618.xml"/><Relationship Id="rId44" Type="http://schemas.openxmlformats.org/officeDocument/2006/relationships/tags" Target="../tags/tag631.xml"/><Relationship Id="rId52" Type="http://schemas.openxmlformats.org/officeDocument/2006/relationships/tags" Target="../tags/tag639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655.xml"/><Relationship Id="rId18" Type="http://schemas.openxmlformats.org/officeDocument/2006/relationships/tags" Target="../tags/tag660.xml"/><Relationship Id="rId26" Type="http://schemas.openxmlformats.org/officeDocument/2006/relationships/tags" Target="../tags/tag668.xml"/><Relationship Id="rId3" Type="http://schemas.openxmlformats.org/officeDocument/2006/relationships/tags" Target="../tags/tag645.xml"/><Relationship Id="rId21" Type="http://schemas.openxmlformats.org/officeDocument/2006/relationships/tags" Target="../tags/tag663.xml"/><Relationship Id="rId34" Type="http://schemas.openxmlformats.org/officeDocument/2006/relationships/tags" Target="../tags/tag676.xml"/><Relationship Id="rId7" Type="http://schemas.openxmlformats.org/officeDocument/2006/relationships/tags" Target="../tags/tag649.xml"/><Relationship Id="rId12" Type="http://schemas.openxmlformats.org/officeDocument/2006/relationships/tags" Target="../tags/tag654.xml"/><Relationship Id="rId17" Type="http://schemas.openxmlformats.org/officeDocument/2006/relationships/tags" Target="../tags/tag659.xml"/><Relationship Id="rId25" Type="http://schemas.openxmlformats.org/officeDocument/2006/relationships/tags" Target="../tags/tag667.xml"/><Relationship Id="rId33" Type="http://schemas.openxmlformats.org/officeDocument/2006/relationships/tags" Target="../tags/tag675.xml"/><Relationship Id="rId2" Type="http://schemas.openxmlformats.org/officeDocument/2006/relationships/tags" Target="../tags/tag644.xml"/><Relationship Id="rId16" Type="http://schemas.openxmlformats.org/officeDocument/2006/relationships/tags" Target="../tags/tag658.xml"/><Relationship Id="rId20" Type="http://schemas.openxmlformats.org/officeDocument/2006/relationships/tags" Target="../tags/tag662.xml"/><Relationship Id="rId29" Type="http://schemas.openxmlformats.org/officeDocument/2006/relationships/tags" Target="../tags/tag671.xml"/><Relationship Id="rId1" Type="http://schemas.openxmlformats.org/officeDocument/2006/relationships/tags" Target="../tags/tag643.xml"/><Relationship Id="rId6" Type="http://schemas.openxmlformats.org/officeDocument/2006/relationships/tags" Target="../tags/tag648.xml"/><Relationship Id="rId11" Type="http://schemas.openxmlformats.org/officeDocument/2006/relationships/tags" Target="../tags/tag653.xml"/><Relationship Id="rId24" Type="http://schemas.openxmlformats.org/officeDocument/2006/relationships/tags" Target="../tags/tag666.xml"/><Relationship Id="rId32" Type="http://schemas.openxmlformats.org/officeDocument/2006/relationships/tags" Target="../tags/tag674.xml"/><Relationship Id="rId5" Type="http://schemas.openxmlformats.org/officeDocument/2006/relationships/tags" Target="../tags/tag647.xml"/><Relationship Id="rId15" Type="http://schemas.openxmlformats.org/officeDocument/2006/relationships/tags" Target="../tags/tag657.xml"/><Relationship Id="rId23" Type="http://schemas.openxmlformats.org/officeDocument/2006/relationships/tags" Target="../tags/tag665.xml"/><Relationship Id="rId28" Type="http://schemas.openxmlformats.org/officeDocument/2006/relationships/tags" Target="../tags/tag670.xml"/><Relationship Id="rId36" Type="http://schemas.openxmlformats.org/officeDocument/2006/relationships/slide" Target="slide29.xml"/><Relationship Id="rId10" Type="http://schemas.openxmlformats.org/officeDocument/2006/relationships/tags" Target="../tags/tag652.xml"/><Relationship Id="rId19" Type="http://schemas.openxmlformats.org/officeDocument/2006/relationships/tags" Target="../tags/tag661.xml"/><Relationship Id="rId31" Type="http://schemas.openxmlformats.org/officeDocument/2006/relationships/tags" Target="../tags/tag673.xml"/><Relationship Id="rId4" Type="http://schemas.openxmlformats.org/officeDocument/2006/relationships/tags" Target="../tags/tag646.xml"/><Relationship Id="rId9" Type="http://schemas.openxmlformats.org/officeDocument/2006/relationships/tags" Target="../tags/tag651.xml"/><Relationship Id="rId14" Type="http://schemas.openxmlformats.org/officeDocument/2006/relationships/tags" Target="../tags/tag656.xml"/><Relationship Id="rId22" Type="http://schemas.openxmlformats.org/officeDocument/2006/relationships/tags" Target="../tags/tag664.xml"/><Relationship Id="rId27" Type="http://schemas.openxmlformats.org/officeDocument/2006/relationships/tags" Target="../tags/tag669.xml"/><Relationship Id="rId30" Type="http://schemas.openxmlformats.org/officeDocument/2006/relationships/tags" Target="../tags/tag672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65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684.xml"/><Relationship Id="rId13" Type="http://schemas.openxmlformats.org/officeDocument/2006/relationships/tags" Target="../tags/tag689.xml"/><Relationship Id="rId3" Type="http://schemas.openxmlformats.org/officeDocument/2006/relationships/tags" Target="../tags/tag679.xml"/><Relationship Id="rId7" Type="http://schemas.openxmlformats.org/officeDocument/2006/relationships/tags" Target="../tags/tag683.xml"/><Relationship Id="rId12" Type="http://schemas.openxmlformats.org/officeDocument/2006/relationships/tags" Target="../tags/tag688.xml"/><Relationship Id="rId2" Type="http://schemas.openxmlformats.org/officeDocument/2006/relationships/tags" Target="../tags/tag678.xml"/><Relationship Id="rId16" Type="http://schemas.openxmlformats.org/officeDocument/2006/relationships/slide" Target="slide23.xml"/><Relationship Id="rId1" Type="http://schemas.openxmlformats.org/officeDocument/2006/relationships/tags" Target="../tags/tag677.xml"/><Relationship Id="rId6" Type="http://schemas.openxmlformats.org/officeDocument/2006/relationships/tags" Target="../tags/tag682.xml"/><Relationship Id="rId11" Type="http://schemas.openxmlformats.org/officeDocument/2006/relationships/tags" Target="../tags/tag687.xml"/><Relationship Id="rId5" Type="http://schemas.openxmlformats.org/officeDocument/2006/relationships/tags" Target="../tags/tag681.xml"/><Relationship Id="rId15" Type="http://schemas.openxmlformats.org/officeDocument/2006/relationships/notesSlide" Target="../notesSlides/notesSlide16.xml"/><Relationship Id="rId10" Type="http://schemas.openxmlformats.org/officeDocument/2006/relationships/tags" Target="../tags/tag686.xml"/><Relationship Id="rId4" Type="http://schemas.openxmlformats.org/officeDocument/2006/relationships/tags" Target="../tags/tag680.xml"/><Relationship Id="rId9" Type="http://schemas.openxmlformats.org/officeDocument/2006/relationships/tags" Target="../tags/tag685.xml"/><Relationship Id="rId14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697.xml"/><Relationship Id="rId13" Type="http://schemas.openxmlformats.org/officeDocument/2006/relationships/slide" Target="slide27.xml"/><Relationship Id="rId3" Type="http://schemas.openxmlformats.org/officeDocument/2006/relationships/tags" Target="../tags/tag692.xml"/><Relationship Id="rId7" Type="http://schemas.openxmlformats.org/officeDocument/2006/relationships/tags" Target="../tags/tag696.xml"/><Relationship Id="rId12" Type="http://schemas.openxmlformats.org/officeDocument/2006/relationships/slide" Target="slide26.xml"/><Relationship Id="rId2" Type="http://schemas.openxmlformats.org/officeDocument/2006/relationships/tags" Target="../tags/tag691.xml"/><Relationship Id="rId1" Type="http://schemas.openxmlformats.org/officeDocument/2006/relationships/tags" Target="../tags/tag690.xml"/><Relationship Id="rId6" Type="http://schemas.openxmlformats.org/officeDocument/2006/relationships/tags" Target="../tags/tag695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69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93.xml"/><Relationship Id="rId9" Type="http://schemas.openxmlformats.org/officeDocument/2006/relationships/tags" Target="../tags/tag69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01.xml"/><Relationship Id="rId2" Type="http://schemas.openxmlformats.org/officeDocument/2006/relationships/tags" Target="../tags/tag700.xml"/><Relationship Id="rId1" Type="http://schemas.openxmlformats.org/officeDocument/2006/relationships/tags" Target="../tags/tag699.xml"/><Relationship Id="rId6" Type="http://schemas.openxmlformats.org/officeDocument/2006/relationships/slide" Target="slide2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tags" Target="../tags/tag714.xml"/><Relationship Id="rId18" Type="http://schemas.openxmlformats.org/officeDocument/2006/relationships/tags" Target="../tags/tag719.xml"/><Relationship Id="rId26" Type="http://schemas.openxmlformats.org/officeDocument/2006/relationships/tags" Target="../tags/tag727.xml"/><Relationship Id="rId39" Type="http://schemas.openxmlformats.org/officeDocument/2006/relationships/tags" Target="../tags/tag740.xml"/><Relationship Id="rId21" Type="http://schemas.openxmlformats.org/officeDocument/2006/relationships/tags" Target="../tags/tag722.xml"/><Relationship Id="rId34" Type="http://schemas.openxmlformats.org/officeDocument/2006/relationships/tags" Target="../tags/tag735.xml"/><Relationship Id="rId42" Type="http://schemas.openxmlformats.org/officeDocument/2006/relationships/tags" Target="../tags/tag743.xml"/><Relationship Id="rId47" Type="http://schemas.openxmlformats.org/officeDocument/2006/relationships/tags" Target="../tags/tag748.xml"/><Relationship Id="rId7" Type="http://schemas.openxmlformats.org/officeDocument/2006/relationships/tags" Target="../tags/tag708.xml"/><Relationship Id="rId2" Type="http://schemas.openxmlformats.org/officeDocument/2006/relationships/tags" Target="../tags/tag703.xml"/><Relationship Id="rId16" Type="http://schemas.openxmlformats.org/officeDocument/2006/relationships/tags" Target="../tags/tag717.xml"/><Relationship Id="rId29" Type="http://schemas.openxmlformats.org/officeDocument/2006/relationships/tags" Target="../tags/tag730.xml"/><Relationship Id="rId11" Type="http://schemas.openxmlformats.org/officeDocument/2006/relationships/tags" Target="../tags/tag712.xml"/><Relationship Id="rId24" Type="http://schemas.openxmlformats.org/officeDocument/2006/relationships/tags" Target="../tags/tag725.xml"/><Relationship Id="rId32" Type="http://schemas.openxmlformats.org/officeDocument/2006/relationships/tags" Target="../tags/tag733.xml"/><Relationship Id="rId37" Type="http://schemas.openxmlformats.org/officeDocument/2006/relationships/tags" Target="../tags/tag738.xml"/><Relationship Id="rId40" Type="http://schemas.openxmlformats.org/officeDocument/2006/relationships/tags" Target="../tags/tag741.xml"/><Relationship Id="rId45" Type="http://schemas.openxmlformats.org/officeDocument/2006/relationships/tags" Target="../tags/tag746.xml"/><Relationship Id="rId5" Type="http://schemas.openxmlformats.org/officeDocument/2006/relationships/tags" Target="../tags/tag706.xml"/><Relationship Id="rId15" Type="http://schemas.openxmlformats.org/officeDocument/2006/relationships/tags" Target="../tags/tag716.xml"/><Relationship Id="rId23" Type="http://schemas.openxmlformats.org/officeDocument/2006/relationships/tags" Target="../tags/tag724.xml"/><Relationship Id="rId28" Type="http://schemas.openxmlformats.org/officeDocument/2006/relationships/tags" Target="../tags/tag729.xml"/><Relationship Id="rId36" Type="http://schemas.openxmlformats.org/officeDocument/2006/relationships/tags" Target="../tags/tag737.xml"/><Relationship Id="rId49" Type="http://schemas.openxmlformats.org/officeDocument/2006/relationships/notesSlide" Target="../notesSlides/notesSlide19.xml"/><Relationship Id="rId10" Type="http://schemas.openxmlformats.org/officeDocument/2006/relationships/tags" Target="../tags/tag711.xml"/><Relationship Id="rId19" Type="http://schemas.openxmlformats.org/officeDocument/2006/relationships/tags" Target="../tags/tag720.xml"/><Relationship Id="rId31" Type="http://schemas.openxmlformats.org/officeDocument/2006/relationships/tags" Target="../tags/tag732.xml"/><Relationship Id="rId44" Type="http://schemas.openxmlformats.org/officeDocument/2006/relationships/tags" Target="../tags/tag745.xml"/><Relationship Id="rId4" Type="http://schemas.openxmlformats.org/officeDocument/2006/relationships/tags" Target="../tags/tag705.xml"/><Relationship Id="rId9" Type="http://schemas.openxmlformats.org/officeDocument/2006/relationships/tags" Target="../tags/tag710.xml"/><Relationship Id="rId14" Type="http://schemas.openxmlformats.org/officeDocument/2006/relationships/tags" Target="../tags/tag715.xml"/><Relationship Id="rId22" Type="http://schemas.openxmlformats.org/officeDocument/2006/relationships/tags" Target="../tags/tag723.xml"/><Relationship Id="rId27" Type="http://schemas.openxmlformats.org/officeDocument/2006/relationships/tags" Target="../tags/tag728.xml"/><Relationship Id="rId30" Type="http://schemas.openxmlformats.org/officeDocument/2006/relationships/tags" Target="../tags/tag731.xml"/><Relationship Id="rId35" Type="http://schemas.openxmlformats.org/officeDocument/2006/relationships/tags" Target="../tags/tag736.xml"/><Relationship Id="rId43" Type="http://schemas.openxmlformats.org/officeDocument/2006/relationships/tags" Target="../tags/tag744.xml"/><Relationship Id="rId48" Type="http://schemas.openxmlformats.org/officeDocument/2006/relationships/slideLayout" Target="../slideLayouts/slideLayout7.xml"/><Relationship Id="rId8" Type="http://schemas.openxmlformats.org/officeDocument/2006/relationships/tags" Target="../tags/tag709.xml"/><Relationship Id="rId3" Type="http://schemas.openxmlformats.org/officeDocument/2006/relationships/tags" Target="../tags/tag704.xml"/><Relationship Id="rId12" Type="http://schemas.openxmlformats.org/officeDocument/2006/relationships/tags" Target="../tags/tag713.xml"/><Relationship Id="rId17" Type="http://schemas.openxmlformats.org/officeDocument/2006/relationships/tags" Target="../tags/tag718.xml"/><Relationship Id="rId25" Type="http://schemas.openxmlformats.org/officeDocument/2006/relationships/tags" Target="../tags/tag726.xml"/><Relationship Id="rId33" Type="http://schemas.openxmlformats.org/officeDocument/2006/relationships/tags" Target="../tags/tag734.xml"/><Relationship Id="rId38" Type="http://schemas.openxmlformats.org/officeDocument/2006/relationships/tags" Target="../tags/tag739.xml"/><Relationship Id="rId46" Type="http://schemas.openxmlformats.org/officeDocument/2006/relationships/tags" Target="../tags/tag747.xml"/><Relationship Id="rId20" Type="http://schemas.openxmlformats.org/officeDocument/2006/relationships/tags" Target="../tags/tag721.xml"/><Relationship Id="rId41" Type="http://schemas.openxmlformats.org/officeDocument/2006/relationships/tags" Target="../tags/tag742.xml"/><Relationship Id="rId1" Type="http://schemas.openxmlformats.org/officeDocument/2006/relationships/tags" Target="../tags/tag702.xml"/><Relationship Id="rId6" Type="http://schemas.openxmlformats.org/officeDocument/2006/relationships/tags" Target="../tags/tag70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751.xml"/><Relationship Id="rId2" Type="http://schemas.openxmlformats.org/officeDocument/2006/relationships/tags" Target="../tags/tag750.xml"/><Relationship Id="rId1" Type="http://schemas.openxmlformats.org/officeDocument/2006/relationships/tags" Target="../tags/tag749.xml"/><Relationship Id="rId4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754.xml"/><Relationship Id="rId7" Type="http://schemas.openxmlformats.org/officeDocument/2006/relationships/tags" Target="../tags/tag758.xml"/><Relationship Id="rId2" Type="http://schemas.openxmlformats.org/officeDocument/2006/relationships/tags" Target="../tags/tag753.xml"/><Relationship Id="rId1" Type="http://schemas.openxmlformats.org/officeDocument/2006/relationships/tags" Target="../tags/tag752.xml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4" Type="http://schemas.openxmlformats.org/officeDocument/2006/relationships/tags" Target="../tags/tag75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766.xml"/><Relationship Id="rId3" Type="http://schemas.openxmlformats.org/officeDocument/2006/relationships/tags" Target="../tags/tag761.xml"/><Relationship Id="rId7" Type="http://schemas.openxmlformats.org/officeDocument/2006/relationships/tags" Target="../tags/tag765.xml"/><Relationship Id="rId2" Type="http://schemas.openxmlformats.org/officeDocument/2006/relationships/tags" Target="../tags/tag760.xml"/><Relationship Id="rId1" Type="http://schemas.openxmlformats.org/officeDocument/2006/relationships/tags" Target="../tags/tag759.xml"/><Relationship Id="rId6" Type="http://schemas.openxmlformats.org/officeDocument/2006/relationships/tags" Target="../tags/tag764.xml"/><Relationship Id="rId5" Type="http://schemas.openxmlformats.org/officeDocument/2006/relationships/tags" Target="../tags/tag76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62.xml"/><Relationship Id="rId9" Type="http://schemas.openxmlformats.org/officeDocument/2006/relationships/tags" Target="../tags/tag76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770.xml"/><Relationship Id="rId2" Type="http://schemas.openxmlformats.org/officeDocument/2006/relationships/tags" Target="../tags/tag769.xml"/><Relationship Id="rId1" Type="http://schemas.openxmlformats.org/officeDocument/2006/relationships/tags" Target="../tags/tag768.xml"/><Relationship Id="rId5" Type="http://schemas.openxmlformats.org/officeDocument/2006/relationships/slide" Target="slide37.xml"/><Relationship Id="rId4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773.xml"/><Relationship Id="rId7" Type="http://schemas.openxmlformats.org/officeDocument/2006/relationships/tags" Target="../tags/tag777.xml"/><Relationship Id="rId2" Type="http://schemas.openxmlformats.org/officeDocument/2006/relationships/tags" Target="../tags/tag772.xml"/><Relationship Id="rId1" Type="http://schemas.openxmlformats.org/officeDocument/2006/relationships/tags" Target="../tags/tag771.xml"/><Relationship Id="rId6" Type="http://schemas.openxmlformats.org/officeDocument/2006/relationships/tags" Target="../tags/tag776.xml"/><Relationship Id="rId5" Type="http://schemas.openxmlformats.org/officeDocument/2006/relationships/tags" Target="../tags/tag775.xml"/><Relationship Id="rId4" Type="http://schemas.openxmlformats.org/officeDocument/2006/relationships/tags" Target="../tags/tag774.xml"/><Relationship Id="rId9" Type="http://schemas.openxmlformats.org/officeDocument/2006/relationships/slide" Target="slide3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780.xml"/><Relationship Id="rId7" Type="http://schemas.openxmlformats.org/officeDocument/2006/relationships/tags" Target="../tags/tag784.xml"/><Relationship Id="rId2" Type="http://schemas.openxmlformats.org/officeDocument/2006/relationships/tags" Target="../tags/tag779.xml"/><Relationship Id="rId1" Type="http://schemas.openxmlformats.org/officeDocument/2006/relationships/tags" Target="../tags/tag778.xml"/><Relationship Id="rId6" Type="http://schemas.openxmlformats.org/officeDocument/2006/relationships/tags" Target="../tags/tag783.xml"/><Relationship Id="rId5" Type="http://schemas.openxmlformats.org/officeDocument/2006/relationships/tags" Target="../tags/tag782.xml"/><Relationship Id="rId10" Type="http://schemas.openxmlformats.org/officeDocument/2006/relationships/slide" Target="slide1.xml"/><Relationship Id="rId4" Type="http://schemas.openxmlformats.org/officeDocument/2006/relationships/tags" Target="../tags/tag781.xml"/><Relationship Id="rId9" Type="http://schemas.openxmlformats.org/officeDocument/2006/relationships/slide" Target="slide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787.xml"/><Relationship Id="rId7" Type="http://schemas.openxmlformats.org/officeDocument/2006/relationships/slide" Target="slide36.xml"/><Relationship Id="rId2" Type="http://schemas.openxmlformats.org/officeDocument/2006/relationships/tags" Target="../tags/tag786.xml"/><Relationship Id="rId1" Type="http://schemas.openxmlformats.org/officeDocument/2006/relationships/tags" Target="../tags/tag785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8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792.xml"/><Relationship Id="rId2" Type="http://schemas.openxmlformats.org/officeDocument/2006/relationships/tags" Target="../tags/tag791.xml"/><Relationship Id="rId1" Type="http://schemas.openxmlformats.org/officeDocument/2006/relationships/tags" Target="../tags/tag79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93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tags" Target="../tags/tag819.xml"/><Relationship Id="rId21" Type="http://schemas.openxmlformats.org/officeDocument/2006/relationships/tags" Target="../tags/tag814.xml"/><Relationship Id="rId42" Type="http://schemas.openxmlformats.org/officeDocument/2006/relationships/tags" Target="../tags/tag835.xml"/><Relationship Id="rId47" Type="http://schemas.openxmlformats.org/officeDocument/2006/relationships/tags" Target="../tags/tag840.xml"/><Relationship Id="rId63" Type="http://schemas.openxmlformats.org/officeDocument/2006/relationships/tags" Target="../tags/tag856.xml"/><Relationship Id="rId68" Type="http://schemas.openxmlformats.org/officeDocument/2006/relationships/tags" Target="../tags/tag861.xml"/><Relationship Id="rId2" Type="http://schemas.openxmlformats.org/officeDocument/2006/relationships/tags" Target="../tags/tag795.xml"/><Relationship Id="rId16" Type="http://schemas.openxmlformats.org/officeDocument/2006/relationships/tags" Target="../tags/tag809.xml"/><Relationship Id="rId29" Type="http://schemas.openxmlformats.org/officeDocument/2006/relationships/tags" Target="../tags/tag822.xml"/><Relationship Id="rId11" Type="http://schemas.openxmlformats.org/officeDocument/2006/relationships/tags" Target="../tags/tag804.xml"/><Relationship Id="rId24" Type="http://schemas.openxmlformats.org/officeDocument/2006/relationships/tags" Target="../tags/tag817.xml"/><Relationship Id="rId32" Type="http://schemas.openxmlformats.org/officeDocument/2006/relationships/tags" Target="../tags/tag825.xml"/><Relationship Id="rId37" Type="http://schemas.openxmlformats.org/officeDocument/2006/relationships/tags" Target="../tags/tag830.xml"/><Relationship Id="rId40" Type="http://schemas.openxmlformats.org/officeDocument/2006/relationships/tags" Target="../tags/tag833.xml"/><Relationship Id="rId45" Type="http://schemas.openxmlformats.org/officeDocument/2006/relationships/tags" Target="../tags/tag838.xml"/><Relationship Id="rId53" Type="http://schemas.openxmlformats.org/officeDocument/2006/relationships/tags" Target="../tags/tag846.xml"/><Relationship Id="rId58" Type="http://schemas.openxmlformats.org/officeDocument/2006/relationships/tags" Target="../tags/tag851.xml"/><Relationship Id="rId66" Type="http://schemas.openxmlformats.org/officeDocument/2006/relationships/tags" Target="../tags/tag859.xml"/><Relationship Id="rId5" Type="http://schemas.openxmlformats.org/officeDocument/2006/relationships/tags" Target="../tags/tag798.xml"/><Relationship Id="rId61" Type="http://schemas.openxmlformats.org/officeDocument/2006/relationships/tags" Target="../tags/tag854.xml"/><Relationship Id="rId19" Type="http://schemas.openxmlformats.org/officeDocument/2006/relationships/tags" Target="../tags/tag812.xml"/><Relationship Id="rId14" Type="http://schemas.openxmlformats.org/officeDocument/2006/relationships/tags" Target="../tags/tag807.xml"/><Relationship Id="rId22" Type="http://schemas.openxmlformats.org/officeDocument/2006/relationships/tags" Target="../tags/tag815.xml"/><Relationship Id="rId27" Type="http://schemas.openxmlformats.org/officeDocument/2006/relationships/tags" Target="../tags/tag820.xml"/><Relationship Id="rId30" Type="http://schemas.openxmlformats.org/officeDocument/2006/relationships/tags" Target="../tags/tag823.xml"/><Relationship Id="rId35" Type="http://schemas.openxmlformats.org/officeDocument/2006/relationships/tags" Target="../tags/tag828.xml"/><Relationship Id="rId43" Type="http://schemas.openxmlformats.org/officeDocument/2006/relationships/tags" Target="../tags/tag836.xml"/><Relationship Id="rId48" Type="http://schemas.openxmlformats.org/officeDocument/2006/relationships/tags" Target="../tags/tag841.xml"/><Relationship Id="rId56" Type="http://schemas.openxmlformats.org/officeDocument/2006/relationships/tags" Target="../tags/tag849.xml"/><Relationship Id="rId64" Type="http://schemas.openxmlformats.org/officeDocument/2006/relationships/tags" Target="../tags/tag857.xml"/><Relationship Id="rId69" Type="http://schemas.openxmlformats.org/officeDocument/2006/relationships/tags" Target="../tags/tag862.xml"/><Relationship Id="rId8" Type="http://schemas.openxmlformats.org/officeDocument/2006/relationships/tags" Target="../tags/tag801.xml"/><Relationship Id="rId51" Type="http://schemas.openxmlformats.org/officeDocument/2006/relationships/tags" Target="../tags/tag844.xml"/><Relationship Id="rId72" Type="http://schemas.openxmlformats.org/officeDocument/2006/relationships/slideLayout" Target="../slideLayouts/slideLayout7.xml"/><Relationship Id="rId3" Type="http://schemas.openxmlformats.org/officeDocument/2006/relationships/tags" Target="../tags/tag796.xml"/><Relationship Id="rId12" Type="http://schemas.openxmlformats.org/officeDocument/2006/relationships/tags" Target="../tags/tag805.xml"/><Relationship Id="rId17" Type="http://schemas.openxmlformats.org/officeDocument/2006/relationships/tags" Target="../tags/tag810.xml"/><Relationship Id="rId25" Type="http://schemas.openxmlformats.org/officeDocument/2006/relationships/tags" Target="../tags/tag818.xml"/><Relationship Id="rId33" Type="http://schemas.openxmlformats.org/officeDocument/2006/relationships/tags" Target="../tags/tag826.xml"/><Relationship Id="rId38" Type="http://schemas.openxmlformats.org/officeDocument/2006/relationships/tags" Target="../tags/tag831.xml"/><Relationship Id="rId46" Type="http://schemas.openxmlformats.org/officeDocument/2006/relationships/tags" Target="../tags/tag839.xml"/><Relationship Id="rId59" Type="http://schemas.openxmlformats.org/officeDocument/2006/relationships/tags" Target="../tags/tag852.xml"/><Relationship Id="rId67" Type="http://schemas.openxmlformats.org/officeDocument/2006/relationships/tags" Target="../tags/tag860.xml"/><Relationship Id="rId20" Type="http://schemas.openxmlformats.org/officeDocument/2006/relationships/tags" Target="../tags/tag813.xml"/><Relationship Id="rId41" Type="http://schemas.openxmlformats.org/officeDocument/2006/relationships/tags" Target="../tags/tag834.xml"/><Relationship Id="rId54" Type="http://schemas.openxmlformats.org/officeDocument/2006/relationships/tags" Target="../tags/tag847.xml"/><Relationship Id="rId62" Type="http://schemas.openxmlformats.org/officeDocument/2006/relationships/tags" Target="../tags/tag855.xml"/><Relationship Id="rId70" Type="http://schemas.openxmlformats.org/officeDocument/2006/relationships/tags" Target="../tags/tag863.xml"/><Relationship Id="rId1" Type="http://schemas.openxmlformats.org/officeDocument/2006/relationships/tags" Target="../tags/tag794.xml"/><Relationship Id="rId6" Type="http://schemas.openxmlformats.org/officeDocument/2006/relationships/tags" Target="../tags/tag799.xml"/><Relationship Id="rId15" Type="http://schemas.openxmlformats.org/officeDocument/2006/relationships/tags" Target="../tags/tag808.xml"/><Relationship Id="rId23" Type="http://schemas.openxmlformats.org/officeDocument/2006/relationships/tags" Target="../tags/tag816.xml"/><Relationship Id="rId28" Type="http://schemas.openxmlformats.org/officeDocument/2006/relationships/tags" Target="../tags/tag821.xml"/><Relationship Id="rId36" Type="http://schemas.openxmlformats.org/officeDocument/2006/relationships/tags" Target="../tags/tag829.xml"/><Relationship Id="rId49" Type="http://schemas.openxmlformats.org/officeDocument/2006/relationships/tags" Target="../tags/tag842.xml"/><Relationship Id="rId57" Type="http://schemas.openxmlformats.org/officeDocument/2006/relationships/tags" Target="../tags/tag850.xml"/><Relationship Id="rId10" Type="http://schemas.openxmlformats.org/officeDocument/2006/relationships/tags" Target="../tags/tag803.xml"/><Relationship Id="rId31" Type="http://schemas.openxmlformats.org/officeDocument/2006/relationships/tags" Target="../tags/tag824.xml"/><Relationship Id="rId44" Type="http://schemas.openxmlformats.org/officeDocument/2006/relationships/tags" Target="../tags/tag837.xml"/><Relationship Id="rId52" Type="http://schemas.openxmlformats.org/officeDocument/2006/relationships/tags" Target="../tags/tag845.xml"/><Relationship Id="rId60" Type="http://schemas.openxmlformats.org/officeDocument/2006/relationships/tags" Target="../tags/tag853.xml"/><Relationship Id="rId65" Type="http://schemas.openxmlformats.org/officeDocument/2006/relationships/tags" Target="../tags/tag858.xml"/><Relationship Id="rId73" Type="http://schemas.openxmlformats.org/officeDocument/2006/relationships/notesSlide" Target="../notesSlides/notesSlide21.xml"/><Relationship Id="rId4" Type="http://schemas.openxmlformats.org/officeDocument/2006/relationships/tags" Target="../tags/tag797.xml"/><Relationship Id="rId9" Type="http://schemas.openxmlformats.org/officeDocument/2006/relationships/tags" Target="../tags/tag802.xml"/><Relationship Id="rId13" Type="http://schemas.openxmlformats.org/officeDocument/2006/relationships/tags" Target="../tags/tag806.xml"/><Relationship Id="rId18" Type="http://schemas.openxmlformats.org/officeDocument/2006/relationships/tags" Target="../tags/tag811.xml"/><Relationship Id="rId39" Type="http://schemas.openxmlformats.org/officeDocument/2006/relationships/tags" Target="../tags/tag832.xml"/><Relationship Id="rId34" Type="http://schemas.openxmlformats.org/officeDocument/2006/relationships/tags" Target="../tags/tag827.xml"/><Relationship Id="rId50" Type="http://schemas.openxmlformats.org/officeDocument/2006/relationships/tags" Target="../tags/tag843.xml"/><Relationship Id="rId55" Type="http://schemas.openxmlformats.org/officeDocument/2006/relationships/tags" Target="../tags/tag848.xml"/><Relationship Id="rId7" Type="http://schemas.openxmlformats.org/officeDocument/2006/relationships/tags" Target="../tags/tag800.xml"/><Relationship Id="rId71" Type="http://schemas.openxmlformats.org/officeDocument/2006/relationships/tags" Target="../tags/tag86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867.xml"/><Relationship Id="rId2" Type="http://schemas.openxmlformats.org/officeDocument/2006/relationships/tags" Target="../tags/tag866.xml"/><Relationship Id="rId1" Type="http://schemas.openxmlformats.org/officeDocument/2006/relationships/tags" Target="../tags/tag865.xml"/><Relationship Id="rId4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69.xml"/><Relationship Id="rId1" Type="http://schemas.openxmlformats.org/officeDocument/2006/relationships/tags" Target="../tags/tag86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71.xml"/><Relationship Id="rId1" Type="http://schemas.openxmlformats.org/officeDocument/2006/relationships/tags" Target="../tags/tag8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205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8888" y="2595562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第四章  指令系统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844" y="404664"/>
            <a:ext cx="8749636" cy="5799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⑴指令系统的组成         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指令的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表示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</a:rPr>
              <a:t>指令功能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，指令格式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信息表示方法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2200" b="1" dirty="0">
                <a:latin typeface="宋体" panose="02010600030101010101" pitchFamily="2" charset="-122"/>
              </a:rPr>
              <a:t>编码，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指令字组成  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操作的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编码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⑵操作数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(OPD)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的存放  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数据的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2200" b="1" dirty="0">
                <a:latin typeface="宋体" panose="02010600030101010101" pitchFamily="2" charset="-122"/>
              </a:rPr>
              <a:t>OPD</a:t>
            </a:r>
            <a:r>
              <a:rPr lang="zh-CN" altLang="en-US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u="none" spc="-50" dirty="0">
                <a:solidFill>
                  <a:schemeClr val="tx1"/>
                </a:solidFill>
                <a:latin typeface="宋体" panose="02010600030101010101" pitchFamily="2" charset="-122"/>
              </a:rPr>
              <a:t>中的存放方式、地址表示</a:t>
            </a:r>
            <a:endParaRPr lang="en-US" altLang="zh-CN" sz="2200" b="1" u="none" spc="-5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⑶寻址方式              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编码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solidFill>
                  <a:schemeClr val="tx1"/>
                </a:solidFill>
              </a:rPr>
              <a:t>     </a:t>
            </a:r>
            <a:r>
              <a:rPr lang="en-US" altLang="zh-CN" sz="2200" b="1" u="none" dirty="0">
                <a:solidFill>
                  <a:schemeClr val="tx1"/>
                </a:solidFill>
              </a:rPr>
              <a:t>     </a:t>
            </a:r>
            <a:r>
              <a:rPr lang="zh-CN" altLang="en-US" sz="2200" b="1" u="none" dirty="0">
                <a:solidFill>
                  <a:schemeClr val="tx1"/>
                </a:solidFill>
              </a:rPr>
              <a:t>指令寻址方式，数据寻址方式，指令格式分析</a:t>
            </a:r>
            <a:r>
              <a:rPr lang="en-US" altLang="zh-CN" sz="1800" b="1" u="none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举例</a:t>
            </a:r>
            <a:r>
              <a:rPr lang="en-US" altLang="zh-CN" sz="1800" b="1" u="none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⑷指令系统举例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/>
              <a:t>△</a:t>
            </a:r>
            <a:r>
              <a:rPr lang="en-US" altLang="zh-CN" sz="1800" b="1" spc="-100" dirty="0">
                <a:latin typeface="+mn-ea"/>
              </a:rPr>
              <a:t>)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MIPS32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IA32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50" dirty="0">
                <a:latin typeface="宋体" panose="02010600030101010101" pitchFamily="2" charset="-122"/>
              </a:rPr>
              <a:t>数据表示、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OPD</a:t>
            </a:r>
            <a:r>
              <a:rPr lang="zh-CN" altLang="en-US" sz="1800" b="1" u="none" spc="-50" dirty="0">
                <a:latin typeface="宋体" panose="02010600030101010101" pitchFamily="2" charset="-122"/>
              </a:rPr>
              <a:t>存放、寻址方式、指令格式、指令功能</a:t>
            </a:r>
            <a:r>
              <a:rPr lang="en-US" altLang="zh-CN" sz="1800" b="1" u="none" spc="-50" dirty="0">
                <a:latin typeface="宋体" panose="02010600030101010101" pitchFamily="2" charset="-122"/>
              </a:rPr>
              <a:t>)</a:t>
            </a:r>
            <a:endParaRPr lang="en-US" altLang="zh-CN" sz="2200" b="1" u="none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⑸指令系统的发展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/>
              <a:t>△</a:t>
            </a:r>
            <a:r>
              <a:rPr lang="en-US" altLang="zh-CN" sz="1800" b="1" spc="-100" dirty="0">
                <a:latin typeface="+mn-ea"/>
              </a:rPr>
              <a:t>)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 CISC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RISC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</a:rPr>
              <a:t>理解</a:t>
            </a:r>
            <a:r>
              <a:rPr lang="zh-CN" altLang="en-US" sz="2200" b="1" dirty="0"/>
              <a:t>指令功能的表示方法，</a:t>
            </a:r>
            <a:r>
              <a:rPr lang="zh-CN" altLang="en-US" sz="2200" b="1" u="sng" dirty="0">
                <a:solidFill>
                  <a:schemeClr val="accent2"/>
                </a:solidFill>
              </a:rPr>
              <a:t>能</a:t>
            </a:r>
            <a:r>
              <a:rPr lang="zh-CN" altLang="en-US" sz="2200" b="1" dirty="0"/>
              <a:t>按给定</a:t>
            </a:r>
            <a:r>
              <a:rPr lang="en-US" altLang="zh-CN" sz="2200" b="1" dirty="0">
                <a:latin typeface="+mn-ea"/>
                <a:ea typeface="+mn-ea"/>
              </a:rPr>
              <a:t>ISA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编程</a:t>
            </a:r>
            <a:endParaRPr lang="en-US" altLang="zh-CN" sz="2200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AutoShape 452">
            <a:hlinkClick r:id="rId10" action="ppaction://hlinksldjump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7739528" y="105480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52">
            <a:hlinkClick r:id="rId11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7738834" y="227687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12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7739528" y="314096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13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7738834" y="407707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14" action="ppaction://hlinksldjump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7738835" y="494116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弧形 8"/>
          <p:cNvSpPr/>
          <p:nvPr>
            <p:custDataLst>
              <p:tags r:id="rId7"/>
            </p:custDataLst>
          </p:nvPr>
        </p:nvSpPr>
        <p:spPr bwMode="auto">
          <a:xfrm>
            <a:off x="6552000" y="2497795"/>
            <a:ext cx="504056" cy="864000"/>
          </a:xfrm>
          <a:prstGeom prst="arc">
            <a:avLst>
              <a:gd name="adj1" fmla="val 16200000"/>
              <a:gd name="adj2" fmla="val 5472397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60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§4.1 </a:t>
            </a:r>
            <a:r>
              <a:rPr lang="zh-CN" altLang="en-US" sz="2800" b="1" dirty="0">
                <a:latin typeface="宋体" panose="02010600030101010101" pitchFamily="2" charset="-122"/>
              </a:rPr>
              <a:t>指令系统组成</a:t>
            </a:r>
          </a:p>
        </p:txBody>
      </p:sp>
      <p:sp>
        <p:nvSpPr>
          <p:cNvPr id="6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5200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指令功能，指令格式，操作码编码，指令字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152400" y="1268760"/>
            <a:ext cx="6938320" cy="5016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*计算机系统组成回顾：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软件组成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程序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指令序列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组成；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指令有顺序型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转移型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sz="1800" b="1" dirty="0"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操作码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组成、用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二进制编码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</a:t>
            </a: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工作方式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软件的执行方式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指令执行过程</a:t>
            </a:r>
            <a:endParaRPr lang="en-US" altLang="zh-CN" sz="22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指令执行过程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软硬件接口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(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交界面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6983923" y="2996952"/>
            <a:ext cx="1980565" cy="1341202"/>
            <a:chOff x="7878398" y="3628092"/>
            <a:chExt cx="1980565" cy="1341202"/>
          </a:xfrm>
        </p:grpSpPr>
        <p:sp>
          <p:nvSpPr>
            <p:cNvPr id="66" name="Text Box 36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8273368" y="3628092"/>
              <a:ext cx="1585595" cy="133223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R[1]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204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]+2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R[1]=0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zh-CN" sz="1600" b="1" dirty="0">
                  <a:latin typeface="宋体" panose="02010600030101010101" pitchFamily="2" charset="-122"/>
                </a:rPr>
                <a:t>转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203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2005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8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转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800)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x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flag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36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878398" y="3637294"/>
              <a:ext cx="396000" cy="13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203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204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205</a:t>
              </a:r>
            </a:p>
          </p:txBody>
        </p:sp>
        <p:cxnSp>
          <p:nvCxnSpPr>
            <p:cNvPr id="68" name="直接连接符 67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8273163" y="3844092"/>
              <a:ext cx="1584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8273163" y="4060092"/>
              <a:ext cx="1584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8273163" y="4276092"/>
              <a:ext cx="1584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70"/>
              </p:custDataLst>
            </p:nvPr>
          </p:nvCxnSpPr>
          <p:spPr bwMode="auto">
            <a:xfrm>
              <a:off x="8273163" y="4528092"/>
              <a:ext cx="158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71"/>
              </p:custDataLst>
            </p:nvPr>
          </p:nvCxnSpPr>
          <p:spPr bwMode="auto">
            <a:xfrm>
              <a:off x="8273163" y="4744092"/>
              <a:ext cx="158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6" name="组合 85"/>
          <p:cNvGrpSpPr/>
          <p:nvPr/>
        </p:nvGrpSpPr>
        <p:grpSpPr>
          <a:xfrm>
            <a:off x="7380054" y="4437112"/>
            <a:ext cx="1584120" cy="252000"/>
            <a:chOff x="2447892" y="4509120"/>
            <a:chExt cx="1584120" cy="252000"/>
          </a:xfrm>
        </p:grpSpPr>
        <p:sp>
          <p:nvSpPr>
            <p:cNvPr id="75" name="Text Box 6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447892" y="4509120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88" name="Text Box 6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023940" y="4509120"/>
              <a:ext cx="43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76" name="Text Box 65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456012" y="4509120"/>
              <a:ext cx="57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A2</a:t>
              </a:r>
            </a:p>
          </p:txBody>
        </p:sp>
      </p:grpSp>
      <p:cxnSp>
        <p:nvCxnSpPr>
          <p:cNvPr id="80" name="直接连接符 79"/>
          <p:cNvCxnSpPr>
            <a:cxnSpLocks/>
          </p:cNvCxnSpPr>
          <p:nvPr/>
        </p:nvCxnSpPr>
        <p:spPr>
          <a:xfrm flipH="1">
            <a:off x="4212000" y="3861048"/>
            <a:ext cx="1368000" cy="936000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8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" name="Text Box 13">
            <a:extLst>
              <a:ext uri="{FF2B5EF4-FFF2-40B4-BE49-F238E27FC236}">
                <a16:creationId xmlns:a16="http://schemas.microsoft.com/office/drawing/2014/main" id="{4FF7B96A-AA11-4AA6-A8DE-B158EA0B0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700808"/>
            <a:ext cx="223200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CPU+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外设，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总线方式互连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16" name="Text Box 13">
            <a:extLst>
              <a:ext uri="{FF2B5EF4-FFF2-40B4-BE49-F238E27FC236}">
                <a16:creationId xmlns:a16="http://schemas.microsoft.com/office/drawing/2014/main" id="{2B155895-12F9-430E-8FB8-C8FCD7FD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4725144"/>
            <a:ext cx="6624000" cy="154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2148205" indent="-2148205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取指、分析、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、计算指令地址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下条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操作数、操作、写结果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含标志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zh-CN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指令系统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，即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所有指令的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格式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49AC439-86E6-4DD8-83B6-44782F45C021}"/>
              </a:ext>
            </a:extLst>
          </p:cNvPr>
          <p:cNvGrpSpPr/>
          <p:nvPr/>
        </p:nvGrpSpPr>
        <p:grpSpPr>
          <a:xfrm>
            <a:off x="4427701" y="1484784"/>
            <a:ext cx="4536787" cy="1332000"/>
            <a:chOff x="4104000" y="1836000"/>
            <a:chExt cx="4536787" cy="1332000"/>
          </a:xfrm>
        </p:grpSpPr>
        <p:sp>
          <p:nvSpPr>
            <p:cNvPr id="144" name="Rectangle 90">
              <a:extLst>
                <a:ext uri="{FF2B5EF4-FFF2-40B4-BE49-F238E27FC236}">
                  <a16:creationId xmlns:a16="http://schemas.microsoft.com/office/drawing/2014/main" id="{CD734394-1B9A-467E-89D2-D5153696A8A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104000" y="1836000"/>
              <a:ext cx="3276000" cy="13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5" name="Rectangle 184">
              <a:extLst>
                <a:ext uri="{FF2B5EF4-FFF2-40B4-BE49-F238E27FC236}">
                  <a16:creationId xmlns:a16="http://schemas.microsoft.com/office/drawing/2014/main" id="{1C00869A-323D-467A-8C4D-E16B948C8D25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723835" y="2088000"/>
              <a:ext cx="1043940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ysDash"/>
              <a:miter lim="800000"/>
            </a:ln>
          </p:spPr>
          <p:txBody>
            <a:bodyPr vert="eaVert" lIns="0" tIns="0" rIns="0" bIns="0"/>
            <a:lstStyle/>
            <a:p>
              <a:pPr algn="ctr"/>
              <a:endParaRPr lang="zh-CN" altLang="en-US" sz="2000" b="1">
                <a:latin typeface="+mn-ea"/>
                <a:ea typeface="+mn-ea"/>
              </a:endParaRPr>
            </a:p>
            <a:p>
              <a:pPr algn="ctr"/>
              <a:endParaRPr lang="zh-CN" altLang="en-US" sz="1800" b="1">
                <a:latin typeface="+mn-ea"/>
                <a:ea typeface="+mn-ea"/>
              </a:endParaRPr>
            </a:p>
          </p:txBody>
        </p: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6AF9243F-E0B2-4511-AA66-CBF7E8BBBEE8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7380312" y="2988230"/>
              <a:ext cx="972185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" name="Text Box 101">
              <a:extLst>
                <a:ext uri="{FF2B5EF4-FFF2-40B4-BE49-F238E27FC236}">
                  <a16:creationId xmlns:a16="http://schemas.microsoft.com/office/drawing/2014/main" id="{C072B090-D937-4C15-8EB5-B345C8E8C3A8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416507" y="2736135"/>
              <a:ext cx="504190" cy="2520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ABus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975A3D4D-9663-46BC-993F-B3807B374233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7380312" y="2268000"/>
              <a:ext cx="97218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9" name="Text Box 101">
              <a:extLst>
                <a:ext uri="{FF2B5EF4-FFF2-40B4-BE49-F238E27FC236}">
                  <a16:creationId xmlns:a16="http://schemas.microsoft.com/office/drawing/2014/main" id="{A8C0DEE5-8B36-4710-B43C-A7F844333C24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416507" y="2016000"/>
              <a:ext cx="504190" cy="2520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DBus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18B40A66-62B0-4B56-A26D-A6C48E52B42A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6659825" y="2664380"/>
              <a:ext cx="1692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1" name="Text Box 101">
              <a:extLst>
                <a:ext uri="{FF2B5EF4-FFF2-40B4-BE49-F238E27FC236}">
                  <a16:creationId xmlns:a16="http://schemas.microsoft.com/office/drawing/2014/main" id="{31671D46-90DA-4471-9DC2-971BF5C532C0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416507" y="2339895"/>
              <a:ext cx="504190" cy="2520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CBus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Text Box 98">
              <a:extLst>
                <a:ext uri="{FF2B5EF4-FFF2-40B4-BE49-F238E27FC236}">
                  <a16:creationId xmlns:a16="http://schemas.microsoft.com/office/drawing/2014/main" id="{BA74FCAF-3C38-4BFB-A520-DAF38CAE20B4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912843" y="2376000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</a:rPr>
                <a:t>CPU</a:t>
              </a:r>
            </a:p>
          </p:txBody>
        </p: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FEF783FB-0720-4906-8468-FC8AF2DEEE5E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 flipH="1">
              <a:off x="6659825" y="2591990"/>
              <a:ext cx="1692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DC36DE9E-CC41-4547-BDD3-A97D9FE0FCA8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>
            <a:xfrm flipV="1">
              <a:off x="5652080" y="2952000"/>
              <a:ext cx="3962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55" name="Text Box 191">
              <a:extLst>
                <a:ext uri="{FF2B5EF4-FFF2-40B4-BE49-F238E27FC236}">
                  <a16:creationId xmlns:a16="http://schemas.microsoft.com/office/drawing/2014/main" id="{CC0937A9-13BD-4C13-8C18-DD25DF677615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984310" y="2880280"/>
              <a:ext cx="39624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+mn-ea"/>
                  <a:ea typeface="+mn-ea"/>
                </a:rPr>
                <a:t>MAR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87AF9029-76FD-47C7-A737-7AC2FF28128B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>
              <a:off x="6624265" y="2988230"/>
              <a:ext cx="360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7" name="Text Box 191">
              <a:extLst>
                <a:ext uri="{FF2B5EF4-FFF2-40B4-BE49-F238E27FC236}">
                  <a16:creationId xmlns:a16="http://schemas.microsoft.com/office/drawing/2014/main" id="{A16AFD3B-09F1-4A8C-A5B7-EC7310B619FD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048320" y="2880280"/>
              <a:ext cx="575945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+mn-ea"/>
                  <a:ea typeface="+mn-ea"/>
                </a:rPr>
                <a:t>PC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218" name="Text Box 191">
              <a:extLst>
                <a:ext uri="{FF2B5EF4-FFF2-40B4-BE49-F238E27FC236}">
                  <a16:creationId xmlns:a16="http://schemas.microsoft.com/office/drawing/2014/main" id="{1834597B-D7B0-45C9-A5CA-CB45FBF6AE95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796225" y="2520235"/>
              <a:ext cx="864235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ea typeface="+mn-ea"/>
                </a:rPr>
                <a:t>控制部件</a:t>
              </a:r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86C8D62B-8ABE-4423-9A75-73814A201664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 flipH="1">
              <a:off x="6190560" y="2736135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352F52FE-3E7B-475C-B2C5-0C99ECD1723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>
            <a:xfrm flipH="1">
              <a:off x="6191830" y="2340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14C598F2-4FE1-4470-952C-321AC5313226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 flipH="1">
              <a:off x="7164015" y="1908000"/>
              <a:ext cx="0" cy="216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501AD463-DFC1-46F3-86C8-5E853184A100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>
              <a:off x="6840165" y="2448000"/>
              <a:ext cx="1270" cy="540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Text Box 191">
              <a:extLst>
                <a:ext uri="{FF2B5EF4-FFF2-40B4-BE49-F238E27FC236}">
                  <a16:creationId xmlns:a16="http://schemas.microsoft.com/office/drawing/2014/main" id="{084DDF3A-2E19-41B4-858B-F53116040C94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984310" y="2124000"/>
              <a:ext cx="39624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+mn-ea"/>
                  <a:ea typeface="+mn-ea"/>
                </a:rPr>
                <a:t>MDR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D3CBD42E-4DA3-48E6-BC4B-F0A2E2138F8D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 flipH="1">
              <a:off x="6624265" y="2232000"/>
              <a:ext cx="36004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5" name="Text Box 191">
              <a:extLst>
                <a:ext uri="{FF2B5EF4-FFF2-40B4-BE49-F238E27FC236}">
                  <a16:creationId xmlns:a16="http://schemas.microsoft.com/office/drawing/2014/main" id="{58898905-D517-4402-A29C-5E0ABBE78047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048320" y="2124000"/>
              <a:ext cx="575945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+mn-ea"/>
                  <a:ea typeface="+mn-ea"/>
                </a:rPr>
                <a:t>IR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22040855-AD59-4EB8-92D9-73C0900D934A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 flipH="1">
              <a:off x="6479485" y="2340000"/>
              <a:ext cx="0" cy="10795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384B54B2-4400-413A-BA54-7D8E92920BB4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>
            <a:xfrm flipV="1">
              <a:off x="6480120" y="2448000"/>
              <a:ext cx="360045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B31E6E22-57F9-44D7-B047-852BCAFDFF4D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>
            <a:xfrm flipH="1">
              <a:off x="6479485" y="2052000"/>
              <a:ext cx="0" cy="72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F0E5A156-99D3-4B1B-8E55-7892A7D6096F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>
            <a:xfrm flipH="1" flipV="1">
              <a:off x="5904175" y="2736135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1267AF9F-F46E-4F0F-95FD-4E387AE4EF42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>
            <a:xfrm flipH="1">
              <a:off x="5652080" y="1908000"/>
              <a:ext cx="0" cy="10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5890840A-B243-4D66-81A8-3571DF2B0779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>
            <a:xfrm flipH="1">
              <a:off x="5471740" y="2628185"/>
              <a:ext cx="323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C5D4ACB8-754F-41F1-B466-FD40ADE80C44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>
            <a:xfrm flipH="1">
              <a:off x="5580000" y="2556430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43A8A1E3-DD2B-440C-B444-9A2EFC73388E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>
            <a:xfrm flipH="1">
              <a:off x="5580000" y="2699940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4" name="Rectangle 184">
              <a:extLst>
                <a:ext uri="{FF2B5EF4-FFF2-40B4-BE49-F238E27FC236}">
                  <a16:creationId xmlns:a16="http://schemas.microsoft.com/office/drawing/2014/main" id="{0AB0178C-7DDD-44F0-80FA-83D1B1CF2414}"/>
                </a:ext>
              </a:extLst>
            </p:cNvPr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175740" y="1872000"/>
              <a:ext cx="1332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vert="eaVert" lIns="0" tIns="0" rIns="0" bIns="0"/>
            <a:lstStyle/>
            <a:p>
              <a:pPr algn="ctr"/>
              <a:endParaRPr lang="zh-CN" altLang="en-US" sz="2000" b="1">
                <a:latin typeface="+mn-ea"/>
                <a:ea typeface="+mn-ea"/>
              </a:endParaRPr>
            </a:p>
            <a:p>
              <a:pPr algn="ctr"/>
              <a:endParaRPr lang="zh-CN" altLang="en-US" sz="1800" b="1">
                <a:latin typeface="+mn-ea"/>
                <a:ea typeface="+mn-ea"/>
              </a:endParaRPr>
            </a:p>
          </p:txBody>
        </p: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D4E1CEAD-8D96-4FA4-A000-25B410192CDB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>
            <a:xfrm flipH="1">
              <a:off x="5076000" y="2628185"/>
              <a:ext cx="504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2FA23B9B-2A0F-477A-B898-185BDC9A7582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>
            <a:xfrm flipH="1">
              <a:off x="4824299" y="1908000"/>
              <a:ext cx="0" cy="10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37" name="AutoShape 189">
              <a:extLst>
                <a:ext uri="{FF2B5EF4-FFF2-40B4-BE49-F238E27FC236}">
                  <a16:creationId xmlns:a16="http://schemas.microsoft.com/office/drawing/2014/main" id="{B170C361-BADD-4933-ADD5-B7E88236A633}"/>
                </a:ext>
              </a:extLst>
            </p:cNvPr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464000" y="2412000"/>
              <a:ext cx="720090" cy="28829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lvl="0"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238" name="Text Box 191">
              <a:extLst>
                <a:ext uri="{FF2B5EF4-FFF2-40B4-BE49-F238E27FC236}">
                  <a16:creationId xmlns:a16="http://schemas.microsoft.com/office/drawing/2014/main" id="{846A9B47-DABB-4CB6-9BDB-9B5399523A16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356080" y="2016000"/>
              <a:ext cx="899795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ea typeface="+mn-ea"/>
                </a:rPr>
                <a:t>寄存器组</a:t>
              </a:r>
            </a:p>
          </p:txBody>
        </p: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33815965-B06F-45C3-8EF3-5694ABD2868C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>
            <a:xfrm flipH="1">
              <a:off x="4644000" y="226814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2270F330-CA0B-40C5-8126-903C78991802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>
            <a:xfrm flipH="1">
              <a:off x="5004000" y="226814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1936578C-171C-44D2-8BFA-7F986AAFB003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>
            <a:xfrm flipH="1">
              <a:off x="4824075" y="2700000"/>
              <a:ext cx="0" cy="179705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B548D1E7-6969-43AB-A7B9-2BF49F5F1B32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>
            <a:xfrm flipH="1">
              <a:off x="4932025" y="2700000"/>
              <a:ext cx="0" cy="10795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D852F93B-0B03-461F-AE91-49114FE4FC30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>
            <a:xfrm flipV="1">
              <a:off x="4932025" y="2808000"/>
              <a:ext cx="467995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BD416D51-5288-4610-BAA0-452763ECEE42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>
            <a:xfrm flipH="1">
              <a:off x="5400020" y="1908000"/>
              <a:ext cx="0" cy="90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sp>
          <p:nvSpPr>
            <p:cNvPr id="245" name="Text Box 191">
              <a:extLst>
                <a:ext uri="{FF2B5EF4-FFF2-40B4-BE49-F238E27FC236}">
                  <a16:creationId xmlns:a16="http://schemas.microsoft.com/office/drawing/2014/main" id="{D4E3B747-99AC-4E8B-BCEB-681936DF472F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248130" y="2880000"/>
              <a:ext cx="115189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ea typeface="+mn-ea"/>
                </a:rPr>
                <a:t>状态寄存器</a:t>
              </a:r>
            </a:p>
          </p:txBody>
        </p: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79DE59E9-FA10-4800-B631-34519BB7F02E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>
            <a:xfrm flipV="1">
              <a:off x="5400020" y="3024000"/>
              <a:ext cx="50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2FF1C4E5-BDB2-4345-97B5-13DC7D5F3AE2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>
            <a:xfrm flipH="1">
              <a:off x="5255875" y="2196385"/>
              <a:ext cx="323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D3A62D76-756B-4B7B-ACB2-7B2A46405C5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>
            <a:xfrm flipH="1">
              <a:off x="5579725" y="2196385"/>
              <a:ext cx="0" cy="3600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68F6CBC3-54DB-43A8-9795-84EFE69C32DD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>
            <a:xfrm flipH="1">
              <a:off x="5579725" y="269994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A10A6C7E-507F-4FC3-96FB-3C058E3ACE1D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>
            <a:xfrm flipH="1">
              <a:off x="5400020" y="2952000"/>
              <a:ext cx="17970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51" name="Text Box 191">
              <a:extLst>
                <a:ext uri="{FF2B5EF4-FFF2-40B4-BE49-F238E27FC236}">
                  <a16:creationId xmlns:a16="http://schemas.microsoft.com/office/drawing/2014/main" id="{464E650A-90E7-4212-9172-38DB5BC5F768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352497" y="2160000"/>
              <a:ext cx="288290" cy="90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ea typeface="+mn-ea"/>
                </a:rPr>
                <a:t>主存</a:t>
              </a:r>
            </a:p>
          </p:txBody>
        </p:sp>
        <p:sp>
          <p:nvSpPr>
            <p:cNvPr id="252" name="Text Box 191">
              <a:extLst>
                <a:ext uri="{FF2B5EF4-FFF2-40B4-BE49-F238E27FC236}">
                  <a16:creationId xmlns:a16="http://schemas.microsoft.com/office/drawing/2014/main" id="{2FF6A655-02D2-4817-9B27-64786220537D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848299" y="1836000"/>
              <a:ext cx="504000" cy="2159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ea typeface="+mn-ea"/>
                </a:rPr>
                <a:t>外设</a:t>
              </a:r>
            </a:p>
          </p:txBody>
        </p: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FB4D4F1C-EA75-4FAB-BC30-ED35AEE6ECBF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>
            <a:xfrm flipV="1">
              <a:off x="8207717" y="2052000"/>
              <a:ext cx="0" cy="936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DEC64B18-912F-4A02-9B27-419DAACC0B0B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>
            <a:xfrm flipV="1">
              <a:off x="8100402" y="2052000"/>
              <a:ext cx="0" cy="61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D5BA8940-D80E-4666-94CD-8E07F4FF31F1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>
            <a:xfrm flipH="1">
              <a:off x="8028647" y="2052000"/>
              <a:ext cx="0" cy="5400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6B6F0ECD-617E-43D3-BC94-B77EBF65006F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>
            <a:xfrm flipH="1">
              <a:off x="7920062" y="2052000"/>
              <a:ext cx="0" cy="216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7" name="Text Box 191">
              <a:extLst>
                <a:ext uri="{FF2B5EF4-FFF2-40B4-BE49-F238E27FC236}">
                  <a16:creationId xmlns:a16="http://schemas.microsoft.com/office/drawing/2014/main" id="{2D80CCAE-EA90-40EB-B248-D7FEFD132264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975930" y="2340000"/>
              <a:ext cx="215900" cy="14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  <a:ea typeface="+mn-ea"/>
                </a:rPr>
                <a:t>op</a:t>
              </a:r>
            </a:p>
          </p:txBody>
        </p: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B1C331E3-F992-450C-A5BC-51A95F6FD0AC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>
            <a:xfrm flipV="1">
              <a:off x="4824299" y="1908000"/>
              <a:ext cx="234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AB0F2A7E-6BD3-4F00-B375-8401AE0B5E0A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>
            <a:xfrm flipH="1">
              <a:off x="5256000" y="2052000"/>
              <a:ext cx="12240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0" name="Text Box 191">
              <a:extLst>
                <a:ext uri="{FF2B5EF4-FFF2-40B4-BE49-F238E27FC236}">
                  <a16:creationId xmlns:a16="http://schemas.microsoft.com/office/drawing/2014/main" id="{8B86F2B6-D58B-48CB-886B-281F638B6AC6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6264000" y="2340000"/>
              <a:ext cx="215900" cy="1441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  <a:ea typeface="+mn-ea"/>
                </a:rPr>
                <a:t>ad</a:t>
              </a:r>
            </a:p>
          </p:txBody>
        </p:sp>
      </p:grpSp>
      <p:sp>
        <p:nvSpPr>
          <p:cNvPr id="82" name="AutoShape 94">
            <a:hlinkClick r:id="rId73" action="ppaction://hlinksldjump" highlightClick="1"/>
            <a:extLst>
              <a:ext uri="{FF2B5EF4-FFF2-40B4-BE49-F238E27FC236}">
                <a16:creationId xmlns:a16="http://schemas.microsoft.com/office/drawing/2014/main" id="{03631CEE-4CF3-466C-82D6-567C70812B9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148000" y="650779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4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2400" y="332656"/>
            <a:ext cx="6075784" cy="5617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*指令系统概述：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定义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所含内容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0" indent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评价指标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设计方法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设计结果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风格：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5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83689" y="766800"/>
            <a:ext cx="7524815" cy="56177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itchFamily="2" charset="-122"/>
              </a:rPr>
              <a:t>所有</a:t>
            </a:r>
            <a:r>
              <a:rPr lang="zh-CN" altLang="en-US" sz="2200" b="1" u="sng" dirty="0">
                <a:latin typeface="宋体" pitchFamily="2" charset="-122"/>
              </a:rPr>
              <a:t>机器指令</a:t>
            </a:r>
            <a:r>
              <a:rPr lang="zh-CN" altLang="en-US" sz="2200" b="1" dirty="0">
                <a:latin typeface="宋体" pitchFamily="2" charset="-122"/>
              </a:rPr>
              <a:t>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itchFamily="2" charset="-122"/>
              </a:rPr>
              <a:t>集合</a:t>
            </a:r>
            <a:r>
              <a:rPr lang="zh-CN" altLang="en-US" sz="2200" b="1" dirty="0">
                <a:latin typeface="宋体" pitchFamily="2" charset="-122"/>
              </a:rPr>
              <a:t>，又称</a:t>
            </a:r>
            <a:r>
              <a:rPr lang="zh-CN" altLang="en-US" sz="2200" b="1" u="sng" dirty="0">
                <a:latin typeface="宋体" pitchFamily="2" charset="-122"/>
              </a:rPr>
              <a:t>指令集</a:t>
            </a:r>
            <a:r>
              <a:rPr lang="en-US" altLang="zh-CN" sz="1600" b="1" dirty="0">
                <a:latin typeface="宋体" pitchFamily="2" charset="-122"/>
              </a:rPr>
              <a:t>(</a:t>
            </a:r>
            <a:r>
              <a:rPr lang="en-US" altLang="zh-CN" sz="1600" dirty="0"/>
              <a:t>Instruction Set</a:t>
            </a:r>
            <a:r>
              <a:rPr lang="en-US" altLang="zh-CN" sz="1600" b="1" dirty="0">
                <a:latin typeface="宋体" pitchFamily="2" charset="-122"/>
              </a:rPr>
              <a:t>)</a:t>
            </a:r>
          </a:p>
          <a:p>
            <a:pPr marL="2148205" indent="-214820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指令功能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二进制编码</a:t>
            </a:r>
            <a:endParaRPr lang="en-US" altLang="zh-CN" sz="1800" b="1" u="sng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MIPS32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常用指令有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条、格式有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种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数据表示、操作数存放、寻址方式、指令功能、指令格式</a:t>
            </a:r>
            <a:endParaRPr lang="en-US" altLang="zh-CN" sz="2200" b="1" spc="-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(</a:t>
            </a:r>
            <a:r>
              <a:rPr lang="zh-CN" altLang="en-US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描述为地址</a:t>
            </a:r>
            <a:r>
              <a:rPr lang="en-US" altLang="zh-CN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→(</a:t>
            </a:r>
            <a:r>
              <a:rPr lang="zh-CN" altLang="en-US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用地址码表示</a:t>
            </a:r>
            <a:r>
              <a:rPr lang="en-US" altLang="zh-CN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←</a:t>
            </a:r>
            <a:r>
              <a:rPr lang="zh-CN" altLang="en-US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缩短长度</a:t>
            </a:r>
            <a:r>
              <a:rPr lang="en-US" altLang="zh-CN" sz="18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代码效率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指令字长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执行效率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译码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执行时间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基于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需求程序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统计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频带分析法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仅支持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使用频率高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的指令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含数据类型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寻址方式等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←硬件关注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价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←指令功能由硬件实现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有</a:t>
            </a:r>
            <a:r>
              <a:rPr lang="en-US" altLang="zh-CN" sz="2200" b="1" u="sng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sng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主流是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适于并行处理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←侧重</a:t>
            </a:r>
            <a:r>
              <a:rPr lang="zh-CN" altLang="en-US" sz="18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执行效率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指令功能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弱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规整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←侧重</a:t>
            </a:r>
            <a:r>
              <a:rPr lang="zh-CN" altLang="en-US" sz="18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代码效率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指令功能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程序中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支持功能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程序中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其余功能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指令串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3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988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32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68368" y="6201344"/>
            <a:ext cx="6516000" cy="324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36195" tIns="17780" rIns="36195" bIns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本课程的要求：</a:t>
            </a:r>
            <a:r>
              <a:rPr lang="zh-CN" altLang="en-US" sz="2000" b="1" u="sng" dirty="0">
                <a:solidFill>
                  <a:srgbClr val="CC3300"/>
                </a:solidFill>
                <a:latin typeface="宋体" panose="02010600030101010101" pitchFamily="2" charset="-122"/>
              </a:rPr>
              <a:t>认知</a:t>
            </a:r>
            <a:r>
              <a:rPr lang="zh-CN" altLang="en-US" sz="2000" b="1" u="none" dirty="0">
                <a:latin typeface="宋体" panose="02010600030101010101" pitchFamily="2" charset="-122"/>
              </a:rPr>
              <a:t>指令系统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本章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000" b="1" u="sng" dirty="0">
                <a:solidFill>
                  <a:srgbClr val="CC330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000" b="1" u="none" dirty="0">
                <a:latin typeface="宋体" panose="02010600030101010101" pitchFamily="2" charset="-122"/>
              </a:rPr>
              <a:t>指令系统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下章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5B11043-5657-40DB-8184-48A198444DF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16496" y="5373272"/>
            <a:ext cx="3420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72000" tIns="17780" rIns="36195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CISC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spc="-50" dirty="0">
                <a:latin typeface="+mn-lt"/>
                <a:sym typeface="+mn-ea"/>
              </a:rPr>
              <a:t>Complex Instruction Set Computer</a:t>
            </a:r>
          </a:p>
          <a:p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RISC—</a:t>
            </a:r>
            <a:r>
              <a:rPr lang="en-US" altLang="zh-CN" sz="1600" spc="-50" dirty="0">
                <a:latin typeface="+mn-lt"/>
                <a:ea typeface="+mn-ea"/>
                <a:sym typeface="+mn-ea"/>
              </a:rPr>
              <a:t>Reduced Instruction Set Computer</a:t>
            </a:r>
            <a:endParaRPr lang="en-US" altLang="zh-CN" sz="1600" b="1" spc="-50" dirty="0">
              <a:solidFill>
                <a:srgbClr val="FF3399"/>
              </a:solidFill>
              <a:latin typeface="+mn-lt"/>
              <a:ea typeface="+mn-ea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A3509D-40FB-4373-A96F-D14BF9444E71}"/>
              </a:ext>
            </a:extLst>
          </p:cNvPr>
          <p:cNvGrpSpPr/>
          <p:nvPr/>
        </p:nvGrpSpPr>
        <p:grpSpPr>
          <a:xfrm>
            <a:off x="6228184" y="1196752"/>
            <a:ext cx="2663816" cy="648000"/>
            <a:chOff x="3635896" y="1224000"/>
            <a:chExt cx="2663816" cy="648000"/>
          </a:xfrm>
        </p:grpSpPr>
        <p:sp>
          <p:nvSpPr>
            <p:cNvPr id="25" name="Text Box 46">
              <a:extLst>
                <a:ext uri="{FF2B5EF4-FFF2-40B4-BE49-F238E27FC236}">
                  <a16:creationId xmlns:a16="http://schemas.microsoft.com/office/drawing/2014/main" id="{83DC12AF-50F8-4D24-B890-00A27A4D5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1224000"/>
              <a:ext cx="1332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]←M[A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…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R[A]←R[A]+1</a:t>
              </a:r>
            </a:p>
          </p:txBody>
        </p:sp>
        <p:sp>
          <p:nvSpPr>
            <p:cNvPr id="26" name="Text Box 47">
              <a:extLst>
                <a:ext uri="{FF2B5EF4-FFF2-40B4-BE49-F238E27FC236}">
                  <a16:creationId xmlns:a16="http://schemas.microsoft.com/office/drawing/2014/main" id="{FFF0366C-973F-4514-96F7-0A97C7154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712" y="1224000"/>
              <a:ext cx="79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7" name="Line 48">
              <a:extLst>
                <a:ext uri="{FF2B5EF4-FFF2-40B4-BE49-F238E27FC236}">
                  <a16:creationId xmlns:a16="http://schemas.microsoft.com/office/drawing/2014/main" id="{DC58D7E9-2A86-4461-9C39-85C1B4745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5712" y="1224000"/>
              <a:ext cx="794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50">
              <a:extLst>
                <a:ext uri="{FF2B5EF4-FFF2-40B4-BE49-F238E27FC236}">
                  <a16:creationId xmlns:a16="http://schemas.microsoft.com/office/drawing/2014/main" id="{0F7813B6-5452-431A-979C-933E41E4D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758" y="1224000"/>
              <a:ext cx="54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MOV</a:t>
              </a:r>
            </a:p>
          </p:txBody>
        </p:sp>
        <p:sp>
          <p:nvSpPr>
            <p:cNvPr id="29" name="Text Box 51">
              <a:extLst>
                <a:ext uri="{FF2B5EF4-FFF2-40B4-BE49-F238E27FC236}">
                  <a16:creationId xmlns:a16="http://schemas.microsoft.com/office/drawing/2014/main" id="{54EF5F7F-CCE0-4D98-A961-C64B8E161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712" y="1654448"/>
              <a:ext cx="28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52">
              <a:extLst>
                <a:ext uri="{FF2B5EF4-FFF2-40B4-BE49-F238E27FC236}">
                  <a16:creationId xmlns:a16="http://schemas.microsoft.com/office/drawing/2014/main" id="{94722F51-4146-4C43-8E8E-38B1D8721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688" y="1654448"/>
              <a:ext cx="54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INC</a:t>
              </a:r>
            </a:p>
          </p:txBody>
        </p:sp>
        <p:sp>
          <p:nvSpPr>
            <p:cNvPr id="17" name="Text Box 46">
              <a:extLst>
                <a:ext uri="{FF2B5EF4-FFF2-40B4-BE49-F238E27FC236}">
                  <a16:creationId xmlns:a16="http://schemas.microsoft.com/office/drawing/2014/main" id="{B0861E48-4889-4B53-9C20-FF964326B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96" y="143844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ctr" anchorCtr="0"/>
            <a:lstStyle/>
            <a:p>
              <a:pPr algn="ctr">
                <a:lnSpc>
                  <a:spcPct val="105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3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79070" y="1844824"/>
            <a:ext cx="4806315" cy="3945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指令的操作数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Operand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,OPD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的数据类型：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使用约定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的存放部件：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REG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长度约定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785225" cy="1583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、指令功能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包括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取操作数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写结果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含标志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示例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 据 操 作 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目的操作数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源操作数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源操作数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计算结果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8540" y="2276872"/>
            <a:ext cx="7092756" cy="3496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48205" indent="-2148205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包含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所有的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数据表示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←有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同一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类有</a:t>
            </a:r>
            <a:r>
              <a:rPr lang="zh-CN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多种长度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RISC-V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支持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位整数，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32/64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位浮点数，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64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sz="1800" b="1" dirty="0">
                <a:latin typeface="宋体" panose="02010600030101010101" pitchFamily="2" charset="-122"/>
                <a:sym typeface="+mn-ea"/>
              </a:rPr>
              <a:t>SIMD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数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所有类型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运算时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部分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全部类型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(RISC/CISC)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＝机器字长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≤机器字长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3823" y="6165336"/>
            <a:ext cx="30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671195" indent="-6711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思考④：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指令的存放部件是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97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3823" y="5769336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671195" indent="-6711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立即数与常数的区别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15" name="Text Box 20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68000" y="5769336"/>
            <a:ext cx="5040504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同一指令中可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否不同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隐含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x+6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++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435345" y="3140968"/>
            <a:ext cx="561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671195" indent="-6711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机器字长是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存储器的单元长度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是？</a:t>
            </a: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64400" y="3140968"/>
            <a:ext cx="100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59632" y="5012918"/>
            <a:ext cx="3384376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671195" indent="-6711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中设置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REGs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的好处？</a:t>
            </a:r>
          </a:p>
        </p:txBody>
      </p:sp>
      <p:sp>
        <p:nvSpPr>
          <p:cNvPr id="8" name="Text Box 20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836342" y="6165336"/>
            <a:ext cx="3215003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存储程序工作方式的要求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D479B48-98A2-4EDC-BE32-0E7ED6C74444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704184755"/>
              </p:ext>
            </p:extLst>
          </p:nvPr>
        </p:nvGraphicFramePr>
        <p:xfrm>
          <a:off x="2739970" y="4005064"/>
          <a:ext cx="5432430" cy="8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部件名称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寄存器组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存储器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IR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外设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占用空间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≥1</a:t>
                      </a:r>
                      <a:r>
                        <a:rPr lang="zh-CN" altLang="en-US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存储单元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某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字段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章讨论</a:t>
                      </a:r>
                    </a:p>
                  </a:txBody>
                  <a:tcPr marL="36195" marR="36195" marT="10800" marB="108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数据地址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最小单元地址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0800" marB="108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Box 200">
            <a:extLst>
              <a:ext uri="{FF2B5EF4-FFF2-40B4-BE49-F238E27FC236}">
                <a16:creationId xmlns:a16="http://schemas.microsoft.com/office/drawing/2014/main" id="{0DC6950F-3D62-4498-9077-66291B11CC3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751944" y="5013208"/>
            <a:ext cx="4212544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存取速度快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避免访问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、仅需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次操作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18" name="AutoShape 29">
            <a:extLst>
              <a:ext uri="{FF2B5EF4-FFF2-40B4-BE49-F238E27FC236}">
                <a16:creationId xmlns:a16="http://schemas.microsoft.com/office/drawing/2014/main" id="{AD0CCF72-8B40-4603-8543-37E84A41B6D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316496" y="4221120"/>
            <a:ext cx="720000" cy="288000"/>
          </a:xfrm>
          <a:prstGeom prst="borderCallout2">
            <a:avLst>
              <a:gd name="adj1" fmla="val 47015"/>
              <a:gd name="adj2" fmla="val -338"/>
              <a:gd name="adj3" fmla="val 46702"/>
              <a:gd name="adj4" fmla="val -29864"/>
              <a:gd name="adj5" fmla="val -19902"/>
              <a:gd name="adj6" fmla="val -15613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立即数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9E0456-4357-45CE-970C-D5122B1D107B}"/>
              </a:ext>
            </a:extLst>
          </p:cNvPr>
          <p:cNvCxnSpPr>
            <a:cxnSpLocks/>
          </p:cNvCxnSpPr>
          <p:nvPr/>
        </p:nvCxnSpPr>
        <p:spPr>
          <a:xfrm flipH="1">
            <a:off x="1547664" y="3861048"/>
            <a:ext cx="3456384" cy="1584176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97" grpId="0" bldLvl="0" animBg="1"/>
      <p:bldP spid="15" grpId="0"/>
      <p:bldP spid="3" grpId="0" bldLvl="0" animBg="1"/>
      <p:bldP spid="5" grpId="0"/>
      <p:bldP spid="6" grpId="0" bldLvl="0" animBg="1"/>
      <p:bldP spid="8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99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4390390" cy="59845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72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指令的操作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  <a:latin typeface="+mn-lt"/>
              </a:rPr>
              <a:t>Operation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,OP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指令功能的描述：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方法有多种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OPD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*常见的指令类型：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</p:txBody>
      </p:sp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2195736" y="1196752"/>
            <a:ext cx="6876000" cy="5058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sym typeface="+mn-ea"/>
              </a:rPr>
              <a:t>←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源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sym typeface="+mn-ea"/>
              </a:rPr>
              <a:t>OPD1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sym typeface="+mn-ea"/>
              </a:rPr>
              <a:t>OP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源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sym typeface="+mn-ea"/>
              </a:rPr>
              <a:t>OPD2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>
                <a:latin typeface="+mn-ea"/>
                <a:sym typeface="+mn-ea"/>
              </a:rPr>
              <a:t>，</a:t>
            </a:r>
            <a:r>
              <a:rPr lang="en-US" altLang="zh-CN" sz="22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←直观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不规范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sym typeface="+mn-ea"/>
              </a:rPr>
              <a:t>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内容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，目的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运算符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汇编语言指令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格式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←不直观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规范</a:t>
            </a:r>
            <a:endParaRPr lang="zh-CN" altLang="en-US" sz="2200" b="1" spc="-150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顺序型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隐含为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(PC)+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+mn-ea"/>
                <a:sym typeface="Symbol" panose="05050102010706020507"/>
              </a:rPr>
              <a:t>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Symbol" panose="05050102010706020507"/>
              </a:rPr>
              <a:t>长度固定、无需编码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转移型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描述为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←表达式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(R0)=0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PC)+40</a:t>
            </a:r>
            <a:endParaRPr lang="zh-CN" altLang="en-US" sz="1800" b="1" dirty="0">
              <a:latin typeface="+mn-ea"/>
              <a:ea typeface="+mn-ea"/>
              <a:sym typeface="Symbol" panose="05050102010706020507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数据传送、算逻运算、转移控制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988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5976" y="3573016"/>
            <a:ext cx="4140000" cy="129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36195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(R1)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或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R[1]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R0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M[0100]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M[0100]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M[0100]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(R2)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R[2]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R0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(R2)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R[2]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endParaRPr lang="en-US" altLang="zh-CN" sz="1800" b="1" spc="-1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56000" y="3573016"/>
            <a:ext cx="4680000" cy="129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36195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的内容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单元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的内容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送</a:t>
            </a:r>
            <a:r>
              <a:rPr lang="en-US" altLang="zh-CN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en-US" altLang="zh-CN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内容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</a:t>
            </a:r>
            <a:r>
              <a:rPr lang="en-US" altLang="zh-CN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</a:t>
            </a:r>
            <a:r>
              <a:rPr lang="en-US" altLang="zh-CN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单元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的内容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中立即数，结果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baseline="300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5" name="表格 74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643244"/>
              </p:ext>
            </p:extLst>
          </p:nvPr>
        </p:nvGraphicFramePr>
        <p:xfrm>
          <a:off x="1691680" y="2564904"/>
          <a:ext cx="4896544" cy="93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a#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b#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存储单元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立即数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外设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Ra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R[a]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M[b]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章讨论</a:t>
                      </a:r>
                    </a:p>
                  </a:txBody>
                  <a:tcPr marL="36195" marR="36195" marT="1778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(Ra)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R[a]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M[b]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F1085DCE-D0CC-4DB9-95C2-EA163345D4F8}"/>
              </a:ext>
            </a:extLst>
          </p:cNvPr>
          <p:cNvGrpSpPr/>
          <p:nvPr/>
        </p:nvGrpSpPr>
        <p:grpSpPr>
          <a:xfrm>
            <a:off x="4714359" y="2691028"/>
            <a:ext cx="4250129" cy="674019"/>
            <a:chOff x="5109983" y="2564904"/>
            <a:chExt cx="4250129" cy="674019"/>
          </a:xfrm>
        </p:grpSpPr>
        <p:sp>
          <p:nvSpPr>
            <p:cNvPr id="11" name="Text Box 200">
              <a:extLst>
                <a:ext uri="{FF2B5EF4-FFF2-40B4-BE49-F238E27FC236}">
                  <a16:creationId xmlns:a16="http://schemas.microsoft.com/office/drawing/2014/main" id="{30CB9520-D571-4D8E-9356-9E517D469380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128112" y="2564904"/>
              <a:ext cx="2232000" cy="504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marL="357188" indent="-357188"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区分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：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在指令功能中的</a:t>
              </a:r>
              <a:r>
                <a:rPr lang="zh-CN" altLang="en-US" sz="1600" b="1" u="sng" dirty="0">
                  <a:latin typeface="宋体" panose="02010600030101010101" pitchFamily="2" charset="-122"/>
                  <a:cs typeface="宋体" panose="02010600030101010101" pitchFamily="2" charset="-122"/>
                </a:rPr>
                <a:t>位置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目的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C6B1341-8BAC-463E-A8AA-CCC153C3E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9983" y="2808976"/>
              <a:ext cx="2018018" cy="117817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6D922E1-D00E-4B61-8BD5-52F05C1A10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2530" y="2844000"/>
              <a:ext cx="1965471" cy="394923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17" name="AutoShape 29">
            <a:extLst>
              <a:ext uri="{FF2B5EF4-FFF2-40B4-BE49-F238E27FC236}">
                <a16:creationId xmlns:a16="http://schemas.microsoft.com/office/drawing/2014/main" id="{15EF9103-0352-41F3-9129-E4D6C77023E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7344000" y="5805264"/>
            <a:ext cx="1656000" cy="504000"/>
          </a:xfrm>
          <a:prstGeom prst="borderCallout2">
            <a:avLst>
              <a:gd name="adj1" fmla="val 54537"/>
              <a:gd name="adj2" fmla="val 118"/>
              <a:gd name="adj3" fmla="val 54137"/>
              <a:gd name="adj4" fmla="val -10896"/>
              <a:gd name="adj5" fmla="val -31486"/>
              <a:gd name="adj6" fmla="val -1128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否则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PC)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latin typeface="+mn-ea"/>
                <a:sym typeface="Symbol" panose="05050102010706020507"/>
              </a:rPr>
              <a:t>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常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sym typeface="+mn-ea"/>
              </a:rPr>
              <a:t>隐含表示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zh-CN" altLang="en-US" sz="1600" b="1" dirty="0">
              <a:latin typeface="+mn-ea"/>
              <a:sym typeface="Symbol" panose="0505010201070602050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25A6625-059E-4D95-9B88-3C8745C18491}"/>
              </a:ext>
            </a:extLst>
          </p:cNvPr>
          <p:cNvGrpSpPr/>
          <p:nvPr/>
        </p:nvGrpSpPr>
        <p:grpSpPr>
          <a:xfrm>
            <a:off x="34486" y="2915998"/>
            <a:ext cx="1801210" cy="504000"/>
            <a:chOff x="7128112" y="2564904"/>
            <a:chExt cx="1801210" cy="504000"/>
          </a:xfrm>
        </p:grpSpPr>
        <p:sp>
          <p:nvSpPr>
            <p:cNvPr id="20" name="Text Box 200">
              <a:extLst>
                <a:ext uri="{FF2B5EF4-FFF2-40B4-BE49-F238E27FC236}">
                  <a16:creationId xmlns:a16="http://schemas.microsoft.com/office/drawing/2014/main" id="{153CC5FF-F6BE-43B5-BF74-51B349F3183E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128112" y="2564904"/>
              <a:ext cx="1473631" cy="504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marL="357188" indent="-357188"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区分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：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长度由</a:t>
              </a:r>
              <a:r>
                <a:rPr lang="zh-CN" altLang="en-US" sz="1600" b="1" u="sng" dirty="0">
                  <a:latin typeface="宋体" panose="02010600030101010101" pitchFamily="2" charset="-122"/>
                  <a:sym typeface="+mn-ea"/>
                </a:rPr>
                <a:t>操作码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指明</a:t>
              </a:r>
              <a:endPara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B02BE38-FCDC-49CF-B543-848DA6CB2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744" y="2642914"/>
              <a:ext cx="327578" cy="58909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1DD9FE3-8C64-49DA-97ED-85C9BF56FE93}"/>
                </a:ext>
              </a:extLst>
            </p:cNvPr>
            <p:cNvCxnSpPr>
              <a:cxnSpLocks/>
            </p:cNvCxnSpPr>
            <p:nvPr/>
          </p:nvCxnSpPr>
          <p:spPr>
            <a:xfrm>
              <a:off x="8601744" y="2678960"/>
              <a:ext cx="327578" cy="334993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813050" cy="634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数据传送指令：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2195736" y="764704"/>
            <a:ext cx="6840760" cy="4231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10800" rIns="90000" bIns="4680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REG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、</a:t>
            </a: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MEM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、外设间的</a:t>
            </a:r>
            <a:r>
              <a:rPr lang="zh-CN" altLang="en-US" sz="2200" b="1" u="sng" spc="-50" dirty="0">
                <a:latin typeface="+mn-ea"/>
                <a:ea typeface="+mn-ea"/>
                <a:sym typeface="+mn-ea"/>
              </a:rPr>
              <a:t>数据传送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不保存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结果标志</a:t>
            </a:r>
            <a:endParaRPr lang="zh-CN" altLang="en-US" sz="2200" b="1" spc="-50" dirty="0">
              <a:latin typeface="+mn-ea"/>
              <a:ea typeface="+mn-ea"/>
              <a:sym typeface="+mn-ea"/>
            </a:endParaRPr>
          </a:p>
        </p:txBody>
      </p:sp>
      <p:sp>
        <p:nvSpPr>
          <p:cNvPr id="17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2988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97807904"/>
              </p:ext>
            </p:extLst>
          </p:nvPr>
        </p:nvGraphicFramePr>
        <p:xfrm>
          <a:off x="1403648" y="1196752"/>
          <a:ext cx="7128792" cy="237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3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传送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REG)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取数</a:t>
                      </a:r>
                    </a:p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←MEM)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存数</a:t>
                      </a:r>
                    </a:p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(MEM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REG)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输入</a:t>
                      </a:r>
                    </a:p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←IO)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sym typeface="+mn-ea"/>
                        </a:rPr>
                        <a:t>输出</a:t>
                      </a:r>
                    </a:p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(IO←REG)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r>
                        <a:rPr lang="zh-CN" altLang="en-US" sz="18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72000" marR="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同取数</a:t>
                      </a:r>
                    </a:p>
                  </a:txBody>
                  <a:tcPr marL="7200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同存数</a:t>
                      </a:r>
                    </a:p>
                  </a:txBody>
                  <a:tcPr marL="7200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800" b="1" baseline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72000" marR="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结果标志</a:t>
                      </a: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无运算所致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b="1" baseline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④</a:t>
                      </a: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23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b="1" u="none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b="1" u="none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b="1" u="none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1800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762885" y="6021288"/>
            <a:ext cx="6128385" cy="468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  <a:sym typeface="Symbol" panose="05050102010706020507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800" b="1" dirty="0">
                <a:latin typeface="+mn-ea"/>
                <a:ea typeface="+mn-ea"/>
                <a:sym typeface="Symbol" panose="05050102010706020507"/>
              </a:rPr>
              <a:t>顺序型指令均</a:t>
            </a:r>
            <a:r>
              <a:rPr lang="zh-CN" sz="1800" b="1" u="sng" dirty="0">
                <a:latin typeface="+mn-ea"/>
                <a:ea typeface="+mn-ea"/>
                <a:sym typeface="Symbol" panose="05050102010706020507"/>
              </a:rPr>
              <a:t>隐含</a:t>
            </a:r>
            <a:r>
              <a:rPr lang="zh-CN" sz="1800" b="1" dirty="0">
                <a:latin typeface="+mn-ea"/>
                <a:ea typeface="+mn-ea"/>
                <a:sym typeface="Symbol" panose="05050102010706020507"/>
              </a:rPr>
              <a:t>表示</a:t>
            </a:r>
            <a:endParaRPr lang="zh-CN" altLang="zh-CN" sz="1600" b="1" dirty="0">
              <a:solidFill>
                <a:schemeClr val="accent2"/>
              </a:solidFill>
              <a:latin typeface="+mn-ea"/>
              <a:ea typeface="+mn-ea"/>
              <a:sym typeface="Symbol" panose="05050102010706020507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93FACF6E-9CE8-4C1B-8887-F79083650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78" y="3645024"/>
            <a:ext cx="8423726" cy="24374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如：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假设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(RISC)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位及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(CISC)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单元长度＝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位，则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ea typeface="+mn-ea"/>
                <a:sym typeface="+mn-ea"/>
              </a:rPr>
              <a:t>   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R0←(R1)        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sym typeface="+mn-ea"/>
              </a:rPr>
              <a:t>的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内容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0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R1←M[0100]     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及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0101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sym typeface="+mn-ea"/>
              </a:rPr>
              <a:t>的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内容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 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,16</a:t>
            </a:r>
            <a:r>
              <a:rPr lang="zh-CN" altLang="en-US" sz="1600" b="1" dirty="0">
                <a:latin typeface="+mn-ea"/>
                <a:sym typeface="+mn-ea"/>
              </a:rPr>
              <a:t>位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sym typeface="+mn-ea"/>
              </a:rPr>
              <a:t>                      ←或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sym typeface="+mn-ea"/>
              </a:rPr>
              <a:t>的内容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sym typeface="+mn-ea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sym typeface="+mn-ea"/>
              </a:rPr>
              <a:t>中    </a:t>
            </a:r>
            <a:r>
              <a:rPr lang="zh-CN" altLang="en-US" sz="1400" b="1" dirty="0">
                <a:latin typeface="+mn-ea"/>
                <a:sym typeface="+mn-ea"/>
              </a:rPr>
              <a:t>  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,8</a:t>
            </a:r>
            <a:r>
              <a:rPr lang="zh-CN" altLang="en-US" sz="1600" b="1" dirty="0">
                <a:latin typeface="+mn-ea"/>
                <a:sym typeface="+mn-ea"/>
              </a:rPr>
              <a:t>位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R1←ZExt(M[0100])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←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sym typeface="+mn-ea"/>
              </a:rPr>
              <a:t>的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内容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作为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无符号数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R1←SExt(M[0100])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←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sym typeface="+mn-ea"/>
              </a:rPr>
              <a:t>的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内容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作为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有符号数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1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M[0100]←(R2)   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2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的内容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及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0101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     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M[0100]←(R2)</a:t>
            </a:r>
            <a:r>
              <a:rPr lang="en-US" altLang="zh-CN" sz="1800" b="1" baseline="-18000" dirty="0">
                <a:latin typeface="+mn-ea"/>
                <a:ea typeface="+mn-ea"/>
                <a:sym typeface="+mn-ea"/>
              </a:rPr>
              <a:t>7-0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 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2</a:t>
            </a:r>
            <a:r>
              <a:rPr lang="en-US" altLang="zh-CN" sz="1800" b="1" baseline="30000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的内容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只取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低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8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位</a:t>
            </a:r>
            <a:r>
              <a:rPr lang="zh-CN" altLang="en-US" sz="1800" b="1" u="sng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到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0100</a:t>
            </a:r>
            <a:r>
              <a:rPr lang="en-US" altLang="zh-CN" sz="1800" b="1" baseline="30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#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MEM</a:t>
            </a:r>
            <a:r>
              <a:rPr lang="zh-CN" altLang="en-US" sz="18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   </a:t>
            </a:r>
            <a:r>
              <a:rPr lang="zh-CN" altLang="en-US" sz="1400" b="1" dirty="0">
                <a:latin typeface="+mn-ea"/>
                <a:ea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15F1D56F-270D-4F77-BC33-C14B33682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648" y="1772816"/>
            <a:ext cx="1188000" cy="61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8000" rIns="18000" bIns="0"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zh-CN" altLang="en-US" sz="1800" b="1" baseline="30000" dirty="0">
                <a:latin typeface="宋体" panose="02010600030101010101" pitchFamily="2" charset="-122"/>
                <a:sym typeface="+mn-ea"/>
              </a:rPr>
              <a:t>②</a:t>
            </a:r>
            <a:endParaRPr lang="en-US" altLang="zh-CN" sz="1800" b="1" baseline="30000" dirty="0">
              <a:latin typeface="宋体" panose="02010600030101010101" pitchFamily="2" charset="-122"/>
              <a:sym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1800" b="1" baseline="30000" dirty="0">
                <a:latin typeface="宋体" panose="02010600030101010101" pitchFamily="2" charset="-122"/>
                <a:sym typeface="+mn-ea"/>
              </a:rPr>
              <a:t>③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E1EFC88C-F25C-4F9D-B7BB-FED7228E2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648" y="1772816"/>
            <a:ext cx="1188000" cy="61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8000" rIns="18000" bIns="0"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zh-CN" altLang="en-US" sz="1800" b="1" baseline="30000" dirty="0">
                <a:latin typeface="宋体" panose="02010600030101010101" pitchFamily="2" charset="-122"/>
                <a:sym typeface="+mn-ea"/>
              </a:rPr>
              <a:t>③</a:t>
            </a:r>
            <a:endParaRPr lang="en-US" altLang="zh-CN" sz="1800" b="1" baseline="30000" dirty="0">
              <a:latin typeface="宋体" panose="02010600030101010101" pitchFamily="2" charset="-122"/>
              <a:sym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1800" b="1" baseline="30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53C00C14-648C-4653-9216-101B7945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656" y="2709016"/>
            <a:ext cx="7020784" cy="86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8000" rIns="18000" bIns="0">
            <a:no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注：①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长度，由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指明，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②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中数据长度，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均有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基于存储效率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zh-CN" sz="1600" b="1" dirty="0">
              <a:latin typeface="宋体" panose="02010600030101010101" pitchFamily="2" charset="-122"/>
              <a:sym typeface="+mn-ea"/>
            </a:endParaRPr>
          </a:p>
          <a:p>
            <a:pPr marL="665480" indent="-665480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③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RISC)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，取数时先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位扩展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、存数时先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位截断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0" name="AutoShape 29">
            <a:extLst>
              <a:ext uri="{FF2B5EF4-FFF2-40B4-BE49-F238E27FC236}">
                <a16:creationId xmlns:a16="http://schemas.microsoft.com/office/drawing/2014/main" id="{4F526134-688C-4E32-A3A9-4AFAA1ABB35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71648" y="4581160"/>
            <a:ext cx="1332000" cy="288000"/>
          </a:xfrm>
          <a:prstGeom prst="borderCallout2">
            <a:avLst>
              <a:gd name="adj1" fmla="val 48208"/>
              <a:gd name="adj2" fmla="val 100021"/>
              <a:gd name="adj3" fmla="val 51676"/>
              <a:gd name="adj4" fmla="val 116409"/>
              <a:gd name="adj5" fmla="val 130456"/>
              <a:gd name="adj6" fmla="val 12490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ZExt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为零扩展</a:t>
            </a:r>
            <a:endParaRPr lang="zh-CN" altLang="en-US" sz="1600" b="1" dirty="0">
              <a:solidFill>
                <a:srgbClr val="990099"/>
              </a:solidFill>
              <a:latin typeface="+mn-ea"/>
              <a:sym typeface="Symbol" panose="05050102010706020507"/>
            </a:endParaRPr>
          </a:p>
        </p:txBody>
      </p:sp>
      <p:sp>
        <p:nvSpPr>
          <p:cNvPr id="15" name="AutoShape 45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5AB42B1-78FE-4536-A1BF-63000BC7DEB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4068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E8C7D6-291D-41A7-B40B-D21FE3BBBD53}"/>
              </a:ext>
            </a:extLst>
          </p:cNvPr>
          <p:cNvCxnSpPr>
            <a:cxnSpLocks/>
          </p:cNvCxnSpPr>
          <p:nvPr/>
        </p:nvCxnSpPr>
        <p:spPr>
          <a:xfrm>
            <a:off x="4572000" y="2996952"/>
            <a:ext cx="3960440" cy="1368152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141345" cy="61462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算逻运算指令：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移位运算指令：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3048000" indent="-3048000"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spcBef>
                <a:spcPts val="6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9" name="Text Box 103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0520" y="4221088"/>
            <a:ext cx="7523480" cy="20884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</a:rPr>
              <a:t>        PC</a:t>
            </a:r>
            <a:r>
              <a:rPr lang="zh-CN" altLang="en-US" sz="2200" b="1" dirty="0">
                <a:latin typeface="+mn-ea"/>
                <a:ea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逻辑左移、逻辑右移、算术右移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等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u="sng" spc="-50" dirty="0"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标志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CF/OF</a:t>
            </a:r>
          </a:p>
          <a:p>
            <a:pPr marL="3048000" indent="-304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R0←(R0)&lt;&lt;</a:t>
            </a:r>
            <a:r>
              <a:rPr lang="en-US" altLang="zh-CN" sz="1800" b="1" baseline="-16000" dirty="0">
                <a:latin typeface="+mn-lt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R1←(R1)&gt;&gt;</a:t>
            </a:r>
            <a:r>
              <a:rPr lang="en-US" altLang="zh-CN" sz="1800" b="1" baseline="-16000" dirty="0">
                <a:latin typeface="宋体" panose="02010600030101010101" pitchFamily="2" charset="-122"/>
                <a:sym typeface="+mn-ea"/>
              </a:rPr>
              <a:t>L</a:t>
            </a:r>
            <a:r>
              <a:rPr lang="en-US" altLang="zh-CN" sz="1800" b="1" baseline="-16000" dirty="0">
                <a:latin typeface="+mn-lt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(R2)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R1←(R1)&gt;&gt;</a:t>
            </a:r>
            <a:r>
              <a:rPr lang="en-US" altLang="zh-CN" sz="1800" b="1" baseline="-16000" dirty="0">
                <a:latin typeface="宋体" panose="02010600030101010101" pitchFamily="2" charset="-122"/>
                <a:sym typeface="+mn-ea"/>
              </a:rPr>
              <a:t>A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(R2)</a:t>
            </a:r>
          </a:p>
          <a:p>
            <a:pPr marL="3048000" indent="-30480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 PC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endParaRPr lang="en-US" altLang="zh-CN" sz="2200" b="1" dirty="0">
              <a:latin typeface="+mn-ea"/>
              <a:ea typeface="+mn-ea"/>
              <a:sym typeface="Symbol" panose="05050102010706020507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30457551"/>
              </p:ext>
            </p:extLst>
          </p:nvPr>
        </p:nvGraphicFramePr>
        <p:xfrm>
          <a:off x="1430469" y="1196752"/>
          <a:ext cx="7462011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150">
                  <a:extLst>
                    <a:ext uri="{9D8B030D-6E8A-4147-A177-3AD203B41FA5}">
                      <a16:colId xmlns:a16="http://schemas.microsoft.com/office/drawing/2014/main" val="401696017"/>
                    </a:ext>
                  </a:extLst>
                </a:gridCol>
                <a:gridCol w="1440158">
                  <a:extLst>
                    <a:ext uri="{9D8B030D-6E8A-4147-A177-3AD203B41FA5}">
                      <a16:colId xmlns:a16="http://schemas.microsoft.com/office/drawing/2014/main" val="1970639591"/>
                    </a:ext>
                  </a:extLst>
                </a:gridCol>
                <a:gridCol w="1687991">
                  <a:extLst>
                    <a:ext uri="{9D8B030D-6E8A-4147-A177-3AD203B41FA5}">
                      <a16:colId xmlns:a16="http://schemas.microsoft.com/office/drawing/2014/main" val="3122509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÷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++/--/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求补</a:t>
                      </a: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按位的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&amp;/|/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运算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(RISC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仅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CISC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highlight>
                            <a:srgbClr val="CCCC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b="1" baseline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8962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个，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个，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zh-CN" altLang="en-US" dirty="0"/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zh-CN" altLang="en-US" dirty="0"/>
                    </a:p>
                  </a:txBody>
                  <a:tcPr marL="72000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1014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dirty="0"/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dirty="0"/>
                    </a:p>
                  </a:txBody>
                  <a:tcPr marL="72000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结果标志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ZF/CF/OF/SF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CF/OF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ZF/CF/OF/SF</a:t>
                      </a:r>
                      <a:endParaRPr lang="zh-CN" altLang="en-US" dirty="0"/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ZF</a:t>
                      </a:r>
                      <a:endParaRPr lang="zh-CN" altLang="en-US" dirty="0"/>
                    </a:p>
                  </a:txBody>
                  <a:tcPr marL="36195" marR="36195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28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>
                        <a:spcBef>
                          <a:spcPts val="400"/>
                        </a:spcBef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5736" y="764267"/>
            <a:ext cx="6732304" cy="4221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算术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逻辑运算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整数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含逻辑数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结果标志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2C54554F-F965-423F-BE52-54742FE6A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225" y="1772816"/>
            <a:ext cx="1764000" cy="61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8000" rIns="18000" bIns="0">
            <a:noAutofit/>
          </a:bodyPr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/2n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zh-CN" altLang="en-US" sz="1800" b="1" baseline="30000" dirty="0">
                <a:latin typeface="宋体" panose="02010600030101010101" pitchFamily="2" charset="-122"/>
                <a:sym typeface="+mn-ea"/>
              </a:rPr>
              <a:t>①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spcBef>
                <a:spcPts val="20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1800" b="1" baseline="30000" dirty="0">
                <a:latin typeface="宋体" panose="02010600030101010101" pitchFamily="2" charset="-122"/>
                <a:sym typeface="+mn-ea"/>
              </a:rPr>
              <a:t>②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6025900E-069B-4F6D-A5CA-DFC02022B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5857" y="2636912"/>
            <a:ext cx="7294956" cy="61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36000" rIns="18000" bIns="0">
            <a:noAutofit/>
          </a:bodyPr>
          <a:lstStyle/>
          <a:p>
            <a:r>
              <a:rPr lang="zh-CN" altLang="en-US" sz="1800" b="1" dirty="0">
                <a:latin typeface="宋体" panose="02010600030101010101" pitchFamily="2" charset="-122"/>
              </a:rPr>
              <a:t>注：①被除数</a:t>
            </a:r>
            <a:r>
              <a:rPr lang="zh-CN" altLang="en-US" sz="1800" b="1" dirty="0">
                <a:highlight>
                  <a:srgbClr val="CCCCFF"/>
                </a:highlight>
                <a:latin typeface="宋体" panose="02010600030101010101" pitchFamily="2" charset="-122"/>
              </a:rPr>
              <a:t>应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</a:rPr>
              <a:t>2n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(n</a:t>
            </a:r>
            <a:r>
              <a:rPr lang="zh-CN" altLang="en-US" sz="1600" b="1" dirty="0">
                <a:latin typeface="宋体" panose="02010600030101010101" pitchFamily="2" charset="-122"/>
              </a:rPr>
              <a:t>位时自动补</a:t>
            </a:r>
            <a:r>
              <a:rPr lang="en-US" altLang="zh-CN" sz="1600" b="1" dirty="0">
                <a:latin typeface="宋体" panose="02010600030101010101" pitchFamily="2" charset="-122"/>
              </a:rPr>
              <a:t>0)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u="sng" dirty="0">
                <a:highlight>
                  <a:srgbClr val="CCFFFF"/>
                </a:highlight>
                <a:latin typeface="宋体" panose="02010600030101010101" pitchFamily="2" charset="-122"/>
              </a:rPr>
              <a:t>运算结果</a:t>
            </a:r>
            <a:r>
              <a:rPr lang="zh-CN" altLang="en-US" sz="1800" b="1" dirty="0">
                <a:latin typeface="宋体" panose="02010600030101010101" pitchFamily="2" charset="-122"/>
              </a:rPr>
              <a:t>均为</a:t>
            </a:r>
            <a:r>
              <a:rPr lang="en-US" altLang="zh-CN" sz="1800" b="1" dirty="0">
                <a:latin typeface="宋体" panose="02010600030101010101" pitchFamily="2" charset="-122"/>
              </a:rPr>
              <a:t>2n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乘积、商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余数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spcBef>
                <a:spcPts val="200"/>
              </a:spcBef>
            </a:pPr>
            <a:r>
              <a:rPr lang="zh-CN" altLang="en-US" sz="1800" b="1" dirty="0">
                <a:latin typeface="宋体" panose="02010600030101010101" pitchFamily="2" charset="-122"/>
              </a:rPr>
              <a:t>    ②</a:t>
            </a:r>
            <a:r>
              <a:rPr lang="zh-CN" altLang="en-US" sz="1800" b="1" u="sng" dirty="0">
                <a:highlight>
                  <a:srgbClr val="CCFFFF"/>
                </a:highlight>
                <a:latin typeface="宋体" panose="02010600030101010101" pitchFamily="2" charset="-122"/>
              </a:rPr>
              <a:t>指令结果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目的</a:t>
            </a:r>
            <a:r>
              <a:rPr lang="en-US" altLang="zh-CN" sz="1600" b="1" dirty="0">
                <a:latin typeface="宋体" panose="02010600030101010101" pitchFamily="2" charset="-122"/>
              </a:rPr>
              <a:t>OPD)</a:t>
            </a:r>
            <a:r>
              <a:rPr lang="zh-CN" altLang="en-US" sz="1800" b="1" dirty="0">
                <a:latin typeface="宋体" panose="02010600030101010101" pitchFamily="2" charset="-122"/>
              </a:rPr>
              <a:t>可为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如乘积的低位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FE6C385-49EF-4174-8A28-3EC6F6FAC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3356992"/>
            <a:ext cx="7776016" cy="9062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R0←(R1)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M[0100H]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R0←(R0)&amp;(R1)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</a:t>
            </a:r>
            <a:r>
              <a:rPr lang="en-US" altLang="zh-CN" sz="1800" b="1" dirty="0">
                <a:ea typeface="Arial Unicode MS" panose="020B0604020202020204" charset="-122"/>
                <a:cs typeface="Arial Unicode MS" panose="020B0604020202020204" charset="-122"/>
                <a:sym typeface="+mn-ea"/>
              </a:rPr>
              <a:t>~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(R0)</a:t>
            </a:r>
            <a:r>
              <a:rPr lang="zh-CN" altLang="en-US" sz="18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←</a:t>
            </a:r>
            <a:r>
              <a:rPr lang="en-US" altLang="zh-CN" sz="1600" b="1" dirty="0">
                <a:latin typeface="+mn-ea"/>
                <a:sym typeface="+mn-ea"/>
              </a:rPr>
              <a:t>CISC</a:t>
            </a:r>
            <a:r>
              <a:rPr lang="zh-CN" altLang="en-US" sz="1600" b="1" dirty="0">
                <a:latin typeface="+mn-ea"/>
                <a:sym typeface="+mn-ea"/>
              </a:rPr>
              <a:t>的</a:t>
            </a:r>
            <a:r>
              <a:rPr lang="en-US" altLang="zh-CN" sz="1600" b="1" dirty="0">
                <a:latin typeface="+mn-ea"/>
                <a:sym typeface="+mn-ea"/>
              </a:rPr>
              <a:t>n</a:t>
            </a:r>
            <a:r>
              <a:rPr lang="zh-CN" altLang="en-US" sz="1600" b="1" dirty="0">
                <a:latin typeface="+mn-ea"/>
                <a:sym typeface="+mn-ea"/>
              </a:rPr>
              <a:t>有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sym typeface="+mn-ea"/>
              </a:rPr>
              <a:t>多种</a:t>
            </a:r>
            <a:endParaRPr lang="en-US" altLang="zh-CN" sz="1800" b="1" dirty="0">
              <a:solidFill>
                <a:srgbClr val="0070C0"/>
              </a:solidFill>
              <a:latin typeface="+mn-ea"/>
              <a:sym typeface="+mn-ea"/>
            </a:endParaRPr>
          </a:p>
          <a:p>
            <a:pPr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  <a:sym typeface="+mn-ea"/>
              </a:rPr>
              <a:t>[R2,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R1]←(R1)*(R2)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[R2,</a:t>
            </a:r>
            <a:r>
              <a:rPr lang="en-US" altLang="zh-CN" sz="1800" b="1" dirty="0">
                <a:latin typeface="+mn-ea"/>
                <a:sym typeface="+mn-ea"/>
              </a:rPr>
              <a:t>R1]←[(R2),(R1)]/(R3)</a:t>
            </a:r>
            <a:endParaRPr lang="en-US" altLang="zh-CN" sz="1600" b="1" dirty="0">
              <a:latin typeface="+mn-ea"/>
              <a:sym typeface="+mn-ea"/>
            </a:endParaRPr>
          </a:p>
          <a:p>
            <a:pPr>
              <a:spcAft>
                <a:spcPts val="0"/>
              </a:spcAft>
            </a:pPr>
            <a:r>
              <a:rPr lang="en-US" altLang="zh-CN" sz="1800" b="1" dirty="0">
                <a:latin typeface="+mn-ea"/>
                <a:sym typeface="+mn-ea"/>
              </a:rPr>
              <a:t>    R1←(R1)*(R2)                                 </a:t>
            </a:r>
            <a:r>
              <a:rPr lang="zh-CN" altLang="en-US" sz="1600" b="1" dirty="0">
                <a:latin typeface="+mn-ea"/>
                <a:sym typeface="+mn-ea"/>
              </a:rPr>
              <a:t>←指令结果可为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sym typeface="+mn-ea"/>
              </a:rPr>
              <a:t>n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sym typeface="+mn-ea"/>
              </a:rPr>
              <a:t>位</a:t>
            </a:r>
            <a:endParaRPr lang="en-US" altLang="zh-CN" sz="1600" b="1" dirty="0">
              <a:solidFill>
                <a:srgbClr val="0070C0"/>
              </a:solidFill>
              <a:latin typeface="+mn-ea"/>
              <a:sym typeface="+mn-ea"/>
            </a:endParaRPr>
          </a:p>
        </p:txBody>
      </p:sp>
      <p:sp>
        <p:nvSpPr>
          <p:cNvPr id="14" name="AutoShape 62">
            <a:hlinkClick r:id="rId11" action="ppaction://hlinksldjump"/>
            <a:extLst>
              <a:ext uri="{FF2B5EF4-FFF2-40B4-BE49-F238E27FC236}">
                <a16:creationId xmlns:a16="http://schemas.microsoft.com/office/drawing/2014/main" id="{91240516-DC47-4E65-8E09-C6523EA4F51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514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Text Box 1036">
            <a:extLst>
              <a:ext uri="{FF2B5EF4-FFF2-40B4-BE49-F238E27FC236}">
                <a16:creationId xmlns:a16="http://schemas.microsoft.com/office/drawing/2014/main" id="{060F2342-16B8-448F-8BE5-B8FEB8EF02E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64088" y="5733256"/>
            <a:ext cx="3671560" cy="340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←移位位数为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位时，只取低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1600" b="1" baseline="-26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位</a:t>
            </a:r>
            <a:endParaRPr lang="en-US" altLang="zh-CN" sz="160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" name="AutoShape 29">
            <a:extLst>
              <a:ext uri="{FF2B5EF4-FFF2-40B4-BE49-F238E27FC236}">
                <a16:creationId xmlns:a16="http://schemas.microsoft.com/office/drawing/2014/main" id="{A6419830-BFA7-4D51-8F93-EFEC9448A9A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203848" y="4797152"/>
            <a:ext cx="3204000" cy="288000"/>
          </a:xfrm>
          <a:prstGeom prst="borderCallout2">
            <a:avLst>
              <a:gd name="adj1" fmla="val 49476"/>
              <a:gd name="adj2" fmla="val -338"/>
              <a:gd name="adj3" fmla="val 46765"/>
              <a:gd name="adj4" fmla="val -6778"/>
              <a:gd name="adj5" fmla="val 130084"/>
              <a:gd name="adj6" fmla="val -1137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算术左移指令！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运算方法相同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AutoShape 29">
            <a:extLst>
              <a:ext uri="{FF2B5EF4-FFF2-40B4-BE49-F238E27FC236}">
                <a16:creationId xmlns:a16="http://schemas.microsoft.com/office/drawing/2014/main" id="{A209F497-03B0-4555-82D6-9D1D397A81F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80312" y="476704"/>
            <a:ext cx="1656184" cy="288000"/>
          </a:xfrm>
          <a:prstGeom prst="borderCallout2">
            <a:avLst>
              <a:gd name="adj1" fmla="val 49476"/>
              <a:gd name="adj2" fmla="val -338"/>
              <a:gd name="adj3" fmla="val 49245"/>
              <a:gd name="adj4" fmla="val -13248"/>
              <a:gd name="adj5" fmla="val 130084"/>
              <a:gd name="adj6" fmla="val -1655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状态寄存器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PSR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108" name="Text Box 12"/>
          <p:cNvSpPr txBox="1">
            <a:spLocks noChangeArrowheads="1"/>
          </p:cNvSpPr>
          <p:nvPr/>
        </p:nvSpPr>
        <p:spPr bwMode="auto">
          <a:xfrm>
            <a:off x="179705" y="332656"/>
            <a:ext cx="3596005" cy="5458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转移控制指令：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转移类型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①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获得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条件状态</a:t>
            </a:r>
            <a:r>
              <a:rPr lang="zh-CN" altLang="en-US" sz="2200" b="1" spc="400" dirty="0"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②</a:t>
            </a:r>
            <a:r>
              <a:rPr lang="zh-CN" altLang="zh-CN" sz="2200" b="1" u="sng" dirty="0">
                <a:latin typeface="宋体" panose="02010600030101010101" pitchFamily="2" charset="-122"/>
                <a:sym typeface="+mn-ea"/>
              </a:rPr>
              <a:t>判断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是否转移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下条指令地址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计算操作：</a:t>
            </a:r>
          </a:p>
        </p:txBody>
      </p:sp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1187624" y="763200"/>
            <a:ext cx="7812728" cy="56850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marL="2336800" indent="-2336800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跳转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无条件转移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、分支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条件转移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、调用、返回</a:t>
            </a: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仅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分支指令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需要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减法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形成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标志位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无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读取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PSR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标志位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  为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标志位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的逻辑函数，有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多种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如：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有符号数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R[s]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时转移的逻辑函数＝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</a:t>
            </a:r>
            <a:r>
              <a:rPr lang="en-US" altLang="zh-CN" sz="1800" b="1" dirty="0">
                <a:sym typeface="Symbol"/>
              </a:rPr>
              <a:t>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返回指令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不需要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＝计算结果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PC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加法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取决于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lang="zh-CN" altLang="zh-CN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寻址方式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/2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</a:p>
          <a:p>
            <a:pPr marL="2336800" indent="-2336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地址码→地址的形成方式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直接寻址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(MEM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，或相对寻址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偏移量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296000" y="1268760"/>
            <a:ext cx="7272655" cy="899795"/>
            <a:chOff x="2154" y="3912"/>
            <a:chExt cx="11453" cy="1417"/>
          </a:xfrm>
        </p:grpSpPr>
        <p:sp>
          <p:nvSpPr>
            <p:cNvPr id="5" name="Text Box 2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48" y="3912"/>
              <a:ext cx="1531" cy="1077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JMP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R0←(R1)</a:t>
              </a:r>
            </a:p>
          </p:txBody>
        </p:sp>
        <p:sp>
          <p:nvSpPr>
            <p:cNvPr id="6" name="Text Box 2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154" y="3912"/>
              <a:ext cx="793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442" y="3912"/>
              <a:ext cx="2438" cy="102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(R0)=0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时转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</a:p>
          </p:txBody>
        </p:sp>
        <p:sp>
          <p:nvSpPr>
            <p:cNvPr id="16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48" y="3912"/>
              <a:ext cx="794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0" name="Text Box 4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1962" y="3912"/>
              <a:ext cx="1645" cy="1417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CALL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RET</a:t>
              </a:r>
            </a:p>
          </p:txBody>
        </p:sp>
        <p:sp>
          <p:nvSpPr>
            <p:cNvPr id="21" name="Text Box 4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168" y="3912"/>
              <a:ext cx="793" cy="13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2020</a:t>
              </a:r>
            </a:p>
          </p:txBody>
        </p:sp>
        <p:sp>
          <p:nvSpPr>
            <p:cNvPr id="7" name="Text Box 1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844" y="3912"/>
              <a:ext cx="2154" cy="102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ZF=1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时转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050" y="3912"/>
              <a:ext cx="793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32000" y="4581128"/>
            <a:ext cx="5904296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671195" indent="-6711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为支持嵌套调用，</a:t>
            </a:r>
            <a:r>
              <a:rPr 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CALL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的返回地址应放在哪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343761" y="4581128"/>
            <a:ext cx="972655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放在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栈中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D8940F-3621-4D07-9670-FE787562F425}"/>
              </a:ext>
            </a:extLst>
          </p:cNvPr>
          <p:cNvGrpSpPr/>
          <p:nvPr/>
        </p:nvGrpSpPr>
        <p:grpSpPr>
          <a:xfrm>
            <a:off x="4572000" y="1123200"/>
            <a:ext cx="972000" cy="145544"/>
            <a:chOff x="4608000" y="1123200"/>
            <a:chExt cx="972000" cy="145544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6CA23D7-796B-489D-8ACA-722315B6653A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1123200"/>
              <a:ext cx="972000" cy="14400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8FAC276-396C-4DD8-988A-261123EAF30D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1124744"/>
              <a:ext cx="0" cy="14400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27" name="AutoShape 29">
            <a:extLst>
              <a:ext uri="{FF2B5EF4-FFF2-40B4-BE49-F238E27FC236}">
                <a16:creationId xmlns:a16="http://schemas.microsoft.com/office/drawing/2014/main" id="{B24EF99A-7C6F-4FB1-A512-7484316A50E0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076248" y="1988840"/>
            <a:ext cx="1836000" cy="288000"/>
          </a:xfrm>
          <a:prstGeom prst="borderCallout2">
            <a:avLst>
              <a:gd name="adj1" fmla="val 47015"/>
              <a:gd name="adj2" fmla="val -338"/>
              <a:gd name="adj3" fmla="val 44303"/>
              <a:gd name="adj4" fmla="val -14079"/>
              <a:gd name="adj5" fmla="val -180097"/>
              <a:gd name="adj6" fmla="val -4446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否则</a:t>
            </a:r>
            <a:r>
              <a:rPr lang="en-US" altLang="zh-CN" sz="1600" b="1" dirty="0">
                <a:latin typeface="+mn-ea"/>
              </a:rPr>
              <a:t>PC</a:t>
            </a:r>
            <a:r>
              <a:rPr lang="zh-CN" altLang="en-US" sz="1600" b="1" dirty="0">
                <a:latin typeface="+mn-ea"/>
              </a:rPr>
              <a:t>←</a:t>
            </a:r>
            <a:r>
              <a:rPr lang="en-US" altLang="zh-CN" sz="1600" b="1" dirty="0">
                <a:latin typeface="+mn-ea"/>
              </a:rPr>
              <a:t>(PC)</a:t>
            </a:r>
            <a:r>
              <a:rPr lang="zh-CN" altLang="en-US" sz="1600" b="1" dirty="0">
                <a:latin typeface="+mn-ea"/>
              </a:rPr>
              <a:t>＋</a:t>
            </a:r>
            <a:r>
              <a:rPr lang="zh-CN" altLang="en-US" sz="1600" b="1" dirty="0">
                <a:latin typeface="+mn-ea"/>
                <a:sym typeface="Symbol" panose="05050102010706020507"/>
              </a:rPr>
              <a:t>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  <a:sym typeface="Symbol" panose="05050102010706020507"/>
              </a:rPr>
              <a:t>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2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206800"/>
            <a:ext cx="2797175" cy="329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指令功能小结：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3048000" indent="-3048000">
              <a:lnSpc>
                <a:spcPct val="105000"/>
              </a:lnSpc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指令地址计算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13" name="Text Box 2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264" y="332656"/>
            <a:ext cx="8785032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其他指令：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浮点运算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2200" b="1" dirty="0">
                <a:latin typeface="宋体" panose="02010600030101010101" pitchFamily="2" charset="-122"/>
              </a:rPr>
              <a:t>浮点</a:t>
            </a:r>
            <a:r>
              <a:rPr lang="zh-CN" altLang="en-US" sz="2200" b="1" dirty="0">
                <a:latin typeface="宋体" panose="02010600030101010101" pitchFamily="2" charset="-122"/>
              </a:rPr>
              <a:t>加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减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乘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除等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十进制运算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加法校正、减法校正等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←二进制运算后的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结果转为</a:t>
            </a:r>
            <a:r>
              <a:rPr lang="en-US" altLang="zh-CN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BCD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</a:t>
            </a:r>
            <a:endParaRPr lang="en-US" altLang="zh-CN" sz="1600" b="1" u="sng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CPU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置位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复位标志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CF/ZF)</a:t>
            </a:r>
            <a:r>
              <a:rPr lang="zh-CN" altLang="en-US" sz="2200" b="1" dirty="0">
                <a:latin typeface="宋体" panose="02010600030101010101" pitchFamily="2" charset="-122"/>
              </a:rPr>
              <a:t>、程序结束等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9005" y="2636912"/>
            <a:ext cx="6765290" cy="3215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写结果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含标志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、指令地址计算</a:t>
            </a:r>
          </a:p>
          <a:p>
            <a:pPr marL="3048000" indent="-3048000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sng" dirty="0">
                <a:latin typeface="宋体" panose="02010600030101010101" pitchFamily="2" charset="-122"/>
              </a:rPr>
              <a:t>操作类型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决定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了源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个数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运算方法不同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，如定点加、浮点加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存放部件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多种</a:t>
            </a:r>
            <a:r>
              <a:rPr lang="en-US" altLang="zh-CN" sz="1800" b="1" dirty="0">
                <a:latin typeface="宋体" panose="02010600030101010101" pitchFamily="2" charset="-122"/>
              </a:rPr>
              <a:t>(REG/MEM/IR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sz="2200" b="1" dirty="0">
                <a:latin typeface="宋体" panose="02010600030101010101" pitchFamily="2" charset="-122"/>
              </a:rPr>
              <a:t>访问，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  <a:ea typeface="+mn-ea"/>
              </a:rPr>
              <a:t>目的</a:t>
            </a:r>
            <a:r>
              <a:rPr lang="en-US" altLang="zh-CN" sz="2200" b="1" u="sng" dirty="0">
                <a:latin typeface="宋体" panose="02010600030101010101" pitchFamily="2" charset="-122"/>
                <a:ea typeface="+mn-ea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  <a:ea typeface="+mn-ea"/>
              </a:rPr>
              <a:t>类型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取决于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功能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ea typeface="+mn-ea"/>
              </a:rPr>
              <a:t>所存标志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取决于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操作类型</a:t>
            </a:r>
            <a:endParaRPr lang="zh-CN" altLang="en-US" sz="2200" b="1" dirty="0">
              <a:latin typeface="宋体" panose="02010600030101010101" pitchFamily="2" charset="-122"/>
              <a:ea typeface="+mn-ea"/>
            </a:endParaRPr>
          </a:p>
          <a:p>
            <a:pPr marL="3048000" indent="-3048000">
              <a:lnSpc>
                <a:spcPct val="105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           (</a:t>
            </a:r>
            <a:r>
              <a:rPr lang="zh-CN" altLang="en-US" sz="1800" b="1" dirty="0">
                <a:latin typeface="+mn-ea"/>
                <a:ea typeface="+mn-ea"/>
              </a:rPr>
              <a:t>如乘积低位</a:t>
            </a:r>
            <a:r>
              <a:rPr lang="en-US" altLang="zh-CN" sz="1800" b="1" dirty="0">
                <a:latin typeface="+mn-ea"/>
                <a:ea typeface="+mn-ea"/>
              </a:rPr>
              <a:t>)             (</a:t>
            </a:r>
            <a:r>
              <a:rPr lang="zh-CN" altLang="en-US" sz="1800" b="1" dirty="0">
                <a:latin typeface="+mn-ea"/>
                <a:ea typeface="+mn-ea"/>
              </a:rPr>
              <a:t>如传送时不保存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marL="3048000" indent="-3048000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+mn-ea"/>
                <a:ea typeface="+mn-ea"/>
              </a:rPr>
              <a:t>    </a:t>
            </a:r>
            <a:r>
              <a:rPr lang="en-US" altLang="zh-CN" sz="2200" b="1" dirty="0" err="1">
                <a:latin typeface="+mn-ea"/>
                <a:ea typeface="+mn-ea"/>
              </a:rPr>
              <a:t>NextPC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latin typeface="+mn-ea"/>
                <a:ea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或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>
                <a:latin typeface="+mn-ea"/>
                <a:ea typeface="+mn-ea"/>
              </a:rPr>
              <a:t>运算结果，</a:t>
            </a:r>
            <a:endParaRPr lang="en-US" altLang="zh-CN" sz="2200" b="1" dirty="0">
              <a:latin typeface="+mn-ea"/>
              <a:sym typeface="Symbol" panose="05050102010706020507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latin typeface="+mn-ea"/>
                <a:cs typeface="Arial Unicode MS" panose="020B0604020202020204" charset="-122"/>
                <a:sym typeface="Symbol" panose="05050102010706020507"/>
              </a:rPr>
              <a:t>    取决于</a:t>
            </a:r>
            <a:r>
              <a:rPr lang="zh-CN" altLang="en-US" sz="2200" b="1" u="sng" dirty="0">
                <a:latin typeface="+mn-ea"/>
                <a:cs typeface="Arial Unicode MS" panose="020B0604020202020204" charset="-122"/>
                <a:sym typeface="Symbol" panose="05050102010706020507"/>
              </a:rPr>
              <a:t>指令类型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顺序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/</a:t>
            </a:r>
            <a:r>
              <a:rPr lang="zh-CN" altLang="en-US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转移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  <a:sym typeface="Symbol" panose="05050102010706020507"/>
              </a:rPr>
              <a:t>及</a:t>
            </a:r>
            <a:r>
              <a:rPr lang="zh-CN" altLang="en-US" sz="2200" b="1" u="sng" dirty="0">
                <a:latin typeface="+mn-ea"/>
                <a:cs typeface="Arial Unicode MS" panose="020B0604020202020204" charset="-122"/>
                <a:sym typeface="Symbol" panose="05050102010706020507"/>
              </a:rPr>
              <a:t>执行结果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转移条件判断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Symbol" panose="05050102010706020507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79705" y="1484784"/>
            <a:ext cx="3814338" cy="40645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指令格式的组成：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不同指令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的标识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操作码表示的信息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地址码表示的信息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3048000" indent="-3048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指令中信息的表示方法：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性能指标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表示方法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857426" cy="1205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、指令格式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指令功能的表示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表示指令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功能所含信息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格式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编码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操作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+OPD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OPD/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、下条指令地址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3240000" y="1628800"/>
            <a:ext cx="2880000" cy="252000"/>
            <a:chOff x="3177131" y="1872379"/>
            <a:chExt cx="2880000" cy="283500"/>
          </a:xfrm>
        </p:grpSpPr>
        <p:sp>
          <p:nvSpPr>
            <p:cNvPr id="141" name="Text Box 22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177131" y="1872379"/>
              <a:ext cx="1080000" cy="2835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142" name="Text Box 2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257131" y="1872379"/>
              <a:ext cx="1800000" cy="2835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地址码</a:t>
              </a:r>
            </a:p>
          </p:txBody>
        </p:sp>
        <p:cxnSp>
          <p:nvCxnSpPr>
            <p:cNvPr id="143" name="直接连接符 142"/>
            <p:cNvCxnSpPr/>
            <p:nvPr>
              <p:custDataLst>
                <p:tags r:id="rId45"/>
              </p:custDataLst>
            </p:nvPr>
          </p:nvCxnSpPr>
          <p:spPr bwMode="auto">
            <a:xfrm>
              <a:off x="4725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46"/>
              </p:custDataLst>
            </p:nvPr>
          </p:nvCxnSpPr>
          <p:spPr bwMode="auto">
            <a:xfrm>
              <a:off x="5733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5" name="Text Box 20"/>
          <p:cNvSpPr txBox="1">
            <a:spLocks noChangeArrowheads="1"/>
          </p:cNvSpPr>
          <p:nvPr/>
        </p:nvSpPr>
        <p:spPr bwMode="auto">
          <a:xfrm>
            <a:off x="3296220" y="1916832"/>
            <a:ext cx="5740272" cy="2457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  操作码不同</a:t>
            </a:r>
            <a:r>
              <a:rPr lang="en-US" altLang="zh-CN" sz="1800" b="1" dirty="0">
                <a:latin typeface="宋体" panose="02010600030101010101" pitchFamily="2" charset="-122"/>
              </a:rPr>
              <a:t>(→</a:t>
            </a:r>
            <a:r>
              <a:rPr lang="zh-CN" altLang="en-US" sz="1800" b="1" dirty="0">
                <a:latin typeface="宋体" panose="02010600030101010101" pitchFamily="2" charset="-122"/>
              </a:rPr>
              <a:t>编码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无二义性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操作类型、格式参数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地址码个数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目的</a:t>
            </a:r>
            <a:r>
              <a:rPr lang="en-US" altLang="zh-CN" sz="1800" b="1" dirty="0">
                <a:latin typeface="宋体" panose="02010600030101010101" pitchFamily="2" charset="-12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</a:rPr>
              <a:t>位置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地址、下条指令地址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(OPD/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指令在部件中的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存放位置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3" name="Text Box 2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11648" y="2889443"/>
            <a:ext cx="2700000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i: 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</a:rPr>
              <a:t>A</a:t>
            </a:r>
            <a:r>
              <a:rPr lang="zh-CN" altLang="en-US" sz="1800" b="1" baseline="-18000" dirty="0">
                <a:highlight>
                  <a:srgbClr val="CCECFF"/>
                </a:highlight>
                <a:latin typeface="宋体" panose="02010600030101010101" pitchFamily="2" charset="-122"/>
              </a:rPr>
              <a:t>目的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</a:rPr>
              <a:t>(A</a:t>
            </a:r>
            <a:r>
              <a:rPr lang="en-US" altLang="zh-CN" sz="1800" b="1" baseline="-18000" dirty="0">
                <a:highlight>
                  <a:srgbClr val="CCECFF"/>
                </a:highlight>
                <a:latin typeface="宋体" panose="02010600030101010101" pitchFamily="2" charset="-122"/>
              </a:rPr>
              <a:t>1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highlight>
                  <a:srgbClr val="FFCCFF"/>
                </a:highlight>
                <a:latin typeface="宋体" panose="02010600030101010101" pitchFamily="2" charset="-122"/>
              </a:rPr>
              <a:t>OPER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</a:rPr>
              <a:t>(A</a:t>
            </a:r>
            <a:r>
              <a:rPr lang="en-US" altLang="zh-CN" sz="1800" b="1" baseline="-18000" dirty="0">
                <a:highlight>
                  <a:srgbClr val="CCECFF"/>
                </a:highlight>
                <a:latin typeface="宋体" panose="02010600030101010101" pitchFamily="2" charset="-122"/>
              </a:rPr>
              <a:t>2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en-US" altLang="zh-CN" sz="1800" b="1" dirty="0">
                <a:highlight>
                  <a:srgbClr val="CCECFF"/>
                </a:highlight>
                <a:latin typeface="宋体" panose="02010600030101010101" pitchFamily="2" charset="-122"/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j: …</a:t>
            </a:r>
          </a:p>
        </p:txBody>
      </p:sp>
      <p:grpSp>
        <p:nvGrpSpPr>
          <p:cNvPr id="115" name="组合 114"/>
          <p:cNvGrpSpPr/>
          <p:nvPr/>
        </p:nvGrpSpPr>
        <p:grpSpPr>
          <a:xfrm>
            <a:off x="1403648" y="2961443"/>
            <a:ext cx="2700264" cy="504000"/>
            <a:chOff x="1223608" y="2996307"/>
            <a:chExt cx="2700264" cy="504000"/>
          </a:xfrm>
        </p:grpSpPr>
        <p:sp>
          <p:nvSpPr>
            <p:cNvPr id="116" name="Text Box 2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583608" y="2996307"/>
              <a:ext cx="648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117" name="Text Box 2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231608" y="2996307"/>
              <a:ext cx="612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18" name="Text Box 2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843608" y="2996307"/>
              <a:ext cx="431353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19" name="AutoShape 30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419872" y="3068315"/>
              <a:ext cx="504000" cy="144000"/>
            </a:xfrm>
            <a:prstGeom prst="leftRightArrow">
              <a:avLst>
                <a:gd name="adj1" fmla="val 49925"/>
                <a:gd name="adj2" fmla="val 81809"/>
              </a:avLst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20" name="Text Box 2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223608" y="3284307"/>
              <a:ext cx="20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例：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0 0 1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0 0 1 1 0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282423" y="2710800"/>
            <a:ext cx="1549591" cy="180000"/>
            <a:chOff x="4570285" y="2771534"/>
            <a:chExt cx="1549591" cy="108000"/>
          </a:xfrm>
        </p:grpSpPr>
        <p:cxnSp>
          <p:nvCxnSpPr>
            <p:cNvPr id="70" name="直接箭头连接符 69"/>
            <p:cNvCxnSpPr/>
            <p:nvPr>
              <p:custDataLst>
                <p:tags r:id="rId36"/>
              </p:custDataLst>
            </p:nvPr>
          </p:nvCxnSpPr>
          <p:spPr bwMode="auto">
            <a:xfrm>
              <a:off x="4571876" y="2771534"/>
              <a:ext cx="154800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37"/>
              </p:custDataLst>
            </p:nvPr>
          </p:nvCxnSpPr>
          <p:spPr bwMode="auto">
            <a:xfrm>
              <a:off x="4570285" y="2771534"/>
              <a:ext cx="93600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2699178" y="2711078"/>
            <a:ext cx="2736850" cy="899795"/>
            <a:chOff x="4478" y="3688"/>
            <a:chExt cx="4310" cy="1417"/>
          </a:xfrm>
        </p:grpSpPr>
        <p:cxnSp>
          <p:nvCxnSpPr>
            <p:cNvPr id="96" name="直接箭头连接符 95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478" y="48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5329" y="48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478" y="5102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6180" y="3688"/>
              <a:ext cx="2608" cy="14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7938" y="3688"/>
              <a:ext cx="85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4356000" y="3214800"/>
            <a:ext cx="2160216" cy="504000"/>
            <a:chOff x="4823820" y="3314742"/>
            <a:chExt cx="2160216" cy="504000"/>
          </a:xfrm>
        </p:grpSpPr>
        <p:cxnSp>
          <p:nvCxnSpPr>
            <p:cNvPr id="83" name="直接箭头连接符 82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292427" y="3314742"/>
              <a:ext cx="3600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5292036" y="3314742"/>
              <a:ext cx="54000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5292036" y="3314742"/>
              <a:ext cx="169200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4823820" y="3568344"/>
              <a:ext cx="183600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106" name="AutoShape 29"/>
          <p:cNvSpPr/>
          <p:nvPr>
            <p:custDataLst>
              <p:tags r:id="rId3"/>
            </p:custDataLst>
          </p:nvPr>
        </p:nvSpPr>
        <p:spPr bwMode="auto">
          <a:xfrm>
            <a:off x="7236296" y="2925688"/>
            <a:ext cx="1404000" cy="576000"/>
          </a:xfrm>
          <a:prstGeom prst="borderCallout2">
            <a:avLst>
              <a:gd name="adj1" fmla="val 49261"/>
              <a:gd name="adj2" fmla="val 99697"/>
              <a:gd name="adj3" fmla="val 50053"/>
              <a:gd name="adj4" fmla="val 109269"/>
              <a:gd name="adj5" fmla="val -34473"/>
              <a:gd name="adj6" fmla="val 10556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RISC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包含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寻址方式</a:t>
            </a:r>
          </a:p>
        </p:txBody>
      </p:sp>
      <p:sp>
        <p:nvSpPr>
          <p:cNvPr id="134" name="Text Box 4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2020" y="4653136"/>
            <a:ext cx="6741795" cy="13281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2336800" indent="-2336800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平均码长、</a:t>
            </a:r>
            <a:r>
              <a:rPr lang="zh-CN" altLang="en-US" sz="2200" b="1" dirty="0">
                <a:latin typeface="宋体" panose="02010600030101010101" pitchFamily="2" charset="-122"/>
              </a:rPr>
              <a:t>规整性     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影响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存储空间、</a:t>
            </a:r>
            <a:r>
              <a:rPr lang="zh-CN" altLang="en-US" sz="1800" b="1" dirty="0">
                <a:latin typeface="宋体" panose="02010600030101010101" pitchFamily="2" charset="-122"/>
              </a:rPr>
              <a:t>译码时间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336800" indent="-2336800"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显式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编码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、隐式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约定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marL="2336800" indent="-2336800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↑</a:t>
            </a:r>
          </a:p>
          <a:p>
            <a:pPr marL="2336800" indent="-2336800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由当前指令的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1800" b="1" dirty="0">
                <a:latin typeface="宋体" panose="02010600030101010101" pitchFamily="2" charset="-122"/>
              </a:rPr>
              <a:t>指明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36096" y="5157177"/>
            <a:ext cx="1511935" cy="1080135"/>
            <a:chOff x="6690" y="4989"/>
            <a:chExt cx="2381" cy="1701"/>
          </a:xfrm>
        </p:grpSpPr>
        <p:sp>
          <p:nvSpPr>
            <p:cNvPr id="66" name="Text Box 5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90" y="5443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67" name="Text Box 5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597" y="5443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69" name="Text Box 5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107" y="5443"/>
              <a:ext cx="73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71" name="Text Box 5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690" y="5896"/>
              <a:ext cx="170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4-8</a:t>
              </a:r>
            </a:p>
          </p:txBody>
        </p:sp>
        <p:sp>
          <p:nvSpPr>
            <p:cNvPr id="72" name="Text Box 5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391" y="5896"/>
              <a:ext cx="56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5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690" y="6350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9</a:t>
              </a:r>
            </a:p>
          </p:txBody>
        </p:sp>
        <p:sp>
          <p:nvSpPr>
            <p:cNvPr id="88" name="Text Box 5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597" y="6350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91" name="Text Box 5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107" y="6350"/>
              <a:ext cx="96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93" name="Text Box 5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690" y="4989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1-2</a:t>
              </a:r>
            </a:p>
          </p:txBody>
        </p:sp>
        <p:sp>
          <p:nvSpPr>
            <p:cNvPr id="94" name="Text Box 5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597" y="4989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019786" y="5157177"/>
            <a:ext cx="1943100" cy="1080135"/>
            <a:chOff x="9184" y="4989"/>
            <a:chExt cx="3060" cy="1701"/>
          </a:xfrm>
        </p:grpSpPr>
        <p:sp>
          <p:nvSpPr>
            <p:cNvPr id="6" name="Text Box 5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863" y="5443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8" name="Text Box 5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770" y="5443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9" name="Text Box 5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280" y="5443"/>
              <a:ext cx="85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0" name="Text Box 5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863" y="5896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11" name="Text Box 5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770" y="5896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5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863" y="6350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9</a:t>
              </a:r>
            </a:p>
          </p:txBody>
        </p:sp>
        <p:sp>
          <p:nvSpPr>
            <p:cNvPr id="13" name="Text Box 5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770" y="6350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4" name="Text Box 5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280" y="6350"/>
              <a:ext cx="964" cy="34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5" name="Text Box 5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863" y="4989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1-2</a:t>
              </a:r>
            </a:p>
          </p:txBody>
        </p:sp>
        <p:sp>
          <p:nvSpPr>
            <p:cNvPr id="16" name="Text Box 5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770" y="4989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5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280" y="5896"/>
              <a:ext cx="85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1800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4-8</a:t>
              </a:r>
              <a:r>
                <a:rPr lang="en-US" altLang="zh-CN" sz="1600" b="1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9" name="右箭头 28"/>
            <p:cNvSpPr/>
            <p:nvPr>
              <p:custDataLst>
                <p:tags r:id="rId16"/>
              </p:custDataLst>
            </p:nvPr>
          </p:nvSpPr>
          <p:spPr>
            <a:xfrm>
              <a:off x="9184" y="5613"/>
              <a:ext cx="567" cy="453"/>
            </a:xfrm>
            <a:prstGeom prst="rightArrow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179704" y="332656"/>
            <a:ext cx="6336512" cy="51617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操作码编码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需表示的信息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*信息的表示：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隐式表示的条件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操作码的编码方法：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定长编码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变长编码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提高规整性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dirty="0">
                <a:solidFill>
                  <a:srgbClr val="990099"/>
                </a:solidFill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k</a:t>
            </a:r>
            <a:r>
              <a:rPr lang="zh-CN" altLang="en-US" sz="1800" b="1" dirty="0">
                <a:latin typeface="宋体" panose="02010600030101010101" pitchFamily="2" charset="-122"/>
              </a:rPr>
              <a:t>叉哈夫曼树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dirty="0">
                <a:solidFill>
                  <a:srgbClr val="990099"/>
                </a:solidFill>
                <a:latin typeface="宋体" panose="02010600030101010101" pitchFamily="2" charset="-122"/>
              </a:rPr>
              <a:t>┘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操作码的特性：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2195736" y="764704"/>
            <a:ext cx="6774180" cy="5333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+OPD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、格式参数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位置等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含长度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</a:rPr>
              <a:t>操作功能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须</a:t>
            </a:r>
            <a:r>
              <a:rPr lang="zh-CN" altLang="en-US" sz="2200" b="1" dirty="0">
                <a:latin typeface="宋体" panose="02010600030101010101" pitchFamily="2" charset="-122"/>
              </a:rPr>
              <a:t>显式表示，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其余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隐式</a:t>
            </a:r>
            <a:r>
              <a:rPr lang="zh-CN" altLang="en-US" sz="2200" b="1" dirty="0">
                <a:latin typeface="宋体" panose="02010600030101010101" pitchFamily="2" charset="-122"/>
              </a:rPr>
              <a:t>表示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同一指令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中的某信息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种取值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时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en-US" altLang="zh-CN" sz="1800" b="1" u="sng" dirty="0">
                <a:latin typeface="宋体" panose="02010600030101010101" pitchFamily="2" charset="-122"/>
              </a:rPr>
              <a:t>OPD</a:t>
            </a:r>
            <a:r>
              <a:rPr lang="zh-CN" altLang="en-US" sz="1800" b="1" u="sng" dirty="0">
                <a:latin typeface="宋体" panose="02010600030101010101" pitchFamily="2" charset="-122"/>
              </a:rPr>
              <a:t>类型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仅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</a:rPr>
              <a:t>32</a:t>
            </a:r>
            <a:r>
              <a:rPr lang="zh-CN" altLang="en-US" sz="1800" b="1" dirty="0">
                <a:latin typeface="宋体" panose="02010600030101010101" pitchFamily="2" charset="-122"/>
              </a:rPr>
              <a:t>位整数时，</a:t>
            </a:r>
            <a:r>
              <a:rPr lang="en-US" altLang="zh-CN" sz="1800" b="1" dirty="0">
                <a:latin typeface="宋体" panose="02010600030101010101" pitchFamily="2" charset="-12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</a:rPr>
              <a:t>长度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1800" b="1" dirty="0">
                <a:latin typeface="宋体" panose="02010600030101010101" pitchFamily="2" charset="-122"/>
              </a:rPr>
              <a:t>缺省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又如：</a:t>
            </a:r>
            <a:r>
              <a:rPr lang="en-US" altLang="zh-CN" sz="1800" b="1" u="sng" dirty="0">
                <a:latin typeface="宋体" panose="02010600030101010101" pitchFamily="2" charset="-122"/>
              </a:rPr>
              <a:t>OPD</a:t>
            </a:r>
            <a:r>
              <a:rPr lang="zh-CN" altLang="en-US" sz="1800" b="1" u="sng" dirty="0">
                <a:latin typeface="宋体" panose="02010600030101010101" pitchFamily="2" charset="-122"/>
              </a:rPr>
              <a:t>个数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个时，地址码个数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1800" b="1" dirty="0">
                <a:latin typeface="宋体" panose="02010600030101010101" pitchFamily="2" charset="-122"/>
              </a:rPr>
              <a:t>缺省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面向</a:t>
            </a:r>
            <a:r>
              <a:rPr lang="zh-CN" altLang="en-US" sz="1800" b="1" u="sng" dirty="0">
                <a:highlight>
                  <a:srgbClr val="FFFF00"/>
                </a:highlight>
                <a:latin typeface="宋体" panose="02010600030101010101" pitchFamily="2" charset="-122"/>
              </a:rPr>
              <a:t>所有指令</a:t>
            </a:r>
            <a:r>
              <a:rPr lang="zh-CN" altLang="en-US" sz="1800" b="1" dirty="0">
                <a:latin typeface="宋体" panose="02010600030101010101" pitchFamily="2" charset="-122"/>
              </a:rPr>
              <a:t>，尽量规整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按序编码，长度＝</a:t>
            </a:r>
            <a:r>
              <a:rPr lang="zh-CN" altLang="en-US" sz="2200" dirty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200" b="1" baseline="-2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显式表示信息的种类数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dirty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带权编码，如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扩展编码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哈夫曼编码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叉哈夫曼树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定长编码、哈夫曼编码、扩展编码示例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下页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u="sng" dirty="0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所有指令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的编码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├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→可区分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操作类型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→可指明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隐含表示的信息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1403648" y="5517232"/>
            <a:ext cx="2088000" cy="252000"/>
            <a:chOff x="3177131" y="1872379"/>
            <a:chExt cx="2088000" cy="283500"/>
          </a:xfrm>
        </p:grpSpPr>
        <p:sp>
          <p:nvSpPr>
            <p:cNvPr id="141" name="Text Box 2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177131" y="1872379"/>
              <a:ext cx="864000" cy="2835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abcdef</a:t>
              </a:r>
            </a:p>
          </p:txBody>
        </p:sp>
        <p:sp>
          <p:nvSpPr>
            <p:cNvPr id="142" name="Text Box 2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41131" y="1872379"/>
              <a:ext cx="1224000" cy="2835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****  ***</a:t>
              </a:r>
            </a:p>
          </p:txBody>
        </p:sp>
        <p:cxnSp>
          <p:nvCxnSpPr>
            <p:cNvPr id="143" name="直接连接符 142"/>
            <p:cNvCxnSpPr/>
            <p:nvPr>
              <p:custDataLst>
                <p:tags r:id="rId4"/>
              </p:custDataLst>
            </p:nvPr>
          </p:nvCxnSpPr>
          <p:spPr bwMode="auto">
            <a:xfrm>
              <a:off x="4725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9" name="AutoShape 121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0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12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1387146"/>
              </p:ext>
            </p:extLst>
          </p:nvPr>
        </p:nvGraphicFramePr>
        <p:xfrm>
          <a:off x="681797" y="1340174"/>
          <a:ext cx="4481943" cy="2520247"/>
        </p:xfrm>
        <a:graphic>
          <a:graphicData uri="http://schemas.openxmlformats.org/drawingml/2006/table">
            <a:tbl>
              <a:tblPr/>
              <a:tblGrid>
                <a:gridCol w="90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频率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定长码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哈夫曼码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扩展码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84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I7</a:t>
                      </a: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0.04</a:t>
                      </a: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平均码长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(∑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6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-16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3.00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规整性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码长种类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" name="组合 82"/>
          <p:cNvGrpSpPr/>
          <p:nvPr/>
        </p:nvGrpSpPr>
        <p:grpSpPr>
          <a:xfrm>
            <a:off x="4462145" y="1627914"/>
            <a:ext cx="288290" cy="1620520"/>
            <a:chOff x="6236" y="2324"/>
            <a:chExt cx="454" cy="2552"/>
          </a:xfrm>
        </p:grpSpPr>
        <p:sp>
          <p:nvSpPr>
            <p:cNvPr id="81" name="矩形 80"/>
            <p:cNvSpPr/>
            <p:nvPr/>
          </p:nvSpPr>
          <p:spPr>
            <a:xfrm>
              <a:off x="6236" y="2324"/>
              <a:ext cx="454" cy="1077"/>
            </a:xfrm>
            <a:prstGeom prst="rect">
              <a:avLst/>
            </a:prstGeom>
            <a:solidFill>
              <a:srgbClr val="CCEC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36195" tIns="0" rIns="36195" bIns="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矩形 81"/>
            <p:cNvSpPr/>
            <p:nvPr>
              <p:custDataLst>
                <p:tags r:id="rId78"/>
              </p:custDataLst>
            </p:nvPr>
          </p:nvSpPr>
          <p:spPr>
            <a:xfrm>
              <a:off x="6236" y="3402"/>
              <a:ext cx="454" cy="1474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36195" tIns="0" rIns="36195" bIns="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4" name="Text Box 1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0000" y="404664"/>
            <a:ext cx="7992000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09600" indent="-609600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Times New Roman" panose="02020603050405020304"/>
              </a:rPr>
              <a:t>：</a:t>
            </a:r>
            <a:r>
              <a:rPr lang="en-US" altLang="zh-CN" sz="2000" b="1" dirty="0">
                <a:latin typeface="+mn-ea"/>
              </a:rPr>
              <a:t>7</a:t>
            </a:r>
            <a:r>
              <a:rPr lang="zh-CN" altLang="en-US" sz="2000" b="1" dirty="0">
                <a:latin typeface="Times New Roman" panose="02020603050405020304"/>
              </a:rPr>
              <a:t>种</a:t>
            </a:r>
            <a:r>
              <a:rPr lang="zh-CN" altLang="en-US" sz="2000" b="1" dirty="0">
                <a:latin typeface="宋体" panose="02010600030101010101" pitchFamily="2" charset="-122"/>
              </a:rPr>
              <a:t>操作的使用频率分别为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0.4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0.26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0.15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0.06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0.05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0.04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0.04</a:t>
            </a:r>
            <a:r>
              <a:rPr lang="zh-CN" altLang="en-US" sz="2000" b="1" dirty="0">
                <a:latin typeface="宋体" panose="02010600030101010101" pitchFamily="2" charset="-122"/>
              </a:rPr>
              <a:t>，分别按定长、哈夫曼、扩展</a:t>
            </a:r>
            <a:r>
              <a:rPr lang="en-US" altLang="zh-CN" sz="2000" b="1" dirty="0">
                <a:latin typeface="宋体" panose="02010600030101010101" pitchFamily="2" charset="-122"/>
              </a:rPr>
              <a:t>(2</a:t>
            </a:r>
            <a:r>
              <a:rPr lang="zh-CN" altLang="en-US" sz="2000" b="1" dirty="0">
                <a:latin typeface="宋体" panose="02010600030101010101" pitchFamily="2" charset="-122"/>
              </a:rPr>
              <a:t>种长度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方式进行编码</a:t>
            </a:r>
          </a:p>
        </p:txBody>
      </p:sp>
      <p:graphicFrame>
        <p:nvGraphicFramePr>
          <p:cNvPr id="8" name="Group 124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83804440"/>
              </p:ext>
            </p:extLst>
          </p:nvPr>
        </p:nvGraphicFramePr>
        <p:xfrm>
          <a:off x="4354710" y="1340174"/>
          <a:ext cx="800735" cy="2520280"/>
        </p:xfrm>
        <a:graphic>
          <a:graphicData uri="http://schemas.openxmlformats.org/drawingml/2006/table">
            <a:tbl>
              <a:tblPr/>
              <a:tblGrid>
                <a:gridCol w="800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6932">
                <a:tc>
                  <a:txBody>
                    <a:bodyPr/>
                    <a:lstStyle/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01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10</a:t>
                      </a: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</a:p>
                  </a:txBody>
                  <a:tcPr marL="36000" marR="36000" marT="18000" marB="18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2.38</a:t>
                      </a: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123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105643912"/>
              </p:ext>
            </p:extLst>
          </p:nvPr>
        </p:nvGraphicFramePr>
        <p:xfrm>
          <a:off x="3416195" y="1340174"/>
          <a:ext cx="819150" cy="2520280"/>
        </p:xfrm>
        <a:graphic>
          <a:graphicData uri="http://schemas.openxmlformats.org/drawingml/2006/table">
            <a:tbl>
              <a:tblPr/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8431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11101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11110</a:t>
                      </a: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11111</a:t>
                      </a:r>
                    </a:p>
                  </a:txBody>
                  <a:tcPr marL="36000" marR="36000" marT="18000" marB="18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2.32</a:t>
                      </a: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5" name="组合 94"/>
          <p:cNvGrpSpPr/>
          <p:nvPr/>
        </p:nvGrpSpPr>
        <p:grpSpPr>
          <a:xfrm>
            <a:off x="5434965" y="3127149"/>
            <a:ext cx="3239770" cy="985520"/>
            <a:chOff x="8220" y="5250"/>
            <a:chExt cx="5102" cy="1552"/>
          </a:xfrm>
        </p:grpSpPr>
        <p:sp>
          <p:nvSpPr>
            <p:cNvPr id="12" name="Text Box 43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0772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0.15</a:t>
              </a:r>
            </a:p>
          </p:txBody>
        </p:sp>
        <p:sp>
          <p:nvSpPr>
            <p:cNvPr id="13" name="Text Box 4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1566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0.26</a:t>
              </a:r>
            </a:p>
          </p:txBody>
        </p:sp>
        <p:sp>
          <p:nvSpPr>
            <p:cNvPr id="14" name="Text Box 4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2360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0.40</a:t>
              </a:r>
            </a:p>
          </p:txBody>
        </p:sp>
        <p:cxnSp>
          <p:nvCxnSpPr>
            <p:cNvPr id="15" name="直接连接符 14"/>
            <p:cNvCxnSpPr/>
            <p:nvPr>
              <p:custDataLst>
                <p:tags r:id="rId54"/>
              </p:custDataLst>
            </p:nvPr>
          </p:nvCxnSpPr>
          <p:spPr bwMode="auto">
            <a:xfrm>
              <a:off x="11622" y="5556"/>
              <a:ext cx="283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55"/>
              </p:custDataLst>
            </p:nvPr>
          </p:nvCxnSpPr>
          <p:spPr bwMode="auto">
            <a:xfrm>
              <a:off x="11735" y="5556"/>
              <a:ext cx="907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25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1452" y="6350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叉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哈夫曼树</a:t>
              </a:r>
            </a:p>
          </p:txBody>
        </p:sp>
        <p:sp>
          <p:nvSpPr>
            <p:cNvPr id="18" name="Text Box 2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435" y="5250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</a:rPr>
                <a:t>2</a:t>
              </a:r>
              <a:r>
                <a:rPr lang="zh-CN" altLang="en-US" sz="1600" b="1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</a:rPr>
                <a:t>层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有叶结点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11112" y="5556"/>
              <a:ext cx="34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 Box 43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1169" y="5272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1.00</a:t>
              </a:r>
            </a:p>
          </p:txBody>
        </p:sp>
        <p:sp>
          <p:nvSpPr>
            <p:cNvPr id="21" name="Text Box 43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9468" y="5896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0.19</a:t>
              </a:r>
            </a:p>
          </p:txBody>
        </p:sp>
        <p:sp>
          <p:nvSpPr>
            <p:cNvPr id="22" name="Text Box 43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220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0.04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9014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0.04</a:t>
              </a:r>
            </a:p>
          </p:txBody>
        </p:sp>
        <p:sp>
          <p:nvSpPr>
            <p:cNvPr id="24" name="Text Box 43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9808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0.05</a:t>
              </a:r>
            </a:p>
          </p:txBody>
        </p:sp>
        <p:sp>
          <p:nvSpPr>
            <p:cNvPr id="25" name="Text Box 43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602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0.06</a:t>
              </a:r>
            </a:p>
          </p:txBody>
        </p:sp>
        <p:cxnSp>
          <p:nvCxnSpPr>
            <p:cNvPr id="26" name="直接连接符 25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8673" y="6180"/>
              <a:ext cx="907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9411" y="6180"/>
              <a:ext cx="34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67"/>
              </p:custDataLst>
            </p:nvPr>
          </p:nvCxnSpPr>
          <p:spPr bwMode="auto">
            <a:xfrm>
              <a:off x="9865" y="6180"/>
              <a:ext cx="283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68"/>
              </p:custDataLst>
            </p:nvPr>
          </p:nvCxnSpPr>
          <p:spPr bwMode="auto">
            <a:xfrm>
              <a:off x="10091" y="6180"/>
              <a:ext cx="85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9921" y="5556"/>
              <a:ext cx="1361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Text Box 3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2472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32" name="Text Box 3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1792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0885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34" name="Text Box 3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9865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0715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36" name="Text Box 3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0035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9241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38" name="Text Box 3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8561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5328920" y="1312954"/>
            <a:ext cx="3239770" cy="1655445"/>
            <a:chOff x="1247" y="6066"/>
            <a:chExt cx="5102" cy="2607"/>
          </a:xfrm>
        </p:grpSpPr>
        <p:sp>
          <p:nvSpPr>
            <p:cNvPr id="40" name="Text Box 4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025" y="652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0.60</a:t>
              </a:r>
            </a:p>
          </p:txBody>
        </p:sp>
        <p:sp>
          <p:nvSpPr>
            <p:cNvPr id="41" name="Text Box 4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819" y="6066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1.00</a:t>
              </a:r>
            </a:p>
          </p:txBody>
        </p:sp>
        <p:sp>
          <p:nvSpPr>
            <p:cNvPr id="42" name="Text Box 4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31" y="6973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0.34</a:t>
              </a:r>
            </a:p>
          </p:txBody>
        </p:sp>
        <p:sp>
          <p:nvSpPr>
            <p:cNvPr id="43" name="Text Box 4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438" y="7427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0.19</a:t>
              </a:r>
            </a:p>
          </p:txBody>
        </p:sp>
        <p:sp>
          <p:nvSpPr>
            <p:cNvPr id="45" name="Text Box 4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644" y="788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0.08</a:t>
              </a:r>
            </a:p>
          </p:txBody>
        </p:sp>
        <p:sp>
          <p:nvSpPr>
            <p:cNvPr id="46" name="Text Box 4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231" y="788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0.11</a:t>
              </a:r>
            </a:p>
          </p:txBody>
        </p:sp>
        <p:sp>
          <p:nvSpPr>
            <p:cNvPr id="47" name="Text Box 4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247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0.04</a:t>
              </a:r>
            </a:p>
          </p:txBody>
        </p:sp>
        <p:sp>
          <p:nvSpPr>
            <p:cNvPr id="48" name="Text Box 4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41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0.04</a:t>
              </a:r>
            </a:p>
          </p:txBody>
        </p:sp>
        <p:sp>
          <p:nvSpPr>
            <p:cNvPr id="49" name="Text Box 4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835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0.05</a:t>
              </a:r>
            </a:p>
          </p:txBody>
        </p:sp>
        <p:sp>
          <p:nvSpPr>
            <p:cNvPr id="50" name="Text Box 4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628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0.06</a:t>
              </a:r>
            </a:p>
          </p:txBody>
        </p:sp>
        <p:sp>
          <p:nvSpPr>
            <p:cNvPr id="51" name="Text Box 4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25" y="7427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0.15</a:t>
              </a:r>
            </a:p>
          </p:txBody>
        </p:sp>
        <p:sp>
          <p:nvSpPr>
            <p:cNvPr id="52" name="Text Box 4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876" y="6973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0.26</a:t>
              </a:r>
            </a:p>
          </p:txBody>
        </p:sp>
        <p:sp>
          <p:nvSpPr>
            <p:cNvPr id="53" name="Text Box 4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669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0.40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587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26"/>
              </p:custDataLst>
            </p:nvPr>
          </p:nvCxnSpPr>
          <p:spPr bwMode="auto">
            <a:xfrm>
              <a:off x="2098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3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474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66" name="Text Box 3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324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67" name="Text Box 3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061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68" name="Text Box 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912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69" name="Text Box 3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211" y="7597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0" name="Text Box 3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175" y="7597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1" name="Text Box 3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948" y="7143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2" name="Text Box 3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082" y="7143"/>
              <a:ext cx="170" cy="227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3" name="Text Box 3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42" y="6690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4" name="Text Box 3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819" y="6690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5" name="Text Box 3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535" y="6236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6" name="Text Box 3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613" y="6236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7" name="Text Box 2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479" y="7937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叉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哈夫曼树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587" y="6236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层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有叶结点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84" name="直接连接符 83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3175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42"/>
              </p:custDataLst>
            </p:nvPr>
          </p:nvCxnSpPr>
          <p:spPr bwMode="auto">
            <a:xfrm>
              <a:off x="3685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2126" y="771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44"/>
              </p:custDataLst>
            </p:nvPr>
          </p:nvCxnSpPr>
          <p:spPr bwMode="auto">
            <a:xfrm>
              <a:off x="2891" y="771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2891" y="7257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46"/>
              </p:custDataLst>
            </p:nvPr>
          </p:nvCxnSpPr>
          <p:spPr bwMode="auto">
            <a:xfrm>
              <a:off x="3742" y="7257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3628" y="6803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48"/>
              </p:custDataLst>
            </p:nvPr>
          </p:nvCxnSpPr>
          <p:spPr bwMode="auto">
            <a:xfrm>
              <a:off x="4535" y="6803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4422" y="635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50"/>
              </p:custDataLst>
            </p:nvPr>
          </p:nvCxnSpPr>
          <p:spPr bwMode="auto">
            <a:xfrm>
              <a:off x="5329" y="635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6" name="Text 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40765" y="4161564"/>
            <a:ext cx="7745730" cy="775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扩展编码的要求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sng" dirty="0">
                <a:latin typeface="宋体" panose="02010600030101010101" pitchFamily="2" charset="-122"/>
              </a:rPr>
              <a:t>扩展标志</a:t>
            </a:r>
            <a:r>
              <a:rPr lang="zh-CN" altLang="en-US" sz="2000" b="1" dirty="0">
                <a:latin typeface="宋体" panose="02010600030101010101" pitchFamily="2" charset="-122"/>
              </a:rPr>
              <a:t>与</a:t>
            </a:r>
            <a:r>
              <a:rPr lang="zh-CN" altLang="en-US" sz="2000" b="1" u="sng" dirty="0">
                <a:latin typeface="宋体" panose="02010600030101010101" pitchFamily="2" charset="-122"/>
              </a:rPr>
              <a:t>短编码</a:t>
            </a:r>
            <a:r>
              <a:rPr lang="zh-CN" altLang="en-US" sz="2000" b="1" dirty="0">
                <a:latin typeface="宋体" panose="02010600030101010101" pitchFamily="2" charset="-122"/>
              </a:rPr>
              <a:t>间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无二义性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反例：</a:t>
            </a:r>
            <a:r>
              <a:rPr lang="zh-CN" altLang="en-US" sz="1800" b="1" dirty="0">
                <a:latin typeface="宋体" panose="02010600030101010101" pitchFamily="2" charset="-122"/>
              </a:rPr>
              <a:t>有</a:t>
            </a:r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个人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王二、王二宁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latin typeface="+mn-lt"/>
              </a:rPr>
              <a:t>“王二</a:t>
            </a:r>
            <a:r>
              <a:rPr lang="zh-CN" altLang="en-US" sz="1800" b="1" dirty="0">
                <a:latin typeface="宋体" panose="02010600030101010101" pitchFamily="2" charset="-122"/>
              </a:rPr>
              <a:t>宁静一会儿”的目标是谁？</a:t>
            </a:r>
          </a:p>
        </p:txBody>
      </p:sp>
      <p:sp>
        <p:nvSpPr>
          <p:cNvPr id="129" name="Text Box 1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608" y="5093848"/>
            <a:ext cx="424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t" anchorCtr="0">
            <a:noAutofit/>
          </a:bodyPr>
          <a:lstStyle/>
          <a:p>
            <a:pPr marL="689610" indent="-689610" defTabSz="0">
              <a:lnSpc>
                <a:spcPct val="100000"/>
              </a:lnSpc>
              <a:tabLst>
                <a:tab pos="716280" algn="l"/>
              </a:tabLs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写出</a:t>
            </a:r>
            <a:r>
              <a:rPr lang="en-US" altLang="zh-CN" sz="1800" b="1" dirty="0">
                <a:latin typeface="+mn-ea"/>
                <a:ea typeface="+mn-ea"/>
              </a:rPr>
              <a:t>23</a:t>
            </a:r>
            <a:r>
              <a:rPr lang="zh-CN" altLang="en-US" sz="1800" b="1" dirty="0">
                <a:latin typeface="+mn-ea"/>
                <a:ea typeface="+mn-ea"/>
              </a:rPr>
              <a:t>种操作</a:t>
            </a:r>
            <a:r>
              <a:rPr lang="en-US" altLang="zh-CN" sz="1800" b="1" dirty="0">
                <a:latin typeface="宋体" panose="02010600030101010101" pitchFamily="2" charset="-122"/>
              </a:rPr>
              <a:t>(7</a:t>
            </a:r>
            <a:r>
              <a:rPr lang="zh-CN" altLang="en-US" sz="1800" b="1" dirty="0">
                <a:latin typeface="宋体" panose="02010600030101010101" pitchFamily="2" charset="-122"/>
              </a:rPr>
              <a:t>个频率较高、</a:t>
            </a:r>
            <a:r>
              <a:rPr lang="en-US" altLang="zh-CN" sz="1800" b="1" dirty="0">
                <a:latin typeface="宋体" panose="02010600030101010101" pitchFamily="2" charset="-122"/>
              </a:rPr>
              <a:t>16</a:t>
            </a:r>
            <a:r>
              <a:rPr lang="zh-CN" altLang="en-US" sz="1800" b="1" dirty="0">
                <a:latin typeface="宋体" panose="02010600030101010101" pitchFamily="2" charset="-122"/>
              </a:rPr>
              <a:t>个频率较低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的扩展编码</a:t>
            </a:r>
            <a:r>
              <a:rPr lang="en-US" altLang="zh-CN" sz="1800" b="1" dirty="0">
                <a:latin typeface="宋体" panose="02010600030101010101" pitchFamily="2" charset="-122"/>
              </a:rPr>
              <a:t>(2</a:t>
            </a:r>
            <a:r>
              <a:rPr lang="zh-CN" altLang="en-US" sz="1800" b="1" dirty="0">
                <a:latin typeface="宋体" panose="02010600030101010101" pitchFamily="2" charset="-122"/>
              </a:rPr>
              <a:t>种长度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5472000" y="5135765"/>
            <a:ext cx="3024000" cy="504000"/>
            <a:chOff x="2269596" y="4293096"/>
            <a:chExt cx="3024000" cy="504000"/>
          </a:xfrm>
        </p:grpSpPr>
        <p:sp>
          <p:nvSpPr>
            <p:cNvPr id="142" name="Text Box 4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356248" y="4293096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000</a:t>
              </a:r>
              <a:r>
                <a:rPr lang="en-US" altLang="zh-CN" sz="1600" b="1" dirty="0">
                  <a:latin typeface="+mn-lt"/>
                  <a:ea typeface="+mn-ea"/>
                </a:rPr>
                <a:t>~</a:t>
              </a:r>
              <a:r>
                <a:rPr lang="en-US" altLang="zh-CN" sz="1600" b="1" dirty="0">
                  <a:latin typeface="+mn-ea"/>
                  <a:ea typeface="+mn-ea"/>
                </a:rPr>
                <a:t>110</a:t>
              </a:r>
            </a:p>
          </p:txBody>
        </p:sp>
        <p:sp>
          <p:nvSpPr>
            <p:cNvPr id="143" name="Text Box 4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56248" y="4581096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111</a:t>
              </a:r>
            </a:p>
          </p:txBody>
        </p:sp>
        <p:sp>
          <p:nvSpPr>
            <p:cNvPr id="144" name="Text Box 4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213596" y="4581096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0000</a:t>
              </a:r>
              <a:r>
                <a:rPr lang="en-US" altLang="zh-CN" sz="1600" b="1" dirty="0">
                  <a:latin typeface="+mn-lt"/>
                  <a:ea typeface="+mn-ea"/>
                </a:rPr>
                <a:t>~</a:t>
              </a:r>
              <a:r>
                <a:rPr lang="en-US" altLang="zh-CN" sz="1600" b="1" dirty="0">
                  <a:latin typeface="+mn-ea"/>
                  <a:ea typeface="+mn-ea"/>
                </a:rPr>
                <a:t>1111</a:t>
              </a:r>
            </a:p>
          </p:txBody>
        </p:sp>
        <p:sp>
          <p:nvSpPr>
            <p:cNvPr id="145" name="Text 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69596" y="4293096"/>
              <a:ext cx="1078268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dirty="0">
                  <a:latin typeface="+mn-ea"/>
                  <a:ea typeface="+mn-ea"/>
                </a:rPr>
                <a:t>高频操作</a:t>
              </a:r>
              <a:r>
                <a:rPr lang="en-US" altLang="zh-CN" sz="1600" b="1" dirty="0">
                  <a:latin typeface="+mn-ea"/>
                  <a:ea typeface="+mn-ea"/>
                </a:rPr>
                <a:t>: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dirty="0">
                  <a:latin typeface="+mn-ea"/>
                  <a:ea typeface="+mn-ea"/>
                </a:rPr>
                <a:t>低频操作</a:t>
              </a:r>
              <a:r>
                <a:rPr lang="en-US" altLang="zh-CN" sz="1600" b="1" dirty="0">
                  <a:latin typeface="+mn-ea"/>
                  <a:ea typeface="+mn-ea"/>
                </a:rPr>
                <a:t>:</a:t>
              </a:r>
            </a:p>
          </p:txBody>
        </p:sp>
      </p:grpSp>
      <p:sp>
        <p:nvSpPr>
          <p:cNvPr id="147" name="AutoShape 5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987824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3CD10589-B360-4452-B197-18C1D2CC638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118485" cy="5807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地址码编码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需表示的信息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*信息的表示：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地址码的编码方法：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地址码的特性：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279C39B9-292B-4429-8C47-06B877F63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018" y="764456"/>
            <a:ext cx="8382278" cy="56855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、目的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，下条指令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</a:t>
            </a:r>
            <a:endParaRPr lang="en-US" altLang="zh-CN" sz="2200" b="1" u="sng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地址＝信息存放在部件中的位置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</a:rPr>
              <a:t>所有信息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均可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隐式</a:t>
            </a:r>
            <a:r>
              <a:rPr lang="zh-CN" altLang="en-US" sz="2200" b="1" dirty="0">
                <a:latin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当前指令</a:t>
            </a:r>
            <a:r>
              <a:rPr lang="zh-CN" altLang="en-US" sz="1800" b="1" dirty="0">
                <a:latin typeface="宋体" panose="02010600030101010101" pitchFamily="2" charset="-122"/>
              </a:rPr>
              <a:t>由操作码标识，仅</a:t>
            </a:r>
            <a:r>
              <a:rPr lang="en-US" altLang="zh-CN" sz="1800" b="1" u="sng" dirty="0">
                <a:latin typeface="宋体" panose="02010600030101010101" pitchFamily="2" charset="-122"/>
              </a:rPr>
              <a:t>1</a:t>
            </a:r>
            <a:r>
              <a:rPr lang="zh-CN" altLang="en-US" sz="1800" b="1" u="sng" dirty="0">
                <a:latin typeface="宋体" panose="02010600030101010101" pitchFamily="2" charset="-122"/>
              </a:rPr>
              <a:t>种</a:t>
            </a:r>
            <a:r>
              <a:rPr lang="zh-CN" altLang="en-US" sz="1800" b="1" dirty="0">
                <a:latin typeface="宋体" panose="02010600030101010101" pitchFamily="2" charset="-122"/>
              </a:rPr>
              <a:t>取值时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加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指令的</a:t>
            </a:r>
            <a:r>
              <a:rPr lang="en-US" altLang="zh-CN" sz="18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RET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返回地址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</a:t>
            </a:r>
            <a:r>
              <a:rPr lang="zh-CN" altLang="en-US" sz="1800" b="1" u="sng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当前指令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，尽量规整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可标识指令类型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形式参数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多个因子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←因子长度＜地址长度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4863" indent="-8048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REGs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个寄存器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长度＝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2B)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空间＝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latin typeface="宋体" panose="02010600030101010101" pitchFamily="2" charset="-122"/>
                <a:sym typeface="+mn-ea"/>
              </a:rPr>
              <a:t>16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×1B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，分析下列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条指令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地址、下条指令地址的编码特征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操作码的编码：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OPD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地址的长度：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地址＝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地址＝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OPD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地址的编码：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地址＝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地址＝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                            常数＝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下条指令地址的编码：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200" b="1" u="sng" dirty="0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当前指令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的编码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←编码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效率高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如：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上例中，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M_OPD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地址的表示不同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" name="Text Box 36">
            <a:extLst>
              <a:ext uri="{FF2B5EF4-FFF2-40B4-BE49-F238E27FC236}">
                <a16:creationId xmlns:a16="http://schemas.microsoft.com/office/drawing/2014/main" id="{D290BA99-AC90-41FD-827F-372E9AD69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5271" y="3789040"/>
            <a:ext cx="3849023" cy="18356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7780" tIns="36000" rIns="17780" bIns="10795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001a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表示加法，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为地址码个数，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…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3             16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号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←优化的效果有限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地址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&lt;REG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偏移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隐含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＝隐含，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(PC)+3/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2/1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84D224C-F174-4CC2-9281-6794ACE16E29}"/>
              </a:ext>
            </a:extLst>
          </p:cNvPr>
          <p:cNvGrpSpPr/>
          <p:nvPr/>
        </p:nvGrpSpPr>
        <p:grpSpPr>
          <a:xfrm>
            <a:off x="179512" y="3859440"/>
            <a:ext cx="3281750" cy="1585784"/>
            <a:chOff x="1296000" y="3564000"/>
            <a:chExt cx="3281750" cy="1585784"/>
          </a:xfrm>
        </p:grpSpPr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BC84A174-BC4F-461F-BD90-13B32AF6E319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582121" y="3816205"/>
              <a:ext cx="900000" cy="133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0" rIns="36195" bIns="0">
              <a:noAutofit/>
            </a:bodyPr>
            <a:lstStyle/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0011</a:t>
              </a:r>
              <a:r>
                <a:rPr lang="en-US" sz="1600" b="1" dirty="0">
                  <a:solidFill>
                    <a:srgbClr val="FF3399"/>
                  </a:solidFill>
                  <a:highlight>
                    <a:srgbClr val="00FFFF"/>
                  </a:highlight>
                  <a:latin typeface="宋体" panose="02010600030101010101" pitchFamily="2" charset="-122"/>
                </a:rPr>
                <a:t>0</a:t>
              </a: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00000010</a:t>
              </a:r>
            </a:p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00</a:t>
              </a: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000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0011</a:t>
              </a:r>
              <a:r>
                <a:rPr lang="en-US" sz="1600" b="1" dirty="0">
                  <a:solidFill>
                    <a:srgbClr val="FF3399"/>
                  </a:solidFill>
                  <a:highlight>
                    <a:srgbClr val="00FFFF"/>
                  </a:highlight>
                  <a:latin typeface="宋体" panose="02010600030101010101" pitchFamily="2" charset="-122"/>
                </a:rPr>
                <a:t>1</a:t>
              </a: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001</a:t>
              </a: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00110</a:t>
              </a:r>
            </a:p>
            <a:p>
              <a:pPr fontAlgn="b">
                <a:lnSpc>
                  <a:spcPct val="9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0010</a:t>
              </a:r>
              <a:r>
                <a:rPr lang="en-US" sz="1600" b="1" dirty="0">
                  <a:solidFill>
                    <a:srgbClr val="FF3399"/>
                  </a:solidFill>
                  <a:highlight>
                    <a:srgbClr val="CCCCFF"/>
                  </a:highlight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36">
              <a:extLst>
                <a:ext uri="{FF2B5EF4-FFF2-40B4-BE49-F238E27FC236}">
                  <a16:creationId xmlns:a16="http://schemas.microsoft.com/office/drawing/2014/main" id="{541F6A68-C8AF-4630-854A-C3BD2CE141DB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296000" y="3816094"/>
              <a:ext cx="287956" cy="13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0" rIns="17780" bIns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23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24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25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B1D0835-7136-4FC4-83EB-73B49F6F7186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582122" y="4042800"/>
              <a:ext cx="899863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ABBCDC3-9F3D-4F4F-B045-5A7F1B9E9CC8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1582122" y="4258800"/>
              <a:ext cx="899863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ECD9227-936D-4A9A-93A1-1C597816E2B9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1582122" y="4482000"/>
              <a:ext cx="89986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96FB5B9-06BB-4DE9-9C27-5F46539E38CD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1582122" y="4698000"/>
              <a:ext cx="89986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右大括号 32">
              <a:extLst>
                <a:ext uri="{FF2B5EF4-FFF2-40B4-BE49-F238E27FC236}">
                  <a16:creationId xmlns:a16="http://schemas.microsoft.com/office/drawing/2014/main" id="{237F7239-3AAA-4800-AF60-BCC542CBBD5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520000" y="3844799"/>
              <a:ext cx="71755" cy="612000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右大括号 33">
              <a:extLst>
                <a:ext uri="{FF2B5EF4-FFF2-40B4-BE49-F238E27FC236}">
                  <a16:creationId xmlns:a16="http://schemas.microsoft.com/office/drawing/2014/main" id="{EE1B00AA-E14B-4EBB-AE6E-1DF8DFD39B8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520000" y="4518000"/>
              <a:ext cx="71755" cy="360045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FA93DD32-062C-4D41-874E-079CB4D2BF0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20000" y="4942800"/>
              <a:ext cx="71755" cy="179705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4DAAB27A-DDB9-4A39-BDA5-3FDAD154D458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33750" y="4033784"/>
              <a:ext cx="1944000" cy="11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8000" rIns="17780" bIns="10795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R2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(R2)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+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M[0228H]</a:t>
              </a:r>
            </a:p>
            <a:p>
              <a:pPr algn="l">
                <a:lnSpc>
                  <a:spcPct val="90000"/>
                </a:lnSpc>
                <a:spcBef>
                  <a:spcPts val="23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R3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(R3)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+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M[(R1)+6]</a:t>
              </a:r>
              <a:endPara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  <a:spcBef>
                  <a:spcPts val="10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R4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(R4)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+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52" name="Text Box 36">
              <a:extLst>
                <a:ext uri="{FF2B5EF4-FFF2-40B4-BE49-F238E27FC236}">
                  <a16:creationId xmlns:a16="http://schemas.microsoft.com/office/drawing/2014/main" id="{6F5CA9FF-CF82-4483-97C7-A1AF16C7914B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798090" y="3564000"/>
              <a:ext cx="5041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 anchor="ctr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AF1BEECC-A581-4219-AB4F-9E5EA8C843F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72000" y="3564000"/>
              <a:ext cx="9359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  <a:sym typeface="+mn-ea"/>
                </a:rPr>
                <a:t>指令功能</a:t>
              </a:r>
              <a:endParaRPr lang="zh-CN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2DEE415-FBBD-4C12-864B-CFE2F2042BCB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1584000" y="4914000"/>
              <a:ext cx="89986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5" name="AutoShape 455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FAFFCA36-DAAC-4D05-99D4-1470B81BE3B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068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179704" y="1484784"/>
            <a:ext cx="5400407" cy="36166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*指令字长：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要求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术语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指令字结构：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即所用指令格式的结构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定长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指令字结构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变长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指令字结构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1619672" y="1484784"/>
            <a:ext cx="7344623" cy="36177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指令字的二进制位数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对应于指令格式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spc="-80" dirty="0">
                <a:latin typeface="宋体" panose="02010600030101010101" pitchFamily="2" charset="-122"/>
                <a:sym typeface="+mn-ea"/>
              </a:rPr>
              <a:t>指令字长＝</a:t>
            </a:r>
            <a:r>
              <a:rPr lang="en-US" altLang="zh-CN" sz="2200" b="1" spc="-80" dirty="0" err="1">
                <a:latin typeface="宋体" panose="02010600030101010101" pitchFamily="2" charset="-122"/>
                <a:sym typeface="+mn-ea"/>
              </a:rPr>
              <a:t>n×MEM</a:t>
            </a:r>
            <a:r>
              <a:rPr lang="zh-CN" altLang="en-US" sz="2200" b="1" spc="-80" dirty="0">
                <a:latin typeface="宋体" panose="02010600030101010101" pitchFamily="2" charset="-122"/>
                <a:sym typeface="+mn-ea"/>
              </a:rPr>
              <a:t>单元长度  </a:t>
            </a:r>
            <a:r>
              <a:rPr lang="en-US" altLang="zh-CN" sz="2200" b="1" spc="-80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spc="-80" dirty="0">
                <a:latin typeface="宋体" panose="02010600030101010101" pitchFamily="2" charset="-122"/>
                <a:sym typeface="+mn-ea"/>
              </a:rPr>
              <a:t>机器字长＝</a:t>
            </a:r>
            <a:r>
              <a:rPr lang="en-US" altLang="zh-CN" sz="1800" b="1" spc="-80" dirty="0" err="1">
                <a:latin typeface="宋体" panose="02010600030101010101" pitchFamily="2" charset="-122"/>
                <a:sym typeface="+mn-ea"/>
              </a:rPr>
              <a:t>m×MEM</a:t>
            </a:r>
            <a:r>
              <a:rPr lang="zh-CN" altLang="en-US" sz="1800" b="1" spc="-80" dirty="0">
                <a:latin typeface="宋体" panose="02010600030101010101" pitchFamily="2" charset="-122"/>
                <a:sym typeface="+mn-ea"/>
              </a:rPr>
              <a:t>单元长度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存储的要求               </a:t>
            </a:r>
            <a:r>
              <a:rPr lang="zh-CN" altLang="en-US" sz="1800" b="1" spc="-8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spc="-80" dirty="0">
                <a:latin typeface="宋体" panose="02010600030101010101" pitchFamily="2" charset="-122"/>
                <a:sym typeface="+mn-ea"/>
              </a:rPr>
              <a:t>(m</a:t>
            </a:r>
            <a:r>
              <a:rPr lang="zh-CN" altLang="en-US" sz="1800" b="1" spc="-80" dirty="0">
                <a:latin typeface="宋体" panose="02010600030101010101" pitchFamily="2" charset="-122"/>
                <a:sym typeface="+mn-ea"/>
              </a:rPr>
              <a:t>为常数</a:t>
            </a:r>
            <a:r>
              <a:rPr lang="en-US" altLang="zh-CN" sz="1800" b="1" spc="-80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spc="-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(</a:t>
            </a:r>
            <a:r>
              <a:rPr lang="zh-CN" altLang="en-US" sz="1800" b="1" spc="-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空闲位可用作操作码</a:t>
            </a:r>
            <a:r>
              <a:rPr lang="en-US" altLang="zh-CN" sz="1800" b="1" spc="-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单地址指令、双地址指令、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零地址指令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←指地址码个数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单字长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指令、双字长指令、半字长指令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←字长＝机器字长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所有指令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的指令字长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完全相同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不变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所有指令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的指令字长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不尽相同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可变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sng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F677CE4-6D90-4F89-AAE6-6925FA97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1" y="332656"/>
            <a:ext cx="8784783" cy="12373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即指令所使用的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指令格式</a:t>
            </a:r>
            <a:r>
              <a:rPr lang="zh-CN" altLang="en-US" sz="2200" b="1" dirty="0"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实例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固定、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地址码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为具体的值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←仅包含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显式表示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信息的编码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6"/>
          <p:cNvSpPr txBox="1">
            <a:spLocks noChangeArrowheads="1"/>
          </p:cNvSpPr>
          <p:nvPr/>
        </p:nvSpPr>
        <p:spPr bwMode="auto">
          <a:xfrm>
            <a:off x="900000" y="404664"/>
            <a:ext cx="7920472" cy="38481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57860" indent="-65786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</a:rPr>
              <a:t>设指令长度为</a:t>
            </a:r>
            <a:r>
              <a:rPr lang="en-US" altLang="zh-CN" sz="2000" b="1" dirty="0">
                <a:latin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宋体" panose="02010600030101010101" pitchFamily="2" charset="-122"/>
              </a:rPr>
              <a:t>位，有零地址、单地址、双地址</a:t>
            </a:r>
            <a:r>
              <a:rPr lang="en-US" altLang="zh-CN" sz="2000" b="1" dirty="0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种指令格式，每个地址码均为</a:t>
            </a:r>
            <a:r>
              <a:rPr lang="en-US" altLang="zh-CN" sz="2000" b="1" dirty="0">
                <a:latin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</a:rPr>
              <a:t>位。</a:t>
            </a:r>
          </a:p>
          <a:p>
            <a:pPr marL="628650" indent="-6286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宋体" panose="02010600030101010101" pitchFamily="2" charset="-122"/>
              </a:rPr>
              <a:t>(1)</a:t>
            </a:r>
            <a:r>
              <a:rPr lang="zh-CN" altLang="en-US" sz="2000" b="1" dirty="0">
                <a:latin typeface="宋体" panose="02010600030101010101" pitchFamily="2" charset="-122"/>
              </a:rPr>
              <a:t>操作码为</a:t>
            </a:r>
            <a:r>
              <a:rPr lang="zh-CN" altLang="en-US" sz="2000" b="1" u="sng" dirty="0">
                <a:latin typeface="宋体" panose="02010600030101010101" pitchFamily="2" charset="-122"/>
              </a:rPr>
              <a:t>定长编码</a:t>
            </a:r>
            <a:r>
              <a:rPr lang="zh-CN" altLang="en-US" sz="2000" b="1" dirty="0">
                <a:latin typeface="宋体" panose="02010600030101010101" pitchFamily="2" charset="-122"/>
              </a:rPr>
              <a:t>时，若零地址、单地址指令分别为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条和</a:t>
            </a: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条，则双地址指令</a:t>
            </a:r>
            <a:r>
              <a:rPr lang="zh-CN" altLang="en-US" sz="2000" b="1" u="sng" dirty="0">
                <a:latin typeface="宋体" panose="02010600030101010101" pitchFamily="2" charset="-122"/>
              </a:rPr>
              <a:t>最多</a:t>
            </a:r>
            <a:r>
              <a:rPr lang="zh-CN" altLang="en-US" sz="2000" b="1" dirty="0">
                <a:latin typeface="宋体" panose="02010600030101010101" pitchFamily="2" charset="-122"/>
              </a:rPr>
              <a:t>为多少条</a:t>
            </a:r>
            <a:r>
              <a:rPr lang="en-US" altLang="zh-CN" sz="2000" b="1" dirty="0">
                <a:latin typeface="宋体" panose="02010600030101010101" pitchFamily="2" charset="-122"/>
              </a:rPr>
              <a:t>(N)</a:t>
            </a:r>
            <a:r>
              <a:rPr lang="zh-CN" altLang="en-US" sz="2000" b="1" dirty="0">
                <a:latin typeface="宋体" panose="02010600030101010101" pitchFamily="2" charset="-122"/>
              </a:rPr>
              <a:t>？  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最多</a:t>
            </a:r>
            <a:r>
              <a:rPr lang="zh-CN" altLang="en-US" sz="1600" b="1" dirty="0">
                <a:latin typeface="宋体" panose="02010600030101010101" pitchFamily="2" charset="-122"/>
              </a:rPr>
              <a:t>指占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个操作码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指令</a:t>
            </a: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宋体" panose="02010600030101010101" pitchFamily="2" charset="-122"/>
              </a:rPr>
              <a:t>(2)</a:t>
            </a:r>
            <a:r>
              <a:rPr lang="zh-CN" altLang="en-US" sz="2000" b="1" dirty="0">
                <a:latin typeface="宋体" panose="02010600030101010101" pitchFamily="2" charset="-122"/>
              </a:rPr>
              <a:t>操作码为</a:t>
            </a:r>
            <a:r>
              <a:rPr lang="zh-CN" altLang="en-US" sz="2000" b="1" u="sng" dirty="0">
                <a:latin typeface="宋体" panose="02010600030101010101" pitchFamily="2" charset="-122"/>
              </a:rPr>
              <a:t>扩展编码</a:t>
            </a:r>
            <a:r>
              <a:rPr lang="zh-CN" altLang="en-US" sz="2000" b="1" dirty="0">
                <a:latin typeface="宋体" panose="02010600030101010101" pitchFamily="2" charset="-122"/>
              </a:rPr>
              <a:t>时，若零地址、双地址指令分别为</a:t>
            </a:r>
            <a:r>
              <a:rPr lang="en-US" altLang="zh-CN" sz="2000" b="1" dirty="0">
                <a:latin typeface="宋体" panose="02010600030101010101" pitchFamily="2" charset="-122"/>
              </a:rPr>
              <a:t>64</a:t>
            </a:r>
            <a:r>
              <a:rPr lang="zh-CN" altLang="en-US" sz="2000" b="1" dirty="0">
                <a:latin typeface="宋体" panose="02010600030101010101" pitchFamily="2" charset="-122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</a:rPr>
              <a:t>64</a:t>
            </a:r>
            <a:r>
              <a:rPr lang="zh-CN" altLang="en-US" sz="2000" b="1" dirty="0">
                <a:latin typeface="宋体" panose="02010600030101010101" pitchFamily="2" charset="-122"/>
              </a:rPr>
              <a:t>条和</a:t>
            </a:r>
            <a:r>
              <a:rPr lang="en-US" altLang="zh-CN" sz="2000" b="1" dirty="0">
                <a:latin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</a:rPr>
              <a:t>条，单地址指令</a:t>
            </a:r>
            <a:r>
              <a:rPr lang="zh-CN" altLang="en-US" sz="2000" b="1" u="sng" dirty="0">
                <a:latin typeface="宋体" panose="02010600030101010101" pitchFamily="2" charset="-122"/>
              </a:rPr>
              <a:t>最多</a:t>
            </a:r>
            <a:r>
              <a:rPr lang="zh-CN" altLang="en-US" sz="2000" b="1" dirty="0">
                <a:latin typeface="宋体" panose="02010600030101010101" pitchFamily="2" charset="-122"/>
              </a:rPr>
              <a:t>为多少条</a:t>
            </a:r>
            <a:r>
              <a:rPr lang="en-US" altLang="zh-CN" sz="2000" b="1" dirty="0">
                <a:latin typeface="宋体" panose="02010600030101010101" pitchFamily="2" charset="-122"/>
              </a:rPr>
              <a:t>(M)</a:t>
            </a:r>
            <a:r>
              <a:rPr lang="zh-CN" altLang="en-US" sz="2000" b="1" dirty="0">
                <a:latin typeface="宋体" panose="02010600030101010101" pitchFamily="2" charset="-122"/>
              </a:rPr>
              <a:t>？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最多</a:t>
            </a:r>
            <a:r>
              <a:rPr lang="zh-CN" altLang="en-US" sz="1600" b="1" dirty="0">
                <a:latin typeface="宋体" panose="02010600030101010101" pitchFamily="2" charset="-122"/>
              </a:rPr>
              <a:t>指操作码占满空闲位</a:t>
            </a:r>
          </a:p>
          <a:p>
            <a:pPr marL="499110" indent="-49911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解：</a:t>
            </a:r>
            <a:r>
              <a:rPr lang="en-US" altLang="zh-CN" sz="2000" b="1" dirty="0">
                <a:latin typeface="宋体" panose="02010600030101010101" pitchFamily="2" charset="-122"/>
              </a:rPr>
              <a:t>(1)</a:t>
            </a: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    (2)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5" name="Text Box 5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73014" y="2717584"/>
            <a:ext cx="6775450" cy="22708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操作码长度＝</a:t>
            </a:r>
            <a:r>
              <a:rPr lang="en-US" altLang="zh-CN" sz="2000" b="1" dirty="0">
                <a:latin typeface="宋体" panose="02010600030101010101" pitchFamily="2" charset="-122"/>
              </a:rPr>
              <a:t>16-6-6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位，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N</a:t>
            </a:r>
            <a:r>
              <a:rPr lang="zh-CN" altLang="en-US" sz="2000" b="1" dirty="0">
                <a:latin typeface="宋体" panose="02010600030101010101" pitchFamily="2" charset="-122"/>
              </a:rPr>
              <a:t>≤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4</a:t>
            </a:r>
            <a:r>
              <a:rPr lang="en-US" altLang="zh-CN" sz="2000" b="1" dirty="0">
                <a:latin typeface="宋体" panose="02010600030101010101" pitchFamily="2" charset="-122"/>
              </a:rPr>
              <a:t>-(4+5)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双、单、零地址指令操作码长度＝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宋体" panose="02010600030101010101" pitchFamily="2" charset="-122"/>
              </a:rPr>
              <a:t>位，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M+</a:t>
            </a:r>
            <a:r>
              <a:rPr lang="zh-CN" altLang="en-US" sz="2000" b="1" dirty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>
                <a:latin typeface="宋体" panose="02010600030101010101" pitchFamily="2" charset="-122"/>
              </a:rPr>
              <a:t>64</a:t>
            </a:r>
            <a:r>
              <a:rPr lang="zh-CN" altLang="en-US" sz="2000" b="1" dirty="0">
                <a:latin typeface="宋体" panose="02010600030101010101" pitchFamily="2" charset="-122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</a:rPr>
              <a:t>64/2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>
                <a:latin typeface="宋体" panose="02010600030101010101" pitchFamily="2" charset="-122"/>
              </a:rPr>
              <a:t>≤</a:t>
            </a:r>
            <a:r>
              <a:rPr lang="en-US" altLang="zh-CN" sz="2000" b="1" dirty="0">
                <a:latin typeface="宋体" panose="02010600030101010101" pitchFamily="2" charset="-122"/>
              </a:rPr>
              <a:t>(2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4</a:t>
            </a:r>
            <a:r>
              <a:rPr lang="en-US" altLang="zh-CN" sz="2000" b="1" dirty="0">
                <a:latin typeface="宋体" panose="02010600030101010101" pitchFamily="2" charset="-122"/>
              </a:rPr>
              <a:t>-12)×2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sym typeface="Symbol" panose="05050102010706020507"/>
              </a:rPr>
              <a:t>，</a:t>
            </a:r>
            <a:endParaRPr lang="en-US" altLang="zh-CN" sz="2000" b="1" dirty="0">
              <a:latin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  <a:sym typeface="Symbol" panose="05050102010706020507"/>
              </a:rPr>
              <a:t>即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/>
              </a:rPr>
              <a:t>M</a:t>
            </a:r>
            <a:r>
              <a:rPr lang="zh-CN" altLang="en-US" sz="2000" b="1" dirty="0">
                <a:latin typeface="宋体" panose="02010600030101010101" pitchFamily="2" charset="-122"/>
                <a:sym typeface="Symbol" panose="05050102010706020507"/>
              </a:rPr>
              <a:t>≤</a:t>
            </a:r>
            <a:r>
              <a:rPr lang="en-US" altLang="zh-CN" sz="2000" b="1" dirty="0">
                <a:latin typeface="宋体" panose="02010600030101010101" pitchFamily="2" charset="-122"/>
              </a:rPr>
              <a:t>4×2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宋体" panose="02010600030101010101" pitchFamily="2" charset="-122"/>
              </a:rPr>
              <a:t>-64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192</a:t>
            </a:r>
            <a:endParaRPr lang="en-US" altLang="zh-CN" sz="2000" b="1" dirty="0">
              <a:latin typeface="宋体" panose="02010600030101010101" pitchFamily="2" charset="-122"/>
              <a:sym typeface="Symbol" panose="05050102010706020507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36000" y="2852936"/>
            <a:ext cx="2088515" cy="899160"/>
            <a:chOff x="1644" y="6350"/>
            <a:chExt cx="3289" cy="1416"/>
          </a:xfrm>
        </p:grpSpPr>
        <p:sp>
          <p:nvSpPr>
            <p:cNvPr id="15" name="Text Box 9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665" y="737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6" name="Text Box 9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98" y="737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7" name="Text Box 9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98" y="686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0" name="Text Box 9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644" y="737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?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9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644" y="686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5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0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644" y="635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0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665" y="686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latin typeface="宋体" panose="02010600030101010101" pitchFamily="2" charset="-122"/>
                </a:rPr>
                <a:t>空闲</a:t>
              </a:r>
              <a:endParaRPr lang="zh-CN" altLang="en-US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4" name="Text Box 10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65" y="6350"/>
              <a:ext cx="226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334571" y="4582832"/>
            <a:ext cx="2087880" cy="901700"/>
            <a:chOff x="6800" y="5669"/>
            <a:chExt cx="3288" cy="1420"/>
          </a:xfrm>
        </p:grpSpPr>
        <p:sp>
          <p:nvSpPr>
            <p:cNvPr id="40" name="Text Box 9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821" y="669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1" name="Text Box 9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954" y="669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43" name="Text Box 9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954" y="618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44" name="Text Box 9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00" y="6692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12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9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00" y="6182"/>
              <a:ext cx="2154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10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800" y="5672"/>
              <a:ext cx="328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64*64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5"/>
              </p:custDataLst>
            </p:nvPr>
          </p:nvCxnSpPr>
          <p:spPr bwMode="auto">
            <a:xfrm>
              <a:off x="7824" y="6180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16"/>
              </p:custDataLst>
            </p:nvPr>
          </p:nvCxnSpPr>
          <p:spPr bwMode="auto">
            <a:xfrm>
              <a:off x="8957" y="5669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组合 54"/>
          <p:cNvGrpSpPr/>
          <p:nvPr/>
        </p:nvGrpSpPr>
        <p:grpSpPr>
          <a:xfrm>
            <a:off x="5688141" y="4293096"/>
            <a:ext cx="1583690" cy="675640"/>
            <a:chOff x="5782" y="5216"/>
            <a:chExt cx="2494" cy="1064"/>
          </a:xfrm>
        </p:grpSpPr>
        <p:sp>
          <p:nvSpPr>
            <p:cNvPr id="35" name="Text Box 11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82" y="5216"/>
              <a:ext cx="24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(2</a:t>
              </a:r>
              <a:r>
                <a:rPr lang="en-US" altLang="zh-CN" sz="1600" b="1" baseline="30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-12)×2</a:t>
              </a:r>
              <a:r>
                <a:rPr lang="en-US" altLang="zh-CN" sz="1600" b="1" baseline="30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6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条</a:t>
              </a:r>
            </a:p>
          </p:txBody>
        </p:sp>
        <p:cxnSp>
          <p:nvCxnSpPr>
            <p:cNvPr id="53" name="直接连接符 52"/>
            <p:cNvCxnSpPr/>
            <p:nvPr>
              <p:custDataLst>
                <p:tags r:id="rId6"/>
              </p:custDataLst>
            </p:nvPr>
          </p:nvCxnSpPr>
          <p:spPr bwMode="auto">
            <a:xfrm flipH="1" flipV="1">
              <a:off x="6463" y="5613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6463" y="6120"/>
              <a:ext cx="907" cy="1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Oval 12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351" y="5940"/>
              <a:ext cx="907" cy="3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732716" y="4293096"/>
            <a:ext cx="2303780" cy="400050"/>
            <a:chOff x="7427" y="5216"/>
            <a:chExt cx="3628" cy="630"/>
          </a:xfrm>
        </p:grpSpPr>
        <p:sp>
          <p:nvSpPr>
            <p:cNvPr id="31" name="Oval 120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427" y="5728"/>
              <a:ext cx="1135" cy="11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12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504" y="5216"/>
              <a:ext cx="255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/>
                </a:rPr>
                <a:t>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/>
                </a:rPr>
                <a:t>(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64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64)/2</a:t>
              </a:r>
              <a:r>
                <a:rPr lang="en-US" altLang="zh-CN" sz="1600" b="1" baseline="30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6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/>
                </a:rPr>
                <a:t>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条</a:t>
              </a:r>
              <a:endParaRPr lang="zh-CN" altLang="en-US" sz="1600" b="1" baseline="-20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>
              <a:cxnSpLocks/>
            </p:cNvCxnSpPr>
            <p:nvPr>
              <p:custDataLst>
                <p:tags r:id="rId4"/>
              </p:custDataLst>
            </p:nvPr>
          </p:nvCxnSpPr>
          <p:spPr bwMode="auto">
            <a:xfrm flipV="1">
              <a:off x="8560" y="5556"/>
              <a:ext cx="68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476" y="332656"/>
            <a:ext cx="8801124" cy="880562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指令格式的关联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指令功能所含信息的分解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48" name="Text Box 205"/>
          <p:cNvSpPr txBox="1">
            <a:spLocks noChangeArrowheads="1"/>
          </p:cNvSpPr>
          <p:nvPr/>
        </p:nvSpPr>
        <p:spPr bwMode="auto">
          <a:xfrm>
            <a:off x="179388" y="4221088"/>
            <a:ext cx="4248596" cy="20808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指令格式的关系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一条指令：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指令字长：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指令字结构：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5" name="Text Box 205"/>
          <p:cNvSpPr txBox="1">
            <a:spLocks noChangeArrowheads="1"/>
          </p:cNvSpPr>
          <p:nvPr/>
        </p:nvSpPr>
        <p:spPr bwMode="auto">
          <a:xfrm>
            <a:off x="1187625" y="3246065"/>
            <a:ext cx="7704371" cy="6402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rIns="36195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注：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功能所含信息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操作类型、源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目的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、下条指令地址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操作码的特征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标识不同指令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，可指明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当前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指令中隐式信息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Text Box 20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12518" y="4653136"/>
            <a:ext cx="6479481" cy="1654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操作码相同</a:t>
            </a:r>
            <a:r>
              <a:rPr lang="zh-CN" altLang="en-US" sz="2200" b="1" dirty="0">
                <a:latin typeface="宋体" panose="02010600030101010101" pitchFamily="2" charset="-122"/>
              </a:rPr>
              <a:t>的指令     </a:t>
            </a:r>
            <a:r>
              <a:rPr lang="zh-CN" altLang="en-US" sz="1800" b="1" dirty="0">
                <a:latin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多条指令可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共用</a:t>
            </a:r>
            <a:r>
              <a:rPr lang="zh-CN" altLang="en-US" sz="1800" b="1" dirty="0">
                <a:latin typeface="宋体" panose="02010600030101010101" pitchFamily="2" charset="-122"/>
              </a:rPr>
              <a:t>一种</a:t>
            </a:r>
            <a:r>
              <a:rPr lang="zh-CN" altLang="en-US" sz="1800" b="1" u="sng" dirty="0">
                <a:latin typeface="宋体" panose="02010600030101010101" pitchFamily="2" charset="-122"/>
              </a:rPr>
              <a:t>指令格式</a:t>
            </a:r>
            <a:endParaRPr lang="en-US" altLang="zh-CN" sz="1800" b="1" u="sng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+mn-ea"/>
              </a:rPr>
              <a:t>   </a:t>
            </a:r>
            <a:r>
              <a:rPr lang="zh-CN" altLang="en-US" sz="1800" dirty="0">
                <a:latin typeface="+mn-ea"/>
              </a:rPr>
              <a:t>└</a:t>
            </a:r>
            <a:r>
              <a:rPr lang="zh-CN" altLang="en-US" sz="1800" b="1" dirty="0">
                <a:latin typeface="+mn-ea"/>
              </a:rPr>
              <a:t>←操作类型</a:t>
            </a:r>
            <a:r>
              <a:rPr lang="en-US" altLang="zh-CN" sz="1800" b="1" dirty="0">
                <a:latin typeface="+mn-ea"/>
              </a:rPr>
              <a:t>+</a:t>
            </a:r>
            <a:r>
              <a:rPr lang="zh-CN" altLang="en-US" sz="1800" b="1" dirty="0">
                <a:latin typeface="+mn-ea"/>
              </a:rPr>
              <a:t>格式参数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en-US" altLang="zh-CN" sz="1800" b="1" u="sng" dirty="0">
                <a:solidFill>
                  <a:srgbClr val="C00000"/>
                </a:solidFill>
                <a:highlight>
                  <a:srgbClr val="CCFFFF"/>
                </a:highlight>
                <a:latin typeface="宋体" panose="02010600030101010101" pitchFamily="2" charset="-122"/>
              </a:rPr>
              <a:t>RISC</a:t>
            </a:r>
            <a:r>
              <a:rPr lang="zh-CN" altLang="en-US" sz="1800" b="1" dirty="0">
                <a:latin typeface="宋体" panose="02010600030101010101" pitchFamily="2" charset="-122"/>
              </a:rPr>
              <a:t>包含寻址方式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</a:rPr>
              <a:t>＝指令的指令格式长度＝</a:t>
            </a:r>
            <a:r>
              <a:rPr lang="en-US" altLang="zh-CN" sz="2200" b="1" dirty="0" err="1">
                <a:latin typeface="+mn-ea"/>
              </a:rPr>
              <a:t>n×MEM</a:t>
            </a:r>
            <a:r>
              <a:rPr lang="zh-CN" altLang="en-US" sz="2200" b="1" dirty="0">
                <a:latin typeface="+mn-ea"/>
              </a:rPr>
              <a:t>单元长度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</a:rPr>
              <a:t>  所有指令的字长特征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定长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变长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048000" y="1270800"/>
            <a:ext cx="2628000" cy="612040"/>
            <a:chOff x="6120514" y="4365104"/>
            <a:chExt cx="2628000" cy="612040"/>
          </a:xfrm>
        </p:grpSpPr>
        <p:sp>
          <p:nvSpPr>
            <p:cNvPr id="29" name="Text Box 2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876256" y="4725144"/>
              <a:ext cx="180000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30" name="直接箭头连接符 29"/>
            <p:cNvCxnSpPr/>
            <p:nvPr>
              <p:custDataLst>
                <p:tags r:id="rId39"/>
              </p:custDataLst>
            </p:nvPr>
          </p:nvCxnSpPr>
          <p:spPr>
            <a:xfrm>
              <a:off x="6300192" y="4869160"/>
              <a:ext cx="57600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 Box 2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120514" y="4365104"/>
              <a:ext cx="262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的存放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(GPRs/MEM/IR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41"/>
              </p:custDataLst>
            </p:nvPr>
          </p:nvCxnSpPr>
          <p:spPr>
            <a:xfrm>
              <a:off x="6516216" y="4622690"/>
              <a:ext cx="0" cy="252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3491374" y="1630800"/>
            <a:ext cx="2736041" cy="864096"/>
            <a:chOff x="3347864" y="4653136"/>
            <a:chExt cx="2736041" cy="864096"/>
          </a:xfrm>
        </p:grpSpPr>
        <p:sp>
          <p:nvSpPr>
            <p:cNvPr id="34" name="Text Box 2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07905" y="4653136"/>
              <a:ext cx="237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</a:p>
          </p:txBody>
        </p:sp>
        <p:sp>
          <p:nvSpPr>
            <p:cNvPr id="35" name="Text Box 2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707905" y="4960218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格式信息</a:t>
              </a:r>
            </a:p>
          </p:txBody>
        </p:sp>
        <p:cxnSp>
          <p:nvCxnSpPr>
            <p:cNvPr id="36" name="直接箭头连接符 35"/>
            <p:cNvCxnSpPr/>
            <p:nvPr>
              <p:custDataLst>
                <p:tags r:id="rId34"/>
              </p:custDataLst>
            </p:nvPr>
          </p:nvCxnSpPr>
          <p:spPr>
            <a:xfrm>
              <a:off x="3347866" y="4797152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>
              <p:custDataLst>
                <p:tags r:id="rId35"/>
              </p:custDataLst>
            </p:nvPr>
          </p:nvCxnSpPr>
          <p:spPr>
            <a:xfrm>
              <a:off x="3347866" y="5085184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2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707904" y="5265232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隐式的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显式之外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37"/>
              </p:custDataLst>
            </p:nvPr>
          </p:nvCxnSpPr>
          <p:spPr>
            <a:xfrm>
              <a:off x="3347864" y="5373216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3203345" y="1270800"/>
            <a:ext cx="2088000" cy="1080088"/>
            <a:chOff x="3059835" y="4293096"/>
            <a:chExt cx="2088000" cy="1080088"/>
          </a:xfrm>
        </p:grpSpPr>
        <p:cxnSp>
          <p:nvCxnSpPr>
            <p:cNvPr id="41" name="直接箭头连接符 40"/>
            <p:cNvCxnSpPr/>
            <p:nvPr>
              <p:custDataLst>
                <p:tags r:id="rId28"/>
              </p:custDataLst>
            </p:nvPr>
          </p:nvCxnSpPr>
          <p:spPr>
            <a:xfrm>
              <a:off x="3491882" y="4581096"/>
              <a:ext cx="0" cy="216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 Box 2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059835" y="4293096"/>
              <a:ext cx="208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表示方式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显式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30"/>
              </p:custDataLst>
            </p:nvPr>
          </p:nvCxnSpPr>
          <p:spPr>
            <a:xfrm>
              <a:off x="3491880" y="4797152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>
              <p:custDataLst>
                <p:tags r:id="rId31"/>
              </p:custDataLst>
            </p:nvPr>
          </p:nvCxnSpPr>
          <p:spPr>
            <a:xfrm>
              <a:off x="3491880" y="5085184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5736" y="3933056"/>
            <a:ext cx="604833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信息隐式表示的条件？如何识别指令中的隐式信息？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632125" y="1918800"/>
            <a:ext cx="1509171" cy="972000"/>
            <a:chOff x="7596336" y="4583096"/>
            <a:chExt cx="1509171" cy="972000"/>
          </a:xfrm>
        </p:grpSpPr>
        <p:cxnSp>
          <p:nvCxnSpPr>
            <p:cNvPr id="47" name="直接箭头连接符 46"/>
            <p:cNvCxnSpPr/>
            <p:nvPr>
              <p:custDataLst>
                <p:tags r:id="rId26"/>
              </p:custDataLst>
            </p:nvPr>
          </p:nvCxnSpPr>
          <p:spPr>
            <a:xfrm>
              <a:off x="7596336" y="4583096"/>
              <a:ext cx="0" cy="972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 Box 2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632211" y="4797151"/>
              <a:ext cx="1473296" cy="54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地址编码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寻址方式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的逆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043102" y="1700904"/>
            <a:ext cx="7560840" cy="1477896"/>
            <a:chOff x="899592" y="4257216"/>
            <a:chExt cx="7560840" cy="1477896"/>
          </a:xfrm>
        </p:grpSpPr>
        <p:sp>
          <p:nvSpPr>
            <p:cNvPr id="82" name="Text Box 2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56490" y="5157248"/>
              <a:ext cx="2448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地址码个数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+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目的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位置等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2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63744" y="4259112"/>
              <a:ext cx="504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功能所含信息</a:t>
              </a:r>
            </a:p>
          </p:txBody>
        </p:sp>
        <p:sp>
          <p:nvSpPr>
            <p:cNvPr id="86" name="Text Box 2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948432" y="5481256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</a:t>
              </a:r>
            </a:p>
          </p:txBody>
        </p:sp>
        <p:cxnSp>
          <p:nvCxnSpPr>
            <p:cNvPr id="87" name="直接连接符 86"/>
            <p:cNvCxnSpPr/>
            <p:nvPr>
              <p:custDataLst>
                <p:tags r:id="rId13"/>
              </p:custDataLst>
            </p:nvPr>
          </p:nvCxnSpPr>
          <p:spPr bwMode="auto">
            <a:xfrm>
              <a:off x="738048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14"/>
              </p:custDataLst>
            </p:nvPr>
          </p:nvCxnSpPr>
          <p:spPr bwMode="auto">
            <a:xfrm>
              <a:off x="810056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Text Box 2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99592" y="5481256"/>
              <a:ext cx="100811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指令格式</a:t>
              </a:r>
            </a:p>
          </p:txBody>
        </p:sp>
        <p:sp>
          <p:nvSpPr>
            <p:cNvPr id="98" name="Text Box 2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27864" y="4257216"/>
              <a:ext cx="720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需约定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的信息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>
              <p:custDataLst>
                <p:tags r:id="rId17"/>
              </p:custDataLst>
            </p:nvPr>
          </p:nvCxnSpPr>
          <p:spPr>
            <a:xfrm>
              <a:off x="2267744" y="4617160"/>
              <a:ext cx="36004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>
              <p:custDataLst>
                <p:tags r:id="rId18"/>
              </p:custDataLst>
            </p:nvPr>
          </p:nvCxnSpPr>
          <p:spPr>
            <a:xfrm>
              <a:off x="1907704" y="5663112"/>
              <a:ext cx="424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 Box 2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156432" y="5481256"/>
              <a:ext cx="79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102" name="Text Box 2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520490" y="5157248"/>
              <a:ext cx="93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格式参数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21"/>
              </p:custDataLst>
            </p:nvPr>
          </p:nvCxnSpPr>
          <p:spPr>
            <a:xfrm flipV="1">
              <a:off x="2987824" y="4977200"/>
              <a:ext cx="0" cy="180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2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99648" y="4331112"/>
              <a:ext cx="504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</a:p>
          </p:txBody>
        </p:sp>
        <p:cxnSp>
          <p:nvCxnSpPr>
            <p:cNvPr id="105" name="直接箭头连接符 104"/>
            <p:cNvCxnSpPr/>
            <p:nvPr>
              <p:custDataLst>
                <p:tags r:id="rId23"/>
              </p:custDataLst>
            </p:nvPr>
          </p:nvCxnSpPr>
          <p:spPr>
            <a:xfrm>
              <a:off x="1403648" y="4619112"/>
              <a:ext cx="360040" cy="2202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>
              <p:custDataLst>
                <p:tags r:id="rId24"/>
              </p:custDataLst>
            </p:nvPr>
          </p:nvCxnSpPr>
          <p:spPr>
            <a:xfrm flipV="1">
              <a:off x="2987824" y="5411317"/>
              <a:ext cx="0" cy="144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>
              <p:custDataLst>
                <p:tags r:id="rId25"/>
              </p:custDataLst>
            </p:nvPr>
          </p:nvCxnSpPr>
          <p:spPr>
            <a:xfrm flipH="1">
              <a:off x="2982733" y="5555112"/>
              <a:ext cx="3168000" cy="1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31EFA8E-51B5-447B-A58B-8821EA9ABD73}"/>
              </a:ext>
            </a:extLst>
          </p:cNvPr>
          <p:cNvGrpSpPr/>
          <p:nvPr/>
        </p:nvGrpSpPr>
        <p:grpSpPr>
          <a:xfrm>
            <a:off x="5939646" y="2060848"/>
            <a:ext cx="1368354" cy="864000"/>
            <a:chOff x="5939646" y="2060848"/>
            <a:chExt cx="1368354" cy="864000"/>
          </a:xfrm>
        </p:grpSpPr>
        <p:cxnSp>
          <p:nvCxnSpPr>
            <p:cNvPr id="24" name="直接箭头连接符 23"/>
            <p:cNvCxnSpPr/>
            <p:nvPr>
              <p:custDataLst>
                <p:tags r:id="rId5"/>
              </p:custDataLst>
            </p:nvPr>
          </p:nvCxnSpPr>
          <p:spPr>
            <a:xfrm>
              <a:off x="6768000" y="2060848"/>
              <a:ext cx="1" cy="864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2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768000" y="2132904"/>
              <a:ext cx="540000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操作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编码</a:t>
              </a:r>
              <a:endParaRPr lang="zh-CN" altLang="en-US" sz="14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7"/>
              </p:custDataLst>
            </p:nvPr>
          </p:nvCxnSpPr>
          <p:spPr>
            <a:xfrm>
              <a:off x="5939646" y="2060848"/>
              <a:ext cx="828000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>
              <p:custDataLst>
                <p:tags r:id="rId8"/>
              </p:custDataLst>
            </p:nvPr>
          </p:nvCxnSpPr>
          <p:spPr>
            <a:xfrm>
              <a:off x="5939646" y="2348880"/>
              <a:ext cx="504000" cy="575742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22">
              <a:extLst>
                <a:ext uri="{FF2B5EF4-FFF2-40B4-BE49-F238E27FC236}">
                  <a16:creationId xmlns:a16="http://schemas.microsoft.com/office/drawing/2014/main" id="{32D6EE23-B2D0-4E4C-9B74-E0F5584A2BF8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56000" y="2422800"/>
              <a:ext cx="50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指明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" name="AutoShape 62">
            <a:hlinkClick r:id="rId44" action="ppaction://hlinksldjump"/>
            <a:extLst>
              <a:ext uri="{FF2B5EF4-FFF2-40B4-BE49-F238E27FC236}">
                <a16:creationId xmlns:a16="http://schemas.microsoft.com/office/drawing/2014/main" id="{8B7E132E-041F-4165-BCF7-534D0571948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60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§4.2 </a:t>
            </a:r>
            <a:r>
              <a:rPr lang="zh-CN" altLang="en-US" sz="2800" b="1" dirty="0">
                <a:latin typeface="宋体" panose="02010600030101010101" pitchFamily="2" charset="-122"/>
              </a:rPr>
              <a:t>操作数的存放</a:t>
            </a:r>
          </a:p>
        </p:txBody>
      </p:sp>
      <p:sp>
        <p:nvSpPr>
          <p:cNvPr id="6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IR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中的存放方式、长度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地址表示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" name="Text Box 126"/>
          <p:cNvSpPr txBox="1">
            <a:spLocks noChangeArrowheads="1"/>
          </p:cNvSpPr>
          <p:nvPr/>
        </p:nvSpPr>
        <p:spPr bwMode="auto">
          <a:xfrm>
            <a:off x="179704" y="1196752"/>
            <a:ext cx="5725209" cy="52109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中的存放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以定点数为例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软件需求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硬件目标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*REG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的组织：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仅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＝最长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、成本</a:t>
            </a:r>
            <a:r>
              <a:rPr lang="zh-CN" altLang="en-US" sz="1800" b="1" dirty="0">
                <a:latin typeface="+mn-lt"/>
                <a:cs typeface="宋体" panose="02010600030101010101" pitchFamily="2" charset="-122"/>
                <a:sym typeface="+mn-ea"/>
              </a:rPr>
              <a:t>↓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多个空间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</a:rPr>
              <a:t>别名</a:t>
            </a:r>
            <a:r>
              <a:rPr lang="zh-CN" altLang="en-US" sz="1800" b="1" dirty="0">
                <a:latin typeface="宋体" panose="02010600030101010101" pitchFamily="2" charset="-122"/>
              </a:rPr>
              <a:t>方式，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</a:rPr>
              <a:t>R0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32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&lt;R1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16</a:t>
            </a:r>
            <a:r>
              <a:rPr lang="en-US" altLang="zh-CN" sz="1800" b="1" dirty="0">
                <a:latin typeface="宋体" panose="02010600030101010101" pitchFamily="2" charset="-122"/>
              </a:rPr>
              <a:t>,R0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16</a:t>
            </a:r>
            <a:r>
              <a:rPr lang="en-US" altLang="zh-CN" sz="1800" b="1" dirty="0">
                <a:latin typeface="宋体" panose="02010600030101010101" pitchFamily="2" charset="-122"/>
              </a:rPr>
              <a:t>&gt;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存放方式：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长度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地址的表示：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数据长度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83" name="Text Box 205"/>
          <p:cNvSpPr txBox="1">
            <a:spLocks noChangeArrowheads="1"/>
          </p:cNvSpPr>
          <p:nvPr/>
        </p:nvSpPr>
        <p:spPr bwMode="auto">
          <a:xfrm>
            <a:off x="1619672" y="1648792"/>
            <a:ext cx="7416823" cy="4728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OPD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几种</a:t>
            </a:r>
            <a:r>
              <a:rPr lang="zh-CN" altLang="en-US" sz="2200" b="1" dirty="0">
                <a:latin typeface="宋体" panose="02010600030101010101" pitchFamily="2" charset="-122"/>
              </a:rPr>
              <a:t>长度、均可放在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中，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空间有</a:t>
            </a:r>
            <a:r>
              <a:rPr lang="zh-CN" altLang="en-US" sz="2200" b="1" u="sng" dirty="0">
                <a:latin typeface="宋体" panose="02010600030101010101" pitchFamily="2" charset="-122"/>
              </a:rPr>
              <a:t>多个</a:t>
            </a:r>
            <a:r>
              <a:rPr lang="en-US" altLang="zh-CN" sz="1800" b="1" dirty="0">
                <a:latin typeface="宋体" panose="02010600030101010101" pitchFamily="2" charset="-122"/>
              </a:rPr>
              <a:t>(CISC)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每个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16/32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一个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←访问速度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占用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的全部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软件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知道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映射方法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860800" indent="-3860800">
              <a:spcBef>
                <a:spcPts val="20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OPD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放在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600" b="1" baseline="30000" dirty="0">
                <a:latin typeface="宋体" panose="02010600030101010101" pitchFamily="2" charset="-122"/>
                <a:sym typeface="+mn-ea"/>
              </a:rPr>
              <a:t>#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1600" b="1" baseline="30000" dirty="0">
                <a:latin typeface="宋体" panose="02010600030101010101" pitchFamily="2" charset="-122"/>
                <a:sym typeface="+mn-ea"/>
              </a:rPr>
              <a:t>#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REG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3860800" indent="-3860800">
              <a:spcBef>
                <a:spcPts val="300"/>
              </a:spcBef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OPD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放在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en-US" altLang="zh-CN" sz="1600" b="1" baseline="30000" dirty="0">
                <a:latin typeface="宋体" panose="02010600030101010101" pitchFamily="2" charset="-122"/>
                <a:sym typeface="+mn-ea"/>
              </a:rPr>
              <a:t>#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的低端、高端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指明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600" b="1" spc="-100" dirty="0">
                <a:latin typeface="宋体" panose="02010600030101010101" pitchFamily="2" charset="-122"/>
                <a:sym typeface="+mn-ea"/>
              </a:rPr>
              <a:t>←长度</a:t>
            </a:r>
            <a:r>
              <a:rPr lang="zh-CN" altLang="en-US" sz="1600" b="1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∈</a:t>
            </a:r>
            <a:r>
              <a:rPr lang="zh-CN" altLang="en-US" sz="1600" b="1" spc="-100" dirty="0">
                <a:latin typeface="宋体" panose="02010600030101010101" pitchFamily="2" charset="-122"/>
                <a:sym typeface="+mn-ea"/>
              </a:rPr>
              <a:t>数据表示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相应空间的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编号  </a:t>
            </a:r>
            <a:r>
              <a:rPr lang="zh-CN" altLang="en-US" sz="1600" b="1" spc="-100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硬件</a:t>
            </a:r>
            <a:r>
              <a:rPr lang="zh-CN" altLang="en-US" sz="1600" b="1" spc="-100" dirty="0">
                <a:latin typeface="宋体" panose="02010600030101010101" pitchFamily="2" charset="-122"/>
                <a:sym typeface="+mn-ea"/>
              </a:rPr>
              <a:t>按映射</a:t>
            </a:r>
            <a:r>
              <a:rPr lang="zh-CN" altLang="en-US" sz="16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变换后</a:t>
            </a:r>
            <a:r>
              <a:rPr lang="zh-CN" altLang="en-US" sz="1600" b="1" spc="-100" dirty="0">
                <a:latin typeface="宋体" panose="02010600030101010101" pitchFamily="2" charset="-122"/>
                <a:sym typeface="+mn-ea"/>
              </a:rPr>
              <a:t>访问</a:t>
            </a:r>
            <a:endParaRPr lang="en-US" altLang="zh-CN" sz="1600" b="1" spc="-100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475656" y="4581128"/>
            <a:ext cx="4176464" cy="507371"/>
            <a:chOff x="-827757" y="5315409"/>
            <a:chExt cx="4176464" cy="507371"/>
          </a:xfrm>
        </p:grpSpPr>
        <p:sp>
          <p:nvSpPr>
            <p:cNvPr id="12" name="Text Box 27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43657" y="5315409"/>
              <a:ext cx="129698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0100(</a:t>
              </a:r>
              <a:r>
                <a:rPr lang="en-US" altLang="zh-CN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32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+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3" name="Text Box 28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340644" y="5315409"/>
              <a:ext cx="1008063" cy="216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000  001</a:t>
              </a:r>
            </a:p>
          </p:txBody>
        </p:sp>
        <p:cxnSp>
          <p:nvCxnSpPr>
            <p:cNvPr id="14" name="直接连接符 13"/>
            <p:cNvCxnSpPr/>
            <p:nvPr>
              <p:custDataLst>
                <p:tags r:id="rId40"/>
              </p:custDataLst>
            </p:nvPr>
          </p:nvCxnSpPr>
          <p:spPr bwMode="auto">
            <a:xfrm>
              <a:off x="2843808" y="5315409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Text Box 27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43608" y="5603441"/>
              <a:ext cx="129698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0111(</a:t>
              </a:r>
              <a:r>
                <a:rPr lang="en-US" altLang="zh-CN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16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-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6" name="Text Box 2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340595" y="5603441"/>
              <a:ext cx="1008063" cy="216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110  111</a:t>
              </a:r>
            </a:p>
          </p:txBody>
        </p:sp>
        <p:cxnSp>
          <p:nvCxnSpPr>
            <p:cNvPr id="17" name="直接连接符 16"/>
            <p:cNvCxnSpPr/>
            <p:nvPr>
              <p:custDataLst>
                <p:tags r:id="rId43"/>
              </p:custDataLst>
            </p:nvPr>
          </p:nvCxnSpPr>
          <p:spPr bwMode="auto">
            <a:xfrm>
              <a:off x="2843759" y="5603441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 Box 222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-827757" y="5318780"/>
              <a:ext cx="1872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如：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R0←(R0)+(R1)</a:t>
              </a:r>
            </a:p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R6←(R6)-(R7)</a:t>
              </a:r>
            </a:p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9B0B2B82-EA0F-441A-92E9-8F1C62EE9551}"/>
              </a:ext>
            </a:extLst>
          </p:cNvPr>
          <p:cNvGrpSpPr/>
          <p:nvPr/>
        </p:nvGrpSpPr>
        <p:grpSpPr>
          <a:xfrm>
            <a:off x="5184206" y="2925064"/>
            <a:ext cx="1008285" cy="1080000"/>
            <a:chOff x="3167998" y="4752000"/>
            <a:chExt cx="1008285" cy="1080000"/>
          </a:xfrm>
        </p:grpSpPr>
        <p:sp>
          <p:nvSpPr>
            <p:cNvPr id="114" name="Rectangle 251">
              <a:extLst>
                <a:ext uri="{FF2B5EF4-FFF2-40B4-BE49-F238E27FC236}">
                  <a16:creationId xmlns:a16="http://schemas.microsoft.com/office/drawing/2014/main" id="{7E34FC7B-F685-4E7A-9B10-465B47F79687}"/>
                </a:ext>
              </a:extLst>
            </p:cNvPr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168000" y="4752000"/>
              <a:ext cx="1008000" cy="10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t" anchorCtr="0"/>
            <a:lstStyle/>
            <a:p>
              <a:pPr algn="ctr">
                <a:lnSpc>
                  <a:spcPct val="85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000#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011#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100#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111#</a:t>
              </a:r>
            </a:p>
          </p:txBody>
        </p:sp>
        <p:sp>
          <p:nvSpPr>
            <p:cNvPr id="115" name="Line 252">
              <a:extLst>
                <a:ext uri="{FF2B5EF4-FFF2-40B4-BE49-F238E27FC236}">
                  <a16:creationId xmlns:a16="http://schemas.microsoft.com/office/drawing/2014/main" id="{A0472E1F-560E-4B29-83E6-6794CBDF7D58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3167998" y="4932000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52">
              <a:extLst>
                <a:ext uri="{FF2B5EF4-FFF2-40B4-BE49-F238E27FC236}">
                  <a16:creationId xmlns:a16="http://schemas.microsoft.com/office/drawing/2014/main" id="{29933D27-7E6C-42AC-AD9A-BFD98A034D4F}"/>
                </a:ext>
              </a:extLst>
            </p:cNvPr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3167998" y="5112000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52">
              <a:extLst>
                <a:ext uri="{FF2B5EF4-FFF2-40B4-BE49-F238E27FC236}">
                  <a16:creationId xmlns:a16="http://schemas.microsoft.com/office/drawing/2014/main" id="{C570454C-D6E9-41EE-82DD-1DB59921D29E}"/>
                </a:ext>
              </a:extLst>
            </p:cNvPr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167998" y="5292000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52">
              <a:extLst>
                <a:ext uri="{FF2B5EF4-FFF2-40B4-BE49-F238E27FC236}">
                  <a16:creationId xmlns:a16="http://schemas.microsoft.com/office/drawing/2014/main" id="{3104E2E3-DB93-43F5-843B-2DE58DD06DC2}"/>
                </a:ext>
              </a:extLst>
            </p:cNvPr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3168283" y="5472000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52">
              <a:extLst>
                <a:ext uri="{FF2B5EF4-FFF2-40B4-BE49-F238E27FC236}">
                  <a16:creationId xmlns:a16="http://schemas.microsoft.com/office/drawing/2014/main" id="{F55B8FCD-6390-4997-B94B-02D927835B44}"/>
                </a:ext>
              </a:extLst>
            </p:cNvPr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167998" y="5652000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1165B3F-12ED-4C89-B714-DADE8F09F306}"/>
              </a:ext>
            </a:extLst>
          </p:cNvPr>
          <p:cNvGrpSpPr/>
          <p:nvPr/>
        </p:nvGrpSpPr>
        <p:grpSpPr>
          <a:xfrm>
            <a:off x="6732240" y="5445224"/>
            <a:ext cx="2376000" cy="504000"/>
            <a:chOff x="6372000" y="5652000"/>
            <a:chExt cx="2376000" cy="504000"/>
          </a:xfrm>
        </p:grpSpPr>
        <p:sp>
          <p:nvSpPr>
            <p:cNvPr id="86" name="Text Box 27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443348" y="5652000"/>
              <a:ext cx="1152000" cy="252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OPi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含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8" name="Text Box 2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596000" y="5652000"/>
              <a:ext cx="504000" cy="252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xxx</a:t>
              </a:r>
            </a:p>
          </p:txBody>
        </p:sp>
        <p:sp>
          <p:nvSpPr>
            <p:cNvPr id="94" name="Text Box 28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372000" y="5904000"/>
              <a:ext cx="237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长度，可隐含表示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280">
              <a:extLst>
                <a:ext uri="{FF2B5EF4-FFF2-40B4-BE49-F238E27FC236}">
                  <a16:creationId xmlns:a16="http://schemas.microsoft.com/office/drawing/2014/main" id="{56A024C7-6654-463B-915F-6032E73DFAF0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100000" y="5652000"/>
              <a:ext cx="504000" cy="252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yyy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921A0DC-1734-44D9-9717-3628BF093E6F}"/>
              </a:ext>
            </a:extLst>
          </p:cNvPr>
          <p:cNvGrpSpPr/>
          <p:nvPr/>
        </p:nvGrpSpPr>
        <p:grpSpPr>
          <a:xfrm>
            <a:off x="4932208" y="2673064"/>
            <a:ext cx="4067792" cy="1332000"/>
            <a:chOff x="4932208" y="2673064"/>
            <a:chExt cx="4067792" cy="1332000"/>
          </a:xfrm>
        </p:grpSpPr>
        <p:sp>
          <p:nvSpPr>
            <p:cNvPr id="81" name="Text Box 261">
              <a:extLst>
                <a:ext uri="{FF2B5EF4-FFF2-40B4-BE49-F238E27FC236}">
                  <a16:creationId xmlns:a16="http://schemas.microsoft.com/office/drawing/2014/main" id="{D7CF37C2-2587-45FC-8963-A5BDA66834F2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516000" y="2673064"/>
              <a:ext cx="2484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+mn-ea"/>
                  <a:ea typeface="+mn-ea"/>
                </a:rPr>
                <a:t>用作</a:t>
              </a:r>
              <a:r>
                <a:rPr lang="en-US" altLang="zh-CN" sz="1600" b="1" u="none" dirty="0">
                  <a:highlight>
                    <a:srgbClr val="FFFF00"/>
                  </a:highlight>
                  <a:latin typeface="+mn-ea"/>
                  <a:ea typeface="+mn-ea"/>
                </a:rPr>
                <a:t>16</a:t>
              </a:r>
              <a:r>
                <a:rPr lang="zh-CN" altLang="en-US" sz="1600" b="1" u="none" dirty="0">
                  <a:highlight>
                    <a:srgbClr val="FFFF00"/>
                  </a:highlight>
                  <a:latin typeface="+mn-ea"/>
                  <a:ea typeface="+mn-ea"/>
                </a:rPr>
                <a:t>位</a:t>
              </a:r>
              <a:r>
                <a:rPr lang="zh-CN" altLang="en-US" sz="1600" b="1" dirty="0">
                  <a:highlight>
                    <a:srgbClr val="FFFF00"/>
                  </a:highlight>
                  <a:latin typeface="+mn-ea"/>
                  <a:ea typeface="+mn-ea"/>
                </a:rPr>
                <a:t>空间</a:t>
              </a:r>
              <a:r>
                <a:rPr lang="zh-CN" altLang="en-US" sz="1600" b="1" dirty="0">
                  <a:latin typeface="+mn-ea"/>
                  <a:ea typeface="+mn-ea"/>
                </a:rPr>
                <a:t>时</a:t>
              </a:r>
              <a:r>
                <a:rPr lang="en-US" altLang="zh-CN" sz="1600" b="1" dirty="0">
                  <a:latin typeface="+mn-ea"/>
                  <a:ea typeface="+mn-ea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+mn-ea"/>
                  <a:ea typeface="+mn-ea"/>
                </a:rPr>
                <a:t>右边</a:t>
              </a:r>
              <a:r>
                <a:rPr lang="zh-CN" altLang="en-US" sz="1600" b="1" dirty="0">
                  <a:latin typeface="+mn-ea"/>
                  <a:ea typeface="+mn-ea"/>
                </a:rPr>
                <a:t>更好</a:t>
              </a:r>
              <a:r>
                <a:rPr lang="en-US" altLang="zh-CN" sz="1600" b="1" dirty="0">
                  <a:latin typeface="+mn-ea"/>
                  <a:ea typeface="+mn-ea"/>
                </a:rPr>
                <a:t>)</a:t>
              </a:r>
              <a:endParaRPr lang="en-US" altLang="zh-CN" sz="16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82" name="Text Box 261">
              <a:extLst>
                <a:ext uri="{FF2B5EF4-FFF2-40B4-BE49-F238E27FC236}">
                  <a16:creationId xmlns:a16="http://schemas.microsoft.com/office/drawing/2014/main" id="{CD47C93B-AE1F-4B8B-946C-573275A7A1AC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632000" y="3357064"/>
              <a:ext cx="288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或</a:t>
              </a:r>
              <a:endParaRPr lang="en-US" altLang="zh-CN" sz="1600" b="1" u="none" baseline="-20000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AA6203ED-40BC-49B5-8350-39F17ED005EE}"/>
                </a:ext>
              </a:extLst>
            </p:cNvPr>
            <p:cNvGrpSpPr/>
            <p:nvPr/>
          </p:nvGrpSpPr>
          <p:grpSpPr>
            <a:xfrm>
              <a:off x="7956136" y="2925064"/>
              <a:ext cx="1008352" cy="1080000"/>
              <a:chOff x="6804000" y="4752000"/>
              <a:chExt cx="1008352" cy="1080000"/>
            </a:xfrm>
          </p:grpSpPr>
          <p:sp>
            <p:nvSpPr>
              <p:cNvPr id="105" name="Rectangle 251">
                <a:extLst>
                  <a:ext uri="{FF2B5EF4-FFF2-40B4-BE49-F238E27FC236}">
                    <a16:creationId xmlns:a16="http://schemas.microsoft.com/office/drawing/2014/main" id="{168E5EEC-4D0D-4E8B-9E73-96877E0A434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6804288" y="4754584"/>
                <a:ext cx="1008000" cy="54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t" anchorCtr="0"/>
              <a:lstStyle/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001#  000#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   …</a:t>
                </a:r>
              </a:p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111#  110#</a:t>
                </a:r>
              </a:p>
            </p:txBody>
          </p:sp>
          <p:sp>
            <p:nvSpPr>
              <p:cNvPr id="106" name="Line 252">
                <a:extLst>
                  <a:ext uri="{FF2B5EF4-FFF2-40B4-BE49-F238E27FC236}">
                    <a16:creationId xmlns:a16="http://schemas.microsoft.com/office/drawing/2014/main" id="{899EBD05-C5C0-4FA5-AE7E-8435199849C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804288" y="4934584"/>
                <a:ext cx="10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52">
                <a:extLst>
                  <a:ext uri="{FF2B5EF4-FFF2-40B4-BE49-F238E27FC236}">
                    <a16:creationId xmlns:a16="http://schemas.microsoft.com/office/drawing/2014/main" id="{5F96004A-5DFE-43DD-8EE5-4BC39637A655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6804352" y="5114584"/>
                <a:ext cx="10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52">
                <a:extLst>
                  <a:ext uri="{FF2B5EF4-FFF2-40B4-BE49-F238E27FC236}">
                    <a16:creationId xmlns:a16="http://schemas.microsoft.com/office/drawing/2014/main" id="{C4521BE3-66CD-47AB-98E5-0EFCB0745C9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 flipH="1">
                <a:off x="7308288" y="4752000"/>
                <a:ext cx="6" cy="540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Rectangle 251">
                <a:extLst>
                  <a:ext uri="{FF2B5EF4-FFF2-40B4-BE49-F238E27FC236}">
                    <a16:creationId xmlns:a16="http://schemas.microsoft.com/office/drawing/2014/main" id="{10024AC5-0113-4AE9-B969-8016A1D06EC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6804288" y="5292000"/>
                <a:ext cx="1008000" cy="54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 anchorCtr="0"/>
              <a:lstStyle/>
              <a:p>
                <a:pPr algn="ctr">
                  <a:lnSpc>
                    <a:spcPct val="85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可 用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0" name="Line 252">
                <a:extLst>
                  <a:ext uri="{FF2B5EF4-FFF2-40B4-BE49-F238E27FC236}">
                    <a16:creationId xmlns:a16="http://schemas.microsoft.com/office/drawing/2014/main" id="{BF0C3263-7D5B-4FE8-AFB1-48D355A6D6D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6804288" y="5472000"/>
                <a:ext cx="100800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252">
                <a:extLst>
                  <a:ext uri="{FF2B5EF4-FFF2-40B4-BE49-F238E27FC236}">
                    <a16:creationId xmlns:a16="http://schemas.microsoft.com/office/drawing/2014/main" id="{BD9A65CF-C316-48F4-8971-7D43061A679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6804000" y="5652000"/>
                <a:ext cx="100800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E65AAFE-FFE2-4C65-A446-EE7A39975776}"/>
                </a:ext>
              </a:extLst>
            </p:cNvPr>
            <p:cNvGrpSpPr/>
            <p:nvPr/>
          </p:nvGrpSpPr>
          <p:grpSpPr>
            <a:xfrm>
              <a:off x="6588000" y="2925064"/>
              <a:ext cx="1008288" cy="1080000"/>
              <a:chOff x="5364000" y="4752000"/>
              <a:chExt cx="1008288" cy="1080000"/>
            </a:xfrm>
          </p:grpSpPr>
          <p:sp>
            <p:nvSpPr>
              <p:cNvPr id="89" name="Rectangle 251">
                <a:extLst>
                  <a:ext uri="{FF2B5EF4-FFF2-40B4-BE49-F238E27FC236}">
                    <a16:creationId xmlns:a16="http://schemas.microsoft.com/office/drawing/2014/main" id="{8DEE024B-CE93-4D7E-BB11-343D6C96ACB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868288" y="4752000"/>
                <a:ext cx="504000" cy="10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t" anchorCtr="0"/>
              <a:lstStyle/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000#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011#</a:t>
                </a:r>
              </a:p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100#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5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111#</a:t>
                </a:r>
              </a:p>
            </p:txBody>
          </p:sp>
          <p:sp>
            <p:nvSpPr>
              <p:cNvPr id="90" name="Line 252">
                <a:extLst>
                  <a:ext uri="{FF2B5EF4-FFF2-40B4-BE49-F238E27FC236}">
                    <a16:creationId xmlns:a16="http://schemas.microsoft.com/office/drawing/2014/main" id="{9F95AF49-63DA-4A98-A3BF-D3C6E981E6A9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5868000" y="4932000"/>
                <a:ext cx="50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52">
                <a:extLst>
                  <a:ext uri="{FF2B5EF4-FFF2-40B4-BE49-F238E27FC236}">
                    <a16:creationId xmlns:a16="http://schemas.microsoft.com/office/drawing/2014/main" id="{8F9E8963-99EC-4681-96CA-A4EBC548CD68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868000" y="5112000"/>
                <a:ext cx="50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52">
                <a:extLst>
                  <a:ext uri="{FF2B5EF4-FFF2-40B4-BE49-F238E27FC236}">
                    <a16:creationId xmlns:a16="http://schemas.microsoft.com/office/drawing/2014/main" id="{90A5A6F6-5F40-4189-BF83-728054293538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868000" y="5292000"/>
                <a:ext cx="50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52">
                <a:extLst>
                  <a:ext uri="{FF2B5EF4-FFF2-40B4-BE49-F238E27FC236}">
                    <a16:creationId xmlns:a16="http://schemas.microsoft.com/office/drawing/2014/main" id="{9796B0B7-497F-496C-A28B-D030BF6AE6B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868144" y="5472000"/>
                <a:ext cx="50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52">
                <a:extLst>
                  <a:ext uri="{FF2B5EF4-FFF2-40B4-BE49-F238E27FC236}">
                    <a16:creationId xmlns:a16="http://schemas.microsoft.com/office/drawing/2014/main" id="{B6BC1A60-AEAA-440A-8A34-3050894AF84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5868000" y="5652000"/>
                <a:ext cx="504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Rectangle 251">
                <a:extLst>
                  <a:ext uri="{FF2B5EF4-FFF2-40B4-BE49-F238E27FC236}">
                    <a16:creationId xmlns:a16="http://schemas.microsoft.com/office/drawing/2014/main" id="{BF084E9E-CE7A-4D32-903B-B8ED4A587D3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364288" y="4752000"/>
                <a:ext cx="504000" cy="10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 anchorCtr="0"/>
              <a:lstStyle/>
              <a:p>
                <a:pPr algn="ctr">
                  <a:lnSpc>
                    <a:spcPct val="85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空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5000"/>
                  </a:lnSpc>
                </a:pP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5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闲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9" name="Line 252">
                <a:extLst>
                  <a:ext uri="{FF2B5EF4-FFF2-40B4-BE49-F238E27FC236}">
                    <a16:creationId xmlns:a16="http://schemas.microsoft.com/office/drawing/2014/main" id="{44DD93D8-4E1D-4902-9EFD-5C33BD73A961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364000" y="4932000"/>
                <a:ext cx="504000" cy="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52">
                <a:extLst>
                  <a:ext uri="{FF2B5EF4-FFF2-40B4-BE49-F238E27FC236}">
                    <a16:creationId xmlns:a16="http://schemas.microsoft.com/office/drawing/2014/main" id="{65906C09-3208-4FEB-A913-E1E50F66296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5364000" y="5112000"/>
                <a:ext cx="504000" cy="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52">
                <a:extLst>
                  <a:ext uri="{FF2B5EF4-FFF2-40B4-BE49-F238E27FC236}">
                    <a16:creationId xmlns:a16="http://schemas.microsoft.com/office/drawing/2014/main" id="{2F7D88FE-24EF-41D0-BF49-1A82F77C6632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364000" y="5292000"/>
                <a:ext cx="504000" cy="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52">
                <a:extLst>
                  <a:ext uri="{FF2B5EF4-FFF2-40B4-BE49-F238E27FC236}">
                    <a16:creationId xmlns:a16="http://schemas.microsoft.com/office/drawing/2014/main" id="{F6DACC0C-1BCE-462E-8CDF-1016BC299B6F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5364144" y="5472000"/>
                <a:ext cx="504000" cy="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2">
                <a:extLst>
                  <a:ext uri="{FF2B5EF4-FFF2-40B4-BE49-F238E27FC236}">
                    <a16:creationId xmlns:a16="http://schemas.microsoft.com/office/drawing/2014/main" id="{1B7D634E-EB6F-4DA3-AEB3-C87E726482D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5364000" y="5652000"/>
                <a:ext cx="504000" cy="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" name="Text Box 261">
              <a:extLst>
                <a:ext uri="{FF2B5EF4-FFF2-40B4-BE49-F238E27FC236}">
                  <a16:creationId xmlns:a16="http://schemas.microsoft.com/office/drawing/2014/main" id="{D782B529-CE7A-4160-9736-6B7A543CBA68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32208" y="2673064"/>
              <a:ext cx="1512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用作</a:t>
              </a:r>
              <a:r>
                <a:rPr lang="en-US" altLang="zh-CN" sz="1600" b="1" u="none" dirty="0">
                  <a:highlight>
                    <a:srgbClr val="FFFF00"/>
                  </a:highlight>
                  <a:latin typeface="宋体" panose="02010600030101010101" pitchFamily="2" charset="-122"/>
                </a:rPr>
                <a:t>32</a:t>
              </a:r>
              <a:r>
                <a:rPr lang="zh-CN" altLang="en-US" sz="1600" b="1" u="none" dirty="0">
                  <a:highlight>
                    <a:srgbClr val="FFFF00"/>
                  </a:highlight>
                </a:rPr>
                <a:t>位</a:t>
              </a:r>
              <a:r>
                <a:rPr lang="zh-CN" altLang="en-US" sz="1600" b="1" dirty="0">
                  <a:highlight>
                    <a:srgbClr val="FFFF00"/>
                  </a:highlight>
                </a:rPr>
                <a:t>空间</a:t>
              </a:r>
              <a:r>
                <a:rPr lang="zh-CN" altLang="en-US" sz="1600" b="1" dirty="0"/>
                <a:t>时</a:t>
              </a:r>
              <a:endParaRPr lang="en-US" altLang="zh-CN" sz="1600" b="1" u="none" baseline="-20000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E3782AA-3F93-4E82-B4CC-EEEE8621BDE5}"/>
              </a:ext>
            </a:extLst>
          </p:cNvPr>
          <p:cNvGrpSpPr/>
          <p:nvPr/>
        </p:nvGrpSpPr>
        <p:grpSpPr>
          <a:xfrm>
            <a:off x="5976000" y="2062800"/>
            <a:ext cx="1980328" cy="576000"/>
            <a:chOff x="5976000" y="2062800"/>
            <a:chExt cx="1980328" cy="576000"/>
          </a:xfrm>
        </p:grpSpPr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22C2777-D5B6-4BC6-86A5-906B661CAA67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>
            <a:xfrm flipH="1">
              <a:off x="7524328" y="2062800"/>
              <a:ext cx="432000" cy="5760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585DEF9-A39D-44E3-9D8B-1D38D0BB8C25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>
            <a:xfrm flipH="1">
              <a:off x="5976000" y="2062800"/>
              <a:ext cx="1944000" cy="5760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AutoShape 62">
            <a:hlinkClick r:id="rId47" action="ppaction://hlinksldjump"/>
            <a:extLst>
              <a:ext uri="{FF2B5EF4-FFF2-40B4-BE49-F238E27FC236}">
                <a16:creationId xmlns:a16="http://schemas.microsoft.com/office/drawing/2014/main" id="{225FF73D-A0E9-4584-ABBD-50CC38087CB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92" name="Text Box 4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732520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中的存放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软件需求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长度，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单元长度＝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最短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数据长度</a:t>
            </a:r>
            <a:endParaRPr 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190590" name="Text Box 126"/>
          <p:cNvSpPr txBox="1">
            <a:spLocks noChangeArrowheads="1"/>
          </p:cNvSpPr>
          <p:nvPr/>
        </p:nvSpPr>
        <p:spPr bwMode="auto">
          <a:xfrm>
            <a:off x="179705" y="1268760"/>
            <a:ext cx="4523105" cy="390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存放方式：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长度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地址的表示：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数据长度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存放方式的属性：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端序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对齐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3" name="Text Box 205"/>
          <p:cNvSpPr txBox="1">
            <a:spLocks noChangeArrowheads="1"/>
          </p:cNvSpPr>
          <p:nvPr/>
        </p:nvSpPr>
        <p:spPr bwMode="auto">
          <a:xfrm>
            <a:off x="1619885" y="1268760"/>
            <a:ext cx="7521411" cy="39198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占用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连续的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单元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←便于访问实现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指明</a:t>
            </a:r>
            <a:r>
              <a:rPr lang="en-US" sz="1800" b="1" spc="-10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800" b="1" spc="-100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存放</a:t>
            </a:r>
            <a:r>
              <a:rPr lang="en-US" sz="1800" b="1" spc="-100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spc="-1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单元地址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(N)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有端序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latin typeface="+mn-lt"/>
                <a:sym typeface="+mn-ea"/>
              </a:rPr>
              <a:t>Endian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、对齐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latin typeface="+mn-lt"/>
                <a:sym typeface="+mn-ea"/>
              </a:rPr>
              <a:t>Alignment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存放时的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字节顺序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中内容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，有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大端、小端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任选一种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spc="-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spc="-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存放时的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起始位置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的取值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ym typeface="+mn-ea"/>
              </a:rPr>
              <a:t>有</a:t>
            </a:r>
            <a:r>
              <a:rPr lang="zh-CN" altLang="en-US" sz="2200" b="1" u="sng" dirty="0">
                <a:sym typeface="+mn-ea"/>
              </a:rPr>
              <a:t>不对齐、对齐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目前均对齐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  <a:endParaRPr lang="zh-CN" altLang="en-US" sz="2200" b="1" dirty="0">
              <a:latin typeface="+mn-ea"/>
              <a:ea typeface="+mn-ea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24690" y="1340768"/>
            <a:ext cx="1367790" cy="1007110"/>
            <a:chOff x="5329" y="6463"/>
            <a:chExt cx="2154" cy="1586"/>
          </a:xfrm>
        </p:grpSpPr>
        <p:sp>
          <p:nvSpPr>
            <p:cNvPr id="19" name="Text Box 174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5896" y="6576"/>
              <a:ext cx="1020" cy="136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AutoShape 179"/>
            <p:cNvSpPr/>
            <p:nvPr>
              <p:custDataLst>
                <p:tags r:id="rId58"/>
              </p:custDataLst>
            </p:nvPr>
          </p:nvSpPr>
          <p:spPr bwMode="auto">
            <a:xfrm>
              <a:off x="6945" y="6576"/>
              <a:ext cx="142" cy="1361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80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7143" y="6576"/>
              <a:ext cx="340" cy="136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数据长度</a:t>
              </a:r>
            </a:p>
          </p:txBody>
        </p:sp>
        <p:cxnSp>
          <p:nvCxnSpPr>
            <p:cNvPr id="54" name="直接连接符 53"/>
            <p:cNvCxnSpPr/>
            <p:nvPr>
              <p:custDataLst>
                <p:tags r:id="rId60"/>
              </p:custDataLst>
            </p:nvPr>
          </p:nvCxnSpPr>
          <p:spPr bwMode="auto">
            <a:xfrm flipH="1">
              <a:off x="5896" y="6463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直接连接符 2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6917" y="6463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直接连接符 3"/>
            <p:cNvCxnSpPr/>
            <p:nvPr>
              <p:custDataLst>
                <p:tags r:id="rId62"/>
              </p:custDataLst>
            </p:nvPr>
          </p:nvCxnSpPr>
          <p:spPr bwMode="auto">
            <a:xfrm>
              <a:off x="5896" y="691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63"/>
              </p:custDataLst>
            </p:nvPr>
          </p:nvCxnSpPr>
          <p:spPr bwMode="auto">
            <a:xfrm>
              <a:off x="5896" y="725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64"/>
              </p:custDataLst>
            </p:nvPr>
          </p:nvCxnSpPr>
          <p:spPr bwMode="auto">
            <a:xfrm>
              <a:off x="5896" y="759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 Box 174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329" y="6576"/>
              <a:ext cx="567" cy="136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N</a:t>
              </a:r>
              <a:endParaRPr lang="en-US" altLang="zh-CN" sz="1600" b="1" baseline="-18000" dirty="0">
                <a:solidFill>
                  <a:srgbClr val="C00000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N+3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0639F13-394F-43B8-8766-041C7028DB27}"/>
              </a:ext>
            </a:extLst>
          </p:cNvPr>
          <p:cNvGrpSpPr/>
          <p:nvPr/>
        </p:nvGrpSpPr>
        <p:grpSpPr>
          <a:xfrm>
            <a:off x="1512001" y="3538800"/>
            <a:ext cx="1764091" cy="1151719"/>
            <a:chOff x="1512001" y="3384198"/>
            <a:chExt cx="1764091" cy="1151719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2D8F141B-E1D2-4488-82C6-C4EF1519B475}"/>
                </a:ext>
              </a:extLst>
            </p:cNvPr>
            <p:cNvGrpSpPr/>
            <p:nvPr/>
          </p:nvGrpSpPr>
          <p:grpSpPr>
            <a:xfrm>
              <a:off x="1512001" y="3384198"/>
              <a:ext cx="1008383" cy="899868"/>
              <a:chOff x="1512001" y="3384198"/>
              <a:chExt cx="1008383" cy="899868"/>
            </a:xfrm>
          </p:grpSpPr>
          <p:sp>
            <p:nvSpPr>
              <p:cNvPr id="86" name="Text Box 174">
                <a:extLst>
                  <a:ext uri="{FF2B5EF4-FFF2-40B4-BE49-F238E27FC236}">
                    <a16:creationId xmlns:a16="http://schemas.microsoft.com/office/drawing/2014/main" id="{421F35E4-3F46-4C7D-A604-342FDE7D8E8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1872047" y="3419761"/>
                <a:ext cx="647702" cy="828107"/>
              </a:xfrm>
              <a:prstGeom prst="rect">
                <a:avLst/>
              </a:prstGeom>
              <a:solidFill>
                <a:srgbClr val="99CCFF">
                  <a:alpha val="60001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1080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highlight>
                      <a:srgbClr val="FFFF00"/>
                    </a:highlight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3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709B9CA6-FF39-4BA3-8C70-90B72320C4AB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H="1">
                <a:off x="1872047" y="3384198"/>
                <a:ext cx="0" cy="89986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3106AD9C-D68A-4216-8D01-51001B1AB82F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H="1">
                <a:off x="2520384" y="3384198"/>
                <a:ext cx="0" cy="89986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9B65151A-8E85-4326-97A9-A21446BC02A1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1872047" y="3625518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F54194C0-E437-454F-BD85-9A6DAF4ED53C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1872047" y="3833814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DC624DC6-39E7-44F8-83A6-E569B775E4B4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>
                <a:off x="1872047" y="4042746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2" name="Text Box 174">
                <a:extLst>
                  <a:ext uri="{FF2B5EF4-FFF2-40B4-BE49-F238E27FC236}">
                    <a16:creationId xmlns:a16="http://schemas.microsoft.com/office/drawing/2014/main" id="{6D1398A9-9D1D-4336-81C2-AB895956EB3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1512001" y="3419761"/>
                <a:ext cx="360046" cy="828107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  <p:txBody>
              <a:bodyPr lIns="18000" tIns="10795" rIns="18000" bIns="10800"/>
              <a:lstStyle/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N</a:t>
                </a:r>
                <a:endParaRPr lang="en-US" altLang="zh-CN" sz="1600" b="1" baseline="-18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N+1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N+2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N+3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84" name="Text Box 133">
              <a:extLst>
                <a:ext uri="{FF2B5EF4-FFF2-40B4-BE49-F238E27FC236}">
                  <a16:creationId xmlns:a16="http://schemas.microsoft.com/office/drawing/2014/main" id="{F1822583-83B4-4F4F-B220-16ED79A14CF5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548000" y="4320000"/>
              <a:ext cx="1727841" cy="21591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大端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MSB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2C5A6FAA-ADBA-4CEB-94FF-4F207C7B1BF9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2556000" y="3527720"/>
              <a:ext cx="72009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93" name="Text Box 145">
            <a:extLst>
              <a:ext uri="{FF2B5EF4-FFF2-40B4-BE49-F238E27FC236}">
                <a16:creationId xmlns:a16="http://schemas.microsoft.com/office/drawing/2014/main" id="{2A063105-29DA-403A-A928-83A5979EC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3717032"/>
            <a:ext cx="2448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195" tIns="10800" rIns="18000" bIns="10800" anchor="ctr"/>
          <a:lstStyle/>
          <a:p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MSB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Most Significant B</a:t>
            </a:r>
            <a:r>
              <a:rPr lang="en-US" altLang="zh-CN" sz="1600" dirty="0">
                <a:latin typeface="+mn-lt"/>
              </a:rPr>
              <a:t>yte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LSB—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Least Significant By</a:t>
            </a:r>
            <a:r>
              <a:rPr lang="en-US" altLang="zh-CN" sz="1600" dirty="0">
                <a:latin typeface="+mn-lt"/>
              </a:rPr>
              <a:t>te</a:t>
            </a:r>
            <a:endParaRPr lang="en-US" altLang="zh-CN" sz="1600" b="1" dirty="0">
              <a:latin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C64CDA3-ECF5-4886-8989-3FC6486673EE}"/>
              </a:ext>
            </a:extLst>
          </p:cNvPr>
          <p:cNvGrpSpPr/>
          <p:nvPr/>
        </p:nvGrpSpPr>
        <p:grpSpPr>
          <a:xfrm>
            <a:off x="2771800" y="3571200"/>
            <a:ext cx="1804035" cy="827816"/>
            <a:chOff x="2771800" y="3536992"/>
            <a:chExt cx="1804035" cy="827816"/>
          </a:xfrm>
        </p:grpSpPr>
        <p:sp>
          <p:nvSpPr>
            <p:cNvPr id="80" name="Text Box 133">
              <a:extLst>
                <a:ext uri="{FF2B5EF4-FFF2-40B4-BE49-F238E27FC236}">
                  <a16:creationId xmlns:a16="http://schemas.microsoft.com/office/drawing/2014/main" id="{31933CB9-E7E0-4D00-B332-47B8D8DDACC9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276000" y="3536992"/>
              <a:ext cx="935993" cy="21591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数据地址</a:t>
              </a:r>
            </a:p>
          </p:txBody>
        </p:sp>
        <p:sp>
          <p:nvSpPr>
            <p:cNvPr id="108" name="Text Box 142">
              <a:extLst>
                <a:ext uri="{FF2B5EF4-FFF2-40B4-BE49-F238E27FC236}">
                  <a16:creationId xmlns:a16="http://schemas.microsoft.com/office/drawing/2014/main" id="{2EC3B760-BD4D-4BF6-B257-B4A2B440EFEF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771800" y="3933008"/>
              <a:ext cx="647700" cy="25209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数据：</a:t>
              </a:r>
            </a:p>
          </p:txBody>
        </p:sp>
        <p:sp>
          <p:nvSpPr>
            <p:cNvPr id="109" name="Text Box 144">
              <a:extLst>
                <a:ext uri="{FF2B5EF4-FFF2-40B4-BE49-F238E27FC236}">
                  <a16:creationId xmlns:a16="http://schemas.microsoft.com/office/drawing/2014/main" id="{44AEA05E-23BD-4054-A0FB-37AFC08C64BD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419500" y="3933008"/>
              <a:ext cx="1151890" cy="252095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61A327CF-D249-47D4-A749-9458F40F1D18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3707790" y="3933008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D92774CF-A390-4F71-9958-F8C1EB92CC31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3995445" y="3933008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2F30C66-1C9B-4532-9B39-AC2E82F38F19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4283735" y="3933008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3" name="Text Box 142">
              <a:extLst>
                <a:ext uri="{FF2B5EF4-FFF2-40B4-BE49-F238E27FC236}">
                  <a16:creationId xmlns:a16="http://schemas.microsoft.com/office/drawing/2014/main" id="{D1EDF45C-7C8B-4EA1-B001-386CE91C1989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423945" y="4185103"/>
              <a:ext cx="115189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dist"/>
              <a:r>
                <a:rPr lang="en-US" altLang="zh-CN" sz="14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MSB      LSB</a:t>
              </a:r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C0142B49-B996-415E-8381-00523B12FB59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>
              <a:off x="3779545" y="4293053"/>
              <a:ext cx="46799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5FC478C6-645E-4C36-9C20-1D1BC15E9724}"/>
              </a:ext>
            </a:extLst>
          </p:cNvPr>
          <p:cNvGrpSpPr/>
          <p:nvPr/>
        </p:nvGrpSpPr>
        <p:grpSpPr>
          <a:xfrm>
            <a:off x="4212259" y="3538800"/>
            <a:ext cx="2519981" cy="1151719"/>
            <a:chOff x="755860" y="3384198"/>
            <a:chExt cx="2519981" cy="115171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47BDE390-2903-49A3-A5D1-267A56BC4860}"/>
                </a:ext>
              </a:extLst>
            </p:cNvPr>
            <p:cNvGrpSpPr/>
            <p:nvPr/>
          </p:nvGrpSpPr>
          <p:grpSpPr>
            <a:xfrm>
              <a:off x="1512001" y="3384198"/>
              <a:ext cx="1008383" cy="899868"/>
              <a:chOff x="1512001" y="3384198"/>
              <a:chExt cx="1008383" cy="899868"/>
            </a:xfrm>
          </p:grpSpPr>
          <p:sp>
            <p:nvSpPr>
              <p:cNvPr id="119" name="Text Box 174">
                <a:extLst>
                  <a:ext uri="{FF2B5EF4-FFF2-40B4-BE49-F238E27FC236}">
                    <a16:creationId xmlns:a16="http://schemas.microsoft.com/office/drawing/2014/main" id="{799D14CC-BF21-4166-8984-349321AFEE0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872047" y="3419761"/>
                <a:ext cx="647702" cy="828107"/>
              </a:xfrm>
              <a:prstGeom prst="rect">
                <a:avLst/>
              </a:prstGeom>
              <a:solidFill>
                <a:srgbClr val="99CCFF">
                  <a:alpha val="60001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1080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highlight>
                      <a:srgbClr val="FFFF00"/>
                    </a:highlight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18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EAC74938-7FCF-46A1-99B4-DA40C652AED9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H="1">
                <a:off x="1872047" y="3384198"/>
                <a:ext cx="0" cy="89986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CFD7D9BF-E6EE-4C1F-88B6-F16C433A540B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H="1">
                <a:off x="2520384" y="3384198"/>
                <a:ext cx="0" cy="89986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5FF838E5-01F1-4106-AB05-75D9DB629474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>
                <a:off x="1872047" y="3625518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2D56276C-56B5-4139-B89C-8F152A7E9C4B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1872047" y="3833814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76DE0CD0-74E6-4527-A1F8-5E5F2ECB19EA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1872047" y="4042746"/>
                <a:ext cx="64770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5" name="Text Box 174">
                <a:extLst>
                  <a:ext uri="{FF2B5EF4-FFF2-40B4-BE49-F238E27FC236}">
                    <a16:creationId xmlns:a16="http://schemas.microsoft.com/office/drawing/2014/main" id="{6C675163-A80E-4CCA-B000-E58F8DFD4A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1512001" y="3419761"/>
                <a:ext cx="360046" cy="828107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  <p:txBody>
              <a:bodyPr lIns="18000" tIns="10795" rIns="18000" bIns="10800"/>
              <a:lstStyle/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N</a:t>
                </a:r>
                <a:endParaRPr lang="en-US" altLang="zh-CN" sz="1600" b="1" baseline="-18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N+1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N+2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N+3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17" name="Text Box 133">
              <a:extLst>
                <a:ext uri="{FF2B5EF4-FFF2-40B4-BE49-F238E27FC236}">
                  <a16:creationId xmlns:a16="http://schemas.microsoft.com/office/drawing/2014/main" id="{1F6D888A-2088-457C-8DD2-3C74548E61B6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548000" y="4320000"/>
              <a:ext cx="1727841" cy="21591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小端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LSB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5EC958D5-6000-44B1-ACD8-9B6E099BAA58}"/>
                </a:ext>
              </a:extLst>
            </p:cNvPr>
            <p:cNvCxnSpPr>
              <a:cxnSpLocks/>
            </p:cNvCxnSpPr>
            <p:nvPr>
              <p:custDataLst>
                <p:tags r:id="rId32"/>
              </p:custDataLst>
            </p:nvPr>
          </p:nvCxnSpPr>
          <p:spPr bwMode="auto">
            <a:xfrm>
              <a:off x="755860" y="3527720"/>
              <a:ext cx="7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6130E38C-B41C-4B80-B82D-634ECAAA553B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2267744" y="1702800"/>
            <a:ext cx="540488" cy="97200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F120AC3A-5F3C-4E87-8050-B70D49E85A29}"/>
              </a:ext>
            </a:extLst>
          </p:cNvPr>
          <p:cNvGrpSpPr/>
          <p:nvPr/>
        </p:nvGrpSpPr>
        <p:grpSpPr>
          <a:xfrm>
            <a:off x="971583" y="5157192"/>
            <a:ext cx="3168369" cy="1116171"/>
            <a:chOff x="-57" y="7143"/>
            <a:chExt cx="4990" cy="1758"/>
          </a:xfrm>
        </p:grpSpPr>
        <p:sp>
          <p:nvSpPr>
            <p:cNvPr id="128" name="Text Box 6">
              <a:extLst>
                <a:ext uri="{FF2B5EF4-FFF2-40B4-BE49-F238E27FC236}">
                  <a16:creationId xmlns:a16="http://schemas.microsoft.com/office/drawing/2014/main" id="{BC332807-FF0D-4AA4-9D92-6FFC0C2AB324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01" y="7143"/>
              <a:ext cx="24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多体交叉存储器</a:t>
              </a:r>
            </a:p>
          </p:txBody>
        </p:sp>
        <p:sp>
          <p:nvSpPr>
            <p:cNvPr id="129" name="Text Box 7">
              <a:extLst>
                <a:ext uri="{FF2B5EF4-FFF2-40B4-BE49-F238E27FC236}">
                  <a16:creationId xmlns:a16="http://schemas.microsoft.com/office/drawing/2014/main" id="{42AB4973-3559-4D81-87CC-64A4A1F2458A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-57" y="7200"/>
              <a:ext cx="907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0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7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4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8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12</a:t>
              </a:r>
            </a:p>
          </p:txBody>
        </p:sp>
        <p:sp>
          <p:nvSpPr>
            <p:cNvPr id="130" name="Text Box 8">
              <a:extLst>
                <a:ext uri="{FF2B5EF4-FFF2-40B4-BE49-F238E27FC236}">
                  <a16:creationId xmlns:a16="http://schemas.microsoft.com/office/drawing/2014/main" id="{E29AB728-7EEE-4126-952E-12A37F8BC37A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50" y="7540"/>
              <a:ext cx="102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C(N=3)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9">
              <a:extLst>
                <a:ext uri="{FF2B5EF4-FFF2-40B4-BE49-F238E27FC236}">
                  <a16:creationId xmlns:a16="http://schemas.microsoft.com/office/drawing/2014/main" id="{218E4826-AF13-4F21-953B-2EEE86B01D66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912" y="7540"/>
              <a:ext cx="102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A(N=0)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10">
              <a:extLst>
                <a:ext uri="{FF2B5EF4-FFF2-40B4-BE49-F238E27FC236}">
                  <a16:creationId xmlns:a16="http://schemas.microsoft.com/office/drawing/2014/main" id="{CDD73C40-E602-4F5B-80D9-A458831A70E7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871" y="7540"/>
              <a:ext cx="204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B(N=1)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1">
              <a:extLst>
                <a:ext uri="{FF2B5EF4-FFF2-40B4-BE49-F238E27FC236}">
                  <a16:creationId xmlns:a16="http://schemas.microsoft.com/office/drawing/2014/main" id="{B6B8EEA4-73CC-45B2-B0A6-5D916AD994B9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871" y="7880"/>
              <a:ext cx="3062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2">
              <a:extLst>
                <a:ext uri="{FF2B5EF4-FFF2-40B4-BE49-F238E27FC236}">
                  <a16:creationId xmlns:a16="http://schemas.microsoft.com/office/drawing/2014/main" id="{3AE64E27-3EA7-4A57-B114-14336E70924E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50" y="7880"/>
              <a:ext cx="102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D(N=7)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3">
              <a:extLst>
                <a:ext uri="{FF2B5EF4-FFF2-40B4-BE49-F238E27FC236}">
                  <a16:creationId xmlns:a16="http://schemas.microsoft.com/office/drawing/2014/main" id="{C93159FC-5CF1-4368-B9DB-05FC26A0A610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12" y="8220"/>
              <a:ext cx="102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4">
              <a:extLst>
                <a:ext uri="{FF2B5EF4-FFF2-40B4-BE49-F238E27FC236}">
                  <a16:creationId xmlns:a16="http://schemas.microsoft.com/office/drawing/2014/main" id="{25E2EAA8-8D16-406B-8CCC-0908D3ABC578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50" y="8220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 sz="1600" b="1" baseline="-20000">
                  <a:latin typeface="宋体" panose="02010600030101010101" pitchFamily="2" charset="-122"/>
                </a:defRPr>
              </a:lvl1pPr>
            </a:lstStyle>
            <a:p>
              <a:endParaRPr lang="en-US" altLang="zh-CN" dirty="0"/>
            </a:p>
          </p:txBody>
        </p:sp>
        <p:sp>
          <p:nvSpPr>
            <p:cNvPr id="137" name="Text Box 15" descr="宽上对角线">
              <a:extLst>
                <a:ext uri="{FF2B5EF4-FFF2-40B4-BE49-F238E27FC236}">
                  <a16:creationId xmlns:a16="http://schemas.microsoft.com/office/drawing/2014/main" id="{7AA232AF-3ADA-4960-B630-02C5DE57B93B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50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38" name="Text Box 16" descr="宽上对角线">
              <a:extLst>
                <a:ext uri="{FF2B5EF4-FFF2-40B4-BE49-F238E27FC236}">
                  <a16:creationId xmlns:a16="http://schemas.microsoft.com/office/drawing/2014/main" id="{3F1865BE-A23B-4B09-829F-19070390754F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891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39" name="Text Box 17" descr="宽上对角线">
              <a:extLst>
                <a:ext uri="{FF2B5EF4-FFF2-40B4-BE49-F238E27FC236}">
                  <a16:creationId xmlns:a16="http://schemas.microsoft.com/office/drawing/2014/main" id="{D1DCCAFD-407D-423B-A0E6-8EB739971770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871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40" name="Text Box 18" descr="宽上对角线">
              <a:extLst>
                <a:ext uri="{FF2B5EF4-FFF2-40B4-BE49-F238E27FC236}">
                  <a16:creationId xmlns:a16="http://schemas.microsoft.com/office/drawing/2014/main" id="{FC918C60-C299-4444-A57D-0650E4AC46DE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912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41" name="Text Box 19">
              <a:extLst>
                <a:ext uri="{FF2B5EF4-FFF2-40B4-BE49-F238E27FC236}">
                  <a16:creationId xmlns:a16="http://schemas.microsoft.com/office/drawing/2014/main" id="{CA5A8166-DC3F-46D2-8CD8-4DFC8C59FAD2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871" y="8220"/>
              <a:ext cx="204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E(N=10)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C556C29D-C6A3-4DD8-8CBB-1AC8021D4F32}"/>
              </a:ext>
            </a:extLst>
          </p:cNvPr>
          <p:cNvGrpSpPr/>
          <p:nvPr/>
        </p:nvGrpSpPr>
        <p:grpSpPr>
          <a:xfrm>
            <a:off x="4283951" y="5166373"/>
            <a:ext cx="3168369" cy="1117441"/>
            <a:chOff x="-57" y="7143"/>
            <a:chExt cx="4990" cy="1760"/>
          </a:xfrm>
        </p:grpSpPr>
        <p:sp>
          <p:nvSpPr>
            <p:cNvPr id="143" name="Text Box 6">
              <a:extLst>
                <a:ext uri="{FF2B5EF4-FFF2-40B4-BE49-F238E27FC236}">
                  <a16:creationId xmlns:a16="http://schemas.microsoft.com/office/drawing/2014/main" id="{77E4791F-C801-46C4-AB20-AE0D5B201001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871" y="7143"/>
              <a:ext cx="24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多体交叉存储器</a:t>
              </a:r>
            </a:p>
          </p:txBody>
        </p:sp>
        <p:sp>
          <p:nvSpPr>
            <p:cNvPr id="144" name="Text Box 7">
              <a:extLst>
                <a:ext uri="{FF2B5EF4-FFF2-40B4-BE49-F238E27FC236}">
                  <a16:creationId xmlns:a16="http://schemas.microsoft.com/office/drawing/2014/main" id="{3E6DDE66-DF7A-405E-AD85-62D20E1C8A93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-57" y="7200"/>
              <a:ext cx="907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0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7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4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8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12</a:t>
              </a:r>
            </a:p>
          </p:txBody>
        </p:sp>
        <p:sp>
          <p:nvSpPr>
            <p:cNvPr id="145" name="Text Box 9">
              <a:extLst>
                <a:ext uri="{FF2B5EF4-FFF2-40B4-BE49-F238E27FC236}">
                  <a16:creationId xmlns:a16="http://schemas.microsoft.com/office/drawing/2014/main" id="{DE5E1703-1B19-44FD-ADC7-7B33EF9074A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912" y="7540"/>
              <a:ext cx="102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A(N=0)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6" name="Text Box 10">
              <a:extLst>
                <a:ext uri="{FF2B5EF4-FFF2-40B4-BE49-F238E27FC236}">
                  <a16:creationId xmlns:a16="http://schemas.microsoft.com/office/drawing/2014/main" id="{21718067-E5E7-4241-95C3-2BD3FE113C26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50" y="7540"/>
              <a:ext cx="204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B(N=2)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11">
              <a:extLst>
                <a:ext uri="{FF2B5EF4-FFF2-40B4-BE49-F238E27FC236}">
                  <a16:creationId xmlns:a16="http://schemas.microsoft.com/office/drawing/2014/main" id="{87EB7542-162D-4BC8-B443-758BEBE84FC9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50" y="7880"/>
              <a:ext cx="4082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C(N=4)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13">
              <a:extLst>
                <a:ext uri="{FF2B5EF4-FFF2-40B4-BE49-F238E27FC236}">
                  <a16:creationId xmlns:a16="http://schemas.microsoft.com/office/drawing/2014/main" id="{CA041637-FD49-4EA6-8E16-63C1BC5911A4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91" y="8220"/>
              <a:ext cx="204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14">
              <a:extLst>
                <a:ext uri="{FF2B5EF4-FFF2-40B4-BE49-F238E27FC236}">
                  <a16:creationId xmlns:a16="http://schemas.microsoft.com/office/drawing/2014/main" id="{3AFC5803-E581-49D1-9664-13F60F254A7D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891" y="8563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 sz="1600" b="1" baseline="-20000">
                  <a:latin typeface="宋体" panose="02010600030101010101" pitchFamily="2" charset="-122"/>
                </a:defRPr>
              </a:lvl1pPr>
            </a:lstStyle>
            <a:p>
              <a:endParaRPr lang="en-US" altLang="zh-CN" dirty="0"/>
            </a:p>
          </p:txBody>
        </p:sp>
        <p:sp>
          <p:nvSpPr>
            <p:cNvPr id="150" name="Text Box 15" descr="宽上对角线">
              <a:extLst>
                <a:ext uri="{FF2B5EF4-FFF2-40B4-BE49-F238E27FC236}">
                  <a16:creationId xmlns:a16="http://schemas.microsoft.com/office/drawing/2014/main" id="{A4897A4B-E85C-4A5B-B7ED-0508F20EF890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50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51" name="Text Box 16" descr="宽上对角线">
              <a:extLst>
                <a:ext uri="{FF2B5EF4-FFF2-40B4-BE49-F238E27FC236}">
                  <a16:creationId xmlns:a16="http://schemas.microsoft.com/office/drawing/2014/main" id="{6421E585-3359-47E9-B7C8-7D2B44149B97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12" y="8563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52" name="Text Box 17" descr="宽上对角线">
              <a:extLst>
                <a:ext uri="{FF2B5EF4-FFF2-40B4-BE49-F238E27FC236}">
                  <a16:creationId xmlns:a16="http://schemas.microsoft.com/office/drawing/2014/main" id="{9461FE43-CDBA-4718-BB14-FCAEB51415DC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71" y="8561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53" name="Text Box 18" descr="宽上对角线">
              <a:extLst>
                <a:ext uri="{FF2B5EF4-FFF2-40B4-BE49-F238E27FC236}">
                  <a16:creationId xmlns:a16="http://schemas.microsoft.com/office/drawing/2014/main" id="{233A17DC-1C13-42D8-9B8D-CDA259560EAE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91" y="7540"/>
              <a:ext cx="1021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54" name="Text Box 19">
              <a:extLst>
                <a:ext uri="{FF2B5EF4-FFF2-40B4-BE49-F238E27FC236}">
                  <a16:creationId xmlns:a16="http://schemas.microsoft.com/office/drawing/2014/main" id="{9A999F55-CE28-42DF-8AB9-D5C37EA82107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50" y="8223"/>
              <a:ext cx="2041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E(N=10)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51D1761-8E46-4692-B797-27010D26E6F8}"/>
              </a:ext>
            </a:extLst>
          </p:cNvPr>
          <p:cNvGrpSpPr/>
          <p:nvPr/>
        </p:nvGrpSpPr>
        <p:grpSpPr>
          <a:xfrm>
            <a:off x="7164288" y="5157192"/>
            <a:ext cx="1785315" cy="1072007"/>
            <a:chOff x="7228789" y="5058793"/>
            <a:chExt cx="1785315" cy="1072007"/>
          </a:xfrm>
        </p:grpSpPr>
        <p:sp>
          <p:nvSpPr>
            <p:cNvPr id="155" name="Text Box 145">
              <a:extLst>
                <a:ext uri="{FF2B5EF4-FFF2-40B4-BE49-F238E27FC236}">
                  <a16:creationId xmlns:a16="http://schemas.microsoft.com/office/drawing/2014/main" id="{9B87CF56-1EDA-4183-992B-30B1F1CC4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2104" y="5302800"/>
              <a:ext cx="1332000" cy="828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36195" tIns="10800" rIns="18000" bIns="10800" anchor="t" anchorCtr="0"/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对齐类型：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边界对齐、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4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字节对齐等</a:t>
              </a:r>
              <a:endParaRPr lang="en-US" altLang="zh-CN" sz="1600" b="1" dirty="0">
                <a:latin typeface="+mn-lt"/>
              </a:endParaRPr>
            </a:p>
          </p:txBody>
        </p: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6C1A01BB-6BCB-4D41-A298-D3B7F79DBB4D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>
            <a:xfrm flipH="1" flipV="1">
              <a:off x="7228789" y="5058793"/>
              <a:ext cx="468000" cy="252000"/>
            </a:xfrm>
            <a:prstGeom prst="straightConnector1">
              <a:avLst/>
            </a:prstGeom>
            <a:ln w="12700">
              <a:solidFill>
                <a:srgbClr val="9900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0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0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0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0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0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238625" name="Text Box 33"/>
          <p:cNvSpPr txBox="1">
            <a:spLocks noChangeArrowheads="1"/>
          </p:cNvSpPr>
          <p:nvPr/>
        </p:nvSpPr>
        <p:spPr bwMode="auto">
          <a:xfrm>
            <a:off x="179512" y="332656"/>
            <a:ext cx="8785100" cy="16500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216400" indent="-4216400" eaLnBrk="1" latinLnBrk="0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边界对齐方式：</a:t>
            </a:r>
            <a:r>
              <a:rPr lang="en-US" altLang="zh-CN" sz="2200" b="1" dirty="0">
                <a:latin typeface="宋体" panose="02010600030101010101" pitchFamily="2" charset="-122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k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</a:rPr>
              <a:t>数据长度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即单元个数</a:t>
            </a:r>
            <a:r>
              <a:rPr lang="en-US" altLang="zh-CN" sz="1800" b="1" dirty="0">
                <a:latin typeface="宋体" panose="02010600030101010101" pitchFamily="2" charset="-122"/>
              </a:rPr>
              <a:t>S)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低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log</a:t>
            </a:r>
            <a:r>
              <a:rPr lang="en-US" altLang="zh-CN" sz="1800" b="1" baseline="-25000" dirty="0">
                <a:highlight>
                  <a:srgbClr val="FFFF00"/>
                </a:highlight>
                <a:latin typeface="宋体" panose="02010600030101010101" pitchFamily="2" charset="-122"/>
              </a:rPr>
              <a:t>2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S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=0</a:t>
            </a:r>
          </a:p>
          <a:p>
            <a:pPr marL="4216400" indent="-4216400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4216400" indent="-4216400" eaLnBrk="1" latinLnBrk="0" hangingPunct="1">
              <a:lnSpc>
                <a:spcPct val="125000"/>
              </a:lnSpc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4216400" indent="-4216400" eaLnBrk="1" latinLnBrk="0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4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字节对齐方式：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56"/>
          <p:cNvSpPr txBox="1">
            <a:spLocks noChangeArrowheads="1"/>
          </p:cNvSpPr>
          <p:nvPr/>
        </p:nvSpPr>
        <p:spPr bwMode="auto">
          <a:xfrm>
            <a:off x="720090" y="3212976"/>
            <a:ext cx="8244205" cy="26917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47065" indent="-64706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计算机的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按</a:t>
            </a:r>
            <a:r>
              <a:rPr lang="zh-CN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字节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编址、数据采用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大</a:t>
            </a:r>
            <a:r>
              <a:rPr lang="zh-CN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端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边界对齐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方式存放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。对于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语言结构数组：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ST{ char 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a;int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b;short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c;} 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[20];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中的起始地址为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200H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，则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[1].b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的地址是多少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解：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ss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存放效果如右图，则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有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sizeof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(ST)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＝常数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ST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各元素都能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边界对齐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故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k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56"/>
          <p:cNvSpPr txBox="1">
            <a:spLocks noChangeArrowheads="1"/>
          </p:cNvSpPr>
          <p:nvPr/>
        </p:nvSpPr>
        <p:spPr bwMode="auto">
          <a:xfrm>
            <a:off x="720000" y="1988840"/>
            <a:ext cx="7236000" cy="1170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40715" indent="-64071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MEM</a:t>
            </a:r>
            <a:r>
              <a:rPr lang="zh-CN" altLang="zh-CN" sz="2000" b="1" dirty="0">
                <a:latin typeface="+mn-ea"/>
                <a:ea typeface="+mn-ea"/>
              </a:rPr>
              <a:t>按</a:t>
            </a:r>
            <a:r>
              <a:rPr lang="zh-CN" altLang="zh-CN" sz="2000" b="1" u="sng" dirty="0">
                <a:latin typeface="+mn-ea"/>
                <a:ea typeface="+mn-ea"/>
              </a:rPr>
              <a:t>字节</a:t>
            </a:r>
            <a:r>
              <a:rPr lang="zh-CN" altLang="zh-CN" sz="2000" b="1" dirty="0">
                <a:latin typeface="+mn-ea"/>
                <a:ea typeface="+mn-ea"/>
              </a:rPr>
              <a:t>编址，数据在</a:t>
            </a:r>
            <a:r>
              <a:rPr lang="en-US" altLang="zh-CN" sz="2000" b="1" dirty="0">
                <a:latin typeface="+mn-ea"/>
                <a:ea typeface="+mn-ea"/>
              </a:rPr>
              <a:t>MEM</a:t>
            </a:r>
            <a:r>
              <a:rPr lang="zh-CN" altLang="zh-CN" sz="2000" b="1" dirty="0">
                <a:latin typeface="+mn-ea"/>
                <a:ea typeface="+mn-ea"/>
              </a:rPr>
              <a:t>中采用</a:t>
            </a:r>
            <a:r>
              <a:rPr lang="zh-CN" altLang="zh-CN" sz="2000" b="1" u="sng" dirty="0">
                <a:latin typeface="+mn-ea"/>
                <a:ea typeface="+mn-ea"/>
              </a:rPr>
              <a:t>小端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zh-CN" altLang="zh-CN" sz="2000" b="1" u="sng" dirty="0">
                <a:latin typeface="+mn-ea"/>
                <a:ea typeface="+mn-ea"/>
              </a:rPr>
              <a:t>边界对齐</a:t>
            </a:r>
            <a:r>
              <a:rPr lang="zh-CN" altLang="zh-CN" sz="2000" b="1" dirty="0">
                <a:latin typeface="+mn-ea"/>
                <a:ea typeface="+mn-ea"/>
              </a:rPr>
              <a:t>方式存放，</a:t>
            </a:r>
            <a:r>
              <a:rPr lang="en-US" altLang="zh-CN" sz="2000" b="1" dirty="0">
                <a:latin typeface="+mn-ea"/>
                <a:ea typeface="+mn-ea"/>
              </a:rPr>
              <a:t>2005H#</a:t>
            </a:r>
            <a:r>
              <a:rPr lang="zh-CN" altLang="zh-CN" sz="2000" b="1" dirty="0">
                <a:latin typeface="+mn-ea"/>
                <a:ea typeface="+mn-ea"/>
              </a:rPr>
              <a:t>单元可存放机器数</a:t>
            </a:r>
            <a:r>
              <a:rPr lang="en-US" altLang="zh-CN" sz="2000" b="1" dirty="0">
                <a:latin typeface="+mn-ea"/>
                <a:ea typeface="+mn-ea"/>
              </a:rPr>
              <a:t>12345678H</a:t>
            </a:r>
            <a:r>
              <a:rPr lang="zh-CN" altLang="zh-CN" sz="2000" b="1" dirty="0">
                <a:latin typeface="+mn-ea"/>
                <a:ea typeface="+mn-ea"/>
              </a:rPr>
              <a:t>中哪个字节？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2005H#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单元存放的是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67744" y="2708920"/>
            <a:ext cx="570801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Symbol" panose="05050102010706020507"/>
              </a:rPr>
              <a:t></a:t>
            </a:r>
            <a:r>
              <a:rPr lang="en-US" altLang="zh-CN" sz="2000" b="1" dirty="0">
                <a:latin typeface="宋体" panose="02010600030101010101" pitchFamily="2" charset="-122"/>
              </a:rPr>
              <a:t>2005H/4</a:t>
            </a:r>
            <a:r>
              <a:rPr lang="en-US" altLang="zh-CN" sz="2000" dirty="0">
                <a:latin typeface="宋体" panose="02010600030101010101" pitchFamily="2" charset="-122"/>
                <a:sym typeface="Symbol" panose="05050102010706020507"/>
              </a:rPr>
              <a:t></a:t>
            </a:r>
            <a:r>
              <a:rPr lang="zh-CN" altLang="en-US" sz="2000" b="1" dirty="0">
                <a:latin typeface="宋体" panose="02010600030101010101" pitchFamily="2" charset="-122"/>
                <a:sym typeface="Symbol" panose="05050102010706020507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2004H                     56H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908165" y="4437112"/>
            <a:ext cx="1943735" cy="1332230"/>
            <a:chOff x="9071" y="2778"/>
            <a:chExt cx="3061" cy="2098"/>
          </a:xfrm>
        </p:grpSpPr>
        <p:sp>
          <p:nvSpPr>
            <p:cNvPr id="16" name="Text Box 17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809" y="2778"/>
              <a:ext cx="1304" cy="209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ss[0].a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ss[0].b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ss[0].c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ss[1].a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ss[1].b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ss[1].c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AutoShape 179"/>
            <p:cNvSpPr/>
            <p:nvPr>
              <p:custDataLst>
                <p:tags r:id="rId13"/>
              </p:custDataLst>
            </p:nvPr>
          </p:nvSpPr>
          <p:spPr bwMode="auto">
            <a:xfrm>
              <a:off x="12019" y="2948"/>
              <a:ext cx="113" cy="737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3" name="直接连接符 62"/>
            <p:cNvCxnSpPr/>
            <p:nvPr>
              <p:custDataLst>
                <p:tags r:id="rId14"/>
              </p:custDataLst>
            </p:nvPr>
          </p:nvCxnSpPr>
          <p:spPr bwMode="auto">
            <a:xfrm>
              <a:off x="9809" y="311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15"/>
              </p:custDataLst>
            </p:nvPr>
          </p:nvCxnSpPr>
          <p:spPr bwMode="auto">
            <a:xfrm>
              <a:off x="9809" y="345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6"/>
              </p:custDataLst>
            </p:nvPr>
          </p:nvCxnSpPr>
          <p:spPr bwMode="auto">
            <a:xfrm>
              <a:off x="9809" y="379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7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071" y="2778"/>
              <a:ext cx="737" cy="204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200H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p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q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k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x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y</a:t>
              </a:r>
            </a:p>
          </p:txBody>
        </p:sp>
        <p:cxnSp>
          <p:nvCxnSpPr>
            <p:cNvPr id="67" name="直接连接符 66"/>
            <p:cNvCxnSpPr/>
            <p:nvPr>
              <p:custDataLst>
                <p:tags r:id="rId18"/>
              </p:custDataLst>
            </p:nvPr>
          </p:nvCxnSpPr>
          <p:spPr bwMode="auto">
            <a:xfrm>
              <a:off x="9808" y="413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19"/>
              </p:custDataLst>
            </p:nvPr>
          </p:nvCxnSpPr>
          <p:spPr bwMode="auto">
            <a:xfrm>
              <a:off x="9808" y="4503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9" name="Text Box 17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169" y="2778"/>
              <a:ext cx="907" cy="204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char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int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short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char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int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short</a:t>
              </a:r>
            </a:p>
          </p:txBody>
        </p:sp>
        <p:sp>
          <p:nvSpPr>
            <p:cNvPr id="70" name="AutoShape 179"/>
            <p:cNvSpPr/>
            <p:nvPr>
              <p:custDataLst>
                <p:tags r:id="rId21"/>
              </p:custDataLst>
            </p:nvPr>
          </p:nvSpPr>
          <p:spPr bwMode="auto">
            <a:xfrm>
              <a:off x="12019" y="3969"/>
              <a:ext cx="113" cy="737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051720" y="4293096"/>
            <a:ext cx="4502150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204H      208H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m×sizeof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(int)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208H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/4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×4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20CH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210H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Text Box 1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47664" y="5949312"/>
            <a:ext cx="53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为减小所占存储空间，编译程序应如何优化？</a:t>
            </a:r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ED3E2DD2-8E04-477E-82EB-463508C424F3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15109944"/>
              </p:ext>
            </p:extLst>
          </p:nvPr>
        </p:nvGraphicFramePr>
        <p:xfrm>
          <a:off x="1547658" y="799200"/>
          <a:ext cx="7200806" cy="675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90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906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90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400" b="1" dirty="0">
                        <a:solidFill>
                          <a:srgbClr val="FF3399"/>
                        </a:solidFill>
                        <a:highlight>
                          <a:srgbClr val="FFFF00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400" b="1" dirty="0">
                        <a:solidFill>
                          <a:srgbClr val="FF3399"/>
                        </a:solidFill>
                        <a:highlight>
                          <a:srgbClr val="CC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lang="en-US" altLang="zh-CN" sz="1400" b="1" dirty="0">
                        <a:solidFill>
                          <a:srgbClr val="FF3399"/>
                        </a:solidFill>
                        <a:highlight>
                          <a:srgbClr val="FFFF00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highlight>
                            <a:srgbClr val="CC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kern="1200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C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1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2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1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2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4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5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6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kern="12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+mn-ea"/>
                        </a:rPr>
                        <a:t>7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Box 33">
            <a:extLst>
              <a:ext uri="{FF2B5EF4-FFF2-40B4-BE49-F238E27FC236}">
                <a16:creationId xmlns:a16="http://schemas.microsoft.com/office/drawing/2014/main" id="{63DA94ED-C994-4F74-95CB-BE3A15527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1484784"/>
            <a:ext cx="324036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216400" indent="-4216400" eaLnBrk="1" latinLnBrk="0" hangingPunct="1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字节的边界对齐方式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432B773-3263-4229-B1D7-049EF2602485}"/>
              </a:ext>
            </a:extLst>
          </p:cNvPr>
          <p:cNvGrpSpPr/>
          <p:nvPr/>
        </p:nvGrpSpPr>
        <p:grpSpPr>
          <a:xfrm>
            <a:off x="8027802" y="1988840"/>
            <a:ext cx="864678" cy="1080000"/>
            <a:chOff x="4968000" y="2268000"/>
            <a:chExt cx="864678" cy="1080000"/>
          </a:xfrm>
        </p:grpSpPr>
        <p:sp>
          <p:nvSpPr>
            <p:cNvPr id="25" name="Text Box 174">
              <a:extLst>
                <a:ext uri="{FF2B5EF4-FFF2-40B4-BE49-F238E27FC236}">
                  <a16:creationId xmlns:a16="http://schemas.microsoft.com/office/drawing/2014/main" id="{71E3DFFF-88DD-4056-BF2B-EADA17AE4626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472678" y="2268000"/>
              <a:ext cx="360000" cy="108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B9609DD-4015-4FDA-9DD5-B3668DBF0FE2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5472678" y="2448000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8DD228D-75D2-4022-B1B5-EAC4DFFBF22B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5472678" y="2628000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E9A96A4-6551-4E54-8DB5-F987B6FA928A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5472678" y="2808000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 Box 174">
              <a:extLst>
                <a:ext uri="{FF2B5EF4-FFF2-40B4-BE49-F238E27FC236}">
                  <a16:creationId xmlns:a16="http://schemas.microsoft.com/office/drawing/2014/main" id="{9A535D6A-8562-4832-8CCC-D099799A7BBB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968000" y="2268000"/>
              <a:ext cx="467995" cy="10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795" rIns="0" bIns="10800"/>
            <a:lstStyle/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2003H</a:t>
              </a:r>
            </a:p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4H</a:t>
              </a:r>
            </a:p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5H</a:t>
              </a:r>
            </a:p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6H</a:t>
              </a:r>
            </a:p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7H</a:t>
              </a:r>
            </a:p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8H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BA37986-268C-4BD8-805B-AA1A9FD987A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5472043" y="2988000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CEA48F9-298B-472A-B32E-CD846AD3957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5472043" y="3168000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5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3" name="Text 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9224" y="360045"/>
            <a:ext cx="4350767" cy="39326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、数据在其他部件中的存放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*数据在</a:t>
            </a:r>
            <a:r>
              <a:rPr 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中的存放：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软件需求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存放方式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长度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数据在堆栈中的存放：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软件需求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存放方式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长度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2127434" y="1268760"/>
            <a:ext cx="6909062" cy="3017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立即数有</a:t>
            </a:r>
            <a:r>
              <a:rPr lang="zh-CN" altLang="en-US" sz="22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长度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←利于缩短指令字长</a:t>
            </a:r>
            <a:endParaRPr lang="zh-CN" altLang="en-US" sz="1800" b="1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uFillTx/>
                <a:latin typeface="宋体" panose="02010600030101010101" pitchFamily="2" charset="-122"/>
              </a:rPr>
              <a:t>占用指令字的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部分</a:t>
            </a:r>
            <a:r>
              <a:rPr lang="zh-CN" altLang="en-US" sz="22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端序同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、不对齐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   长度由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</a:rPr>
              <a:t>操作码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指明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</a:rPr>
              <a:t>无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直接从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IR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中取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数据常仅</a:t>
            </a:r>
            <a:r>
              <a:rPr lang="zh-CN" altLang="en-US" sz="22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一种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长度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r>
              <a:rPr 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机器字长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←利于简化实现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占用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连续的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单元</a:t>
            </a:r>
            <a:r>
              <a:rPr lang="en-US" altLang="zh-CN" sz="1800" b="1" dirty="0"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端序、对齐均同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MEM)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长度由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指明，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无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18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栈顶指针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指明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05044" y="981168"/>
            <a:ext cx="2268227" cy="252000"/>
            <a:chOff x="5112036" y="-315416"/>
            <a:chExt cx="2268227" cy="287339"/>
          </a:xfrm>
        </p:grpSpPr>
        <p:sp>
          <p:nvSpPr>
            <p:cNvPr id="10" name="Text Box 27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112036" y="-315415"/>
              <a:ext cx="756108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OPi</a:t>
              </a:r>
            </a:p>
          </p:txBody>
        </p:sp>
        <p:sp>
          <p:nvSpPr>
            <p:cNvPr id="11" name="Text Box 28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868145" y="-315416"/>
              <a:ext cx="50405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3" name="Text Box 28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372200" y="-315416"/>
              <a:ext cx="1008063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Imm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476" y="4293096"/>
            <a:ext cx="8702129" cy="45736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数据存放方式小结：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决定了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sym typeface="+mn-ea"/>
              </a:rPr>
              <a:t>数据地址</a:t>
            </a:r>
            <a:r>
              <a:rPr lang="zh-CN" altLang="en-US" sz="1800" b="1" dirty="0">
                <a:latin typeface="+mn-ea"/>
                <a:sym typeface="+mn-ea"/>
              </a:rPr>
              <a:t>的组成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数据访问</a:t>
            </a:r>
            <a:r>
              <a:rPr lang="zh-CN" altLang="en-US" sz="1800" b="1" dirty="0">
                <a:latin typeface="+mn-ea"/>
                <a:sym typeface="+mn-ea"/>
              </a:rPr>
              <a:t>的硬件组织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F07BAA4-CF6A-46D8-9396-744489858FD6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11838663"/>
              </p:ext>
            </p:extLst>
          </p:nvPr>
        </p:nvGraphicFramePr>
        <p:xfrm>
          <a:off x="683568" y="4797152"/>
          <a:ext cx="8280920" cy="14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存放部件</a:t>
                      </a: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存放方式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数据地址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长度表示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占用一个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全部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部分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软件中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编号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操作码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指明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354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占用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连续的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单元，端序、对齐按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ISA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约定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最小单元地址</a:t>
                      </a:r>
                      <a:endParaRPr lang="en-US" altLang="zh-CN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IR</a:t>
                      </a: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占用指令字的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部分位数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，端序按格式约定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</a:pPr>
                      <a:endParaRPr lang="zh-CN" altLang="en-US" sz="1800" dirty="0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堆栈</a:t>
                      </a: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占用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连续的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单元，端序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对齐同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</a:pPr>
                      <a:endParaRPr lang="zh-CN" altLang="en-US" sz="1800" dirty="0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7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§4.3 </a:t>
            </a:r>
            <a:r>
              <a:rPr lang="zh-CN" altLang="en-US" sz="2800" b="1" dirty="0">
                <a:latin typeface="宋体" panose="02010600030101010101" pitchFamily="2" charset="-122"/>
              </a:rPr>
              <a:t>寻址方式</a:t>
            </a:r>
          </a:p>
        </p:txBody>
      </p:sp>
      <p:sp>
        <p:nvSpPr>
          <p:cNvPr id="7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>
                <a:sym typeface="+mn-ea"/>
              </a:rPr>
              <a:t>寻址方式，数据寻址方式，指令格式分析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179705" y="1196752"/>
            <a:ext cx="4968359" cy="5150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指令地址的类型：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回顾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OPD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硬件中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OPD/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指令地址的长度：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REG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有效地址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(EA)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(PA)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地址编码与寻址方式：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内涵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</a:p>
        </p:txBody>
      </p:sp>
      <p:sp>
        <p:nvSpPr>
          <p:cNvPr id="80" name="Text Box 5"/>
          <p:cNvSpPr txBox="1">
            <a:spLocks noChangeArrowheads="1"/>
          </p:cNvSpPr>
          <p:nvPr/>
        </p:nvSpPr>
        <p:spPr bwMode="auto">
          <a:xfrm>
            <a:off x="1619672" y="1632352"/>
            <a:ext cx="7344623" cy="45674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8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IO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立即数、栈数据无地址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←存储程序工作方式要求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(IO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地址以后讨论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位数</a:t>
            </a:r>
            <a:r>
              <a:rPr lang="zh-CN" altLang="en-US" sz="2200" b="1" u="sng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相同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缓冲部件与软件需求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无关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，硬件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简便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位数</a:t>
            </a:r>
            <a:r>
              <a:rPr lang="zh-CN" altLang="en-US" sz="2200" b="1" u="sng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不同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&gt;&gt;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软件中的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即逻辑地址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，支持</a:t>
            </a:r>
            <a:r>
              <a:rPr lang="zh-CN" altLang="en-US" sz="2200" b="1" u="sng" dirty="0"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所有应用</a:t>
            </a:r>
            <a:endParaRPr lang="en-US" altLang="zh-CN" sz="2200" b="1" u="sng" dirty="0">
              <a:highlight>
                <a:srgbClr val="CCFFFF"/>
              </a:highlight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硬件中的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考虑</a:t>
            </a:r>
            <a:r>
              <a:rPr lang="zh-CN" altLang="en-US" sz="2200" b="1" u="sng" dirty="0"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硬件成本</a:t>
            </a:r>
            <a:endParaRPr lang="en-US" altLang="zh-CN" sz="2200" b="1" u="sng" dirty="0">
              <a:solidFill>
                <a:schemeClr val="tx1"/>
              </a:solidFill>
              <a:highlight>
                <a:srgbClr val="CCFFFF"/>
              </a:highlight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sng" dirty="0">
                <a:latin typeface="+mn-ea"/>
                <a:ea typeface="+mn-ea"/>
              </a:rPr>
              <a:t>编码</a:t>
            </a:r>
            <a:r>
              <a:rPr lang="zh-CN" altLang="en-US" sz="2200" b="1" dirty="0">
                <a:latin typeface="+mn-ea"/>
                <a:ea typeface="+mn-ea"/>
              </a:rPr>
              <a:t>指地址→地址码，</a:t>
            </a:r>
            <a:r>
              <a:rPr lang="zh-CN" altLang="en-US" sz="2200" b="1" u="sng" dirty="0">
                <a:latin typeface="+mn-ea"/>
                <a:ea typeface="+mn-ea"/>
              </a:rPr>
              <a:t>寻址</a:t>
            </a:r>
            <a:r>
              <a:rPr lang="zh-CN" altLang="en-US" sz="2200" b="1" dirty="0">
                <a:latin typeface="+mn-ea"/>
                <a:ea typeface="+mn-ea"/>
              </a:rPr>
              <a:t>指地址码→地址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f(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地址码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  <a:ea typeface="+mn-ea"/>
              </a:rPr>
              <a:t>  </a:t>
            </a:r>
            <a:r>
              <a:rPr lang="en-US" altLang="zh-CN" sz="1800" dirty="0">
                <a:latin typeface="+mn-ea"/>
                <a:ea typeface="+mn-ea"/>
              </a:rPr>
              <a:t>└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zh-CN" altLang="en-US" sz="1800" b="1" dirty="0">
                <a:latin typeface="+mn-ea"/>
                <a:ea typeface="+mn-ea"/>
              </a:rPr>
              <a:t>编程时              </a:t>
            </a:r>
            <a:r>
              <a:rPr lang="en-US" altLang="zh-CN" sz="1800" dirty="0">
                <a:latin typeface="+mn-ea"/>
              </a:rPr>
              <a:t>└</a:t>
            </a:r>
            <a:r>
              <a:rPr lang="en-US" altLang="zh-CN" sz="1800" b="1" dirty="0">
                <a:latin typeface="+mn-ea"/>
              </a:rPr>
              <a:t>←</a:t>
            </a:r>
            <a:r>
              <a:rPr lang="zh-CN" altLang="en-US" sz="1800" b="1" dirty="0">
                <a:latin typeface="+mn-ea"/>
              </a:rPr>
              <a:t>执行时</a:t>
            </a:r>
            <a:endParaRPr lang="en-US" altLang="zh-CN" sz="18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编码时</a:t>
            </a:r>
            <a:r>
              <a:rPr lang="zh-CN" altLang="en-US" sz="2200" b="1" dirty="0">
                <a:latin typeface="+mn-ea"/>
                <a:ea typeface="+mn-ea"/>
              </a:rPr>
              <a:t>地址码</a:t>
            </a:r>
            <a:r>
              <a:rPr lang="zh-CN" altLang="en-US" sz="2200" b="1" u="sng" dirty="0">
                <a:latin typeface="+mn-ea"/>
                <a:ea typeface="+mn-ea"/>
              </a:rPr>
              <a:t>较短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执行时</a:t>
            </a:r>
            <a:r>
              <a:rPr lang="zh-CN" altLang="en-US" sz="2200" b="1" dirty="0">
                <a:latin typeface="+mn-ea"/>
                <a:ea typeface="+mn-ea"/>
              </a:rPr>
              <a:t>地址</a:t>
            </a:r>
            <a:r>
              <a:rPr lang="zh-CN" altLang="en-US" sz="2200" b="1" u="sng" dirty="0">
                <a:latin typeface="+mn-ea"/>
                <a:ea typeface="+mn-ea"/>
                <a:sym typeface="+mn-ea"/>
              </a:rPr>
              <a:t>形成方便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 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←函数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f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简单</a:t>
            </a:r>
            <a:endParaRPr lang="en-US" altLang="zh-CN" sz="2200" b="1" dirty="0">
              <a:latin typeface="+mn-ea"/>
              <a:ea typeface="+mn-ea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860032" y="3284984"/>
            <a:ext cx="4032000" cy="4777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000" tIns="64800" rIns="90000" bIns="4680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硬件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变换后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基于装入位置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F72219-0907-40D1-B557-ABBBF6718FFF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7056704" y="2420888"/>
            <a:ext cx="611640" cy="104400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3" presetClass="entr" presetSubtype="1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14" name="Text Box 10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5265" y="332656"/>
            <a:ext cx="4430395" cy="26887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、指令寻址方式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下条指令地址的形成：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顺序型指令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转移型指令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*指令的寻址方式：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107"/>
          <p:cNvSpPr txBox="1">
            <a:spLocks noChangeArrowheads="1"/>
          </p:cNvSpPr>
          <p:nvPr/>
        </p:nvSpPr>
        <p:spPr bwMode="auto">
          <a:xfrm>
            <a:off x="755575" y="1197610"/>
            <a:ext cx="8208717" cy="18038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         EA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均隐式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与指令内容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无关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EA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f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地址码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常显式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(EA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与指令内容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有关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+mn-ea"/>
              <a:cs typeface="Arial Unicode MS" panose="020B0604020202020204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有隐含、直接、相对等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←在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中一并讨论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3" name="Text Box 107"/>
          <p:cNvSpPr txBox="1">
            <a:spLocks noChangeArrowheads="1"/>
          </p:cNvSpPr>
          <p:nvPr/>
        </p:nvSpPr>
        <p:spPr bwMode="auto">
          <a:xfrm>
            <a:off x="179704" y="2959070"/>
            <a:ext cx="8892734" cy="28641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下条指令地址形成的时机：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寻址方式的识别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分析指令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时，根据</a:t>
            </a:r>
            <a:r>
              <a:rPr lang="zh-CN" sz="22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操作码</a:t>
            </a:r>
            <a:r>
              <a:rPr lang="zh-CN" sz="2200" b="1" dirty="0">
                <a:latin typeface="+mn-ea"/>
                <a:ea typeface="+mn-ea"/>
                <a:sym typeface="+mn-ea"/>
              </a:rPr>
              <a:t>判断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指令类型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寻址方式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                               CISC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放在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地址码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中→</a:t>
            </a:r>
            <a:r>
              <a:rPr lang="zh-CN" altLang="en-US" sz="1800" dirty="0">
                <a:latin typeface="+mn-ea"/>
                <a:ea typeface="+mn-ea"/>
                <a:sym typeface="+mn-ea"/>
              </a:rPr>
              <a:t>┴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latin typeface="+mn-ea"/>
                <a:sym typeface="+mn-ea"/>
              </a:rPr>
              <a:t>RISC</a:t>
            </a:r>
            <a:r>
              <a:rPr lang="zh-CN" altLang="en-US" sz="1800" b="1" dirty="0">
                <a:latin typeface="+mn-ea"/>
                <a:sym typeface="+mn-ea"/>
              </a:rPr>
              <a:t>放在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sym typeface="+mn-ea"/>
              </a:rPr>
              <a:t>操作码</a:t>
            </a:r>
            <a:r>
              <a:rPr lang="zh-CN" altLang="en-US" sz="1800" b="1" dirty="0">
                <a:latin typeface="+mn-ea"/>
                <a:sym typeface="+mn-ea"/>
              </a:rPr>
              <a:t>中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地址形成的时机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+mn-ea"/>
                <a:ea typeface="+mn-ea"/>
                <a:sym typeface="+mn-ea"/>
              </a:rPr>
              <a:t>取指令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时，</a:t>
            </a:r>
            <a:r>
              <a:rPr lang="zh-CN" altLang="en-US" sz="2200" b="1" dirty="0">
                <a:solidFill>
                  <a:srgbClr val="0070C0"/>
                </a:solidFill>
                <a:uFillTx/>
                <a:latin typeface="+mn-ea"/>
                <a:ea typeface="+mn-ea"/>
                <a:sym typeface="+mn-ea"/>
              </a:rPr>
              <a:t>可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实现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顺序寻址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(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)</a:t>
            </a:r>
            <a:r>
              <a:rPr lang="zh-CN" altLang="en-US" sz="1800" b="1" dirty="0">
                <a:latin typeface="+mn-ea"/>
                <a:sym typeface="+mn-ea"/>
              </a:rPr>
              <a:t>   ←基本上都这么做</a:t>
            </a:r>
            <a:endParaRPr lang="en-US" altLang="zh-CN" sz="2200" b="1" dirty="0">
              <a:solidFill>
                <a:schemeClr val="tx1"/>
              </a:solidFill>
              <a:uFillTx/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+mn-ea"/>
                <a:ea typeface="+mn-ea"/>
                <a:sym typeface="+mn-ea"/>
              </a:rPr>
              <a:t>执行指令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时，实现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跳跃寻址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(EA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f(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地址码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))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 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←分支指令～转移判断</a:t>
            </a:r>
            <a:endParaRPr lang="zh-CN" altLang="en-US" sz="1600" b="1" dirty="0">
              <a:solidFill>
                <a:schemeClr val="tx1"/>
              </a:solidFill>
              <a:uFillTx/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302601" y="3147990"/>
            <a:ext cx="3351530" cy="612140"/>
            <a:chOff x="5556" y="8901"/>
            <a:chExt cx="5278" cy="964"/>
          </a:xfrm>
        </p:grpSpPr>
        <p:sp>
          <p:nvSpPr>
            <p:cNvPr id="57" name="矩形 56"/>
            <p:cNvSpPr/>
            <p:nvPr>
              <p:custDataLst>
                <p:tags r:id="rId5"/>
              </p:custDataLst>
            </p:nvPr>
          </p:nvSpPr>
          <p:spPr bwMode="auto">
            <a:xfrm>
              <a:off x="5669" y="8901"/>
              <a:ext cx="5046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Text Box 31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839" y="8958"/>
              <a:ext cx="96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59" name="Text Box 31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143" y="8958"/>
              <a:ext cx="124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60" name="Text Box 31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30" y="8958"/>
              <a:ext cx="187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61" name="直接箭头连接符 60"/>
            <p:cNvCxnSpPr/>
            <p:nvPr>
              <p:custDataLst>
                <p:tags r:id="rId9"/>
              </p:custDataLst>
            </p:nvPr>
          </p:nvCxnSpPr>
          <p:spPr bwMode="auto">
            <a:xfrm>
              <a:off x="6803" y="912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0"/>
              </p:custDataLst>
            </p:nvPr>
          </p:nvCxnSpPr>
          <p:spPr bwMode="auto">
            <a:xfrm>
              <a:off x="8390" y="912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11"/>
              </p:custDataLst>
            </p:nvPr>
          </p:nvCxnSpPr>
          <p:spPr bwMode="auto">
            <a:xfrm>
              <a:off x="10607" y="912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10833" y="9128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13"/>
              </p:custDataLst>
            </p:nvPr>
          </p:nvCxnSpPr>
          <p:spPr bwMode="auto">
            <a:xfrm>
              <a:off x="5556" y="912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5556" y="9128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15"/>
              </p:custDataLst>
            </p:nvPr>
          </p:nvCxnSpPr>
          <p:spPr bwMode="auto">
            <a:xfrm>
              <a:off x="5556" y="9865"/>
              <a:ext cx="527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1" name="Text Box 31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39" y="9354"/>
              <a:ext cx="198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400" dirty="0">
                <a:latin typeface="Arial Unicode MS" panose="020B0604020202020204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Text Box 3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731" y="9354"/>
              <a:ext cx="1870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sp>
        <p:nvSpPr>
          <p:cNvPr id="82" name="Text Box 1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47664" y="5877272"/>
            <a:ext cx="65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47650" indent="-2476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什么类型的指令字结构，取指令时实现顺序寻址最简便？</a:t>
            </a:r>
          </a:p>
        </p:txBody>
      </p:sp>
      <p:sp>
        <p:nvSpPr>
          <p:cNvPr id="75" name="AutoShape 455">
            <a:hlinkClick r:id="rId20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6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455">
            <a:hlinkClick r:id="rId21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184000" y="650719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8785225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、数据寻址方式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*寻址方式的识别：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指令译码</a:t>
            </a:r>
            <a:r>
              <a:rPr lang="zh-CN" altLang="en-US" sz="2200" b="1" dirty="0">
                <a:latin typeface="宋体" panose="02010600030101010101" pitchFamily="2" charset="-122"/>
              </a:rPr>
              <a:t>时，根据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地址码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判断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判断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*地址码的组成： 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2000" y="1774800"/>
            <a:ext cx="3852000" cy="504735"/>
            <a:chOff x="5313409" y="5801524"/>
            <a:chExt cx="3852000" cy="504735"/>
          </a:xfrm>
        </p:grpSpPr>
        <p:sp>
          <p:nvSpPr>
            <p:cNvPr id="13" name="Text Box 139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085408" y="5802259"/>
              <a:ext cx="432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50" name="Text Box 14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517409" y="5802259"/>
              <a:ext cx="648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RS</a:t>
              </a:r>
            </a:p>
          </p:txBody>
        </p:sp>
        <p:sp>
          <p:nvSpPr>
            <p:cNvPr id="15" name="Text Box 16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509409" y="5802259"/>
              <a:ext cx="574675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16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085408" y="6089524"/>
              <a:ext cx="4320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7" name="Text Box 16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517163" y="6089524"/>
              <a:ext cx="6480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RS</a:t>
              </a:r>
            </a:p>
          </p:txBody>
        </p:sp>
        <p:sp>
          <p:nvSpPr>
            <p:cNvPr id="18" name="Text Box 169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509409" y="6089524"/>
              <a:ext cx="574675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16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313409" y="5802259"/>
              <a:ext cx="2160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例：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</a:p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</p:txBody>
        </p:sp>
        <p:cxnSp>
          <p:nvCxnSpPr>
            <p:cNvPr id="20" name="直接连接符 19"/>
            <p:cNvCxnSpPr/>
            <p:nvPr>
              <p:custDataLst>
                <p:tags r:id="rId36"/>
              </p:custDataLst>
            </p:nvPr>
          </p:nvCxnSpPr>
          <p:spPr bwMode="auto">
            <a:xfrm>
              <a:off x="8733164" y="60895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37"/>
              </p:custDataLst>
            </p:nvPr>
          </p:nvCxnSpPr>
          <p:spPr bwMode="auto">
            <a:xfrm>
              <a:off x="8733164" y="58015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组合 24"/>
          <p:cNvGrpSpPr/>
          <p:nvPr/>
        </p:nvGrpSpPr>
        <p:grpSpPr>
          <a:xfrm>
            <a:off x="1007750" y="1774800"/>
            <a:ext cx="3204210" cy="539750"/>
            <a:chOff x="2041" y="2778"/>
            <a:chExt cx="5046" cy="850"/>
          </a:xfrm>
        </p:grpSpPr>
        <p:sp>
          <p:nvSpPr>
            <p:cNvPr id="5" name="Text Box 9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402" y="2778"/>
              <a:ext cx="3685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寻址方式位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F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地址参数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6" name="Text Box 2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400" y="3288"/>
              <a:ext cx="368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EA＝</a:t>
              </a:r>
              <a:r>
                <a:rPr lang="en-US" altLang="zh-CN" sz="1600" b="1" dirty="0" err="1">
                  <a:latin typeface="+mn-ea"/>
                  <a:ea typeface="+mn-ea"/>
                </a:rPr>
                <a:t>f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(F,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地址参数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" name="Text Box 2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041" y="2778"/>
              <a:ext cx="1361" cy="8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地址码：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地址：</a:t>
              </a:r>
            </a:p>
          </p:txBody>
        </p:sp>
        <p:cxnSp>
          <p:nvCxnSpPr>
            <p:cNvPr id="24" name="直接箭头连接符 23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329" y="279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6" name="AutoShape 38"/>
          <p:cNvSpPr/>
          <p:nvPr>
            <p:custDataLst>
              <p:tags r:id="rId3"/>
            </p:custDataLst>
          </p:nvPr>
        </p:nvSpPr>
        <p:spPr bwMode="auto">
          <a:xfrm>
            <a:off x="5004336" y="2420888"/>
            <a:ext cx="2592000" cy="252000"/>
          </a:xfrm>
          <a:prstGeom prst="borderCallout2">
            <a:avLst>
              <a:gd name="adj1" fmla="val 51648"/>
              <a:gd name="adj2" fmla="val 100262"/>
              <a:gd name="adj3" fmla="val 53069"/>
              <a:gd name="adj4" fmla="val 107055"/>
              <a:gd name="adj5" fmla="val -56023"/>
              <a:gd name="adj6" fmla="val 11168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u="sng" dirty="0">
                <a:latin typeface="+mn-ea"/>
                <a:sym typeface="+mn-ea"/>
              </a:rPr>
              <a:t>仅</a:t>
            </a:r>
            <a:r>
              <a:rPr lang="en-US" altLang="zh-CN" sz="1600" b="1" u="sng" dirty="0">
                <a:latin typeface="+mn-ea"/>
                <a:sym typeface="+mn-ea"/>
              </a:rPr>
              <a:t>1</a:t>
            </a:r>
            <a:r>
              <a:rPr lang="zh-CN" altLang="en-US" sz="1600" b="1" u="sng" dirty="0">
                <a:latin typeface="+mn-ea"/>
                <a:sym typeface="+mn-ea"/>
              </a:rPr>
              <a:t>种</a:t>
            </a:r>
            <a:r>
              <a:rPr lang="zh-CN" altLang="en-US" sz="1600" b="1" dirty="0">
                <a:latin typeface="+mn-ea"/>
                <a:sym typeface="+mn-ea"/>
              </a:rPr>
              <a:t>寻址方式时，</a:t>
            </a:r>
            <a:r>
              <a:rPr lang="en-US" altLang="zh-CN" sz="1600" b="1" dirty="0">
                <a:latin typeface="+mn-ea"/>
                <a:sym typeface="+mn-ea"/>
              </a:rPr>
              <a:t>F</a:t>
            </a:r>
            <a:r>
              <a:rPr lang="zh-CN" altLang="en-US" sz="1600" b="1" dirty="0">
                <a:latin typeface="+mn-ea"/>
                <a:sym typeface="+mn-ea"/>
              </a:rPr>
              <a:t>可缺省</a:t>
            </a:r>
            <a:endParaRPr lang="en-US" altLang="zh-CN" sz="1600" b="1" dirty="0">
              <a:latin typeface="+mn-ea"/>
              <a:sym typeface="+mn-ea"/>
            </a:endParaRPr>
          </a:p>
        </p:txBody>
      </p:sp>
      <p:sp>
        <p:nvSpPr>
          <p:cNvPr id="195613" name="Text Box 2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705" y="2636912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立即寻址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  <a:sym typeface="+mn-ea"/>
              </a:rPr>
              <a:t>Immediate 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本身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不是</a:t>
            </a:r>
            <a:r>
              <a:rPr lang="en-US" altLang="zh-CN" sz="1800" b="1" dirty="0">
                <a:latin typeface="宋体" panose="02010600030101010101" pitchFamily="2" charset="-12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1296035" y="3573016"/>
            <a:ext cx="2447925" cy="577850"/>
            <a:chOff x="2041" y="5048"/>
            <a:chExt cx="3855" cy="910"/>
          </a:xfrm>
        </p:grpSpPr>
        <p:sp>
          <p:nvSpPr>
            <p:cNvPr id="195617" name="Text Box 3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628" y="5048"/>
              <a:ext cx="226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F1    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Imm</a:t>
              </a:r>
            </a:p>
          </p:txBody>
        </p:sp>
        <p:sp>
          <p:nvSpPr>
            <p:cNvPr id="195615" name="Text Box 3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41" y="5048"/>
              <a:ext cx="158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195618" name="Text Box 3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041" y="5504"/>
              <a:ext cx="1758" cy="4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Imm</a:t>
              </a:r>
            </a:p>
          </p:txBody>
        </p:sp>
        <p:sp>
          <p:nvSpPr>
            <p:cNvPr id="195665" name="AutoShape 81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4961" y="4654"/>
              <a:ext cx="112" cy="1758"/>
            </a:xfrm>
            <a:prstGeom prst="rightBrace">
              <a:avLst>
                <a:gd name="adj1" fmla="val 3111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66" name="Text Box 8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478" y="5618"/>
              <a:ext cx="113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</p:txBody>
        </p:sp>
        <p:cxnSp>
          <p:nvCxnSpPr>
            <p:cNvPr id="28" name="直接箭头连接符 27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4139" y="5048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9" name="AutoShape 38"/>
          <p:cNvSpPr/>
          <p:nvPr>
            <p:custDataLst>
              <p:tags r:id="rId5"/>
            </p:custDataLst>
          </p:nvPr>
        </p:nvSpPr>
        <p:spPr bwMode="auto">
          <a:xfrm>
            <a:off x="4205372" y="3710287"/>
            <a:ext cx="3168000" cy="252000"/>
          </a:xfrm>
          <a:prstGeom prst="borderCallout2">
            <a:avLst>
              <a:gd name="adj1" fmla="val 46023"/>
              <a:gd name="adj2" fmla="val -102"/>
              <a:gd name="adj3" fmla="val 47787"/>
              <a:gd name="adj4" fmla="val -4095"/>
              <a:gd name="adj5" fmla="val -1097"/>
              <a:gd name="adj6" fmla="val -1358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sym typeface="+mn-ea"/>
              </a:rPr>
              <a:t>为便于理解，均以</a:t>
            </a:r>
            <a:r>
              <a:rPr lang="zh-CN" altLang="en-US" sz="1600" b="1" dirty="0">
                <a:solidFill>
                  <a:srgbClr val="990099"/>
                </a:solidFill>
                <a:sym typeface="+mn-ea"/>
              </a:rPr>
              <a:t>单地址指令</a:t>
            </a:r>
            <a:r>
              <a:rPr lang="zh-CN" altLang="en-US" sz="1600" b="1" dirty="0">
                <a:sym typeface="+mn-ea"/>
              </a:rPr>
              <a:t>为例</a:t>
            </a:r>
            <a:endParaRPr lang="en-US" altLang="zh-CN" sz="1600" b="1" dirty="0">
              <a:latin typeface="+mn-ea"/>
              <a:sym typeface="+mn-ea"/>
            </a:endParaRPr>
          </a:p>
        </p:txBody>
      </p:sp>
      <p:sp>
        <p:nvSpPr>
          <p:cNvPr id="195634" name="Text Box 5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388" y="4221088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寄存器寻址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  <a:sym typeface="+mn-ea"/>
              </a:rPr>
              <a:t>Register A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数据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u="sng" dirty="0">
                <a:latin typeface="宋体" panose="02010600030101010101" pitchFamily="2" charset="-122"/>
              </a:rPr>
              <a:t>号</a:t>
            </a:r>
          </a:p>
        </p:txBody>
      </p:sp>
      <p:grpSp>
        <p:nvGrpSpPr>
          <p:cNvPr id="126" name="组合 125"/>
          <p:cNvGrpSpPr/>
          <p:nvPr/>
        </p:nvGrpSpPr>
        <p:grpSpPr>
          <a:xfrm>
            <a:off x="1296000" y="5157192"/>
            <a:ext cx="4248000" cy="896680"/>
            <a:chOff x="2041" y="7432"/>
            <a:chExt cx="6690" cy="1412"/>
          </a:xfrm>
        </p:grpSpPr>
        <p:sp>
          <p:nvSpPr>
            <p:cNvPr id="108" name="Text Box 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28" y="7537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F2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</a:p>
          </p:txBody>
        </p:sp>
        <p:sp>
          <p:nvSpPr>
            <p:cNvPr id="109" name="Text Box 5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350" y="7824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10" name="Text Box 5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350" y="7432"/>
              <a:ext cx="1984" cy="3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R[]</a:t>
              </a:r>
            </a:p>
          </p:txBody>
        </p:sp>
        <p:sp>
          <p:nvSpPr>
            <p:cNvPr id="114" name="Text Box 5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92" y="7996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</a:p>
          </p:txBody>
        </p:sp>
        <p:sp>
          <p:nvSpPr>
            <p:cNvPr id="115" name="Text Box 5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041" y="7537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117" name="Text Box 6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041" y="7996"/>
              <a:ext cx="181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Ri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19" name="Text Box 5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277" y="8164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Ri</a:t>
              </a:r>
            </a:p>
          </p:txBody>
        </p:sp>
        <p:cxnSp>
          <p:nvCxnSpPr>
            <p:cNvPr id="121" name="直接箭头连接符 120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4139" y="7540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4479" y="7940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16"/>
              </p:custDataLst>
            </p:nvPr>
          </p:nvCxnSpPr>
          <p:spPr bwMode="auto">
            <a:xfrm>
              <a:off x="4479" y="8334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6352" y="8164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350" y="8504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195613" grpId="0" bldLvl="0"/>
      <p:bldP spid="29" grpId="0" bldLvl="0" animBg="1"/>
      <p:bldP spid="19563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32656"/>
            <a:ext cx="6268085" cy="8526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直接寻址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Direct 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EA</a:t>
            </a:r>
            <a:endParaRPr lang="zh-CN" altLang="en-US" sz="2200" b="1" u="sng" dirty="0">
              <a:latin typeface="宋体" panose="02010600030101010101" pitchFamily="2" charset="-122"/>
            </a:endParaRPr>
          </a:p>
        </p:txBody>
      </p:sp>
      <p:sp>
        <p:nvSpPr>
          <p:cNvPr id="44" name="Text Box 3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2564904"/>
            <a:ext cx="6268085" cy="8526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间接寻址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Indirect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存放</a:t>
            </a: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EA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EA</a:t>
            </a:r>
            <a:endParaRPr lang="zh-CN" altLang="en-US" sz="2200" b="1" u="sng" dirty="0">
              <a:latin typeface="宋体" panose="02010600030101010101" pitchFamily="2" charset="-122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68580" y="2204864"/>
            <a:ext cx="38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直接寻址与立即寻址的区别？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296035" y="1196752"/>
            <a:ext cx="5869305" cy="899795"/>
            <a:chOff x="2041" y="1987"/>
            <a:chExt cx="9243" cy="1417"/>
          </a:xfrm>
        </p:grpSpPr>
        <p:sp>
          <p:nvSpPr>
            <p:cNvPr id="77" name="Text Box 6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628" y="2098"/>
              <a:ext cx="249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F3      A</a:t>
              </a:r>
            </a:p>
          </p:txBody>
        </p:sp>
        <p:sp>
          <p:nvSpPr>
            <p:cNvPr id="75" name="Text Box 6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041" y="2098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78" name="Text Box 6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041" y="2554"/>
              <a:ext cx="2835" cy="8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/>
            <a:lstStyle/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</a:p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M[EA]</a:t>
              </a:r>
            </a:p>
          </p:txBody>
        </p:sp>
        <p:cxnSp>
          <p:nvCxnSpPr>
            <p:cNvPr id="28" name="直接箭头连接符 27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4139" y="2098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65" name="Text Box 1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903" y="2721"/>
              <a:ext cx="238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AutoShape 27"/>
            <p:cNvSpPr/>
            <p:nvPr>
              <p:custDataLst>
                <p:tags r:id="rId48"/>
              </p:custDataLst>
            </p:nvPr>
          </p:nvSpPr>
          <p:spPr bwMode="auto">
            <a:xfrm>
              <a:off x="8790" y="2381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Text Box 5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556" y="2554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有效地址</a:t>
              </a:r>
            </a:p>
          </p:txBody>
        </p:sp>
        <p:cxnSp>
          <p:nvCxnSpPr>
            <p:cNvPr id="122" name="直接箭头连接符 121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5500" y="2497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51"/>
              </p:custDataLst>
            </p:nvPr>
          </p:nvCxnSpPr>
          <p:spPr bwMode="auto">
            <a:xfrm>
              <a:off x="5500" y="2891"/>
              <a:ext cx="175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Text Box 5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258" y="2381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10" name="Text Box 5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258" y="1987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7258" y="2721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258" y="3061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2" name="AutoShape 38"/>
          <p:cNvSpPr/>
          <p:nvPr>
            <p:custDataLst>
              <p:tags r:id="rId5"/>
            </p:custDataLst>
          </p:nvPr>
        </p:nvSpPr>
        <p:spPr bwMode="auto">
          <a:xfrm>
            <a:off x="7020000" y="2024521"/>
            <a:ext cx="1584000" cy="25200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-41414"/>
              <a:gd name="adj6" fmla="val -1946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可用于指令寻址</a:t>
            </a:r>
            <a:endParaRPr lang="en-US" altLang="zh-CN" sz="1600" b="1" dirty="0">
              <a:latin typeface="+mn-ea"/>
              <a:sym typeface="+mn-ea"/>
            </a:endParaRPr>
          </a:p>
        </p:txBody>
      </p:sp>
      <p:sp>
        <p:nvSpPr>
          <p:cNvPr id="33" name="AutoShape 38"/>
          <p:cNvSpPr/>
          <p:nvPr>
            <p:custDataLst>
              <p:tags r:id="rId6"/>
            </p:custDataLst>
          </p:nvPr>
        </p:nvSpPr>
        <p:spPr bwMode="auto">
          <a:xfrm>
            <a:off x="6768448" y="3429000"/>
            <a:ext cx="1836000" cy="50400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8287"/>
              <a:gd name="adj5" fmla="val -5745"/>
              <a:gd name="adj6" fmla="val -5961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因形成需要访存，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很少使用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**p)</a:t>
            </a:r>
            <a:endParaRPr lang="en-US" altLang="zh-CN" sz="1600" b="1" dirty="0">
              <a:latin typeface="+mn-ea"/>
              <a:sym typeface="+mn-ea"/>
            </a:endParaRPr>
          </a:p>
        </p:txBody>
      </p:sp>
      <p:sp>
        <p:nvSpPr>
          <p:cNvPr id="63" name="Text Box 8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9705" y="4437112"/>
            <a:ext cx="7418705" cy="8526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寄存器间接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latin typeface="+mn-lt"/>
                <a:sym typeface="+mn-ea"/>
              </a:rPr>
              <a:t>Register Indirect </a:t>
            </a:r>
            <a:r>
              <a:rPr lang="en-US" altLang="zh-CN" sz="1600" dirty="0">
                <a:sym typeface="+mn-ea"/>
              </a:rPr>
              <a:t>Addressing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寻址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存放</a:t>
            </a: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EA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u="sng" dirty="0">
                <a:latin typeface="宋体" panose="02010600030101010101" pitchFamily="2" charset="-122"/>
              </a:rPr>
              <a:t>号</a:t>
            </a:r>
          </a:p>
        </p:txBody>
      </p:sp>
      <p:grpSp>
        <p:nvGrpSpPr>
          <p:cNvPr id="106" name="组合 105"/>
          <p:cNvGrpSpPr/>
          <p:nvPr/>
        </p:nvGrpSpPr>
        <p:grpSpPr>
          <a:xfrm>
            <a:off x="828040" y="5301208"/>
            <a:ext cx="8028940" cy="901065"/>
            <a:chOff x="1304" y="7483"/>
            <a:chExt cx="12644" cy="1419"/>
          </a:xfrm>
        </p:grpSpPr>
        <p:sp>
          <p:nvSpPr>
            <p:cNvPr id="108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628" y="7593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F5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</a:p>
          </p:txBody>
        </p:sp>
        <p:sp>
          <p:nvSpPr>
            <p:cNvPr id="35" name="Text Box 5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350" y="7880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6" name="Text Box 5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350" y="7483"/>
              <a:ext cx="1984" cy="3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R[]</a:t>
              </a:r>
            </a:p>
          </p:txBody>
        </p:sp>
        <p:sp>
          <p:nvSpPr>
            <p:cNvPr id="37" name="Text Box 5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592" y="8052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</a:p>
          </p:txBody>
        </p:sp>
        <p:sp>
          <p:nvSpPr>
            <p:cNvPr id="115" name="Text Box 5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041" y="7593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117" name="Text Box 6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304" y="8052"/>
              <a:ext cx="3061" cy="8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(Ri)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A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M[EA]</a:t>
              </a:r>
            </a:p>
          </p:txBody>
        </p:sp>
        <p:sp>
          <p:nvSpPr>
            <p:cNvPr id="38" name="Text Box 5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334" y="805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err="1">
                  <a:latin typeface="宋体" panose="02010600030101010101" pitchFamily="2" charset="-122"/>
                </a:rPr>
                <a:t>有效地址</a:t>
              </a:r>
            </a:p>
          </p:txBody>
        </p:sp>
        <p:cxnSp>
          <p:nvCxnSpPr>
            <p:cNvPr id="121" name="直接箭头连接符 120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139" y="759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4479" y="799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33"/>
              </p:custDataLst>
            </p:nvPr>
          </p:nvCxnSpPr>
          <p:spPr bwMode="auto">
            <a:xfrm>
              <a:off x="4479" y="8390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352" y="8220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350" y="8560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1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510" y="8220"/>
              <a:ext cx="243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AutoShape 27"/>
            <p:cNvSpPr/>
            <p:nvPr>
              <p:custDataLst>
                <p:tags r:id="rId37"/>
              </p:custDataLst>
            </p:nvPr>
          </p:nvSpPr>
          <p:spPr bwMode="auto">
            <a:xfrm>
              <a:off x="11397" y="7880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2" name="直接箭头连接符 81"/>
            <p:cNvCxnSpPr/>
            <p:nvPr>
              <p:custDataLst>
                <p:tags r:id="rId38"/>
              </p:custDataLst>
            </p:nvPr>
          </p:nvCxnSpPr>
          <p:spPr bwMode="auto">
            <a:xfrm>
              <a:off x="8107" y="8390"/>
              <a:ext cx="175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99" name="Text Box 52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865" y="7880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02" name="Text Box 5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865" y="7483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9865" y="8220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9865" y="8560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ADF013-098F-410F-ACDC-4CB5730298AD}"/>
              </a:ext>
            </a:extLst>
          </p:cNvPr>
          <p:cNvGrpSpPr/>
          <p:nvPr/>
        </p:nvGrpSpPr>
        <p:grpSpPr>
          <a:xfrm>
            <a:off x="1296035" y="3429000"/>
            <a:ext cx="5326733" cy="901700"/>
            <a:chOff x="1296035" y="3429000"/>
            <a:chExt cx="5326733" cy="901700"/>
          </a:xfrm>
        </p:grpSpPr>
        <p:sp>
          <p:nvSpPr>
            <p:cNvPr id="7" name="Text Box 6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303727" y="3501390"/>
              <a:ext cx="1583606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F4      A</a:t>
              </a:r>
            </a:p>
          </p:txBody>
        </p:sp>
        <p:sp>
          <p:nvSpPr>
            <p:cNvPr id="10" name="Text Box 6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96035" y="3501390"/>
              <a:ext cx="1008326" cy="25209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11" name="Text Box 6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96035" y="3790950"/>
              <a:ext cx="2087769" cy="5397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M[EA]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800" b="1" dirty="0">
                  <a:sym typeface="Symbol" panose="05050102010706020507"/>
                </a:rPr>
                <a:t>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M[EA]</a:t>
              </a:r>
            </a:p>
          </p:txBody>
        </p:sp>
        <p:cxnSp>
          <p:nvCxnSpPr>
            <p:cNvPr id="12" name="直接箭头连接符 11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2628194" y="3501390"/>
              <a:ext cx="0" cy="25209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3" name="Text Box 5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7942" y="4004945"/>
              <a:ext cx="899747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形式</a:t>
              </a:r>
              <a:r>
                <a:rPr lang="zh-CN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14" name="直接箭头连接符 13"/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>
              <a:off x="3492383" y="3754755"/>
              <a:ext cx="0" cy="465455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15"/>
              </p:custDataLst>
            </p:nvPr>
          </p:nvCxnSpPr>
          <p:spPr bwMode="auto">
            <a:xfrm>
              <a:off x="3492383" y="4220845"/>
              <a:ext cx="111563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 Box 5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608654" y="3681095"/>
              <a:ext cx="935940" cy="6477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dirty="0">
                  <a:sym typeface="Symbol" panose="05050102010706020507"/>
                </a:rPr>
                <a:t>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5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608654" y="3429000"/>
              <a:ext cx="9359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18" name="直接箭头连接符 17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4608654" y="3896995"/>
              <a:ext cx="9359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608654" y="4112895"/>
              <a:ext cx="9359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20"/>
              </p:custDataLst>
            </p:nvPr>
          </p:nvCxnSpPr>
          <p:spPr bwMode="auto">
            <a:xfrm>
              <a:off x="5436015" y="4221480"/>
              <a:ext cx="28827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723655" y="3788410"/>
              <a:ext cx="0" cy="4318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5436015" y="3788410"/>
              <a:ext cx="28827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1" name="Text Box 58">
              <a:extLst>
                <a:ext uri="{FF2B5EF4-FFF2-40B4-BE49-F238E27FC236}">
                  <a16:creationId xmlns:a16="http://schemas.microsoft.com/office/drawing/2014/main" id="{65A40A8C-024B-4349-B536-A169099F2981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723021" y="4043743"/>
              <a:ext cx="899747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有效</a:t>
              </a:r>
              <a:r>
                <a:rPr lang="zh-CN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64" grpId="0" bldLvl="0" animBg="1"/>
      <p:bldP spid="33" grpId="0" bldLvl="0" animBg="1"/>
      <p:bldP spid="6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79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806" name="AutoShape 94">
            <a:hlinkClick r:id="rId58" action="ppaction://hlinksldjump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51">
            <a:extLst>
              <a:ext uri="{FF2B5EF4-FFF2-40B4-BE49-F238E27FC236}">
                <a16:creationId xmlns:a16="http://schemas.microsoft.com/office/drawing/2014/main" id="{775FE714-9C31-437F-930C-BF828B83F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1" y="332656"/>
            <a:ext cx="8712540" cy="23809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基址寻址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Base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dirty="0">
                <a:latin typeface="宋体" panose="02010600030101010101" pitchFamily="2" charset="-122"/>
              </a:rPr>
              <a:t>   </a:t>
            </a:r>
            <a:r>
              <a:rPr lang="en-US" altLang="zh-CN" sz="2200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基址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u="sng" dirty="0">
                <a:latin typeface="宋体" panose="02010600030101010101" pitchFamily="2" charset="-122"/>
              </a:rPr>
              <a:t>号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形式地址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偏移地址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57C4267-0893-45B5-B83F-EEB6ED8C413C}"/>
              </a:ext>
            </a:extLst>
          </p:cNvPr>
          <p:cNvGrpSpPr/>
          <p:nvPr/>
        </p:nvGrpSpPr>
        <p:grpSpPr>
          <a:xfrm>
            <a:off x="828000" y="1268760"/>
            <a:ext cx="7812405" cy="937260"/>
            <a:chOff x="1304" y="5272"/>
            <a:chExt cx="12303" cy="1476"/>
          </a:xfrm>
        </p:grpSpPr>
        <p:sp>
          <p:nvSpPr>
            <p:cNvPr id="82" name="Text Box 61">
              <a:extLst>
                <a:ext uri="{FF2B5EF4-FFF2-40B4-BE49-F238E27FC236}">
                  <a16:creationId xmlns:a16="http://schemas.microsoft.com/office/drawing/2014/main" id="{387616D8-A9EA-450A-8D92-BE45C2630FE3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628" y="5439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F7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j     A</a:t>
              </a:r>
            </a:p>
          </p:txBody>
        </p:sp>
        <p:sp>
          <p:nvSpPr>
            <p:cNvPr id="83" name="Text Box 52">
              <a:extLst>
                <a:ext uri="{FF2B5EF4-FFF2-40B4-BE49-F238E27FC236}">
                  <a16:creationId xmlns:a16="http://schemas.microsoft.com/office/drawing/2014/main" id="{2CA39380-EF86-42CF-A63C-27A8FF874BB6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350" y="5726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基地址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dirty="0">
                  <a:sym typeface="Symbol" panose="05050102010706020507"/>
                </a:rPr>
                <a:t>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84" name="Text Box 53">
              <a:extLst>
                <a:ext uri="{FF2B5EF4-FFF2-40B4-BE49-F238E27FC236}">
                  <a16:creationId xmlns:a16="http://schemas.microsoft.com/office/drawing/2014/main" id="{8ABC8A74-74B1-4339-91B0-40139B363117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350" y="5329"/>
              <a:ext cx="1984" cy="3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B[]</a:t>
              </a:r>
            </a:p>
          </p:txBody>
        </p:sp>
        <p:sp>
          <p:nvSpPr>
            <p:cNvPr id="85" name="Text Box 58">
              <a:extLst>
                <a:ext uri="{FF2B5EF4-FFF2-40B4-BE49-F238E27FC236}">
                  <a16:creationId xmlns:a16="http://schemas.microsoft.com/office/drawing/2014/main" id="{7C435420-F0BB-4717-AE82-1DA44D0F313E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592" y="5898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</a:p>
          </p:txBody>
        </p:sp>
        <p:sp>
          <p:nvSpPr>
            <p:cNvPr id="86" name="Text Box 59">
              <a:extLst>
                <a:ext uri="{FF2B5EF4-FFF2-40B4-BE49-F238E27FC236}">
                  <a16:creationId xmlns:a16="http://schemas.microsoft.com/office/drawing/2014/main" id="{D7377C38-A92C-455D-B00F-1C1E3DDD0DA0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041" y="5439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87" name="Text Box 62">
              <a:extLst>
                <a:ext uri="{FF2B5EF4-FFF2-40B4-BE49-F238E27FC236}">
                  <a16:creationId xmlns:a16="http://schemas.microsoft.com/office/drawing/2014/main" id="{81039836-D0D1-48EA-96DD-73D73520EB41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304" y="5898"/>
              <a:ext cx="3061" cy="8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>
                  <a:latin typeface="宋体" panose="02010600030101010101" pitchFamily="2" charset="-122"/>
                  <a:sym typeface="+mn-ea"/>
                </a:rPr>
                <a:t>Bj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A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 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M[EA]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88" name="Text Box 58">
              <a:extLst>
                <a:ext uri="{FF2B5EF4-FFF2-40B4-BE49-F238E27FC236}">
                  <a16:creationId xmlns:a16="http://schemas.microsoft.com/office/drawing/2014/main" id="{18E9D0DB-4A9E-4E90-AF31-7D4A7BCDEB24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849" y="5613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err="1">
                  <a:latin typeface="宋体" panose="02010600030101010101" pitchFamily="2" charset="-122"/>
                </a:rPr>
                <a:t>段基址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</a:t>
              </a:r>
              <a:r>
                <a:rPr lang="en-US" altLang="zh-CN" sz="1600" b="1" dirty="0">
                  <a:sym typeface="Symbol" panose="05050102010706020507"/>
                </a:rPr>
                <a:t>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E210F14B-BA65-4418-8004-AECC35F4A7B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4139" y="544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5283D75C-0F19-4EAE-99C6-B9C64C7D0CE0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4479" y="584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43C70281-54EA-475F-8EC8-30CB1EA611A2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4479" y="6236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15397F55-EE54-4526-B7B5-F16797F63764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352" y="606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EAFBFB52-081D-41EC-BEA2-BA13D9F34237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350" y="640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4A34BAE-E222-485F-900E-744504A03403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8107" y="6236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95" name="Text Box 11">
              <a:extLst>
                <a:ext uri="{FF2B5EF4-FFF2-40B4-BE49-F238E27FC236}">
                  <a16:creationId xmlns:a16="http://schemas.microsoft.com/office/drawing/2014/main" id="{F3BA2DCF-A782-4834-9A05-382D5F64ACCB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1226" y="6066"/>
              <a:ext cx="238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数据段或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</a:p>
          </p:txBody>
        </p:sp>
        <p:sp>
          <p:nvSpPr>
            <p:cNvPr id="96" name="AutoShape 27">
              <a:extLst>
                <a:ext uri="{FF2B5EF4-FFF2-40B4-BE49-F238E27FC236}">
                  <a16:creationId xmlns:a16="http://schemas.microsoft.com/office/drawing/2014/main" id="{AA6D1302-0340-4601-9A89-23ACAE7A4AC1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auto">
            <a:xfrm>
              <a:off x="11113" y="5726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Text Box 52">
              <a:extLst>
                <a:ext uri="{FF2B5EF4-FFF2-40B4-BE49-F238E27FC236}">
                  <a16:creationId xmlns:a16="http://schemas.microsoft.com/office/drawing/2014/main" id="{56E4639C-E5CC-451F-B83A-E3E0574499F1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9581" y="5726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98" name="Text Box 53">
              <a:extLst>
                <a:ext uri="{FF2B5EF4-FFF2-40B4-BE49-F238E27FC236}">
                  <a16:creationId xmlns:a16="http://schemas.microsoft.com/office/drawing/2014/main" id="{062E8722-7110-43EF-A821-AFD3A7E15A66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9581" y="5329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58768882-7F59-4FE8-AE35-55AF1AAA598E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9581" y="606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DB9D4DED-10B2-4133-BE2E-9DE0A715C4C1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9581" y="640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349155AB-F86D-41BC-893C-82F9CA8F7E04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4876" y="543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02" name="Oval 89">
              <a:extLst>
                <a:ext uri="{FF2B5EF4-FFF2-40B4-BE49-F238E27FC236}">
                  <a16:creationId xmlns:a16="http://schemas.microsoft.com/office/drawing/2014/main" id="{2E761F44-E0E2-4E6F-B8BA-9FB6E84F86FB}"/>
                </a:ext>
              </a:extLst>
            </p:cNvPr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731" y="6066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/>
                <a:t>＋</a:t>
              </a: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7A0A5A5E-D265-4228-B190-C8A36DE75099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8901" y="5272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1F39C20-C554-4E93-9340-CB8968511524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5443" y="527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A34496AD-2DE6-49AF-8883-4DAFE65DBC9B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>
              <a:off x="5443" y="5272"/>
              <a:ext cx="345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35474A7A-F260-4F60-B942-2AF27BD983E6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9071" y="6236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C8C79ECC-F2F1-4387-8428-FF2B2097F5C1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11225" y="578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08" name="Text Box 51">
            <a:extLst>
              <a:ext uri="{FF2B5EF4-FFF2-40B4-BE49-F238E27FC236}">
                <a16:creationId xmlns:a16="http://schemas.microsoft.com/office/drawing/2014/main" id="{E8C40895-129A-45CC-912A-1B513277D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05" y="2708920"/>
            <a:ext cx="8551545" cy="3350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变址寻址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Indexing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dirty="0">
                <a:latin typeface="宋体" panose="02010600030101010101" pitchFamily="2" charset="-122"/>
              </a:rPr>
              <a:t>   </a:t>
            </a:r>
            <a:r>
              <a:rPr lang="en-US" altLang="zh-CN" sz="2200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变址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u="sng" dirty="0">
                <a:latin typeface="宋体" panose="02010600030101010101" pitchFamily="2" charset="-122"/>
              </a:rPr>
              <a:t>号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形式地址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基准地址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说明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基址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变址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组仅含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号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j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隐式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└──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 编码恒为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─┘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9B95969-B861-462E-9389-BA50DA5105EB}"/>
              </a:ext>
            </a:extLst>
          </p:cNvPr>
          <p:cNvGrpSpPr/>
          <p:nvPr/>
        </p:nvGrpSpPr>
        <p:grpSpPr>
          <a:xfrm>
            <a:off x="828040" y="3645024"/>
            <a:ext cx="7560310" cy="1150620"/>
            <a:chOff x="1304" y="5272"/>
            <a:chExt cx="11906" cy="1812"/>
          </a:xfrm>
        </p:grpSpPr>
        <p:sp>
          <p:nvSpPr>
            <p:cNvPr id="110" name="Text Box 61">
              <a:extLst>
                <a:ext uri="{FF2B5EF4-FFF2-40B4-BE49-F238E27FC236}">
                  <a16:creationId xmlns:a16="http://schemas.microsoft.com/office/drawing/2014/main" id="{F00CDD17-9CB1-4216-BA00-D6694CE1CA8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628" y="5439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F6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j     A</a:t>
              </a:r>
            </a:p>
          </p:txBody>
        </p:sp>
        <p:sp>
          <p:nvSpPr>
            <p:cNvPr id="111" name="Text Box 52">
              <a:extLst>
                <a:ext uri="{FF2B5EF4-FFF2-40B4-BE49-F238E27FC236}">
                  <a16:creationId xmlns:a16="http://schemas.microsoft.com/office/drawing/2014/main" id="{85131F02-EEC6-48F2-9166-79E364A30B9F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350" y="5726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变址值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12" name="Text Box 53">
              <a:extLst>
                <a:ext uri="{FF2B5EF4-FFF2-40B4-BE49-F238E27FC236}">
                  <a16:creationId xmlns:a16="http://schemas.microsoft.com/office/drawing/2014/main" id="{E6671D0A-1E64-419B-A53B-8041419303D2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350" y="5326"/>
              <a:ext cx="201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CCCCFF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I[]</a:t>
              </a:r>
            </a:p>
          </p:txBody>
        </p:sp>
        <p:sp>
          <p:nvSpPr>
            <p:cNvPr id="113" name="Text Box 58">
              <a:extLst>
                <a:ext uri="{FF2B5EF4-FFF2-40B4-BE49-F238E27FC236}">
                  <a16:creationId xmlns:a16="http://schemas.microsoft.com/office/drawing/2014/main" id="{46D81CAF-1CC4-4B07-B1A4-BA441287AD2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92" y="5893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</a:p>
          </p:txBody>
        </p:sp>
        <p:sp>
          <p:nvSpPr>
            <p:cNvPr id="114" name="Text Box 59">
              <a:extLst>
                <a:ext uri="{FF2B5EF4-FFF2-40B4-BE49-F238E27FC236}">
                  <a16:creationId xmlns:a16="http://schemas.microsoft.com/office/drawing/2014/main" id="{17C1B09F-D84C-45ED-A416-0DE419917A34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041" y="5439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115" name="Text Box 62">
              <a:extLst>
                <a:ext uri="{FF2B5EF4-FFF2-40B4-BE49-F238E27FC236}">
                  <a16:creationId xmlns:a16="http://schemas.microsoft.com/office/drawing/2014/main" id="{82CCB3BF-F46C-4A85-9EE0-3303DDEE462C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04" y="5893"/>
              <a:ext cx="3061" cy="119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A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 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M[EA]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     </a:t>
              </a:r>
              <a:r>
                <a:rPr lang="en-US" altLang="zh-CN" sz="1800" b="1" dirty="0" err="1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  <p:sp>
          <p:nvSpPr>
            <p:cNvPr id="116" name="Text Box 58">
              <a:extLst>
                <a:ext uri="{FF2B5EF4-FFF2-40B4-BE49-F238E27FC236}">
                  <a16:creationId xmlns:a16="http://schemas.microsoft.com/office/drawing/2014/main" id="{3BA93982-86F5-4BA7-9232-78539ACCD668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849" y="5613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err="1">
                  <a:latin typeface="宋体" panose="02010600030101010101" pitchFamily="2" charset="-122"/>
                </a:rPr>
                <a:t>块首址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96188AB4-9D4C-45F4-A20F-05FB275535F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4139" y="544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6E5979C9-A4B7-4D7D-A431-BB485E8075CC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4479" y="583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C0B6965B-83CB-4999-80CB-96F28CEA6A30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4479" y="6236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F1707FF-106D-4CEC-AE63-4A19DED437BA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352" y="606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634E528-70BA-42D1-B3DA-2F85C1C2C2DC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6350" y="640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5FC6D418-0BBC-4A07-A65E-17E5FE275543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8107" y="6236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123" name="Text Box 11">
              <a:extLst>
                <a:ext uri="{FF2B5EF4-FFF2-40B4-BE49-F238E27FC236}">
                  <a16:creationId xmlns:a16="http://schemas.microsoft.com/office/drawing/2014/main" id="{63F94449-AF95-402C-853F-A0023233B9C6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226" y="6066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AutoShape 27">
              <a:extLst>
                <a:ext uri="{FF2B5EF4-FFF2-40B4-BE49-F238E27FC236}">
                  <a16:creationId xmlns:a16="http://schemas.microsoft.com/office/drawing/2014/main" id="{F823FA53-D5E1-413B-8500-A6A12663C29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11113" y="5726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52">
              <a:extLst>
                <a:ext uri="{FF2B5EF4-FFF2-40B4-BE49-F238E27FC236}">
                  <a16:creationId xmlns:a16="http://schemas.microsoft.com/office/drawing/2014/main" id="{005EF4D0-308D-4EF1-989B-8C02B2923F35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81" y="5726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26" name="Text Box 53">
              <a:extLst>
                <a:ext uri="{FF2B5EF4-FFF2-40B4-BE49-F238E27FC236}">
                  <a16:creationId xmlns:a16="http://schemas.microsoft.com/office/drawing/2014/main" id="{7E69CD4F-478B-4CCE-A187-718057E29ECC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581" y="5329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FAD03C0B-BEBB-403A-8C90-AA37D0015621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9581" y="606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080EA56C-9BF4-40FE-AEED-5D7258FF38C0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9581" y="640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DD274B9B-BADA-498F-B886-44B0EF0508E1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4876" y="5436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30" name="Oval 89">
              <a:extLst>
                <a:ext uri="{FF2B5EF4-FFF2-40B4-BE49-F238E27FC236}">
                  <a16:creationId xmlns:a16="http://schemas.microsoft.com/office/drawing/2014/main" id="{F4B710C7-4867-4C2A-AB96-7F09EAFE9ED3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731" y="6066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/>
                <a:t>＋</a:t>
              </a: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22E7698F-92F6-4F79-9DC6-50F5C0CA0F0C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8901" y="5272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2AC43D15-F576-4803-8E83-A5A2FDF598D9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443" y="527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F008E67A-64DE-460A-B5B2-A288360A4B12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5443" y="5272"/>
              <a:ext cx="345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34F3773A-0F26-4484-B3F0-6F6573DC0F5C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9071" y="6236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3361C2EE-6F96-48C9-9E72-7D20DDA04549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11225" y="578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36" name="Text Box 8">
            <a:extLst>
              <a:ext uri="{FF2B5EF4-FFF2-40B4-BE49-F238E27FC236}">
                <a16:creationId xmlns:a16="http://schemas.microsoft.com/office/drawing/2014/main" id="{134873E7-B96E-4064-BE55-6E9C0771078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12136" y="6021288"/>
            <a:ext cx="42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变址寻址与基址寻址的根本区别？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A49816D-E3DD-4795-829F-B468A2557267}"/>
              </a:ext>
            </a:extLst>
          </p:cNvPr>
          <p:cNvSpPr txBox="1"/>
          <p:nvPr/>
        </p:nvSpPr>
        <p:spPr>
          <a:xfrm>
            <a:off x="1619672" y="2276872"/>
            <a:ext cx="286955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常用于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段式存储管理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35CD549-C7B0-40F1-967C-0C76E550902E}"/>
              </a:ext>
            </a:extLst>
          </p:cNvPr>
          <p:cNvSpPr txBox="1"/>
          <p:nvPr/>
        </p:nvSpPr>
        <p:spPr>
          <a:xfrm>
            <a:off x="1619672" y="4797152"/>
            <a:ext cx="6577423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常用于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数据块访问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，变址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的值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自动改变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每次读时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bldLvl="0" animBg="1"/>
      <p:bldP spid="63" grpId="0"/>
      <p:bldP spid="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951902" y="2204864"/>
            <a:ext cx="4572000" cy="864235"/>
            <a:chOff x="5386" y="3458"/>
            <a:chExt cx="7200" cy="1361"/>
          </a:xfrm>
        </p:grpSpPr>
        <p:sp>
          <p:nvSpPr>
            <p:cNvPr id="49" name="矩形 48"/>
            <p:cNvSpPr/>
            <p:nvPr>
              <p:custDataLst>
                <p:tags r:id="rId32"/>
              </p:custDataLst>
            </p:nvPr>
          </p:nvSpPr>
          <p:spPr bwMode="auto">
            <a:xfrm>
              <a:off x="5386" y="3458"/>
              <a:ext cx="7200" cy="1361"/>
            </a:xfrm>
            <a:prstGeom prst="rect">
              <a:avLst/>
            </a:prstGeom>
            <a:solidFill>
              <a:srgbClr val="CCCCFF">
                <a:alpha val="70000"/>
              </a:srgbClr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33"/>
              </p:custDataLst>
            </p:nvPr>
          </p:nvSpPr>
          <p:spPr bwMode="auto">
            <a:xfrm>
              <a:off x="5498" y="4139"/>
              <a:ext cx="1247" cy="68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34"/>
              </p:custDataLst>
            </p:nvPr>
          </p:nvSpPr>
          <p:spPr bwMode="auto">
            <a:xfrm>
              <a:off x="7370" y="3458"/>
              <a:ext cx="1247" cy="68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51" name="Text Box 260"/>
          <p:cNvSpPr txBox="1">
            <a:spLocks noChangeArrowheads="1"/>
          </p:cNvSpPr>
          <p:nvPr/>
        </p:nvSpPr>
        <p:spPr bwMode="auto">
          <a:xfrm>
            <a:off x="179388" y="332656"/>
            <a:ext cx="8857108" cy="1836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寄存器的</a:t>
            </a:r>
            <a:r>
              <a:rPr lang="zh-CN" altLang="en-US" sz="2200" b="1" dirty="0">
                <a:solidFill>
                  <a:schemeClr val="accent2"/>
                </a:solidFill>
                <a:highlight>
                  <a:srgbClr val="CCFFFF"/>
                </a:highlight>
                <a:latin typeface="宋体" panose="02010600030101010101" pitchFamily="2" charset="-122"/>
              </a:rPr>
              <a:t>常见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理论上</a:t>
            </a:r>
            <a:r>
              <a:rPr lang="zh-CN" altLang="en-US" sz="1800" b="1" dirty="0">
                <a:latin typeface="宋体" panose="02010600030101010101" pitchFamily="2" charset="-122"/>
              </a:rPr>
              <a:t>数据</a:t>
            </a:r>
            <a:r>
              <a:rPr lang="en-US" altLang="zh-CN" sz="1800" b="1" dirty="0">
                <a:latin typeface="宋体" panose="02010600030101010101" pitchFamily="2" charset="-122"/>
              </a:rPr>
              <a:t>REG/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REG/</a:t>
            </a:r>
            <a:r>
              <a:rPr lang="zh-CN" altLang="en-US" sz="1800" b="1" dirty="0">
                <a:latin typeface="宋体" panose="02010600030101010101" pitchFamily="2" charset="-122"/>
              </a:rPr>
              <a:t>基址</a:t>
            </a:r>
            <a:r>
              <a:rPr lang="en-US" altLang="zh-CN" sz="1800" b="1" dirty="0">
                <a:latin typeface="宋体" panose="02010600030101010101" pitchFamily="2" charset="-122"/>
              </a:rPr>
              <a:t>REG/</a:t>
            </a:r>
            <a:r>
              <a:rPr lang="zh-CN" altLang="en-US" sz="1800" b="1" dirty="0">
                <a:latin typeface="宋体" panose="02010600030101010101" pitchFamily="2" charset="-122"/>
              </a:rPr>
              <a:t>变址</a:t>
            </a:r>
            <a:r>
              <a:rPr lang="en-US" altLang="zh-CN" sz="1800" b="1" dirty="0">
                <a:latin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</a:rPr>
              <a:t>间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无关联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latin typeface="宋体" panose="02010600030101010101" pitchFamily="2" charset="-122"/>
              </a:rPr>
              <a:t>基址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、变址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子集</a:t>
            </a:r>
            <a:r>
              <a:rPr lang="zh-CN" altLang="en-US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</a:rPr>
              <a:t>  ←成本</a:t>
            </a:r>
            <a:r>
              <a:rPr lang="zh-CN" altLang="en-US" sz="1800" b="1" dirty="0">
                <a:latin typeface="+mn-lt"/>
              </a:rPr>
              <a:t>↓</a:t>
            </a:r>
            <a:r>
              <a:rPr lang="zh-CN" altLang="en-US" sz="1800" b="1" dirty="0">
                <a:latin typeface="宋体" panose="02010600030101010101" pitchFamily="2" charset="-122"/>
              </a:rPr>
              <a:t>、利用率</a:t>
            </a:r>
            <a:r>
              <a:rPr lang="zh-CN" altLang="en-US" sz="1800" b="1" dirty="0">
                <a:latin typeface="+mn-lt"/>
              </a:rPr>
              <a:t>↑</a:t>
            </a:r>
            <a:endParaRPr lang="en-US" altLang="zh-CN" sz="1800" b="1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具有</a:t>
            </a:r>
            <a:r>
              <a:rPr lang="zh-CN" altLang="en-US" sz="1600" b="1" dirty="0">
                <a:latin typeface="宋体" panose="02010600030101010101" pitchFamily="2" charset="-122"/>
              </a:rPr>
              <a:t>变址功能，操作码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指明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是否变址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②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、地址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混用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称为</a:t>
            </a:r>
            <a:r>
              <a:rPr lang="zh-CN" altLang="en-US" sz="1800" b="1" u="sng" dirty="0">
                <a:highlight>
                  <a:srgbClr val="FFCC99"/>
                </a:highlight>
                <a:latin typeface="宋体" panose="02010600030101010101" pitchFamily="2" charset="-122"/>
              </a:rPr>
              <a:t>通用寄存器</a:t>
            </a:r>
            <a:r>
              <a:rPr lang="en-US" altLang="zh-CN" sz="1800" b="1" dirty="0">
                <a:latin typeface="宋体" panose="02010600030101010101" pitchFamily="2" charset="-122"/>
              </a:rPr>
              <a:t>GPR)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←成本</a:t>
            </a:r>
            <a:r>
              <a:rPr lang="zh-CN" altLang="en-US" sz="1800" b="1" dirty="0"/>
              <a:t>↓</a:t>
            </a:r>
            <a:r>
              <a:rPr lang="zh-CN" altLang="en-US" sz="1800" b="1" dirty="0">
                <a:latin typeface="宋体" panose="02010600030101010101" pitchFamily="2" charset="-122"/>
              </a:rPr>
              <a:t>、利用率</a:t>
            </a:r>
            <a:r>
              <a:rPr lang="zh-CN" altLang="en-US" sz="1800" b="1" dirty="0"/>
              <a:t>↑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            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dirty="0">
                <a:sym typeface="+mn-ea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G</a:t>
            </a:r>
            <a:r>
              <a:rPr lang="en-US" altLang="zh-CN" sz="1600" dirty="0">
                <a:sym typeface="+mn-ea"/>
              </a:rPr>
              <a:t>eneral 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P</a:t>
            </a:r>
            <a:r>
              <a:rPr lang="en-US" altLang="zh-CN" sz="1600" dirty="0">
                <a:sym typeface="+mn-ea"/>
              </a:rPr>
              <a:t>urpose 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R</a:t>
            </a:r>
            <a:r>
              <a:rPr lang="en-US" altLang="zh-CN" sz="1600" dirty="0">
                <a:sym typeface="+mn-ea"/>
              </a:rPr>
              <a:t>egister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39987" y="2601104"/>
            <a:ext cx="3312160" cy="431800"/>
            <a:chOff x="7257" y="4082"/>
            <a:chExt cx="5216" cy="680"/>
          </a:xfrm>
        </p:grpSpPr>
        <p:sp>
          <p:nvSpPr>
            <p:cNvPr id="53" name="矩形 52"/>
            <p:cNvSpPr/>
            <p:nvPr>
              <p:custDataLst>
                <p:tags r:id="rId29"/>
              </p:custDataLst>
            </p:nvPr>
          </p:nvSpPr>
          <p:spPr bwMode="auto">
            <a:xfrm>
              <a:off x="7257" y="4082"/>
              <a:ext cx="5216" cy="680"/>
            </a:xfrm>
            <a:prstGeom prst="rect">
              <a:avLst/>
            </a:prstGeom>
            <a:solidFill>
              <a:srgbClr val="99CCFF"/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30"/>
              </p:custDataLst>
            </p:nvPr>
          </p:nvSpPr>
          <p:spPr bwMode="auto">
            <a:xfrm>
              <a:off x="9242" y="4422"/>
              <a:ext cx="1247" cy="34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矩形 91"/>
            <p:cNvSpPr/>
            <p:nvPr>
              <p:custDataLst>
                <p:tags r:id="rId31"/>
              </p:custDataLst>
            </p:nvPr>
          </p:nvSpPr>
          <p:spPr bwMode="auto">
            <a:xfrm>
              <a:off x="11112" y="4082"/>
              <a:ext cx="1247" cy="34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619672" y="2204864"/>
            <a:ext cx="5904230" cy="1151890"/>
            <a:chOff x="3288" y="3458"/>
            <a:chExt cx="9298" cy="1814"/>
          </a:xfrm>
        </p:grpSpPr>
        <p:sp>
          <p:nvSpPr>
            <p:cNvPr id="54" name="Text Box 9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498" y="3458"/>
              <a:ext cx="1247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1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个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6" name="Text Box 9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12" y="3458"/>
              <a:ext cx="1247" cy="175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可见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  <a:p>
              <a:pPr algn="ctr">
                <a:lnSpc>
                  <a:spcPct val="90000"/>
                </a:lnSpc>
              </a:pPr>
              <a:endParaRPr lang="en-US" altLang="zh-CN" sz="20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专用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cxnSp>
          <p:nvCxnSpPr>
            <p:cNvPr id="58" name="直接箭头连接符 57"/>
            <p:cNvCxnSpPr/>
            <p:nvPr>
              <p:custDataLst>
                <p:tags r:id="rId22"/>
              </p:custDataLst>
            </p:nvPr>
          </p:nvCxnSpPr>
          <p:spPr bwMode="auto">
            <a:xfrm>
              <a:off x="3912" y="4819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0" name="Text Box 9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370" y="4082"/>
              <a:ext cx="1247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个</a:t>
              </a:r>
            </a:p>
          </p:txBody>
        </p:sp>
        <p:sp>
          <p:nvSpPr>
            <p:cNvPr id="93" name="左大括号 92"/>
            <p:cNvSpPr/>
            <p:nvPr>
              <p:custDataLst>
                <p:tags r:id="rId24"/>
              </p:custDataLst>
            </p:nvPr>
          </p:nvSpPr>
          <p:spPr bwMode="auto">
            <a:xfrm>
              <a:off x="3685" y="3515"/>
              <a:ext cx="170" cy="1644"/>
            </a:xfrm>
            <a:prstGeom prst="leftBrace">
              <a:avLst>
                <a:gd name="adj1" fmla="val 17409"/>
                <a:gd name="adj2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2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88" y="3458"/>
              <a:ext cx="340" cy="175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t" anchorCtr="0"/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所有寄存器</a:t>
              </a:r>
            </a:p>
          </p:txBody>
        </p:sp>
        <p:sp>
          <p:nvSpPr>
            <p:cNvPr id="96" name="Text Box 2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86" y="4932"/>
              <a:ext cx="720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  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  </a:t>
              </a:r>
              <a:r>
                <a:rPr lang="zh-CN" altLang="en-US" sz="1600" b="1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 </a:t>
              </a:r>
              <a:r>
                <a:rPr lang="zh-CN" altLang="en-US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</a:t>
              </a:r>
            </a:p>
          </p:txBody>
        </p:sp>
        <p:sp>
          <p:nvSpPr>
            <p:cNvPr id="61" name="Text Box 9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242" y="4082"/>
              <a:ext cx="124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个</a:t>
              </a:r>
            </a:p>
          </p:txBody>
        </p:sp>
        <p:sp>
          <p:nvSpPr>
            <p:cNvPr id="86" name="Text Box 9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112" y="4422"/>
              <a:ext cx="124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个</a:t>
              </a:r>
            </a:p>
          </p:txBody>
        </p:sp>
      </p:grpSp>
      <p:sp>
        <p:nvSpPr>
          <p:cNvPr id="199708" name="Text Box 28"/>
          <p:cNvSpPr txBox="1">
            <a:spLocks noChangeArrowheads="1"/>
          </p:cNvSpPr>
          <p:nvPr/>
        </p:nvSpPr>
        <p:spPr bwMode="auto">
          <a:xfrm>
            <a:off x="179388" y="3429000"/>
            <a:ext cx="8785225" cy="28041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相对寻址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>
                <a:solidFill>
                  <a:schemeClr val="tx1"/>
                </a:solidFill>
                <a:latin typeface="+mn-lt"/>
                <a:sym typeface="+mn-ea"/>
              </a:rPr>
              <a:t>Relative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Addressing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形式地址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偏移量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长度＜</a:t>
            </a:r>
            <a:r>
              <a:rPr lang="en-US" altLang="zh-CN" sz="1600" b="1" dirty="0">
                <a:latin typeface="宋体" panose="02010600030101010101" pitchFamily="2" charset="-122"/>
              </a:rPr>
              <a:t>MEM</a:t>
            </a:r>
            <a:r>
              <a:rPr lang="zh-CN" altLang="en-US" sz="1600" b="1" dirty="0">
                <a:latin typeface="宋体" panose="02010600030101010101" pitchFamily="2" charset="-122"/>
              </a:rPr>
              <a:t>地址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说明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相对寻址的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有符号数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！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默认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变址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基址寻址的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spc="-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spc="-50" dirty="0">
                <a:latin typeface="宋体" panose="02010600030101010101" pitchFamily="2" charset="-122"/>
                <a:sym typeface="+mn-ea"/>
              </a:rPr>
              <a:t>无符号数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  <a:sym typeface="+mn-ea"/>
              </a:rPr>
              <a:t>寻址方式会</a:t>
            </a:r>
            <a:r>
              <a:rPr lang="zh-CN" altLang="en-US" sz="1800" b="1" spc="-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给出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57260" y="4365104"/>
            <a:ext cx="6195060" cy="935990"/>
            <a:chOff x="1530" y="5159"/>
            <a:chExt cx="9756" cy="1474"/>
          </a:xfrm>
        </p:grpSpPr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628" y="5326"/>
              <a:ext cx="170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F8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40" name="Text Box 5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384" y="5899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latin typeface="宋体" panose="02010600030101010101" pitchFamily="2" charset="-122"/>
                </a:rPr>
                <a:t>XX</a:t>
              </a:r>
            </a:p>
          </p:txBody>
        </p:sp>
        <p:sp>
          <p:nvSpPr>
            <p:cNvPr id="42" name="Text Box 5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556" y="5502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寄存器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43" name="Text Box 5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041" y="5326"/>
              <a:ext cx="1588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OPx</a:t>
              </a:r>
            </a:p>
          </p:txBody>
        </p:sp>
        <p:sp>
          <p:nvSpPr>
            <p:cNvPr id="44" name="Text Box 6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30" y="5785"/>
              <a:ext cx="3231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>
                  <a:latin typeface="宋体" panose="02010600030101010101" pitchFamily="2" charset="-122"/>
                  <a:sym typeface="+mn-ea"/>
                </a:rPr>
                <a:t>PC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A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4139" y="5329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99" name="直接箭头连接符 98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765" y="5159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9"/>
              </p:custDataLst>
            </p:nvPr>
          </p:nvCxnSpPr>
          <p:spPr bwMode="auto">
            <a:xfrm>
              <a:off x="4765" y="5159"/>
              <a:ext cx="31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10"/>
              </p:custDataLst>
            </p:nvPr>
          </p:nvCxnSpPr>
          <p:spPr bwMode="auto">
            <a:xfrm>
              <a:off x="7090" y="612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89" name="Text Box 1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209" y="5953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</a:p>
          </p:txBody>
        </p:sp>
        <p:sp>
          <p:nvSpPr>
            <p:cNvPr id="12" name="AutoShape 27"/>
            <p:cNvSpPr/>
            <p:nvPr>
              <p:custDataLst>
                <p:tags r:id="rId12"/>
              </p:custDataLst>
            </p:nvPr>
          </p:nvSpPr>
          <p:spPr bwMode="auto">
            <a:xfrm>
              <a:off x="10096" y="5613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5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64" y="5613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4" name="Text Box 5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64" y="5216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存储器</a:t>
              </a:r>
            </a:p>
          </p:txBody>
        </p:sp>
        <p:cxnSp>
          <p:nvCxnSpPr>
            <p:cNvPr id="15" name="直接箭头连接符 14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8564" y="595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8564" y="629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" name="Oval 8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714" y="5953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lstStyle/>
            <a:p>
              <a:pPr algn="ctr"/>
              <a:r>
                <a:rPr lang="zh-CN" altLang="en-US" sz="1600" b="1"/>
                <a:t>＋</a:t>
              </a:r>
            </a:p>
          </p:txBody>
        </p:sp>
        <p:cxnSp>
          <p:nvCxnSpPr>
            <p:cNvPr id="98" name="直接箭头连接符 97"/>
            <p:cNvCxnSpPr/>
            <p:nvPr>
              <p:custDataLst>
                <p:tags r:id="rId18"/>
              </p:custDataLst>
            </p:nvPr>
          </p:nvCxnSpPr>
          <p:spPr bwMode="auto">
            <a:xfrm>
              <a:off x="7884" y="5159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19"/>
              </p:custDataLst>
            </p:nvPr>
          </p:nvCxnSpPr>
          <p:spPr bwMode="auto">
            <a:xfrm>
              <a:off x="8054" y="6123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6" name="AutoShape 455">
            <a:hlinkClick r:id="rId36" action="ppaction://hlinksldjump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5184000" y="650719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9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9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9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9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28</a:t>
            </a:fld>
            <a:endParaRPr lang="en-US" altLang="zh-CN"/>
          </a:p>
        </p:txBody>
      </p:sp>
      <p:sp>
        <p:nvSpPr>
          <p:cNvPr id="24371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404664"/>
            <a:ext cx="8784783" cy="50343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假设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取指令时自动完成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按字节编址，相对寻址的跳转指令格式如下图。某相对寻址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的跳转指令的指令地址为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(1)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若该指令的转移目标地址为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0120H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，则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M[0101H]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(2)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M[0101H]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EEH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，则该指令的转移目标地址为多少？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解：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取指令时，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0102H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指令执行时，转移目标地址＝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为补码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[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0120H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001EH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因偏移量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位，故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M[0101H]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Cut(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1EH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取指令时，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执行指令时，转移目标地址＝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SExt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EEH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长度需相同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FFEEH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00F0H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6299904" y="980728"/>
            <a:ext cx="2448560" cy="467995"/>
            <a:chOff x="9411" y="2381"/>
            <a:chExt cx="3856" cy="737"/>
          </a:xfrm>
        </p:grpSpPr>
        <p:sp>
          <p:nvSpPr>
            <p:cNvPr id="107" name="Text Box 1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411" y="2721"/>
              <a:ext cx="192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108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339" y="2721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09" name="Text 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754" y="2381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字节</a:t>
              </a:r>
            </a:p>
          </p:txBody>
        </p:sp>
        <p:cxnSp>
          <p:nvCxnSpPr>
            <p:cNvPr id="110" name="直接箭头连接符 109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9411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9411" y="2551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8"/>
              </p:custDataLst>
            </p:nvPr>
          </p:nvCxnSpPr>
          <p:spPr bwMode="auto">
            <a:xfrm>
              <a:off x="10998" y="2551"/>
              <a:ext cx="341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1339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4" name="Text 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679" y="2381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字节</a:t>
              </a:r>
            </a:p>
          </p:txBody>
        </p:sp>
        <p:cxnSp>
          <p:nvCxnSpPr>
            <p:cNvPr id="115" name="直接箭头连接符 114"/>
            <p:cNvCxnSpPr/>
            <p:nvPr>
              <p:custDataLst>
                <p:tags r:id="rId11"/>
              </p:custDataLst>
            </p:nvPr>
          </p:nvCxnSpPr>
          <p:spPr bwMode="auto">
            <a:xfrm flipH="1" flipV="1">
              <a:off x="11339" y="2551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12"/>
              </p:custDataLst>
            </p:nvPr>
          </p:nvCxnSpPr>
          <p:spPr bwMode="auto">
            <a:xfrm>
              <a:off x="12926" y="2551"/>
              <a:ext cx="341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13266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8" name="AutoShape 62">
            <a:hlinkClick r:id="rId16" action="ppaction://hlinksldjump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5184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3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3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3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3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3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3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29</a:t>
            </a:fld>
            <a:endParaRPr lang="en-US" altLang="zh-CN"/>
          </a:p>
        </p:txBody>
      </p:sp>
      <p:sp>
        <p:nvSpPr>
          <p:cNvPr id="169994" name="Text Box 1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404664"/>
            <a:ext cx="8689340" cy="50254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假设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取指令时自动完成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，主存按字节编址，基址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和变址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各有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记为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RB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RI)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，单地址指令格式如下。设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(RB)=8000H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(RI)=0007H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(PC)=1234H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，请计算下列指令字的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OPD/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指令的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EA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(1)4428H  (2)2244H </a:t>
            </a: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(3)1330H  (4)3592H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解：</a:t>
            </a:r>
            <a:r>
              <a:rPr lang="en-US" altLang="zh-CN" sz="2000" b="1" dirty="0">
                <a:latin typeface="宋体" panose="02010600030101010101" pitchFamily="2" charset="-122"/>
              </a:rPr>
              <a:t>(1)4428H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0010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1000B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000" b="1" dirty="0">
                <a:latin typeface="宋体" panose="02010600030101010101" pitchFamily="2" charset="-122"/>
              </a:rPr>
              <a:t>(2)2244H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0010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0100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0100B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000" b="1" dirty="0">
                <a:latin typeface="宋体" panose="02010600030101010101" pitchFamily="2" charset="-122"/>
              </a:rPr>
              <a:t>(3)1330H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0001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0011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0000B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000" b="1" dirty="0">
                <a:latin typeface="宋体" panose="02010600030101010101" pitchFamily="2" charset="-122"/>
              </a:rPr>
              <a:t>(4)3592H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0011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1001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0010B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1720" y="2681531"/>
            <a:ext cx="6817325" cy="31326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                 [OPD]</a:t>
            </a:r>
            <a:r>
              <a:rPr lang="zh-CN" altLang="en-US" sz="2000" b="1" baseline="-18000" dirty="0">
                <a:latin typeface="宋体" panose="02010600030101010101" pitchFamily="2" charset="-122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28H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                基址寻址</a:t>
            </a:r>
            <a:r>
              <a:rPr lang="en-US" altLang="zh-CN" sz="2000" b="1" dirty="0">
                <a:latin typeface="宋体" panose="02010600030101010101" pitchFamily="2" charset="-122"/>
              </a:rPr>
              <a:t>(A=44H)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EA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(RB)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8000H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>
                <a:latin typeface="宋体" panose="02010600030101010101" pitchFamily="2" charset="-122"/>
              </a:rPr>
              <a:t>44H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8044H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                变址寻址</a:t>
            </a:r>
            <a:r>
              <a:rPr lang="en-US" altLang="zh-CN" sz="2000" b="1" dirty="0">
                <a:latin typeface="宋体" panose="02010600030101010101" pitchFamily="2" charset="-122"/>
              </a:rPr>
              <a:t>(A=30H)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EA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(RI)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0007H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>
                <a:latin typeface="宋体" panose="02010600030101010101" pitchFamily="2" charset="-122"/>
              </a:rPr>
              <a:t>30H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0037H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                相对寻址</a:t>
            </a:r>
            <a:r>
              <a:rPr lang="en-US" altLang="zh-CN" sz="2000" b="1" dirty="0">
                <a:latin typeface="宋体" panose="02010600030101010101" pitchFamily="2" charset="-122"/>
              </a:rPr>
              <a:t>(A=92H)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转移目标地址＝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(1234H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SExt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92H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1236H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FF92H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11C8H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508104" y="1673419"/>
            <a:ext cx="3060700" cy="935990"/>
            <a:chOff x="8333" y="3969"/>
            <a:chExt cx="4820" cy="1474"/>
          </a:xfrm>
        </p:grpSpPr>
        <p:sp>
          <p:nvSpPr>
            <p:cNvPr id="3" name="Text Box 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333" y="4254"/>
              <a:ext cx="2041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4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374" y="4254"/>
              <a:ext cx="260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F       A</a:t>
              </a:r>
            </a:p>
          </p:txBody>
        </p:sp>
        <p:sp>
          <p:nvSpPr>
            <p:cNvPr id="5" name="Text Box 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333" y="3969"/>
              <a:ext cx="4762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15        10 9 8 7         0</a:t>
              </a:r>
            </a:p>
          </p:txBody>
        </p:sp>
        <p:sp>
          <p:nvSpPr>
            <p:cNvPr id="6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334" y="4649"/>
              <a:ext cx="4819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为立即寻址，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为相对寻址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为基址寻址，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为变址寻址</a:t>
              </a:r>
            </a:p>
          </p:txBody>
        </p:sp>
        <p:cxnSp>
          <p:nvCxnSpPr>
            <p:cNvPr id="13" name="直接箭头连接符 12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0997" y="425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6" name="AutoShape 62">
            <a:hlinkClick r:id="rId12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3996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7" name="AutoShape 62">
            <a:hlinkClick r:id="rId13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5184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9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9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9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30</a:t>
            </a:fld>
            <a:endParaRPr lang="en-US" altLang="zh-CN"/>
          </a:p>
        </p:txBody>
      </p:sp>
      <p:sp>
        <p:nvSpPr>
          <p:cNvPr id="193548" name="Text Box 12"/>
          <p:cNvSpPr txBox="1">
            <a:spLocks noChangeArrowheads="1"/>
          </p:cNvSpPr>
          <p:nvPr/>
        </p:nvSpPr>
        <p:spPr bwMode="auto">
          <a:xfrm>
            <a:off x="179705" y="332656"/>
            <a:ext cx="8702040" cy="16220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隐含寻址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</a:rPr>
              <a:t>Implied</a:t>
            </a:r>
            <a:r>
              <a:rPr lang="en-US" altLang="zh-CN" sz="1600" dirty="0">
                <a:solidFill>
                  <a:schemeClr val="tx1"/>
                </a:solidFill>
              </a:rPr>
              <a:t> Addressing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2200" b="1" dirty="0">
                <a:latin typeface="宋体" panose="02010600030101010101" pitchFamily="2" charset="-122"/>
              </a:rPr>
              <a:t>地址码，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地址形成方法</a:t>
            </a:r>
            <a:r>
              <a:rPr lang="zh-CN" altLang="en-US" sz="2200" b="1" dirty="0">
                <a:latin typeface="宋体" panose="02010600030101010101" pitchFamily="2" charset="-122"/>
              </a:rPr>
              <a:t>由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2200" b="1" dirty="0">
                <a:latin typeface="宋体" panose="02010600030101010101" pitchFamily="2" charset="-122"/>
              </a:rPr>
              <a:t>指明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示例：</a:t>
            </a:r>
            <a:r>
              <a:rPr lang="en-US" altLang="zh-CN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(a)OPD</a:t>
            </a:r>
            <a:r>
              <a:rPr lang="zh-CN" altLang="en-US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为</a:t>
            </a:r>
            <a:r>
              <a:rPr lang="zh-CN" altLang="en-US" sz="1800" b="1" u="sng" dirty="0">
                <a:latin typeface="宋体" panose="02010600030101010101" pitchFamily="2" charset="-122"/>
                <a:sym typeface="Wingdings" panose="05000000000000000000" pitchFamily="2" charset="2"/>
              </a:rPr>
              <a:t>恒定值</a:t>
            </a:r>
            <a:r>
              <a:rPr lang="zh-CN" altLang="en-US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Ra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(Ra)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中的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←立即数不能隐含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(b)</a:t>
            </a:r>
            <a:r>
              <a:rPr lang="en-US" altLang="zh-CN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在</a:t>
            </a:r>
            <a:r>
              <a:rPr lang="zh-CN" altLang="en-US" sz="1800" b="1" u="sng" dirty="0">
                <a:latin typeface="宋体" panose="02010600030101010101" pitchFamily="2" charset="-122"/>
                <a:sym typeface="Wingdings" panose="05000000000000000000" pitchFamily="2" charset="2"/>
              </a:rPr>
              <a:t>栈顶或约定的</a:t>
            </a:r>
            <a:r>
              <a:rPr lang="en-US" altLang="zh-CN" sz="1800" b="1" u="sng" dirty="0">
                <a:latin typeface="宋体" panose="02010600030101010101" pitchFamily="2" charset="-122"/>
                <a:sym typeface="Wingdings" panose="05000000000000000000" pitchFamily="2" charset="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中，如返回指令、顺序寻址</a:t>
            </a:r>
            <a:endParaRPr lang="en-US" altLang="zh-CN" sz="1800" b="1" dirty="0"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90500" y="1988840"/>
            <a:ext cx="8705850" cy="130375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寻址方式小结：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latin typeface="+mn-ea"/>
                <a:ea typeface="+mn-ea"/>
              </a:rPr>
              <a:t>①寻址方式与地址编码方式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互逆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en-US" altLang="zh-CN" sz="2200" b="1" dirty="0">
                <a:latin typeface="+mn-ea"/>
                <a:ea typeface="+mn-ea"/>
              </a:rPr>
              <a:t>EA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latin typeface="+mn-ea"/>
                <a:ea typeface="+mn-ea"/>
              </a:rPr>
              <a:t>f(</a:t>
            </a:r>
            <a:r>
              <a:rPr lang="zh-CN" altLang="en-US" sz="2000" b="1" dirty="0">
                <a:latin typeface="+mn-ea"/>
                <a:ea typeface="+mn-ea"/>
              </a:rPr>
              <a:t>方式位</a:t>
            </a:r>
            <a:r>
              <a:rPr lang="en-US" altLang="zh-CN" sz="2000" b="1" dirty="0">
                <a:latin typeface="+mn-ea"/>
                <a:ea typeface="+mn-ea"/>
              </a:rPr>
              <a:t>,</a:t>
            </a:r>
            <a:r>
              <a:rPr lang="zh-CN" altLang="en-US" sz="2000" b="1" dirty="0">
                <a:latin typeface="+mn-ea"/>
                <a:ea typeface="+mn-ea"/>
              </a:rPr>
              <a:t>地址参数</a:t>
            </a:r>
            <a:r>
              <a:rPr lang="en-US" altLang="zh-CN" sz="22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latin typeface="+mn-ea"/>
                <a:ea typeface="+mn-ea"/>
              </a:rPr>
              <a:t>②数据寻址中的</a:t>
            </a:r>
            <a:r>
              <a:rPr lang="en-US" altLang="zh-CN" sz="2200" b="1" u="sng" dirty="0">
                <a:latin typeface="+mn-ea"/>
                <a:ea typeface="+mn-ea"/>
              </a:rPr>
              <a:t>MEM</a:t>
            </a:r>
            <a:r>
              <a:rPr lang="zh-CN" altLang="en-US" sz="2200" b="1" u="sng" dirty="0">
                <a:latin typeface="+mn-ea"/>
                <a:ea typeface="+mn-ea"/>
              </a:rPr>
              <a:t>寻址方式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部分可用于</a:t>
            </a:r>
            <a:r>
              <a:rPr lang="zh-CN" altLang="en-US" sz="2200" b="1" dirty="0">
                <a:latin typeface="+mn-ea"/>
                <a:ea typeface="+mn-ea"/>
              </a:rPr>
              <a:t>指令寻址</a:t>
            </a:r>
          </a:p>
        </p:txBody>
      </p:sp>
      <p:graphicFrame>
        <p:nvGraphicFramePr>
          <p:cNvPr id="16" name="Group 3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9969761"/>
              </p:ext>
            </p:extLst>
          </p:nvPr>
        </p:nvGraphicFramePr>
        <p:xfrm>
          <a:off x="1547495" y="3356630"/>
          <a:ext cx="5669280" cy="876960"/>
        </p:xfrm>
        <a:graphic>
          <a:graphicData uri="http://schemas.openxmlformats.org/drawingml/2006/table">
            <a:tbl>
              <a:tblPr/>
              <a:tblGrid>
                <a:gridCol w="1142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常用寻址方式</a:t>
                      </a: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数据寻址</a:t>
                      </a: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除相对寻址外，其余均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</a:t>
                      </a: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指令寻址</a:t>
                      </a: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使用直接、相对、寄存器间接、隐含方式</a:t>
                      </a: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Box 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25500" y="4293255"/>
            <a:ext cx="7893685" cy="8141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注意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不同</a:t>
            </a:r>
            <a:r>
              <a:rPr lang="en-US" altLang="zh-CN" sz="2200" b="1" dirty="0">
                <a:latin typeface="宋体" panose="02010600030101010101" pitchFamily="2" charset="-122"/>
              </a:rPr>
              <a:t>ISA</a:t>
            </a:r>
            <a:r>
              <a:rPr lang="zh-CN" altLang="en-US" sz="2200" b="1" dirty="0">
                <a:latin typeface="宋体" panose="02010600030101010101" pitchFamily="2" charset="-122"/>
              </a:rPr>
              <a:t>对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寻址方式的命名</a:t>
            </a:r>
            <a:r>
              <a:rPr lang="zh-CN" altLang="en-US" sz="2200" b="1" dirty="0">
                <a:latin typeface="宋体" panose="02010600030101010101" pitchFamily="2" charset="-122"/>
              </a:rPr>
              <a:t>可能不同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dirty="0">
                <a:latin typeface="宋体" panose="02010600030101010101" pitchFamily="2" charset="-122"/>
              </a:rPr>
              <a:t>变址寻址、基址寻址、相对寻址可统称为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偏移寻址</a:t>
            </a:r>
          </a:p>
        </p:txBody>
      </p:sp>
      <p:sp>
        <p:nvSpPr>
          <p:cNvPr id="21" name="AutoShape 62">
            <a:hlinkClick r:id="rId6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3996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31</a:t>
            </a:fld>
            <a:endParaRPr lang="en-US" altLang="zh-CN"/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1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32656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、指令格式分析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*指令系统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分析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sz="2200" b="1" dirty="0">
                <a:latin typeface="宋体" panose="02010600030101010101" pitchFamily="2" charset="-122"/>
              </a:rPr>
              <a:t>数据表示仅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整数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，寄存器为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GPR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通用寄存器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99" name="Text Box 50"/>
          <p:cNvSpPr txBox="1">
            <a:spLocks noChangeArrowheads="1"/>
          </p:cNvSpPr>
          <p:nvPr/>
        </p:nvSpPr>
        <p:spPr bwMode="auto">
          <a:xfrm>
            <a:off x="179705" y="4365104"/>
            <a:ext cx="8959215" cy="1963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数据的表示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长度为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位，机器字长为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数据的存放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个、长度为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编址单位为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位、地址为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编码方式，格式信息用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方式表示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spc="-6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数据寻址有</a:t>
            </a:r>
            <a:r>
              <a:rPr lang="en-US" altLang="zh-CN" sz="2000" b="1" u="sng" spc="-6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000" b="1" spc="-6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方式，</a:t>
            </a:r>
            <a:r>
              <a:rPr lang="en-US" altLang="zh-CN" sz="2000" b="1" u="sng" spc="-6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spc="-6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指令方式位显式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指令字特征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包含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地址指令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字长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指令，采用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指令字结构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Text Box 5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82190" y="4365349"/>
            <a:ext cx="6120000" cy="1963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8               8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4           8                  8           8</a:t>
            </a:r>
            <a:endParaRPr 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扩展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隐式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立即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REG/REG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间接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隐含</a:t>
            </a:r>
            <a:r>
              <a:rPr lang="en-US" altLang="zh-CN" sz="14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sz="14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ADD/JNZ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单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双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单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双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变长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13D7B-D411-4DF8-AA59-3DEE529FAC35}"/>
              </a:ext>
            </a:extLst>
          </p:cNvPr>
          <p:cNvGrpSpPr/>
          <p:nvPr/>
        </p:nvGrpSpPr>
        <p:grpSpPr>
          <a:xfrm>
            <a:off x="936000" y="1268760"/>
            <a:ext cx="8028940" cy="3060111"/>
            <a:chOff x="849" y="3118"/>
            <a:chExt cx="12644" cy="4819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23D0345-5A46-49E7-A00C-67D51DDC99C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5387" y="759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4" name="Text Box 135">
              <a:extLst>
                <a:ext uri="{FF2B5EF4-FFF2-40B4-BE49-F238E27FC236}">
                  <a16:creationId xmlns:a16="http://schemas.microsoft.com/office/drawing/2014/main" id="{D500E92D-B1F7-43BC-B47F-015501A093B9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44" y="3118"/>
              <a:ext cx="4649" cy="481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指令寻址方式</a:t>
              </a:r>
            </a:p>
            <a:p>
              <a:pPr>
                <a:spcBef>
                  <a:spcPts val="2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直接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Addr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或隐含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2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5" name="Text Box 136">
              <a:extLst>
                <a:ext uri="{FF2B5EF4-FFF2-40B4-BE49-F238E27FC236}">
                  <a16:creationId xmlns:a16="http://schemas.microsoft.com/office/drawing/2014/main" id="{9437B7D6-9645-4668-9553-DFECB35209DE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36" y="362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56" name="Text Box 137">
              <a:extLst>
                <a:ext uri="{FF2B5EF4-FFF2-40B4-BE49-F238E27FC236}">
                  <a16:creationId xmlns:a16="http://schemas.microsoft.com/office/drawing/2014/main" id="{E767440E-4639-413D-9635-7E553539F2B4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84" y="3628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0000</a:t>
              </a:r>
            </a:p>
          </p:txBody>
        </p:sp>
        <p:sp>
          <p:nvSpPr>
            <p:cNvPr id="57" name="Text Box 138">
              <a:extLst>
                <a:ext uri="{FF2B5EF4-FFF2-40B4-BE49-F238E27FC236}">
                  <a16:creationId xmlns:a16="http://schemas.microsoft.com/office/drawing/2014/main" id="{6CAF779E-DDE5-4FF7-85DE-D28BFE18FB9E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236" y="442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58" name="Text Box 139">
              <a:extLst>
                <a:ext uri="{FF2B5EF4-FFF2-40B4-BE49-F238E27FC236}">
                  <a16:creationId xmlns:a16="http://schemas.microsoft.com/office/drawing/2014/main" id="{1CC4A036-1D9F-4D5B-B23C-8D0861C1E4CC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236" y="481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59" name="Text Box 140">
              <a:extLst>
                <a:ext uri="{FF2B5EF4-FFF2-40B4-BE49-F238E27FC236}">
                  <a16:creationId xmlns:a16="http://schemas.microsoft.com/office/drawing/2014/main" id="{7CF8B080-3756-4F3A-AFA5-3709211B3545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90" y="481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60" name="Text Box 141">
              <a:extLst>
                <a:ext uri="{FF2B5EF4-FFF2-40B4-BE49-F238E27FC236}">
                  <a16:creationId xmlns:a16="http://schemas.microsoft.com/office/drawing/2014/main" id="{3E851046-BCA7-4CA6-87D7-36C23D91AF44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236" y="600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61" name="Text Box 142">
              <a:extLst>
                <a:ext uri="{FF2B5EF4-FFF2-40B4-BE49-F238E27FC236}">
                  <a16:creationId xmlns:a16="http://schemas.microsoft.com/office/drawing/2014/main" id="{6C3E5FAB-9AE8-4D4D-B6CE-AF77C032A915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556" y="7597"/>
              <a:ext cx="300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 </a:t>
              </a:r>
              <a:r>
                <a:rPr lang="zh-CN" altLang="en-US" sz="12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2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  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  8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</a:t>
              </a:r>
            </a:p>
          </p:txBody>
        </p:sp>
        <p:sp>
          <p:nvSpPr>
            <p:cNvPr id="62" name="Text Box 149">
              <a:extLst>
                <a:ext uri="{FF2B5EF4-FFF2-40B4-BE49-F238E27FC236}">
                  <a16:creationId xmlns:a16="http://schemas.microsoft.com/office/drawing/2014/main" id="{C2094C9D-FC49-4A5E-B905-DB02C7A0A4AB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90" y="6009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63" name="Text Box 150">
              <a:extLst>
                <a:ext uri="{FF2B5EF4-FFF2-40B4-BE49-F238E27FC236}">
                  <a16:creationId xmlns:a16="http://schemas.microsoft.com/office/drawing/2014/main" id="{FC89F5F5-9252-4E0E-AA66-2FBA21E858A6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36" y="402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64" name="Text Box 151">
              <a:extLst>
                <a:ext uri="{FF2B5EF4-FFF2-40B4-BE49-F238E27FC236}">
                  <a16:creationId xmlns:a16="http://schemas.microsoft.com/office/drawing/2014/main" id="{F890699A-09E4-4C8E-9500-5649E3118047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143" y="3629"/>
              <a:ext cx="170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Imm</a:t>
              </a:r>
            </a:p>
          </p:txBody>
        </p:sp>
        <p:sp>
          <p:nvSpPr>
            <p:cNvPr id="65" name="Text Box 152">
              <a:extLst>
                <a:ext uri="{FF2B5EF4-FFF2-40B4-BE49-F238E27FC236}">
                  <a16:creationId xmlns:a16="http://schemas.microsoft.com/office/drawing/2014/main" id="{B13CB56E-60C9-45C3-BA03-3E3CD4DDF622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690" y="402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66" name="Text Box 153">
              <a:extLst>
                <a:ext uri="{FF2B5EF4-FFF2-40B4-BE49-F238E27FC236}">
                  <a16:creationId xmlns:a16="http://schemas.microsoft.com/office/drawing/2014/main" id="{15EB2534-45D5-432B-854A-909EFDEE527C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90" y="442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67" name="Text Box 154">
              <a:extLst>
                <a:ext uri="{FF2B5EF4-FFF2-40B4-BE49-F238E27FC236}">
                  <a16:creationId xmlns:a16="http://schemas.microsoft.com/office/drawing/2014/main" id="{7F85DE3C-6285-4D73-929F-44BE10264C3F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690" y="3628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68" name="Text Box 155">
              <a:extLst>
                <a:ext uri="{FF2B5EF4-FFF2-40B4-BE49-F238E27FC236}">
                  <a16:creationId xmlns:a16="http://schemas.microsoft.com/office/drawing/2014/main" id="{AA590FB2-C87C-483E-8ABF-3E7E2FF57C01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143" y="6803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Addr</a:t>
              </a:r>
            </a:p>
          </p:txBody>
        </p:sp>
        <p:sp>
          <p:nvSpPr>
            <p:cNvPr id="69" name="Text Box 156">
              <a:extLst>
                <a:ext uri="{FF2B5EF4-FFF2-40B4-BE49-F238E27FC236}">
                  <a16:creationId xmlns:a16="http://schemas.microsoft.com/office/drawing/2014/main" id="{D5C7E491-9453-4095-BC11-D194E44F2698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236" y="6803"/>
              <a:ext cx="907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0000</a:t>
              </a:r>
            </a:p>
          </p:txBody>
        </p:sp>
        <p:sp>
          <p:nvSpPr>
            <p:cNvPr id="70" name="Text Box 157">
              <a:extLst>
                <a:ext uri="{FF2B5EF4-FFF2-40B4-BE49-F238E27FC236}">
                  <a16:creationId xmlns:a16="http://schemas.microsoft.com/office/drawing/2014/main" id="{5A2FD966-2C1E-446D-BCDA-7F4CDE1278B5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236" y="640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71" name="Text Box 158">
              <a:extLst>
                <a:ext uri="{FF2B5EF4-FFF2-40B4-BE49-F238E27FC236}">
                  <a16:creationId xmlns:a16="http://schemas.microsoft.com/office/drawing/2014/main" id="{9046DFDD-69AD-4789-B9B0-DC1E76FD341E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690" y="6406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72" name="Text Box 159">
              <a:extLst>
                <a:ext uri="{FF2B5EF4-FFF2-40B4-BE49-F238E27FC236}">
                  <a16:creationId xmlns:a16="http://schemas.microsoft.com/office/drawing/2014/main" id="{7C4FDB7E-D111-4F7A-8EDA-BDEEE38A4863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499" y="3118"/>
              <a:ext cx="2606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指令字格式</a:t>
              </a:r>
            </a:p>
          </p:txBody>
        </p:sp>
        <p:sp>
          <p:nvSpPr>
            <p:cNvPr id="73" name="Text Box 161">
              <a:extLst>
                <a:ext uri="{FF2B5EF4-FFF2-40B4-BE49-F238E27FC236}">
                  <a16:creationId xmlns:a16="http://schemas.microsoft.com/office/drawing/2014/main" id="{2E72FA1D-467D-4ADF-A0DA-0564FD53500E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384" y="4025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0010</a:t>
              </a:r>
            </a:p>
          </p:txBody>
        </p:sp>
        <p:sp>
          <p:nvSpPr>
            <p:cNvPr id="74" name="Text Box 162">
              <a:extLst>
                <a:ext uri="{FF2B5EF4-FFF2-40B4-BE49-F238E27FC236}">
                  <a16:creationId xmlns:a16="http://schemas.microsoft.com/office/drawing/2014/main" id="{63438B1A-BF69-440A-B822-CF625242B4DB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384" y="4422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</a:p>
          </p:txBody>
        </p:sp>
        <p:sp>
          <p:nvSpPr>
            <p:cNvPr id="75" name="Text Box 163">
              <a:extLst>
                <a:ext uri="{FF2B5EF4-FFF2-40B4-BE49-F238E27FC236}">
                  <a16:creationId xmlns:a16="http://schemas.microsoft.com/office/drawing/2014/main" id="{2098883C-FDE5-48BC-B394-38CB8229A894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84" y="4819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6" name="Text Box 164">
              <a:extLst>
                <a:ext uri="{FF2B5EF4-FFF2-40B4-BE49-F238E27FC236}">
                  <a16:creationId xmlns:a16="http://schemas.microsoft.com/office/drawing/2014/main" id="{6EFFB983-C2E5-421A-A372-CB571A33CEF4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84" y="6009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1000</a:t>
              </a:r>
            </a:p>
          </p:txBody>
        </p:sp>
        <p:sp>
          <p:nvSpPr>
            <p:cNvPr id="77" name="Text Box 165">
              <a:extLst>
                <a:ext uri="{FF2B5EF4-FFF2-40B4-BE49-F238E27FC236}">
                  <a16:creationId xmlns:a16="http://schemas.microsoft.com/office/drawing/2014/main" id="{1E91A547-9A12-4F11-9810-3DA9B3B5C985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84" y="6406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1001</a:t>
              </a:r>
            </a:p>
          </p:txBody>
        </p:sp>
        <p:sp>
          <p:nvSpPr>
            <p:cNvPr id="78" name="Text Box 166">
              <a:extLst>
                <a:ext uri="{FF2B5EF4-FFF2-40B4-BE49-F238E27FC236}">
                  <a16:creationId xmlns:a16="http://schemas.microsoft.com/office/drawing/2014/main" id="{20F98696-C074-43EE-A554-6CFCCB048059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384" y="6803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9" name="Text Box 167">
              <a:extLst>
                <a:ext uri="{FF2B5EF4-FFF2-40B4-BE49-F238E27FC236}">
                  <a16:creationId xmlns:a16="http://schemas.microsoft.com/office/drawing/2014/main" id="{AB20B1FF-F4A1-40C6-BFC7-7C7EBB318454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36" y="521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80" name="Text Box 168">
              <a:extLst>
                <a:ext uri="{FF2B5EF4-FFF2-40B4-BE49-F238E27FC236}">
                  <a16:creationId xmlns:a16="http://schemas.microsoft.com/office/drawing/2014/main" id="{0C794913-9C4B-409A-A5F1-92BBA9D35B63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690" y="521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81" name="Text Box 169">
              <a:extLst>
                <a:ext uri="{FF2B5EF4-FFF2-40B4-BE49-F238E27FC236}">
                  <a16:creationId xmlns:a16="http://schemas.microsoft.com/office/drawing/2014/main" id="{BE0D2DFF-7F38-4E5B-B5EC-383C73213BCB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84" y="5216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Text Box 170">
              <a:extLst>
                <a:ext uri="{FF2B5EF4-FFF2-40B4-BE49-F238E27FC236}">
                  <a16:creationId xmlns:a16="http://schemas.microsoft.com/office/drawing/2014/main" id="{9D58885E-69DC-4DEC-AE0F-56DE5E2D7CF1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236" y="7200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sp>
          <p:nvSpPr>
            <p:cNvPr id="83" name="Text Box 171">
              <a:extLst>
                <a:ext uri="{FF2B5EF4-FFF2-40B4-BE49-F238E27FC236}">
                  <a16:creationId xmlns:a16="http://schemas.microsoft.com/office/drawing/2014/main" id="{812936CA-ABBC-4DFA-9FA2-74B6A5A86854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384" y="7200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4" name="Text Box 172">
              <a:extLst>
                <a:ext uri="{FF2B5EF4-FFF2-40B4-BE49-F238E27FC236}">
                  <a16:creationId xmlns:a16="http://schemas.microsoft.com/office/drawing/2014/main" id="{C27D03BB-1ED2-44DA-A6F3-CB75EBB64AFD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009" y="7200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5" name="Text Box 173">
              <a:extLst>
                <a:ext uri="{FF2B5EF4-FFF2-40B4-BE49-F238E27FC236}">
                  <a16:creationId xmlns:a16="http://schemas.microsoft.com/office/drawing/2014/main" id="{3AB31412-6641-4A0D-8830-06A1977E1287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009" y="6803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6" name="Text Box 174">
              <a:extLst>
                <a:ext uri="{FF2B5EF4-FFF2-40B4-BE49-F238E27FC236}">
                  <a16:creationId xmlns:a16="http://schemas.microsoft.com/office/drawing/2014/main" id="{EECF46FA-FE2B-4D05-8656-05238DDA56C7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009" y="5216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7" name="Text Box 175">
              <a:extLst>
                <a:ext uri="{FF2B5EF4-FFF2-40B4-BE49-F238E27FC236}">
                  <a16:creationId xmlns:a16="http://schemas.microsoft.com/office/drawing/2014/main" id="{5562AF89-28F0-4AB0-8387-E5CFC748CB16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009" y="4819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8" name="Text Box 141">
              <a:extLst>
                <a:ext uri="{FF2B5EF4-FFF2-40B4-BE49-F238E27FC236}">
                  <a16:creationId xmlns:a16="http://schemas.microsoft.com/office/drawing/2014/main" id="{462DAE37-EEAC-4DC5-90F9-EB6621B64BB2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236" y="561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89" name="Text Box 149">
              <a:extLst>
                <a:ext uri="{FF2B5EF4-FFF2-40B4-BE49-F238E27FC236}">
                  <a16:creationId xmlns:a16="http://schemas.microsoft.com/office/drawing/2014/main" id="{BB91D793-8932-4172-B38D-1B1646A7AE05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690" y="561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90" name="Text Box 164">
              <a:extLst>
                <a:ext uri="{FF2B5EF4-FFF2-40B4-BE49-F238E27FC236}">
                  <a16:creationId xmlns:a16="http://schemas.microsoft.com/office/drawing/2014/main" id="{72396663-0807-4698-9E74-E6F68E333462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386" y="5612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6D30901D-380D-445F-8EA3-F2559124CF5E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7143" y="7767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48F2B4DA-B34E-4F50-8DB9-A3A4A18C8E0B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8277" y="7767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DDCD9629-AF8A-4476-AF63-9F6B9640C42E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6236" y="759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F7FBA2F6-61E9-48FC-B05D-F93A4567BF20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7143" y="759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D125B14F-8FD8-456F-8726-7F632E75E66D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8844" y="759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6" name="Text Box 160">
              <a:extLst>
                <a:ext uri="{FF2B5EF4-FFF2-40B4-BE49-F238E27FC236}">
                  <a16:creationId xmlns:a16="http://schemas.microsoft.com/office/drawing/2014/main" id="{A31B56F1-E367-4A50-BC2A-DEC50F752A8B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49" y="3118"/>
              <a:ext cx="4535" cy="481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指令功能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赋值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(MOV): 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RD←Imm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RD←M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M[(RS)]←(RD)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(SUB):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自增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(INC):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自减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(DEC):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(JNZ): ZF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Addr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       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106" name="Text Box 4"/>
          <p:cNvSpPr txBox="1">
            <a:spLocks noChangeArrowheads="1"/>
          </p:cNvSpPr>
          <p:nvPr/>
        </p:nvSpPr>
        <p:spPr bwMode="auto">
          <a:xfrm>
            <a:off x="179388" y="836712"/>
            <a:ext cx="8785225" cy="34121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134745" indent="-1134745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上页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指令系统，若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取指令时自动完成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(1)</a:t>
            </a:r>
            <a:r>
              <a:rPr lang="zh-CN" altLang="en-US" sz="2000" b="1" dirty="0">
                <a:latin typeface="宋体" panose="02010600030101010101" pitchFamily="2" charset="-122"/>
              </a:rPr>
              <a:t>说明指令字</a:t>
            </a:r>
            <a:r>
              <a:rPr lang="en-US" altLang="zh-CN" sz="2000" b="1" dirty="0">
                <a:latin typeface="宋体" panose="02010600030101010101" pitchFamily="2" charset="-122"/>
              </a:rPr>
              <a:t>84H</a:t>
            </a:r>
            <a:r>
              <a:rPr lang="zh-CN" altLang="en-US" sz="2000" b="1" dirty="0">
                <a:latin typeface="宋体" panose="02010600030101010101" pitchFamily="2" charset="-122"/>
              </a:rPr>
              <a:t>的功能。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(2)</a:t>
            </a:r>
            <a:r>
              <a:rPr lang="zh-CN" altLang="en-US" sz="2000" b="1" dirty="0">
                <a:latin typeface="宋体" panose="02010600030101010101" pitchFamily="2" charset="-122"/>
              </a:rPr>
              <a:t>写出</a:t>
            </a:r>
            <a:r>
              <a:rPr lang="en-US" altLang="zh-CN" sz="2000" b="1" dirty="0">
                <a:latin typeface="宋体" panose="02010600030101010101" pitchFamily="2" charset="-122"/>
              </a:rPr>
              <a:t>x=x+3</a:t>
            </a:r>
            <a:r>
              <a:rPr lang="zh-CN" altLang="en-US" sz="2000" b="1" dirty="0">
                <a:latin typeface="宋体" panose="02010600030101010101" pitchFamily="2" charset="-122"/>
              </a:rPr>
              <a:t>的指令序列，</a:t>
            </a:r>
            <a:r>
              <a:rPr lang="en-US" altLang="zh-CN" sz="2000" b="1" dirty="0">
                <a:latin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</a:rPr>
              <a:t>的地址放在寄存器</a:t>
            </a:r>
            <a:r>
              <a:rPr lang="en-US" altLang="zh-CN" sz="2000" b="1" dirty="0">
                <a:latin typeface="宋体" panose="02010600030101010101" pitchFamily="2" charset="-122"/>
              </a:rPr>
              <a:t>R0</a:t>
            </a:r>
            <a:r>
              <a:rPr lang="zh-CN" altLang="en-US" sz="2000" b="1" dirty="0">
                <a:latin typeface="宋体" panose="02010600030101010101" pitchFamily="2" charset="-122"/>
              </a:rPr>
              <a:t>中。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(3)</a:t>
            </a:r>
            <a:r>
              <a:rPr lang="zh-CN" altLang="en-US" sz="2000" b="1" dirty="0">
                <a:latin typeface="宋体" panose="02010600030101010101" pitchFamily="2" charset="-122"/>
              </a:rPr>
              <a:t>若操作码只可放在高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位，最多还可定义多少条指令？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(1)84H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10000100B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，指令功能为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(2)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指令序列为</a:t>
            </a:r>
            <a:r>
              <a:rPr lang="zh-CN" altLang="en-US" sz="2000" b="1" spc="200" dirty="0"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000" b="1" spc="-4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// R1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03H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     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// R1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(R1)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M[(R0)]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       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// M[(R0)]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(R1)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(3)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高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位已使用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个编码，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最多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还可定义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条指令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93548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870204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指令系统应用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1800" b="1" dirty="0"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79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Text Box 141"/>
          <p:cNvSpPr txBox="1">
            <a:spLocks noChangeArrowheads="1"/>
          </p:cNvSpPr>
          <p:nvPr/>
        </p:nvSpPr>
        <p:spPr bwMode="auto">
          <a:xfrm>
            <a:off x="3413854" y="2420888"/>
            <a:ext cx="3966458" cy="14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 R1←(R1)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0000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>
                <a:latin typeface="宋体" panose="02010600030101010101" pitchFamily="2" charset="-122"/>
              </a:rPr>
              <a:t>00 00000011</a:t>
            </a: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010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>
                <a:latin typeface="宋体" panose="02010600030101010101" pitchFamily="2" charset="-122"/>
              </a:rPr>
              <a:t>00</a:t>
            </a: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0011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>
                <a:latin typeface="宋体" panose="02010600030101010101" pitchFamily="2" charset="-122"/>
              </a:rPr>
              <a:t>00 </a:t>
            </a:r>
            <a:r>
              <a:rPr lang="en-US" altLang="zh-CN" sz="1800" b="1" dirty="0">
                <a:latin typeface="宋体" panose="02010600030101010101" pitchFamily="2" charset="-122"/>
              </a:rPr>
              <a:t>     </a:t>
            </a:r>
          </a:p>
        </p:txBody>
      </p:sp>
      <p:sp>
        <p:nvSpPr>
          <p:cNvPr id="7" name="AutoShape 38">
            <a:extLst>
              <a:ext uri="{FF2B5EF4-FFF2-40B4-BE49-F238E27FC236}">
                <a16:creationId xmlns:a16="http://schemas.microsoft.com/office/drawing/2014/main" id="{CB499027-A7F1-4391-A4F0-FED97BFBBC6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04248" y="1351062"/>
            <a:ext cx="2016224" cy="277738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449861"/>
              <a:gd name="adj6" fmla="val -4674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不要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写成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01←(01)+1</a:t>
            </a:r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33</a:t>
            </a:fld>
            <a:endParaRPr lang="en-US" altLang="zh-CN"/>
          </a:p>
        </p:txBody>
      </p:sp>
      <p:sp>
        <p:nvSpPr>
          <p:cNvPr id="7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§4.4 </a:t>
            </a:r>
            <a:r>
              <a:rPr lang="zh-CN" altLang="en-US" sz="2800" b="1" dirty="0">
                <a:latin typeface="宋体" panose="02010600030101010101" pitchFamily="2" charset="-122"/>
              </a:rPr>
              <a:t>指令系统举例</a:t>
            </a:r>
          </a:p>
        </p:txBody>
      </p:sp>
      <p:sp>
        <p:nvSpPr>
          <p:cNvPr id="7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93145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MIPS32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IA32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9420" y="1340928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805180" indent="-8051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回顾：</a:t>
            </a:r>
            <a:r>
              <a:rPr lang="zh-CN" altLang="en-US" sz="1800" b="1" dirty="0">
                <a:latin typeface="宋体" panose="02010600030101010101" pitchFamily="2" charset="-122"/>
              </a:rPr>
              <a:t>指令系统包含的主要内容？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68000" y="1340768"/>
            <a:ext cx="4932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数据表示、</a:t>
            </a:r>
            <a:r>
              <a:rPr lang="en-US" altLang="zh-CN" sz="1600" b="1" dirty="0">
                <a:latin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</a:rPr>
              <a:t>存放、寻址方式、指令功能、指令格式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79704" y="1700808"/>
            <a:ext cx="5244351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MIPS32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    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属于</a:t>
            </a:r>
            <a:r>
              <a:rPr lang="en-US" altLang="zh-CN" sz="2000" b="1" dirty="0">
                <a:latin typeface="宋体" panose="02010600030101010101" pitchFamily="2" charset="-122"/>
              </a:rPr>
              <a:t>RISC)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*数据表示：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整数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浮点数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IR—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" name="Text Box 42"/>
          <p:cNvSpPr txBox="1">
            <a:spLocks noChangeArrowheads="1"/>
          </p:cNvSpPr>
          <p:nvPr/>
        </p:nvSpPr>
        <p:spPr bwMode="auto">
          <a:xfrm>
            <a:off x="1332230" y="2565400"/>
            <a:ext cx="7644130" cy="3765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二进制、定点格式、无符号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编码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补码，</a:t>
            </a:r>
            <a:r>
              <a:rPr lang="en-US" altLang="zh-CN" sz="2200" b="1" dirty="0">
                <a:latin typeface="宋体" panose="02010600030101010101" pitchFamily="2" charset="-122"/>
              </a:rPr>
              <a:t>8/16/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200" b="1" dirty="0">
                <a:latin typeface="宋体" panose="02010600030101010101" pitchFamily="2" charset="-122"/>
              </a:rPr>
              <a:t>位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IEEE 754</a:t>
            </a:r>
            <a:r>
              <a:rPr lang="zh-CN" altLang="en-US" sz="2200" b="1" dirty="0">
                <a:latin typeface="宋体" panose="02010600030101010101" pitchFamily="2" charset="-122"/>
              </a:rPr>
              <a:t>格式，</a:t>
            </a:r>
            <a:r>
              <a:rPr lang="en-US" altLang="zh-CN" sz="2200" b="1" dirty="0">
                <a:latin typeface="宋体" panose="02010600030101010101" pitchFamily="2" charset="-122"/>
              </a:rPr>
              <a:t>32/64</a:t>
            </a:r>
            <a:r>
              <a:rPr lang="zh-CN" altLang="en-US" sz="22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单精度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双精度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字节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编址、</a:t>
            </a:r>
            <a:r>
              <a:rPr lang="en-US" altLang="zh-CN" sz="2200" b="1" u="sng" spc="-100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地址，大端、对齐方式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只存放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16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立即数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，按约定格式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位，只存放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存取时先转换类型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约定：</a:t>
            </a:r>
            <a:r>
              <a:rPr lang="en-US" altLang="zh-CN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R0≡0</a:t>
            </a:r>
            <a:r>
              <a:rPr lang="zh-CN" altLang="en-US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R31</a:t>
            </a:r>
            <a:r>
              <a:rPr lang="zh-CN" altLang="en-US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过程调用返回地址，</a:t>
            </a:r>
            <a:r>
              <a:rPr lang="en-US" altLang="zh-CN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R29</a:t>
            </a:r>
            <a:r>
              <a:rPr lang="zh-CN" altLang="en-US" sz="1800" b="1" dirty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栈指针，…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位，双精度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占用相邻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FPR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不保存</a:t>
            </a:r>
            <a:r>
              <a:rPr lang="zh-CN" altLang="en-US" sz="2200" b="1" dirty="0">
                <a:latin typeface="宋体" panose="02010600030101010101" pitchFamily="2" charset="-122"/>
              </a:rPr>
              <a:t>结果标志</a:t>
            </a:r>
          </a:p>
        </p:txBody>
      </p:sp>
      <p:cxnSp>
        <p:nvCxnSpPr>
          <p:cNvPr id="18" name="直接箭头连接符 17"/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 flipV="1">
            <a:off x="7020272" y="2996952"/>
            <a:ext cx="432049" cy="18002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arrow" w="med" len="med"/>
            <a:tailEnd type="arrow"/>
          </a:ln>
          <a:effectLst/>
        </p:spPr>
      </p:cxnSp>
      <p:sp>
        <p:nvSpPr>
          <p:cNvPr id="78" name="AutoShape 38"/>
          <p:cNvSpPr/>
          <p:nvPr>
            <p:custDataLst>
              <p:tags r:id="rId6"/>
            </p:custDataLst>
          </p:nvPr>
        </p:nvSpPr>
        <p:spPr bwMode="auto">
          <a:xfrm>
            <a:off x="5796136" y="4365104"/>
            <a:ext cx="1512000" cy="252000"/>
          </a:xfrm>
          <a:prstGeom prst="borderCallout2">
            <a:avLst>
              <a:gd name="adj1" fmla="val 48795"/>
              <a:gd name="adj2" fmla="val 527"/>
              <a:gd name="adj3" fmla="val 52953"/>
              <a:gd name="adj4" fmla="val -12530"/>
              <a:gd name="adj5" fmla="val 176678"/>
              <a:gd name="adj6" fmla="val -2120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  <a:sym typeface="+mn-ea"/>
              </a:rPr>
              <a:t>ALU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仅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32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位运算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1901825" y="4665345"/>
            <a:ext cx="1368000" cy="166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FPRs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78" grpId="0" bldLvl="0" animBg="1"/>
      <p:bldP spid="2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3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811780" cy="4458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*寻址方式：</a:t>
            </a: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指令寻址方式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Group 14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90556514"/>
              </p:ext>
            </p:extLst>
          </p:nvPr>
        </p:nvGraphicFramePr>
        <p:xfrm>
          <a:off x="987752" y="908720"/>
          <a:ext cx="7472680" cy="2172240"/>
        </p:xfrm>
        <a:graphic>
          <a:graphicData uri="http://schemas.openxmlformats.org/drawingml/2006/table">
            <a:tbl>
              <a:tblPr/>
              <a:tblGrid>
                <a:gridCol w="1306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地址形成方法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注释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立即寻址</a:t>
                      </a:r>
                    </a:p>
                  </a:txBody>
                  <a:tcPr marL="71755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位立即数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有符号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寄存器寻址</a:t>
                      </a:r>
                    </a:p>
                  </a:txBody>
                  <a:tcPr marL="71755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编号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基址寻址</a:t>
                      </a:r>
                      <a:endParaRPr kumimoji="1" lang="zh-CN" altLang="en-US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相加时先位扩展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相对寻址</a:t>
                      </a:r>
                    </a:p>
                  </a:txBody>
                  <a:tcPr marL="71755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(PC)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&lt;&lt;2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伪直接寻址</a:t>
                      </a:r>
                    </a:p>
                  </a:txBody>
                  <a:tcPr marL="71755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(PC)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</a:rPr>
                        <a:t>‖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&lt;&lt;2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>
                          <a:latin typeface="宋体" panose="02010600030101010101" pitchFamily="2" charset="-122"/>
                        </a:rPr>
                        <a:t>Addr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为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</a:rPr>
                        <a:t>26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位地址，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</a:rPr>
                        <a:t>‖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表示内容拼接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0">
                <a:tc gridSpan="3">
                  <a:txBody>
                    <a:bodyPr/>
                    <a:lstStyle/>
                    <a:p>
                      <a:pPr marL="812800" marR="0" lvl="0" indent="-812800" algn="l" defTabSz="914400" rtl="0" fontAlgn="base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说明：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R0≡0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R29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栈指针，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R30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帧指针，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R31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过程调用返回地址</a:t>
                      </a: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2765425" y="3501008"/>
            <a:ext cx="6135370" cy="12652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立即、寄存器、基址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相对、伪直接，隐含</a:t>
            </a:r>
            <a:r>
              <a:rPr lang="en-US" altLang="zh-CN" sz="1800" b="1" dirty="0">
                <a:latin typeface="宋体" panose="02010600030101010101" pitchFamily="2" charset="-122"/>
              </a:rPr>
              <a:t>(EA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(PC)</a:t>
            </a:r>
            <a:r>
              <a:rPr lang="zh-CN" altLang="en-US" sz="1800" b="1" dirty="0">
                <a:latin typeface="宋体" panose="02010600030101010101" pitchFamily="2" charset="-122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4" name="Text Box 4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8000" y="3993813"/>
            <a:ext cx="52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</a:rPr>
              <a:t>数据的直接寻址、</a:t>
            </a:r>
            <a:r>
              <a:rPr lang="en-US" altLang="zh-CN" sz="1800" b="1" dirty="0">
                <a:latin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</a:rPr>
              <a:t>间接寻址如何实现？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6" name="Text Box 18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587464" y="3993813"/>
            <a:ext cx="2088991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(R0)+</a:t>
            </a:r>
            <a:r>
              <a:rPr lang="en-US" altLang="zh-CN" sz="18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(Rx)+0</a:t>
            </a:r>
          </a:p>
        </p:txBody>
      </p:sp>
      <p:sp>
        <p:nvSpPr>
          <p:cNvPr id="8" name="Text Box 18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19566" y="4795322"/>
            <a:ext cx="3600000" cy="61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8000" tIns="10800" rIns="18000" bIns="1080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指令字</a:t>
            </a:r>
            <a:r>
              <a:rPr lang="en-US" altLang="zh-CN" sz="1800" b="1" dirty="0">
                <a:latin typeface="宋体" panose="02010600030101010101" pitchFamily="2" charset="-122"/>
              </a:rPr>
              <a:t>4B</a:t>
            </a:r>
            <a:r>
              <a:rPr lang="zh-CN" altLang="en-US" sz="1800" b="1" dirty="0">
                <a:latin typeface="宋体" panose="02010600030101010101" pitchFamily="2" charset="-122"/>
              </a:rPr>
              <a:t>对齐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</a:rPr>
              <a:t>寻址范围</a:t>
            </a:r>
            <a:r>
              <a:rPr lang="zh-CN" sz="1800" b="1" dirty="0">
                <a:latin typeface="宋体" panose="02010600030101010101" pitchFamily="2" charset="-122"/>
              </a:rPr>
              <a:t>可扩大</a:t>
            </a:r>
            <a:r>
              <a:rPr lang="en-US" altLang="zh-CN" sz="1800" b="1" dirty="0">
                <a:latin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</a:rPr>
              <a:t>倍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短数据为</a:t>
            </a:r>
            <a:r>
              <a:rPr lang="en-US" altLang="zh-CN" sz="1800" b="1" dirty="0">
                <a:latin typeface="宋体" panose="02010600030101010101" pitchFamily="2" charset="-122"/>
              </a:rPr>
              <a:t>8</a:t>
            </a:r>
            <a:r>
              <a:rPr lang="zh-CN" altLang="en-US" sz="1800" b="1" dirty="0">
                <a:latin typeface="宋体" panose="02010600030101010101" pitchFamily="2" charset="-122"/>
              </a:rPr>
              <a:t>位，按</a:t>
            </a:r>
            <a:r>
              <a:rPr lang="en-US" altLang="zh-CN" sz="1800" b="1" dirty="0">
                <a:latin typeface="宋体" panose="02010600030101010101" pitchFamily="2" charset="-122"/>
              </a:rPr>
              <a:t>1B</a:t>
            </a:r>
            <a:r>
              <a:rPr lang="zh-CN" altLang="en-US" sz="1800" b="1" dirty="0">
                <a:latin typeface="宋体" panose="02010600030101010101" pitchFamily="2" charset="-122"/>
              </a:rPr>
              <a:t>边界对齐存放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5" name="Text Box 4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87118" y="4795322"/>
            <a:ext cx="3888000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为何相对寻址中</a:t>
            </a:r>
            <a:r>
              <a:rPr lang="en-US" altLang="zh-CN" sz="18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</a:rPr>
              <a:t>要</a:t>
            </a:r>
            <a:r>
              <a:rPr lang="en-US" altLang="zh-CN" sz="1800" b="1" dirty="0">
                <a:latin typeface="宋体" panose="02010600030101010101" pitchFamily="2" charset="-122"/>
              </a:rPr>
              <a:t>&lt;&lt;2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</a:t>
            </a:r>
            <a:r>
              <a:rPr lang="zh-CN" altLang="en-US" sz="1800" b="1" dirty="0">
                <a:latin typeface="宋体" panose="02010600030101010101" pitchFamily="2" charset="-122"/>
              </a:rPr>
              <a:t>为何基址寻址中</a:t>
            </a:r>
            <a:r>
              <a:rPr lang="en-US" altLang="zh-CN" sz="18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</a:rPr>
              <a:t>不</a:t>
            </a:r>
            <a:r>
              <a:rPr lang="en-US" altLang="zh-CN" sz="1800" b="1" dirty="0">
                <a:latin typeface="宋体" panose="02010600030101010101" pitchFamily="2" charset="-122"/>
              </a:rPr>
              <a:t>&lt;&lt;2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78" name="AutoShape 38"/>
          <p:cNvSpPr/>
          <p:nvPr>
            <p:custDataLst>
              <p:tags r:id="rId7"/>
            </p:custDataLst>
          </p:nvPr>
        </p:nvSpPr>
        <p:spPr bwMode="auto">
          <a:xfrm>
            <a:off x="1657221" y="3212976"/>
            <a:ext cx="3058795" cy="242570"/>
          </a:xfrm>
          <a:prstGeom prst="borderCallout2">
            <a:avLst>
              <a:gd name="adj1" fmla="val 48795"/>
              <a:gd name="adj2" fmla="val 527"/>
              <a:gd name="adj3" fmla="val 52165"/>
              <a:gd name="adj4" fmla="val -7035"/>
              <a:gd name="adj5" fmla="val -199738"/>
              <a:gd name="adj6" fmla="val -1523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sz="1600" b="1" dirty="0">
                <a:latin typeface="+mn-ea"/>
                <a:ea typeface="+mn-ea"/>
                <a:sym typeface="+mn-ea"/>
              </a:rPr>
              <a:t>指令字长为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32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位，地址码仅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26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</a:t>
            </a:r>
            <a:endParaRPr lang="zh-CN" altLang="en-US" sz="1600" b="1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AutoShape 117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2772000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38"/>
          <p:cNvSpPr/>
          <p:nvPr/>
        </p:nvSpPr>
        <p:spPr bwMode="auto">
          <a:xfrm>
            <a:off x="3307923" y="5515228"/>
            <a:ext cx="4576445" cy="287338"/>
          </a:xfrm>
          <a:prstGeom prst="borderCallout2">
            <a:avLst>
              <a:gd name="adj1" fmla="val 54712"/>
              <a:gd name="adj2" fmla="val 100222"/>
              <a:gd name="adj3" fmla="val 55235"/>
              <a:gd name="adj4" fmla="val 105782"/>
              <a:gd name="adj5" fmla="val -167417"/>
              <a:gd name="adj6" fmla="val 1109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sz="1600" b="1" dirty="0">
                <a:latin typeface="+mn-ea"/>
                <a:ea typeface="+mn-ea"/>
                <a:sym typeface="+mn-ea"/>
              </a:rPr>
              <a:t>编译时丢弃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18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位的</a:t>
            </a:r>
            <a:r>
              <a:rPr lang="zh-CN" sz="1600" b="1" dirty="0">
                <a:latin typeface="+mn-ea"/>
                <a:ea typeface="+mn-ea"/>
                <a:sym typeface="+mn-ea"/>
              </a:rPr>
              <a:t>低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位，执行时补上低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位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为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0)</a:t>
            </a:r>
            <a:endParaRPr lang="zh-CN" altLang="en-US" sz="1600" b="1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3" name="AutoShape 38">
            <a:extLst>
              <a:ext uri="{FF2B5EF4-FFF2-40B4-BE49-F238E27FC236}">
                <a16:creationId xmlns:a16="http://schemas.microsoft.com/office/drawing/2014/main" id="{572390C2-4991-4666-8A5A-28EC32A5155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113605" y="3212976"/>
            <a:ext cx="1834659" cy="216024"/>
          </a:xfrm>
          <a:prstGeom prst="borderCallout2">
            <a:avLst>
              <a:gd name="adj1" fmla="val 48795"/>
              <a:gd name="adj2" fmla="val 527"/>
              <a:gd name="adj3" fmla="val 45551"/>
              <a:gd name="adj4" fmla="val -9371"/>
              <a:gd name="adj5" fmla="val -527123"/>
              <a:gd name="adj6" fmla="val -8960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运算时需先位扩展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 autoUpdateAnimBg="0"/>
      <p:bldP spid="15" grpId="0" bldLvl="0" animBg="1" autoUpdateAnimBg="0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705" y="332656"/>
            <a:ext cx="8856791" cy="4935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指令格式：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latin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</a:rPr>
              <a:t>种，采用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定长指令字</a:t>
            </a:r>
            <a:r>
              <a:rPr lang="zh-CN" altLang="en-US" sz="2200" b="1" dirty="0">
                <a:latin typeface="宋体" panose="02010600030101010101" pitchFamily="2" charset="-122"/>
              </a:rPr>
              <a:t>结构</a:t>
            </a:r>
            <a:r>
              <a:rPr lang="en-US" altLang="zh-CN" sz="1800" b="1" dirty="0">
                <a:latin typeface="宋体" panose="02010600030101010101" pitchFamily="2" charset="-122"/>
              </a:rPr>
              <a:t>(32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)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</a:rPr>
              <a:t>寻址方式位</a:t>
            </a:r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u="sng" dirty="0">
                <a:latin typeface="宋体" panose="02010600030101010101" pitchFamily="2" charset="-122"/>
              </a:rPr>
              <a:t>操作码</a:t>
            </a:r>
            <a:r>
              <a:rPr lang="zh-CN" altLang="en-US" sz="1600" b="1" dirty="0">
                <a:latin typeface="宋体" panose="02010600030101010101" pitchFamily="2" charset="-122"/>
              </a:rPr>
              <a:t>表示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指令功能：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常用指令有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31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条，包括数据传送、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运算、转移控制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R-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算术、逻辑、移位，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小于置位、过程返回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不保存</a:t>
            </a:r>
            <a:r>
              <a:rPr lang="zh-CN" sz="1800" b="1" dirty="0">
                <a:latin typeface="+mn-ea"/>
                <a:ea typeface="+mn-ea"/>
                <a:sym typeface="+mn-ea"/>
              </a:rPr>
              <a:t>结果标志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←┴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比较结果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(0/1)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保存到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GPR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加法、逻辑、赋值，存取，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小于置位、分支</a:t>
            </a:r>
            <a:endParaRPr lang="en-US" altLang="zh-CN" sz="2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                      组合成多种条件←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────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判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断是否为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</a:t>
            </a:r>
            <a:endParaRPr lang="en-US" altLang="zh-CN" sz="18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J-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跳转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过程调用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Group 14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6674027"/>
              </p:ext>
            </p:extLst>
          </p:nvPr>
        </p:nvGraphicFramePr>
        <p:xfrm>
          <a:off x="1115616" y="836712"/>
          <a:ext cx="6639560" cy="1674960"/>
        </p:xfrm>
        <a:graphic>
          <a:graphicData uri="http://schemas.openxmlformats.org/drawingml/2006/table">
            <a:tbl>
              <a:tblPr/>
              <a:tblGrid>
                <a:gridCol w="64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8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(6b)</a:t>
                      </a:r>
                    </a:p>
                  </a:txBody>
                  <a:tcPr marL="18000" marR="18000" marT="1800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(6b)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shamt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 gridSpan="7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  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注：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func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操作码，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rs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rt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rd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寄存器号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源及目的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OPD)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，</a:t>
                      </a:r>
                      <a:endParaRPr kumimoji="0" lang="en-US" altLang="zh-CN" sz="1600" b="1" dirty="0">
                        <a:latin typeface="+mn-ea"/>
                        <a:ea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      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shamt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移位位数，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imm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立即数或偏移量，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addr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形式地址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5" name="AutoShape 452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rId5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5256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36</a:t>
            </a:fld>
            <a:endParaRPr lang="en-US" altLang="zh-CN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3555" y="504000"/>
          <a:ext cx="8037830" cy="5037120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</a:t>
                      </a:r>
                    </a:p>
                  </a:txBody>
                  <a:tcPr marL="31461" marR="31461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op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有符号加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</a:t>
                      </a:r>
                      <a:endParaRPr lang="zh-CN" sz="16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无符号加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addu</a:t>
                      </a:r>
                      <a:endParaRPr lang="zh-CN" sz="16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有符号减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sub</a:t>
                      </a:r>
                      <a:endParaRPr lang="zh-CN" sz="16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无符号减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subu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and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)&amp; 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 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xor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100110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或非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nor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100111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spc="-5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小于置位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</a:t>
                      </a:r>
                      <a:r>
                        <a:rPr lang="en-US" alt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zh-CN" sz="1600" b="1" kern="0" spc="-3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spc="-5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无符号小于置位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sltu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zh-CN" sz="1600" b="1" kern="0" spc="-3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逻辑左移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sll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逻辑右移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srl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 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算术右移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逻辑左移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sllv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逻辑右移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srlv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000110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算术右移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srav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000111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过程返回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jr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001000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5" name="Text Box 4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2000" y="6084979"/>
            <a:ext cx="51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为何没有</a:t>
            </a:r>
            <a:r>
              <a:rPr lang="en-US" altLang="zh-CN" sz="1800" b="1" dirty="0">
                <a:latin typeface="宋体" panose="02010600030101010101" pitchFamily="2" charset="-122"/>
              </a:rPr>
              <a:t>&lt;&lt;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</a:rPr>
              <a:t>指令？逻辑非功能如何实现？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Text Box 18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84725" y="6084979"/>
            <a:ext cx="2736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dirty="0">
                <a:latin typeface="宋体" panose="02010600030101010101" pitchFamily="2" charset="-122"/>
              </a:rPr>
              <a:t>同</a:t>
            </a:r>
            <a:r>
              <a:rPr lang="en-US" altLang="zh-CN" sz="1800" b="1" dirty="0">
                <a:latin typeface="宋体" panose="02010600030101010101" pitchFamily="2" charset="-122"/>
              </a:rPr>
              <a:t>&lt;&lt;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L</a:t>
            </a:r>
            <a:r>
              <a:rPr lang="zh-CN" altLang="en-US" sz="1800" b="1" dirty="0">
                <a:latin typeface="宋体" panose="02010600030101010101" pitchFamily="2" charset="-122"/>
              </a:rPr>
              <a:t>指令，使用</a:t>
            </a:r>
            <a:r>
              <a:rPr lang="en-US" altLang="zh-CN" sz="1800" b="1" dirty="0"/>
              <a:t>~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rt</a:t>
            </a:r>
            <a:r>
              <a:rPr lang="en-US" altLang="zh-CN" sz="1800" b="1" dirty="0">
                <a:latin typeface="宋体" panose="02010600030101010101" pitchFamily="2" charset="-122"/>
              </a:rPr>
              <a:t>|</a:t>
            </a:r>
            <a:r>
              <a:rPr lang="en-US" altLang="zh-CN" sz="1800" b="1" dirty="0">
                <a:latin typeface="+mn-ea"/>
              </a:rPr>
              <a:t>$0)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7" name="Text Box 4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92000" y="5661027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为何要区分有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无符号运算？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1" name="Text Box 18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88783" y="5661027"/>
            <a:ext cx="424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sz="1800" b="1" dirty="0">
                <a:latin typeface="宋体" panose="02010600030101010101" pitchFamily="2" charset="-122"/>
              </a:rPr>
              <a:t>无结果标志，</a:t>
            </a:r>
            <a:r>
              <a:rPr lang="zh-CN" altLang="en-US" sz="1800" b="1" dirty="0">
                <a:latin typeface="宋体" panose="02010600030101010101" pitchFamily="2" charset="-122"/>
              </a:rPr>
              <a:t>仅有符号运算需</a:t>
            </a:r>
            <a:r>
              <a:rPr lang="zh-CN" sz="1800" b="1" dirty="0">
                <a:latin typeface="宋体" panose="02010600030101010101" pitchFamily="2" charset="-122"/>
              </a:rPr>
              <a:t>判断溢出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43806" name="AutoShape 9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55">
            <a:hlinkClick r:id="rId9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 autoUpdateAnimBg="0"/>
      <p:bldP spid="17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37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9090" y="504000"/>
          <a:ext cx="7935595" cy="4398010"/>
        </p:xfrm>
        <a:graphic>
          <a:graphicData uri="http://schemas.openxmlformats.org/drawingml/2006/table">
            <a:tbl>
              <a:tblPr/>
              <a:tblGrid>
                <a:gridCol w="2069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7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31461" marR="31461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</a:t>
                      </a:r>
                    </a:p>
                  </a:txBody>
                  <a:tcPr marL="31461" marR="31461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op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Imme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有符号加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alt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无符号加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addiu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andi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)&amp; 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 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001101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xori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001110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高位取立即数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lui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&lt;&lt;16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001111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取字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lw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alt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存字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sw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取字节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lb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(M[(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)])</a:t>
                      </a: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取无符号字节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lbu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(M[(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)])</a:t>
                      </a: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存字节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sb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zh-CN" sz="1600" b="1" kern="1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1600" b="1" kern="1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kern="1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小于置位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slti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001010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无符号小于置位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sltiu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相等转移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beq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r>
                        <a:rPr lang="en-US" sz="1600" b="1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PC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)&lt;&lt;2</a:t>
                      </a: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不等转移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bne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if((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≠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r>
                        <a:rPr lang="en-US" altLang="zh-CN" sz="1600" b="1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PC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)&lt;&lt;2</a:t>
                      </a: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</a:t>
                      </a:r>
                      <a:endParaRPr lang="en-US" altLang="zh-CN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5120" y="5544000"/>
          <a:ext cx="7954010" cy="487680"/>
        </p:xfrm>
        <a:graphic>
          <a:graphicData uri="http://schemas.openxmlformats.org/drawingml/2006/table">
            <a:tbl>
              <a:tblPr/>
              <a:tblGrid>
                <a:gridCol w="126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跳转</a:t>
                      </a:r>
                      <a:r>
                        <a:rPr lang="en-US" altLang="zh-CN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PC)</a:t>
                      </a:r>
                      <a:r>
                        <a:rPr lang="zh-CN" altLang="en-US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‖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Addr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&lt;&lt;2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000010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addr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过程调用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jal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$31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baseline="-18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‖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Addr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&lt;&lt;2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000011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addr</a:t>
                      </a: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4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0136" y="5040000"/>
            <a:ext cx="52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如何实现</a:t>
            </a:r>
            <a:r>
              <a:rPr lang="en-US" altLang="zh-CN" sz="1800" b="1" dirty="0">
                <a:latin typeface="宋体" panose="02010600030101010101" pitchFamily="2" charset="-122"/>
              </a:rPr>
              <a:t>if ($4&lt;$5)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if ($4</a:t>
            </a:r>
            <a:r>
              <a:rPr lang="zh-CN" altLang="en-US" sz="1800" b="1" dirty="0">
                <a:latin typeface="宋体" panose="02010600030101010101" pitchFamily="2" charset="-122"/>
              </a:rPr>
              <a:t>≥</a:t>
            </a:r>
            <a:r>
              <a:rPr lang="en-US" altLang="zh-CN" sz="1800" b="1" dirty="0">
                <a:latin typeface="宋体" panose="02010600030101010101" pitchFamily="2" charset="-122"/>
              </a:rPr>
              <a:t>$5)</a:t>
            </a:r>
            <a:r>
              <a:rPr lang="zh-CN" altLang="en-US" sz="1800" b="1" dirty="0">
                <a:latin typeface="宋体" panose="02010600030101010101" pitchFamily="2" charset="-122"/>
              </a:rPr>
              <a:t>功能？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0" name="Text Box 18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68328" y="4941168"/>
            <a:ext cx="1583992" cy="504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</a:rPr>
              <a:t>slt</a:t>
            </a:r>
            <a:r>
              <a:rPr lang="en-US" altLang="zh-CN" sz="1600" b="1" dirty="0">
                <a:latin typeface="宋体" panose="02010600030101010101" pitchFamily="2" charset="-122"/>
              </a:rPr>
              <a:t> $6, $4, $5</a:t>
            </a:r>
          </a:p>
          <a:p>
            <a:r>
              <a:rPr lang="en-US" altLang="zh-CN" sz="1600" b="1" dirty="0" err="1">
                <a:latin typeface="宋体" panose="02010600030101010101" pitchFamily="2" charset="-122"/>
              </a:rPr>
              <a:t>bne</a:t>
            </a:r>
            <a:r>
              <a:rPr lang="en-US" altLang="zh-CN" sz="1600" b="1" dirty="0">
                <a:latin typeface="宋体" panose="02010600030101010101" pitchFamily="2" charset="-122"/>
              </a:rPr>
              <a:t> $6, $0, L1</a:t>
            </a:r>
          </a:p>
        </p:txBody>
      </p:sp>
      <p:sp>
        <p:nvSpPr>
          <p:cNvPr id="243806" name="AutoShape 94">
            <a:hlinkClick r:id="rId9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256000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55">
            <a:hlinkClick r:id="rId10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89">
            <a:extLst>
              <a:ext uri="{FF2B5EF4-FFF2-40B4-BE49-F238E27FC236}">
                <a16:creationId xmlns:a16="http://schemas.microsoft.com/office/drawing/2014/main" id="{40AE5C53-3E81-4BB5-9C1B-DED72F550347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524328" y="4941168"/>
            <a:ext cx="1583992" cy="504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</a:rPr>
              <a:t>slt</a:t>
            </a:r>
            <a:r>
              <a:rPr lang="en-US" altLang="zh-CN" sz="1600" b="1" dirty="0">
                <a:latin typeface="宋体" panose="02010600030101010101" pitchFamily="2" charset="-122"/>
              </a:rPr>
              <a:t> $6, $4, $5</a:t>
            </a:r>
          </a:p>
          <a:p>
            <a:r>
              <a:rPr lang="en-US" altLang="zh-CN" sz="1600" b="1" dirty="0" err="1">
                <a:latin typeface="宋体" panose="02010600030101010101" pitchFamily="2" charset="-122"/>
              </a:rPr>
              <a:t>beq</a:t>
            </a:r>
            <a:r>
              <a:rPr lang="en-US" altLang="zh-CN" sz="1600" b="1" dirty="0">
                <a:latin typeface="宋体" panose="02010600030101010101" pitchFamily="2" charset="-122"/>
              </a:rPr>
              <a:t> $6, $0, L1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38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0000" y="2132603"/>
            <a:ext cx="8136000" cy="33557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624205" indent="-624205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000" b="1" dirty="0">
                <a:latin typeface="宋体" panose="02010600030101010101" pitchFamily="2" charset="-122"/>
              </a:rPr>
              <a:t>若整型数组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的首址放在</a:t>
            </a:r>
            <a:r>
              <a:rPr lang="en-US" altLang="zh-CN" sz="2000" b="1" dirty="0">
                <a:latin typeface="宋体" panose="02010600030101010101" pitchFamily="2" charset="-122"/>
              </a:rPr>
              <a:t>$10</a:t>
            </a:r>
            <a:r>
              <a:rPr lang="zh-CN" altLang="en-US" sz="2000" b="1" dirty="0">
                <a:latin typeface="宋体" panose="02010600030101010101" pitchFamily="2" charset="-122"/>
              </a:rPr>
              <a:t>中，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4B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</a:rPr>
              <a:t>说明下列代码序列的功能：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00000020H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100011 01010 01011 00000 00000 001000</a:t>
            </a: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00000024H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001000 01011 01100 00000 00000 001000</a:t>
            </a: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00000028H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101011 01010 01100 00000 00000 001000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解：</a:t>
            </a:r>
            <a:r>
              <a:rPr lang="zh-CN" altLang="en-US" sz="2000" b="1" dirty="0">
                <a:latin typeface="宋体" panose="02010600030101010101" pitchFamily="2" charset="-122"/>
              </a:rPr>
              <a:t>指令功能分别为：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kern="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$11</a:t>
            </a:r>
            <a:r>
              <a:rPr lang="zh-CN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M[($10)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8]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$12</a:t>
            </a:r>
            <a:r>
              <a:rPr lang="zh-CN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($11)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M[($10)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8]</a:t>
            </a:r>
            <a:r>
              <a:rPr lang="zh-CN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($12)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因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($10)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&amp;A[0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8/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(int)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&amp;A[2]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  故代码功能为</a:t>
            </a:r>
            <a:r>
              <a:rPr lang="en-US" altLang="zh-CN" sz="2000" b="1" dirty="0">
                <a:latin typeface="宋体" panose="02010600030101010101" pitchFamily="2" charset="-122"/>
              </a:rPr>
              <a:t>A[2]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A[2]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20000" y="432000"/>
            <a:ext cx="8136000" cy="16167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648335" indent="-648335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000" b="1" dirty="0">
                <a:latin typeface="宋体" panose="02010600030101010101" pitchFamily="2" charset="-122"/>
              </a:rPr>
              <a:t>分别写出实现</a:t>
            </a:r>
            <a:r>
              <a:rPr lang="en-US" altLang="zh-CN" sz="2000" b="1" dirty="0">
                <a:latin typeface="宋体" panose="02010600030101010101" pitchFamily="2" charset="-122"/>
              </a:rPr>
              <a:t>$1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($2)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</a:rPr>
              <a:t>($3)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$1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($2)</a:t>
            </a:r>
            <a:r>
              <a:rPr lang="zh-CN" altLang="en-US" sz="2000" b="1" dirty="0">
                <a:latin typeface="宋体" panose="02010600030101010101" pitchFamily="2" charset="-122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功能的指令字，其中运算均为有符号运算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解：</a:t>
            </a:r>
            <a:r>
              <a:rPr lang="zh-CN" altLang="en-US" sz="2000" b="1" dirty="0">
                <a:latin typeface="宋体" panose="02010600030101010101" pitchFamily="2" charset="-122"/>
              </a:rPr>
              <a:t>指令字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为：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000000</a:t>
            </a:r>
            <a:r>
              <a:rPr lang="en-US" altLang="zh-CN" sz="2000" b="1" dirty="0">
                <a:latin typeface="宋体" panose="02010600030101010101" pitchFamily="2" charset="-122"/>
              </a:rPr>
              <a:t> 00010 00011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00001</a:t>
            </a:r>
            <a:r>
              <a:rPr lang="en-US" altLang="zh-CN" sz="2000" b="1" dirty="0">
                <a:latin typeface="宋体" panose="02010600030101010101" pitchFamily="2" charset="-122"/>
              </a:rPr>
              <a:t> 00000 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100000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指令字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为：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001000</a:t>
            </a:r>
            <a:r>
              <a:rPr lang="en-US" altLang="zh-CN" sz="2000" b="1" dirty="0">
                <a:latin typeface="宋体" panose="02010600030101010101" pitchFamily="2" charset="-122"/>
              </a:rPr>
              <a:t> 00010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00001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11111 11111 111110</a:t>
            </a:r>
            <a:endParaRPr lang="zh-CN" altLang="en-US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AutoShape 62">
            <a:hlinkClick r:id="rId7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2772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36</a:t>
            </a:r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39</a:t>
            </a:fld>
            <a:endParaRPr lang="en-US" altLang="zh-CN"/>
          </a:p>
        </p:txBody>
      </p:sp>
      <p:sp>
        <p:nvSpPr>
          <p:cNvPr id="11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60000"/>
            <a:ext cx="4392295" cy="34027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IA32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   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属于</a:t>
            </a:r>
            <a:r>
              <a:rPr lang="en-US" altLang="zh-CN" sz="2000" b="1" dirty="0">
                <a:latin typeface="宋体" panose="02010600030101010101" pitchFamily="2" charset="-122"/>
              </a:rPr>
              <a:t>CISC)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*数据表示：</a:t>
            </a: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IR—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" name="Text Box 42"/>
          <p:cNvSpPr txBox="1">
            <a:spLocks noChangeArrowheads="1"/>
          </p:cNvSpPr>
          <p:nvPr/>
        </p:nvSpPr>
        <p:spPr bwMode="auto">
          <a:xfrm>
            <a:off x="471170" y="1268760"/>
            <a:ext cx="8486775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整数、浮点数、指针、压缩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SIMD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数、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BCD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数、位域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MIPS)    (32/48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 (64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   (8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组合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字节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编址、</a:t>
            </a:r>
            <a:r>
              <a:rPr lang="en-US" altLang="zh-CN" sz="2200" b="1" u="sng" spc="-100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地址，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小端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、对齐方式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可存放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立即数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小端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、不对齐方式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位，可存放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FPRs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位，双精度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占用相邻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FPR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EFLAG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ZF/CF/SF/OF/AF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等标志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2811780" cy="52663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*寻址方式：</a:t>
            </a: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指令寻址方式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40</a:t>
            </a:fld>
            <a:endParaRPr lang="en-US" altLang="zh-CN"/>
          </a:p>
        </p:txBody>
      </p:sp>
      <p:graphicFrame>
        <p:nvGraphicFramePr>
          <p:cNvPr id="4" name="Group 87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59895259"/>
              </p:ext>
            </p:extLst>
          </p:nvPr>
        </p:nvGraphicFramePr>
        <p:xfrm>
          <a:off x="1043305" y="871220"/>
          <a:ext cx="6913071" cy="3687840"/>
        </p:xfrm>
        <a:graphic>
          <a:graphicData uri="http://schemas.openxmlformats.org/drawingml/2006/table">
            <a:tbl>
              <a:tblPr/>
              <a:tblGrid>
                <a:gridCol w="295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地址形成方法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存放部件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＝指令中的立即数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指令寄存器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(R)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rowSpan="7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存储器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寄存器间接寻址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寄存器相对寻址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基址寻址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基址加变址寻址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相对基址加变址寻址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比例变址寻址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(I)×S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相对寻址</a:t>
                      </a:r>
                    </a:p>
                  </a:txBody>
                  <a:tcPr marL="71755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(EIP)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71755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40740">
                <a:tc gridSpan="3">
                  <a:txBody>
                    <a:bodyPr/>
                    <a:lstStyle/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说明：通用寄存器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R—EAX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ECX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ESP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</a:p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基址寄存器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B—EBX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，变址寄存器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I—ESI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</a:p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A—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EIP—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程序计数器，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S—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比例因子</a:t>
                      </a: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Box 4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4523" y="4653136"/>
            <a:ext cx="510984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除相对寻址外的寻址方式，隐含方式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直接、寄存器间接、相对等，隐含方式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1610" y="764704"/>
            <a:ext cx="2811780" cy="56895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指令前缀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指令本身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spcBef>
                <a:spcPts val="9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指令功能：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41</a:t>
            </a:fld>
            <a:endParaRPr lang="en-US" altLang="zh-CN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9705" y="332656"/>
            <a:ext cx="8721725" cy="906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指令格式：</a:t>
            </a:r>
            <a:r>
              <a:rPr lang="zh-CN" altLang="en-US" sz="2200" b="1" dirty="0">
                <a:latin typeface="宋体" panose="02010600030101010101" pitchFamily="2" charset="-122"/>
              </a:rPr>
              <a:t>有多种，采用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变长指令字</a:t>
            </a:r>
            <a:r>
              <a:rPr lang="zh-CN" altLang="en-US" sz="2200" b="1" dirty="0">
                <a:latin typeface="宋体" panose="02010600030101010101" pitchFamily="2" charset="-122"/>
              </a:rPr>
              <a:t>结构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sz="1800" b="1" dirty="0">
                <a:latin typeface="宋体" panose="02010600030101010101" pitchFamily="2" charset="-122"/>
              </a:rPr>
              <a:t>1B-16B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指令前缀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+]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指令本身  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[ ]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表示</a:t>
            </a:r>
            <a:r>
              <a:rPr lang="zh-CN" altLang="en-US" sz="1800" b="1" dirty="0">
                <a:sym typeface="+mn-ea"/>
              </a:rPr>
              <a:t>可以缺省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25" name="Group 14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7689878"/>
              </p:ext>
            </p:extLst>
          </p:nvPr>
        </p:nvGraphicFramePr>
        <p:xfrm>
          <a:off x="1320165" y="1196752"/>
          <a:ext cx="5467350" cy="501396"/>
        </p:xfrm>
        <a:graphic>
          <a:graphicData uri="http://schemas.openxmlformats.org/drawingml/2006/table">
            <a:tbl>
              <a:tblPr/>
              <a:tblGrid>
                <a:gridCol w="95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指令前缀</a:t>
                      </a:r>
                    </a:p>
                  </a:txBody>
                  <a:tcPr marL="19050" marR="19050" marT="1905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功能前缀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段前缀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操作数长度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地址长度前缀</a:t>
                      </a: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Group 14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57133813"/>
              </p:ext>
            </p:extLst>
          </p:nvPr>
        </p:nvGraphicFramePr>
        <p:xfrm>
          <a:off x="1374140" y="1772816"/>
          <a:ext cx="6607810" cy="539496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1905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1/2/4B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1/2/4B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指令本身</a:t>
                      </a:r>
                    </a:p>
                  </a:txBody>
                  <a:tcPr marL="19050" marR="19050" marT="19050" marB="1905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地址码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R_R/M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变参数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SIB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偏移量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立即数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Imme</a:t>
                      </a: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2447290" y="2311906"/>
            <a:ext cx="3673475" cy="576580"/>
            <a:chOff x="3628" y="4534"/>
            <a:chExt cx="5785" cy="908"/>
          </a:xfrm>
        </p:grpSpPr>
        <p:sp>
          <p:nvSpPr>
            <p:cNvPr id="117907" name="Text Box 14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629" y="4762"/>
              <a:ext cx="68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117908" name="Text Box 14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309" y="4762"/>
              <a:ext cx="1135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REG/OP</a:t>
              </a:r>
            </a:p>
          </p:txBody>
        </p:sp>
        <p:sp>
          <p:nvSpPr>
            <p:cNvPr id="117909" name="Text Box 149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5446" y="4762"/>
              <a:ext cx="1020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117915" name="Text Box 15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799" y="5160"/>
              <a:ext cx="2438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dirty="0">
                  <a:latin typeface="宋体" panose="02010600030101010101" pitchFamily="2" charset="-122"/>
                </a:rPr>
                <a:t>2b   3b     </a:t>
              </a:r>
              <a:r>
                <a:rPr lang="en-US" altLang="zh-CN" sz="1600" dirty="0" err="1">
                  <a:latin typeface="宋体" panose="02010600030101010101" pitchFamily="2" charset="-122"/>
                </a:rPr>
                <a:t>3b</a:t>
              </a:r>
            </a:p>
          </p:txBody>
        </p:sp>
        <p:sp>
          <p:nvSpPr>
            <p:cNvPr id="117916" name="Text Box 15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690" y="4762"/>
              <a:ext cx="680" cy="34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SS</a:t>
              </a:r>
            </a:p>
          </p:txBody>
        </p:sp>
        <p:sp>
          <p:nvSpPr>
            <p:cNvPr id="117917" name="Text Box 157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370" y="4762"/>
              <a:ext cx="102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INDEX</a:t>
              </a:r>
            </a:p>
          </p:txBody>
        </p:sp>
        <p:sp>
          <p:nvSpPr>
            <p:cNvPr id="117918" name="Text Box 15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8393" y="4762"/>
              <a:ext cx="102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BASE</a:t>
              </a:r>
            </a:p>
          </p:txBody>
        </p:sp>
        <p:sp>
          <p:nvSpPr>
            <p:cNvPr id="117921" name="Text Box 16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6860" y="5160"/>
              <a:ext cx="2380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dirty="0">
                  <a:latin typeface="宋体" panose="02010600030101010101" pitchFamily="2" charset="-122"/>
                </a:rPr>
                <a:t>2b    3b  </a:t>
              </a:r>
              <a:r>
                <a:rPr lang="en-US" altLang="zh-CN" sz="1200" dirty="0">
                  <a:latin typeface="宋体" panose="02010600030101010101" pitchFamily="2" charset="-122"/>
                </a:rPr>
                <a:t>  </a:t>
              </a:r>
              <a:r>
                <a:rPr lang="en-US" altLang="zh-CN" sz="1600" dirty="0" err="1">
                  <a:latin typeface="宋体" panose="02010600030101010101" pitchFamily="2" charset="-122"/>
                </a:rPr>
                <a:t>3b</a:t>
              </a:r>
            </a:p>
          </p:txBody>
        </p:sp>
        <p:cxnSp>
          <p:nvCxnSpPr>
            <p:cNvPr id="99" name="直接箭头连接符 98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3628" y="4534"/>
              <a:ext cx="102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6463" y="4535"/>
              <a:ext cx="113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6576" y="4535"/>
              <a:ext cx="113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8674" y="4534"/>
              <a:ext cx="737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" name="Text Box 42"/>
          <p:cNvSpPr txBox="1">
            <a:spLocks noChangeArrowheads="1"/>
          </p:cNvSpPr>
          <p:nvPr/>
        </p:nvSpPr>
        <p:spPr bwMode="auto">
          <a:xfrm>
            <a:off x="2192655" y="2924944"/>
            <a:ext cx="6805132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与指令本身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无二义性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保持软件兼容性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常见做法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当前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指令与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上条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相同时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←前缀值用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专用寄存器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保存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操作码采用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扩展编码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←不含寻址方式位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(≤2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个、其中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组合有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3780000" y="5337136"/>
            <a:ext cx="4716145" cy="791845"/>
            <a:chOff x="4024" y="8164"/>
            <a:chExt cx="7427" cy="1247"/>
          </a:xfrm>
        </p:grpSpPr>
        <p:sp>
          <p:nvSpPr>
            <p:cNvPr id="86" name="Text Box 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576" y="816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87" name="Text Box 7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143" y="8164"/>
              <a:ext cx="79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937" y="8164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89" name="Text Box 9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731" y="8164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90" name="Text Box 1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576" y="8617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42" name="Text Box 1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143" y="8617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</a:p>
          </p:txBody>
        </p:sp>
        <p:sp>
          <p:nvSpPr>
            <p:cNvPr id="92" name="Text Box 13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937" y="8617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93" name="Text Box 14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8731" y="8617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94" name="Text Box 1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091" y="8617"/>
              <a:ext cx="136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  <p:sp>
          <p:nvSpPr>
            <p:cNvPr id="95" name="Text Box 1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576" y="9071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96" name="Text Box 1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143" y="9071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dirty="0">
                  <a:latin typeface="宋体" panose="02010600030101010101" pitchFamily="2" charset="-122"/>
                  <a:sym typeface="Symbol" panose="05050102010706020507"/>
                </a:rPr>
                <a:t></a:t>
              </a:r>
            </a:p>
          </p:txBody>
        </p:sp>
        <p:sp>
          <p:nvSpPr>
            <p:cNvPr id="97" name="Text Box 19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937" y="9071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98" name="Text Box 20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731" y="9071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43" name="Text Box 10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024" y="8164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REG-REG/MEM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</a:p>
          </p:txBody>
        </p:sp>
        <p:sp>
          <p:nvSpPr>
            <p:cNvPr id="100" name="Text Box 15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024" y="8617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IMME-REG/MEM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</a:p>
          </p:txBody>
        </p:sp>
        <p:sp>
          <p:nvSpPr>
            <p:cNvPr id="101" name="Text Box 2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024" y="9071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540000" y="4653136"/>
            <a:ext cx="2952115" cy="1296035"/>
            <a:chOff x="3118" y="2891"/>
            <a:chExt cx="4649" cy="2041"/>
          </a:xfrm>
        </p:grpSpPr>
        <p:sp>
          <p:nvSpPr>
            <p:cNvPr id="124" name="Text Box 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402" y="3231"/>
              <a:ext cx="147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25" name="Text Box 1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402" y="4139"/>
              <a:ext cx="147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>
                  <a:latin typeface="宋体" panose="02010600030101010101" pitchFamily="2" charset="-122"/>
                </a:rPr>
                <a:t>k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402" y="3685"/>
              <a:ext cx="1191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>
                  <a:latin typeface="宋体" panose="02010600030101010101" pitchFamily="2" charset="-122"/>
                </a:rPr>
                <a:t>j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3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798" y="2891"/>
              <a:ext cx="2948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36195" tIns="10800" rIns="36195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1B/2B        1B</a:t>
              </a:r>
            </a:p>
          </p:txBody>
        </p:sp>
        <p:sp>
          <p:nvSpPr>
            <p:cNvPr id="128" name="Text Box 7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159" y="4139"/>
              <a:ext cx="56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129" name="Text Box 74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520" y="4139"/>
              <a:ext cx="73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130" name="Text Box 7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726" y="4139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k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1" name="Text Box 7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876" y="3231"/>
              <a:ext cx="283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W</a:t>
              </a:r>
            </a:p>
          </p:txBody>
        </p:sp>
        <p:sp>
          <p:nvSpPr>
            <p:cNvPr id="140" name="Text Box 7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592" y="3685"/>
              <a:ext cx="567" cy="3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1" name="Text Box 7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159" y="3231"/>
              <a:ext cx="56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</a:p>
          </p:txBody>
        </p:sp>
        <p:sp>
          <p:nvSpPr>
            <p:cNvPr id="142" name="Text Box 7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520" y="3231"/>
              <a:ext cx="794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3" name="Text Box 7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26" y="3231"/>
              <a:ext cx="794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3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118" y="4592"/>
              <a:ext cx="4649" cy="34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36195" tIns="10800" rIns="36195" bIns="10800" anchor="ctr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W—OPD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长度，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目的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位置</a:t>
              </a:r>
            </a:p>
          </p:txBody>
        </p:sp>
        <p:sp>
          <p:nvSpPr>
            <p:cNvPr id="145" name="Text Box 7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876" y="4139"/>
              <a:ext cx="283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172" name="直接箭头连接符 171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3402" y="30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38"/>
              </p:custDataLst>
            </p:nvPr>
          </p:nvCxnSpPr>
          <p:spPr bwMode="auto">
            <a:xfrm>
              <a:off x="4706" y="30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3402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5159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159" y="3061"/>
              <a:ext cx="73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42"/>
              </p:custDataLst>
            </p:nvPr>
          </p:nvCxnSpPr>
          <p:spPr bwMode="auto">
            <a:xfrm>
              <a:off x="6406" y="3061"/>
              <a:ext cx="90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7313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49" name="组合 148"/>
          <p:cNvGrpSpPr/>
          <p:nvPr/>
        </p:nvGrpSpPr>
        <p:grpSpPr>
          <a:xfrm>
            <a:off x="3736340" y="4653136"/>
            <a:ext cx="5148580" cy="503555"/>
            <a:chOff x="2833" y="7369"/>
            <a:chExt cx="8108" cy="793"/>
          </a:xfrm>
        </p:grpSpPr>
        <p:sp>
          <p:nvSpPr>
            <p:cNvPr id="150" name="Text Box 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833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1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70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2" name="Text Box 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33" y="7822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3" name="Text Box 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570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54" name="Text Box 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79" y="7369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  <p:sp>
          <p:nvSpPr>
            <p:cNvPr id="155" name="Text Box 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216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6" name="Text Box 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79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  <p:sp>
          <p:nvSpPr>
            <p:cNvPr id="157" name="Text Box 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16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58" name="Text Box 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123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9" name="Text Box 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123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60" name="右箭头 159"/>
            <p:cNvSpPr/>
            <p:nvPr>
              <p:custDataLst>
                <p:tags r:id="rId15"/>
              </p:custDataLst>
            </p:nvPr>
          </p:nvSpPr>
          <p:spPr bwMode="auto">
            <a:xfrm>
              <a:off x="7937" y="7482"/>
              <a:ext cx="454" cy="340"/>
            </a:xfrm>
            <a:prstGeom prst="rightArrow">
              <a:avLst>
                <a:gd name="adj1" fmla="val 50000"/>
                <a:gd name="adj2" fmla="val 51745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Text Box 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561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62" name="Text Box 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298" y="7369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163" name="Text Box 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561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  <p:sp>
          <p:nvSpPr>
            <p:cNvPr id="164" name="Text Box 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298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165" name="Text Box 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205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  <p:sp>
          <p:nvSpPr>
            <p:cNvPr id="166" name="Text Box 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205" y="7369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</a:p>
          </p:txBody>
        </p:sp>
        <p:sp>
          <p:nvSpPr>
            <p:cNvPr id="167" name="Text Box 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030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</a:p>
          </p:txBody>
        </p:sp>
      </p:grp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7"/>
          <p:cNvSpPr txBox="1">
            <a:spLocks noChangeArrowheads="1"/>
          </p:cNvSpPr>
          <p:nvPr/>
        </p:nvSpPr>
        <p:spPr bwMode="auto">
          <a:xfrm>
            <a:off x="179705" y="1342800"/>
            <a:ext cx="412686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*系统性能对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指令系统的要求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240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减少</a:t>
            </a:r>
            <a:r>
              <a:rPr lang="en-US" altLang="zh-CN" sz="2200" b="1" i="1" spc="240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2200" b="1" i="1" spc="240" baseline="-18000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2200" b="1" i="1" spc="240" baseline="-18000" dirty="0">
                <a:solidFill>
                  <a:schemeClr val="accent2"/>
                </a:solidFill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减少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CPI—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指令系统的发展：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面向软件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面向硬件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42</a:t>
            </a:fld>
            <a:endParaRPr lang="en-US" altLang="zh-CN"/>
          </a:p>
        </p:txBody>
      </p:sp>
      <p:sp>
        <p:nvSpPr>
          <p:cNvPr id="8267" name="Text Box 7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§4.5  </a:t>
            </a:r>
            <a:r>
              <a:rPr lang="zh-CN" altLang="en-US" sz="2800" b="1" dirty="0">
                <a:latin typeface="宋体" panose="02010600030101010101" pitchFamily="2" charset="-122"/>
              </a:rPr>
              <a:t>指令系统的发展</a:t>
            </a:r>
          </a:p>
        </p:txBody>
      </p:sp>
      <p:sp>
        <p:nvSpPr>
          <p:cNvPr id="8279" name="Text Box 87"/>
          <p:cNvSpPr txBox="1">
            <a:spLocks noChangeArrowheads="1"/>
          </p:cNvSpPr>
          <p:nvPr/>
        </p:nvSpPr>
        <p:spPr bwMode="auto">
          <a:xfrm>
            <a:off x="2016125" y="1342800"/>
            <a:ext cx="701103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 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latin typeface="宋体" panose="02010600030101010101" pitchFamily="2" charset="-122"/>
              </a:rPr>
              <a:t>I</a:t>
            </a:r>
            <a:r>
              <a:rPr lang="en-US" altLang="zh-CN" sz="2200" b="1" i="1" baseline="-18000" dirty="0">
                <a:latin typeface="宋体" panose="02010600030101010101" pitchFamily="2" charset="-122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×CPI×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应增加</a:t>
            </a:r>
            <a:r>
              <a:rPr lang="zh-CN" altLang="en-US" sz="2200" b="1" dirty="0">
                <a:latin typeface="宋体" panose="02010600030101010101" pitchFamily="2" charset="-122"/>
              </a:rPr>
              <a:t>指令的功能及种类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应减少</a:t>
            </a:r>
            <a:r>
              <a:rPr lang="zh-CN" altLang="en-US" sz="2200" b="1" dirty="0">
                <a:latin typeface="宋体" panose="02010600030101010101" pitchFamily="2" charset="-122"/>
              </a:rPr>
              <a:t>指令的功能及种类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强化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指令的功能及种类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CISC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dirty="0">
                <a:latin typeface="+mn-lt"/>
                <a:sym typeface="+mn-ea"/>
              </a:rPr>
              <a:t>Complex Instruction Set Computer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简化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指令的功能及种类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dirty="0">
                <a:latin typeface="+mn-lt"/>
                <a:ea typeface="+mn-ea"/>
                <a:sym typeface="+mn-ea"/>
              </a:rPr>
              <a:t>Reduced Instruction Set Computer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CISC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RISC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的特征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436235" y="1988820"/>
            <a:ext cx="1332230" cy="504190"/>
            <a:chOff x="8561" y="3132"/>
            <a:chExt cx="2098" cy="794"/>
          </a:xfrm>
        </p:grpSpPr>
        <p:sp>
          <p:nvSpPr>
            <p:cNvPr id="4" name="右大括号 3"/>
            <p:cNvSpPr/>
            <p:nvPr/>
          </p:nvSpPr>
          <p:spPr>
            <a:xfrm>
              <a:off x="8561" y="3132"/>
              <a:ext cx="113" cy="794"/>
            </a:xfrm>
            <a:prstGeom prst="rightBrac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731" y="3132"/>
              <a:ext cx="1928" cy="794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要求矛盾</a:t>
              </a:r>
            </a:p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sz="1600" b="1" dirty="0">
                  <a:latin typeface="宋体" panose="02010600030101010101" pitchFamily="2" charset="-122"/>
                </a:rPr>
                <a:t>无法调和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43</a:t>
            </a:fld>
            <a:endParaRPr lang="en-US" altLang="zh-CN"/>
          </a:p>
        </p:txBody>
      </p:sp>
      <p:sp>
        <p:nvSpPr>
          <p:cNvPr id="259247" name="Text Box 17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32656"/>
            <a:ext cx="3095856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CISC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目标：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示例：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特征：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4" name="Text Box 1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00" y="3358800"/>
            <a:ext cx="2735816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RISC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目标：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示例：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特征：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5" name="Text Box 175"/>
          <p:cNvSpPr txBox="1">
            <a:spLocks noChangeArrowheads="1"/>
          </p:cNvSpPr>
          <p:nvPr/>
        </p:nvSpPr>
        <p:spPr bwMode="auto">
          <a:xfrm>
            <a:off x="1296000" y="3861048"/>
            <a:ext cx="754380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侧重</a:t>
            </a:r>
            <a:r>
              <a:rPr lang="zh-CN" altLang="en-US" sz="2200" b="1" dirty="0">
                <a:solidFill>
                  <a:srgbClr val="990099"/>
                </a:solidFill>
                <a:sym typeface="+mn-ea"/>
              </a:rPr>
              <a:t>简化指令功能</a:t>
            </a:r>
            <a:r>
              <a:rPr lang="zh-CN" altLang="en-US" sz="2200" b="1" dirty="0">
                <a:sym typeface="+mn-ea"/>
              </a:rPr>
              <a:t>，以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提高指令执行速度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(CPI)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MIPS32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有</a:t>
            </a: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31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条常用指令，</a:t>
            </a: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32</a:t>
            </a:r>
            <a:r>
              <a:rPr lang="zh-CN" altLang="en-US" sz="2200" b="1" spc="-50" dirty="0">
                <a:latin typeface="+mn-ea"/>
                <a:ea typeface="+mn-ea"/>
                <a:sym typeface="+mn-ea"/>
              </a:rPr>
              <a:t>个</a:t>
            </a:r>
            <a:r>
              <a:rPr lang="en-US" altLang="zh-CN" sz="2200" b="1" spc="-50" dirty="0">
                <a:latin typeface="+mn-ea"/>
                <a:ea typeface="+mn-ea"/>
                <a:sym typeface="+mn-ea"/>
              </a:rPr>
              <a:t>GPR</a:t>
            </a:r>
            <a:endParaRPr lang="zh-CN" altLang="en-US" sz="2200" b="1" spc="-50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定长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指令字结构，指令种类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、格式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简单、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寻址方式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少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除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Load/Store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外，均为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REG-REG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执行速度快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[=1T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使用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大量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寄存器，便于编译优化、过程调用的快速实现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执行控制简单，有利于流水、并行处理技术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175"/>
          <p:cNvSpPr txBox="1">
            <a:spLocks noChangeArrowheads="1"/>
          </p:cNvSpPr>
          <p:nvPr/>
        </p:nvSpPr>
        <p:spPr bwMode="auto">
          <a:xfrm>
            <a:off x="1296000" y="836712"/>
            <a:ext cx="753999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侧重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增强指令功能</a:t>
            </a:r>
            <a:r>
              <a:rPr lang="zh-CN" altLang="en-US" sz="2200" b="1" dirty="0">
                <a:latin typeface="宋体" panose="02010600030101010101" pitchFamily="2" charset="-122"/>
              </a:rPr>
              <a:t>，以减少程序中的指令数</a:t>
            </a:r>
            <a:r>
              <a:rPr lang="en-US" altLang="zh-CN" sz="2200" b="1" dirty="0">
                <a:latin typeface="宋体" panose="02010600030101010101" pitchFamily="2" charset="-122"/>
              </a:rPr>
              <a:t>(I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IA32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200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多条标量指令＋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300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多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SSE</a:t>
            </a:r>
            <a:r>
              <a:rPr lang="zh-CN" sz="2200" b="1" spc="-50" dirty="0">
                <a:latin typeface="宋体" panose="02010600030101010101" pitchFamily="2" charset="-122"/>
                <a:sym typeface="+mn-ea"/>
              </a:rPr>
              <a:t>指令，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GPR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变长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指令字结构，指令种类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、格式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复杂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、寻址方式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大多为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REG-MEM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指令，执行时间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较长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几个～几十个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指令功能不均衡，编译程序复杂，执行控制复杂，不利于流水等技术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44</a:t>
            </a:fld>
            <a:endParaRPr lang="en-US" altLang="zh-CN"/>
          </a:p>
        </p:txBody>
      </p:sp>
      <p:sp>
        <p:nvSpPr>
          <p:cNvPr id="167945" name="Text Box 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526155" cy="43553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的发展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*CISC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RISC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的比较</a:t>
            </a:r>
            <a:r>
              <a:rPr lang="zh-CN" altLang="en-US" sz="2200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硬件方面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软件方面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性</a:t>
            </a: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价方面</a:t>
            </a: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*CISC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自身的发展：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RISC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CISC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1634430" y="1196752"/>
            <a:ext cx="7258050" cy="38387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</a:rPr>
              <a:t>较好，得益于流水、并行技术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速度、成本、功耗等方面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CISC</a:t>
            </a:r>
            <a:r>
              <a:rPr lang="zh-CN" altLang="en-US" sz="2200" b="1" dirty="0">
                <a:latin typeface="宋体" panose="02010600030101010101" pitchFamily="2" charset="-122"/>
              </a:rPr>
              <a:t>较好，得益于已有软件、软件兼容性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开发成本、代码效率、兼容性等方面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相当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CISC</a:t>
            </a:r>
            <a:r>
              <a:rPr lang="zh-CN" altLang="en-US" sz="2200" b="1" dirty="0">
                <a:latin typeface="宋体" panose="02010600030101010101" pitchFamily="2" charset="-122"/>
              </a:rPr>
              <a:t>成本低、更新快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市场份额大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技术交融、和平共处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170" dirty="0"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200" b="1" spc="170" dirty="0">
                <a:latin typeface="宋体" panose="02010600030101010101" pitchFamily="2" charset="-122"/>
                <a:sym typeface="+mn-ea"/>
              </a:rPr>
              <a:t>日趋复杂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，纯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类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；嵌入式方向</a:t>
            </a:r>
            <a:endParaRPr lang="zh-CN" altLang="en-US" sz="2200" b="1" u="sng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应用领域扩大、为保持性能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汲取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技术，纯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CISC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→RISC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内核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；台式机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服务器方向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:Intel 80486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67954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71477" y="5775647"/>
            <a:ext cx="3168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4-2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P166—8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9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4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3*24"/>
  <p:tag name="TABLE_ENDDRAG_RECT" val="108*225*503*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3*24"/>
  <p:tag name="TABLE_ENDDRAG_RECT" val="108*225*503*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5*136"/>
  <p:tag name="TABLE_ENDDRAG_RECT" val="109*99*555*136"/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5*48"/>
  <p:tag name="TABLE_ENDDRAG_RECT" val="112*100*495*48"/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0*69"/>
  <p:tag name="TABLE_ENDDRAG_RECT" val="82*252*620*69"/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18*5"/>
  <p:tag name="TABLE_ENDDRAG_RECT" val="76*337*618*6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10*5"/>
  <p:tag name="TABLE_ENDDRAG_RECT" val="121*304*510*6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88*117"/>
  <p:tag name="TABLE_ENDDRAG_RECT" val="87*72*588*117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22*114"/>
  <p:tag name="TABLE_ENDDRAG_RECT" val="113*70*522*114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32*290"/>
  <p:tag name="TABLE_ENDDRAG_RECT" val="39*34*632*290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31*32"/>
  <p:tag name="TABLE_ENDDRAG_RECT" val="25*445*631*33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37*167"/>
  <p:tag name="TABLE_ENDDRAG_RECT" val="82*68*537*167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30*21"/>
  <p:tag name="TABLE_ENDDRAG_RECT" val="92*135*430*2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>
          <a:lnSpc>
            <a:spcPct val="125000"/>
          </a:lnSpc>
          <a:spcBef>
            <a:spcPts val="0"/>
          </a:spcBef>
          <a:spcAft>
            <a:spcPts val="0"/>
          </a:spcAft>
          <a:defRPr lang="en-US" altLang="zh-CN" sz="2200"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5795</TotalTime>
  <Words>10408</Words>
  <Application>Microsoft Office PowerPoint</Application>
  <PresentationFormat>全屏显示(4:3)</PresentationFormat>
  <Paragraphs>1935</Paragraphs>
  <Slides>44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 Unicode MS</vt:lpstr>
      <vt:lpstr>MS Gothic</vt:lpstr>
      <vt:lpstr>黑体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任国林</dc:creator>
  <cp:lastModifiedBy>guolin</cp:lastModifiedBy>
  <cp:revision>2069</cp:revision>
  <dcterms:created xsi:type="dcterms:W3CDTF">2002-02-16T03:40:00Z</dcterms:created>
  <dcterms:modified xsi:type="dcterms:W3CDTF">2025-11-10T05:21:32Z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F87F95962CE54E15A3459F2AF9FEFC6A_12</vt:lpwstr>
  </property>
  <property fmtid="{D5CDD505-2E9C-101B-9397-08002B2CF9AE}" pid="3" name="KSOProductBuildVer">
    <vt:lpwstr>2052-12.1.0.15712</vt:lpwstr>
  </property>
</Properties>
</file>