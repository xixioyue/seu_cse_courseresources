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20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  <p:sldMasterId id="2147483838" r:id="rId2"/>
  </p:sldMasterIdLst>
  <p:notesMasterIdLst>
    <p:notesMasterId r:id="rId94"/>
  </p:notesMasterIdLst>
  <p:handoutMasterIdLst>
    <p:handoutMasterId r:id="rId95"/>
  </p:handoutMasterIdLst>
  <p:sldIdLst>
    <p:sldId id="523" r:id="rId3"/>
    <p:sldId id="581" r:id="rId4"/>
    <p:sldId id="542" r:id="rId5"/>
    <p:sldId id="543" r:id="rId6"/>
    <p:sldId id="546" r:id="rId7"/>
    <p:sldId id="547" r:id="rId8"/>
    <p:sldId id="544" r:id="rId9"/>
    <p:sldId id="548" r:id="rId10"/>
    <p:sldId id="549" r:id="rId11"/>
    <p:sldId id="550" r:id="rId12"/>
    <p:sldId id="644" r:id="rId13"/>
    <p:sldId id="552" r:id="rId14"/>
    <p:sldId id="553" r:id="rId15"/>
    <p:sldId id="554" r:id="rId16"/>
    <p:sldId id="555" r:id="rId17"/>
    <p:sldId id="556" r:id="rId18"/>
    <p:sldId id="559" r:id="rId19"/>
    <p:sldId id="557" r:id="rId20"/>
    <p:sldId id="558" r:id="rId21"/>
    <p:sldId id="560" r:id="rId22"/>
    <p:sldId id="561" r:id="rId23"/>
    <p:sldId id="562" r:id="rId24"/>
    <p:sldId id="567" r:id="rId25"/>
    <p:sldId id="564" r:id="rId26"/>
    <p:sldId id="565" r:id="rId27"/>
    <p:sldId id="563" r:id="rId28"/>
    <p:sldId id="645" r:id="rId29"/>
    <p:sldId id="646" r:id="rId30"/>
    <p:sldId id="574" r:id="rId31"/>
    <p:sldId id="575" r:id="rId32"/>
    <p:sldId id="576" r:id="rId33"/>
    <p:sldId id="573" r:id="rId34"/>
    <p:sldId id="579" r:id="rId35"/>
    <p:sldId id="578" r:id="rId36"/>
    <p:sldId id="577" r:id="rId37"/>
    <p:sldId id="582" r:id="rId38"/>
    <p:sldId id="583" r:id="rId39"/>
    <p:sldId id="584" r:id="rId40"/>
    <p:sldId id="585" r:id="rId41"/>
    <p:sldId id="586" r:id="rId42"/>
    <p:sldId id="587" r:id="rId43"/>
    <p:sldId id="588" r:id="rId44"/>
    <p:sldId id="589" r:id="rId45"/>
    <p:sldId id="590" r:id="rId46"/>
    <p:sldId id="591" r:id="rId47"/>
    <p:sldId id="593" r:id="rId48"/>
    <p:sldId id="596" r:id="rId49"/>
    <p:sldId id="594" r:id="rId50"/>
    <p:sldId id="597" r:id="rId51"/>
    <p:sldId id="598" r:id="rId52"/>
    <p:sldId id="599" r:id="rId53"/>
    <p:sldId id="600" r:id="rId54"/>
    <p:sldId id="601" r:id="rId55"/>
    <p:sldId id="602" r:id="rId56"/>
    <p:sldId id="603" r:id="rId57"/>
    <p:sldId id="604" r:id="rId58"/>
    <p:sldId id="605" r:id="rId59"/>
    <p:sldId id="606" r:id="rId60"/>
    <p:sldId id="607" r:id="rId61"/>
    <p:sldId id="609" r:id="rId62"/>
    <p:sldId id="608" r:id="rId63"/>
    <p:sldId id="610" r:id="rId64"/>
    <p:sldId id="611" r:id="rId65"/>
    <p:sldId id="612" r:id="rId66"/>
    <p:sldId id="613" r:id="rId67"/>
    <p:sldId id="640" r:id="rId68"/>
    <p:sldId id="635" r:id="rId69"/>
    <p:sldId id="636" r:id="rId70"/>
    <p:sldId id="637" r:id="rId71"/>
    <p:sldId id="633" r:id="rId72"/>
    <p:sldId id="638" r:id="rId73"/>
    <p:sldId id="639" r:id="rId74"/>
    <p:sldId id="641" r:id="rId75"/>
    <p:sldId id="642" r:id="rId76"/>
    <p:sldId id="643" r:id="rId77"/>
    <p:sldId id="616" r:id="rId78"/>
    <p:sldId id="256" r:id="rId79"/>
    <p:sldId id="257" r:id="rId80"/>
    <p:sldId id="258" r:id="rId81"/>
    <p:sldId id="259" r:id="rId82"/>
    <p:sldId id="647" r:id="rId83"/>
    <p:sldId id="648" r:id="rId84"/>
    <p:sldId id="649" r:id="rId85"/>
    <p:sldId id="650" r:id="rId86"/>
    <p:sldId id="265" r:id="rId87"/>
    <p:sldId id="266" r:id="rId88"/>
    <p:sldId id="268" r:id="rId89"/>
    <p:sldId id="652" r:id="rId90"/>
    <p:sldId id="269" r:id="rId91"/>
    <p:sldId id="270" r:id="rId92"/>
    <p:sldId id="629" r:id="rId93"/>
  </p:sldIdLst>
  <p:sldSz cx="12192000" cy="6858000"/>
  <p:notesSz cx="7315200" cy="9601200"/>
  <p:custDataLst>
    <p:tags r:id="rId96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18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37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566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754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5943" algn="l" defTabSz="914377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131" algn="l" defTabSz="914377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320" algn="l" defTabSz="914377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509" algn="l" defTabSz="914377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2D8A"/>
    <a:srgbClr val="FFCC99"/>
    <a:srgbClr val="FFFFCC"/>
    <a:srgbClr val="CCFFCC"/>
    <a:srgbClr val="FFCCFF"/>
    <a:srgbClr val="99CCFF"/>
    <a:srgbClr val="008000"/>
    <a:srgbClr val="CC6600"/>
    <a:srgbClr val="996600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93" autoAdjust="0"/>
    <p:restoredTop sz="83272" autoAdjust="0"/>
  </p:normalViewPr>
  <p:slideViewPr>
    <p:cSldViewPr>
      <p:cViewPr varScale="1">
        <p:scale>
          <a:sx n="133" d="100"/>
          <a:sy n="133" d="100"/>
        </p:scale>
        <p:origin x="177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439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handoutMaster" Target="handoutMasters/handoutMaster1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notesMaster" Target="notesMasters/notesMaster1.xml"/><Relationship Id="rId9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case1</c:v>
                </c:pt>
                <c:pt idx="1">
                  <c:v>case2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29-444A-B5B7-153DF073D8C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case1</c:v>
                </c:pt>
                <c:pt idx="1">
                  <c:v>case2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629-444A-B5B7-153DF073D8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29939487"/>
        <c:axId val="1629942815"/>
      </c:barChart>
      <c:catAx>
        <c:axId val="162993948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629942815"/>
        <c:crosses val="autoZero"/>
        <c:auto val="1"/>
        <c:lblAlgn val="ctr"/>
        <c:lblOffset val="100"/>
        <c:noMultiLvlLbl val="0"/>
      </c:catAx>
      <c:valAx>
        <c:axId val="16299428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1629939487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值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Sheet1!$A$2:$A$3</c:f>
              <c:numCache>
                <c:formatCode>General</c:formatCode>
                <c:ptCount val="2"/>
                <c:pt idx="0">
                  <c:v>0</c:v>
                </c:pt>
                <c:pt idx="1">
                  <c:v>3</c:v>
                </c:pt>
              </c:numCache>
            </c:numRef>
          </c:xVal>
          <c:yVal>
            <c:numRef>
              <c:f>Sheet1!$B$2:$B$3</c:f>
              <c:numCache>
                <c:formatCode>General</c:formatCode>
                <c:ptCount val="2"/>
                <c:pt idx="0">
                  <c:v>1.5</c:v>
                </c:pt>
                <c:pt idx="1">
                  <c:v>1.5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2E3-4914-AFFD-F3B6664656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922927040"/>
        <c:axId val="-1922930304"/>
      </c:scatterChart>
      <c:valAx>
        <c:axId val="-1922927040"/>
        <c:scaling>
          <c:orientation val="minMax"/>
          <c:max val="3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-1922930304"/>
        <c:crosses val="autoZero"/>
        <c:crossBetween val="midCat"/>
      </c:valAx>
      <c:valAx>
        <c:axId val="-1922930304"/>
        <c:scaling>
          <c:orientation val="minMax"/>
          <c:max val="3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-192292704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值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Sheet1!$A$2:$A$3</c:f>
              <c:numCache>
                <c:formatCode>General</c:formatCode>
                <c:ptCount val="2"/>
                <c:pt idx="0">
                  <c:v>0</c:v>
                </c:pt>
                <c:pt idx="1">
                  <c:v>3</c:v>
                </c:pt>
              </c:numCache>
            </c:numRef>
          </c:xVal>
          <c:y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1.5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7B3-430D-86AC-7BAF630770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922928672"/>
        <c:axId val="-496288480"/>
      </c:scatterChart>
      <c:valAx>
        <c:axId val="-1922928672"/>
        <c:scaling>
          <c:orientation val="minMax"/>
          <c:max val="3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-496288480"/>
        <c:crosses val="autoZero"/>
        <c:crossBetween val="midCat"/>
      </c:valAx>
      <c:valAx>
        <c:axId val="-496288480"/>
        <c:scaling>
          <c:orientation val="minMax"/>
          <c:max val="3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-192292867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值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Sheet1!$A$2:$A$3</c:f>
              <c:numCache>
                <c:formatCode>General</c:formatCode>
                <c:ptCount val="2"/>
                <c:pt idx="0">
                  <c:v>0</c:v>
                </c:pt>
                <c:pt idx="1">
                  <c:v>3</c:v>
                </c:pt>
              </c:numCache>
            </c:numRef>
          </c:xVal>
          <c:y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6A2-4EA0-B8CC-DF89FB5BA5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496286848"/>
        <c:axId val="-496289024"/>
      </c:scatterChart>
      <c:valAx>
        <c:axId val="-496286848"/>
        <c:scaling>
          <c:orientation val="minMax"/>
          <c:max val="3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-496289024"/>
        <c:crosses val="autoZero"/>
        <c:crossBetween val="midCat"/>
      </c:valAx>
      <c:valAx>
        <c:axId val="-496289024"/>
        <c:scaling>
          <c:orientation val="minMax"/>
          <c:max val="3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-49628684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值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</c:v>
                </c:pt>
                <c:pt idx="1">
                  <c:v>0.5</c:v>
                </c:pt>
                <c:pt idx="2">
                  <c:v>1</c:v>
                </c:pt>
                <c:pt idx="3">
                  <c:v>1.5</c:v>
                </c:pt>
                <c:pt idx="4">
                  <c:v>2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2.2999999999999998</c:v>
                </c:pt>
                <c:pt idx="1">
                  <c:v>0.57999999999999996</c:v>
                </c:pt>
                <c:pt idx="2">
                  <c:v>0</c:v>
                </c:pt>
                <c:pt idx="3">
                  <c:v>0.57999999999999996</c:v>
                </c:pt>
                <c:pt idx="4">
                  <c:v>2.2999999999999998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3B2-46A7-8007-1F4A48E79D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756370464"/>
        <c:axId val="-1756368288"/>
      </c:scatterChart>
      <c:valAx>
        <c:axId val="-1756370464"/>
        <c:scaling>
          <c:orientation val="minMax"/>
          <c:max val="2.5"/>
          <c:min val="-0.5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r>
                  <a:rPr lang="en-US"/>
                  <a:t>θ1</a:t>
                </a:r>
                <a:endParaRPr lang="zh-C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ea"/>
                  <a:sym typeface="+mn-lt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crossAx val="-1756368288"/>
        <c:crosses val="autoZero"/>
        <c:crossBetween val="midCat"/>
      </c:valAx>
      <c:valAx>
        <c:axId val="-1756368288"/>
        <c:scaling>
          <c:orientation val="minMax"/>
          <c:max val="3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r>
                  <a:rPr lang="en-US"/>
                  <a:t>J(θ1)</a:t>
                </a:r>
                <a:endParaRPr lang="zh-C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ea"/>
                  <a:sym typeface="+mn-lt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crossAx val="-175637046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值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0.5</c:v>
                </c:pt>
                <c:pt idx="1">
                  <c:v>1</c:v>
                </c:pt>
                <c:pt idx="2">
                  <c:v>1.5</c:v>
                </c:pt>
                <c:pt idx="3">
                  <c:v>2.5</c:v>
                </c:pt>
                <c:pt idx="4">
                  <c:v>4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0.5</c:v>
                </c:pt>
                <c:pt idx="1">
                  <c:v>2</c:v>
                </c:pt>
                <c:pt idx="2">
                  <c:v>3.2</c:v>
                </c:pt>
                <c:pt idx="3">
                  <c:v>4</c:v>
                </c:pt>
                <c:pt idx="4">
                  <c:v>4.4000000000000004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057-4714-A5BB-6B4F9CEE35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756334672"/>
        <c:axId val="-1756335760"/>
      </c:scatterChart>
      <c:valAx>
        <c:axId val="-1756334672"/>
        <c:scaling>
          <c:orientation val="minMax"/>
          <c:max val="5"/>
          <c:min val="0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r>
                  <a:rPr lang="en-US"/>
                  <a:t>Size</a:t>
                </a:r>
                <a:endParaRPr lang="zh-C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ea"/>
                  <a:sym typeface="+mn-lt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crossAx val="-1756335760"/>
        <c:crosses val="autoZero"/>
        <c:crossBetween val="midCat"/>
      </c:valAx>
      <c:valAx>
        <c:axId val="-1756335760"/>
        <c:scaling>
          <c:orientation val="minMax"/>
          <c:max val="5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r>
                  <a:rPr lang="en-US"/>
                  <a:t>Price</a:t>
                </a:r>
                <a:endParaRPr lang="zh-C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ea"/>
                  <a:sym typeface="+mn-lt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crossAx val="-175633467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值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Sheet1!$A$2:$A$3</c:f>
              <c:numCache>
                <c:formatCode>General</c:formatCode>
                <c:ptCount val="2"/>
                <c:pt idx="0">
                  <c:v>0</c:v>
                </c:pt>
                <c:pt idx="1">
                  <c:v>5</c:v>
                </c:pt>
              </c:numCache>
            </c:numRef>
          </c:xVal>
          <c:yVal>
            <c:numRef>
              <c:f>Sheet1!$B$2:$B$3</c:f>
              <c:numCache>
                <c:formatCode>General</c:formatCode>
                <c:ptCount val="2"/>
                <c:pt idx="0">
                  <c:v>0.5</c:v>
                </c:pt>
                <c:pt idx="1">
                  <c:v>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E4B-487A-8397-0D87BD4094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479360784"/>
        <c:axId val="-1479362416"/>
      </c:scatterChart>
      <c:valAx>
        <c:axId val="-1479360784"/>
        <c:scaling>
          <c:orientation val="minMax"/>
          <c:max val="5"/>
          <c:min val="0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r>
                  <a:rPr lang="en-US"/>
                  <a:t>Size</a:t>
                </a:r>
                <a:endParaRPr lang="zh-C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ea"/>
                  <a:sym typeface="+mn-lt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crossAx val="-1479362416"/>
        <c:crosses val="autoZero"/>
        <c:crossBetween val="midCat"/>
      </c:valAx>
      <c:valAx>
        <c:axId val="-1479362416"/>
        <c:scaling>
          <c:orientation val="minMax"/>
          <c:max val="5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r>
                  <a:rPr lang="en-US"/>
                  <a:t>Price</a:t>
                </a:r>
                <a:endParaRPr lang="zh-C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ea"/>
                  <a:sym typeface="+mn-lt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crossAx val="-147936078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值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0.5</c:v>
                </c:pt>
                <c:pt idx="1">
                  <c:v>1</c:v>
                </c:pt>
                <c:pt idx="2">
                  <c:v>1.5</c:v>
                </c:pt>
                <c:pt idx="3">
                  <c:v>2.5</c:v>
                </c:pt>
                <c:pt idx="4">
                  <c:v>4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0.5</c:v>
                </c:pt>
                <c:pt idx="1">
                  <c:v>2</c:v>
                </c:pt>
                <c:pt idx="2">
                  <c:v>3.2</c:v>
                </c:pt>
                <c:pt idx="3">
                  <c:v>4</c:v>
                </c:pt>
                <c:pt idx="4">
                  <c:v>4.4000000000000004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7BD-4C8A-B218-9570CDBDCE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479359152"/>
        <c:axId val="-1479361872"/>
      </c:scatterChart>
      <c:valAx>
        <c:axId val="-1479359152"/>
        <c:scaling>
          <c:orientation val="minMax"/>
          <c:max val="5"/>
          <c:min val="0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r>
                  <a:rPr lang="en-US"/>
                  <a:t>Size</a:t>
                </a:r>
                <a:endParaRPr lang="zh-C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ea"/>
                  <a:sym typeface="+mn-lt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crossAx val="-1479361872"/>
        <c:crosses val="autoZero"/>
        <c:crossBetween val="midCat"/>
      </c:valAx>
      <c:valAx>
        <c:axId val="-1479361872"/>
        <c:scaling>
          <c:orientation val="minMax"/>
          <c:max val="5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r>
                  <a:rPr lang="en-US"/>
                  <a:t>Price</a:t>
                </a:r>
                <a:endParaRPr lang="zh-C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ea"/>
                  <a:sym typeface="+mn-lt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crossAx val="-147935915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值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</c:v>
                </c:pt>
                <c:pt idx="1">
                  <c:v>2</c:v>
                </c:pt>
                <c:pt idx="2">
                  <c:v>6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-1</c:v>
                </c:pt>
                <c:pt idx="1">
                  <c:v>3.5</c:v>
                </c:pt>
                <c:pt idx="2">
                  <c:v>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A5AC-4800-AFDE-D0CCC59657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566546608"/>
        <c:axId val="-1566545520"/>
      </c:scatterChart>
      <c:valAx>
        <c:axId val="-1566546608"/>
        <c:scaling>
          <c:orientation val="minMax"/>
          <c:max val="5"/>
          <c:min val="0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r>
                  <a:rPr lang="en-US"/>
                  <a:t>Size</a:t>
                </a:r>
                <a:endParaRPr lang="zh-C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ea"/>
                  <a:sym typeface="+mn-lt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crossAx val="-1566545520"/>
        <c:crosses val="autoZero"/>
        <c:crossBetween val="midCat"/>
      </c:valAx>
      <c:valAx>
        <c:axId val="-1566545520"/>
        <c:scaling>
          <c:orientation val="minMax"/>
          <c:max val="5"/>
          <c:min val="0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r>
                  <a:rPr lang="en-US"/>
                  <a:t>Price</a:t>
                </a:r>
                <a:endParaRPr lang="zh-C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ea"/>
                  <a:sym typeface="+mn-lt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crossAx val="-156654660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值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0.5</c:v>
                </c:pt>
                <c:pt idx="1">
                  <c:v>1</c:v>
                </c:pt>
                <c:pt idx="2">
                  <c:v>1.5</c:v>
                </c:pt>
                <c:pt idx="3">
                  <c:v>2.5</c:v>
                </c:pt>
                <c:pt idx="4">
                  <c:v>4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0.5</c:v>
                </c:pt>
                <c:pt idx="1">
                  <c:v>2</c:v>
                </c:pt>
                <c:pt idx="2">
                  <c:v>3.2</c:v>
                </c:pt>
                <c:pt idx="3">
                  <c:v>4</c:v>
                </c:pt>
                <c:pt idx="4">
                  <c:v>4.4000000000000004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98E-477F-8087-109D30D829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566547152"/>
        <c:axId val="-1566544976"/>
      </c:scatterChart>
      <c:valAx>
        <c:axId val="-1566547152"/>
        <c:scaling>
          <c:orientation val="minMax"/>
          <c:max val="5"/>
          <c:min val="0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r>
                  <a:rPr lang="en-US"/>
                  <a:t>Size</a:t>
                </a:r>
                <a:endParaRPr lang="zh-C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ea"/>
                  <a:sym typeface="+mn-lt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crossAx val="-1566544976"/>
        <c:crosses val="autoZero"/>
        <c:crossBetween val="midCat"/>
      </c:valAx>
      <c:valAx>
        <c:axId val="-1566544976"/>
        <c:scaling>
          <c:orientation val="minMax"/>
          <c:max val="5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r>
                  <a:rPr lang="en-US"/>
                  <a:t>Price</a:t>
                </a:r>
                <a:endParaRPr lang="zh-C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ea"/>
                  <a:sym typeface="+mn-lt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crossAx val="-156654715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值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Sheet1!$A$2:$A$9</c:f>
              <c:numCache>
                <c:formatCode>General</c:formatCode>
                <c:ptCount val="8"/>
                <c:pt idx="0">
                  <c:v>-1</c:v>
                </c:pt>
                <c:pt idx="1">
                  <c:v>0.6</c:v>
                </c:pt>
                <c:pt idx="2">
                  <c:v>1</c:v>
                </c:pt>
                <c:pt idx="3">
                  <c:v>1.4</c:v>
                </c:pt>
                <c:pt idx="4">
                  <c:v>2</c:v>
                </c:pt>
                <c:pt idx="5">
                  <c:v>2.2999999999999998</c:v>
                </c:pt>
                <c:pt idx="6">
                  <c:v>3</c:v>
                </c:pt>
                <c:pt idx="7">
                  <c:v>5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2</c:v>
                </c:pt>
                <c:pt idx="1">
                  <c:v>0.4</c:v>
                </c:pt>
                <c:pt idx="2">
                  <c:v>2</c:v>
                </c:pt>
                <c:pt idx="3">
                  <c:v>3.2</c:v>
                </c:pt>
                <c:pt idx="4">
                  <c:v>3.2</c:v>
                </c:pt>
                <c:pt idx="5">
                  <c:v>3.6</c:v>
                </c:pt>
                <c:pt idx="6">
                  <c:v>4.8</c:v>
                </c:pt>
                <c:pt idx="7">
                  <c:v>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72E-4014-93C2-AF2A43E92C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930833904"/>
        <c:axId val="-1930832816"/>
      </c:scatterChart>
      <c:valAx>
        <c:axId val="-1930833904"/>
        <c:scaling>
          <c:orientation val="minMax"/>
          <c:max val="5"/>
          <c:min val="0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r>
                  <a:rPr lang="en-US"/>
                  <a:t>Size</a:t>
                </a:r>
                <a:endParaRPr lang="zh-C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ea"/>
                  <a:sym typeface="+mn-lt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crossAx val="-1930832816"/>
        <c:crosses val="autoZero"/>
        <c:crossBetween val="midCat"/>
      </c:valAx>
      <c:valAx>
        <c:axId val="-1930832816"/>
        <c:scaling>
          <c:orientation val="minMax"/>
          <c:max val="5"/>
          <c:min val="0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r>
                  <a:rPr lang="en-US"/>
                  <a:t>Price</a:t>
                </a:r>
                <a:endParaRPr lang="zh-C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ea"/>
                  <a:sym typeface="+mn-lt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crossAx val="-193083390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值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0.5</c:v>
                </c:pt>
                <c:pt idx="1">
                  <c:v>1</c:v>
                </c:pt>
                <c:pt idx="2">
                  <c:v>1.5</c:v>
                </c:pt>
                <c:pt idx="3">
                  <c:v>2.5</c:v>
                </c:pt>
                <c:pt idx="4">
                  <c:v>4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0.5</c:v>
                </c:pt>
                <c:pt idx="1">
                  <c:v>2</c:v>
                </c:pt>
                <c:pt idx="2">
                  <c:v>3.2</c:v>
                </c:pt>
                <c:pt idx="3">
                  <c:v>4</c:v>
                </c:pt>
                <c:pt idx="4">
                  <c:v>4.4000000000000004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612-47BC-8563-B2B75CB61A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479359152"/>
        <c:axId val="-1479361872"/>
      </c:scatterChart>
      <c:valAx>
        <c:axId val="-1479359152"/>
        <c:scaling>
          <c:orientation val="minMax"/>
          <c:max val="5"/>
          <c:min val="0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r>
                  <a:rPr lang="en-US"/>
                  <a:t>Size</a:t>
                </a:r>
                <a:endParaRPr lang="zh-C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ea"/>
                  <a:sym typeface="+mn-lt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crossAx val="-1479361872"/>
        <c:crosses val="autoZero"/>
        <c:crossBetween val="midCat"/>
      </c:valAx>
      <c:valAx>
        <c:axId val="-1479361872"/>
        <c:scaling>
          <c:orientation val="minMax"/>
          <c:max val="5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r>
                  <a:rPr lang="en-US"/>
                  <a:t>Price</a:t>
                </a:r>
                <a:endParaRPr lang="zh-C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ea"/>
                  <a:sym typeface="+mn-lt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crossAx val="-147935915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值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</c:v>
                </c:pt>
                <c:pt idx="1">
                  <c:v>2</c:v>
                </c:pt>
                <c:pt idx="2">
                  <c:v>6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-1</c:v>
                </c:pt>
                <c:pt idx="1">
                  <c:v>3.5</c:v>
                </c:pt>
                <c:pt idx="2">
                  <c:v>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57D-427B-9C29-2D8D3095BE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566546608"/>
        <c:axId val="-1566545520"/>
      </c:scatterChart>
      <c:valAx>
        <c:axId val="-1566546608"/>
        <c:scaling>
          <c:orientation val="minMax"/>
          <c:max val="5"/>
          <c:min val="0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r>
                  <a:rPr lang="en-US"/>
                  <a:t>Size</a:t>
                </a:r>
                <a:endParaRPr lang="zh-C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ea"/>
                  <a:sym typeface="+mn-lt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crossAx val="-1566545520"/>
        <c:crosses val="autoZero"/>
        <c:crossBetween val="midCat"/>
      </c:valAx>
      <c:valAx>
        <c:axId val="-1566545520"/>
        <c:scaling>
          <c:orientation val="minMax"/>
          <c:max val="5"/>
          <c:min val="0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r>
                  <a:rPr lang="en-US"/>
                  <a:t>Price</a:t>
                </a:r>
                <a:endParaRPr lang="zh-C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ea"/>
                  <a:sym typeface="+mn-lt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crossAx val="-156654660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值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0.5</c:v>
                </c:pt>
                <c:pt idx="1">
                  <c:v>1</c:v>
                </c:pt>
                <c:pt idx="2">
                  <c:v>1.5</c:v>
                </c:pt>
                <c:pt idx="3">
                  <c:v>2.5</c:v>
                </c:pt>
                <c:pt idx="4">
                  <c:v>4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0.5</c:v>
                </c:pt>
                <c:pt idx="1">
                  <c:v>2</c:v>
                </c:pt>
                <c:pt idx="2">
                  <c:v>3.2</c:v>
                </c:pt>
                <c:pt idx="3">
                  <c:v>4</c:v>
                </c:pt>
                <c:pt idx="4">
                  <c:v>4.4000000000000004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AC5-459C-BCDC-E25B59360B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566547152"/>
        <c:axId val="-1566544976"/>
      </c:scatterChart>
      <c:valAx>
        <c:axId val="-1566547152"/>
        <c:scaling>
          <c:orientation val="minMax"/>
          <c:max val="5"/>
          <c:min val="0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r>
                  <a:rPr lang="en-US"/>
                  <a:t>Size</a:t>
                </a:r>
                <a:endParaRPr lang="zh-C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ea"/>
                  <a:sym typeface="+mn-lt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crossAx val="-1566544976"/>
        <c:crosses val="autoZero"/>
        <c:crossBetween val="midCat"/>
      </c:valAx>
      <c:valAx>
        <c:axId val="-1566544976"/>
        <c:scaling>
          <c:orientation val="minMax"/>
          <c:max val="5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r>
                  <a:rPr lang="en-US"/>
                  <a:t>Price</a:t>
                </a:r>
                <a:endParaRPr lang="zh-C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ea"/>
                  <a:sym typeface="+mn-lt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crossAx val="-156654715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值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Sheet1!$A$2:$A$9</c:f>
              <c:numCache>
                <c:formatCode>General</c:formatCode>
                <c:ptCount val="8"/>
                <c:pt idx="0">
                  <c:v>-1</c:v>
                </c:pt>
                <c:pt idx="1">
                  <c:v>0.6</c:v>
                </c:pt>
                <c:pt idx="2">
                  <c:v>1</c:v>
                </c:pt>
                <c:pt idx="3">
                  <c:v>1.4</c:v>
                </c:pt>
                <c:pt idx="4">
                  <c:v>2</c:v>
                </c:pt>
                <c:pt idx="5">
                  <c:v>2.2999999999999998</c:v>
                </c:pt>
                <c:pt idx="6">
                  <c:v>3</c:v>
                </c:pt>
                <c:pt idx="7">
                  <c:v>5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2</c:v>
                </c:pt>
                <c:pt idx="1">
                  <c:v>0.4</c:v>
                </c:pt>
                <c:pt idx="2">
                  <c:v>2</c:v>
                </c:pt>
                <c:pt idx="3">
                  <c:v>3.2</c:v>
                </c:pt>
                <c:pt idx="4">
                  <c:v>3.2</c:v>
                </c:pt>
                <c:pt idx="5">
                  <c:v>3.6</c:v>
                </c:pt>
                <c:pt idx="6">
                  <c:v>4.8</c:v>
                </c:pt>
                <c:pt idx="7">
                  <c:v>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6C27-4E5E-9FBE-9311E5B50F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930833904"/>
        <c:axId val="-1930832816"/>
      </c:scatterChart>
      <c:valAx>
        <c:axId val="-1930833904"/>
        <c:scaling>
          <c:orientation val="minMax"/>
          <c:max val="5"/>
          <c:min val="0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r>
                  <a:rPr lang="en-US"/>
                  <a:t>Size</a:t>
                </a:r>
                <a:endParaRPr lang="zh-C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ea"/>
                  <a:sym typeface="+mn-lt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crossAx val="-1930832816"/>
        <c:crosses val="autoZero"/>
        <c:crossBetween val="midCat"/>
      </c:valAx>
      <c:valAx>
        <c:axId val="-1930832816"/>
        <c:scaling>
          <c:orientation val="minMax"/>
          <c:max val="5"/>
          <c:min val="0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r>
                  <a:rPr lang="en-US"/>
                  <a:t>Price</a:t>
                </a:r>
                <a:endParaRPr lang="zh-C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ea"/>
                  <a:sym typeface="+mn-lt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crossAx val="-193083390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6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7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8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9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0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5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427" y="0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120172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427" y="9120172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fld id="{F38672AD-12AE-4354-8ADE-1E86BC48CC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0221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427" y="0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0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7200" y="720725"/>
            <a:ext cx="64008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30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194" y="4561576"/>
            <a:ext cx="5852814" cy="4318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30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120172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30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427" y="9120172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fld id="{684C7023-1648-4F51-874D-1B6680E39D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8392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189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377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566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754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kumimoji="1" lang="zh-CN" altLang="en-US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090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之前学过约束满足问题，提到推理的概念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侦探小说为例，推理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4C7023-1648-4F51-874D-1B6680E39D27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793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学习形式</a:t>
            </a:r>
            <a:endParaRPr lang="en-US" altLang="zh-CN" dirty="0"/>
          </a:p>
          <a:p>
            <a:r>
              <a:rPr lang="zh-CN" altLang="en-US" dirty="0"/>
              <a:t>决策树</a:t>
            </a:r>
            <a:endParaRPr lang="en-US" altLang="zh-CN" dirty="0"/>
          </a:p>
          <a:p>
            <a:r>
              <a:rPr lang="zh-CN" altLang="en-US" dirty="0"/>
              <a:t>回归与分类</a:t>
            </a:r>
            <a:endParaRPr lang="en-US" altLang="zh-CN" dirty="0"/>
          </a:p>
          <a:p>
            <a:r>
              <a:rPr lang="zh-CN" altLang="en-US" dirty="0"/>
              <a:t>神经网络</a:t>
            </a:r>
            <a:endParaRPr lang="en-US" altLang="zh-CN" dirty="0"/>
          </a:p>
          <a:p>
            <a:r>
              <a:rPr lang="zh-CN" altLang="en-US" dirty="0"/>
              <a:t>集成学习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4C7023-1648-4F51-874D-1B6680E39D27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1282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学习形式</a:t>
            </a:r>
            <a:endParaRPr lang="en-US" altLang="zh-CN" dirty="0"/>
          </a:p>
          <a:p>
            <a:r>
              <a:rPr lang="zh-CN" altLang="en-US" dirty="0"/>
              <a:t>决策树</a:t>
            </a:r>
            <a:endParaRPr lang="en-US" altLang="zh-CN" dirty="0"/>
          </a:p>
          <a:p>
            <a:r>
              <a:rPr lang="zh-CN" altLang="en-US" dirty="0"/>
              <a:t>回归与分类</a:t>
            </a:r>
            <a:endParaRPr lang="en-US" altLang="zh-CN" dirty="0"/>
          </a:p>
          <a:p>
            <a:r>
              <a:rPr lang="zh-CN" altLang="en-US" dirty="0"/>
              <a:t>神经网络</a:t>
            </a:r>
            <a:endParaRPr lang="en-US" altLang="zh-CN" dirty="0"/>
          </a:p>
          <a:p>
            <a:r>
              <a:rPr lang="zh-CN" altLang="en-US" dirty="0"/>
              <a:t>集成学习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4C7023-1648-4F51-874D-1B6680E39D27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94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4C7023-1648-4F51-874D-1B6680E39D27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6322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4C7023-1648-4F51-874D-1B6680E39D27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7546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学习形式</a:t>
            </a:r>
            <a:endParaRPr lang="en-US" altLang="zh-CN" dirty="0"/>
          </a:p>
          <a:p>
            <a:r>
              <a:rPr lang="zh-CN" altLang="en-US" dirty="0"/>
              <a:t>决策树</a:t>
            </a:r>
            <a:endParaRPr lang="en-US" altLang="zh-CN" dirty="0"/>
          </a:p>
          <a:p>
            <a:r>
              <a:rPr lang="zh-CN" altLang="en-US" dirty="0"/>
              <a:t>回归与分类</a:t>
            </a:r>
            <a:endParaRPr lang="en-US" altLang="zh-CN" dirty="0"/>
          </a:p>
          <a:p>
            <a:r>
              <a:rPr lang="zh-CN" altLang="en-US" dirty="0"/>
              <a:t>神经网络</a:t>
            </a:r>
            <a:endParaRPr lang="en-US" altLang="zh-CN" dirty="0"/>
          </a:p>
          <a:p>
            <a:r>
              <a:rPr lang="zh-CN" altLang="en-US" dirty="0"/>
              <a:t>集成学习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4C7023-1648-4F51-874D-1B6680E39D27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863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决策树是一类最简单也是最成功的的机器学习形式。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Attribute:</a:t>
            </a:r>
            <a:r>
              <a:rPr lang="zh-CN" altLang="en-US" dirty="0"/>
              <a:t>属性</a:t>
            </a:r>
            <a:endParaRPr lang="en-US" altLang="zh-CN" dirty="0"/>
          </a:p>
          <a:p>
            <a:r>
              <a:rPr lang="en-US" altLang="zh-CN" dirty="0"/>
              <a:t>Decision</a:t>
            </a:r>
            <a:r>
              <a:rPr lang="zh-CN" altLang="en-US" dirty="0"/>
              <a:t>：决策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饭店中是否等待餐桌的决策树：</a:t>
            </a:r>
            <a:endParaRPr lang="en-US" altLang="zh-CN" dirty="0"/>
          </a:p>
          <a:p>
            <a:r>
              <a:rPr lang="en-US" altLang="zh-CN" dirty="0"/>
              <a:t>patrons</a:t>
            </a:r>
            <a:r>
              <a:rPr lang="zh-CN" altLang="en-US" dirty="0"/>
              <a:t>：饭店中有多少客人。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4C7023-1648-4F51-874D-1B6680E39D27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1931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divide-and-conquer:</a:t>
            </a:r>
            <a:r>
              <a:rPr lang="zh-CN" altLang="en-US" dirty="0"/>
              <a:t>分治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4C7023-1648-4F51-874D-1B6680E39D27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6802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最重要的属性：对于样例分类具有最大差异的属性。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4C7023-1648-4F51-874D-1B6680E39D27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832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主要思想是：挑选一个属性，以便尽可能对样例进行确切分类。</a:t>
            </a:r>
            <a:endParaRPr lang="en-US" altLang="zh-CN" dirty="0"/>
          </a:p>
          <a:p>
            <a:r>
              <a:rPr lang="zh-CN" altLang="en-US" dirty="0"/>
              <a:t>无用的属性：分裂出的样例集中正反样例的比例与原集合中的比例相同。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分布</a:t>
            </a:r>
            <a:r>
              <a:rPr lang="en-US" altLang="zh-CN" dirty="0"/>
              <a:t>-&gt;</a:t>
            </a:r>
            <a:r>
              <a:rPr lang="zh-CN" altLang="en-US" dirty="0"/>
              <a:t>概率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4C7023-1648-4F51-874D-1B6680E39D27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17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d</a:t>
                </a:r>
                <a:r>
                  <a:rPr lang="zh-CN" altLang="en-US" dirty="0"/>
                  <a:t>个不同属性构成</a:t>
                </a:r>
                <a:r>
                  <a:rPr lang="en-US" altLang="zh-CN" dirty="0"/>
                  <a:t>A</a:t>
                </a:r>
              </a:p>
              <a:p>
                <a:endParaRPr lang="en-US" altLang="zh-CN" dirty="0"/>
              </a:p>
              <a:p>
                <a:r>
                  <a:rPr lang="zh-CN" altLang="en-US" dirty="0"/>
                  <a:t>带有</a:t>
                </a:r>
                <a:r>
                  <a:rPr lang="en-US" altLang="zh-CN" dirty="0"/>
                  <a:t>d</a:t>
                </a:r>
                <a:r>
                  <a:rPr lang="zh-CN" altLang="en-US" dirty="0"/>
                  <a:t>个不同值的属性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将训练集</a:t>
                </a:r>
                <a:r>
                  <a:rPr lang="en-US" altLang="zh-CN" dirty="0"/>
                  <a:t>E</a:t>
                </a:r>
                <a:r>
                  <a:rPr lang="zh-CN" altLang="en-US" dirty="0"/>
                  <a:t>划分为若干子集。如果沿着某个分支前进，需要额外的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/(</m:t>
                    </m:r>
                    <m:sSub>
                      <m:sSubPr>
                        <m:ctrlPr>
                          <a:rPr lang="zh-CN" alt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zh-CN" altLang="en-US" dirty="0"/>
                  <a:t>个比特信息来回答问题。</a:t>
                </a:r>
                <a:endParaRPr lang="en-US" altLang="zh-CN" dirty="0"/>
              </a:p>
              <a:p>
                <a:r>
                  <a:rPr lang="zh-CN" altLang="en-US" dirty="0"/>
                  <a:t>测试完属性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后，剩余的期望熵是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i="1" smtClean="0">
                        <a:solidFill>
                          <a:schemeClr val="tx1"/>
                        </a:solidFill>
                      </a:rPr>
                      <m:t>Remainder</m:t>
                    </m:r>
                    <m:r>
                      <m:rPr>
                        <m:nor/>
                      </m:rPr>
                      <a:rPr lang="en-US" altLang="zh-CN" smtClean="0">
                        <a:solidFill>
                          <a:schemeClr val="tx1"/>
                        </a:solidFill>
                      </a:rPr>
                      <m:t> </m:t>
                    </m:r>
                    <m:d>
                      <m:d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dirty="0" smtClean="0"/>
                  <a:t>d</a:t>
                </a:r>
                <a:r>
                  <a:rPr lang="zh-CN" altLang="en-US" dirty="0" smtClean="0"/>
                  <a:t>个不同属性构成</a:t>
                </a:r>
                <a:r>
                  <a:rPr lang="en-US" altLang="zh-CN" dirty="0" smtClean="0"/>
                  <a:t>A</a:t>
                </a:r>
              </a:p>
              <a:p>
                <a:endParaRPr lang="en-US" altLang="zh-CN" dirty="0" smtClean="0"/>
              </a:p>
              <a:p>
                <a:r>
                  <a:rPr lang="zh-CN" altLang="en-US" dirty="0" smtClean="0"/>
                  <a:t>带有</a:t>
                </a:r>
                <a:r>
                  <a:rPr lang="en-US" altLang="zh-CN" dirty="0" smtClean="0"/>
                  <a:t>d</a:t>
                </a:r>
                <a:r>
                  <a:rPr lang="zh-CN" altLang="en-US" dirty="0" smtClean="0"/>
                  <a:t>个不同值的属性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将训练集</a:t>
                </a:r>
                <a:r>
                  <a:rPr lang="en-US" altLang="zh-CN" dirty="0" smtClean="0"/>
                  <a:t>E</a:t>
                </a:r>
                <a:r>
                  <a:rPr lang="zh-CN" altLang="en-US" dirty="0" smtClean="0"/>
                  <a:t>划分为若干子集。如果沿着某个分支前进，需要额外的</a:t>
                </a:r>
                <a:r>
                  <a:rPr lang="en-US" altLang="zh-CN" i="0" dirty="0" smtClean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𝐵(</a:t>
                </a:r>
                <a:r>
                  <a:rPr lang="en-US" altLang="zh-CN" i="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𝑝</a:t>
                </a:r>
                <a:r>
                  <a:rPr lang="zh-CN" altLang="en-US" i="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_</a:t>
                </a:r>
                <a:r>
                  <a:rPr lang="en-US" altLang="zh-CN" i="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𝑘/(𝑝</a:t>
                </a:r>
                <a:r>
                  <a:rPr lang="zh-CN" altLang="en-US" i="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_</a:t>
                </a:r>
                <a:r>
                  <a:rPr lang="en-US" altLang="zh-CN" i="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𝑘+𝑛</a:t>
                </a:r>
                <a:r>
                  <a:rPr lang="zh-CN" altLang="en-US" i="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_</a:t>
                </a:r>
                <a:r>
                  <a:rPr lang="en-US" altLang="zh-CN" i="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𝑘)) </a:t>
                </a:r>
                <a:r>
                  <a:rPr lang="zh-CN" altLang="en-US" dirty="0" smtClean="0"/>
                  <a:t>个比特信息来回答问题。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测试完属性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后，剩余的期望熵是</a:t>
                </a:r>
                <a:r>
                  <a:rPr lang="en-US" altLang="zh-CN" i="0" smtClean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"Remainder </a:t>
                </a:r>
                <a:r>
                  <a:rPr lang="en-US" altLang="zh-CN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" </a:t>
                </a:r>
                <a:r>
                  <a:rPr lang="en-US" altLang="zh-CN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(</a:t>
                </a:r>
                <a:r>
                  <a:rPr lang="en-US" altLang="zh-CN" b="0" i="0" smtClean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𝐴)</a:t>
                </a:r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4C7023-1648-4F51-874D-1B6680E39D27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0460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对属性</a:t>
            </a:r>
            <a:r>
              <a:rPr lang="en-US" altLang="zh-CN" dirty="0"/>
              <a:t>A </a:t>
            </a:r>
            <a:r>
              <a:rPr lang="zh-CN" altLang="en-US" dirty="0"/>
              <a:t>的测试获得的</a:t>
            </a:r>
            <a:r>
              <a:rPr lang="zh-CN" altLang="en-US" b="1" dirty="0"/>
              <a:t>信息收益</a:t>
            </a:r>
            <a:r>
              <a:rPr lang="zh-CN" altLang="en-US" dirty="0"/>
              <a:t>是熵的期望减少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4C7023-1648-4F51-874D-1B6680E39D27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0592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决策树学习的过程是建树的过程，递归函数。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rPr>
              <a:t>PLURALITY-VALUE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rPr>
              <a:t>选择样例中最常见的输出值，随机打破僵局。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4C7023-1648-4F51-874D-1B6680E39D27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7064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84C7023-1648-4F51-874D-1B6680E39D27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46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学习形式</a:t>
            </a:r>
            <a:endParaRPr lang="en-US" altLang="zh-CN" dirty="0"/>
          </a:p>
          <a:p>
            <a:r>
              <a:rPr lang="zh-CN" altLang="en-US" dirty="0"/>
              <a:t>决策树</a:t>
            </a:r>
            <a:endParaRPr lang="en-US" altLang="zh-CN" dirty="0"/>
          </a:p>
          <a:p>
            <a:r>
              <a:rPr lang="zh-CN" altLang="en-US" dirty="0"/>
              <a:t>回归与分类</a:t>
            </a:r>
            <a:endParaRPr lang="en-US" altLang="zh-CN" dirty="0"/>
          </a:p>
          <a:p>
            <a:r>
              <a:rPr lang="zh-CN" altLang="en-US" dirty="0"/>
              <a:t>神经网络</a:t>
            </a:r>
            <a:endParaRPr lang="en-US" altLang="zh-CN" dirty="0"/>
          </a:p>
          <a:p>
            <a:r>
              <a:rPr lang="zh-CN" altLang="en-US" dirty="0"/>
              <a:t>集成学习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4C7023-1648-4F51-874D-1B6680E39D27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6666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4C7023-1648-4F51-874D-1B6680E39D27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2665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dirty="0"/>
                  <a:t>对</a:t>
                </a:r>
                <a14:m>
                  <m:oMath xmlns:m="http://schemas.openxmlformats.org/officeDocument/2006/math"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zh-CN" altLang="en-US" sz="1200" b="0" i="1" smtClean="0">
                        <a:latin typeface="Cambria Math" panose="02040503050406030204" pitchFamily="18" charset="0"/>
                      </a:rPr>
                      <m:t>求导</m:t>
                    </m:r>
                  </m:oMath>
                </a14:m>
                <a:r>
                  <a:rPr lang="zh-CN" altLang="en-US" dirty="0"/>
                  <a:t>得</a:t>
                </a:r>
                <a14:m>
                  <m:oMath xmlns:m="http://schemas.openxmlformats.org/officeDocument/2006/math"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zh-CN" altLang="en-US" sz="120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dirty="0" smtClean="0"/>
                  <a:t>对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𝐽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(𝜃)</a:t>
                </a:r>
                <a:r>
                  <a:rPr lang="zh-CN" altLang="en-US" sz="1200" b="0" i="0" smtClean="0">
                    <a:latin typeface="Cambria Math" panose="02040503050406030204" pitchFamily="18" charset="0"/>
                  </a:rPr>
                  <a:t>求导</a:t>
                </a:r>
                <a:r>
                  <a:rPr lang="zh-CN" altLang="en-US" dirty="0" smtClean="0"/>
                  <a:t>得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𝜃=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(𝑋^𝑇 𝑋)^(−1) 𝑋^𝑇 𝑦</a:t>
                </a:r>
                <a:endParaRPr lang="zh-CN" altLang="en-US" sz="1200" dirty="0"/>
              </a:p>
              <a:p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4C7023-1648-4F51-874D-1B6680E39D27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1649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4C7023-1648-4F51-874D-1B6680E39D27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4058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正则项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过拟合，过犹不及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4C7023-1648-4F51-874D-1B6680E39D27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7608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如何求解？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4C7023-1648-4F51-874D-1B6680E39D27}" type="slidenum">
              <a:rPr lang="en-US" smtClean="0"/>
              <a:pPr>
                <a:defRPr/>
              </a:pPr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3591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4C7023-1648-4F51-874D-1B6680E39D27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1053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sz="120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𝑜𝑔𝐿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12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1200" b="0" i="1" smtClean="0">
                        <a:latin typeface="Cambria Math" panose="02040503050406030204" pitchFamily="18" charset="0"/>
                      </a:rPr>
                      <m:t>似然</m:t>
                    </m:r>
                  </m:oMath>
                </a14:m>
                <a:r>
                  <a:rPr lang="zh-CN" altLang="en-US" dirty="0"/>
                  <a:t>函数</a:t>
                </a:r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200" i="0" smtClean="0">
                    <a:latin typeface="Cambria Math" panose="02040503050406030204" pitchFamily="18" charset="0"/>
                  </a:rPr>
                  <a:t>𝑙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𝑜𝑔𝐿(</a:t>
                </a:r>
                <a:r>
                  <a:rPr lang="zh-CN" altLang="en-US" sz="1200" i="0">
                    <a:latin typeface="Cambria Math" panose="02040503050406030204" pitchFamily="18" charset="0"/>
                  </a:rPr>
                  <a:t>𝜃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)</a:t>
                </a:r>
                <a:r>
                  <a:rPr lang="zh-CN" altLang="en-US" sz="1200" b="0" i="0" smtClean="0">
                    <a:latin typeface="Cambria Math" panose="02040503050406030204" pitchFamily="18" charset="0"/>
                  </a:rPr>
                  <a:t>似然</a:t>
                </a:r>
                <a:r>
                  <a:rPr lang="zh-CN" altLang="en-US" dirty="0" smtClean="0"/>
                  <a:t>函数</a:t>
                </a:r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4C7023-1648-4F51-874D-1B6680E39D27}" type="slidenum">
              <a:rPr lang="en-US" smtClean="0"/>
              <a:pPr>
                <a:defRPr/>
              </a:pPr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8554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学习形式</a:t>
            </a:r>
            <a:endParaRPr lang="en-US" altLang="zh-CN" dirty="0"/>
          </a:p>
          <a:p>
            <a:r>
              <a:rPr lang="zh-CN" altLang="en-US" dirty="0"/>
              <a:t>决策树</a:t>
            </a:r>
            <a:endParaRPr lang="en-US" altLang="zh-CN" dirty="0"/>
          </a:p>
          <a:p>
            <a:r>
              <a:rPr lang="zh-CN" altLang="en-US" dirty="0"/>
              <a:t>回归与分类</a:t>
            </a:r>
            <a:endParaRPr lang="en-US" altLang="zh-CN" dirty="0"/>
          </a:p>
          <a:p>
            <a:r>
              <a:rPr lang="zh-CN" altLang="en-US" dirty="0"/>
              <a:t>神经网络</a:t>
            </a:r>
            <a:endParaRPr lang="en-US" altLang="zh-CN" dirty="0"/>
          </a:p>
          <a:p>
            <a:r>
              <a:rPr lang="zh-CN" altLang="en-US" dirty="0"/>
              <a:t>集成学习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4C7023-1648-4F51-874D-1B6680E39D27}" type="slidenum">
              <a:rPr lang="en-US" smtClean="0"/>
              <a:pPr>
                <a:defRPr/>
              </a:pPr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2745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84C7023-1648-4F51-874D-1B6680E39D27}" type="slidenum">
              <a:rPr lang="en-US" smtClean="0"/>
              <a:pPr>
                <a:defRPr/>
              </a:pPr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5030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84C7023-1648-4F51-874D-1B6680E39D27}" type="slidenum">
              <a:rPr lang="en-US" smtClean="0"/>
              <a:pPr>
                <a:defRPr/>
              </a:pPr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6780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84C7023-1648-4F51-874D-1B6680E39D27}" type="slidenum">
              <a:rPr lang="en-US" smtClean="0"/>
              <a:pPr>
                <a:defRPr/>
              </a:pPr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33292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84C7023-1648-4F51-874D-1B6680E39D27}" type="slidenum">
              <a:rPr lang="en-US" smtClean="0"/>
              <a:pPr>
                <a:defRPr/>
              </a:pPr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6732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84C7023-1648-4F51-874D-1B6680E39D27}" type="slidenum">
              <a:rPr lang="en-US" smtClean="0"/>
              <a:pPr>
                <a:defRPr/>
              </a:pPr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008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幻灯片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箭头: 五边形 46">
            <a:extLst>
              <a:ext uri="{FF2B5EF4-FFF2-40B4-BE49-F238E27FC236}">
                <a16:creationId xmlns:a16="http://schemas.microsoft.com/office/drawing/2014/main" id="{E27F0E8A-FBE3-41B6-A56B-7A14F7AAA7BA}"/>
              </a:ext>
            </a:extLst>
          </p:cNvPr>
          <p:cNvSpPr/>
          <p:nvPr userDrawn="1"/>
        </p:nvSpPr>
        <p:spPr>
          <a:xfrm rot="5400000">
            <a:off x="-1070579" y="2025798"/>
            <a:ext cx="6858002" cy="2806406"/>
          </a:xfrm>
          <a:prstGeom prst="homePlate">
            <a:avLst>
              <a:gd name="adj" fmla="val 3223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solidFill>
                <a:schemeClr val="accent6"/>
              </a:solidFill>
              <a:latin typeface="Helvetica Regular" pitchFamily="2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EAB9554-0968-7F4C-B17C-055427BAAC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142" y="2263721"/>
            <a:ext cx="2330560" cy="233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935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1B478B4D-326B-4F22-B792-98AB7E9C8268}"/>
              </a:ext>
            </a:extLst>
          </p:cNvPr>
          <p:cNvSpPr/>
          <p:nvPr userDrawn="1"/>
        </p:nvSpPr>
        <p:spPr bwMode="auto">
          <a:xfrm rot="5400000">
            <a:off x="4539448" y="-380490"/>
            <a:ext cx="3113105" cy="2609911"/>
          </a:xfrm>
          <a:custGeom>
            <a:avLst/>
            <a:gdLst>
              <a:gd name="connsiteX0" fmla="*/ 0 w 3113105"/>
              <a:gd name="connsiteY0" fmla="*/ 2609911 h 2609911"/>
              <a:gd name="connsiteX1" fmla="*/ 0 w 3113105"/>
              <a:gd name="connsiteY1" fmla="*/ 0 h 2609911"/>
              <a:gd name="connsiteX2" fmla="*/ 2301594 w 3113105"/>
              <a:gd name="connsiteY2" fmla="*/ 0 h 2609911"/>
              <a:gd name="connsiteX3" fmla="*/ 3113105 w 3113105"/>
              <a:gd name="connsiteY3" fmla="*/ 1304956 h 2609911"/>
              <a:gd name="connsiteX4" fmla="*/ 2301594 w 3113105"/>
              <a:gd name="connsiteY4" fmla="*/ 2609910 h 2609911"/>
              <a:gd name="connsiteX5" fmla="*/ 2301594 w 3113105"/>
              <a:gd name="connsiteY5" fmla="*/ 2609911 h 2609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13105" h="2609911">
                <a:moveTo>
                  <a:pt x="0" y="2609911"/>
                </a:moveTo>
                <a:lnTo>
                  <a:pt x="0" y="0"/>
                </a:lnTo>
                <a:lnTo>
                  <a:pt x="2301594" y="0"/>
                </a:lnTo>
                <a:lnTo>
                  <a:pt x="3113105" y="1304956"/>
                </a:lnTo>
                <a:lnTo>
                  <a:pt x="2301594" y="2609910"/>
                </a:lnTo>
                <a:lnTo>
                  <a:pt x="2301594" y="26099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bg1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2742BE2E-64C4-45DC-B5F2-9CE85916052B}"/>
              </a:ext>
            </a:extLst>
          </p:cNvPr>
          <p:cNvSpPr txBox="1"/>
          <p:nvPr userDrawn="1"/>
        </p:nvSpPr>
        <p:spPr>
          <a:xfrm>
            <a:off x="4781377" y="483991"/>
            <a:ext cx="2629246" cy="9082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  <a:sym typeface="+mn-lt"/>
              </a:rPr>
              <a:t>Contents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BEB662E1-75A1-469F-B2C5-6EC6E8255C44}"/>
              </a:ext>
            </a:extLst>
          </p:cNvPr>
          <p:cNvSpPr/>
          <p:nvPr userDrawn="1"/>
        </p:nvSpPr>
        <p:spPr bwMode="auto">
          <a:xfrm rot="5400000">
            <a:off x="4384812" y="-485285"/>
            <a:ext cx="3422377" cy="3128773"/>
          </a:xfrm>
          <a:custGeom>
            <a:avLst/>
            <a:gdLst>
              <a:gd name="connsiteX0" fmla="*/ 0 w 3422377"/>
              <a:gd name="connsiteY0" fmla="*/ 3128773 h 3128773"/>
              <a:gd name="connsiteX1" fmla="*/ 0 w 3422377"/>
              <a:gd name="connsiteY1" fmla="*/ 0 h 3128773"/>
              <a:gd name="connsiteX2" fmla="*/ 2449535 w 3422377"/>
              <a:gd name="connsiteY2" fmla="*/ 0 h 3128773"/>
              <a:gd name="connsiteX3" fmla="*/ 3422377 w 3422377"/>
              <a:gd name="connsiteY3" fmla="*/ 1564387 h 3128773"/>
              <a:gd name="connsiteX4" fmla="*/ 2449535 w 3422377"/>
              <a:gd name="connsiteY4" fmla="*/ 3128772 h 3128773"/>
              <a:gd name="connsiteX5" fmla="*/ 2449535 w 3422377"/>
              <a:gd name="connsiteY5" fmla="*/ 3128773 h 3128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2377" h="3128773">
                <a:moveTo>
                  <a:pt x="0" y="3128773"/>
                </a:moveTo>
                <a:lnTo>
                  <a:pt x="0" y="0"/>
                </a:lnTo>
                <a:lnTo>
                  <a:pt x="2449535" y="0"/>
                </a:lnTo>
                <a:lnTo>
                  <a:pt x="3422377" y="1564387"/>
                </a:lnTo>
                <a:lnTo>
                  <a:pt x="2449535" y="3128772"/>
                </a:lnTo>
                <a:lnTo>
                  <a:pt x="2449535" y="3128773"/>
                </a:lnTo>
                <a:close/>
              </a:path>
            </a:pathLst>
          </a:custGeom>
          <a:noFill/>
          <a:ln w="12700">
            <a:solidFill>
              <a:schemeClr val="accent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bg1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CF32DCCF-D109-144D-93EF-7A463349CB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28999" y="0"/>
            <a:ext cx="6858000" cy="6858000"/>
          </a:xfrm>
          <a:prstGeom prst="rect">
            <a:avLst/>
          </a:prstGeom>
        </p:spPr>
      </p:pic>
      <p:pic>
        <p:nvPicPr>
          <p:cNvPr id="90" name="图片 89">
            <a:extLst>
              <a:ext uri="{FF2B5EF4-FFF2-40B4-BE49-F238E27FC236}">
                <a16:creationId xmlns:a16="http://schemas.microsoft.com/office/drawing/2014/main" id="{D607238F-89BF-434F-A2F2-C5D1BB90B6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517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E7CB78A0-538A-4F4C-97AC-5D6B9B36EAE3}"/>
              </a:ext>
            </a:extLst>
          </p:cNvPr>
          <p:cNvSpPr/>
          <p:nvPr userDrawn="1"/>
        </p:nvSpPr>
        <p:spPr>
          <a:xfrm>
            <a:off x="3997387" y="1330387"/>
            <a:ext cx="4197226" cy="419722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elvetica" pitchFamily="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CD3F2D1-9FCF-4792-8D92-8CA0C104ED79}"/>
              </a:ext>
            </a:extLst>
          </p:cNvPr>
          <p:cNvSpPr txBox="1"/>
          <p:nvPr userDrawn="1"/>
        </p:nvSpPr>
        <p:spPr>
          <a:xfrm>
            <a:off x="5093161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01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1FBCD60-E317-434E-9948-6517EE806648}"/>
              </a:ext>
            </a:extLst>
          </p:cNvPr>
          <p:cNvCxnSpPr>
            <a:cxnSpLocks/>
          </p:cNvCxnSpPr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E5FF972F-6C72-4EB1-91BD-22FC6A6BFE55}"/>
              </a:ext>
            </a:extLst>
          </p:cNvPr>
          <p:cNvSpPr/>
          <p:nvPr userDrawn="1"/>
        </p:nvSpPr>
        <p:spPr>
          <a:xfrm>
            <a:off x="3775702" y="1108702"/>
            <a:ext cx="4640596" cy="4640596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ED22ADE-3337-4765-824B-2BCE393B3BC8}"/>
              </a:ext>
            </a:extLst>
          </p:cNvPr>
          <p:cNvSpPr/>
          <p:nvPr userDrawn="1"/>
        </p:nvSpPr>
        <p:spPr>
          <a:xfrm>
            <a:off x="9613900" y="5273613"/>
            <a:ext cx="764381" cy="76438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7F0E457-CBAE-48A1-9FDD-0AD48E16BB0E}"/>
              </a:ext>
            </a:extLst>
          </p:cNvPr>
          <p:cNvSpPr/>
          <p:nvPr userDrawn="1"/>
        </p:nvSpPr>
        <p:spPr>
          <a:xfrm>
            <a:off x="2209800" y="6134100"/>
            <a:ext cx="1130300" cy="11303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F5B61E3-C874-41BD-9977-575DE377EF7C}"/>
              </a:ext>
            </a:extLst>
          </p:cNvPr>
          <p:cNvSpPr/>
          <p:nvPr userDrawn="1"/>
        </p:nvSpPr>
        <p:spPr>
          <a:xfrm>
            <a:off x="10818188" y="-911691"/>
            <a:ext cx="2092326" cy="209232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79C958C-4261-4C02-847F-E854178B5EDF}"/>
              </a:ext>
            </a:extLst>
          </p:cNvPr>
          <p:cNvSpPr/>
          <p:nvPr userDrawn="1"/>
        </p:nvSpPr>
        <p:spPr>
          <a:xfrm>
            <a:off x="-1048048" y="-250249"/>
            <a:ext cx="2861767" cy="286176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50FB6E99-D418-4444-914B-2306780544C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51320"/>
            <a:ext cx="3996000" cy="914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5020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5">
            <a:extLst>
              <a:ext uri="{FF2B5EF4-FFF2-40B4-BE49-F238E27FC236}">
                <a16:creationId xmlns:a16="http://schemas.microsoft.com/office/drawing/2014/main" id="{5FB16484-E5F7-4B77-B7A5-FDAB1703AF52}"/>
              </a:ext>
            </a:extLst>
          </p:cNvPr>
          <p:cNvSpPr/>
          <p:nvPr userDrawn="1"/>
        </p:nvSpPr>
        <p:spPr>
          <a:xfrm>
            <a:off x="4000500" y="1050677"/>
            <a:ext cx="4191000" cy="409786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6FD6F57-F8D0-494A-A461-A05057362E38}"/>
              </a:ext>
            </a:extLst>
          </p:cNvPr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02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F3C94DC-BC3D-4914-BCEA-9BADE3C91715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D3B89C71-934D-411D-A2EA-05C70F77FCCA}"/>
              </a:ext>
            </a:extLst>
          </p:cNvPr>
          <p:cNvSpPr/>
          <p:nvPr userDrawn="1"/>
        </p:nvSpPr>
        <p:spPr>
          <a:xfrm>
            <a:off x="3564087" y="505131"/>
            <a:ext cx="5063826" cy="4951296"/>
          </a:xfrm>
          <a:prstGeom prst="triangle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0" name="等腰三角形 9">
            <a:extLst>
              <a:ext uri="{FF2B5EF4-FFF2-40B4-BE49-F238E27FC236}">
                <a16:creationId xmlns:a16="http://schemas.microsoft.com/office/drawing/2014/main" id="{A837D7F3-A47E-4687-B46E-2D3048C16002}"/>
              </a:ext>
            </a:extLst>
          </p:cNvPr>
          <p:cNvSpPr/>
          <p:nvPr userDrawn="1"/>
        </p:nvSpPr>
        <p:spPr>
          <a:xfrm rot="10800000">
            <a:off x="1390650" y="6496115"/>
            <a:ext cx="1493560" cy="146037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等腰三角形 10">
            <a:extLst>
              <a:ext uri="{FF2B5EF4-FFF2-40B4-BE49-F238E27FC236}">
                <a16:creationId xmlns:a16="http://schemas.microsoft.com/office/drawing/2014/main" id="{FE10A76B-7B22-4776-AAF9-D0EEE0D973D2}"/>
              </a:ext>
            </a:extLst>
          </p:cNvPr>
          <p:cNvSpPr/>
          <p:nvPr userDrawn="1"/>
        </p:nvSpPr>
        <p:spPr>
          <a:xfrm>
            <a:off x="11153775" y="1013971"/>
            <a:ext cx="2076450" cy="2030307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等腰三角形 11">
            <a:extLst>
              <a:ext uri="{FF2B5EF4-FFF2-40B4-BE49-F238E27FC236}">
                <a16:creationId xmlns:a16="http://schemas.microsoft.com/office/drawing/2014/main" id="{80425897-AA01-4101-B050-A034992317B0}"/>
              </a:ext>
            </a:extLst>
          </p:cNvPr>
          <p:cNvSpPr/>
          <p:nvPr userDrawn="1"/>
        </p:nvSpPr>
        <p:spPr>
          <a:xfrm rot="10800000">
            <a:off x="-414337" y="-187450"/>
            <a:ext cx="2386788" cy="2333749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等腰三角形 12">
            <a:extLst>
              <a:ext uri="{FF2B5EF4-FFF2-40B4-BE49-F238E27FC236}">
                <a16:creationId xmlns:a16="http://schemas.microsoft.com/office/drawing/2014/main" id="{1DC1ADFB-E837-4D7F-B9F3-657D2F4ACAB6}"/>
              </a:ext>
            </a:extLst>
          </p:cNvPr>
          <p:cNvSpPr/>
          <p:nvPr userDrawn="1"/>
        </p:nvSpPr>
        <p:spPr>
          <a:xfrm rot="5400000">
            <a:off x="9449232" y="5270665"/>
            <a:ext cx="883117" cy="863492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34BB7AD-2674-4436-98EF-FC7061F098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8000" y="3959372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34504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E3D9E87-D3B4-4F53-99F3-7438B7E4D4AB}"/>
              </a:ext>
            </a:extLst>
          </p:cNvPr>
          <p:cNvSpPr/>
          <p:nvPr userDrawn="1"/>
        </p:nvSpPr>
        <p:spPr>
          <a:xfrm rot="18893364">
            <a:off x="4380710" y="1706822"/>
            <a:ext cx="3444573" cy="3444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D21FE1-F1E4-4E14-BF8F-A4D4ED823FBC}"/>
              </a:ext>
            </a:extLst>
          </p:cNvPr>
          <p:cNvSpPr/>
          <p:nvPr userDrawn="1"/>
        </p:nvSpPr>
        <p:spPr>
          <a:xfrm rot="18893364">
            <a:off x="4161891" y="1495013"/>
            <a:ext cx="3868219" cy="3868219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B76C3FD-32D6-4E41-B7F5-97F8A47A3D05}"/>
              </a:ext>
            </a:extLst>
          </p:cNvPr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03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DD83EE6-28E8-42E1-9D1D-CEA16A3EF647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D2CCFA9F-ED6D-4706-AB87-12B0B7099A55}"/>
              </a:ext>
            </a:extLst>
          </p:cNvPr>
          <p:cNvSpPr/>
          <p:nvPr userDrawn="1"/>
        </p:nvSpPr>
        <p:spPr>
          <a:xfrm rot="18893364">
            <a:off x="-897505" y="-513190"/>
            <a:ext cx="2663805" cy="2663805"/>
          </a:xfrm>
          <a:prstGeom prst="rect">
            <a:avLst/>
          </a:prstGeom>
          <a:solidFill>
            <a:srgbClr val="A4A8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F53FD0E-8CED-473A-8132-8C32D5EB7E41}"/>
              </a:ext>
            </a:extLst>
          </p:cNvPr>
          <p:cNvSpPr/>
          <p:nvPr userDrawn="1"/>
        </p:nvSpPr>
        <p:spPr>
          <a:xfrm rot="18893364">
            <a:off x="725976" y="6497388"/>
            <a:ext cx="1300124" cy="1300124"/>
          </a:xfrm>
          <a:prstGeom prst="rect">
            <a:avLst/>
          </a:prstGeom>
          <a:solidFill>
            <a:srgbClr val="C3C7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86A2882-5AAA-4796-ACBF-11DE20417AB5}"/>
              </a:ext>
            </a:extLst>
          </p:cNvPr>
          <p:cNvSpPr/>
          <p:nvPr userDrawn="1"/>
        </p:nvSpPr>
        <p:spPr>
          <a:xfrm rot="18893364">
            <a:off x="11407699" y="1261300"/>
            <a:ext cx="1568601" cy="156860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65BF0DA-9E98-46CA-BC5A-2F733F99C372}"/>
              </a:ext>
            </a:extLst>
          </p:cNvPr>
          <p:cNvSpPr/>
          <p:nvPr userDrawn="1"/>
        </p:nvSpPr>
        <p:spPr>
          <a:xfrm rot="18893364">
            <a:off x="9270159" y="5188596"/>
            <a:ext cx="861175" cy="861175"/>
          </a:xfrm>
          <a:prstGeom prst="rect">
            <a:avLst/>
          </a:prstGeom>
          <a:solidFill>
            <a:srgbClr val="85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244B3714-021E-44F1-A9C0-8DB23D7B89EA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51250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五边形 5">
            <a:extLst>
              <a:ext uri="{FF2B5EF4-FFF2-40B4-BE49-F238E27FC236}">
                <a16:creationId xmlns:a16="http://schemas.microsoft.com/office/drawing/2014/main" id="{F4B8A56B-7F99-43EE-87F0-42D96BE6E0C1}"/>
              </a:ext>
            </a:extLst>
          </p:cNvPr>
          <p:cNvSpPr>
            <a:spLocks noChangeAspect="1"/>
          </p:cNvSpPr>
          <p:nvPr userDrawn="1"/>
        </p:nvSpPr>
        <p:spPr>
          <a:xfrm>
            <a:off x="3870642" y="1106412"/>
            <a:ext cx="4450715" cy="4238776"/>
          </a:xfrm>
          <a:prstGeom prst="pent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7A4933-BE2B-4B78-BB0B-EFF272C44588}"/>
              </a:ext>
            </a:extLst>
          </p:cNvPr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04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73394E7-E5C6-4B02-8A31-9C03D9C6FA0B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>
            <a:extLst>
              <a:ext uri="{FF2B5EF4-FFF2-40B4-BE49-F238E27FC236}">
                <a16:creationId xmlns:a16="http://schemas.microsoft.com/office/drawing/2014/main" id="{9FDAE5AE-1C3F-4A93-B305-B77CDC3F4BE2}"/>
              </a:ext>
            </a:extLst>
          </p:cNvPr>
          <p:cNvSpPr>
            <a:spLocks noChangeAspect="1"/>
          </p:cNvSpPr>
          <p:nvPr userDrawn="1"/>
        </p:nvSpPr>
        <p:spPr>
          <a:xfrm>
            <a:off x="3575685" y="806045"/>
            <a:ext cx="5040628" cy="4800598"/>
          </a:xfrm>
          <a:prstGeom prst="pentagon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0" name="五边形 9">
            <a:extLst>
              <a:ext uri="{FF2B5EF4-FFF2-40B4-BE49-F238E27FC236}">
                <a16:creationId xmlns:a16="http://schemas.microsoft.com/office/drawing/2014/main" id="{8B831D4E-CDC6-4513-9163-9BB77DDB0516}"/>
              </a:ext>
            </a:extLst>
          </p:cNvPr>
          <p:cNvSpPr>
            <a:spLocks noChangeAspect="1"/>
          </p:cNvSpPr>
          <p:nvPr userDrawn="1"/>
        </p:nvSpPr>
        <p:spPr>
          <a:xfrm rot="18978551">
            <a:off x="1199607" y="5189314"/>
            <a:ext cx="1114961" cy="1061868"/>
          </a:xfrm>
          <a:prstGeom prst="pentagon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五边形 10">
            <a:extLst>
              <a:ext uri="{FF2B5EF4-FFF2-40B4-BE49-F238E27FC236}">
                <a16:creationId xmlns:a16="http://schemas.microsoft.com/office/drawing/2014/main" id="{25618009-D285-438D-BF60-F87BDBE0685A}"/>
              </a:ext>
            </a:extLst>
          </p:cNvPr>
          <p:cNvSpPr>
            <a:spLocks noChangeAspect="1"/>
          </p:cNvSpPr>
          <p:nvPr userDrawn="1"/>
        </p:nvSpPr>
        <p:spPr>
          <a:xfrm>
            <a:off x="-1122630" y="516786"/>
            <a:ext cx="2245259" cy="2138343"/>
          </a:xfrm>
          <a:prstGeom prst="pentagon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五边形 11">
            <a:extLst>
              <a:ext uri="{FF2B5EF4-FFF2-40B4-BE49-F238E27FC236}">
                <a16:creationId xmlns:a16="http://schemas.microsoft.com/office/drawing/2014/main" id="{4A10CB81-B3E3-411C-90C9-3480A10EDB9B}"/>
              </a:ext>
            </a:extLst>
          </p:cNvPr>
          <p:cNvSpPr>
            <a:spLocks noChangeAspect="1"/>
          </p:cNvSpPr>
          <p:nvPr userDrawn="1"/>
        </p:nvSpPr>
        <p:spPr>
          <a:xfrm rot="6589711">
            <a:off x="10153440" y="4944146"/>
            <a:ext cx="2774574" cy="2642453"/>
          </a:xfrm>
          <a:prstGeom prst="pent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五边形 12">
            <a:extLst>
              <a:ext uri="{FF2B5EF4-FFF2-40B4-BE49-F238E27FC236}">
                <a16:creationId xmlns:a16="http://schemas.microsoft.com/office/drawing/2014/main" id="{D251409D-FDB9-430B-A00F-D4A65811924B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9654125" y="-530934"/>
            <a:ext cx="1114961" cy="1061868"/>
          </a:xfrm>
          <a:prstGeom prst="pentagon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63A1AFEA-57CF-4E71-AF6C-91E549CCF7E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3825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六边形 5">
            <a:extLst>
              <a:ext uri="{FF2B5EF4-FFF2-40B4-BE49-F238E27FC236}">
                <a16:creationId xmlns:a16="http://schemas.microsoft.com/office/drawing/2014/main" id="{03B97F61-153E-4B6E-8D40-C8B9A7E64D60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3978962" y="1603967"/>
            <a:ext cx="4234076" cy="365006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7B2B8D9-D400-4BD8-9CF6-DCEAAC82BDD5}"/>
              </a:ext>
            </a:extLst>
          </p:cNvPr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05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285F31B-D145-4BD9-A54B-96E8E681B170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六边形 9">
            <a:extLst>
              <a:ext uri="{FF2B5EF4-FFF2-40B4-BE49-F238E27FC236}">
                <a16:creationId xmlns:a16="http://schemas.microsoft.com/office/drawing/2014/main" id="{883EB526-2712-4265-9BF4-5874AAB98515}"/>
              </a:ext>
            </a:extLst>
          </p:cNvPr>
          <p:cNvSpPr/>
          <p:nvPr userDrawn="1"/>
        </p:nvSpPr>
        <p:spPr>
          <a:xfrm rot="16200000">
            <a:off x="3695701" y="1359776"/>
            <a:ext cx="4800598" cy="4138446"/>
          </a:xfrm>
          <a:prstGeom prst="hexagon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六边形 10">
            <a:extLst>
              <a:ext uri="{FF2B5EF4-FFF2-40B4-BE49-F238E27FC236}">
                <a16:creationId xmlns:a16="http://schemas.microsoft.com/office/drawing/2014/main" id="{C7D4DE0F-D1AF-4276-ADBB-A15A5BFE8CB9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-687663" y="4872077"/>
            <a:ext cx="2798353" cy="2412373"/>
          </a:xfrm>
          <a:prstGeom prst="hexagon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六边形 11">
            <a:extLst>
              <a:ext uri="{FF2B5EF4-FFF2-40B4-BE49-F238E27FC236}">
                <a16:creationId xmlns:a16="http://schemas.microsoft.com/office/drawing/2014/main" id="{DFA316F4-7F98-4275-AAEF-578596A20622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9480973" y="5159003"/>
            <a:ext cx="1015781" cy="875673"/>
          </a:xfrm>
          <a:prstGeom prst="hexagon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六边形 12">
            <a:extLst>
              <a:ext uri="{FF2B5EF4-FFF2-40B4-BE49-F238E27FC236}">
                <a16:creationId xmlns:a16="http://schemas.microsoft.com/office/drawing/2014/main" id="{219BA2AF-DF75-4C32-85E3-CB62BA8F756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11493500" y="210644"/>
            <a:ext cx="1397000" cy="1204310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4" name="六边形 13">
            <a:extLst>
              <a:ext uri="{FF2B5EF4-FFF2-40B4-BE49-F238E27FC236}">
                <a16:creationId xmlns:a16="http://schemas.microsoft.com/office/drawing/2014/main" id="{A86D27D2-3D87-4A30-89B6-7FAFD15E7EA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41459" y="-437837"/>
            <a:ext cx="1015781" cy="875673"/>
          </a:xfrm>
          <a:prstGeom prst="hexagon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2BD5DBA0-D1E0-4B8B-AF12-F77A29B64E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6421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七边形 5">
            <a:extLst>
              <a:ext uri="{FF2B5EF4-FFF2-40B4-BE49-F238E27FC236}">
                <a16:creationId xmlns:a16="http://schemas.microsoft.com/office/drawing/2014/main" id="{60753701-EC64-455B-B060-1320051E3FE3}"/>
              </a:ext>
            </a:extLst>
          </p:cNvPr>
          <p:cNvSpPr>
            <a:spLocks noChangeAspect="1"/>
          </p:cNvSpPr>
          <p:nvPr userDrawn="1"/>
        </p:nvSpPr>
        <p:spPr>
          <a:xfrm>
            <a:off x="3972000" y="1047224"/>
            <a:ext cx="4248000" cy="4248000"/>
          </a:xfrm>
          <a:prstGeom prst="hept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5CBE861-C433-4078-A9A5-2C401EE3B270}"/>
              </a:ext>
            </a:extLst>
          </p:cNvPr>
          <p:cNvSpPr txBox="1"/>
          <p:nvPr userDrawn="1"/>
        </p:nvSpPr>
        <p:spPr>
          <a:xfrm>
            <a:off x="5093161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06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3DD6575-0576-4AFA-9BC4-891ADAB845BD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七边形 9">
            <a:extLst>
              <a:ext uri="{FF2B5EF4-FFF2-40B4-BE49-F238E27FC236}">
                <a16:creationId xmlns:a16="http://schemas.microsoft.com/office/drawing/2014/main" id="{C48532B4-0A1B-49CC-99AA-FE75395721EF}"/>
              </a:ext>
            </a:extLst>
          </p:cNvPr>
          <p:cNvSpPr/>
          <p:nvPr userDrawn="1"/>
        </p:nvSpPr>
        <p:spPr>
          <a:xfrm rot="1563509">
            <a:off x="10682028" y="-776191"/>
            <a:ext cx="3268663" cy="3268663"/>
          </a:xfrm>
          <a:prstGeom prst="heptagon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七边形 10">
            <a:extLst>
              <a:ext uri="{FF2B5EF4-FFF2-40B4-BE49-F238E27FC236}">
                <a16:creationId xmlns:a16="http://schemas.microsoft.com/office/drawing/2014/main" id="{32356412-5283-4799-9197-98AEACE613AC}"/>
              </a:ext>
            </a:extLst>
          </p:cNvPr>
          <p:cNvSpPr/>
          <p:nvPr userDrawn="1"/>
        </p:nvSpPr>
        <p:spPr>
          <a:xfrm>
            <a:off x="1384129" y="5078241"/>
            <a:ext cx="1047921" cy="1047921"/>
          </a:xfrm>
          <a:prstGeom prst="heptagon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七边形 11">
            <a:extLst>
              <a:ext uri="{FF2B5EF4-FFF2-40B4-BE49-F238E27FC236}">
                <a16:creationId xmlns:a16="http://schemas.microsoft.com/office/drawing/2014/main" id="{4E421018-60A0-4F10-A9A6-A6EE3BBD8BF9}"/>
              </a:ext>
            </a:extLst>
          </p:cNvPr>
          <p:cNvSpPr/>
          <p:nvPr userDrawn="1"/>
        </p:nvSpPr>
        <p:spPr>
          <a:xfrm rot="20151602">
            <a:off x="-1111336" y="360448"/>
            <a:ext cx="2222671" cy="2222671"/>
          </a:xfrm>
          <a:prstGeom prst="heptagon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七边形 12">
            <a:extLst>
              <a:ext uri="{FF2B5EF4-FFF2-40B4-BE49-F238E27FC236}">
                <a16:creationId xmlns:a16="http://schemas.microsoft.com/office/drawing/2014/main" id="{9B17F2FA-61E0-4197-AD3A-2DE5104FF5C1}"/>
              </a:ext>
            </a:extLst>
          </p:cNvPr>
          <p:cNvSpPr/>
          <p:nvPr userDrawn="1"/>
        </p:nvSpPr>
        <p:spPr>
          <a:xfrm rot="20592885">
            <a:off x="8879510" y="6235700"/>
            <a:ext cx="2222671" cy="2222671"/>
          </a:xfrm>
          <a:prstGeom prst="heptag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4" name="七边形 13">
            <a:extLst>
              <a:ext uri="{FF2B5EF4-FFF2-40B4-BE49-F238E27FC236}">
                <a16:creationId xmlns:a16="http://schemas.microsoft.com/office/drawing/2014/main" id="{1C86E54A-170E-4CA4-BE8B-1118DA74B7C4}"/>
              </a:ext>
            </a:extLst>
          </p:cNvPr>
          <p:cNvSpPr>
            <a:spLocks noChangeAspect="1"/>
          </p:cNvSpPr>
          <p:nvPr userDrawn="1"/>
        </p:nvSpPr>
        <p:spPr>
          <a:xfrm>
            <a:off x="3683000" y="774700"/>
            <a:ext cx="4826000" cy="4826000"/>
          </a:xfrm>
          <a:prstGeom prst="heptagon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A5976A4D-F088-4D08-ABB4-FDF23F9CA8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66909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0017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长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82CF8FAE-6DBB-42F8-A821-12D15C788E8C}"/>
              </a:ext>
            </a:extLst>
          </p:cNvPr>
          <p:cNvSpPr/>
          <p:nvPr userDrawn="1"/>
        </p:nvSpPr>
        <p:spPr>
          <a:xfrm>
            <a:off x="2" y="0"/>
            <a:ext cx="2835871" cy="6858000"/>
          </a:xfrm>
          <a:prstGeom prst="homePlat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elvetica" pitchFamily="2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958D3BC-E7F4-4914-8CAC-14D6BF0FFFB3}"/>
              </a:ext>
            </a:extLst>
          </p:cNvPr>
          <p:cNvSpPr/>
          <p:nvPr/>
        </p:nvSpPr>
        <p:spPr>
          <a:xfrm>
            <a:off x="140677" y="3106616"/>
            <a:ext cx="2520462" cy="1066800"/>
          </a:xfrm>
          <a:prstGeom prst="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453FC77-9263-4C53-8F22-D64EBC3880B1}"/>
              </a:ext>
            </a:extLst>
          </p:cNvPr>
          <p:cNvSpPr/>
          <p:nvPr userDrawn="1"/>
        </p:nvSpPr>
        <p:spPr>
          <a:xfrm>
            <a:off x="2782511" y="612708"/>
            <a:ext cx="8695230" cy="5632585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B3BEEB7-FA72-410F-B92D-7D208F847B83}"/>
              </a:ext>
            </a:extLst>
          </p:cNvPr>
          <p:cNvSpPr txBox="1"/>
          <p:nvPr/>
        </p:nvSpPr>
        <p:spPr>
          <a:xfrm>
            <a:off x="23448" y="2848709"/>
            <a:ext cx="2782509" cy="15749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ctr"/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ea typeface="+mj-ea"/>
                <a:cs typeface="Arial" panose="020B0604020202020204" pitchFamily="34" charset="0"/>
              </a:rPr>
              <a:t>Contents</a:t>
            </a:r>
            <a:endParaRPr lang="zh-CN" altLang="en-US" sz="4000" b="1" i="0" dirty="0">
              <a:solidFill>
                <a:schemeClr val="bg1"/>
              </a:solidFill>
              <a:latin typeface="Helvetica" pitchFamily="2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C02326B7-0E5A-F24B-8BE7-D58545042A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343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长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箭头: 五边形 6">
            <a:extLst>
              <a:ext uri="{FF2B5EF4-FFF2-40B4-BE49-F238E27FC236}">
                <a16:creationId xmlns:a16="http://schemas.microsoft.com/office/drawing/2014/main" id="{EF621E98-351F-489A-ADCE-3FC79FDE6DDD}"/>
              </a:ext>
            </a:extLst>
          </p:cNvPr>
          <p:cNvSpPr/>
          <p:nvPr userDrawn="1"/>
        </p:nvSpPr>
        <p:spPr>
          <a:xfrm rot="19659736">
            <a:off x="-59387" y="6355211"/>
            <a:ext cx="1593667" cy="240022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5" name="箭头: 五边形 24">
            <a:extLst>
              <a:ext uri="{FF2B5EF4-FFF2-40B4-BE49-F238E27FC236}">
                <a16:creationId xmlns:a16="http://schemas.microsoft.com/office/drawing/2014/main" id="{C25A5A92-C8E6-4CA8-AB93-8B885C5EA989}"/>
              </a:ext>
            </a:extLst>
          </p:cNvPr>
          <p:cNvSpPr/>
          <p:nvPr userDrawn="1"/>
        </p:nvSpPr>
        <p:spPr>
          <a:xfrm rot="19659736">
            <a:off x="501875" y="5626509"/>
            <a:ext cx="1198809" cy="202681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6" name="箭头: 五边形 25">
            <a:extLst>
              <a:ext uri="{FF2B5EF4-FFF2-40B4-BE49-F238E27FC236}">
                <a16:creationId xmlns:a16="http://schemas.microsoft.com/office/drawing/2014/main" id="{0B284135-360D-47CC-8BC2-5C03015968F7}"/>
              </a:ext>
            </a:extLst>
          </p:cNvPr>
          <p:cNvSpPr/>
          <p:nvPr userDrawn="1"/>
        </p:nvSpPr>
        <p:spPr>
          <a:xfrm rot="19659736">
            <a:off x="11343042" y="442070"/>
            <a:ext cx="869215" cy="124045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7" name="箭头: 五边形 26">
            <a:extLst>
              <a:ext uri="{FF2B5EF4-FFF2-40B4-BE49-F238E27FC236}">
                <a16:creationId xmlns:a16="http://schemas.microsoft.com/office/drawing/2014/main" id="{D0824BE2-0B1A-47B1-BAAF-7C29E1879AE7}"/>
              </a:ext>
            </a:extLst>
          </p:cNvPr>
          <p:cNvSpPr/>
          <p:nvPr userDrawn="1"/>
        </p:nvSpPr>
        <p:spPr>
          <a:xfrm rot="19659736">
            <a:off x="10829985" y="427917"/>
            <a:ext cx="542830" cy="99029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1681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053D6D2E-F110-4473-8442-17B28C05A741}"/>
              </a:ext>
            </a:extLst>
          </p:cNvPr>
          <p:cNvSpPr/>
          <p:nvPr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6BEB427-D252-4942-9F34-301C642191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7358D7B-1DA9-9E4B-AFF1-9A13B20D43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ACA3C166-80E6-1B4A-AD5B-C8D4745687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 i="0">
                <a:solidFill>
                  <a:schemeClr val="accent1"/>
                </a:solidFill>
                <a:latin typeface="Helvetica" pitchFamily="2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sp>
        <p:nvSpPr>
          <p:cNvPr id="13" name="日期占位符 12">
            <a:extLst>
              <a:ext uri="{FF2B5EF4-FFF2-40B4-BE49-F238E27FC236}">
                <a16:creationId xmlns:a16="http://schemas.microsoft.com/office/drawing/2014/main" id="{4B77A5BA-0111-5844-9F86-5926B121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页脚占位符 13">
            <a:extLst>
              <a:ext uri="{FF2B5EF4-FFF2-40B4-BE49-F238E27FC236}">
                <a16:creationId xmlns:a16="http://schemas.microsoft.com/office/drawing/2014/main" id="{44B829B2-7BD2-9948-8F21-7182730A0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5" name="灯片编号占位符 14">
            <a:extLst>
              <a:ext uri="{FF2B5EF4-FFF2-40B4-BE49-F238E27FC236}">
                <a16:creationId xmlns:a16="http://schemas.microsoft.com/office/drawing/2014/main" id="{6280651B-EA0A-1E41-B81D-87E3C43E6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72732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横向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1" name="图片占位符 90">
            <a:extLst>
              <a:ext uri="{FF2B5EF4-FFF2-40B4-BE49-F238E27FC236}">
                <a16:creationId xmlns:a16="http://schemas.microsoft.com/office/drawing/2014/main" id="{1B0862E3-9A13-49FB-8057-D6463602E7B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62171" y="1825888"/>
            <a:ext cx="4826535" cy="2736000"/>
          </a:xfrm>
          <a:custGeom>
            <a:avLst/>
            <a:gdLst>
              <a:gd name="connsiteX0" fmla="*/ 0 w 4241800"/>
              <a:gd name="connsiteY0" fmla="*/ 0 h 2404533"/>
              <a:gd name="connsiteX1" fmla="*/ 4241800 w 4241800"/>
              <a:gd name="connsiteY1" fmla="*/ 0 h 2404533"/>
              <a:gd name="connsiteX2" fmla="*/ 4241800 w 4241800"/>
              <a:gd name="connsiteY2" fmla="*/ 2404533 h 2404533"/>
              <a:gd name="connsiteX3" fmla="*/ 0 w 4241800"/>
              <a:gd name="connsiteY3" fmla="*/ 2404533 h 2404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41800" h="2404533">
                <a:moveTo>
                  <a:pt x="0" y="0"/>
                </a:moveTo>
                <a:lnTo>
                  <a:pt x="4241800" y="0"/>
                </a:lnTo>
                <a:lnTo>
                  <a:pt x="4241800" y="2404533"/>
                </a:lnTo>
                <a:lnTo>
                  <a:pt x="0" y="240453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33B73963-4941-42F0-9B00-7431FEF61A6C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>
            <a:extLst>
              <a:ext uri="{FF2B5EF4-FFF2-40B4-BE49-F238E27FC236}">
                <a16:creationId xmlns:a16="http://schemas.microsoft.com/office/drawing/2014/main" id="{9C71AABC-C91A-43D0-9AF8-0B6162EDCD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>
            <a:extLst>
              <a:ext uri="{FF2B5EF4-FFF2-40B4-BE49-F238E27FC236}">
                <a16:creationId xmlns:a16="http://schemas.microsoft.com/office/drawing/2014/main" id="{A32A9019-0CBC-4C4A-90F0-2676ED9FCD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1D06DB6D-BC70-544C-8EA4-3A3874C968F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11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0" name="图片占位符 6">
            <a:extLst>
              <a:ext uri="{FF2B5EF4-FFF2-40B4-BE49-F238E27FC236}">
                <a16:creationId xmlns:a16="http://schemas.microsoft.com/office/drawing/2014/main" id="{B49F2142-CAF1-4747-9CF9-CF77EE8A9159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692274" y="1541374"/>
            <a:ext cx="3238088" cy="43200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1727DAFC-E61B-4F89-B5C2-9CC360B9928B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>
            <a:extLst>
              <a:ext uri="{FF2B5EF4-FFF2-40B4-BE49-F238E27FC236}">
                <a16:creationId xmlns:a16="http://schemas.microsoft.com/office/drawing/2014/main" id="{80DB1628-9D3D-4F59-B275-C695A900F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>
            <a:extLst>
              <a:ext uri="{FF2B5EF4-FFF2-40B4-BE49-F238E27FC236}">
                <a16:creationId xmlns:a16="http://schemas.microsoft.com/office/drawing/2014/main" id="{F01A7288-9F85-304B-887D-2D1E13D7A2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DE14FD2D-7810-B34E-8AFB-9A17BDEA70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3488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-圆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任意多边形: 形状 92">
            <a:extLst>
              <a:ext uri="{FF2B5EF4-FFF2-40B4-BE49-F238E27FC236}">
                <a16:creationId xmlns:a16="http://schemas.microsoft.com/office/drawing/2014/main" id="{F03BE017-E7F3-4A34-ABC3-ECA964258175}"/>
              </a:ext>
            </a:extLst>
          </p:cNvPr>
          <p:cNvSpPr/>
          <p:nvPr userDrawn="1"/>
        </p:nvSpPr>
        <p:spPr>
          <a:xfrm>
            <a:off x="660400" y="1531871"/>
            <a:ext cx="10858500" cy="4491875"/>
          </a:xfrm>
          <a:custGeom>
            <a:avLst/>
            <a:gdLst>
              <a:gd name="connsiteX0" fmla="*/ 2682382 w 10858500"/>
              <a:gd name="connsiteY0" fmla="*/ 0 h 4491875"/>
              <a:gd name="connsiteX1" fmla="*/ 4661514 w 10858500"/>
              <a:gd name="connsiteY1" fmla="*/ 1979131 h 4491875"/>
              <a:gd name="connsiteX2" fmla="*/ 4081840 w 10858500"/>
              <a:gd name="connsiteY2" fmla="*/ 3378588 h 4491875"/>
              <a:gd name="connsiteX3" fmla="*/ 3948253 w 10858500"/>
              <a:gd name="connsiteY3" fmla="*/ 3500000 h 4491875"/>
              <a:gd name="connsiteX4" fmla="*/ 10858500 w 10858500"/>
              <a:gd name="connsiteY4" fmla="*/ 3500000 h 4491875"/>
              <a:gd name="connsiteX5" fmla="*/ 10858500 w 10858500"/>
              <a:gd name="connsiteY5" fmla="*/ 4491875 h 4491875"/>
              <a:gd name="connsiteX6" fmla="*/ 0 w 10858500"/>
              <a:gd name="connsiteY6" fmla="*/ 4491875 h 4491875"/>
              <a:gd name="connsiteX7" fmla="*/ 0 w 10858500"/>
              <a:gd name="connsiteY7" fmla="*/ 3500000 h 4491875"/>
              <a:gd name="connsiteX8" fmla="*/ 1416512 w 10858500"/>
              <a:gd name="connsiteY8" fmla="*/ 3500000 h 4491875"/>
              <a:gd name="connsiteX9" fmla="*/ 1282925 w 10858500"/>
              <a:gd name="connsiteY9" fmla="*/ 3378588 h 4491875"/>
              <a:gd name="connsiteX10" fmla="*/ 703250 w 10858500"/>
              <a:gd name="connsiteY10" fmla="*/ 1979131 h 4491875"/>
              <a:gd name="connsiteX11" fmla="*/ 2682382 w 10858500"/>
              <a:gd name="connsiteY11" fmla="*/ 0 h 449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58500" h="4491875">
                <a:moveTo>
                  <a:pt x="2682382" y="0"/>
                </a:moveTo>
                <a:cubicBezTo>
                  <a:pt x="3775426" y="0"/>
                  <a:pt x="4661514" y="886087"/>
                  <a:pt x="4661514" y="1979131"/>
                </a:cubicBezTo>
                <a:cubicBezTo>
                  <a:pt x="4661514" y="2525653"/>
                  <a:pt x="4439992" y="3020436"/>
                  <a:pt x="4081840" y="3378588"/>
                </a:cubicBezTo>
                <a:lnTo>
                  <a:pt x="3948253" y="3500000"/>
                </a:lnTo>
                <a:lnTo>
                  <a:pt x="10858500" y="3500000"/>
                </a:lnTo>
                <a:lnTo>
                  <a:pt x="10858500" y="4491875"/>
                </a:lnTo>
                <a:lnTo>
                  <a:pt x="0" y="4491875"/>
                </a:lnTo>
                <a:lnTo>
                  <a:pt x="0" y="3500000"/>
                </a:lnTo>
                <a:lnTo>
                  <a:pt x="1416512" y="3500000"/>
                </a:lnTo>
                <a:lnTo>
                  <a:pt x="1282925" y="3378588"/>
                </a:lnTo>
                <a:cubicBezTo>
                  <a:pt x="924772" y="3020436"/>
                  <a:pt x="703250" y="2525653"/>
                  <a:pt x="703250" y="1979131"/>
                </a:cubicBezTo>
                <a:cubicBezTo>
                  <a:pt x="703250" y="886087"/>
                  <a:pt x="1589338" y="0"/>
                  <a:pt x="2682382" y="0"/>
                </a:cubicBezTo>
                <a:close/>
              </a:path>
            </a:pathLst>
          </a:custGeom>
          <a:solidFill>
            <a:schemeClr val="accent1"/>
          </a:solidFill>
          <a:ln w="19050">
            <a:noFill/>
          </a:ln>
          <a:effectLst>
            <a:outerShdw blurRad="127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1727DAFC-E61B-4F89-B5C2-9CC360B9928B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图片占位符 91">
            <a:extLst>
              <a:ext uri="{FF2B5EF4-FFF2-40B4-BE49-F238E27FC236}">
                <a16:creationId xmlns:a16="http://schemas.microsoft.com/office/drawing/2014/main" id="{D3B0A0DB-185C-4430-9224-1C0A227377F5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451524" y="1608975"/>
            <a:ext cx="3780000" cy="3780000"/>
          </a:xfrm>
          <a:custGeom>
            <a:avLst/>
            <a:gdLst>
              <a:gd name="connsiteX0" fmla="*/ 1657350 w 3314700"/>
              <a:gd name="connsiteY0" fmla="*/ 0 h 3314700"/>
              <a:gd name="connsiteX1" fmla="*/ 3314700 w 3314700"/>
              <a:gd name="connsiteY1" fmla="*/ 1657350 h 3314700"/>
              <a:gd name="connsiteX2" fmla="*/ 1657350 w 3314700"/>
              <a:gd name="connsiteY2" fmla="*/ 3314700 h 3314700"/>
              <a:gd name="connsiteX3" fmla="*/ 0 w 3314700"/>
              <a:gd name="connsiteY3" fmla="*/ 1657350 h 3314700"/>
              <a:gd name="connsiteX4" fmla="*/ 1657350 w 3314700"/>
              <a:gd name="connsiteY4" fmla="*/ 0 h 331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14700" h="3314700">
                <a:moveTo>
                  <a:pt x="1657350" y="0"/>
                </a:moveTo>
                <a:cubicBezTo>
                  <a:pt x="2572679" y="0"/>
                  <a:pt x="3314700" y="742021"/>
                  <a:pt x="3314700" y="1657350"/>
                </a:cubicBezTo>
                <a:cubicBezTo>
                  <a:pt x="3314700" y="2572679"/>
                  <a:pt x="2572679" y="3314700"/>
                  <a:pt x="1657350" y="3314700"/>
                </a:cubicBezTo>
                <a:cubicBezTo>
                  <a:pt x="742021" y="3314700"/>
                  <a:pt x="0" y="2572679"/>
                  <a:pt x="0" y="1657350"/>
                </a:cubicBezTo>
                <a:cubicBezTo>
                  <a:pt x="0" y="742021"/>
                  <a:pt x="742021" y="0"/>
                  <a:pt x="1657350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/>
          <a:p>
            <a:endParaRPr lang="zh-CN" altLang="en-US" dirty="0"/>
          </a:p>
        </p:txBody>
      </p:sp>
      <p:sp>
        <p:nvSpPr>
          <p:cNvPr id="90" name="标题 1">
            <a:extLst>
              <a:ext uri="{FF2B5EF4-FFF2-40B4-BE49-F238E27FC236}">
                <a16:creationId xmlns:a16="http://schemas.microsoft.com/office/drawing/2014/main" id="{E3FA308D-84A8-4382-ADA4-2CD6EA622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4" name="图片 93">
            <a:extLst>
              <a:ext uri="{FF2B5EF4-FFF2-40B4-BE49-F238E27FC236}">
                <a16:creationId xmlns:a16="http://schemas.microsoft.com/office/drawing/2014/main" id="{68876A75-1BD3-9D4E-9D34-C6453E6DC7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8" name="图片 97">
            <a:extLst>
              <a:ext uri="{FF2B5EF4-FFF2-40B4-BE49-F238E27FC236}">
                <a16:creationId xmlns:a16="http://schemas.microsoft.com/office/drawing/2014/main" id="{48222E54-5ACA-6D4B-9A58-9B51C83B622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8179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0" name="图片占位符 6">
            <a:extLst>
              <a:ext uri="{FF2B5EF4-FFF2-40B4-BE49-F238E27FC236}">
                <a16:creationId xmlns:a16="http://schemas.microsoft.com/office/drawing/2014/main" id="{B49F2142-CAF1-4747-9CF9-CF77EE8A9159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114722" y="1132945"/>
            <a:ext cx="1735608" cy="231551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1" name="图片占位符 6">
            <a:extLst>
              <a:ext uri="{FF2B5EF4-FFF2-40B4-BE49-F238E27FC236}">
                <a16:creationId xmlns:a16="http://schemas.microsoft.com/office/drawing/2014/main" id="{260C43B2-4304-44E2-A6F0-062D59008B9B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9351363" y="3674135"/>
            <a:ext cx="1755000" cy="2341381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2" name="任意多边形: 形状 91">
            <a:extLst>
              <a:ext uri="{FF2B5EF4-FFF2-40B4-BE49-F238E27FC236}">
                <a16:creationId xmlns:a16="http://schemas.microsoft.com/office/drawing/2014/main" id="{11D8ADCD-C58A-41B8-80C4-2341BB348593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3" name="标题 1">
            <a:extLst>
              <a:ext uri="{FF2B5EF4-FFF2-40B4-BE49-F238E27FC236}">
                <a16:creationId xmlns:a16="http://schemas.microsoft.com/office/drawing/2014/main" id="{841EB5B4-0657-4AE7-A427-642106D5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4" name="图片 93">
            <a:extLst>
              <a:ext uri="{FF2B5EF4-FFF2-40B4-BE49-F238E27FC236}">
                <a16:creationId xmlns:a16="http://schemas.microsoft.com/office/drawing/2014/main" id="{EC81340F-C45F-6B4F-9864-73BF32BA90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8" name="图片 97">
            <a:extLst>
              <a:ext uri="{FF2B5EF4-FFF2-40B4-BE49-F238E27FC236}">
                <a16:creationId xmlns:a16="http://schemas.microsoft.com/office/drawing/2014/main" id="{31D45924-509B-5D4C-A99D-FF1FB6F34B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4632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1" name="图片占位符 90">
            <a:extLst>
              <a:ext uri="{FF2B5EF4-FFF2-40B4-BE49-F238E27FC236}">
                <a16:creationId xmlns:a16="http://schemas.microsoft.com/office/drawing/2014/main" id="{1D88D36A-B7BF-4F3A-AA10-0BECE80A557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19984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5" name="图片占位符 94">
            <a:extLst>
              <a:ext uri="{FF2B5EF4-FFF2-40B4-BE49-F238E27FC236}">
                <a16:creationId xmlns:a16="http://schemas.microsoft.com/office/drawing/2014/main" id="{DEC9F75E-9249-4FFE-AF96-E92B201A183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369946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8" name="图片占位符 97">
            <a:extLst>
              <a:ext uri="{FF2B5EF4-FFF2-40B4-BE49-F238E27FC236}">
                <a16:creationId xmlns:a16="http://schemas.microsoft.com/office/drawing/2014/main" id="{E7782F2A-850E-4B5F-8330-CF50AC9EFA7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36638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9" name="图片占位符 98">
            <a:extLst>
              <a:ext uri="{FF2B5EF4-FFF2-40B4-BE49-F238E27FC236}">
                <a16:creationId xmlns:a16="http://schemas.microsoft.com/office/drawing/2014/main" id="{25096E3E-9433-4D85-BA39-301B214A355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53292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DF883148-B063-4C5A-9CC7-CE69774A8C94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>
            <a:extLst>
              <a:ext uri="{FF2B5EF4-FFF2-40B4-BE49-F238E27FC236}">
                <a16:creationId xmlns:a16="http://schemas.microsoft.com/office/drawing/2014/main" id="{B8A4FF80-ED1E-4D1D-9434-215EB5FB8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>
            <a:extLst>
              <a:ext uri="{FF2B5EF4-FFF2-40B4-BE49-F238E27FC236}">
                <a16:creationId xmlns:a16="http://schemas.microsoft.com/office/drawing/2014/main" id="{B3A067A2-39E8-0940-8B54-688BC270D1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7D982EDC-1B4A-034E-9CE9-9172DBAF48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3612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89669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 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F00C798-F4CB-49E3-81E0-4CD12D5AEAD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35420" y="2971800"/>
            <a:ext cx="7783479" cy="914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54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endParaRPr lang="en-US" altLang="zh-CN" dirty="0"/>
          </a:p>
          <a:p>
            <a:pPr lvl="0"/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8C1695A4-3593-4E25-8722-4214E3CC76B6}"/>
              </a:ext>
            </a:extLst>
          </p:cNvPr>
          <p:cNvSpPr/>
          <p:nvPr userDrawn="1"/>
        </p:nvSpPr>
        <p:spPr>
          <a:xfrm rot="16200000">
            <a:off x="10605854" y="5156200"/>
            <a:ext cx="2879387" cy="3403600"/>
          </a:xfrm>
          <a:prstGeom prst="homePlat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A29C0276-5751-4797-BFA5-F68D05ACBB63}"/>
              </a:ext>
            </a:extLst>
          </p:cNvPr>
          <p:cNvSpPr/>
          <p:nvPr userDrawn="1"/>
        </p:nvSpPr>
        <p:spPr>
          <a:xfrm>
            <a:off x="-2680781" y="0"/>
            <a:ext cx="5753100" cy="9620654"/>
          </a:xfrm>
          <a:prstGeom prst="homePlate">
            <a:avLst>
              <a:gd name="adj" fmla="val 5086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D85E25CC-A5BC-44E2-9950-5BDC824D9AC1}"/>
              </a:ext>
            </a:extLst>
          </p:cNvPr>
          <p:cNvSpPr/>
          <p:nvPr userDrawn="1"/>
        </p:nvSpPr>
        <p:spPr>
          <a:xfrm rot="5400000">
            <a:off x="7310335" y="-1872573"/>
            <a:ext cx="2616740" cy="4241259"/>
          </a:xfrm>
          <a:prstGeom prst="homePlat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2614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EB2DFB5F-1361-46F4-B3DF-471ECD4DCA18}"/>
              </a:ext>
            </a:extLst>
          </p:cNvPr>
          <p:cNvSpPr/>
          <p:nvPr userDrawn="1"/>
        </p:nvSpPr>
        <p:spPr>
          <a:xfrm>
            <a:off x="-2319371" y="4211980"/>
            <a:ext cx="5113371" cy="511337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85D4CE6-0BBF-450D-B3AB-7C163A40E793}"/>
              </a:ext>
            </a:extLst>
          </p:cNvPr>
          <p:cNvSpPr/>
          <p:nvPr userDrawn="1"/>
        </p:nvSpPr>
        <p:spPr>
          <a:xfrm>
            <a:off x="10560051" y="-2647819"/>
            <a:ext cx="4418254" cy="44182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967487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0C730-DDAF-48F0-9B0A-908F15739B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97F1A22-8B69-4BD7-A83D-ADFAD77497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F6A99E-3062-46F5-B584-517B5C3D0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7D5DE-13B9-4015-ABE8-C6E5DFE5FF45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E7AA66-BFA7-4E73-A9D3-0142A5A5C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9809D8-8853-4D3D-959D-B9C9CEDBC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81D1B-1DEF-4DD3-AA63-B623800C62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195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E069850-0319-4DD6-ADEB-89D9A4F85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7D5DE-13B9-4015-ABE8-C6E5DFE5FF45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A66B1BB-CEA8-4344-A02B-2F6046B92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202600-08A6-4E84-A3CA-BCE1935E3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81D1B-1DEF-4DD3-AA63-B623800C62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258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幻灯片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箭头: 五边形 46">
            <a:extLst>
              <a:ext uri="{FF2B5EF4-FFF2-40B4-BE49-F238E27FC236}">
                <a16:creationId xmlns:a16="http://schemas.microsoft.com/office/drawing/2014/main" id="{E27F0E8A-FBE3-41B6-A56B-7A14F7AAA7BA}"/>
              </a:ext>
            </a:extLst>
          </p:cNvPr>
          <p:cNvSpPr/>
          <p:nvPr userDrawn="1"/>
        </p:nvSpPr>
        <p:spPr>
          <a:xfrm rot="5400000">
            <a:off x="-1070579" y="2025798"/>
            <a:ext cx="6858002" cy="2806406"/>
          </a:xfrm>
          <a:prstGeom prst="homePlate">
            <a:avLst>
              <a:gd name="adj" fmla="val 3223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solidFill>
                <a:schemeClr val="accent6"/>
              </a:solidFill>
              <a:latin typeface="Helvetica Regular" pitchFamily="2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EAB9554-0968-7F4C-B17C-055427BAAC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142" y="2263721"/>
            <a:ext cx="2330560" cy="233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7010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1B478B4D-326B-4F22-B792-98AB7E9C8268}"/>
              </a:ext>
            </a:extLst>
          </p:cNvPr>
          <p:cNvSpPr/>
          <p:nvPr userDrawn="1"/>
        </p:nvSpPr>
        <p:spPr bwMode="auto">
          <a:xfrm rot="5400000">
            <a:off x="4539448" y="-380490"/>
            <a:ext cx="3113105" cy="2609911"/>
          </a:xfrm>
          <a:custGeom>
            <a:avLst/>
            <a:gdLst>
              <a:gd name="connsiteX0" fmla="*/ 0 w 3113105"/>
              <a:gd name="connsiteY0" fmla="*/ 2609911 h 2609911"/>
              <a:gd name="connsiteX1" fmla="*/ 0 w 3113105"/>
              <a:gd name="connsiteY1" fmla="*/ 0 h 2609911"/>
              <a:gd name="connsiteX2" fmla="*/ 2301594 w 3113105"/>
              <a:gd name="connsiteY2" fmla="*/ 0 h 2609911"/>
              <a:gd name="connsiteX3" fmla="*/ 3113105 w 3113105"/>
              <a:gd name="connsiteY3" fmla="*/ 1304956 h 2609911"/>
              <a:gd name="connsiteX4" fmla="*/ 2301594 w 3113105"/>
              <a:gd name="connsiteY4" fmla="*/ 2609910 h 2609911"/>
              <a:gd name="connsiteX5" fmla="*/ 2301594 w 3113105"/>
              <a:gd name="connsiteY5" fmla="*/ 2609911 h 2609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13105" h="2609911">
                <a:moveTo>
                  <a:pt x="0" y="2609911"/>
                </a:moveTo>
                <a:lnTo>
                  <a:pt x="0" y="0"/>
                </a:lnTo>
                <a:lnTo>
                  <a:pt x="2301594" y="0"/>
                </a:lnTo>
                <a:lnTo>
                  <a:pt x="3113105" y="1304956"/>
                </a:lnTo>
                <a:lnTo>
                  <a:pt x="2301594" y="2609910"/>
                </a:lnTo>
                <a:lnTo>
                  <a:pt x="2301594" y="26099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bg1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2742BE2E-64C4-45DC-B5F2-9CE85916052B}"/>
              </a:ext>
            </a:extLst>
          </p:cNvPr>
          <p:cNvSpPr txBox="1"/>
          <p:nvPr userDrawn="1"/>
        </p:nvSpPr>
        <p:spPr>
          <a:xfrm>
            <a:off x="4781377" y="483991"/>
            <a:ext cx="2629246" cy="9082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  <a:sym typeface="+mn-lt"/>
              </a:rPr>
              <a:t>Contents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BEB662E1-75A1-469F-B2C5-6EC6E8255C44}"/>
              </a:ext>
            </a:extLst>
          </p:cNvPr>
          <p:cNvSpPr/>
          <p:nvPr userDrawn="1"/>
        </p:nvSpPr>
        <p:spPr bwMode="auto">
          <a:xfrm rot="5400000">
            <a:off x="4384812" y="-485285"/>
            <a:ext cx="3422377" cy="3128773"/>
          </a:xfrm>
          <a:custGeom>
            <a:avLst/>
            <a:gdLst>
              <a:gd name="connsiteX0" fmla="*/ 0 w 3422377"/>
              <a:gd name="connsiteY0" fmla="*/ 3128773 h 3128773"/>
              <a:gd name="connsiteX1" fmla="*/ 0 w 3422377"/>
              <a:gd name="connsiteY1" fmla="*/ 0 h 3128773"/>
              <a:gd name="connsiteX2" fmla="*/ 2449535 w 3422377"/>
              <a:gd name="connsiteY2" fmla="*/ 0 h 3128773"/>
              <a:gd name="connsiteX3" fmla="*/ 3422377 w 3422377"/>
              <a:gd name="connsiteY3" fmla="*/ 1564387 h 3128773"/>
              <a:gd name="connsiteX4" fmla="*/ 2449535 w 3422377"/>
              <a:gd name="connsiteY4" fmla="*/ 3128772 h 3128773"/>
              <a:gd name="connsiteX5" fmla="*/ 2449535 w 3422377"/>
              <a:gd name="connsiteY5" fmla="*/ 3128773 h 3128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2377" h="3128773">
                <a:moveTo>
                  <a:pt x="0" y="3128773"/>
                </a:moveTo>
                <a:lnTo>
                  <a:pt x="0" y="0"/>
                </a:lnTo>
                <a:lnTo>
                  <a:pt x="2449535" y="0"/>
                </a:lnTo>
                <a:lnTo>
                  <a:pt x="3422377" y="1564387"/>
                </a:lnTo>
                <a:lnTo>
                  <a:pt x="2449535" y="3128772"/>
                </a:lnTo>
                <a:lnTo>
                  <a:pt x="2449535" y="3128773"/>
                </a:lnTo>
                <a:close/>
              </a:path>
            </a:pathLst>
          </a:custGeom>
          <a:noFill/>
          <a:ln w="12700">
            <a:solidFill>
              <a:schemeClr val="accent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bg1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CF32DCCF-D109-144D-93EF-7A463349CB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28999" y="0"/>
            <a:ext cx="6858000" cy="6858000"/>
          </a:xfrm>
          <a:prstGeom prst="rect">
            <a:avLst/>
          </a:prstGeom>
        </p:spPr>
      </p:pic>
      <p:pic>
        <p:nvPicPr>
          <p:cNvPr id="90" name="图片 89">
            <a:extLst>
              <a:ext uri="{FF2B5EF4-FFF2-40B4-BE49-F238E27FC236}">
                <a16:creationId xmlns:a16="http://schemas.microsoft.com/office/drawing/2014/main" id="{D607238F-89BF-434F-A2F2-C5D1BB90B6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5727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E7CB78A0-538A-4F4C-97AC-5D6B9B36EAE3}"/>
              </a:ext>
            </a:extLst>
          </p:cNvPr>
          <p:cNvSpPr/>
          <p:nvPr userDrawn="1"/>
        </p:nvSpPr>
        <p:spPr>
          <a:xfrm>
            <a:off x="3997387" y="1330387"/>
            <a:ext cx="4197226" cy="419722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elvetica" pitchFamily="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CD3F2D1-9FCF-4792-8D92-8CA0C104ED79}"/>
              </a:ext>
            </a:extLst>
          </p:cNvPr>
          <p:cNvSpPr txBox="1"/>
          <p:nvPr userDrawn="1"/>
        </p:nvSpPr>
        <p:spPr>
          <a:xfrm>
            <a:off x="5093161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01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1FBCD60-E317-434E-9948-6517EE806648}"/>
              </a:ext>
            </a:extLst>
          </p:cNvPr>
          <p:cNvCxnSpPr>
            <a:cxnSpLocks/>
          </p:cNvCxnSpPr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E5FF972F-6C72-4EB1-91BD-22FC6A6BFE55}"/>
              </a:ext>
            </a:extLst>
          </p:cNvPr>
          <p:cNvSpPr/>
          <p:nvPr userDrawn="1"/>
        </p:nvSpPr>
        <p:spPr>
          <a:xfrm>
            <a:off x="3775702" y="1108702"/>
            <a:ext cx="4640596" cy="4640596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ED22ADE-3337-4765-824B-2BCE393B3BC8}"/>
              </a:ext>
            </a:extLst>
          </p:cNvPr>
          <p:cNvSpPr/>
          <p:nvPr userDrawn="1"/>
        </p:nvSpPr>
        <p:spPr>
          <a:xfrm>
            <a:off x="9613900" y="5273613"/>
            <a:ext cx="764381" cy="76438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7F0E457-CBAE-48A1-9FDD-0AD48E16BB0E}"/>
              </a:ext>
            </a:extLst>
          </p:cNvPr>
          <p:cNvSpPr/>
          <p:nvPr userDrawn="1"/>
        </p:nvSpPr>
        <p:spPr>
          <a:xfrm>
            <a:off x="2209800" y="6134100"/>
            <a:ext cx="1130300" cy="11303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F5B61E3-C874-41BD-9977-575DE377EF7C}"/>
              </a:ext>
            </a:extLst>
          </p:cNvPr>
          <p:cNvSpPr/>
          <p:nvPr userDrawn="1"/>
        </p:nvSpPr>
        <p:spPr>
          <a:xfrm>
            <a:off x="10818188" y="-911691"/>
            <a:ext cx="2092326" cy="209232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79C958C-4261-4C02-847F-E854178B5EDF}"/>
              </a:ext>
            </a:extLst>
          </p:cNvPr>
          <p:cNvSpPr/>
          <p:nvPr userDrawn="1"/>
        </p:nvSpPr>
        <p:spPr>
          <a:xfrm>
            <a:off x="-1048048" y="-250249"/>
            <a:ext cx="2861767" cy="286176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50FB6E99-D418-4444-914B-2306780544C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51320"/>
            <a:ext cx="3996000" cy="914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26229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5">
            <a:extLst>
              <a:ext uri="{FF2B5EF4-FFF2-40B4-BE49-F238E27FC236}">
                <a16:creationId xmlns:a16="http://schemas.microsoft.com/office/drawing/2014/main" id="{5FB16484-E5F7-4B77-B7A5-FDAB1703AF52}"/>
              </a:ext>
            </a:extLst>
          </p:cNvPr>
          <p:cNvSpPr/>
          <p:nvPr userDrawn="1"/>
        </p:nvSpPr>
        <p:spPr>
          <a:xfrm>
            <a:off x="4000500" y="1050677"/>
            <a:ext cx="4191000" cy="409786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6FD6F57-F8D0-494A-A461-A05057362E38}"/>
              </a:ext>
            </a:extLst>
          </p:cNvPr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02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F3C94DC-BC3D-4914-BCEA-9BADE3C91715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D3B89C71-934D-411D-A2EA-05C70F77FCCA}"/>
              </a:ext>
            </a:extLst>
          </p:cNvPr>
          <p:cNvSpPr/>
          <p:nvPr userDrawn="1"/>
        </p:nvSpPr>
        <p:spPr>
          <a:xfrm>
            <a:off x="3564087" y="505131"/>
            <a:ext cx="5063826" cy="4951296"/>
          </a:xfrm>
          <a:prstGeom prst="triangle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0" name="等腰三角形 9">
            <a:extLst>
              <a:ext uri="{FF2B5EF4-FFF2-40B4-BE49-F238E27FC236}">
                <a16:creationId xmlns:a16="http://schemas.microsoft.com/office/drawing/2014/main" id="{A837D7F3-A47E-4687-B46E-2D3048C16002}"/>
              </a:ext>
            </a:extLst>
          </p:cNvPr>
          <p:cNvSpPr/>
          <p:nvPr userDrawn="1"/>
        </p:nvSpPr>
        <p:spPr>
          <a:xfrm rot="10800000">
            <a:off x="1390650" y="6496115"/>
            <a:ext cx="1493560" cy="146037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等腰三角形 10">
            <a:extLst>
              <a:ext uri="{FF2B5EF4-FFF2-40B4-BE49-F238E27FC236}">
                <a16:creationId xmlns:a16="http://schemas.microsoft.com/office/drawing/2014/main" id="{FE10A76B-7B22-4776-AAF9-D0EEE0D973D2}"/>
              </a:ext>
            </a:extLst>
          </p:cNvPr>
          <p:cNvSpPr/>
          <p:nvPr userDrawn="1"/>
        </p:nvSpPr>
        <p:spPr>
          <a:xfrm>
            <a:off x="11153775" y="1013971"/>
            <a:ext cx="2076450" cy="2030307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等腰三角形 11">
            <a:extLst>
              <a:ext uri="{FF2B5EF4-FFF2-40B4-BE49-F238E27FC236}">
                <a16:creationId xmlns:a16="http://schemas.microsoft.com/office/drawing/2014/main" id="{80425897-AA01-4101-B050-A034992317B0}"/>
              </a:ext>
            </a:extLst>
          </p:cNvPr>
          <p:cNvSpPr/>
          <p:nvPr userDrawn="1"/>
        </p:nvSpPr>
        <p:spPr>
          <a:xfrm rot="10800000">
            <a:off x="-414337" y="-187450"/>
            <a:ext cx="2386788" cy="2333749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等腰三角形 12">
            <a:extLst>
              <a:ext uri="{FF2B5EF4-FFF2-40B4-BE49-F238E27FC236}">
                <a16:creationId xmlns:a16="http://schemas.microsoft.com/office/drawing/2014/main" id="{1DC1ADFB-E837-4D7F-B9F3-657D2F4ACAB6}"/>
              </a:ext>
            </a:extLst>
          </p:cNvPr>
          <p:cNvSpPr/>
          <p:nvPr userDrawn="1"/>
        </p:nvSpPr>
        <p:spPr>
          <a:xfrm rot="5400000">
            <a:off x="9449232" y="5270665"/>
            <a:ext cx="883117" cy="863492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34BB7AD-2674-4436-98EF-FC7061F098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8000" y="3959372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39726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E3D9E87-D3B4-4F53-99F3-7438B7E4D4AB}"/>
              </a:ext>
            </a:extLst>
          </p:cNvPr>
          <p:cNvSpPr/>
          <p:nvPr userDrawn="1"/>
        </p:nvSpPr>
        <p:spPr>
          <a:xfrm rot="18893364">
            <a:off x="4380710" y="1706822"/>
            <a:ext cx="3444573" cy="3444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D21FE1-F1E4-4E14-BF8F-A4D4ED823FBC}"/>
              </a:ext>
            </a:extLst>
          </p:cNvPr>
          <p:cNvSpPr/>
          <p:nvPr userDrawn="1"/>
        </p:nvSpPr>
        <p:spPr>
          <a:xfrm rot="18893364">
            <a:off x="4161891" y="1495013"/>
            <a:ext cx="3868219" cy="3868219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B76C3FD-32D6-4E41-B7F5-97F8A47A3D05}"/>
              </a:ext>
            </a:extLst>
          </p:cNvPr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03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DD83EE6-28E8-42E1-9D1D-CEA16A3EF647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D2CCFA9F-ED6D-4706-AB87-12B0B7099A55}"/>
              </a:ext>
            </a:extLst>
          </p:cNvPr>
          <p:cNvSpPr/>
          <p:nvPr userDrawn="1"/>
        </p:nvSpPr>
        <p:spPr>
          <a:xfrm rot="18893364">
            <a:off x="-897505" y="-513190"/>
            <a:ext cx="2663805" cy="2663805"/>
          </a:xfrm>
          <a:prstGeom prst="rect">
            <a:avLst/>
          </a:prstGeom>
          <a:solidFill>
            <a:srgbClr val="A4A8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F53FD0E-8CED-473A-8132-8C32D5EB7E41}"/>
              </a:ext>
            </a:extLst>
          </p:cNvPr>
          <p:cNvSpPr/>
          <p:nvPr userDrawn="1"/>
        </p:nvSpPr>
        <p:spPr>
          <a:xfrm rot="18893364">
            <a:off x="725976" y="6497388"/>
            <a:ext cx="1300124" cy="1300124"/>
          </a:xfrm>
          <a:prstGeom prst="rect">
            <a:avLst/>
          </a:prstGeom>
          <a:solidFill>
            <a:srgbClr val="C3C7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86A2882-5AAA-4796-ACBF-11DE20417AB5}"/>
              </a:ext>
            </a:extLst>
          </p:cNvPr>
          <p:cNvSpPr/>
          <p:nvPr userDrawn="1"/>
        </p:nvSpPr>
        <p:spPr>
          <a:xfrm rot="18893364">
            <a:off x="11407699" y="1261300"/>
            <a:ext cx="1568601" cy="156860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65BF0DA-9E98-46CA-BC5A-2F733F99C372}"/>
              </a:ext>
            </a:extLst>
          </p:cNvPr>
          <p:cNvSpPr/>
          <p:nvPr userDrawn="1"/>
        </p:nvSpPr>
        <p:spPr>
          <a:xfrm rot="18893364">
            <a:off x="9270159" y="5188596"/>
            <a:ext cx="861175" cy="861175"/>
          </a:xfrm>
          <a:prstGeom prst="rect">
            <a:avLst/>
          </a:prstGeom>
          <a:solidFill>
            <a:srgbClr val="85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244B3714-021E-44F1-A9C0-8DB23D7B89EA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823910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五边形 5">
            <a:extLst>
              <a:ext uri="{FF2B5EF4-FFF2-40B4-BE49-F238E27FC236}">
                <a16:creationId xmlns:a16="http://schemas.microsoft.com/office/drawing/2014/main" id="{F4B8A56B-7F99-43EE-87F0-42D96BE6E0C1}"/>
              </a:ext>
            </a:extLst>
          </p:cNvPr>
          <p:cNvSpPr>
            <a:spLocks noChangeAspect="1"/>
          </p:cNvSpPr>
          <p:nvPr userDrawn="1"/>
        </p:nvSpPr>
        <p:spPr>
          <a:xfrm>
            <a:off x="3870642" y="1106412"/>
            <a:ext cx="4450715" cy="4238776"/>
          </a:xfrm>
          <a:prstGeom prst="pent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7A4933-BE2B-4B78-BB0B-EFF272C44588}"/>
              </a:ext>
            </a:extLst>
          </p:cNvPr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04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73394E7-E5C6-4B02-8A31-9C03D9C6FA0B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>
            <a:extLst>
              <a:ext uri="{FF2B5EF4-FFF2-40B4-BE49-F238E27FC236}">
                <a16:creationId xmlns:a16="http://schemas.microsoft.com/office/drawing/2014/main" id="{9FDAE5AE-1C3F-4A93-B305-B77CDC3F4BE2}"/>
              </a:ext>
            </a:extLst>
          </p:cNvPr>
          <p:cNvSpPr>
            <a:spLocks noChangeAspect="1"/>
          </p:cNvSpPr>
          <p:nvPr userDrawn="1"/>
        </p:nvSpPr>
        <p:spPr>
          <a:xfrm>
            <a:off x="3575685" y="806045"/>
            <a:ext cx="5040628" cy="4800598"/>
          </a:xfrm>
          <a:prstGeom prst="pentagon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0" name="五边形 9">
            <a:extLst>
              <a:ext uri="{FF2B5EF4-FFF2-40B4-BE49-F238E27FC236}">
                <a16:creationId xmlns:a16="http://schemas.microsoft.com/office/drawing/2014/main" id="{8B831D4E-CDC6-4513-9163-9BB77DDB0516}"/>
              </a:ext>
            </a:extLst>
          </p:cNvPr>
          <p:cNvSpPr>
            <a:spLocks noChangeAspect="1"/>
          </p:cNvSpPr>
          <p:nvPr userDrawn="1"/>
        </p:nvSpPr>
        <p:spPr>
          <a:xfrm rot="18978551">
            <a:off x="1199607" y="5189314"/>
            <a:ext cx="1114961" cy="1061868"/>
          </a:xfrm>
          <a:prstGeom prst="pentagon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五边形 10">
            <a:extLst>
              <a:ext uri="{FF2B5EF4-FFF2-40B4-BE49-F238E27FC236}">
                <a16:creationId xmlns:a16="http://schemas.microsoft.com/office/drawing/2014/main" id="{25618009-D285-438D-BF60-F87BDBE0685A}"/>
              </a:ext>
            </a:extLst>
          </p:cNvPr>
          <p:cNvSpPr>
            <a:spLocks noChangeAspect="1"/>
          </p:cNvSpPr>
          <p:nvPr userDrawn="1"/>
        </p:nvSpPr>
        <p:spPr>
          <a:xfrm>
            <a:off x="-1122630" y="516786"/>
            <a:ext cx="2245259" cy="2138343"/>
          </a:xfrm>
          <a:prstGeom prst="pentagon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五边形 11">
            <a:extLst>
              <a:ext uri="{FF2B5EF4-FFF2-40B4-BE49-F238E27FC236}">
                <a16:creationId xmlns:a16="http://schemas.microsoft.com/office/drawing/2014/main" id="{4A10CB81-B3E3-411C-90C9-3480A10EDB9B}"/>
              </a:ext>
            </a:extLst>
          </p:cNvPr>
          <p:cNvSpPr>
            <a:spLocks noChangeAspect="1"/>
          </p:cNvSpPr>
          <p:nvPr userDrawn="1"/>
        </p:nvSpPr>
        <p:spPr>
          <a:xfrm rot="6589711">
            <a:off x="10153440" y="4944146"/>
            <a:ext cx="2774574" cy="2642453"/>
          </a:xfrm>
          <a:prstGeom prst="pent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五边形 12">
            <a:extLst>
              <a:ext uri="{FF2B5EF4-FFF2-40B4-BE49-F238E27FC236}">
                <a16:creationId xmlns:a16="http://schemas.microsoft.com/office/drawing/2014/main" id="{D251409D-FDB9-430B-A00F-D4A65811924B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9654125" y="-530934"/>
            <a:ext cx="1114961" cy="1061868"/>
          </a:xfrm>
          <a:prstGeom prst="pentagon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63A1AFEA-57CF-4E71-AF6C-91E549CCF7E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0562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六边形 5">
            <a:extLst>
              <a:ext uri="{FF2B5EF4-FFF2-40B4-BE49-F238E27FC236}">
                <a16:creationId xmlns:a16="http://schemas.microsoft.com/office/drawing/2014/main" id="{03B97F61-153E-4B6E-8D40-C8B9A7E64D60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3978962" y="1603967"/>
            <a:ext cx="4234076" cy="365006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7B2B8D9-D400-4BD8-9CF6-DCEAAC82BDD5}"/>
              </a:ext>
            </a:extLst>
          </p:cNvPr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05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285F31B-D145-4BD9-A54B-96E8E681B170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六边形 9">
            <a:extLst>
              <a:ext uri="{FF2B5EF4-FFF2-40B4-BE49-F238E27FC236}">
                <a16:creationId xmlns:a16="http://schemas.microsoft.com/office/drawing/2014/main" id="{883EB526-2712-4265-9BF4-5874AAB98515}"/>
              </a:ext>
            </a:extLst>
          </p:cNvPr>
          <p:cNvSpPr/>
          <p:nvPr userDrawn="1"/>
        </p:nvSpPr>
        <p:spPr>
          <a:xfrm rot="16200000">
            <a:off x="3695701" y="1359776"/>
            <a:ext cx="4800598" cy="4138446"/>
          </a:xfrm>
          <a:prstGeom prst="hexagon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六边形 10">
            <a:extLst>
              <a:ext uri="{FF2B5EF4-FFF2-40B4-BE49-F238E27FC236}">
                <a16:creationId xmlns:a16="http://schemas.microsoft.com/office/drawing/2014/main" id="{C7D4DE0F-D1AF-4276-ADBB-A15A5BFE8CB9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-687663" y="4872077"/>
            <a:ext cx="2798353" cy="2412373"/>
          </a:xfrm>
          <a:prstGeom prst="hexagon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六边形 11">
            <a:extLst>
              <a:ext uri="{FF2B5EF4-FFF2-40B4-BE49-F238E27FC236}">
                <a16:creationId xmlns:a16="http://schemas.microsoft.com/office/drawing/2014/main" id="{DFA316F4-7F98-4275-AAEF-578596A20622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9480973" y="5159003"/>
            <a:ext cx="1015781" cy="875673"/>
          </a:xfrm>
          <a:prstGeom prst="hexagon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六边形 12">
            <a:extLst>
              <a:ext uri="{FF2B5EF4-FFF2-40B4-BE49-F238E27FC236}">
                <a16:creationId xmlns:a16="http://schemas.microsoft.com/office/drawing/2014/main" id="{219BA2AF-DF75-4C32-85E3-CB62BA8F756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11493500" y="210644"/>
            <a:ext cx="1397000" cy="1204310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4" name="六边形 13">
            <a:extLst>
              <a:ext uri="{FF2B5EF4-FFF2-40B4-BE49-F238E27FC236}">
                <a16:creationId xmlns:a16="http://schemas.microsoft.com/office/drawing/2014/main" id="{A86D27D2-3D87-4A30-89B6-7FAFD15E7EA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41459" y="-437837"/>
            <a:ext cx="1015781" cy="875673"/>
          </a:xfrm>
          <a:prstGeom prst="hexagon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2BD5DBA0-D1E0-4B8B-AF12-F77A29B64E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799208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七边形 5">
            <a:extLst>
              <a:ext uri="{FF2B5EF4-FFF2-40B4-BE49-F238E27FC236}">
                <a16:creationId xmlns:a16="http://schemas.microsoft.com/office/drawing/2014/main" id="{60753701-EC64-455B-B060-1320051E3FE3}"/>
              </a:ext>
            </a:extLst>
          </p:cNvPr>
          <p:cNvSpPr>
            <a:spLocks noChangeAspect="1"/>
          </p:cNvSpPr>
          <p:nvPr userDrawn="1"/>
        </p:nvSpPr>
        <p:spPr>
          <a:xfrm>
            <a:off x="3972000" y="1047224"/>
            <a:ext cx="4248000" cy="4248000"/>
          </a:xfrm>
          <a:prstGeom prst="hept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5CBE861-C433-4078-A9A5-2C401EE3B270}"/>
              </a:ext>
            </a:extLst>
          </p:cNvPr>
          <p:cNvSpPr txBox="1"/>
          <p:nvPr userDrawn="1"/>
        </p:nvSpPr>
        <p:spPr>
          <a:xfrm>
            <a:off x="5093161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06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3DD6575-0576-4AFA-9BC4-891ADAB845BD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七边形 9">
            <a:extLst>
              <a:ext uri="{FF2B5EF4-FFF2-40B4-BE49-F238E27FC236}">
                <a16:creationId xmlns:a16="http://schemas.microsoft.com/office/drawing/2014/main" id="{C48532B4-0A1B-49CC-99AA-FE75395721EF}"/>
              </a:ext>
            </a:extLst>
          </p:cNvPr>
          <p:cNvSpPr/>
          <p:nvPr userDrawn="1"/>
        </p:nvSpPr>
        <p:spPr>
          <a:xfrm rot="1563509">
            <a:off x="10682028" y="-776191"/>
            <a:ext cx="3268663" cy="3268663"/>
          </a:xfrm>
          <a:prstGeom prst="heptagon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七边形 10">
            <a:extLst>
              <a:ext uri="{FF2B5EF4-FFF2-40B4-BE49-F238E27FC236}">
                <a16:creationId xmlns:a16="http://schemas.microsoft.com/office/drawing/2014/main" id="{32356412-5283-4799-9197-98AEACE613AC}"/>
              </a:ext>
            </a:extLst>
          </p:cNvPr>
          <p:cNvSpPr/>
          <p:nvPr userDrawn="1"/>
        </p:nvSpPr>
        <p:spPr>
          <a:xfrm>
            <a:off x="1384129" y="5078241"/>
            <a:ext cx="1047921" cy="1047921"/>
          </a:xfrm>
          <a:prstGeom prst="heptagon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七边形 11">
            <a:extLst>
              <a:ext uri="{FF2B5EF4-FFF2-40B4-BE49-F238E27FC236}">
                <a16:creationId xmlns:a16="http://schemas.microsoft.com/office/drawing/2014/main" id="{4E421018-60A0-4F10-A9A6-A6EE3BBD8BF9}"/>
              </a:ext>
            </a:extLst>
          </p:cNvPr>
          <p:cNvSpPr/>
          <p:nvPr userDrawn="1"/>
        </p:nvSpPr>
        <p:spPr>
          <a:xfrm rot="20151602">
            <a:off x="-1111336" y="360448"/>
            <a:ext cx="2222671" cy="2222671"/>
          </a:xfrm>
          <a:prstGeom prst="heptagon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七边形 12">
            <a:extLst>
              <a:ext uri="{FF2B5EF4-FFF2-40B4-BE49-F238E27FC236}">
                <a16:creationId xmlns:a16="http://schemas.microsoft.com/office/drawing/2014/main" id="{9B17F2FA-61E0-4197-AD3A-2DE5104FF5C1}"/>
              </a:ext>
            </a:extLst>
          </p:cNvPr>
          <p:cNvSpPr/>
          <p:nvPr userDrawn="1"/>
        </p:nvSpPr>
        <p:spPr>
          <a:xfrm rot="20592885">
            <a:off x="8879510" y="6235700"/>
            <a:ext cx="2222671" cy="2222671"/>
          </a:xfrm>
          <a:prstGeom prst="heptag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4" name="七边形 13">
            <a:extLst>
              <a:ext uri="{FF2B5EF4-FFF2-40B4-BE49-F238E27FC236}">
                <a16:creationId xmlns:a16="http://schemas.microsoft.com/office/drawing/2014/main" id="{1C86E54A-170E-4CA4-BE8B-1118DA74B7C4}"/>
              </a:ext>
            </a:extLst>
          </p:cNvPr>
          <p:cNvSpPr>
            <a:spLocks noChangeAspect="1"/>
          </p:cNvSpPr>
          <p:nvPr userDrawn="1"/>
        </p:nvSpPr>
        <p:spPr>
          <a:xfrm>
            <a:off x="3683000" y="774700"/>
            <a:ext cx="4826000" cy="4826000"/>
          </a:xfrm>
          <a:prstGeom prst="heptagon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A5976A4D-F088-4D08-ABB4-FDF23F9CA8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66909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35531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长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82CF8FAE-6DBB-42F8-A821-12D15C788E8C}"/>
              </a:ext>
            </a:extLst>
          </p:cNvPr>
          <p:cNvSpPr/>
          <p:nvPr userDrawn="1"/>
        </p:nvSpPr>
        <p:spPr>
          <a:xfrm>
            <a:off x="2" y="0"/>
            <a:ext cx="2835871" cy="6858000"/>
          </a:xfrm>
          <a:prstGeom prst="homePlat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elvetica" pitchFamily="2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958D3BC-E7F4-4914-8CAC-14D6BF0FFFB3}"/>
              </a:ext>
            </a:extLst>
          </p:cNvPr>
          <p:cNvSpPr/>
          <p:nvPr/>
        </p:nvSpPr>
        <p:spPr>
          <a:xfrm>
            <a:off x="140677" y="3106616"/>
            <a:ext cx="2520462" cy="1066800"/>
          </a:xfrm>
          <a:prstGeom prst="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453FC77-9263-4C53-8F22-D64EBC3880B1}"/>
              </a:ext>
            </a:extLst>
          </p:cNvPr>
          <p:cNvSpPr/>
          <p:nvPr userDrawn="1"/>
        </p:nvSpPr>
        <p:spPr>
          <a:xfrm>
            <a:off x="2782511" y="612708"/>
            <a:ext cx="8695230" cy="5632585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B3BEEB7-FA72-410F-B92D-7D208F847B83}"/>
              </a:ext>
            </a:extLst>
          </p:cNvPr>
          <p:cNvSpPr txBox="1"/>
          <p:nvPr/>
        </p:nvSpPr>
        <p:spPr>
          <a:xfrm>
            <a:off x="23448" y="2848709"/>
            <a:ext cx="2782509" cy="15749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ctr"/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ea typeface="+mj-ea"/>
                <a:cs typeface="Arial" panose="020B0604020202020204" pitchFamily="34" charset="0"/>
              </a:rPr>
              <a:t>Contents</a:t>
            </a:r>
            <a:endParaRPr lang="zh-CN" altLang="en-US" sz="4000" b="1" i="0" dirty="0">
              <a:solidFill>
                <a:schemeClr val="bg1"/>
              </a:solidFill>
              <a:latin typeface="Helvetica" pitchFamily="2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C02326B7-0E5A-F24B-8BE7-D58545042A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5064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长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箭头: 五边形 6">
            <a:extLst>
              <a:ext uri="{FF2B5EF4-FFF2-40B4-BE49-F238E27FC236}">
                <a16:creationId xmlns:a16="http://schemas.microsoft.com/office/drawing/2014/main" id="{EF621E98-351F-489A-ADCE-3FC79FDE6DDD}"/>
              </a:ext>
            </a:extLst>
          </p:cNvPr>
          <p:cNvSpPr/>
          <p:nvPr userDrawn="1"/>
        </p:nvSpPr>
        <p:spPr>
          <a:xfrm rot="19659736">
            <a:off x="-59387" y="6355211"/>
            <a:ext cx="1593667" cy="240022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5" name="箭头: 五边形 24">
            <a:extLst>
              <a:ext uri="{FF2B5EF4-FFF2-40B4-BE49-F238E27FC236}">
                <a16:creationId xmlns:a16="http://schemas.microsoft.com/office/drawing/2014/main" id="{C25A5A92-C8E6-4CA8-AB93-8B885C5EA989}"/>
              </a:ext>
            </a:extLst>
          </p:cNvPr>
          <p:cNvSpPr/>
          <p:nvPr userDrawn="1"/>
        </p:nvSpPr>
        <p:spPr>
          <a:xfrm rot="19659736">
            <a:off x="501875" y="5626509"/>
            <a:ext cx="1198809" cy="202681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6" name="箭头: 五边形 25">
            <a:extLst>
              <a:ext uri="{FF2B5EF4-FFF2-40B4-BE49-F238E27FC236}">
                <a16:creationId xmlns:a16="http://schemas.microsoft.com/office/drawing/2014/main" id="{0B284135-360D-47CC-8BC2-5C03015968F7}"/>
              </a:ext>
            </a:extLst>
          </p:cNvPr>
          <p:cNvSpPr/>
          <p:nvPr userDrawn="1"/>
        </p:nvSpPr>
        <p:spPr>
          <a:xfrm rot="19659736">
            <a:off x="11343042" y="442070"/>
            <a:ext cx="869215" cy="124045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7" name="箭头: 五边形 26">
            <a:extLst>
              <a:ext uri="{FF2B5EF4-FFF2-40B4-BE49-F238E27FC236}">
                <a16:creationId xmlns:a16="http://schemas.microsoft.com/office/drawing/2014/main" id="{D0824BE2-0B1A-47B1-BAAF-7C29E1879AE7}"/>
              </a:ext>
            </a:extLst>
          </p:cNvPr>
          <p:cNvSpPr/>
          <p:nvPr userDrawn="1"/>
        </p:nvSpPr>
        <p:spPr>
          <a:xfrm rot="19659736">
            <a:off x="10829985" y="427917"/>
            <a:ext cx="542830" cy="99029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75819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053D6D2E-F110-4473-8442-17B28C05A741}"/>
              </a:ext>
            </a:extLst>
          </p:cNvPr>
          <p:cNvSpPr/>
          <p:nvPr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6BEB427-D252-4942-9F34-301C642191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7358D7B-1DA9-9E4B-AFF1-9A13B20D43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ACA3C166-80E6-1B4A-AD5B-C8D4745687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 i="0">
                <a:solidFill>
                  <a:schemeClr val="accent1"/>
                </a:solidFill>
                <a:latin typeface="Helvetica" pitchFamily="2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sp>
        <p:nvSpPr>
          <p:cNvPr id="13" name="日期占位符 12">
            <a:extLst>
              <a:ext uri="{FF2B5EF4-FFF2-40B4-BE49-F238E27FC236}">
                <a16:creationId xmlns:a16="http://schemas.microsoft.com/office/drawing/2014/main" id="{4B77A5BA-0111-5844-9F86-5926B121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页脚占位符 13">
            <a:extLst>
              <a:ext uri="{FF2B5EF4-FFF2-40B4-BE49-F238E27FC236}">
                <a16:creationId xmlns:a16="http://schemas.microsoft.com/office/drawing/2014/main" id="{44B829B2-7BD2-9948-8F21-7182730A0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5" name="灯片编号占位符 14">
            <a:extLst>
              <a:ext uri="{FF2B5EF4-FFF2-40B4-BE49-F238E27FC236}">
                <a16:creationId xmlns:a16="http://schemas.microsoft.com/office/drawing/2014/main" id="{6280651B-EA0A-1E41-B81D-87E3C43E6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855237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横向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1" name="图片占位符 90">
            <a:extLst>
              <a:ext uri="{FF2B5EF4-FFF2-40B4-BE49-F238E27FC236}">
                <a16:creationId xmlns:a16="http://schemas.microsoft.com/office/drawing/2014/main" id="{1B0862E3-9A13-49FB-8057-D6463602E7B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62171" y="1825888"/>
            <a:ext cx="4826535" cy="2736000"/>
          </a:xfrm>
          <a:custGeom>
            <a:avLst/>
            <a:gdLst>
              <a:gd name="connsiteX0" fmla="*/ 0 w 4241800"/>
              <a:gd name="connsiteY0" fmla="*/ 0 h 2404533"/>
              <a:gd name="connsiteX1" fmla="*/ 4241800 w 4241800"/>
              <a:gd name="connsiteY1" fmla="*/ 0 h 2404533"/>
              <a:gd name="connsiteX2" fmla="*/ 4241800 w 4241800"/>
              <a:gd name="connsiteY2" fmla="*/ 2404533 h 2404533"/>
              <a:gd name="connsiteX3" fmla="*/ 0 w 4241800"/>
              <a:gd name="connsiteY3" fmla="*/ 2404533 h 2404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41800" h="2404533">
                <a:moveTo>
                  <a:pt x="0" y="0"/>
                </a:moveTo>
                <a:lnTo>
                  <a:pt x="4241800" y="0"/>
                </a:lnTo>
                <a:lnTo>
                  <a:pt x="4241800" y="2404533"/>
                </a:lnTo>
                <a:lnTo>
                  <a:pt x="0" y="240453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33B73963-4941-42F0-9B00-7431FEF61A6C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>
            <a:extLst>
              <a:ext uri="{FF2B5EF4-FFF2-40B4-BE49-F238E27FC236}">
                <a16:creationId xmlns:a16="http://schemas.microsoft.com/office/drawing/2014/main" id="{9C71AABC-C91A-43D0-9AF8-0B6162EDCD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>
            <a:extLst>
              <a:ext uri="{FF2B5EF4-FFF2-40B4-BE49-F238E27FC236}">
                <a16:creationId xmlns:a16="http://schemas.microsoft.com/office/drawing/2014/main" id="{A32A9019-0CBC-4C4A-90F0-2676ED9FCD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1D06DB6D-BC70-544C-8EA4-3A3874C968F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81892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0" name="图片占位符 6">
            <a:extLst>
              <a:ext uri="{FF2B5EF4-FFF2-40B4-BE49-F238E27FC236}">
                <a16:creationId xmlns:a16="http://schemas.microsoft.com/office/drawing/2014/main" id="{B49F2142-CAF1-4747-9CF9-CF77EE8A9159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692274" y="1541374"/>
            <a:ext cx="3238088" cy="43200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1727DAFC-E61B-4F89-B5C2-9CC360B9928B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>
            <a:extLst>
              <a:ext uri="{FF2B5EF4-FFF2-40B4-BE49-F238E27FC236}">
                <a16:creationId xmlns:a16="http://schemas.microsoft.com/office/drawing/2014/main" id="{80DB1628-9D3D-4F59-B275-C695A900F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>
            <a:extLst>
              <a:ext uri="{FF2B5EF4-FFF2-40B4-BE49-F238E27FC236}">
                <a16:creationId xmlns:a16="http://schemas.microsoft.com/office/drawing/2014/main" id="{F01A7288-9F85-304B-887D-2D1E13D7A2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DE14FD2D-7810-B34E-8AFB-9A17BDEA70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87498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-圆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任意多边形: 形状 92">
            <a:extLst>
              <a:ext uri="{FF2B5EF4-FFF2-40B4-BE49-F238E27FC236}">
                <a16:creationId xmlns:a16="http://schemas.microsoft.com/office/drawing/2014/main" id="{F03BE017-E7F3-4A34-ABC3-ECA964258175}"/>
              </a:ext>
            </a:extLst>
          </p:cNvPr>
          <p:cNvSpPr/>
          <p:nvPr userDrawn="1"/>
        </p:nvSpPr>
        <p:spPr>
          <a:xfrm>
            <a:off x="660400" y="1531871"/>
            <a:ext cx="10858500" cy="4491875"/>
          </a:xfrm>
          <a:custGeom>
            <a:avLst/>
            <a:gdLst>
              <a:gd name="connsiteX0" fmla="*/ 2682382 w 10858500"/>
              <a:gd name="connsiteY0" fmla="*/ 0 h 4491875"/>
              <a:gd name="connsiteX1" fmla="*/ 4661514 w 10858500"/>
              <a:gd name="connsiteY1" fmla="*/ 1979131 h 4491875"/>
              <a:gd name="connsiteX2" fmla="*/ 4081840 w 10858500"/>
              <a:gd name="connsiteY2" fmla="*/ 3378588 h 4491875"/>
              <a:gd name="connsiteX3" fmla="*/ 3948253 w 10858500"/>
              <a:gd name="connsiteY3" fmla="*/ 3500000 h 4491875"/>
              <a:gd name="connsiteX4" fmla="*/ 10858500 w 10858500"/>
              <a:gd name="connsiteY4" fmla="*/ 3500000 h 4491875"/>
              <a:gd name="connsiteX5" fmla="*/ 10858500 w 10858500"/>
              <a:gd name="connsiteY5" fmla="*/ 4491875 h 4491875"/>
              <a:gd name="connsiteX6" fmla="*/ 0 w 10858500"/>
              <a:gd name="connsiteY6" fmla="*/ 4491875 h 4491875"/>
              <a:gd name="connsiteX7" fmla="*/ 0 w 10858500"/>
              <a:gd name="connsiteY7" fmla="*/ 3500000 h 4491875"/>
              <a:gd name="connsiteX8" fmla="*/ 1416512 w 10858500"/>
              <a:gd name="connsiteY8" fmla="*/ 3500000 h 4491875"/>
              <a:gd name="connsiteX9" fmla="*/ 1282925 w 10858500"/>
              <a:gd name="connsiteY9" fmla="*/ 3378588 h 4491875"/>
              <a:gd name="connsiteX10" fmla="*/ 703250 w 10858500"/>
              <a:gd name="connsiteY10" fmla="*/ 1979131 h 4491875"/>
              <a:gd name="connsiteX11" fmla="*/ 2682382 w 10858500"/>
              <a:gd name="connsiteY11" fmla="*/ 0 h 449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58500" h="4491875">
                <a:moveTo>
                  <a:pt x="2682382" y="0"/>
                </a:moveTo>
                <a:cubicBezTo>
                  <a:pt x="3775426" y="0"/>
                  <a:pt x="4661514" y="886087"/>
                  <a:pt x="4661514" y="1979131"/>
                </a:cubicBezTo>
                <a:cubicBezTo>
                  <a:pt x="4661514" y="2525653"/>
                  <a:pt x="4439992" y="3020436"/>
                  <a:pt x="4081840" y="3378588"/>
                </a:cubicBezTo>
                <a:lnTo>
                  <a:pt x="3948253" y="3500000"/>
                </a:lnTo>
                <a:lnTo>
                  <a:pt x="10858500" y="3500000"/>
                </a:lnTo>
                <a:lnTo>
                  <a:pt x="10858500" y="4491875"/>
                </a:lnTo>
                <a:lnTo>
                  <a:pt x="0" y="4491875"/>
                </a:lnTo>
                <a:lnTo>
                  <a:pt x="0" y="3500000"/>
                </a:lnTo>
                <a:lnTo>
                  <a:pt x="1416512" y="3500000"/>
                </a:lnTo>
                <a:lnTo>
                  <a:pt x="1282925" y="3378588"/>
                </a:lnTo>
                <a:cubicBezTo>
                  <a:pt x="924772" y="3020436"/>
                  <a:pt x="703250" y="2525653"/>
                  <a:pt x="703250" y="1979131"/>
                </a:cubicBezTo>
                <a:cubicBezTo>
                  <a:pt x="703250" y="886087"/>
                  <a:pt x="1589338" y="0"/>
                  <a:pt x="2682382" y="0"/>
                </a:cubicBezTo>
                <a:close/>
              </a:path>
            </a:pathLst>
          </a:custGeom>
          <a:solidFill>
            <a:schemeClr val="accent1"/>
          </a:solidFill>
          <a:ln w="19050">
            <a:noFill/>
          </a:ln>
          <a:effectLst>
            <a:outerShdw blurRad="127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1727DAFC-E61B-4F89-B5C2-9CC360B9928B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图片占位符 91">
            <a:extLst>
              <a:ext uri="{FF2B5EF4-FFF2-40B4-BE49-F238E27FC236}">
                <a16:creationId xmlns:a16="http://schemas.microsoft.com/office/drawing/2014/main" id="{D3B0A0DB-185C-4430-9224-1C0A227377F5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451524" y="1608975"/>
            <a:ext cx="3780000" cy="3780000"/>
          </a:xfrm>
          <a:custGeom>
            <a:avLst/>
            <a:gdLst>
              <a:gd name="connsiteX0" fmla="*/ 1657350 w 3314700"/>
              <a:gd name="connsiteY0" fmla="*/ 0 h 3314700"/>
              <a:gd name="connsiteX1" fmla="*/ 3314700 w 3314700"/>
              <a:gd name="connsiteY1" fmla="*/ 1657350 h 3314700"/>
              <a:gd name="connsiteX2" fmla="*/ 1657350 w 3314700"/>
              <a:gd name="connsiteY2" fmla="*/ 3314700 h 3314700"/>
              <a:gd name="connsiteX3" fmla="*/ 0 w 3314700"/>
              <a:gd name="connsiteY3" fmla="*/ 1657350 h 3314700"/>
              <a:gd name="connsiteX4" fmla="*/ 1657350 w 3314700"/>
              <a:gd name="connsiteY4" fmla="*/ 0 h 331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14700" h="3314700">
                <a:moveTo>
                  <a:pt x="1657350" y="0"/>
                </a:moveTo>
                <a:cubicBezTo>
                  <a:pt x="2572679" y="0"/>
                  <a:pt x="3314700" y="742021"/>
                  <a:pt x="3314700" y="1657350"/>
                </a:cubicBezTo>
                <a:cubicBezTo>
                  <a:pt x="3314700" y="2572679"/>
                  <a:pt x="2572679" y="3314700"/>
                  <a:pt x="1657350" y="3314700"/>
                </a:cubicBezTo>
                <a:cubicBezTo>
                  <a:pt x="742021" y="3314700"/>
                  <a:pt x="0" y="2572679"/>
                  <a:pt x="0" y="1657350"/>
                </a:cubicBezTo>
                <a:cubicBezTo>
                  <a:pt x="0" y="742021"/>
                  <a:pt x="742021" y="0"/>
                  <a:pt x="1657350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/>
          <a:p>
            <a:endParaRPr lang="zh-CN" altLang="en-US" dirty="0"/>
          </a:p>
        </p:txBody>
      </p:sp>
      <p:sp>
        <p:nvSpPr>
          <p:cNvPr id="90" name="标题 1">
            <a:extLst>
              <a:ext uri="{FF2B5EF4-FFF2-40B4-BE49-F238E27FC236}">
                <a16:creationId xmlns:a16="http://schemas.microsoft.com/office/drawing/2014/main" id="{E3FA308D-84A8-4382-ADA4-2CD6EA622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4" name="图片 93">
            <a:extLst>
              <a:ext uri="{FF2B5EF4-FFF2-40B4-BE49-F238E27FC236}">
                <a16:creationId xmlns:a16="http://schemas.microsoft.com/office/drawing/2014/main" id="{68876A75-1BD3-9D4E-9D34-C6453E6DC7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8" name="图片 97">
            <a:extLst>
              <a:ext uri="{FF2B5EF4-FFF2-40B4-BE49-F238E27FC236}">
                <a16:creationId xmlns:a16="http://schemas.microsoft.com/office/drawing/2014/main" id="{48222E54-5ACA-6D4B-9A58-9B51C83B622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22805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0" name="图片占位符 6">
            <a:extLst>
              <a:ext uri="{FF2B5EF4-FFF2-40B4-BE49-F238E27FC236}">
                <a16:creationId xmlns:a16="http://schemas.microsoft.com/office/drawing/2014/main" id="{B49F2142-CAF1-4747-9CF9-CF77EE8A9159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114722" y="1132945"/>
            <a:ext cx="1735608" cy="231551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1" name="图片占位符 6">
            <a:extLst>
              <a:ext uri="{FF2B5EF4-FFF2-40B4-BE49-F238E27FC236}">
                <a16:creationId xmlns:a16="http://schemas.microsoft.com/office/drawing/2014/main" id="{260C43B2-4304-44E2-A6F0-062D59008B9B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9351363" y="3674135"/>
            <a:ext cx="1755000" cy="2341381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2" name="任意多边形: 形状 91">
            <a:extLst>
              <a:ext uri="{FF2B5EF4-FFF2-40B4-BE49-F238E27FC236}">
                <a16:creationId xmlns:a16="http://schemas.microsoft.com/office/drawing/2014/main" id="{11D8ADCD-C58A-41B8-80C4-2341BB348593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3" name="标题 1">
            <a:extLst>
              <a:ext uri="{FF2B5EF4-FFF2-40B4-BE49-F238E27FC236}">
                <a16:creationId xmlns:a16="http://schemas.microsoft.com/office/drawing/2014/main" id="{841EB5B4-0657-4AE7-A427-642106D5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4" name="图片 93">
            <a:extLst>
              <a:ext uri="{FF2B5EF4-FFF2-40B4-BE49-F238E27FC236}">
                <a16:creationId xmlns:a16="http://schemas.microsoft.com/office/drawing/2014/main" id="{EC81340F-C45F-6B4F-9864-73BF32BA90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8" name="图片 97">
            <a:extLst>
              <a:ext uri="{FF2B5EF4-FFF2-40B4-BE49-F238E27FC236}">
                <a16:creationId xmlns:a16="http://schemas.microsoft.com/office/drawing/2014/main" id="{31D45924-509B-5D4C-A99D-FF1FB6F34B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2887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1" name="图片占位符 90">
            <a:extLst>
              <a:ext uri="{FF2B5EF4-FFF2-40B4-BE49-F238E27FC236}">
                <a16:creationId xmlns:a16="http://schemas.microsoft.com/office/drawing/2014/main" id="{1D88D36A-B7BF-4F3A-AA10-0BECE80A557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19984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5" name="图片占位符 94">
            <a:extLst>
              <a:ext uri="{FF2B5EF4-FFF2-40B4-BE49-F238E27FC236}">
                <a16:creationId xmlns:a16="http://schemas.microsoft.com/office/drawing/2014/main" id="{DEC9F75E-9249-4FFE-AF96-E92B201A183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369946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8" name="图片占位符 97">
            <a:extLst>
              <a:ext uri="{FF2B5EF4-FFF2-40B4-BE49-F238E27FC236}">
                <a16:creationId xmlns:a16="http://schemas.microsoft.com/office/drawing/2014/main" id="{E7782F2A-850E-4B5F-8330-CF50AC9EFA7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36638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9" name="图片占位符 98">
            <a:extLst>
              <a:ext uri="{FF2B5EF4-FFF2-40B4-BE49-F238E27FC236}">
                <a16:creationId xmlns:a16="http://schemas.microsoft.com/office/drawing/2014/main" id="{25096E3E-9433-4D85-BA39-301B214A355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53292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DF883148-B063-4C5A-9CC7-CE69774A8C94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>
            <a:extLst>
              <a:ext uri="{FF2B5EF4-FFF2-40B4-BE49-F238E27FC236}">
                <a16:creationId xmlns:a16="http://schemas.microsoft.com/office/drawing/2014/main" id="{B8A4FF80-ED1E-4D1D-9434-215EB5FB8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>
            <a:extLst>
              <a:ext uri="{FF2B5EF4-FFF2-40B4-BE49-F238E27FC236}">
                <a16:creationId xmlns:a16="http://schemas.microsoft.com/office/drawing/2014/main" id="{B3A067A2-39E8-0940-8B54-688BC270D1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7D982EDC-1B4A-034E-9CE9-9172DBAF48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51639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558009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 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F00C798-F4CB-49E3-81E0-4CD12D5AEAD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35420" y="2971800"/>
            <a:ext cx="7783479" cy="914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54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endParaRPr lang="en-US" altLang="zh-CN" dirty="0"/>
          </a:p>
          <a:p>
            <a:pPr lvl="0"/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8C1695A4-3593-4E25-8722-4214E3CC76B6}"/>
              </a:ext>
            </a:extLst>
          </p:cNvPr>
          <p:cNvSpPr/>
          <p:nvPr userDrawn="1"/>
        </p:nvSpPr>
        <p:spPr>
          <a:xfrm rot="16200000">
            <a:off x="10605854" y="5156200"/>
            <a:ext cx="2879387" cy="3403600"/>
          </a:xfrm>
          <a:prstGeom prst="homePlat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A29C0276-5751-4797-BFA5-F68D05ACBB63}"/>
              </a:ext>
            </a:extLst>
          </p:cNvPr>
          <p:cNvSpPr/>
          <p:nvPr userDrawn="1"/>
        </p:nvSpPr>
        <p:spPr>
          <a:xfrm>
            <a:off x="-2680781" y="0"/>
            <a:ext cx="5753100" cy="9620654"/>
          </a:xfrm>
          <a:prstGeom prst="homePlate">
            <a:avLst>
              <a:gd name="adj" fmla="val 5086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D85E25CC-A5BC-44E2-9950-5BDC824D9AC1}"/>
              </a:ext>
            </a:extLst>
          </p:cNvPr>
          <p:cNvSpPr/>
          <p:nvPr userDrawn="1"/>
        </p:nvSpPr>
        <p:spPr>
          <a:xfrm rot="5400000">
            <a:off x="7310335" y="-1872573"/>
            <a:ext cx="2616740" cy="4241259"/>
          </a:xfrm>
          <a:prstGeom prst="homePlat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9282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EB2DFB5F-1361-46F4-B3DF-471ECD4DCA18}"/>
              </a:ext>
            </a:extLst>
          </p:cNvPr>
          <p:cNvSpPr/>
          <p:nvPr userDrawn="1"/>
        </p:nvSpPr>
        <p:spPr>
          <a:xfrm>
            <a:off x="-2319371" y="4211980"/>
            <a:ext cx="5113371" cy="511337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85D4CE6-0BBF-450D-B3AB-7C163A40E793}"/>
              </a:ext>
            </a:extLst>
          </p:cNvPr>
          <p:cNvSpPr/>
          <p:nvPr userDrawn="1"/>
        </p:nvSpPr>
        <p:spPr>
          <a:xfrm>
            <a:off x="10560051" y="-2647819"/>
            <a:ext cx="4418254" cy="44182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06009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0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523B942-3F1B-403C-8E85-6382B2069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217487"/>
            <a:ext cx="10858500" cy="81121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D93AE5-CDDD-4CA4-8BCF-44DD4A714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1383BD-F3E7-403E-84A3-6F01BCC23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60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9A1635-4D35-4F49-9AAC-DA6F5F0373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6FD9E9-D991-439F-8738-F1CD489BA1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5700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994C284-E105-48E5-B7ED-E6DDC39F64AA}"/>
              </a:ext>
            </a:extLst>
          </p:cNvPr>
          <p:cNvSpPr/>
          <p:nvPr userDrawn="1"/>
        </p:nvSpPr>
        <p:spPr>
          <a:xfrm>
            <a:off x="4749800" y="-4572000"/>
            <a:ext cx="1168400" cy="811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8E9773E7-896B-4ABE-A918-DD345AEA7B33}"/>
              </a:ext>
            </a:extLst>
          </p:cNvPr>
          <p:cNvSpPr/>
          <p:nvPr userDrawn="1"/>
        </p:nvSpPr>
        <p:spPr>
          <a:xfrm>
            <a:off x="4572000" y="9093200"/>
            <a:ext cx="1168400" cy="811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5156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  <p:sldLayoutId id="2147483830" r:id="rId12"/>
    <p:sldLayoutId id="2147483831" r:id="rId13"/>
    <p:sldLayoutId id="2147483832" r:id="rId14"/>
    <p:sldLayoutId id="2147483833" r:id="rId15"/>
    <p:sldLayoutId id="2147483834" r:id="rId16"/>
    <p:sldLayoutId id="2147483835" r:id="rId17"/>
    <p:sldLayoutId id="2147483836" r:id="rId18"/>
    <p:sldLayoutId id="2147483837" r:id="rId19"/>
    <p:sldLayoutId id="2147483858" r:id="rId20"/>
    <p:sldLayoutId id="2147483859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88">
          <p15:clr>
            <a:srgbClr val="F26B43"/>
          </p15:clr>
        </p15:guide>
        <p15:guide id="2" pos="3840">
          <p15:clr>
            <a:srgbClr val="F26B43"/>
          </p15:clr>
        </p15:guide>
        <p15:guide id="3" pos="416">
          <p15:clr>
            <a:srgbClr val="F26B43"/>
          </p15:clr>
        </p15:guide>
        <p15:guide id="4" pos="7256">
          <p15:clr>
            <a:srgbClr val="F26B43"/>
          </p15:clr>
        </p15:guide>
        <p15:guide id="5" orient="horz" pos="648">
          <p15:clr>
            <a:srgbClr val="F26B43"/>
          </p15:clr>
        </p15:guide>
        <p15:guide id="6" orient="horz" pos="712">
          <p15:clr>
            <a:srgbClr val="F26B43"/>
          </p15:clr>
        </p15:guide>
        <p15:guide id="7" orient="horz" pos="3928">
          <p15:clr>
            <a:srgbClr val="F26B43"/>
          </p15:clr>
        </p15:guide>
        <p15:guide id="8" orient="horz" pos="386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523B942-3F1B-403C-8E85-6382B2069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217487"/>
            <a:ext cx="10858500" cy="81121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D93AE5-CDDD-4CA4-8BCF-44DD4A714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1383BD-F3E7-403E-84A3-6F01BCC23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60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9A1635-4D35-4F49-9AAC-DA6F5F0373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6FD9E9-D991-439F-8738-F1CD489BA1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5700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994C284-E105-48E5-B7ED-E6DDC39F64AA}"/>
              </a:ext>
            </a:extLst>
          </p:cNvPr>
          <p:cNvSpPr/>
          <p:nvPr userDrawn="1"/>
        </p:nvSpPr>
        <p:spPr>
          <a:xfrm>
            <a:off x="4749800" y="-4572000"/>
            <a:ext cx="1168400" cy="811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8E9773E7-896B-4ABE-A918-DD345AEA7B33}"/>
              </a:ext>
            </a:extLst>
          </p:cNvPr>
          <p:cNvSpPr/>
          <p:nvPr userDrawn="1"/>
        </p:nvSpPr>
        <p:spPr>
          <a:xfrm>
            <a:off x="4572000" y="9093200"/>
            <a:ext cx="1168400" cy="811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793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  <p:sldLayoutId id="2147483850" r:id="rId12"/>
    <p:sldLayoutId id="2147483851" r:id="rId13"/>
    <p:sldLayoutId id="2147483852" r:id="rId14"/>
    <p:sldLayoutId id="2147483853" r:id="rId15"/>
    <p:sldLayoutId id="2147483854" r:id="rId16"/>
    <p:sldLayoutId id="2147483855" r:id="rId17"/>
    <p:sldLayoutId id="2147483856" r:id="rId18"/>
    <p:sldLayoutId id="2147483857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88">
          <p15:clr>
            <a:srgbClr val="F26B43"/>
          </p15:clr>
        </p15:guide>
        <p15:guide id="2" pos="3840">
          <p15:clr>
            <a:srgbClr val="F26B43"/>
          </p15:clr>
        </p15:guide>
        <p15:guide id="3" pos="416">
          <p15:clr>
            <a:srgbClr val="F26B43"/>
          </p15:clr>
        </p15:guide>
        <p15:guide id="4" pos="7256">
          <p15:clr>
            <a:srgbClr val="F26B43"/>
          </p15:clr>
        </p15:guide>
        <p15:guide id="5" orient="horz" pos="648">
          <p15:clr>
            <a:srgbClr val="F26B43"/>
          </p15:clr>
        </p15:guide>
        <p15:guide id="6" orient="horz" pos="712">
          <p15:clr>
            <a:srgbClr val="F26B43"/>
          </p15:clr>
        </p15:guide>
        <p15:guide id="7" orient="horz" pos="3928">
          <p15:clr>
            <a:srgbClr val="F26B43"/>
          </p15:clr>
        </p15:guide>
        <p15:guide id="8" orient="horz" pos="3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ursera.org/lecture/python-machine-learning/decision-trees-Zj96A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2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10" Type="http://schemas.openxmlformats.org/officeDocument/2006/relationships/image" Target="../media/image36.png"/><Relationship Id="rId4" Type="http://schemas.openxmlformats.org/officeDocument/2006/relationships/chart" Target="../charts/chart2.xml"/><Relationship Id="rId9" Type="http://schemas.openxmlformats.org/officeDocument/2006/relationships/image" Target="../media/image3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8.xml"/><Relationship Id="rId3" Type="http://schemas.openxmlformats.org/officeDocument/2006/relationships/image" Target="../media/image70.png"/><Relationship Id="rId7" Type="http://schemas.openxmlformats.org/officeDocument/2006/relationships/chart" Target="../charts/chart7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6" Type="http://schemas.openxmlformats.org/officeDocument/2006/relationships/chart" Target="../charts/chart6.xml"/><Relationship Id="rId11" Type="http://schemas.openxmlformats.org/officeDocument/2006/relationships/chart" Target="../charts/chart11.xml"/><Relationship Id="rId5" Type="http://schemas.openxmlformats.org/officeDocument/2006/relationships/image" Target="../media/image72.png"/><Relationship Id="rId10" Type="http://schemas.openxmlformats.org/officeDocument/2006/relationships/chart" Target="../charts/chart10.xml"/><Relationship Id="rId4" Type="http://schemas.openxmlformats.org/officeDocument/2006/relationships/image" Target="../media/image71.png"/><Relationship Id="rId9" Type="http://schemas.openxmlformats.org/officeDocument/2006/relationships/chart" Target="../charts/chart9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4.xml"/><Relationship Id="rId3" Type="http://schemas.openxmlformats.org/officeDocument/2006/relationships/image" Target="../media/image73.png"/><Relationship Id="rId7" Type="http://schemas.openxmlformats.org/officeDocument/2006/relationships/chart" Target="../charts/chart1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6" Type="http://schemas.openxmlformats.org/officeDocument/2006/relationships/chart" Target="../charts/chart12.xml"/><Relationship Id="rId11" Type="http://schemas.openxmlformats.org/officeDocument/2006/relationships/image" Target="../media/image77.png"/><Relationship Id="rId5" Type="http://schemas.openxmlformats.org/officeDocument/2006/relationships/image" Target="../media/image75.png"/><Relationship Id="rId10" Type="http://schemas.openxmlformats.org/officeDocument/2006/relationships/image" Target="../media/image76.png"/><Relationship Id="rId4" Type="http://schemas.openxmlformats.org/officeDocument/2006/relationships/image" Target="../media/image74.png"/><Relationship Id="rId9" Type="http://schemas.openxmlformats.org/officeDocument/2006/relationships/chart" Target="../charts/chart1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5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8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10.png"/><Relationship Id="rId7" Type="http://schemas.openxmlformats.org/officeDocument/2006/relationships/image" Target="../media/image6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510.png"/><Relationship Id="rId5" Type="http://schemas.openxmlformats.org/officeDocument/2006/relationships/image" Target="../media/image4.png"/><Relationship Id="rId10" Type="http://schemas.openxmlformats.org/officeDocument/2006/relationships/image" Target="../media/image911.png"/><Relationship Id="rId4" Type="http://schemas.openxmlformats.org/officeDocument/2006/relationships/image" Target="../media/image310.png"/><Relationship Id="rId9" Type="http://schemas.openxmlformats.org/officeDocument/2006/relationships/image" Target="../media/image810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13" Type="http://schemas.openxmlformats.org/officeDocument/2006/relationships/image" Target="../media/image211.png"/><Relationship Id="rId18" Type="http://schemas.openxmlformats.org/officeDocument/2006/relationships/image" Target="../media/image260.png"/><Relationship Id="rId3" Type="http://schemas.openxmlformats.org/officeDocument/2006/relationships/image" Target="../media/image1110.png"/><Relationship Id="rId21" Type="http://schemas.openxmlformats.org/officeDocument/2006/relationships/image" Target="../media/image290.png"/><Relationship Id="rId7" Type="http://schemas.openxmlformats.org/officeDocument/2006/relationships/image" Target="../media/image15.png"/><Relationship Id="rId12" Type="http://schemas.openxmlformats.org/officeDocument/2006/relationships/image" Target="../media/image200.png"/><Relationship Id="rId17" Type="http://schemas.openxmlformats.org/officeDocument/2006/relationships/image" Target="../media/image250.png"/><Relationship Id="rId25" Type="http://schemas.openxmlformats.org/officeDocument/2006/relationships/image" Target="../media/image330.png"/><Relationship Id="rId2" Type="http://schemas.openxmlformats.org/officeDocument/2006/relationships/image" Target="../media/image1010.png"/><Relationship Id="rId16" Type="http://schemas.openxmlformats.org/officeDocument/2006/relationships/image" Target="../media/image241.png"/><Relationship Id="rId20" Type="http://schemas.openxmlformats.org/officeDocument/2006/relationships/image" Target="../media/image280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40.png"/><Relationship Id="rId11" Type="http://schemas.openxmlformats.org/officeDocument/2006/relationships/image" Target="../media/image190.png"/><Relationship Id="rId24" Type="http://schemas.openxmlformats.org/officeDocument/2006/relationships/image" Target="../media/image320.png"/><Relationship Id="rId5" Type="http://schemas.openxmlformats.org/officeDocument/2006/relationships/image" Target="../media/image130.png"/><Relationship Id="rId15" Type="http://schemas.openxmlformats.org/officeDocument/2006/relationships/image" Target="../media/image230.png"/><Relationship Id="rId23" Type="http://schemas.openxmlformats.org/officeDocument/2006/relationships/image" Target="../media/image311.png"/><Relationship Id="rId10" Type="http://schemas.openxmlformats.org/officeDocument/2006/relationships/image" Target="../media/image18.png"/><Relationship Id="rId19" Type="http://schemas.openxmlformats.org/officeDocument/2006/relationships/image" Target="../media/image270.png"/><Relationship Id="rId4" Type="http://schemas.openxmlformats.org/officeDocument/2006/relationships/image" Target="../media/image1210.png"/><Relationship Id="rId9" Type="http://schemas.openxmlformats.org/officeDocument/2006/relationships/image" Target="../media/image170.png"/><Relationship Id="rId14" Type="http://schemas.openxmlformats.org/officeDocument/2006/relationships/image" Target="../media/image22.png"/><Relationship Id="rId22" Type="http://schemas.openxmlformats.org/officeDocument/2006/relationships/image" Target="../media/image300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1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15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00.png"/><Relationship Id="rId13" Type="http://schemas.openxmlformats.org/officeDocument/2006/relationships/image" Target="../media/image970.png"/><Relationship Id="rId3" Type="http://schemas.openxmlformats.org/officeDocument/2006/relationships/image" Target="../media/image870.png"/><Relationship Id="rId7" Type="http://schemas.openxmlformats.org/officeDocument/2006/relationships/image" Target="../media/image910.png"/><Relationship Id="rId12" Type="http://schemas.openxmlformats.org/officeDocument/2006/relationships/image" Target="../media/image960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900.png"/><Relationship Id="rId11" Type="http://schemas.openxmlformats.org/officeDocument/2006/relationships/image" Target="../media/image950.png"/><Relationship Id="rId5" Type="http://schemas.openxmlformats.org/officeDocument/2006/relationships/image" Target="../media/image890.png"/><Relationship Id="rId15" Type="http://schemas.openxmlformats.org/officeDocument/2006/relationships/image" Target="../media/image1120.png"/><Relationship Id="rId10" Type="http://schemas.openxmlformats.org/officeDocument/2006/relationships/image" Target="../media/image940.png"/><Relationship Id="rId4" Type="http://schemas.openxmlformats.org/officeDocument/2006/relationships/image" Target="../media/image880.png"/><Relationship Id="rId9" Type="http://schemas.openxmlformats.org/officeDocument/2006/relationships/image" Target="../media/image930.png"/><Relationship Id="rId14" Type="http://schemas.openxmlformats.org/officeDocument/2006/relationships/image" Target="../media/image980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0.png"/><Relationship Id="rId7" Type="http://schemas.openxmlformats.org/officeDocument/2006/relationships/image" Target="../media/image1170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160.png"/><Relationship Id="rId5" Type="http://schemas.openxmlformats.org/officeDocument/2006/relationships/image" Target="../media/image1150.png"/><Relationship Id="rId4" Type="http://schemas.openxmlformats.org/officeDocument/2006/relationships/image" Target="../media/image1140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7" Type="http://schemas.openxmlformats.org/officeDocument/2006/relationships/image" Target="../media/image118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1.xml"/><Relationship Id="rId6" Type="http://schemas.openxmlformats.org/officeDocument/2006/relationships/slide" Target="slide19.xml"/><Relationship Id="rId5" Type="http://schemas.openxmlformats.org/officeDocument/2006/relationships/image" Target="../media/image1200.png"/><Relationship Id="rId4" Type="http://schemas.openxmlformats.org/officeDocument/2006/relationships/image" Target="../media/image1190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220.png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1">
            <a:extLst>
              <a:ext uri="{FF2B5EF4-FFF2-40B4-BE49-F238E27FC236}">
                <a16:creationId xmlns:a16="http://schemas.microsoft.com/office/drawing/2014/main" id="{D5F3D8B8-541B-475D-AED2-11349A7D54F0}"/>
              </a:ext>
            </a:extLst>
          </p:cNvPr>
          <p:cNvSpPr txBox="1">
            <a:spLocks/>
          </p:cNvSpPr>
          <p:nvPr/>
        </p:nvSpPr>
        <p:spPr>
          <a:xfrm>
            <a:off x="4215135" y="1888139"/>
            <a:ext cx="7021811" cy="2189795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en-US" altLang="zh-CN" sz="3600" dirty="0">
                <a:solidFill>
                  <a:schemeClr val="accent1"/>
                </a:solidFill>
                <a:cs typeface="+mn-ea"/>
                <a:sym typeface="+mn-lt"/>
              </a:rPr>
              <a:t>Learning from examples</a:t>
            </a:r>
            <a:endParaRPr lang="zh-CN" altLang="en-US" sz="3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B696F87A-50D9-4A47-8F75-C4FC6260D652}"/>
              </a:ext>
            </a:extLst>
          </p:cNvPr>
          <p:cNvSpPr/>
          <p:nvPr/>
        </p:nvSpPr>
        <p:spPr>
          <a:xfrm>
            <a:off x="4314036" y="4861566"/>
            <a:ext cx="6751272" cy="611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2800" dirty="0">
                <a:solidFill>
                  <a:schemeClr val="accent1"/>
                </a:solidFill>
                <a:latin typeface="+mn-lt"/>
                <a:cs typeface="+mn-ea"/>
                <a:sym typeface="+mn-lt"/>
              </a:rPr>
              <a:t>杨旭</a:t>
            </a:r>
            <a:endParaRPr lang="en-US" altLang="zh-CN" sz="2800" dirty="0">
              <a:solidFill>
                <a:schemeClr val="accent1"/>
              </a:solidFill>
              <a:latin typeface="+mn-lt"/>
              <a:cs typeface="+mn-ea"/>
              <a:sym typeface="+mn-lt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F12F855B-6482-4247-8DD0-5666489F33A1}"/>
              </a:ext>
            </a:extLst>
          </p:cNvPr>
          <p:cNvCxnSpPr/>
          <p:nvPr/>
        </p:nvCxnSpPr>
        <p:spPr>
          <a:xfrm>
            <a:off x="11226555" y="4069080"/>
            <a:ext cx="0" cy="1404000"/>
          </a:xfrm>
          <a:prstGeom prst="line">
            <a:avLst/>
          </a:prstGeom>
          <a:ln w="50800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占位符 1">
            <a:extLst>
              <a:ext uri="{FF2B5EF4-FFF2-40B4-BE49-F238E27FC236}">
                <a16:creationId xmlns:a16="http://schemas.microsoft.com/office/drawing/2014/main" id="{F69F2D97-0CB9-4669-B955-F9DCCDD94BE9}"/>
              </a:ext>
            </a:extLst>
          </p:cNvPr>
          <p:cNvSpPr txBox="1">
            <a:spLocks/>
          </p:cNvSpPr>
          <p:nvPr/>
        </p:nvSpPr>
        <p:spPr>
          <a:xfrm>
            <a:off x="4204744" y="1130300"/>
            <a:ext cx="7021811" cy="2189795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en-US" altLang="zh-CN" sz="4400" b="1" dirty="0">
                <a:solidFill>
                  <a:schemeClr val="accent1"/>
                </a:solidFill>
                <a:cs typeface="+mn-ea"/>
                <a:sym typeface="+mn-lt"/>
              </a:rPr>
              <a:t>从示例中学习</a:t>
            </a:r>
            <a:endParaRPr lang="zh-CN" altLang="en-US" sz="44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29178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0DAA128-EB7D-45E4-9B87-481044051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alphazero">
            <a:hlinkClick r:id="" action="ppaction://media"/>
          </p:cNvPr>
          <p:cNvPicPr>
            <a:picLocks noGrp="1" noChangeAspect="1"/>
          </p:cNvPicPr>
          <p:nvPr>
            <p:ph idx="4294967295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215865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latin typeface="+mn-lt"/>
                <a:ea typeface="+mn-ea"/>
                <a:cs typeface="+mn-ea"/>
                <a:sym typeface="+mn-lt"/>
              </a:rPr>
              <a:t>从示例中学习</a:t>
            </a:r>
            <a:endParaRPr lang="en-US" altLang="zh-CN" sz="40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60400" y="1397000"/>
            <a:ext cx="10718800" cy="4729163"/>
          </a:xfrm>
        </p:spPr>
        <p:txBody>
          <a:bodyPr/>
          <a:lstStyle/>
          <a:p>
            <a:r>
              <a:rPr lang="en-US" altLang="zh-CN" sz="2800" dirty="0" err="1">
                <a:latin typeface="+mn-lt"/>
                <a:cs typeface="+mn-ea"/>
                <a:sym typeface="+mn-lt"/>
              </a:rPr>
              <a:t>学习</a:t>
            </a:r>
            <a:endParaRPr lang="en-US" altLang="zh-CN" sz="2800" dirty="0">
              <a:latin typeface="+mn-lt"/>
              <a:cs typeface="+mn-ea"/>
              <a:sym typeface="+mn-lt"/>
            </a:endParaRPr>
          </a:p>
          <a:p>
            <a:pPr lvl="1"/>
            <a:r>
              <a:rPr lang="en-US" altLang="zh-CN" sz="2400" dirty="0" err="1">
                <a:latin typeface="+mn-lt"/>
                <a:cs typeface="+mn-ea"/>
                <a:sym typeface="+mn-lt"/>
              </a:rPr>
              <a:t>输入-输出对</a:t>
            </a:r>
            <a:endParaRPr lang="en-US" altLang="zh-CN" sz="2400" dirty="0">
              <a:latin typeface="+mn-lt"/>
              <a:cs typeface="+mn-ea"/>
              <a:sym typeface="+mn-lt"/>
            </a:endParaRPr>
          </a:p>
          <a:p>
            <a:pPr lvl="1"/>
            <a:r>
              <a:rPr lang="en-US" altLang="zh-CN" sz="2400" dirty="0" err="1">
                <a:latin typeface="+mn-lt"/>
                <a:cs typeface="+mn-ea"/>
                <a:sym typeface="+mn-lt"/>
              </a:rPr>
              <a:t>学习一个函数</a:t>
            </a:r>
            <a:endParaRPr lang="en-US" altLang="zh-CN" sz="2400" dirty="0">
              <a:latin typeface="+mn-lt"/>
              <a:cs typeface="+mn-ea"/>
              <a:sym typeface="+mn-lt"/>
            </a:endParaRPr>
          </a:p>
          <a:p>
            <a:endParaRPr lang="en-US" altLang="zh-CN" dirty="0"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latin typeface="+mn-lt"/>
                <a:cs typeface="+mn-ea"/>
                <a:sym typeface="+mn-lt"/>
              </a:rPr>
              <a:t>预测</a:t>
            </a:r>
            <a:endParaRPr lang="en-US" altLang="zh-CN" sz="2800" dirty="0">
              <a:latin typeface="+mn-lt"/>
              <a:cs typeface="+mn-ea"/>
              <a:sym typeface="+mn-lt"/>
            </a:endParaRPr>
          </a:p>
          <a:p>
            <a:pPr lvl="1"/>
            <a:r>
              <a:rPr lang="en-US" altLang="zh-CN" sz="2400" dirty="0" err="1">
                <a:latin typeface="+mn-lt"/>
                <a:cs typeface="+mn-ea"/>
                <a:sym typeface="+mn-lt"/>
              </a:rPr>
              <a:t>新输入的输出</a:t>
            </a:r>
            <a:endParaRPr lang="en-US" altLang="zh-CN" sz="2400" dirty="0">
              <a:latin typeface="+mn-lt"/>
              <a:cs typeface="+mn-ea"/>
              <a:sym typeface="+mn-lt"/>
            </a:endParaRPr>
          </a:p>
          <a:p>
            <a:endParaRPr lang="zh-CN" altLang="en-US" dirty="0">
              <a:latin typeface="+mn-lt"/>
              <a:cs typeface="+mn-ea"/>
              <a:sym typeface="+mn-lt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2502759"/>
            <a:ext cx="4809835" cy="2517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002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60400" y="1397000"/>
            <a:ext cx="10718800" cy="4729163"/>
          </a:xfrm>
        </p:spPr>
        <p:txBody>
          <a:bodyPr/>
          <a:lstStyle/>
          <a:p>
            <a:r>
              <a:rPr lang="en-US" altLang="zh-CN" sz="2800" dirty="0" err="1">
                <a:latin typeface="+mn-lt"/>
                <a:cs typeface="+mn-ea"/>
                <a:sym typeface="+mn-lt"/>
              </a:rPr>
              <a:t>学习形式</a:t>
            </a:r>
            <a:endParaRPr lang="en-US" altLang="zh-CN" sz="2800" dirty="0"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latin typeface="+mn-lt"/>
                <a:cs typeface="+mn-ea"/>
                <a:sym typeface="+mn-lt"/>
              </a:rPr>
              <a:t>决策树</a:t>
            </a:r>
            <a:endParaRPr lang="en-US" altLang="zh-CN" sz="2800" dirty="0"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latin typeface="+mn-lt"/>
                <a:cs typeface="+mn-ea"/>
                <a:sym typeface="+mn-lt"/>
              </a:rPr>
              <a:t>回归与分类</a:t>
            </a:r>
            <a:endParaRPr lang="en-US" altLang="zh-CN" sz="2800" dirty="0"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latin typeface="+mn-lt"/>
                <a:cs typeface="+mn-ea"/>
                <a:sym typeface="+mn-lt"/>
              </a:rPr>
              <a:t>人工神经网络</a:t>
            </a:r>
            <a:endParaRPr lang="en-US" altLang="zh-CN" sz="2800" dirty="0"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latin typeface="+mn-lt"/>
                <a:cs typeface="+mn-ea"/>
                <a:sym typeface="+mn-lt"/>
              </a:rPr>
              <a:t>集成学习</a:t>
            </a:r>
            <a:endParaRPr lang="en-US" altLang="zh-CN" sz="2800" dirty="0">
              <a:latin typeface="+mn-lt"/>
              <a:cs typeface="+mn-ea"/>
              <a:sym typeface="+mn-lt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37BE4113-8C32-4AE7-B84A-A81973FA2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+mn-lt"/>
                <a:ea typeface="+mn-ea"/>
                <a:cs typeface="+mn-ea"/>
                <a:sym typeface="+mn-lt"/>
              </a:rPr>
              <a:t>从示例中学习</a:t>
            </a:r>
            <a:endParaRPr lang="en-US" altLang="zh-CN" sz="4000" dirty="0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83296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60400" y="1397000"/>
            <a:ext cx="10718800" cy="4729163"/>
          </a:xfrm>
        </p:spPr>
        <p:txBody>
          <a:bodyPr/>
          <a:lstStyle/>
          <a:p>
            <a:r>
              <a:rPr lang="en-US" altLang="zh-CN" sz="2800" dirty="0" err="1">
                <a:latin typeface="+mn-lt"/>
                <a:cs typeface="+mn-ea"/>
                <a:sym typeface="+mn-lt"/>
              </a:rPr>
              <a:t>学习形式</a:t>
            </a:r>
            <a:endParaRPr lang="en-US" altLang="zh-CN" sz="2800" dirty="0"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决策树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回归与分类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人工神经网络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集成学习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2085AD78-76B4-4E2D-BCFC-828B6A89C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+mn-lt"/>
                <a:ea typeface="+mn-ea"/>
                <a:cs typeface="+mn-ea"/>
                <a:sym typeface="+mn-lt"/>
              </a:rPr>
              <a:t>从示例中学习</a:t>
            </a:r>
            <a:endParaRPr lang="en-US" altLang="zh-CN" sz="4000" dirty="0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16439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1C269B31-7C20-4FDF-8B34-72A700038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内容占位符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5520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62200" y="5316"/>
            <a:ext cx="7417703" cy="6852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25337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学习的定义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60400" y="1397000"/>
            <a:ext cx="10718800" cy="4729163"/>
          </a:xfrm>
        </p:spPr>
        <p:txBody>
          <a:bodyPr/>
          <a:lstStyle/>
          <a:p>
            <a:r>
              <a:rPr lang="zh-CN" altLang="en-US" dirty="0">
                <a:latin typeface="+mn-lt"/>
                <a:cs typeface="+mn-ea"/>
                <a:sym typeface="+mn-lt"/>
              </a:rPr>
              <a:t>麻省理工学院：</a:t>
            </a:r>
            <a:endParaRPr lang="en-US" altLang="zh-CN" dirty="0">
              <a:latin typeface="+mn-lt"/>
              <a:cs typeface="+mn-ea"/>
              <a:sym typeface="+mn-lt"/>
            </a:endParaRPr>
          </a:p>
          <a:p>
            <a:pPr lvl="1"/>
            <a:r>
              <a:rPr lang="en-US" altLang="zh-CN" dirty="0">
                <a:latin typeface="+mn-lt"/>
                <a:cs typeface="+mn-ea"/>
                <a:sym typeface="+mn-lt"/>
              </a:rPr>
              <a:t>Machine-learning algorithms </a:t>
            </a:r>
            <a:r>
              <a:rPr lang="en-US" altLang="zh-CN" dirty="0">
                <a:solidFill>
                  <a:srgbClr val="FF0000"/>
                </a:solidFill>
                <a:latin typeface="+mn-lt"/>
                <a:cs typeface="+mn-ea"/>
                <a:sym typeface="+mn-lt"/>
              </a:rPr>
              <a:t>find</a:t>
            </a:r>
            <a:r>
              <a:rPr lang="en-US" altLang="zh-CN" dirty="0">
                <a:latin typeface="+mn-lt"/>
                <a:cs typeface="+mn-ea"/>
                <a:sym typeface="+mn-lt"/>
              </a:rPr>
              <a:t> and </a:t>
            </a:r>
            <a:r>
              <a:rPr lang="en-US" altLang="zh-CN" dirty="0">
                <a:solidFill>
                  <a:srgbClr val="FF0000"/>
                </a:solidFill>
                <a:latin typeface="+mn-lt"/>
                <a:cs typeface="+mn-ea"/>
                <a:sym typeface="+mn-lt"/>
              </a:rPr>
              <a:t>apply</a:t>
            </a:r>
            <a:r>
              <a:rPr lang="en-US" altLang="zh-CN" dirty="0">
                <a:latin typeface="+mn-lt"/>
                <a:cs typeface="+mn-ea"/>
                <a:sym typeface="+mn-lt"/>
              </a:rPr>
              <a:t> patterns in data. And they pretty much run the world.</a:t>
            </a:r>
          </a:p>
          <a:p>
            <a:pPr marL="0" indent="0">
              <a:buNone/>
            </a:pPr>
            <a:endParaRPr lang="en-US" altLang="zh-CN" dirty="0">
              <a:latin typeface="+mn-lt"/>
              <a:cs typeface="+mn-ea"/>
              <a:sym typeface="+mn-lt"/>
            </a:endParaRPr>
          </a:p>
          <a:p>
            <a:r>
              <a:rPr lang="en-US" altLang="zh-CN" dirty="0" err="1">
                <a:latin typeface="+mn-lt"/>
                <a:cs typeface="+mn-ea"/>
                <a:sym typeface="+mn-lt"/>
              </a:rPr>
              <a:t>GeeksforGeeks</a:t>
            </a:r>
            <a:r>
              <a:rPr lang="zh-CN" altLang="en-US" dirty="0">
                <a:latin typeface="+mn-lt"/>
                <a:cs typeface="+mn-ea"/>
                <a:sym typeface="+mn-lt"/>
              </a:rPr>
              <a:t>：</a:t>
            </a:r>
            <a:endParaRPr lang="en-US" altLang="zh-CN" dirty="0">
              <a:latin typeface="+mn-lt"/>
              <a:cs typeface="+mn-ea"/>
              <a:sym typeface="+mn-lt"/>
            </a:endParaRPr>
          </a:p>
          <a:p>
            <a:pPr lvl="1"/>
            <a:r>
              <a:rPr lang="en-US" altLang="zh-CN" dirty="0">
                <a:latin typeface="+mn-lt"/>
                <a:cs typeface="+mn-ea"/>
                <a:sym typeface="+mn-lt"/>
              </a:rPr>
              <a:t>Machine Learning is the field of study that gives computers the </a:t>
            </a:r>
            <a:r>
              <a:rPr lang="en-US" altLang="zh-CN" dirty="0">
                <a:solidFill>
                  <a:srgbClr val="FF0000"/>
                </a:solidFill>
                <a:latin typeface="+mn-lt"/>
                <a:cs typeface="+mn-ea"/>
                <a:sym typeface="+mn-lt"/>
              </a:rPr>
              <a:t>capability</a:t>
            </a:r>
            <a:r>
              <a:rPr lang="en-US" altLang="zh-CN" dirty="0">
                <a:latin typeface="+mn-lt"/>
                <a:cs typeface="+mn-ea"/>
                <a:sym typeface="+mn-lt"/>
              </a:rPr>
              <a:t> to learn </a:t>
            </a:r>
            <a:r>
              <a:rPr lang="en-US" altLang="zh-CN" dirty="0">
                <a:solidFill>
                  <a:srgbClr val="FF0000"/>
                </a:solidFill>
                <a:latin typeface="+mn-lt"/>
                <a:cs typeface="+mn-ea"/>
                <a:sym typeface="+mn-lt"/>
              </a:rPr>
              <a:t>without</a:t>
            </a:r>
            <a:r>
              <a:rPr lang="en-US" altLang="zh-CN" dirty="0">
                <a:latin typeface="+mn-lt"/>
                <a:cs typeface="+mn-ea"/>
                <a:sym typeface="+mn-lt"/>
              </a:rPr>
              <a:t> being </a:t>
            </a:r>
            <a:r>
              <a:rPr lang="en-US" altLang="zh-CN" dirty="0">
                <a:solidFill>
                  <a:srgbClr val="FF0000"/>
                </a:solidFill>
                <a:latin typeface="+mn-lt"/>
                <a:cs typeface="+mn-ea"/>
                <a:sym typeface="+mn-lt"/>
              </a:rPr>
              <a:t>explicitly</a:t>
            </a:r>
            <a:r>
              <a:rPr lang="en-US" altLang="zh-CN" dirty="0">
                <a:latin typeface="+mn-lt"/>
                <a:cs typeface="+mn-ea"/>
                <a:sym typeface="+mn-lt"/>
              </a:rPr>
              <a:t> programmed. </a:t>
            </a:r>
          </a:p>
          <a:p>
            <a:pPr lvl="1"/>
            <a:endParaRPr lang="en-US" altLang="zh-CN" dirty="0">
              <a:latin typeface="+mn-lt"/>
              <a:cs typeface="+mn-ea"/>
              <a:sym typeface="+mn-lt"/>
            </a:endParaRPr>
          </a:p>
          <a:p>
            <a:endParaRPr lang="en-US" altLang="zh-CN" dirty="0">
              <a:latin typeface="+mn-lt"/>
              <a:cs typeface="+mn-ea"/>
              <a:sym typeface="+mn-lt"/>
            </a:endParaRPr>
          </a:p>
          <a:p>
            <a:pPr lvl="1"/>
            <a:endParaRPr lang="en-US" altLang="zh-CN" dirty="0">
              <a:latin typeface="+mn-lt"/>
              <a:cs typeface="+mn-ea"/>
              <a:sym typeface="+mn-lt"/>
            </a:endParaRPr>
          </a:p>
          <a:p>
            <a:endParaRPr lang="zh-CN" altLang="en-US" dirty="0">
              <a:latin typeface="+mn-lt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45472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 err="1">
                <a:latin typeface="+mn-lt"/>
                <a:ea typeface="+mn-ea"/>
                <a:cs typeface="+mn-ea"/>
                <a:sym typeface="+mn-lt"/>
              </a:rPr>
              <a:t>发展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60400" y="1397000"/>
            <a:ext cx="10718800" cy="4729163"/>
          </a:xfrm>
        </p:spPr>
        <p:txBody>
          <a:bodyPr>
            <a:normAutofit lnSpcReduction="10000"/>
          </a:bodyPr>
          <a:lstStyle/>
          <a:p>
            <a:r>
              <a:rPr kumimoji="1" lang="en-US" altLang="zh-CN" dirty="0">
                <a:latin typeface="+mn-lt"/>
                <a:cs typeface="+mn-ea"/>
                <a:sym typeface="+mn-lt"/>
              </a:rPr>
              <a:t>1950s</a:t>
            </a:r>
            <a:r>
              <a:rPr kumimoji="1" lang="zh-CN" altLang="en-US" dirty="0">
                <a:latin typeface="+mn-lt"/>
                <a:cs typeface="+mn-ea"/>
                <a:sym typeface="+mn-lt"/>
              </a:rPr>
              <a:t>：</a:t>
            </a:r>
            <a:r>
              <a:rPr kumimoji="1" lang="en-US" altLang="zh-CN" sz="2800" dirty="0" err="1">
                <a:latin typeface="+mn-lt"/>
                <a:cs typeface="+mn-ea"/>
                <a:sym typeface="+mn-lt"/>
              </a:rPr>
              <a:t>神经科学理论</a:t>
            </a:r>
            <a:endParaRPr kumimoji="1" lang="en-US" altLang="zh-CN" dirty="0">
              <a:latin typeface="+mn-lt"/>
              <a:cs typeface="+mn-ea"/>
              <a:sym typeface="+mn-lt"/>
            </a:endParaRPr>
          </a:p>
          <a:p>
            <a:pPr lvl="1"/>
            <a:r>
              <a:rPr kumimoji="1" lang="en-US" altLang="zh-CN" dirty="0">
                <a:latin typeface="+mn-lt"/>
                <a:cs typeface="+mn-ea"/>
                <a:sym typeface="+mn-lt"/>
              </a:rPr>
              <a:t>James, </a:t>
            </a:r>
            <a:r>
              <a:rPr kumimoji="1" lang="en-US" altLang="zh-CN" sz="2400" dirty="0" err="1">
                <a:latin typeface="+mn-lt"/>
                <a:cs typeface="+mn-ea"/>
                <a:sym typeface="+mn-lt"/>
              </a:rPr>
              <a:t>神经元连接</a:t>
            </a:r>
            <a:endParaRPr kumimoji="1" lang="en-US" altLang="zh-CN" dirty="0">
              <a:latin typeface="+mn-lt"/>
              <a:cs typeface="+mn-ea"/>
              <a:sym typeface="+mn-lt"/>
            </a:endParaRPr>
          </a:p>
          <a:p>
            <a:pPr lvl="1"/>
            <a:r>
              <a:rPr kumimoji="1" lang="en-US" altLang="zh-CN" dirty="0" err="1">
                <a:latin typeface="+mn-lt"/>
                <a:cs typeface="+mn-ea"/>
                <a:sym typeface="+mn-lt"/>
              </a:rPr>
              <a:t>McCullon</a:t>
            </a:r>
            <a:r>
              <a:rPr kumimoji="1" lang="en-US" altLang="zh-CN" dirty="0">
                <a:latin typeface="+mn-lt"/>
                <a:cs typeface="+mn-ea"/>
                <a:sym typeface="+mn-lt"/>
              </a:rPr>
              <a:t> &amp; Pitts, </a:t>
            </a:r>
            <a:r>
              <a:rPr kumimoji="1" lang="en-US" altLang="zh-CN" sz="2400" dirty="0" err="1">
                <a:latin typeface="+mn-lt"/>
                <a:cs typeface="+mn-ea"/>
                <a:sym typeface="+mn-lt"/>
              </a:rPr>
              <a:t>神经元模型</a:t>
            </a:r>
            <a:endParaRPr kumimoji="1" lang="en-US" altLang="zh-CN" dirty="0">
              <a:latin typeface="+mn-lt"/>
              <a:cs typeface="+mn-ea"/>
              <a:sym typeface="+mn-lt"/>
            </a:endParaRPr>
          </a:p>
          <a:p>
            <a:pPr marL="457176" lvl="1" indent="0">
              <a:buNone/>
            </a:pPr>
            <a:endParaRPr kumimoji="1" lang="en-US" altLang="zh-CN" dirty="0">
              <a:latin typeface="+mn-lt"/>
              <a:cs typeface="+mn-ea"/>
              <a:sym typeface="+mn-lt"/>
            </a:endParaRPr>
          </a:p>
          <a:p>
            <a:r>
              <a:rPr kumimoji="1" lang="en-US" altLang="zh-CN" dirty="0">
                <a:latin typeface="+mn-lt"/>
                <a:cs typeface="+mn-ea"/>
                <a:sym typeface="+mn-lt"/>
              </a:rPr>
              <a:t>1960s</a:t>
            </a:r>
            <a:r>
              <a:rPr kumimoji="1" lang="zh-CN" altLang="en-US" dirty="0">
                <a:latin typeface="+mn-lt"/>
                <a:cs typeface="+mn-ea"/>
                <a:sym typeface="+mn-lt"/>
              </a:rPr>
              <a:t>：感知器</a:t>
            </a:r>
            <a:endParaRPr kumimoji="1" lang="en-US" altLang="zh-CN" dirty="0">
              <a:latin typeface="+mn-lt"/>
              <a:cs typeface="+mn-ea"/>
              <a:sym typeface="+mn-lt"/>
            </a:endParaRPr>
          </a:p>
          <a:p>
            <a:pPr lvl="1"/>
            <a:r>
              <a:rPr kumimoji="1" lang="en-US" altLang="zh-CN" dirty="0">
                <a:latin typeface="+mn-lt"/>
                <a:cs typeface="+mn-ea"/>
                <a:sym typeface="+mn-lt"/>
              </a:rPr>
              <a:t>1957, Rosenblatt</a:t>
            </a:r>
            <a:endParaRPr kumimoji="1" lang="zh-CN" altLang="en-US" dirty="0">
              <a:latin typeface="+mn-lt"/>
              <a:cs typeface="+mn-ea"/>
              <a:sym typeface="+mn-lt"/>
            </a:endParaRPr>
          </a:p>
          <a:p>
            <a:endParaRPr kumimoji="1" lang="en-US" altLang="zh-CN" dirty="0">
              <a:latin typeface="+mn-lt"/>
              <a:cs typeface="+mn-ea"/>
              <a:sym typeface="+mn-lt"/>
            </a:endParaRPr>
          </a:p>
          <a:p>
            <a:r>
              <a:rPr kumimoji="1" lang="en-US" altLang="zh-CN" dirty="0">
                <a:latin typeface="+mn-lt"/>
                <a:cs typeface="+mn-ea"/>
                <a:sym typeface="+mn-lt"/>
              </a:rPr>
              <a:t>1960s-1970s</a:t>
            </a:r>
            <a:r>
              <a:rPr kumimoji="1" lang="zh-CN" altLang="en-US" dirty="0">
                <a:latin typeface="+mn-lt"/>
                <a:cs typeface="+mn-ea"/>
                <a:sym typeface="+mn-lt"/>
              </a:rPr>
              <a:t>：统计学习理论</a:t>
            </a:r>
            <a:endParaRPr kumimoji="1" lang="en-US" altLang="zh-CN" dirty="0">
              <a:latin typeface="+mn-lt"/>
              <a:cs typeface="+mn-ea"/>
              <a:sym typeface="+mn-lt"/>
            </a:endParaRPr>
          </a:p>
          <a:p>
            <a:r>
              <a:rPr kumimoji="1" lang="en-US" altLang="zh-CN" dirty="0">
                <a:latin typeface="+mn-lt"/>
                <a:cs typeface="+mn-ea"/>
                <a:sym typeface="+mn-lt"/>
              </a:rPr>
              <a:t>1980s</a:t>
            </a:r>
            <a:r>
              <a:rPr kumimoji="1" lang="zh-CN" altLang="en-US" dirty="0">
                <a:latin typeface="+mn-lt"/>
                <a:cs typeface="+mn-ea"/>
                <a:sym typeface="+mn-lt"/>
              </a:rPr>
              <a:t>：多层感知机 </a:t>
            </a:r>
            <a:r>
              <a:rPr kumimoji="1" lang="en-US" altLang="zh-CN" dirty="0">
                <a:latin typeface="+mn-lt"/>
                <a:cs typeface="+mn-ea"/>
                <a:sym typeface="+mn-lt"/>
              </a:rPr>
              <a:t>MLP+</a:t>
            </a:r>
            <a:r>
              <a:rPr kumimoji="1" lang="zh-CN" altLang="en-US" dirty="0">
                <a:latin typeface="+mn-lt"/>
                <a:cs typeface="+mn-ea"/>
                <a:sym typeface="+mn-lt"/>
              </a:rPr>
              <a:t>反向传播 </a:t>
            </a:r>
            <a:r>
              <a:rPr kumimoji="1" lang="en-US" altLang="zh-CN" dirty="0">
                <a:latin typeface="+mn-lt"/>
                <a:cs typeface="+mn-ea"/>
                <a:sym typeface="+mn-lt"/>
              </a:rPr>
              <a:t>BP, </a:t>
            </a:r>
            <a:r>
              <a:rPr kumimoji="1" lang="zh-CN" altLang="en-US" dirty="0">
                <a:latin typeface="+mn-lt"/>
                <a:cs typeface="+mn-ea"/>
                <a:sym typeface="+mn-lt"/>
              </a:rPr>
              <a:t>神经网络时代</a:t>
            </a:r>
            <a:endParaRPr kumimoji="1" lang="en-US" altLang="zh-CN" dirty="0">
              <a:latin typeface="+mn-lt"/>
              <a:cs typeface="+mn-ea"/>
              <a:sym typeface="+mn-lt"/>
            </a:endParaRPr>
          </a:p>
          <a:p>
            <a:endParaRPr kumimoji="1" lang="en-US" altLang="zh-CN" dirty="0">
              <a:latin typeface="+mn-lt"/>
              <a:cs typeface="+mn-ea"/>
              <a:sym typeface="+mn-lt"/>
            </a:endParaRPr>
          </a:p>
          <a:p>
            <a:pPr marL="457176" lvl="1" indent="0">
              <a:buNone/>
            </a:pPr>
            <a:r>
              <a:rPr kumimoji="1" lang="en-US" altLang="zh-CN" dirty="0">
                <a:latin typeface="+mn-lt"/>
                <a:cs typeface="+mn-ea"/>
                <a:sym typeface="+mn-lt"/>
              </a:rPr>
              <a:t> </a:t>
            </a:r>
          </a:p>
          <a:p>
            <a:endParaRPr lang="zh-CN" altLang="en-US" dirty="0">
              <a:latin typeface="+mn-lt"/>
              <a:cs typeface="+mn-ea"/>
              <a:sym typeface="+mn-lt"/>
            </a:endParaRPr>
          </a:p>
        </p:txBody>
      </p:sp>
      <p:pic>
        <p:nvPicPr>
          <p:cNvPr id="4" name="Picture 2" descr="http://upload-images.jianshu.io/upload_images/2256672-801d65e79bfc3162.png">
            <a:extLst>
              <a:ext uri="{FF2B5EF4-FFF2-40B4-BE49-F238E27FC236}">
                <a16:creationId xmlns:a16="http://schemas.microsoft.com/office/drawing/2014/main" id="{1015A5BE-AFB0-4E7D-B75F-8235D4BEC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0935" y="1397001"/>
            <a:ext cx="4921065" cy="3247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2219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 err="1">
                <a:latin typeface="+mn-lt"/>
                <a:ea typeface="+mn-ea"/>
                <a:cs typeface="+mn-ea"/>
                <a:sym typeface="+mn-lt"/>
              </a:rPr>
              <a:t>发展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60400" y="1397000"/>
            <a:ext cx="10718800" cy="4927600"/>
          </a:xfrm>
        </p:spPr>
        <p:txBody>
          <a:bodyPr>
            <a:normAutofit fontScale="92500" lnSpcReduction="10000"/>
          </a:bodyPr>
          <a:lstStyle/>
          <a:p>
            <a:r>
              <a:rPr kumimoji="1" lang="en-US" altLang="zh-CN" sz="3000" dirty="0">
                <a:latin typeface="+mn-lt"/>
                <a:cs typeface="+mn-ea"/>
                <a:sym typeface="+mn-lt"/>
              </a:rPr>
              <a:t>1990s</a:t>
            </a:r>
            <a:r>
              <a:rPr kumimoji="1" lang="zh-CN" altLang="en-US" sz="3000" dirty="0">
                <a:latin typeface="+mn-lt"/>
                <a:cs typeface="+mn-ea"/>
                <a:sym typeface="+mn-lt"/>
              </a:rPr>
              <a:t>：</a:t>
            </a:r>
            <a:r>
              <a:rPr kumimoji="1" lang="en-US" altLang="zh-CN" sz="3000" dirty="0">
                <a:latin typeface="+mn-lt"/>
                <a:cs typeface="+mn-ea"/>
                <a:sym typeface="+mn-lt"/>
              </a:rPr>
              <a:t> </a:t>
            </a:r>
            <a:r>
              <a:rPr kumimoji="1" lang="en-US" altLang="zh-CN" sz="3000" dirty="0" err="1">
                <a:latin typeface="+mn-lt"/>
                <a:cs typeface="+mn-ea"/>
                <a:sym typeface="+mn-lt"/>
              </a:rPr>
              <a:t>统计学习理论的发展</a:t>
            </a:r>
            <a:endParaRPr kumimoji="1" lang="en-US" altLang="zh-CN" sz="3000" dirty="0">
              <a:latin typeface="+mn-lt"/>
              <a:cs typeface="+mn-ea"/>
              <a:sym typeface="+mn-lt"/>
            </a:endParaRPr>
          </a:p>
          <a:p>
            <a:pPr lvl="1"/>
            <a:r>
              <a:rPr kumimoji="1" lang="en-US" altLang="zh-CN" sz="2400" dirty="0" err="1">
                <a:latin typeface="+mn-lt"/>
                <a:cs typeface="+mn-ea"/>
                <a:sym typeface="+mn-lt"/>
              </a:rPr>
              <a:t>支持向量机</a:t>
            </a:r>
            <a:r>
              <a:rPr kumimoji="1" lang="en-US" altLang="zh-CN" sz="2400" dirty="0">
                <a:latin typeface="+mn-lt"/>
                <a:cs typeface="+mn-ea"/>
                <a:sym typeface="+mn-lt"/>
              </a:rPr>
              <a:t> </a:t>
            </a:r>
            <a:r>
              <a:rPr kumimoji="1" lang="zh-CN" altLang="en-US" dirty="0">
                <a:latin typeface="+mn-lt"/>
                <a:cs typeface="+mn-ea"/>
                <a:sym typeface="+mn-lt"/>
              </a:rPr>
              <a:t>（</a:t>
            </a:r>
            <a:r>
              <a:rPr kumimoji="1" lang="en-US" altLang="zh-CN" dirty="0" err="1">
                <a:latin typeface="+mn-lt"/>
                <a:cs typeface="+mn-ea"/>
                <a:sym typeface="+mn-lt"/>
              </a:rPr>
              <a:t>Vapnik</a:t>
            </a:r>
            <a:r>
              <a:rPr kumimoji="1" lang="zh-CN" altLang="en-US" dirty="0">
                <a:latin typeface="+mn-lt"/>
                <a:cs typeface="+mn-ea"/>
                <a:sym typeface="+mn-lt"/>
              </a:rPr>
              <a:t>，</a:t>
            </a:r>
            <a:r>
              <a:rPr kumimoji="1" lang="en-US" altLang="zh-CN" dirty="0">
                <a:latin typeface="+mn-lt"/>
                <a:cs typeface="+mn-ea"/>
                <a:sym typeface="+mn-lt"/>
              </a:rPr>
              <a:t>Bell</a:t>
            </a:r>
            <a:r>
              <a:rPr kumimoji="1" lang="zh-CN" altLang="en-US" dirty="0">
                <a:latin typeface="+mn-lt"/>
                <a:cs typeface="+mn-ea"/>
                <a:sym typeface="+mn-lt"/>
              </a:rPr>
              <a:t> </a:t>
            </a:r>
            <a:r>
              <a:rPr kumimoji="1" lang="en-US" altLang="zh-CN" dirty="0">
                <a:latin typeface="+mn-lt"/>
                <a:cs typeface="+mn-ea"/>
                <a:sym typeface="+mn-lt"/>
              </a:rPr>
              <a:t>lab</a:t>
            </a:r>
            <a:r>
              <a:rPr kumimoji="1" lang="zh-CN" altLang="en-US" dirty="0">
                <a:latin typeface="+mn-lt"/>
                <a:cs typeface="+mn-ea"/>
                <a:sym typeface="+mn-lt"/>
              </a:rPr>
              <a:t>）</a:t>
            </a:r>
            <a:endParaRPr kumimoji="1" lang="en-US" altLang="zh-CN" dirty="0">
              <a:latin typeface="+mn-lt"/>
              <a:cs typeface="+mn-ea"/>
              <a:sym typeface="+mn-lt"/>
            </a:endParaRPr>
          </a:p>
          <a:p>
            <a:pPr lvl="1"/>
            <a:r>
              <a:rPr kumimoji="1" lang="zh-CN" altLang="en-US" dirty="0">
                <a:latin typeface="+mn-lt"/>
                <a:cs typeface="+mn-ea"/>
                <a:sym typeface="+mn-lt"/>
              </a:rPr>
              <a:t>内核函数，内核空间</a:t>
            </a:r>
          </a:p>
          <a:p>
            <a:r>
              <a:rPr kumimoji="1" lang="en-US" altLang="zh-CN" dirty="0">
                <a:latin typeface="+mn-lt"/>
                <a:cs typeface="+mn-ea"/>
                <a:sym typeface="+mn-lt"/>
              </a:rPr>
              <a:t>2000s</a:t>
            </a:r>
            <a:r>
              <a:rPr kumimoji="1" lang="zh-CN" altLang="en-US" dirty="0">
                <a:latin typeface="+mn-lt"/>
                <a:cs typeface="+mn-ea"/>
                <a:sym typeface="+mn-lt"/>
              </a:rPr>
              <a:t>：更多机器学习方法</a:t>
            </a:r>
            <a:endParaRPr kumimoji="1" lang="en-US" altLang="zh-CN" dirty="0">
              <a:latin typeface="+mn-lt"/>
              <a:cs typeface="+mn-ea"/>
              <a:sym typeface="+mn-lt"/>
            </a:endParaRPr>
          </a:p>
          <a:p>
            <a:pPr lvl="1"/>
            <a:r>
              <a:rPr kumimoji="1" lang="zh-CN" altLang="en-US" dirty="0">
                <a:latin typeface="+mn-lt"/>
                <a:cs typeface="+mn-ea"/>
                <a:sym typeface="+mn-lt"/>
              </a:rPr>
              <a:t>集成学习</a:t>
            </a:r>
          </a:p>
          <a:p>
            <a:pPr lvl="1"/>
            <a:r>
              <a:rPr kumimoji="1" lang="zh-CN" altLang="en-US" dirty="0">
                <a:latin typeface="+mn-lt"/>
                <a:cs typeface="+mn-ea"/>
                <a:sym typeface="+mn-lt"/>
              </a:rPr>
              <a:t>强化学习</a:t>
            </a:r>
          </a:p>
          <a:p>
            <a:r>
              <a:rPr kumimoji="1" lang="en-US" altLang="zh-CN" dirty="0">
                <a:latin typeface="+mn-lt"/>
                <a:cs typeface="+mn-ea"/>
                <a:sym typeface="+mn-lt"/>
              </a:rPr>
              <a:t>2012-pre</a:t>
            </a:r>
            <a:endParaRPr kumimoji="1" lang="zh-CN" altLang="en-US" dirty="0">
              <a:latin typeface="+mn-lt"/>
              <a:cs typeface="+mn-ea"/>
              <a:sym typeface="+mn-lt"/>
            </a:endParaRPr>
          </a:p>
          <a:p>
            <a:pPr lvl="1"/>
            <a:r>
              <a:rPr kumimoji="1" lang="en-US" altLang="zh-CN" sz="2400" dirty="0" err="1">
                <a:latin typeface="+mn-lt"/>
                <a:cs typeface="+mn-ea"/>
                <a:sym typeface="+mn-lt"/>
              </a:rPr>
              <a:t>深度学习</a:t>
            </a:r>
            <a:endParaRPr kumimoji="1" lang="en-US" altLang="zh-CN" sz="2400" dirty="0">
              <a:latin typeface="+mn-lt"/>
              <a:cs typeface="+mn-ea"/>
              <a:sym typeface="+mn-lt"/>
            </a:endParaRPr>
          </a:p>
          <a:p>
            <a:r>
              <a:rPr lang="en-US" altLang="zh-CN" dirty="0">
                <a:latin typeface="+mn-lt"/>
                <a:cs typeface="+mn-ea"/>
                <a:sym typeface="+mn-lt"/>
              </a:rPr>
              <a:t>2017-2021</a:t>
            </a:r>
          </a:p>
          <a:p>
            <a:pPr lvl="1"/>
            <a:r>
              <a:rPr kumimoji="1" lang="en-US" altLang="zh-CN" dirty="0">
                <a:latin typeface="+mn-lt"/>
                <a:cs typeface="+mn-ea"/>
                <a:sym typeface="+mn-lt"/>
              </a:rPr>
              <a:t>Transformer, BERT</a:t>
            </a:r>
          </a:p>
          <a:p>
            <a:r>
              <a:rPr lang="en-US" altLang="zh-CN" dirty="0">
                <a:latin typeface="+mn-lt"/>
                <a:cs typeface="+mn-ea"/>
                <a:sym typeface="+mn-lt"/>
              </a:rPr>
              <a:t>2021-pre</a:t>
            </a:r>
          </a:p>
          <a:p>
            <a:pPr lvl="1"/>
            <a:r>
              <a:rPr lang="en-US" altLang="zh-CN" dirty="0">
                <a:latin typeface="+mn-lt"/>
                <a:cs typeface="+mn-ea"/>
                <a:sym typeface="+mn-lt"/>
              </a:rPr>
              <a:t>GPT,AIGC</a:t>
            </a:r>
          </a:p>
          <a:p>
            <a:pPr lvl="1"/>
            <a:endParaRPr lang="en-US" altLang="zh-CN" dirty="0">
              <a:latin typeface="+mn-lt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58662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学习形式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60400" y="1397000"/>
            <a:ext cx="10718800" cy="4729163"/>
          </a:xfrm>
        </p:spPr>
        <p:txBody>
          <a:bodyPr/>
          <a:lstStyle/>
          <a:p>
            <a:r>
              <a:rPr lang="en-US" altLang="zh-CN" sz="2800" dirty="0">
                <a:latin typeface="+mn-lt"/>
                <a:cs typeface="+mn-ea"/>
                <a:sym typeface="+mn-lt"/>
              </a:rPr>
              <a:t>监督学习</a:t>
            </a:r>
          </a:p>
          <a:p>
            <a:r>
              <a:rPr lang="en-US" altLang="zh-CN" sz="2800" dirty="0">
                <a:latin typeface="+mn-lt"/>
                <a:cs typeface="+mn-ea"/>
                <a:sym typeface="+mn-lt"/>
              </a:rPr>
              <a:t>无监督学习</a:t>
            </a:r>
          </a:p>
          <a:p>
            <a:r>
              <a:rPr lang="en-US" altLang="zh-CN" sz="2800" dirty="0">
                <a:latin typeface="+mn-lt"/>
                <a:cs typeface="+mn-ea"/>
                <a:sym typeface="+mn-lt"/>
              </a:rPr>
              <a:t>半监督学习</a:t>
            </a:r>
          </a:p>
          <a:p>
            <a:r>
              <a:rPr lang="en-US" altLang="zh-CN" sz="2800" dirty="0">
                <a:latin typeface="+mn-lt"/>
                <a:cs typeface="+mn-ea"/>
                <a:sym typeface="+mn-lt"/>
              </a:rPr>
              <a:t>强化学习</a:t>
            </a:r>
          </a:p>
          <a:p>
            <a:r>
              <a:rPr lang="en-US" altLang="zh-CN" sz="2800" dirty="0">
                <a:latin typeface="+mn-lt"/>
                <a:cs typeface="+mn-ea"/>
                <a:sym typeface="+mn-lt"/>
              </a:rPr>
              <a:t>其他</a:t>
            </a:r>
            <a:endParaRPr lang="zh-CN" altLang="en-US" dirty="0">
              <a:latin typeface="+mn-lt"/>
              <a:cs typeface="+mn-ea"/>
              <a:sym typeface="+mn-lt"/>
            </a:endParaRPr>
          </a:p>
          <a:p>
            <a:endParaRPr lang="zh-CN" altLang="en-US" dirty="0">
              <a:latin typeface="+mn-lt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92617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监督学习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60399" y="1404937"/>
            <a:ext cx="10858501" cy="4729163"/>
          </a:xfrm>
        </p:spPr>
        <p:txBody>
          <a:bodyPr/>
          <a:lstStyle/>
          <a:p>
            <a:r>
              <a:rPr lang="zh-CN" altLang="en-US" dirty="0">
                <a:latin typeface="+mn-lt"/>
                <a:cs typeface="+mn-ea"/>
                <a:sym typeface="+mn-lt"/>
              </a:rPr>
              <a:t>训练数据带有标签</a:t>
            </a:r>
          </a:p>
          <a:p>
            <a:endParaRPr lang="zh-CN" altLang="en-US" dirty="0">
              <a:latin typeface="+mn-lt"/>
              <a:cs typeface="+mn-ea"/>
              <a:sym typeface="+mn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F88F4C4-94CB-4FF8-B1DB-3C433F585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2190" y="2286000"/>
            <a:ext cx="4647619" cy="40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113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监督学习</a:t>
            </a:r>
          </a:p>
        </p:txBody>
      </p:sp>
      <p:pic>
        <p:nvPicPr>
          <p:cNvPr id="4" name="内容占位符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1000" y="1538401"/>
            <a:ext cx="11353800" cy="42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25849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监督学习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60400" y="1397000"/>
            <a:ext cx="10718800" cy="4729163"/>
          </a:xfrm>
        </p:spPr>
        <p:txBody>
          <a:bodyPr/>
          <a:lstStyle/>
          <a:p>
            <a:r>
              <a:rPr lang="en-US" altLang="zh-CN" sz="2800" dirty="0" err="1">
                <a:latin typeface="+mn-lt"/>
                <a:cs typeface="+mn-ea"/>
                <a:sym typeface="+mn-lt"/>
              </a:rPr>
              <a:t>分类</a:t>
            </a:r>
            <a:r>
              <a:rPr lang="en-US" altLang="zh-CN" sz="2800" dirty="0">
                <a:latin typeface="+mn-lt"/>
                <a:cs typeface="+mn-ea"/>
                <a:sym typeface="+mn-lt"/>
              </a:rPr>
              <a:t> vs </a:t>
            </a:r>
            <a:r>
              <a:rPr lang="en-US" altLang="zh-CN" sz="2800" dirty="0" err="1">
                <a:latin typeface="+mn-lt"/>
                <a:cs typeface="+mn-ea"/>
                <a:sym typeface="+mn-lt"/>
              </a:rPr>
              <a:t>回归</a:t>
            </a:r>
            <a:endParaRPr lang="en-US" altLang="zh-CN" sz="2800" dirty="0">
              <a:latin typeface="+mn-lt"/>
              <a:cs typeface="+mn-ea"/>
              <a:sym typeface="+mn-lt"/>
            </a:endParaRPr>
          </a:p>
          <a:p>
            <a:pPr lvl="1"/>
            <a:r>
              <a:rPr lang="en-US" altLang="zh-CN" sz="2400" dirty="0" err="1">
                <a:latin typeface="+mn-lt"/>
                <a:cs typeface="+mn-ea"/>
                <a:sym typeface="+mn-lt"/>
              </a:rPr>
              <a:t>在</a:t>
            </a:r>
            <a:r>
              <a:rPr lang="en-US" altLang="zh-CN" sz="2400" dirty="0" err="1">
                <a:solidFill>
                  <a:srgbClr val="FF0000"/>
                </a:solidFill>
                <a:latin typeface="+mn-lt"/>
                <a:cs typeface="+mn-ea"/>
                <a:sym typeface="+mn-lt"/>
              </a:rPr>
              <a:t>分类</a:t>
            </a:r>
            <a:r>
              <a:rPr lang="en-US" altLang="zh-CN" sz="2400" dirty="0">
                <a:latin typeface="+mn-lt"/>
                <a:cs typeface="+mn-ea"/>
                <a:sym typeface="+mn-lt"/>
              </a:rPr>
              <a:t> </a:t>
            </a:r>
            <a:r>
              <a:rPr lang="en-US" altLang="zh-CN" sz="2400" dirty="0" err="1">
                <a:latin typeface="+mn-lt"/>
                <a:cs typeface="+mn-ea"/>
                <a:sym typeface="+mn-lt"/>
              </a:rPr>
              <a:t>因变量是分类变量</a:t>
            </a:r>
            <a:endParaRPr lang="en-US" altLang="zh-CN" sz="2400" dirty="0">
              <a:latin typeface="+mn-lt"/>
              <a:cs typeface="+mn-ea"/>
              <a:sym typeface="+mn-lt"/>
            </a:endParaRPr>
          </a:p>
          <a:p>
            <a:pPr lvl="1"/>
            <a:r>
              <a:rPr lang="en-US" altLang="zh-CN" sz="2400" dirty="0" err="1">
                <a:latin typeface="+mn-lt"/>
                <a:cs typeface="+mn-ea"/>
                <a:sym typeface="+mn-lt"/>
              </a:rPr>
              <a:t>在</a:t>
            </a:r>
            <a:r>
              <a:rPr lang="en-US" altLang="zh-CN" sz="2400" dirty="0" err="1">
                <a:solidFill>
                  <a:srgbClr val="FF0000"/>
                </a:solidFill>
                <a:latin typeface="+mn-lt"/>
                <a:cs typeface="+mn-ea"/>
                <a:sym typeface="+mn-lt"/>
              </a:rPr>
              <a:t>回归</a:t>
            </a:r>
            <a:r>
              <a:rPr lang="en-US" altLang="zh-CN" sz="2400" dirty="0">
                <a:latin typeface="+mn-lt"/>
                <a:cs typeface="+mn-ea"/>
                <a:sym typeface="+mn-lt"/>
              </a:rPr>
              <a:t> </a:t>
            </a:r>
            <a:r>
              <a:rPr lang="en-US" altLang="zh-CN" sz="2400" dirty="0" err="1">
                <a:latin typeface="+mn-lt"/>
                <a:cs typeface="+mn-ea"/>
                <a:sym typeface="+mn-lt"/>
              </a:rPr>
              <a:t>因变量是连续的</a:t>
            </a:r>
            <a:endParaRPr lang="zh-CN" altLang="en-US" dirty="0">
              <a:latin typeface="+mn-lt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2733966"/>
            <a:ext cx="6840914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276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监督学习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60400" y="1397000"/>
            <a:ext cx="10718800" cy="4729163"/>
          </a:xfrm>
        </p:spPr>
        <p:txBody>
          <a:bodyPr/>
          <a:lstStyle/>
          <a:p>
            <a:r>
              <a:rPr kumimoji="1" lang="en-US" altLang="zh-CN" sz="2800" dirty="0" err="1">
                <a:latin typeface="+mn-lt"/>
                <a:cs typeface="+mn-ea"/>
                <a:sym typeface="+mn-lt"/>
              </a:rPr>
              <a:t>监督学习方法</a:t>
            </a:r>
            <a:endParaRPr kumimoji="1" lang="en-US" altLang="zh-CN" sz="2800" dirty="0">
              <a:latin typeface="+mn-lt"/>
              <a:cs typeface="+mn-ea"/>
              <a:sym typeface="+mn-lt"/>
            </a:endParaRPr>
          </a:p>
          <a:p>
            <a:pPr lvl="1"/>
            <a:r>
              <a:rPr kumimoji="1" lang="en-US" altLang="zh-CN" sz="2400" dirty="0" err="1">
                <a:latin typeface="+mn-lt"/>
                <a:cs typeface="+mn-ea"/>
                <a:sym typeface="+mn-lt"/>
              </a:rPr>
              <a:t>决策树</a:t>
            </a:r>
            <a:endParaRPr kumimoji="1" lang="en-US" altLang="zh-CN" sz="2400" dirty="0">
              <a:latin typeface="+mn-lt"/>
              <a:cs typeface="+mn-ea"/>
              <a:sym typeface="+mn-lt"/>
            </a:endParaRPr>
          </a:p>
          <a:p>
            <a:pPr lvl="1"/>
            <a:r>
              <a:rPr kumimoji="1" lang="en-US" altLang="zh-CN" sz="2400" dirty="0" err="1">
                <a:latin typeface="+mn-lt"/>
                <a:cs typeface="+mn-ea"/>
                <a:sym typeface="+mn-lt"/>
              </a:rPr>
              <a:t>支持向量机（SVM</a:t>
            </a:r>
            <a:r>
              <a:rPr kumimoji="1" lang="en-US" altLang="zh-CN" sz="2400" dirty="0">
                <a:latin typeface="+mn-lt"/>
                <a:cs typeface="+mn-ea"/>
                <a:sym typeface="+mn-lt"/>
              </a:rPr>
              <a:t>）</a:t>
            </a:r>
          </a:p>
          <a:p>
            <a:pPr lvl="1"/>
            <a:r>
              <a:rPr kumimoji="1" lang="en-US" altLang="zh-CN" sz="2400" dirty="0" err="1">
                <a:latin typeface="+mn-lt"/>
                <a:cs typeface="+mn-ea"/>
                <a:sym typeface="+mn-lt"/>
              </a:rPr>
              <a:t>神经网络</a:t>
            </a:r>
            <a:endParaRPr kumimoji="1" lang="en-US" altLang="zh-CN" sz="2400" dirty="0">
              <a:latin typeface="+mn-lt"/>
              <a:cs typeface="+mn-ea"/>
              <a:sym typeface="+mn-lt"/>
            </a:endParaRPr>
          </a:p>
          <a:p>
            <a:pPr marL="457176" lvl="1" indent="0">
              <a:buNone/>
            </a:pPr>
            <a:r>
              <a:rPr kumimoji="1" lang="en-US" altLang="zh-CN" dirty="0">
                <a:latin typeface="+mn-lt"/>
                <a:cs typeface="+mn-ea"/>
                <a:sym typeface="+mn-lt"/>
              </a:rPr>
              <a:t> </a:t>
            </a:r>
          </a:p>
          <a:p>
            <a:pPr lvl="1"/>
            <a:endParaRPr kumimoji="1" lang="en-US" altLang="zh-CN" dirty="0">
              <a:latin typeface="+mn-lt"/>
              <a:cs typeface="+mn-ea"/>
              <a:sym typeface="+mn-lt"/>
            </a:endParaRPr>
          </a:p>
          <a:p>
            <a:pPr lvl="1"/>
            <a:endParaRPr kumimoji="1" lang="en-US" altLang="zh-CN" dirty="0">
              <a:latin typeface="+mn-lt"/>
              <a:cs typeface="+mn-ea"/>
              <a:sym typeface="+mn-lt"/>
            </a:endParaRPr>
          </a:p>
          <a:p>
            <a:endParaRPr lang="zh-CN" altLang="en-US" dirty="0">
              <a:latin typeface="+mn-lt"/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226" y="2286000"/>
            <a:ext cx="5458773" cy="4572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3886200"/>
            <a:ext cx="4712969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4814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 err="1">
                <a:latin typeface="+mn-lt"/>
                <a:ea typeface="+mn-ea"/>
                <a:cs typeface="+mn-ea"/>
                <a:sym typeface="+mn-lt"/>
              </a:rPr>
              <a:t>无监督学习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60400" y="1397000"/>
            <a:ext cx="10718800" cy="4729163"/>
          </a:xfrm>
        </p:spPr>
        <p:txBody>
          <a:bodyPr/>
          <a:lstStyle/>
          <a:p>
            <a:r>
              <a:rPr lang="en-US" altLang="zh-CN" sz="2800" dirty="0" err="1">
                <a:latin typeface="+mn-lt"/>
                <a:cs typeface="+mn-ea"/>
                <a:sym typeface="+mn-lt"/>
              </a:rPr>
              <a:t>数据没有标签</a:t>
            </a:r>
            <a:endParaRPr lang="en-US" altLang="zh-CN" sz="2800" dirty="0"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latin typeface="+mn-lt"/>
                <a:cs typeface="+mn-ea"/>
                <a:sym typeface="+mn-lt"/>
              </a:rPr>
              <a:t>聚类</a:t>
            </a:r>
            <a:endParaRPr lang="en-US" altLang="zh-CN" sz="2800" dirty="0">
              <a:latin typeface="+mn-lt"/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0" y="2514600"/>
            <a:ext cx="11277677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630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DF0D2D4-1316-4C7A-BD35-2DF62B8CF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75"/>
            <a:ext cx="11525250" cy="6858000"/>
          </a:xfrm>
        </p:spPr>
      </p:pic>
    </p:spTree>
    <p:extLst>
      <p:ext uri="{BB962C8B-B14F-4D97-AF65-F5344CB8AC3E}">
        <p14:creationId xmlns:p14="http://schemas.microsoft.com/office/powerpoint/2010/main" val="33439152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 err="1">
                <a:latin typeface="+mn-lt"/>
                <a:ea typeface="+mn-ea"/>
                <a:cs typeface="+mn-ea"/>
                <a:sym typeface="+mn-lt"/>
              </a:rPr>
              <a:t>无监督学习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内容占位符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2018" y="1117600"/>
            <a:ext cx="11433456" cy="574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849354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半监督学习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60400" y="1397000"/>
            <a:ext cx="10718800" cy="4729163"/>
          </a:xfrm>
        </p:spPr>
        <p:txBody>
          <a:bodyPr/>
          <a:lstStyle/>
          <a:p>
            <a:r>
              <a:rPr lang="en-US" altLang="zh-CN" sz="2800" dirty="0" err="1">
                <a:latin typeface="+mn-lt"/>
                <a:cs typeface="+mn-ea"/>
                <a:sym typeface="+mn-lt"/>
              </a:rPr>
              <a:t>一些数据有标签，一些数据没有标签</a:t>
            </a:r>
            <a:endParaRPr lang="zh-CN" altLang="en-US" dirty="0">
              <a:latin typeface="+mn-lt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1903564"/>
            <a:ext cx="8881902" cy="495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9877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强化学习</a:t>
            </a:r>
          </a:p>
        </p:txBody>
      </p:sp>
      <p:pic>
        <p:nvPicPr>
          <p:cNvPr id="4" name="内容占位符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95600" y="1154814"/>
            <a:ext cx="5867400" cy="5673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77346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 err="1">
                <a:latin typeface="+mn-lt"/>
                <a:ea typeface="+mn-ea"/>
                <a:cs typeface="+mn-ea"/>
                <a:sym typeface="+mn-lt"/>
              </a:rPr>
              <a:t>一些重要的事情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874" y="1117600"/>
            <a:ext cx="9958926" cy="57404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936544" y="1168401"/>
            <a:ext cx="87630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962944" y="3418683"/>
            <a:ext cx="2152856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218716" y="5806282"/>
            <a:ext cx="1643084" cy="8231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984367" y="5995916"/>
            <a:ext cx="2152856" cy="8231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36344" y="5361890"/>
            <a:ext cx="533223" cy="11651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136344" y="1117600"/>
            <a:ext cx="541110" cy="1625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579979" y="1379373"/>
            <a:ext cx="1354550" cy="10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813800" y="3507583"/>
            <a:ext cx="2007034" cy="6199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881826" y="5595148"/>
            <a:ext cx="2007034" cy="6248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矩形 14"/>
          <p:cNvSpPr/>
          <p:nvPr/>
        </p:nvSpPr>
        <p:spPr>
          <a:xfrm flipH="1">
            <a:off x="3725457" y="1287722"/>
            <a:ext cx="547546" cy="1455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 flipH="1">
            <a:off x="9880600" y="5484520"/>
            <a:ext cx="547546" cy="8260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967992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 err="1">
                <a:latin typeface="+mn-lt"/>
                <a:ea typeface="+mn-ea"/>
                <a:cs typeface="+mn-ea"/>
                <a:sym typeface="+mn-lt"/>
              </a:rPr>
              <a:t>一些重要的事情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内容占位符 8"/>
          <p:cNvSpPr>
            <a:spLocks noGrp="1"/>
          </p:cNvSpPr>
          <p:nvPr>
            <p:ph idx="4294967295"/>
          </p:nvPr>
        </p:nvSpPr>
        <p:spPr>
          <a:xfrm>
            <a:off x="660400" y="1397000"/>
            <a:ext cx="10718800" cy="4729163"/>
          </a:xfrm>
        </p:spPr>
        <p:txBody>
          <a:bodyPr/>
          <a:lstStyle/>
          <a:p>
            <a:r>
              <a:rPr lang="zh-CN" altLang="en-US" dirty="0">
                <a:latin typeface="+mn-lt"/>
                <a:cs typeface="+mn-ea"/>
                <a:sym typeface="+mn-lt"/>
              </a:rPr>
              <a:t>泛化</a:t>
            </a:r>
            <a:endParaRPr lang="en-US" altLang="zh-CN" dirty="0">
              <a:latin typeface="+mn-lt"/>
              <a:cs typeface="+mn-ea"/>
              <a:sym typeface="+mn-lt"/>
            </a:endParaRPr>
          </a:p>
          <a:p>
            <a:r>
              <a:rPr lang="zh-CN" altLang="en-US" dirty="0">
                <a:latin typeface="+mn-lt"/>
                <a:cs typeface="+mn-ea"/>
                <a:sym typeface="+mn-lt"/>
              </a:rPr>
              <a:t>过拟合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544334"/>
            <a:ext cx="7962260" cy="486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6233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自学</a:t>
            </a:r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材料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60400" y="1397000"/>
            <a:ext cx="10718800" cy="4729163"/>
          </a:xfrm>
        </p:spPr>
        <p:txBody>
          <a:bodyPr/>
          <a:lstStyle/>
          <a:p>
            <a:r>
              <a:rPr lang="zh-CN" altLang="en-US" b="1" dirty="0">
                <a:latin typeface="+mn-lt"/>
                <a:cs typeface="+mn-ea"/>
                <a:sym typeface="+mn-lt"/>
              </a:rPr>
              <a:t>机器学习 </a:t>
            </a:r>
            <a:r>
              <a:rPr lang="en-US" altLang="zh-CN" b="1" dirty="0">
                <a:latin typeface="+mn-lt"/>
                <a:cs typeface="+mn-ea"/>
                <a:sym typeface="+mn-lt"/>
              </a:rPr>
              <a:t>Machine Learning</a:t>
            </a:r>
            <a:endParaRPr lang="en-US" altLang="zh-CN" dirty="0">
              <a:latin typeface="+mn-lt"/>
              <a:cs typeface="+mn-ea"/>
              <a:sym typeface="+mn-lt"/>
            </a:endParaRPr>
          </a:p>
          <a:p>
            <a:r>
              <a:rPr lang="zh-CN" altLang="en-US" b="1" dirty="0">
                <a:latin typeface="+mn-lt"/>
                <a:cs typeface="+mn-ea"/>
                <a:sym typeface="+mn-lt"/>
              </a:rPr>
              <a:t>吴恩达 </a:t>
            </a:r>
            <a:r>
              <a:rPr lang="en-US" altLang="zh-CN" b="1" dirty="0">
                <a:latin typeface="+mn-lt"/>
                <a:cs typeface="+mn-ea"/>
                <a:sym typeface="+mn-lt"/>
              </a:rPr>
              <a:t>Andrew Ng, </a:t>
            </a:r>
            <a:r>
              <a:rPr lang="en-US" altLang="zh-CN" dirty="0">
                <a:latin typeface="+mn-lt"/>
                <a:cs typeface="+mn-ea"/>
                <a:sym typeface="+mn-lt"/>
              </a:rPr>
              <a:t>Stanford University</a:t>
            </a:r>
            <a:endParaRPr lang="en-US" altLang="zh-CN" b="1" dirty="0">
              <a:latin typeface="+mn-lt"/>
              <a:cs typeface="+mn-ea"/>
              <a:sym typeface="+mn-lt"/>
            </a:endParaRPr>
          </a:p>
          <a:p>
            <a:endParaRPr lang="zh-CN" altLang="en-US" dirty="0">
              <a:latin typeface="+mn-lt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060" y="1565350"/>
            <a:ext cx="3592314" cy="19398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905" y="3505200"/>
            <a:ext cx="11676190" cy="30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6847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60400" y="1397000"/>
            <a:ext cx="10718800" cy="4729163"/>
          </a:xfrm>
        </p:spPr>
        <p:txBody>
          <a:bodyPr/>
          <a:lstStyle/>
          <a:p>
            <a:r>
              <a:rPr lang="en-US" altLang="zh-CN" sz="2800" dirty="0" err="1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学习形式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latin typeface="+mn-lt"/>
                <a:cs typeface="+mn-ea"/>
                <a:sym typeface="+mn-lt"/>
              </a:rPr>
              <a:t>决策树</a:t>
            </a:r>
            <a:endParaRPr lang="en-US" altLang="zh-CN" sz="2800" dirty="0"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回归与分类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人工神经网络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集成学习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7C475946-CC2B-4C3C-90F7-CDEB2C6CA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613" y="238125"/>
            <a:ext cx="8169275" cy="790575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+mn-lt"/>
                <a:ea typeface="+mn-ea"/>
                <a:cs typeface="+mn-ea"/>
                <a:sym typeface="+mn-lt"/>
              </a:rPr>
              <a:t>从示例中学习</a:t>
            </a:r>
            <a:endParaRPr lang="en-US" altLang="zh-CN" sz="4000" dirty="0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507909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决策树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60400" y="1397000"/>
            <a:ext cx="10718800" cy="4729163"/>
          </a:xfrm>
        </p:spPr>
        <p:txBody>
          <a:bodyPr/>
          <a:lstStyle/>
          <a:p>
            <a:r>
              <a:rPr lang="en-US" altLang="zh-CN" sz="2800" dirty="0" err="1">
                <a:latin typeface="+mn-lt"/>
                <a:cs typeface="+mn-ea"/>
                <a:sym typeface="+mn-lt"/>
              </a:rPr>
              <a:t>输入</a:t>
            </a:r>
            <a:endParaRPr lang="en-US" altLang="zh-CN" sz="2800" dirty="0">
              <a:latin typeface="+mn-lt"/>
              <a:cs typeface="+mn-ea"/>
              <a:sym typeface="+mn-lt"/>
            </a:endParaRPr>
          </a:p>
          <a:p>
            <a:pPr lvl="1"/>
            <a:r>
              <a:rPr lang="en-US" altLang="zh-CN" sz="2400" dirty="0" err="1">
                <a:latin typeface="+mn-lt"/>
                <a:cs typeface="+mn-ea"/>
                <a:sym typeface="+mn-lt"/>
              </a:rPr>
              <a:t>属性值</a:t>
            </a:r>
            <a:endParaRPr lang="en-US" altLang="zh-CN" sz="2400" dirty="0">
              <a:latin typeface="+mn-lt"/>
              <a:cs typeface="+mn-ea"/>
              <a:sym typeface="+mn-lt"/>
            </a:endParaRPr>
          </a:p>
          <a:p>
            <a:pPr lvl="1"/>
            <a:r>
              <a:rPr lang="en-US" altLang="zh-CN" sz="2400" dirty="0" err="1">
                <a:latin typeface="+mn-lt"/>
                <a:cs typeface="+mn-ea"/>
                <a:sym typeface="+mn-lt"/>
              </a:rPr>
              <a:t>例如，离散值</a:t>
            </a:r>
            <a:endParaRPr lang="en-US" altLang="zh-CN" sz="2400" dirty="0"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latin typeface="+mn-lt"/>
                <a:cs typeface="+mn-ea"/>
                <a:sym typeface="+mn-lt"/>
              </a:rPr>
              <a:t>输出</a:t>
            </a:r>
            <a:endParaRPr lang="en-US" altLang="zh-CN" sz="2800" dirty="0">
              <a:latin typeface="+mn-lt"/>
              <a:cs typeface="+mn-ea"/>
              <a:sym typeface="+mn-lt"/>
            </a:endParaRPr>
          </a:p>
          <a:p>
            <a:pPr lvl="1"/>
            <a:r>
              <a:rPr lang="en-US" altLang="zh-CN" sz="2400" dirty="0" err="1">
                <a:latin typeface="+mn-lt"/>
                <a:cs typeface="+mn-ea"/>
                <a:sym typeface="+mn-lt"/>
              </a:rPr>
              <a:t>一个“决定”值</a:t>
            </a:r>
            <a:endParaRPr lang="en-US" altLang="zh-CN" sz="2400" dirty="0">
              <a:latin typeface="+mn-lt"/>
              <a:cs typeface="+mn-ea"/>
              <a:sym typeface="+mn-lt"/>
            </a:endParaRPr>
          </a:p>
          <a:p>
            <a:pPr lvl="1"/>
            <a:r>
              <a:rPr lang="en-US" altLang="zh-CN" sz="2400" dirty="0" err="1">
                <a:latin typeface="+mn-lt"/>
                <a:cs typeface="+mn-ea"/>
                <a:sym typeface="+mn-lt"/>
              </a:rPr>
              <a:t>例如，真或假</a:t>
            </a:r>
            <a:endParaRPr lang="en-US" altLang="zh-CN" sz="2400" dirty="0"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latin typeface="+mn-lt"/>
                <a:cs typeface="+mn-ea"/>
                <a:sym typeface="+mn-lt"/>
              </a:rPr>
              <a:t>解决方案</a:t>
            </a:r>
            <a:endParaRPr lang="en-US" altLang="zh-CN" sz="2800" dirty="0">
              <a:latin typeface="+mn-lt"/>
              <a:cs typeface="+mn-ea"/>
              <a:sym typeface="+mn-lt"/>
            </a:endParaRPr>
          </a:p>
          <a:p>
            <a:pPr lvl="1"/>
            <a:r>
              <a:rPr lang="en-US" altLang="zh-CN" sz="2400" dirty="0" err="1">
                <a:latin typeface="+mn-lt"/>
                <a:cs typeface="+mn-ea"/>
                <a:sym typeface="+mn-lt"/>
              </a:rPr>
              <a:t>路径</a:t>
            </a:r>
            <a:endParaRPr lang="en-US" altLang="zh-CN" sz="2400" dirty="0">
              <a:latin typeface="+mn-lt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1325533"/>
            <a:ext cx="7924800" cy="5151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1919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决策树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660400" y="1397000"/>
                <a:ext cx="10718800" cy="4729163"/>
              </a:xfrm>
            </p:spPr>
            <p:txBody>
              <a:bodyPr/>
              <a:lstStyle/>
              <a:p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精确搜索效率不高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𝑛</m:t>
                            </m:r>
                          </m:sup>
                        </m:sSup>
                      </m:sup>
                    </m:sSup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trees for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𝑛</m:t>
                    </m:r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attributes </a:t>
                </a:r>
              </a:p>
              <a:p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近似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: 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分而治之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首先检查最重要的属性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将问题划分为更小的子问题，然后可以递归求解</a:t>
                </a:r>
                <a:endParaRPr lang="zh-CN" altLang="en-US" dirty="0">
                  <a:solidFill>
                    <a:srgbClr val="FF0000"/>
                  </a:solidFill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660400" y="1397000"/>
                <a:ext cx="10718800" cy="4729163"/>
              </a:xfrm>
              <a:blipFill>
                <a:blip r:embed="rId3"/>
                <a:stretch>
                  <a:fillRect l="-1023" t="-21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0747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决策树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60400" y="1397000"/>
            <a:ext cx="10718800" cy="4729163"/>
          </a:xfrm>
        </p:spPr>
        <p:txBody>
          <a:bodyPr/>
          <a:lstStyle/>
          <a:p>
            <a:r>
              <a:rPr lang="en-US" altLang="zh-CN" sz="2800" dirty="0">
                <a:latin typeface="+mn-lt"/>
                <a:cs typeface="+mn-ea"/>
                <a:sym typeface="+mn-lt"/>
              </a:rPr>
              <a:t>最重要属性</a:t>
            </a:r>
          </a:p>
          <a:p>
            <a:pPr lvl="1"/>
            <a:r>
              <a:rPr lang="zh-CN" altLang="en-US" sz="2400" dirty="0">
                <a:latin typeface="+mn-lt"/>
                <a:cs typeface="+mn-ea"/>
                <a:sym typeface="+mn-lt"/>
              </a:rPr>
              <a:t>对于样例分类具有最大差异的属性</a:t>
            </a:r>
            <a:endParaRPr lang="en-US" altLang="zh-CN" sz="2400" dirty="0">
              <a:latin typeface="+mn-lt"/>
              <a:cs typeface="+mn-ea"/>
              <a:sym typeface="+mn-lt"/>
            </a:endParaRPr>
          </a:p>
          <a:p>
            <a:pPr lvl="1"/>
            <a:endParaRPr lang="en-US" altLang="zh-CN" dirty="0">
              <a:latin typeface="+mn-lt"/>
              <a:cs typeface="+mn-ea"/>
              <a:sym typeface="+mn-lt"/>
            </a:endParaRPr>
          </a:p>
          <a:p>
            <a:r>
              <a:rPr lang="en-US" altLang="zh-CN" sz="2800" dirty="0">
                <a:latin typeface="+mn-lt"/>
                <a:cs typeface="+mn-ea"/>
                <a:sym typeface="+mn-lt"/>
              </a:rPr>
              <a:t>该近似方法高效。</a:t>
            </a:r>
          </a:p>
          <a:p>
            <a:pPr lvl="1"/>
            <a:r>
              <a:rPr lang="en-US" altLang="zh-CN" sz="2400" dirty="0">
                <a:latin typeface="+mn-lt"/>
                <a:cs typeface="+mn-ea"/>
                <a:sym typeface="+mn-lt"/>
              </a:rPr>
              <a:t>用少量测试获得正确分类</a:t>
            </a:r>
          </a:p>
          <a:p>
            <a:pPr lvl="1"/>
            <a:endParaRPr lang="en-US" altLang="zh-CN" dirty="0">
              <a:latin typeface="+mn-lt"/>
              <a:cs typeface="+mn-ea"/>
              <a:sym typeface="+mn-lt"/>
            </a:endParaRPr>
          </a:p>
          <a:p>
            <a:r>
              <a:rPr lang="en-US" altLang="zh-CN" sz="2800" dirty="0">
                <a:latin typeface="+mn-lt"/>
                <a:cs typeface="+mn-ea"/>
                <a:sym typeface="+mn-lt"/>
              </a:rPr>
              <a:t>决策树学习算法</a:t>
            </a:r>
          </a:p>
          <a:p>
            <a:pPr lvl="1"/>
            <a:r>
              <a:rPr lang="en-US" altLang="zh-CN" sz="2400" dirty="0">
                <a:solidFill>
                  <a:srgbClr val="FF0000"/>
                </a:solidFill>
                <a:latin typeface="+mn-lt"/>
                <a:cs typeface="+mn-ea"/>
                <a:sym typeface="+mn-lt"/>
              </a:rPr>
              <a:t>递归地</a:t>
            </a:r>
            <a:r>
              <a:rPr lang="en-US" altLang="zh-CN" sz="2400" dirty="0">
                <a:latin typeface="+mn-lt"/>
                <a:cs typeface="+mn-ea"/>
                <a:sym typeface="+mn-lt"/>
              </a:rPr>
              <a:t>将示例拆分，每个结果都成为一个新的决策树学习问题。</a:t>
            </a:r>
            <a:endParaRPr lang="zh-CN" altLang="en-US" dirty="0">
              <a:latin typeface="+mn-lt"/>
              <a:cs typeface="+mn-ea"/>
              <a:sym typeface="+mn-lt"/>
            </a:endParaRPr>
          </a:p>
          <a:p>
            <a:pPr marL="457176" lvl="1" indent="0">
              <a:buNone/>
            </a:pPr>
            <a:endParaRPr lang="en-US" altLang="zh-CN" dirty="0">
              <a:latin typeface="+mn-lt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126057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决策树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60400" y="1397000"/>
            <a:ext cx="10718800" cy="4729163"/>
          </a:xfrm>
        </p:spPr>
        <p:txBody>
          <a:bodyPr/>
          <a:lstStyle/>
          <a:p>
            <a:r>
              <a:rPr lang="en-US" altLang="zh-CN" sz="2800" dirty="0">
                <a:latin typeface="+mn-lt"/>
                <a:cs typeface="+mn-ea"/>
                <a:sym typeface="+mn-lt"/>
              </a:rPr>
              <a:t>选择属性测试</a:t>
            </a:r>
          </a:p>
          <a:p>
            <a:pPr lvl="1"/>
            <a:r>
              <a:rPr lang="en-US" altLang="zh-CN" sz="2400" dirty="0">
                <a:latin typeface="+mn-lt"/>
                <a:cs typeface="+mn-ea"/>
                <a:sym typeface="+mn-lt"/>
              </a:rPr>
              <a:t>选择属性以对示例进行精确分类。</a:t>
            </a:r>
          </a:p>
          <a:p>
            <a:endParaRPr lang="en-US" altLang="zh-CN" dirty="0">
              <a:latin typeface="+mn-lt"/>
              <a:cs typeface="+mn-ea"/>
              <a:sym typeface="+mn-lt"/>
            </a:endParaRPr>
          </a:p>
        </p:txBody>
      </p:sp>
      <p:graphicFrame>
        <p:nvGraphicFramePr>
          <p:cNvPr id="11" name="图表 10"/>
          <p:cNvGraphicFramePr/>
          <p:nvPr/>
        </p:nvGraphicFramePr>
        <p:xfrm>
          <a:off x="3200400" y="2781832"/>
          <a:ext cx="6273800" cy="36237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0B7EAC49-3A98-48CB-93D2-AD524082DE17}"/>
              </a:ext>
            </a:extLst>
          </p:cNvPr>
          <p:cNvGrpSpPr/>
          <p:nvPr/>
        </p:nvGrpSpPr>
        <p:grpSpPr>
          <a:xfrm>
            <a:off x="1981200" y="2590800"/>
            <a:ext cx="4343400" cy="4029366"/>
            <a:chOff x="1981200" y="2590800"/>
            <a:chExt cx="4343400" cy="4029366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E7006046-A339-4CAB-AD28-30EA5E908E96}"/>
                </a:ext>
              </a:extLst>
            </p:cNvPr>
            <p:cNvSpPr/>
            <p:nvPr/>
          </p:nvSpPr>
          <p:spPr>
            <a:xfrm>
              <a:off x="1981200" y="2786450"/>
              <a:ext cx="914400" cy="905164"/>
            </a:xfrm>
            <a:prstGeom prst="rect">
              <a:avLst/>
            </a:prstGeom>
            <a:noFill/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rgbClr val="FF0000"/>
                  </a:solidFill>
                  <a:cs typeface="+mn-ea"/>
                  <a:sym typeface="+mn-lt"/>
                </a:rPr>
                <a:t>good</a:t>
              </a:r>
              <a:endParaRPr lang="zh-CN" altLang="en-US" sz="2000" b="1" dirty="0">
                <a:solidFill>
                  <a:srgbClr val="FF0000"/>
                </a:solidFill>
                <a:cs typeface="+mn-ea"/>
                <a:sym typeface="+mn-lt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ECD4D9E-ADBB-4092-8E68-BE1692C873ED}"/>
                </a:ext>
              </a:extLst>
            </p:cNvPr>
            <p:cNvSpPr/>
            <p:nvPr/>
          </p:nvSpPr>
          <p:spPr>
            <a:xfrm>
              <a:off x="3200400" y="2590800"/>
              <a:ext cx="3124200" cy="4029366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5686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决策树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660400" y="1397000"/>
                <a:ext cx="10718800" cy="4729163"/>
              </a:xfrm>
            </p:spPr>
            <p:txBody>
              <a:bodyPr/>
              <a:lstStyle/>
              <a:p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Entropy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𝐻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𝑉</m:t>
                          </m:r>
                        </m:e>
                      </m:d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𝑘</m:t>
                          </m:r>
                        </m:sub>
                        <m:sup/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𝑃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)</m:t>
                          </m:r>
                        </m:e>
                      </m:nary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𝑙𝑜𝑔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𝑃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𝐵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𝑞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=−(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𝑞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𝑙𝑜𝑔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𝑞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+(1−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𝑞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)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𝑙𝑜𝑔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(1−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𝑞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))</m:t>
                      </m:r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  <a:latin typeface="+mn-lt"/>
                  <a:cs typeface="+mn-ea"/>
                  <a:sym typeface="+mn-lt"/>
                </a:endParaRPr>
              </a:p>
              <a:p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Example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=0.5,</m:t>
                    </m:r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=0.5</m:t>
                    </m:r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, </a:t>
                </a:r>
                <a:endParaRPr lang="en-US" altLang="zh-CN" i="1" dirty="0">
                  <a:solidFill>
                    <a:srgbClr val="FF0000"/>
                  </a:solidFill>
                  <a:latin typeface="+mn-lt"/>
                  <a:cs typeface="+mn-ea"/>
                  <a:sym typeface="+mn-lt"/>
                </a:endParaRPr>
              </a:p>
              <a:p>
                <a:pPr marL="457176" lvl="1" indent="0">
                  <a:buNone/>
                </a:pPr>
                <a:r>
                  <a:rPr lang="en-US" altLang="zh-CN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𝐵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(0.5)=1</m:t>
                    </m:r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=0.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99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</m:t>
                    </m:r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=0.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01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  </m:t>
                    </m:r>
                  </m:oMath>
                </a14:m>
                <a:endParaRPr lang="en-US" altLang="zh-CN" i="1" dirty="0">
                  <a:latin typeface="+mn-lt"/>
                  <a:cs typeface="+mn-ea"/>
                  <a:sym typeface="+mn-lt"/>
                </a:endParaRPr>
              </a:p>
              <a:p>
                <a:pPr marL="457176" lvl="1" indent="0">
                  <a:buNone/>
                </a:pPr>
                <a:r>
                  <a:rPr lang="en-US" altLang="zh-CN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𝐵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(0.99)=0.08</m:t>
                    </m:r>
                  </m:oMath>
                </a14:m>
                <a:r>
                  <a:rPr lang="en-US" altLang="zh-CN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 </a:t>
                </a:r>
              </a:p>
              <a:p>
                <a:pPr lvl="1"/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endParaRPr lang="zh-CN" altLang="en-US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660400" y="1397000"/>
                <a:ext cx="10718800" cy="4729163"/>
              </a:xfrm>
              <a:blipFill>
                <a:blip r:embed="rId2"/>
                <a:stretch>
                  <a:fillRect l="-1023" t="-21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1006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决策树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660400" y="1397000"/>
                <a:ext cx="10718800" cy="4729163"/>
              </a:xfrm>
            </p:spPr>
            <p:txBody>
              <a:bodyPr/>
              <a:lstStyle/>
              <a:p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带有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d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个不同值的属性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A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将训练集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E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划分为若干子集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𝐸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</m:t>
                        </m:r>
                      </m:sub>
                    </m:sSub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 . . . ,</m:t>
                    </m:r>
                    <m:sSub>
                      <m:sSubPr>
                        <m:ctrlPr>
                          <a:rPr lang="zh-CN" alt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𝐸</m:t>
                        </m:r>
                      </m:e>
                      <m:sub>
                        <m:r>
                          <a:rPr lang="en-US" altLang="zh-C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𝐸</m:t>
                        </m:r>
                      </m:e>
                      <m:sub>
                        <m:r>
                          <a:rPr lang="en-US" altLang="zh-C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含有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𝑝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个正样本以及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𝑛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个负样本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.</a:t>
                </a:r>
              </a:p>
              <a:p>
                <a:endParaRPr lang="en-US" altLang="zh-CN" i="1" dirty="0">
                  <a:solidFill>
                    <a:srgbClr val="FF0000"/>
                  </a:solidFill>
                  <a:latin typeface="+mn-lt"/>
                  <a:cs typeface="+mn-ea"/>
                  <a:sym typeface="+mn-lt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𝐸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需要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𝐵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(</m:t>
                    </m:r>
                    <m:sSub>
                      <m:sSubPr>
                        <m:ctrlPr>
                          <a:rPr lang="zh-CN" alt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𝑝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𝑘</m:t>
                        </m:r>
                      </m:sub>
                    </m:sSub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/(</m:t>
                    </m:r>
                    <m:sSub>
                      <m:sSubPr>
                        <m:ctrlPr>
                          <a:rPr lang="zh-CN" alt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𝑝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𝑘</m:t>
                        </m:r>
                      </m:sub>
                    </m:sSub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+</m:t>
                    </m:r>
                    <m:sSub>
                      <m:sSubPr>
                        <m:ctrlPr>
                          <a:rPr lang="zh-CN" alt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𝑛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𝑘</m:t>
                        </m:r>
                      </m:sub>
                    </m:sSub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)) </m:t>
                    </m:r>
                  </m:oMath>
                </a14:m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个比特信息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endParaRPr lang="en-US" altLang="zh-CN" dirty="0">
                  <a:solidFill>
                    <a:srgbClr val="FF0000"/>
                  </a:solidFill>
                  <a:latin typeface="+mn-lt"/>
                  <a:cs typeface="+mn-ea"/>
                  <a:sym typeface="+mn-lt"/>
                </a:endParaRPr>
              </a:p>
              <a:p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测试完属性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A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后，</a:t>
                </a:r>
                <a:r>
                  <a:rPr lang="zh-CN" altLang="en-US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剩余的期望熵（</a:t>
                </a:r>
                <a:r>
                  <a:rPr lang="en-US" altLang="zh-CN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Expected entropy remaining</a:t>
                </a:r>
                <a:r>
                  <a:rPr lang="zh-CN" altLang="en-US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）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i="1" smtClean="0">
                          <a:solidFill>
                            <a:schemeClr val="tx1"/>
                          </a:solidFill>
                          <a:latin typeface="+mn-lt"/>
                          <a:cs typeface="+mn-ea"/>
                          <a:sym typeface="+mn-lt"/>
                        </a:rPr>
                        <m:t>Remainder</m:t>
                      </m:r>
                      <m:r>
                        <m:rPr>
                          <m:nor/>
                        </m:rPr>
                        <a:rPr lang="en-US" altLang="zh-CN" smtClean="0">
                          <a:solidFill>
                            <a:schemeClr val="tx1"/>
                          </a:solidFill>
                          <a:latin typeface="+mn-lt"/>
                          <a:cs typeface="+mn-ea"/>
                          <a:sym typeface="+mn-lt"/>
                        </a:rPr>
                        <m:t> 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𝐴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𝑘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𝑑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𝑘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𝑝</m:t>
                              </m:r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+</m:t>
                              </m:r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𝐵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𝑘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zh-CN" alt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𝑘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660400" y="1397000"/>
                <a:ext cx="10718800" cy="4729163"/>
              </a:xfrm>
              <a:blipFill>
                <a:blip r:embed="rId3"/>
                <a:stretch>
                  <a:fillRect l="-1023" t="-2320" r="-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17950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决策树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660400" y="1397000"/>
                <a:ext cx="10718800" cy="4729163"/>
              </a:xfrm>
            </p:spPr>
            <p:txBody>
              <a:bodyPr/>
              <a:lstStyle/>
              <a:p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信息增益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: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熵的期望减少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IMPORTANCE function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𝐺𝑎𝑖𝑛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𝐴</m:t>
                          </m:r>
                        </m:e>
                      </m:d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𝐵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𝑝</m:t>
                              </m:r>
                            </m:num>
                            <m:den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𝑝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+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CN" i="1">
                          <a:solidFill>
                            <a:schemeClr val="tx1"/>
                          </a:solidFill>
                          <a:latin typeface="+mn-lt"/>
                          <a:cs typeface="+mn-ea"/>
                          <a:sym typeface="+mn-lt"/>
                        </a:rPr>
                        <m:t>Remainder</m:t>
                      </m:r>
                      <m:r>
                        <m:rPr>
                          <m:nor/>
                        </m:rPr>
                        <a:rPr lang="en-US" altLang="zh-CN" i="1">
                          <a:solidFill>
                            <a:schemeClr val="tx1"/>
                          </a:solidFill>
                          <a:latin typeface="+mn-lt"/>
                          <a:cs typeface="+mn-ea"/>
                          <a:sym typeface="+mn-lt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>
                          <a:solidFill>
                            <a:schemeClr val="tx1"/>
                          </a:solidFill>
                          <a:latin typeface="+mn-lt"/>
                          <a:cs typeface="+mn-ea"/>
                          <a:sym typeface="+mn-lt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CN" i="1">
                          <a:solidFill>
                            <a:schemeClr val="tx1"/>
                          </a:solidFill>
                          <a:latin typeface="+mn-lt"/>
                          <a:cs typeface="+mn-ea"/>
                          <a:sym typeface="+mn-lt"/>
                        </a:rPr>
                        <m:t>A</m:t>
                      </m:r>
                      <m:r>
                        <m:rPr>
                          <m:nor/>
                        </m:rPr>
                        <a:rPr lang="en-US" altLang="zh-CN">
                          <a:solidFill>
                            <a:schemeClr val="tx1"/>
                          </a:solidFill>
                          <a:latin typeface="+mn-lt"/>
                          <a:cs typeface="+mn-ea"/>
                          <a:sym typeface="+mn-lt"/>
                        </a:rPr>
                        <m:t>)</m:t>
                      </m:r>
                    </m:oMath>
                  </m:oMathPara>
                </a14:m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示例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Gain(Patrons)=0.541 bits,</a:t>
                </a:r>
              </a:p>
              <a:p>
                <a:pPr lvl="1"/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Gain(Type)=0 bits</a:t>
                </a:r>
              </a:p>
              <a:p>
                <a:pPr lvl="1"/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说明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Patrons 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是一个更利用分类的属性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.</a:t>
                </a:r>
              </a:p>
              <a:p>
                <a:endParaRPr lang="en-US" altLang="zh-CN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660400" y="1397000"/>
                <a:ext cx="10718800" cy="4729163"/>
              </a:xfrm>
              <a:blipFill>
                <a:blip r:embed="rId3"/>
                <a:stretch>
                  <a:fillRect l="-1023" t="-23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42889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决策树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37" y="1124688"/>
            <a:ext cx="12145926" cy="5307463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>
            <a:off x="381000" y="2514600"/>
            <a:ext cx="97536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381000" y="2971800"/>
            <a:ext cx="97536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381000" y="3352800"/>
            <a:ext cx="97536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381000" y="4191000"/>
            <a:ext cx="97536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381000" y="4495800"/>
            <a:ext cx="97536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81000" y="4876800"/>
            <a:ext cx="97536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381000" y="5334000"/>
            <a:ext cx="97536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381000" y="5715000"/>
            <a:ext cx="97536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381000" y="6096000"/>
            <a:ext cx="97536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845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决策树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60400" y="1397000"/>
            <a:ext cx="10718800" cy="4729163"/>
          </a:xfrm>
        </p:spPr>
        <p:txBody>
          <a:bodyPr/>
          <a:lstStyle/>
          <a:p>
            <a:r>
              <a:rPr lang="zh-CN" altLang="en-US" dirty="0">
                <a:latin typeface="+mn-lt"/>
                <a:cs typeface="+mn-ea"/>
                <a:sym typeface="+mn-lt"/>
              </a:rPr>
              <a:t>相关材料：</a:t>
            </a:r>
            <a:r>
              <a:rPr lang="en-US" altLang="zh-CN" dirty="0">
                <a:latin typeface="+mn-lt"/>
                <a:cs typeface="+mn-ea"/>
                <a:sym typeface="+mn-lt"/>
              </a:rPr>
              <a:t> </a:t>
            </a:r>
          </a:p>
          <a:p>
            <a:r>
              <a:rPr lang="en-US" altLang="zh-CN" dirty="0">
                <a:latin typeface="+mn-lt"/>
                <a:cs typeface="+mn-ea"/>
                <a:sym typeface="+mn-lt"/>
                <a:hlinkClick r:id="rId3"/>
              </a:rPr>
              <a:t>https://www.coursera.org/lecture/python-machine-learning/decision-trees-Zj96A</a:t>
            </a:r>
            <a:r>
              <a:rPr lang="en-US" altLang="zh-CN" dirty="0">
                <a:latin typeface="+mn-lt"/>
                <a:cs typeface="+mn-ea"/>
                <a:sym typeface="+mn-lt"/>
              </a:rPr>
              <a:t> </a:t>
            </a:r>
            <a:endParaRPr lang="zh-CN" altLang="en-US" dirty="0">
              <a:latin typeface="+mn-lt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0" y="3137941"/>
            <a:ext cx="6477000" cy="3739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1482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60400" y="1397000"/>
            <a:ext cx="10718800" cy="4729163"/>
          </a:xfrm>
        </p:spPr>
        <p:txBody>
          <a:bodyPr/>
          <a:lstStyle/>
          <a:p>
            <a:r>
              <a:rPr lang="en-US" altLang="zh-CN" sz="2800" dirty="0" err="1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学习形式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决策树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latin typeface="+mn-lt"/>
                <a:cs typeface="+mn-ea"/>
                <a:sym typeface="+mn-lt"/>
              </a:rPr>
              <a:t>回归与分类</a:t>
            </a:r>
            <a:endParaRPr lang="en-US" altLang="zh-CN" sz="2800" dirty="0"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人工神经网络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集成学习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E8CA5E48-EBCE-4AB7-8E74-01859C358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+mn-lt"/>
                <a:ea typeface="+mn-ea"/>
                <a:cs typeface="+mn-ea"/>
                <a:sym typeface="+mn-lt"/>
              </a:rPr>
              <a:t>从示例中学习</a:t>
            </a:r>
            <a:endParaRPr lang="en-US" altLang="zh-CN" sz="4000" dirty="0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636878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 err="1">
                <a:latin typeface="+mn-lt"/>
                <a:ea typeface="+mn-ea"/>
                <a:cs typeface="+mn-ea"/>
                <a:sym typeface="+mn-lt"/>
              </a:rPr>
              <a:t>单变量线性回归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60400" y="1397000"/>
            <a:ext cx="10718800" cy="4729163"/>
          </a:xfrm>
        </p:spPr>
        <p:txBody>
          <a:bodyPr/>
          <a:lstStyle/>
          <a:p>
            <a:r>
              <a:rPr lang="en-US" altLang="zh-CN" sz="2800" dirty="0" err="1">
                <a:latin typeface="+mn-lt"/>
                <a:cs typeface="+mn-ea"/>
                <a:sym typeface="+mn-lt"/>
              </a:rPr>
              <a:t>房价训练集</a:t>
            </a:r>
            <a:endParaRPr lang="en-US" altLang="zh-CN" sz="2800" dirty="0">
              <a:latin typeface="+mn-lt"/>
              <a:cs typeface="+mn-ea"/>
              <a:sym typeface="+mn-lt"/>
            </a:endParaRPr>
          </a:p>
          <a:p>
            <a:endParaRPr lang="en-US" altLang="zh-CN" b="1" dirty="0">
              <a:latin typeface="+mn-lt"/>
              <a:cs typeface="+mn-ea"/>
              <a:sym typeface="+mn-lt"/>
            </a:endParaRPr>
          </a:p>
          <a:p>
            <a:r>
              <a:rPr lang="zh-CN" altLang="en-US" dirty="0">
                <a:latin typeface="+mn-lt"/>
                <a:cs typeface="+mn-ea"/>
                <a:sym typeface="+mn-lt"/>
              </a:rPr>
              <a:t>符号说明</a:t>
            </a:r>
            <a:endParaRPr lang="en-US" altLang="zh-CN" dirty="0">
              <a:latin typeface="+mn-lt"/>
              <a:cs typeface="+mn-ea"/>
              <a:sym typeface="+mn-lt"/>
            </a:endParaRPr>
          </a:p>
          <a:p>
            <a:pPr lvl="1"/>
            <a:r>
              <a:rPr lang="en-US" altLang="zh-CN" b="1" dirty="0">
                <a:latin typeface="+mn-lt"/>
                <a:cs typeface="+mn-ea"/>
                <a:sym typeface="+mn-lt"/>
              </a:rPr>
              <a:t>m</a:t>
            </a:r>
            <a:r>
              <a:rPr lang="en-US" altLang="zh-CN" dirty="0">
                <a:latin typeface="+mn-lt"/>
                <a:cs typeface="+mn-ea"/>
                <a:sym typeface="+mn-lt"/>
              </a:rPr>
              <a:t> – </a:t>
            </a:r>
            <a:r>
              <a:rPr lang="zh-CN" altLang="en-US" dirty="0">
                <a:latin typeface="+mn-lt"/>
                <a:cs typeface="+mn-ea"/>
                <a:sym typeface="+mn-lt"/>
              </a:rPr>
              <a:t>训练样本数量</a:t>
            </a:r>
            <a:endParaRPr lang="en-US" altLang="zh-CN" dirty="0">
              <a:latin typeface="+mn-lt"/>
              <a:cs typeface="+mn-ea"/>
              <a:sym typeface="+mn-lt"/>
            </a:endParaRPr>
          </a:p>
          <a:p>
            <a:pPr marL="685781" lvl="1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+mn-lt"/>
                <a:cs typeface="+mn-ea"/>
                <a:sym typeface="+mn-lt"/>
              </a:rPr>
              <a:t>x</a:t>
            </a:r>
            <a:r>
              <a:rPr lang="en-US" altLang="zh-CN" dirty="0">
                <a:latin typeface="+mn-lt"/>
                <a:cs typeface="+mn-ea"/>
                <a:sym typeface="+mn-lt"/>
              </a:rPr>
              <a:t>’s - </a:t>
            </a:r>
            <a:r>
              <a:rPr lang="en-US" altLang="zh-CN" sz="2400" dirty="0" err="1">
                <a:latin typeface="+mn-lt"/>
                <a:cs typeface="+mn-ea"/>
                <a:sym typeface="+mn-lt"/>
              </a:rPr>
              <a:t>输入变量</a:t>
            </a:r>
            <a:r>
              <a:rPr lang="en-US" altLang="zh-CN" sz="2400" dirty="0">
                <a:latin typeface="+mn-lt"/>
                <a:cs typeface="+mn-ea"/>
                <a:sym typeface="+mn-lt"/>
              </a:rPr>
              <a:t>/</a:t>
            </a:r>
            <a:r>
              <a:rPr lang="en-US" altLang="zh-CN" sz="2400" dirty="0" err="1">
                <a:latin typeface="+mn-lt"/>
                <a:cs typeface="+mn-ea"/>
                <a:sym typeface="+mn-lt"/>
              </a:rPr>
              <a:t>特征</a:t>
            </a:r>
            <a:endParaRPr lang="en-US" altLang="zh-CN" dirty="0">
              <a:latin typeface="+mn-lt"/>
              <a:cs typeface="+mn-ea"/>
              <a:sym typeface="+mn-lt"/>
            </a:endParaRPr>
          </a:p>
          <a:p>
            <a:pPr marL="685781" lvl="1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+mn-lt"/>
                <a:cs typeface="+mn-ea"/>
                <a:sym typeface="+mn-lt"/>
              </a:rPr>
              <a:t>y</a:t>
            </a:r>
            <a:r>
              <a:rPr lang="en-US" altLang="zh-CN" dirty="0">
                <a:latin typeface="+mn-lt"/>
                <a:cs typeface="+mn-ea"/>
                <a:sym typeface="+mn-lt"/>
              </a:rPr>
              <a:t>’s - </a:t>
            </a:r>
            <a:r>
              <a:rPr lang="en-US" altLang="zh-CN" sz="2400" dirty="0" err="1">
                <a:latin typeface="+mn-lt"/>
                <a:cs typeface="+mn-ea"/>
                <a:sym typeface="+mn-lt"/>
              </a:rPr>
              <a:t>输出变量</a:t>
            </a:r>
            <a:r>
              <a:rPr lang="en-US" altLang="zh-CN" sz="2400" dirty="0">
                <a:latin typeface="+mn-lt"/>
                <a:cs typeface="+mn-ea"/>
                <a:sym typeface="+mn-lt"/>
              </a:rPr>
              <a:t>/</a:t>
            </a:r>
            <a:r>
              <a:rPr lang="en-US" altLang="zh-CN" sz="2400" dirty="0" err="1">
                <a:latin typeface="+mn-lt"/>
                <a:cs typeface="+mn-ea"/>
                <a:sym typeface="+mn-lt"/>
              </a:rPr>
              <a:t>目标变量</a:t>
            </a:r>
            <a:endParaRPr lang="en-US" altLang="zh-CN" dirty="0">
              <a:latin typeface="+mn-lt"/>
              <a:cs typeface="+mn-ea"/>
              <a:sym typeface="+mn-lt"/>
            </a:endParaRPr>
          </a:p>
          <a:p>
            <a:pPr marL="685781" lvl="1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+mn-lt"/>
                <a:cs typeface="+mn-ea"/>
                <a:sym typeface="+mn-lt"/>
              </a:rPr>
              <a:t>(x, y)</a:t>
            </a:r>
            <a:r>
              <a:rPr lang="en-US" altLang="zh-CN" dirty="0">
                <a:latin typeface="+mn-lt"/>
                <a:cs typeface="+mn-ea"/>
                <a:sym typeface="+mn-lt"/>
              </a:rPr>
              <a:t> - </a:t>
            </a:r>
            <a:r>
              <a:rPr lang="en-US" altLang="zh-CN" sz="2400" dirty="0" err="1">
                <a:latin typeface="+mn-lt"/>
                <a:cs typeface="+mn-ea"/>
                <a:sym typeface="+mn-lt"/>
              </a:rPr>
              <a:t>一个训练示例</a:t>
            </a:r>
            <a:endParaRPr lang="en-US" altLang="zh-CN" dirty="0">
              <a:latin typeface="+mn-lt"/>
              <a:cs typeface="+mn-ea"/>
              <a:sym typeface="+mn-lt"/>
            </a:endParaRPr>
          </a:p>
          <a:p>
            <a:pPr marL="685781" lvl="1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+mn-lt"/>
                <a:cs typeface="+mn-ea"/>
                <a:sym typeface="+mn-lt"/>
              </a:rPr>
              <a:t>(x</a:t>
            </a:r>
            <a:r>
              <a:rPr lang="en-US" altLang="zh-CN" b="1" baseline="30000" dirty="0">
                <a:latin typeface="+mn-lt"/>
                <a:cs typeface="+mn-ea"/>
                <a:sym typeface="+mn-lt"/>
              </a:rPr>
              <a:t>(</a:t>
            </a:r>
            <a:r>
              <a:rPr lang="en-US" altLang="zh-CN" b="1" baseline="30000" dirty="0" err="1">
                <a:latin typeface="+mn-lt"/>
                <a:cs typeface="+mn-ea"/>
                <a:sym typeface="+mn-lt"/>
              </a:rPr>
              <a:t>i</a:t>
            </a:r>
            <a:r>
              <a:rPr lang="en-US" altLang="zh-CN" b="1" baseline="30000" dirty="0">
                <a:latin typeface="+mn-lt"/>
                <a:cs typeface="+mn-ea"/>
                <a:sym typeface="+mn-lt"/>
              </a:rPr>
              <a:t>)</a:t>
            </a:r>
            <a:r>
              <a:rPr lang="en-US" altLang="zh-CN" b="1" dirty="0">
                <a:latin typeface="+mn-lt"/>
                <a:cs typeface="+mn-ea"/>
                <a:sym typeface="+mn-lt"/>
              </a:rPr>
              <a:t>, y</a:t>
            </a:r>
            <a:r>
              <a:rPr lang="en-US" altLang="zh-CN" b="1" baseline="30000" dirty="0">
                <a:latin typeface="+mn-lt"/>
                <a:cs typeface="+mn-ea"/>
                <a:sym typeface="+mn-lt"/>
              </a:rPr>
              <a:t>(</a:t>
            </a:r>
            <a:r>
              <a:rPr lang="en-US" altLang="zh-CN" b="1" baseline="30000" dirty="0" err="1">
                <a:latin typeface="+mn-lt"/>
                <a:cs typeface="+mn-ea"/>
                <a:sym typeface="+mn-lt"/>
              </a:rPr>
              <a:t>i</a:t>
            </a:r>
            <a:r>
              <a:rPr lang="en-US" altLang="zh-CN" b="1" baseline="30000" dirty="0">
                <a:latin typeface="+mn-lt"/>
                <a:cs typeface="+mn-ea"/>
                <a:sym typeface="+mn-lt"/>
              </a:rPr>
              <a:t>)</a:t>
            </a:r>
            <a:r>
              <a:rPr lang="en-US" altLang="zh-CN" b="1" dirty="0">
                <a:latin typeface="+mn-lt"/>
                <a:cs typeface="+mn-ea"/>
                <a:sym typeface="+mn-lt"/>
              </a:rPr>
              <a:t>)</a:t>
            </a:r>
            <a:r>
              <a:rPr lang="en-US" altLang="zh-CN" dirty="0">
                <a:latin typeface="+mn-lt"/>
                <a:cs typeface="+mn-ea"/>
                <a:sym typeface="+mn-lt"/>
              </a:rPr>
              <a:t> – </a:t>
            </a:r>
            <a:r>
              <a:rPr lang="en-US" altLang="zh-CN" dirty="0" err="1">
                <a:latin typeface="+mn-lt"/>
                <a:cs typeface="+mn-ea"/>
                <a:sym typeface="+mn-lt"/>
              </a:rPr>
              <a:t>i</a:t>
            </a:r>
            <a:r>
              <a:rPr lang="en-US" altLang="zh-CN" baseline="30000" dirty="0" err="1">
                <a:latin typeface="+mn-lt"/>
                <a:cs typeface="+mn-ea"/>
                <a:sym typeface="+mn-lt"/>
              </a:rPr>
              <a:t>th</a:t>
            </a:r>
            <a:r>
              <a:rPr lang="en-US" altLang="zh-CN" dirty="0">
                <a:latin typeface="+mn-lt"/>
                <a:cs typeface="+mn-ea"/>
                <a:sym typeface="+mn-lt"/>
              </a:rPr>
              <a:t> </a:t>
            </a:r>
            <a:r>
              <a:rPr lang="en-US" altLang="zh-CN" sz="2400" dirty="0" err="1">
                <a:latin typeface="+mn-lt"/>
                <a:cs typeface="+mn-ea"/>
                <a:sym typeface="+mn-lt"/>
              </a:rPr>
              <a:t>训练示例</a:t>
            </a:r>
            <a:endParaRPr lang="zh-CN" altLang="en-US" b="1" dirty="0">
              <a:latin typeface="+mn-lt"/>
              <a:cs typeface="+mn-ea"/>
              <a:sym typeface="+mn-lt"/>
            </a:endParaRPr>
          </a:p>
          <a:p>
            <a:endParaRPr lang="zh-CN" altLang="en-US" b="1" dirty="0">
              <a:latin typeface="+mn-lt"/>
              <a:cs typeface="+mn-ea"/>
              <a:sym typeface="+mn-lt"/>
            </a:endParaRPr>
          </a:p>
          <a:p>
            <a:endParaRPr lang="zh-CN" altLang="en-US" dirty="0">
              <a:latin typeface="+mn-lt"/>
              <a:cs typeface="+mn-ea"/>
              <a:sym typeface="+mn-lt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88C85B2-2C02-4789-88DC-1FE956117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243103"/>
              </p:ext>
            </p:extLst>
          </p:nvPr>
        </p:nvGraphicFramePr>
        <p:xfrm>
          <a:off x="6639430" y="1600200"/>
          <a:ext cx="5146170" cy="222504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573085">
                  <a:extLst>
                    <a:ext uri="{9D8B030D-6E8A-4147-A177-3AD203B41FA5}">
                      <a16:colId xmlns:a16="http://schemas.microsoft.com/office/drawing/2014/main" val="1137300721"/>
                    </a:ext>
                  </a:extLst>
                </a:gridCol>
                <a:gridCol w="2573085">
                  <a:extLst>
                    <a:ext uri="{9D8B030D-6E8A-4147-A177-3AD203B41FA5}">
                      <a16:colId xmlns:a16="http://schemas.microsoft.com/office/drawing/2014/main" val="37363503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Size in feet</a:t>
                      </a:r>
                      <a:r>
                        <a:rPr lang="en-US" altLang="zh-CN" baseline="300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2</a:t>
                      </a:r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 (x)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Price ($) in 1000’s (y)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18601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2104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460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03381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1416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232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673917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1534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315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208994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852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178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063057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…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…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9509810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6715AB1-3387-4851-9499-BDBCE75BF55F}"/>
                  </a:ext>
                </a:extLst>
              </p:cNvPr>
              <p:cNvSpPr txBox="1"/>
              <p:nvPr/>
            </p:nvSpPr>
            <p:spPr>
              <a:xfrm>
                <a:off x="7239000" y="5181600"/>
                <a:ext cx="421801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𝑦</m:t>
                      </m:r>
                      <m:r>
                        <a:rPr lang="en-US" altLang="zh-CN" sz="3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r>
                        <a:rPr lang="en-US" altLang="zh-CN" sz="3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h</m:t>
                      </m:r>
                      <m:d>
                        <m:dPr>
                          <m:ctrlPr>
                            <a:rPr lang="en-US" altLang="zh-CN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</m:e>
                      </m:d>
                      <m:r>
                        <a:rPr lang="en-US" altLang="zh-CN" sz="3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sSub>
                        <m:sSubPr>
                          <m:ctrlPr>
                            <a:rPr lang="en-US" altLang="zh-CN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0</m:t>
                          </m:r>
                        </m:sub>
                      </m:sSub>
                      <m:r>
                        <a:rPr lang="en-US" altLang="zh-CN" sz="3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+</m:t>
                      </m:r>
                      <m:sSub>
                        <m:sSubPr>
                          <m:ctrlPr>
                            <a:rPr lang="en-US" altLang="zh-CN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</m:t>
                          </m:r>
                        </m:sub>
                      </m:sSub>
                      <m:r>
                        <a:rPr lang="en-US" altLang="zh-CN" sz="3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𝑥</m:t>
                      </m:r>
                    </m:oMath>
                  </m:oMathPara>
                </a14:m>
                <a:endParaRPr lang="zh-CN" altLang="en-US" sz="3600" dirty="0">
                  <a:solidFill>
                    <a:srgbClr val="FF0000"/>
                  </a:solidFill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6715AB1-3387-4851-9499-BDBCE75BF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0" y="5181600"/>
                <a:ext cx="4218013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708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 err="1">
                <a:latin typeface="+mn-lt"/>
                <a:ea typeface="+mn-ea"/>
                <a:cs typeface="+mn-ea"/>
                <a:sym typeface="+mn-lt"/>
              </a:rPr>
              <a:t>单变量线性回归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660400" y="1397000"/>
                <a:ext cx="10718800" cy="4729163"/>
              </a:xfrm>
            </p:spPr>
            <p:txBody>
              <a:bodyPr/>
              <a:lstStyle/>
              <a:p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怎么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样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去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选择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参数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?</a:t>
                </a:r>
                <a:endParaRPr lang="zh-CN" altLang="en-US" dirty="0">
                  <a:latin typeface="+mn-lt"/>
                  <a:cs typeface="+mn-ea"/>
                  <a:sym typeface="+mn-lt"/>
                </a:endParaRPr>
              </a:p>
              <a:p>
                <a:endParaRPr lang="zh-CN" altLang="en-US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660400" y="1397000"/>
                <a:ext cx="10718800" cy="4729163"/>
              </a:xfrm>
              <a:blipFill>
                <a:blip r:embed="rId3"/>
                <a:stretch>
                  <a:fillRect l="-1023" t="-21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7CB9CA78-77B1-40C3-B24E-6FC61A22C4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769142"/>
              </p:ext>
            </p:extLst>
          </p:nvPr>
        </p:nvGraphicFramePr>
        <p:xfrm>
          <a:off x="914400" y="3415337"/>
          <a:ext cx="3111500" cy="20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14E000D2-1FC4-4EE1-B039-4466E9C2B7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7495995"/>
              </p:ext>
            </p:extLst>
          </p:nvPr>
        </p:nvGraphicFramePr>
        <p:xfrm>
          <a:off x="4513697" y="3451634"/>
          <a:ext cx="3111500" cy="20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3E7784C0-73DF-4928-9AA8-BB5FE35D6A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8261645"/>
              </p:ext>
            </p:extLst>
          </p:nvPr>
        </p:nvGraphicFramePr>
        <p:xfrm>
          <a:off x="8112994" y="3451634"/>
          <a:ext cx="3111500" cy="20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6BC111A-60DC-4AA7-8C47-56DC760453F8}"/>
                  </a:ext>
                </a:extLst>
              </p:cNvPr>
              <p:cNvSpPr txBox="1"/>
              <p:nvPr/>
            </p:nvSpPr>
            <p:spPr>
              <a:xfrm>
                <a:off x="1900962" y="5564636"/>
                <a:ext cx="89749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=1.5</m:t>
                      </m:r>
                    </m:oMath>
                  </m:oMathPara>
                </a14:m>
                <a:endParaRPr lang="en-US" altLang="zh-CN" b="0" dirty="0">
                  <a:latin typeface="+mn-lt"/>
                  <a:cs typeface="+mn-ea"/>
                  <a:sym typeface="+mn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=0</m:t>
                      </m:r>
                    </m:oMath>
                  </m:oMathPara>
                </a14:m>
                <a:endParaRPr lang="zh-CN" altLang="en-US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6BC111A-60DC-4AA7-8C47-56DC760453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0962" y="5564636"/>
                <a:ext cx="897490" cy="553998"/>
              </a:xfrm>
              <a:prstGeom prst="rect">
                <a:avLst/>
              </a:prstGeom>
              <a:blipFill>
                <a:blip r:embed="rId7"/>
                <a:stretch>
                  <a:fillRect l="-5442" r="-6122" b="-87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03A8A7D-09DE-4B67-9600-77990C2A7ABD}"/>
                  </a:ext>
                </a:extLst>
              </p:cNvPr>
              <p:cNvSpPr txBox="1"/>
              <p:nvPr/>
            </p:nvSpPr>
            <p:spPr>
              <a:xfrm>
                <a:off x="5620702" y="5587124"/>
                <a:ext cx="892167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=0</m:t>
                      </m:r>
                    </m:oMath>
                  </m:oMathPara>
                </a14:m>
                <a:endParaRPr lang="en-US" altLang="zh-CN" b="0" dirty="0">
                  <a:latin typeface="+mn-lt"/>
                  <a:cs typeface="+mn-ea"/>
                  <a:sym typeface="+mn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=0.5</m:t>
                      </m:r>
                    </m:oMath>
                  </m:oMathPara>
                </a14:m>
                <a:endParaRPr lang="zh-CN" altLang="en-US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03A8A7D-09DE-4B67-9600-77990C2A7A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0702" y="5587124"/>
                <a:ext cx="892167" cy="553998"/>
              </a:xfrm>
              <a:prstGeom prst="rect">
                <a:avLst/>
              </a:prstGeom>
              <a:blipFill>
                <a:blip r:embed="rId8"/>
                <a:stretch>
                  <a:fillRect l="-4795" r="-6164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28349CF-31D5-4D5C-A242-F99797834067}"/>
                  </a:ext>
                </a:extLst>
              </p:cNvPr>
              <p:cNvSpPr txBox="1"/>
              <p:nvPr/>
            </p:nvSpPr>
            <p:spPr>
              <a:xfrm>
                <a:off x="9335119" y="5595204"/>
                <a:ext cx="892167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=1</m:t>
                      </m:r>
                    </m:oMath>
                  </m:oMathPara>
                </a14:m>
                <a:endParaRPr lang="en-US" altLang="zh-CN" b="0" dirty="0">
                  <a:latin typeface="+mn-lt"/>
                  <a:cs typeface="+mn-ea"/>
                  <a:sym typeface="+mn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=0.5</m:t>
                      </m:r>
                    </m:oMath>
                  </m:oMathPara>
                </a14:m>
                <a:endParaRPr lang="zh-CN" altLang="en-US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28349CF-31D5-4D5C-A242-F99797834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5119" y="5595204"/>
                <a:ext cx="892167" cy="553998"/>
              </a:xfrm>
              <a:prstGeom prst="rect">
                <a:avLst/>
              </a:prstGeom>
              <a:blipFill>
                <a:blip r:embed="rId9"/>
                <a:stretch>
                  <a:fillRect l="-4762" r="-5442" b="-87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6715AB1-3387-4851-9499-BDBCE75BF55F}"/>
                  </a:ext>
                </a:extLst>
              </p:cNvPr>
              <p:cNvSpPr txBox="1"/>
              <p:nvPr/>
            </p:nvSpPr>
            <p:spPr>
              <a:xfrm>
                <a:off x="3871944" y="2253833"/>
                <a:ext cx="374673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𝑦</m:t>
                      </m:r>
                      <m:r>
                        <a:rPr lang="en-US" altLang="zh-CN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r>
                        <a:rPr lang="en-US" altLang="zh-CN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h</m:t>
                      </m:r>
                      <m:d>
                        <m:dPr>
                          <m:ctrlPr>
                            <a:rPr lang="en-US" altLang="zh-CN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</m:e>
                      </m:d>
                      <m:r>
                        <a:rPr lang="en-US" altLang="zh-CN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0</m:t>
                          </m:r>
                        </m:sub>
                      </m:sSub>
                      <m:r>
                        <a:rPr lang="en-US" altLang="zh-CN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+</m:t>
                      </m:r>
                      <m:sSub>
                        <m:sSubPr>
                          <m:ctrlPr>
                            <a:rPr lang="en-US" altLang="zh-CN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</m:t>
                          </m:r>
                        </m:sub>
                      </m:sSub>
                      <m:r>
                        <a:rPr lang="en-US" altLang="zh-CN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𝑥</m:t>
                      </m:r>
                    </m:oMath>
                  </m:oMathPara>
                </a14:m>
                <a:endParaRPr lang="zh-CN" altLang="en-US" sz="3200" dirty="0">
                  <a:solidFill>
                    <a:srgbClr val="FF0000"/>
                  </a:solidFill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6715AB1-3387-4851-9499-BDBCE75BF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944" y="2253833"/>
                <a:ext cx="3746730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0261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 err="1">
                <a:latin typeface="+mn-lt"/>
                <a:ea typeface="+mn-ea"/>
                <a:cs typeface="+mn-ea"/>
                <a:sym typeface="+mn-lt"/>
              </a:rPr>
              <a:t>单变量线性回归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660400" y="1397000"/>
                <a:ext cx="10718800" cy="4729163"/>
              </a:xfrm>
            </p:spPr>
            <p:txBody>
              <a:bodyPr/>
              <a:lstStyle/>
              <a:p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代价函数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选择变量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</m:t>
                        </m:r>
                      </m:sub>
                    </m:sSub>
                    <m:r>
                      <a:rPr lang="zh-CN" altLang="en-US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对于训练样本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 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使得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h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 接近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𝑦</m:t>
                    </m:r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.</a:t>
                </a:r>
                <a:endParaRPr lang="zh-CN" altLang="en-US" dirty="0">
                  <a:latin typeface="+mn-lt"/>
                  <a:cs typeface="+mn-ea"/>
                  <a:sym typeface="+mn-lt"/>
                </a:endParaRPr>
              </a:p>
              <a:p>
                <a:pPr lvl="1"/>
                <a:endParaRPr lang="zh-CN" altLang="en-US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660400" y="1397000"/>
                <a:ext cx="10718800" cy="4729163"/>
              </a:xfrm>
              <a:blipFill>
                <a:blip r:embed="rId2"/>
                <a:stretch>
                  <a:fillRect l="-1023" t="-21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EDC3DC-2009-4CD5-B52B-BC4D62D21889}"/>
                  </a:ext>
                </a:extLst>
              </p:cNvPr>
              <p:cNvSpPr txBox="1"/>
              <p:nvPr/>
            </p:nvSpPr>
            <p:spPr>
              <a:xfrm>
                <a:off x="2209800" y="3276600"/>
                <a:ext cx="7200900" cy="1531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800" b="1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平方误差函数</a:t>
                </a:r>
                <a:endParaRPr lang="en-US" altLang="zh-CN" sz="2800" b="1" dirty="0">
                  <a:solidFill>
                    <a:srgbClr val="FF0000"/>
                  </a:solidFill>
                  <a:latin typeface="+mn-lt"/>
                  <a:cs typeface="+mn-ea"/>
                  <a:sym typeface="+mn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𝐽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2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(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cs typeface="+mn-ea"/>
                                              <a:sym typeface="+mn-lt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cs typeface="+mn-ea"/>
                                              <a:sym typeface="+mn-lt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𝑦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400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EDC3DC-2009-4CD5-B52B-BC4D62D218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3276600"/>
                <a:ext cx="7200900" cy="1531445"/>
              </a:xfrm>
              <a:prstGeom prst="rect">
                <a:avLst/>
              </a:prstGeom>
              <a:blipFill>
                <a:blip r:embed="rId3"/>
                <a:stretch>
                  <a:fillRect t="-43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60383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 err="1">
                <a:latin typeface="+mn-lt"/>
                <a:ea typeface="+mn-ea"/>
                <a:cs typeface="+mn-ea"/>
                <a:sym typeface="+mn-lt"/>
              </a:rPr>
              <a:t>单变量线性回归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660400" y="1397000"/>
                <a:ext cx="10718800" cy="4729163"/>
              </a:xfrm>
            </p:spPr>
            <p:txBody>
              <a:bodyPr/>
              <a:lstStyle/>
              <a:p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梯度下降算法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重复直至收敛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marL="457176" lvl="1" indent="0">
                  <a:buNone/>
                </a:pP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{</a:t>
                </a:r>
              </a:p>
              <a:p>
                <a:pPr marL="457176" lvl="1" indent="0">
                  <a:buNone/>
                </a:pP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𝑗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≔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𝑗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𝛼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𝜕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𝐽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marL="457176" lvl="1" indent="0">
                  <a:buNone/>
                </a:pP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    (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同时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更新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𝑗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=0</m:t>
                    </m:r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𝑗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=1</m:t>
                    </m:r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)</a:t>
                </a:r>
              </a:p>
              <a:p>
                <a:pPr marL="457176" lvl="1" indent="0">
                  <a:buNone/>
                </a:pP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}</a:t>
                </a:r>
              </a:p>
              <a:p>
                <a:endParaRPr lang="zh-CN" altLang="en-US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660400" y="1397000"/>
                <a:ext cx="10718800" cy="4729163"/>
              </a:xfrm>
              <a:blipFill>
                <a:blip r:embed="rId2"/>
                <a:stretch>
                  <a:fillRect l="-1023" t="-21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C0C85510-BF24-4BBA-9A87-3F6DE15BA0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2313305"/>
              </p:ext>
            </p:extLst>
          </p:nvPr>
        </p:nvGraphicFramePr>
        <p:xfrm>
          <a:off x="7213546" y="2340265"/>
          <a:ext cx="4327236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F0706AA4-DCDE-4C48-9CCD-107601B9E78F}"/>
              </a:ext>
            </a:extLst>
          </p:cNvPr>
          <p:cNvCxnSpPr>
            <a:cxnSpLocks/>
          </p:cNvCxnSpPr>
          <p:nvPr/>
        </p:nvCxnSpPr>
        <p:spPr>
          <a:xfrm flipH="1">
            <a:off x="10499564" y="3429000"/>
            <a:ext cx="182291" cy="561109"/>
          </a:xfrm>
          <a:prstGeom prst="straightConnector1">
            <a:avLst/>
          </a:prstGeom>
          <a:ln w="539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B4F59E54-0E65-4B0F-9736-84865B32BC43}"/>
              </a:ext>
            </a:extLst>
          </p:cNvPr>
          <p:cNvCxnSpPr>
            <a:cxnSpLocks/>
          </p:cNvCxnSpPr>
          <p:nvPr/>
        </p:nvCxnSpPr>
        <p:spPr>
          <a:xfrm flipH="1">
            <a:off x="10187836" y="4050880"/>
            <a:ext cx="306983" cy="561109"/>
          </a:xfrm>
          <a:prstGeom prst="straightConnector1">
            <a:avLst/>
          </a:prstGeom>
          <a:ln w="539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25FF51C0-302C-471D-8438-ACBAD1D59FE4}"/>
              </a:ext>
            </a:extLst>
          </p:cNvPr>
          <p:cNvCxnSpPr>
            <a:cxnSpLocks/>
          </p:cNvCxnSpPr>
          <p:nvPr/>
        </p:nvCxnSpPr>
        <p:spPr>
          <a:xfrm flipH="1">
            <a:off x="9715500" y="4672760"/>
            <a:ext cx="391392" cy="385109"/>
          </a:xfrm>
          <a:prstGeom prst="straightConnector1">
            <a:avLst/>
          </a:prstGeom>
          <a:ln w="539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15628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 err="1">
                <a:latin typeface="+mn-lt"/>
                <a:ea typeface="+mn-ea"/>
                <a:cs typeface="+mn-ea"/>
                <a:sym typeface="+mn-lt"/>
              </a:rPr>
              <a:t>单变量线性回归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60400" y="1397000"/>
            <a:ext cx="10718800" cy="4729163"/>
          </a:xfrm>
        </p:spPr>
        <p:txBody>
          <a:bodyPr/>
          <a:lstStyle/>
          <a:p>
            <a:r>
              <a:rPr lang="zh-CN" altLang="en-US" dirty="0">
                <a:latin typeface="+mn-lt"/>
                <a:cs typeface="+mn-ea"/>
                <a:sym typeface="+mn-lt"/>
              </a:rPr>
              <a:t>梯度下降算法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65368D1-B51C-4657-A00B-D2EAF308862B}"/>
                  </a:ext>
                </a:extLst>
              </p:cNvPr>
              <p:cNvSpPr txBox="1"/>
              <p:nvPr/>
            </p:nvSpPr>
            <p:spPr>
              <a:xfrm>
                <a:off x="3200400" y="2044849"/>
                <a:ext cx="7510401" cy="11005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𝜕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𝐽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𝜕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2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(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cs typeface="+mn-ea"/>
                                              <a:sym typeface="+mn-lt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cs typeface="+mn-ea"/>
                                              <a:sym typeface="+mn-lt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𝑦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sz="2400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65368D1-B51C-4657-A00B-D2EAF30886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2044849"/>
                <a:ext cx="7510401" cy="11005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8D218A2B-1F89-4602-8FA3-D2D25A467CFF}"/>
                  </a:ext>
                </a:extLst>
              </p:cNvPr>
              <p:cNvSpPr/>
              <p:nvPr/>
            </p:nvSpPr>
            <p:spPr>
              <a:xfrm>
                <a:off x="4767824" y="3065231"/>
                <a:ext cx="4707122" cy="11005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𝜕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2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𝑚</m:t>
                          </m:r>
                        </m:den>
                      </m:f>
                      <m:r>
                        <a:rPr lang="en-US" altLang="zh-CN" sz="2400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𝑖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1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𝑥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(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𝑖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400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8D218A2B-1F89-4602-8FA3-D2D25A467C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7824" y="3065231"/>
                <a:ext cx="4707122" cy="11005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66E0280-77B9-48CD-AC41-07E426F687A3}"/>
                  </a:ext>
                </a:extLst>
              </p:cNvPr>
              <p:cNvSpPr txBox="1"/>
              <p:nvPr/>
            </p:nvSpPr>
            <p:spPr>
              <a:xfrm>
                <a:off x="3200400" y="4361086"/>
                <a:ext cx="5937972" cy="1008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𝑗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=0 :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𝜕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𝐽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𝑚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𝑚</m:t>
                          </m:r>
                        </m:sup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h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𝑥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𝑦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sz="2400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66E0280-77B9-48CD-AC41-07E426F68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4361086"/>
                <a:ext cx="5937972" cy="10082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EC07B3F-DED4-4452-A516-FF35D4415324}"/>
                  </a:ext>
                </a:extLst>
              </p:cNvPr>
              <p:cNvSpPr txBox="1"/>
              <p:nvPr/>
            </p:nvSpPr>
            <p:spPr>
              <a:xfrm>
                <a:off x="3200400" y="5431011"/>
                <a:ext cx="6639510" cy="1008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𝑗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=1 :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𝜕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𝐽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𝑚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𝑚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cs typeface="+mn-ea"/>
                                              <a:sym typeface="+mn-lt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cs typeface="+mn-ea"/>
                                              <a:sym typeface="+mn-lt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𝑦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(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𝑖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400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EC07B3F-DED4-4452-A516-FF35D44153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5431011"/>
                <a:ext cx="6639510" cy="10082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0032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 err="1">
                <a:latin typeface="+mn-lt"/>
                <a:ea typeface="+mn-ea"/>
                <a:cs typeface="+mn-ea"/>
                <a:sym typeface="+mn-lt"/>
              </a:rPr>
              <a:t>单变量线性回归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60400" y="1397000"/>
            <a:ext cx="10718800" cy="4729163"/>
          </a:xfrm>
        </p:spPr>
        <p:txBody>
          <a:bodyPr/>
          <a:lstStyle/>
          <a:p>
            <a:r>
              <a:rPr lang="zh-CN" altLang="en-US" dirty="0">
                <a:latin typeface="+mn-lt"/>
                <a:cs typeface="+mn-ea"/>
                <a:sym typeface="+mn-lt"/>
              </a:rPr>
              <a:t>梯度下降算法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4E1B8F2-B049-48D4-89CF-99781640F14A}"/>
                  </a:ext>
                </a:extLst>
              </p:cNvPr>
              <p:cNvSpPr txBox="1"/>
              <p:nvPr/>
            </p:nvSpPr>
            <p:spPr>
              <a:xfrm>
                <a:off x="2135152" y="2160558"/>
                <a:ext cx="8151848" cy="28425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CN" sz="2400" dirty="0">
                  <a:latin typeface="+mn-lt"/>
                  <a:cs typeface="+mn-ea"/>
                  <a:sym typeface="+mn-lt"/>
                </a:endParaRPr>
              </a:p>
              <a:p>
                <a:r>
                  <a:rPr lang="zh-CN" altLang="en-US" sz="3200" dirty="0">
                    <a:latin typeface="+mn-lt"/>
                    <a:cs typeface="+mn-ea"/>
                    <a:sym typeface="+mn-lt"/>
                  </a:rPr>
                  <a:t>重复直至收敛</a:t>
                </a:r>
                <a:r>
                  <a:rPr lang="en-US" altLang="zh-CN" sz="3200" dirty="0">
                    <a:latin typeface="+mn-lt"/>
                    <a:cs typeface="+mn-ea"/>
                    <a:sym typeface="+mn-lt"/>
                  </a:rPr>
                  <a:t>{</a:t>
                </a:r>
              </a:p>
              <a:p>
                <a:r>
                  <a:rPr lang="en-US" altLang="zh-CN" sz="3200" dirty="0">
                    <a:latin typeface="+mn-lt"/>
                    <a:cs typeface="+mn-ea"/>
                    <a:sym typeface="+mn-lt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𝜃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0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≔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𝜃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0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−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𝛼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𝑚</m:t>
                        </m:r>
                      </m:den>
                    </m:f>
                    <m:r>
                      <a:rPr lang="en-US" altLang="zh-CN" sz="3200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</m:t>
                    </m:r>
                    <m:nary>
                      <m:naryPr>
                        <m:chr m:val="∑"/>
                        <m:ctrlP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𝑖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=1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𝑚</m:t>
                        </m:r>
                      </m:sup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(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h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𝑦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)</m:t>
                        </m:r>
                      </m:e>
                    </m:nary>
                  </m:oMath>
                </a14:m>
                <a:endParaRPr lang="en-US" altLang="zh-CN" sz="3200" dirty="0">
                  <a:latin typeface="+mn-lt"/>
                  <a:cs typeface="+mn-ea"/>
                  <a:sym typeface="+mn-lt"/>
                </a:endParaRPr>
              </a:p>
              <a:p>
                <a:r>
                  <a:rPr lang="en-US" altLang="zh-CN" sz="3200" dirty="0">
                    <a:latin typeface="+mn-lt"/>
                    <a:cs typeface="+mn-ea"/>
                    <a:sym typeface="+mn-lt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𝜃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≔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𝜃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−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𝛼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𝑚</m:t>
                        </m:r>
                      </m:den>
                    </m:f>
                    <m:r>
                      <a:rPr lang="en-US" altLang="zh-CN" sz="3200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</m:t>
                    </m:r>
                    <m:nary>
                      <m:naryPr>
                        <m:chr m:val="∑"/>
                        <m:ctrlP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𝑖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=1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𝑚</m:t>
                        </m:r>
                      </m:sup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(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h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𝑦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)</m:t>
                        </m:r>
                        <m:r>
                          <a:rPr lang="en-US" altLang="zh-CN" sz="320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∙</m:t>
                        </m:r>
                        <m:sSup>
                          <m:sSup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(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𝑖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)</m:t>
                            </m:r>
                          </m:sup>
                        </m:sSup>
                      </m:e>
                    </m:nary>
                  </m:oMath>
                </a14:m>
                <a:endParaRPr lang="en-US" altLang="zh-CN" sz="3200" dirty="0">
                  <a:latin typeface="+mn-lt"/>
                  <a:cs typeface="+mn-ea"/>
                  <a:sym typeface="+mn-lt"/>
                </a:endParaRPr>
              </a:p>
              <a:p>
                <a:r>
                  <a:rPr lang="en-US" altLang="zh-CN" sz="3200" dirty="0">
                    <a:latin typeface="+mn-lt"/>
                    <a:cs typeface="+mn-ea"/>
                    <a:sym typeface="+mn-lt"/>
                  </a:rPr>
                  <a:t>}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4E1B8F2-B049-48D4-89CF-99781640F1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152" y="2160558"/>
                <a:ext cx="8151848" cy="2842573"/>
              </a:xfrm>
              <a:prstGeom prst="rect">
                <a:avLst/>
              </a:prstGeom>
              <a:blipFill>
                <a:blip r:embed="rId2"/>
                <a:stretch>
                  <a:fillRect l="-1868" b="-68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21661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 err="1">
                <a:latin typeface="+mn-lt"/>
                <a:ea typeface="+mn-ea"/>
                <a:cs typeface="+mn-ea"/>
                <a:sym typeface="+mn-lt"/>
              </a:rPr>
              <a:t>单变量线性回归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D71ABBE-E151-46C7-8D15-F0B38ACA34C3}"/>
                  </a:ext>
                </a:extLst>
              </p:cNvPr>
              <p:cNvSpPr txBox="1"/>
              <p:nvPr/>
            </p:nvSpPr>
            <p:spPr>
              <a:xfrm>
                <a:off x="1724891" y="1672936"/>
                <a:ext cx="402886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h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altLang="zh-CN" b="0" dirty="0">
                  <a:latin typeface="+mn-lt"/>
                  <a:cs typeface="+mn-ea"/>
                  <a:sym typeface="+mn-lt"/>
                </a:endParaRPr>
              </a:p>
              <a:p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(for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, this is a function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𝑥</m:t>
                    </m:r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)</a:t>
                </a:r>
                <a:endParaRPr lang="zh-CN" altLang="en-US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D71ABBE-E151-46C7-8D15-F0B38ACA34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4891" y="1672936"/>
                <a:ext cx="4028860" cy="646331"/>
              </a:xfrm>
              <a:prstGeom prst="rect">
                <a:avLst/>
              </a:prstGeom>
              <a:blipFill>
                <a:blip r:embed="rId2"/>
                <a:stretch>
                  <a:fillRect l="-1362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335FE5D-D26F-44FF-AEF4-C199EEDCE023}"/>
                  </a:ext>
                </a:extLst>
              </p:cNvPr>
              <p:cNvSpPr txBox="1"/>
              <p:nvPr/>
            </p:nvSpPr>
            <p:spPr>
              <a:xfrm>
                <a:off x="6976336" y="1690254"/>
                <a:ext cx="358425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𝐽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)</m:t>
                      </m:r>
                    </m:oMath>
                  </m:oMathPara>
                </a14:m>
                <a:endParaRPr lang="en-US" altLang="zh-CN" b="0" dirty="0">
                  <a:latin typeface="+mn-lt"/>
                  <a:cs typeface="+mn-ea"/>
                  <a:sym typeface="+mn-lt"/>
                </a:endParaRPr>
              </a:p>
              <a:p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(function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)</a:t>
                </a:r>
                <a:endParaRPr lang="zh-CN" altLang="en-US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335FE5D-D26F-44FF-AEF4-C199EEDCE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6336" y="1690254"/>
                <a:ext cx="3584251" cy="646331"/>
              </a:xfrm>
              <a:prstGeom prst="rect">
                <a:avLst/>
              </a:prstGeom>
              <a:blipFill>
                <a:blip r:embed="rId3"/>
                <a:stretch>
                  <a:fillRect l="-1361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3FFBA715-DE09-4CCF-8C0D-C6760579C2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5345" y="2433458"/>
            <a:ext cx="4496801" cy="352787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24650EC-4F8A-4E69-BD93-384C475DDE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9856" y="2433458"/>
            <a:ext cx="4571334" cy="3527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8601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 err="1">
                <a:latin typeface="+mn-lt"/>
                <a:ea typeface="+mn-ea"/>
                <a:cs typeface="+mn-ea"/>
                <a:sym typeface="+mn-lt"/>
              </a:rPr>
              <a:t>单变量线性回归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9D863E0-DDF0-4A21-9320-6994EF5D6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69" y="2440270"/>
            <a:ext cx="4542804" cy="354822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9FF25FA-4D84-4AE1-9CC8-F3543C762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351" y="2431992"/>
            <a:ext cx="4366527" cy="35427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D71ABBE-E151-46C7-8D15-F0B38ACA34C3}"/>
                  </a:ext>
                </a:extLst>
              </p:cNvPr>
              <p:cNvSpPr txBox="1"/>
              <p:nvPr/>
            </p:nvSpPr>
            <p:spPr>
              <a:xfrm>
                <a:off x="1724891" y="1672936"/>
                <a:ext cx="402886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h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altLang="zh-CN" b="0" dirty="0">
                  <a:latin typeface="+mn-lt"/>
                  <a:cs typeface="+mn-ea"/>
                  <a:sym typeface="+mn-lt"/>
                </a:endParaRPr>
              </a:p>
              <a:p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(for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, this is a function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𝑥</m:t>
                    </m:r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)</a:t>
                </a:r>
                <a:endParaRPr lang="zh-CN" altLang="en-US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D71ABBE-E151-46C7-8D15-F0B38ACA34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4891" y="1672936"/>
                <a:ext cx="4028860" cy="646331"/>
              </a:xfrm>
              <a:prstGeom prst="rect">
                <a:avLst/>
              </a:prstGeom>
              <a:blipFill>
                <a:blip r:embed="rId4"/>
                <a:stretch>
                  <a:fillRect l="-1362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335FE5D-D26F-44FF-AEF4-C199EEDCE023}"/>
                  </a:ext>
                </a:extLst>
              </p:cNvPr>
              <p:cNvSpPr txBox="1"/>
              <p:nvPr/>
            </p:nvSpPr>
            <p:spPr>
              <a:xfrm>
                <a:off x="6976336" y="1690254"/>
                <a:ext cx="358425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𝐽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)</m:t>
                      </m:r>
                    </m:oMath>
                  </m:oMathPara>
                </a14:m>
                <a:endParaRPr lang="en-US" altLang="zh-CN" b="0" dirty="0">
                  <a:latin typeface="+mn-lt"/>
                  <a:cs typeface="+mn-ea"/>
                  <a:sym typeface="+mn-lt"/>
                </a:endParaRPr>
              </a:p>
              <a:p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(function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)</a:t>
                </a:r>
                <a:endParaRPr lang="zh-CN" altLang="en-US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335FE5D-D26F-44FF-AEF4-C199EEDCE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6336" y="1690254"/>
                <a:ext cx="3584251" cy="646331"/>
              </a:xfrm>
              <a:prstGeom prst="rect">
                <a:avLst/>
              </a:prstGeom>
              <a:blipFill>
                <a:blip r:embed="rId5"/>
                <a:stretch>
                  <a:fillRect l="-1361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63786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 err="1">
                <a:latin typeface="+mn-lt"/>
                <a:ea typeface="+mn-ea"/>
                <a:cs typeface="+mn-ea"/>
                <a:sym typeface="+mn-lt"/>
              </a:rPr>
              <a:t>单变量线性回归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09545AE-FE55-4F54-9D52-8B3BB5F8E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268" y="2497517"/>
            <a:ext cx="4451532" cy="347420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013DA56-D77B-415C-8ACA-0A188418F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156" y="2438323"/>
            <a:ext cx="4490671" cy="35643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D71ABBE-E151-46C7-8D15-F0B38ACA34C3}"/>
                  </a:ext>
                </a:extLst>
              </p:cNvPr>
              <p:cNvSpPr txBox="1"/>
              <p:nvPr/>
            </p:nvSpPr>
            <p:spPr>
              <a:xfrm>
                <a:off x="1724891" y="1672936"/>
                <a:ext cx="402886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h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altLang="zh-CN" b="0" dirty="0">
                  <a:latin typeface="+mn-lt"/>
                  <a:cs typeface="+mn-ea"/>
                  <a:sym typeface="+mn-lt"/>
                </a:endParaRPr>
              </a:p>
              <a:p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(for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, this is a function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𝑥</m:t>
                    </m:r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)</a:t>
                </a:r>
                <a:endParaRPr lang="zh-CN" altLang="en-US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D71ABBE-E151-46C7-8D15-F0B38ACA34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4891" y="1672936"/>
                <a:ext cx="4028860" cy="646331"/>
              </a:xfrm>
              <a:prstGeom prst="rect">
                <a:avLst/>
              </a:prstGeom>
              <a:blipFill>
                <a:blip r:embed="rId4"/>
                <a:stretch>
                  <a:fillRect l="-1362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335FE5D-D26F-44FF-AEF4-C199EEDCE023}"/>
                  </a:ext>
                </a:extLst>
              </p:cNvPr>
              <p:cNvSpPr txBox="1"/>
              <p:nvPr/>
            </p:nvSpPr>
            <p:spPr>
              <a:xfrm>
                <a:off x="6976336" y="1690254"/>
                <a:ext cx="358425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𝐽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)</m:t>
                      </m:r>
                    </m:oMath>
                  </m:oMathPara>
                </a14:m>
                <a:endParaRPr lang="en-US" altLang="zh-CN" b="0" dirty="0">
                  <a:latin typeface="+mn-lt"/>
                  <a:cs typeface="+mn-ea"/>
                  <a:sym typeface="+mn-lt"/>
                </a:endParaRPr>
              </a:p>
              <a:p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(function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)</a:t>
                </a:r>
                <a:endParaRPr lang="zh-CN" altLang="en-US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335FE5D-D26F-44FF-AEF4-C199EEDCE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6336" y="1690254"/>
                <a:ext cx="3584251" cy="646331"/>
              </a:xfrm>
              <a:prstGeom prst="rect">
                <a:avLst/>
              </a:prstGeom>
              <a:blipFill>
                <a:blip r:embed="rId5"/>
                <a:stretch>
                  <a:fillRect l="-1361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55563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 err="1">
                <a:latin typeface="+mn-lt"/>
                <a:ea typeface="+mn-ea"/>
                <a:cs typeface="+mn-ea"/>
                <a:sym typeface="+mn-lt"/>
              </a:rPr>
              <a:t>单变量线性回归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69D8B14-9E73-40D5-8CDD-4621E6E01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855" y="2462645"/>
            <a:ext cx="4547095" cy="348744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3E21E89-099A-4B8A-919E-F8B8BFFB9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897" y="2439206"/>
            <a:ext cx="4485276" cy="35212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D71ABBE-E151-46C7-8D15-F0B38ACA34C3}"/>
                  </a:ext>
                </a:extLst>
              </p:cNvPr>
              <p:cNvSpPr txBox="1"/>
              <p:nvPr/>
            </p:nvSpPr>
            <p:spPr>
              <a:xfrm>
                <a:off x="1724891" y="1672936"/>
                <a:ext cx="402886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h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altLang="zh-CN" b="0" dirty="0">
                  <a:latin typeface="+mn-lt"/>
                  <a:cs typeface="+mn-ea"/>
                  <a:sym typeface="+mn-lt"/>
                </a:endParaRPr>
              </a:p>
              <a:p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(for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, this is a function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𝑥</m:t>
                    </m:r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)</a:t>
                </a:r>
                <a:endParaRPr lang="zh-CN" altLang="en-US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D71ABBE-E151-46C7-8D15-F0B38ACA34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4891" y="1672936"/>
                <a:ext cx="4028860" cy="646331"/>
              </a:xfrm>
              <a:prstGeom prst="rect">
                <a:avLst/>
              </a:prstGeom>
              <a:blipFill>
                <a:blip r:embed="rId4"/>
                <a:stretch>
                  <a:fillRect l="-1362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335FE5D-D26F-44FF-AEF4-C199EEDCE023}"/>
                  </a:ext>
                </a:extLst>
              </p:cNvPr>
              <p:cNvSpPr txBox="1"/>
              <p:nvPr/>
            </p:nvSpPr>
            <p:spPr>
              <a:xfrm>
                <a:off x="6976336" y="1690254"/>
                <a:ext cx="358425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𝐽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)</m:t>
                      </m:r>
                    </m:oMath>
                  </m:oMathPara>
                </a14:m>
                <a:endParaRPr lang="en-US" altLang="zh-CN" b="0" dirty="0">
                  <a:latin typeface="+mn-lt"/>
                  <a:cs typeface="+mn-ea"/>
                  <a:sym typeface="+mn-lt"/>
                </a:endParaRPr>
              </a:p>
              <a:p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(function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)</a:t>
                </a:r>
                <a:endParaRPr lang="zh-CN" altLang="en-US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335FE5D-D26F-44FF-AEF4-C199EEDCE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6336" y="1690254"/>
                <a:ext cx="3584251" cy="646331"/>
              </a:xfrm>
              <a:prstGeom prst="rect">
                <a:avLst/>
              </a:prstGeom>
              <a:blipFill>
                <a:blip r:embed="rId5"/>
                <a:stretch>
                  <a:fillRect l="-1361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19827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 err="1">
                <a:latin typeface="+mn-lt"/>
                <a:ea typeface="+mn-ea"/>
                <a:cs typeface="+mn-ea"/>
                <a:sym typeface="+mn-lt"/>
              </a:rPr>
              <a:t>单变量线性回归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8033FD7-9BB0-473B-849A-1CFB4BBAB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858" y="2467952"/>
            <a:ext cx="4524506" cy="349283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B7AA847-7139-45B1-8DA2-EE188FDDF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518" y="2405561"/>
            <a:ext cx="4520045" cy="36456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D71ABBE-E151-46C7-8D15-F0B38ACA34C3}"/>
                  </a:ext>
                </a:extLst>
              </p:cNvPr>
              <p:cNvSpPr txBox="1"/>
              <p:nvPr/>
            </p:nvSpPr>
            <p:spPr>
              <a:xfrm>
                <a:off x="1724891" y="1672936"/>
                <a:ext cx="402886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h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altLang="zh-CN" b="0" dirty="0">
                  <a:latin typeface="+mn-lt"/>
                  <a:cs typeface="+mn-ea"/>
                  <a:sym typeface="+mn-lt"/>
                </a:endParaRPr>
              </a:p>
              <a:p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(for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, this is a function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𝑥</m:t>
                    </m:r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)</a:t>
                </a:r>
                <a:endParaRPr lang="zh-CN" altLang="en-US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D71ABBE-E151-46C7-8D15-F0B38ACA34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4891" y="1672936"/>
                <a:ext cx="4028860" cy="646331"/>
              </a:xfrm>
              <a:prstGeom prst="rect">
                <a:avLst/>
              </a:prstGeom>
              <a:blipFill>
                <a:blip r:embed="rId4"/>
                <a:stretch>
                  <a:fillRect l="-1362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335FE5D-D26F-44FF-AEF4-C199EEDCE023}"/>
                  </a:ext>
                </a:extLst>
              </p:cNvPr>
              <p:cNvSpPr txBox="1"/>
              <p:nvPr/>
            </p:nvSpPr>
            <p:spPr>
              <a:xfrm>
                <a:off x="6976336" y="1690254"/>
                <a:ext cx="358425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𝐽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)</m:t>
                      </m:r>
                    </m:oMath>
                  </m:oMathPara>
                </a14:m>
                <a:endParaRPr lang="en-US" altLang="zh-CN" b="0" dirty="0">
                  <a:latin typeface="+mn-lt"/>
                  <a:cs typeface="+mn-ea"/>
                  <a:sym typeface="+mn-lt"/>
                </a:endParaRPr>
              </a:p>
              <a:p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(function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)</a:t>
                </a:r>
                <a:endParaRPr lang="zh-CN" altLang="en-US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335FE5D-D26F-44FF-AEF4-C199EEDCE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6336" y="1690254"/>
                <a:ext cx="3584251" cy="646331"/>
              </a:xfrm>
              <a:prstGeom prst="rect">
                <a:avLst/>
              </a:prstGeom>
              <a:blipFill>
                <a:blip r:embed="rId5"/>
                <a:stretch>
                  <a:fillRect l="-1361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32441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 err="1">
                <a:latin typeface="+mn-lt"/>
                <a:ea typeface="+mn-ea"/>
                <a:cs typeface="+mn-ea"/>
                <a:sym typeface="+mn-lt"/>
              </a:rPr>
              <a:t>单变量线性回归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F94F8A0-0511-4BE5-BE1D-708B5AE84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182" y="2439679"/>
            <a:ext cx="4487791" cy="353076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7BD1754-6C19-4BD5-A3F2-C93DAEB18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673" y="2423684"/>
            <a:ext cx="4483891" cy="35257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D71ABBE-E151-46C7-8D15-F0B38ACA34C3}"/>
                  </a:ext>
                </a:extLst>
              </p:cNvPr>
              <p:cNvSpPr txBox="1"/>
              <p:nvPr/>
            </p:nvSpPr>
            <p:spPr>
              <a:xfrm>
                <a:off x="1724891" y="1672936"/>
                <a:ext cx="402886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h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altLang="zh-CN" b="0" dirty="0">
                  <a:latin typeface="+mn-lt"/>
                  <a:cs typeface="+mn-ea"/>
                  <a:sym typeface="+mn-lt"/>
                </a:endParaRPr>
              </a:p>
              <a:p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(for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, this is a function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𝑥</m:t>
                    </m:r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)</a:t>
                </a:r>
                <a:endParaRPr lang="zh-CN" altLang="en-US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D71ABBE-E151-46C7-8D15-F0B38ACA34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4891" y="1672936"/>
                <a:ext cx="4028860" cy="646331"/>
              </a:xfrm>
              <a:prstGeom prst="rect">
                <a:avLst/>
              </a:prstGeom>
              <a:blipFill>
                <a:blip r:embed="rId4"/>
                <a:stretch>
                  <a:fillRect l="-1362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335FE5D-D26F-44FF-AEF4-C199EEDCE023}"/>
                  </a:ext>
                </a:extLst>
              </p:cNvPr>
              <p:cNvSpPr txBox="1"/>
              <p:nvPr/>
            </p:nvSpPr>
            <p:spPr>
              <a:xfrm>
                <a:off x="6976336" y="1690254"/>
                <a:ext cx="358425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𝐽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)</m:t>
                      </m:r>
                    </m:oMath>
                  </m:oMathPara>
                </a14:m>
                <a:endParaRPr lang="en-US" altLang="zh-CN" b="0" dirty="0">
                  <a:latin typeface="+mn-lt"/>
                  <a:cs typeface="+mn-ea"/>
                  <a:sym typeface="+mn-lt"/>
                </a:endParaRPr>
              </a:p>
              <a:p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(function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)</a:t>
                </a:r>
                <a:endParaRPr lang="zh-CN" altLang="en-US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335FE5D-D26F-44FF-AEF4-C199EEDCE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6336" y="1690254"/>
                <a:ext cx="3584251" cy="646331"/>
              </a:xfrm>
              <a:prstGeom prst="rect">
                <a:avLst/>
              </a:prstGeom>
              <a:blipFill>
                <a:blip r:embed="rId5"/>
                <a:stretch>
                  <a:fillRect l="-1361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37580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dirty="0" err="1">
                <a:latin typeface="+mn-lt"/>
                <a:ea typeface="+mn-ea"/>
                <a:cs typeface="+mn-ea"/>
                <a:sym typeface="+mn-lt"/>
              </a:rPr>
              <a:t>线性多元回归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673100" y="1397000"/>
                <a:ext cx="10706100" cy="4729163"/>
              </a:xfrm>
            </p:spPr>
            <p:txBody>
              <a:bodyPr/>
              <a:lstStyle/>
              <a:p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多变量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符号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:</a:t>
                </a:r>
              </a:p>
              <a:p>
                <a:pPr marL="685781" lvl="1" indent="-285750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𝑛</m:t>
                    </m:r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-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特征数量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marL="685781" lvl="1" indent="-285750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-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第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i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个训练示例的输入（特征）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marL="685781" lvl="1" indent="-285750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𝑗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 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-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第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i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个训练示例中特征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j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的值</a:t>
                </a:r>
              </a:p>
              <a:p>
                <a:endParaRPr lang="zh-CN" altLang="en-US" dirty="0">
                  <a:latin typeface="+mn-lt"/>
                  <a:cs typeface="+mn-ea"/>
                  <a:sym typeface="+mn-lt"/>
                </a:endParaRPr>
              </a:p>
              <a:p>
                <a:endParaRPr lang="zh-CN" altLang="en-US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673100" y="1397000"/>
                <a:ext cx="10706100" cy="4729163"/>
              </a:xfrm>
              <a:blipFill>
                <a:blip r:embed="rId2"/>
                <a:stretch>
                  <a:fillRect l="-1024" t="-21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88C85B2-2C02-4789-88DC-1FE956117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759915"/>
              </p:ext>
            </p:extLst>
          </p:nvPr>
        </p:nvGraphicFramePr>
        <p:xfrm>
          <a:off x="4495800" y="1283112"/>
          <a:ext cx="7023100" cy="244302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04620">
                  <a:extLst>
                    <a:ext uri="{9D8B030D-6E8A-4147-A177-3AD203B41FA5}">
                      <a16:colId xmlns:a16="http://schemas.microsoft.com/office/drawing/2014/main" val="1137300721"/>
                    </a:ext>
                  </a:extLst>
                </a:gridCol>
                <a:gridCol w="1404620">
                  <a:extLst>
                    <a:ext uri="{9D8B030D-6E8A-4147-A177-3AD203B41FA5}">
                      <a16:colId xmlns:a16="http://schemas.microsoft.com/office/drawing/2014/main" val="52675927"/>
                    </a:ext>
                  </a:extLst>
                </a:gridCol>
                <a:gridCol w="1404620">
                  <a:extLst>
                    <a:ext uri="{9D8B030D-6E8A-4147-A177-3AD203B41FA5}">
                      <a16:colId xmlns:a16="http://schemas.microsoft.com/office/drawing/2014/main" val="3897728921"/>
                    </a:ext>
                  </a:extLst>
                </a:gridCol>
                <a:gridCol w="1404620">
                  <a:extLst>
                    <a:ext uri="{9D8B030D-6E8A-4147-A177-3AD203B41FA5}">
                      <a16:colId xmlns:a16="http://schemas.microsoft.com/office/drawing/2014/main" val="2449058991"/>
                    </a:ext>
                  </a:extLst>
                </a:gridCol>
                <a:gridCol w="1404620">
                  <a:extLst>
                    <a:ext uri="{9D8B030D-6E8A-4147-A177-3AD203B41FA5}">
                      <a16:colId xmlns:a16="http://schemas.microsoft.com/office/drawing/2014/main" val="3736350342"/>
                    </a:ext>
                  </a:extLst>
                </a:gridCol>
              </a:tblGrid>
              <a:tr h="8068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Size in feet</a:t>
                      </a:r>
                      <a:r>
                        <a:rPr lang="en-US" altLang="zh-CN" sz="1500" baseline="300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CN" sz="1500" baseline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(x1)</a:t>
                      </a:r>
                    </a:p>
                  </a:txBody>
                  <a:tcPr marL="80687" marR="80687" marT="40343" marB="4034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Number of bedrooms</a:t>
                      </a:r>
                    </a:p>
                    <a:p>
                      <a:pPr algn="ctr"/>
                      <a:r>
                        <a:rPr lang="en-US" altLang="zh-CN" sz="15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(x2)</a:t>
                      </a:r>
                      <a:endParaRPr lang="zh-CN" altLang="en-US" sz="15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0687" marR="80687" marT="40343" marB="4034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Number of floors</a:t>
                      </a:r>
                    </a:p>
                    <a:p>
                      <a:pPr algn="ctr"/>
                      <a:r>
                        <a:rPr lang="en-US" altLang="zh-CN" sz="15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(x3)</a:t>
                      </a:r>
                      <a:endParaRPr lang="zh-CN" altLang="en-US" sz="15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0687" marR="80687" marT="40343" marB="4034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Age of home (years)</a:t>
                      </a:r>
                    </a:p>
                    <a:p>
                      <a:pPr algn="ctr"/>
                      <a:r>
                        <a:rPr lang="en-US" altLang="zh-CN" sz="15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(x4)</a:t>
                      </a:r>
                      <a:endParaRPr lang="zh-CN" altLang="en-US" sz="15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0687" marR="80687" marT="40343" marB="4034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Price ($) in 1000’s</a:t>
                      </a:r>
                    </a:p>
                    <a:p>
                      <a:pPr algn="ctr"/>
                      <a:r>
                        <a:rPr lang="en-US" altLang="zh-CN" sz="15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(y)</a:t>
                      </a:r>
                      <a:endParaRPr lang="zh-CN" altLang="en-US" sz="15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0687" marR="80687" marT="40343" marB="4034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18601235"/>
                  </a:ext>
                </a:extLst>
              </a:tr>
              <a:tr h="3272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2104</a:t>
                      </a:r>
                      <a:endParaRPr lang="zh-CN" altLang="en-US" sz="15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0687" marR="80687" marT="40343" marB="4034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5</a:t>
                      </a:r>
                      <a:endParaRPr lang="zh-CN" altLang="en-US" sz="15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0687" marR="80687" marT="40343" marB="4034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1</a:t>
                      </a:r>
                      <a:endParaRPr lang="zh-CN" altLang="en-US" sz="15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0687" marR="80687" marT="40343" marB="4034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45</a:t>
                      </a:r>
                      <a:endParaRPr lang="zh-CN" altLang="en-US" sz="15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0687" marR="80687" marT="40343" marB="4034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460</a:t>
                      </a:r>
                      <a:endParaRPr lang="zh-CN" altLang="en-US" sz="15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0687" marR="80687" marT="40343" marB="4034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03381486"/>
                  </a:ext>
                </a:extLst>
              </a:tr>
              <a:tr h="3272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1416</a:t>
                      </a:r>
                      <a:endParaRPr lang="zh-CN" altLang="en-US" sz="15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0687" marR="80687" marT="40343" marB="4034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3</a:t>
                      </a:r>
                      <a:endParaRPr lang="zh-CN" altLang="en-US" sz="15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0687" marR="80687" marT="40343" marB="4034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2</a:t>
                      </a:r>
                      <a:endParaRPr lang="zh-CN" altLang="en-US" sz="15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0687" marR="80687" marT="40343" marB="4034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40</a:t>
                      </a:r>
                      <a:endParaRPr lang="zh-CN" altLang="en-US" sz="15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0687" marR="80687" marT="40343" marB="4034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232</a:t>
                      </a:r>
                      <a:endParaRPr lang="zh-CN" altLang="en-US" sz="15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0687" marR="80687" marT="40343" marB="4034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73917582"/>
                  </a:ext>
                </a:extLst>
              </a:tr>
              <a:tr h="3272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1534</a:t>
                      </a:r>
                      <a:endParaRPr lang="zh-CN" altLang="en-US" sz="15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0687" marR="80687" marT="40343" marB="4034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3</a:t>
                      </a:r>
                      <a:endParaRPr lang="zh-CN" altLang="en-US" sz="15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0687" marR="80687" marT="40343" marB="4034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2</a:t>
                      </a:r>
                      <a:endParaRPr lang="zh-CN" altLang="en-US" sz="15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0687" marR="80687" marT="40343" marB="4034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30</a:t>
                      </a:r>
                      <a:endParaRPr lang="zh-CN" altLang="en-US" sz="15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0687" marR="80687" marT="40343" marB="4034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315</a:t>
                      </a:r>
                      <a:endParaRPr lang="zh-CN" altLang="en-US" sz="15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0687" marR="80687" marT="40343" marB="4034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08994463"/>
                  </a:ext>
                </a:extLst>
              </a:tr>
              <a:tr h="3272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852</a:t>
                      </a:r>
                      <a:endParaRPr lang="zh-CN" altLang="en-US" sz="15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0687" marR="80687" marT="40343" marB="4034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1</a:t>
                      </a:r>
                      <a:endParaRPr lang="zh-CN" altLang="en-US" sz="15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0687" marR="80687" marT="40343" marB="4034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1</a:t>
                      </a:r>
                      <a:endParaRPr lang="zh-CN" altLang="en-US" sz="15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0687" marR="80687" marT="40343" marB="4034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36</a:t>
                      </a:r>
                      <a:endParaRPr lang="zh-CN" altLang="en-US" sz="15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0687" marR="80687" marT="40343" marB="4034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178</a:t>
                      </a:r>
                      <a:endParaRPr lang="zh-CN" altLang="en-US" sz="15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0687" marR="80687" marT="40343" marB="4034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63057834"/>
                  </a:ext>
                </a:extLst>
              </a:tr>
              <a:tr h="3272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…</a:t>
                      </a:r>
                      <a:endParaRPr lang="zh-CN" altLang="en-US" sz="15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0687" marR="80687" marT="40343" marB="4034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…</a:t>
                      </a:r>
                      <a:endParaRPr lang="zh-CN" altLang="en-US" sz="15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0687" marR="80687" marT="40343" marB="4034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…</a:t>
                      </a:r>
                      <a:endParaRPr lang="zh-CN" altLang="en-US" sz="15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0687" marR="80687" marT="40343" marB="4034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…</a:t>
                      </a:r>
                      <a:endParaRPr lang="zh-CN" altLang="en-US" sz="15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0687" marR="80687" marT="40343" marB="4034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…</a:t>
                      </a:r>
                      <a:endParaRPr lang="zh-CN" altLang="en-US" sz="15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0687" marR="80687" marT="40343" marB="4034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50981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96375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dirty="0" err="1">
                <a:latin typeface="+mn-lt"/>
                <a:ea typeface="+mn-ea"/>
                <a:cs typeface="+mn-ea"/>
                <a:sym typeface="+mn-lt"/>
              </a:rPr>
              <a:t>线性多元回归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660400" y="1397000"/>
                <a:ext cx="10718800" cy="4729163"/>
              </a:xfrm>
            </p:spPr>
            <p:txBody>
              <a:bodyPr/>
              <a:lstStyle/>
              <a:p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假设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h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</m:e>
                      </m:d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0</m:t>
                          </m:r>
                        </m:sub>
                      </m:sSub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+…+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endParaRPr lang="zh-CN" altLang="en-US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660400" y="1397000"/>
                <a:ext cx="10718800" cy="4729163"/>
              </a:xfrm>
              <a:blipFill>
                <a:blip r:embed="rId2"/>
                <a:stretch>
                  <a:fillRect l="-1023" t="-21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AE32E77-1ED8-496A-ABF1-8388B0CFC107}"/>
                  </a:ext>
                </a:extLst>
              </p:cNvPr>
              <p:cNvSpPr txBox="1"/>
              <p:nvPr/>
            </p:nvSpPr>
            <p:spPr>
              <a:xfrm>
                <a:off x="2362200" y="2793932"/>
                <a:ext cx="3178627" cy="23582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∈</m:t>
                      </m:r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ℝ</m:t>
                          </m:r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𝑛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lang="en-US" altLang="zh-CN" sz="3200" b="0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AE32E77-1ED8-496A-ABF1-8388B0CFC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2793932"/>
                <a:ext cx="3178627" cy="23582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15AA48B-5556-4388-90BC-B7552F67B5D9}"/>
                  </a:ext>
                </a:extLst>
              </p:cNvPr>
              <p:cNvSpPr txBox="1"/>
              <p:nvPr/>
            </p:nvSpPr>
            <p:spPr>
              <a:xfrm>
                <a:off x="6781800" y="2676080"/>
                <a:ext cx="3183820" cy="24760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𝜃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∈</m:t>
                      </m:r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ℝ</m:t>
                          </m:r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𝑛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lang="en-US" altLang="zh-CN" sz="3200" b="0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15AA48B-5556-4388-90BC-B7552F67B5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800" y="2676080"/>
                <a:ext cx="3183820" cy="24760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A40F9E3-3152-450A-8772-2E36FB2D9208}"/>
                  </a:ext>
                </a:extLst>
              </p:cNvPr>
              <p:cNvSpPr txBox="1"/>
              <p:nvPr/>
            </p:nvSpPr>
            <p:spPr>
              <a:xfrm>
                <a:off x="4930937" y="5799526"/>
                <a:ext cx="2321276" cy="5936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h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𝑇</m:t>
                          </m:r>
                        </m:sup>
                      </m:sSup>
                      <m:r>
                        <a:rPr lang="en-US" altLang="zh-CN" sz="32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𝑥</m:t>
                      </m:r>
                    </m:oMath>
                  </m:oMathPara>
                </a14:m>
                <a:endParaRPr lang="en-US" altLang="zh-CN" sz="3200" b="0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A40F9E3-3152-450A-8772-2E36FB2D92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0937" y="5799526"/>
                <a:ext cx="2321276" cy="5936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849452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dirty="0" err="1">
                <a:latin typeface="+mn-lt"/>
                <a:ea typeface="+mn-ea"/>
                <a:cs typeface="+mn-ea"/>
                <a:sym typeface="+mn-lt"/>
              </a:rPr>
              <a:t>线性多元回归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60400" y="1397000"/>
            <a:ext cx="10718800" cy="4729163"/>
          </a:xfrm>
        </p:spPr>
        <p:txBody>
          <a:bodyPr/>
          <a:lstStyle/>
          <a:p>
            <a:r>
              <a:rPr lang="zh-CN" altLang="en-US" dirty="0">
                <a:latin typeface="+mn-lt"/>
                <a:cs typeface="+mn-ea"/>
                <a:sym typeface="+mn-lt"/>
              </a:rPr>
              <a:t>方法</a:t>
            </a:r>
            <a:r>
              <a:rPr lang="en-US" altLang="zh-CN" dirty="0">
                <a:latin typeface="+mn-lt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cs typeface="+mn-ea"/>
                <a:sym typeface="+mn-lt"/>
              </a:rPr>
              <a:t>：梯度下降算法</a:t>
            </a:r>
          </a:p>
          <a:p>
            <a:endParaRPr lang="zh-CN" altLang="en-US" dirty="0">
              <a:latin typeface="+mn-lt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4E1B8F2-B049-48D4-89CF-99781640F14A}"/>
                  </a:ext>
                </a:extLst>
              </p:cNvPr>
              <p:cNvSpPr txBox="1"/>
              <p:nvPr/>
            </p:nvSpPr>
            <p:spPr>
              <a:xfrm>
                <a:off x="1905000" y="2286000"/>
                <a:ext cx="8991600" cy="22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CN" sz="3200" dirty="0">
                  <a:latin typeface="+mn-lt"/>
                  <a:cs typeface="+mn-ea"/>
                  <a:sym typeface="+mn-lt"/>
                </a:endParaRPr>
              </a:p>
              <a:p>
                <a:r>
                  <a:rPr lang="zh-CN" altLang="en-US" sz="3200" dirty="0">
                    <a:latin typeface="+mn-lt"/>
                    <a:cs typeface="+mn-ea"/>
                    <a:sym typeface="+mn-lt"/>
                  </a:rPr>
                  <a:t>重复至收敛</a:t>
                </a:r>
                <a:r>
                  <a:rPr lang="en-US" altLang="zh-CN" sz="3200" dirty="0">
                    <a:latin typeface="+mn-lt"/>
                    <a:cs typeface="+mn-ea"/>
                    <a:sym typeface="+mn-lt"/>
                  </a:rPr>
                  <a:t>{</a:t>
                </a:r>
              </a:p>
              <a:p>
                <a:r>
                  <a:rPr lang="en-US" altLang="zh-CN" sz="3200" dirty="0">
                    <a:latin typeface="+mn-lt"/>
                    <a:cs typeface="+mn-ea"/>
                    <a:sym typeface="+mn-lt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𝜃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𝑗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≔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𝜃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𝑗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−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𝛼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𝑚</m:t>
                        </m:r>
                      </m:den>
                    </m:f>
                    <m:r>
                      <a:rPr lang="en-US" altLang="zh-CN" sz="3200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</m:t>
                    </m:r>
                    <m:nary>
                      <m:naryPr>
                        <m:chr m:val="∑"/>
                        <m:ctrlP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𝑖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=1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𝑚</m:t>
                        </m:r>
                      </m:sup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(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h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𝑦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)</m:t>
                        </m:r>
                        <m:r>
                          <a:rPr lang="en-US" altLang="zh-CN" sz="320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∙</m:t>
                        </m:r>
                        <m:sSubSup>
                          <m:sSubSup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𝑗</m:t>
                            </m:r>
                          </m:sub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(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𝑖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)</m:t>
                            </m:r>
                          </m:sup>
                        </m:sSubSup>
                      </m:e>
                    </m:nary>
                  </m:oMath>
                </a14:m>
                <a:endParaRPr lang="en-US" altLang="zh-CN" sz="3200" dirty="0">
                  <a:latin typeface="+mn-lt"/>
                  <a:cs typeface="+mn-ea"/>
                  <a:sym typeface="+mn-lt"/>
                </a:endParaRPr>
              </a:p>
              <a:p>
                <a:r>
                  <a:rPr lang="en-US" altLang="zh-CN" sz="3200" dirty="0">
                    <a:latin typeface="+mn-lt"/>
                    <a:cs typeface="+mn-ea"/>
                    <a:sym typeface="+mn-lt"/>
                  </a:rPr>
                  <a:t>}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4E1B8F2-B049-48D4-89CF-99781640F1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286000"/>
                <a:ext cx="8991600" cy="2269660"/>
              </a:xfrm>
              <a:prstGeom prst="rect">
                <a:avLst/>
              </a:prstGeom>
              <a:blipFill>
                <a:blip r:embed="rId2"/>
                <a:stretch>
                  <a:fillRect l="-1763"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58955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dirty="0" err="1">
                <a:latin typeface="+mn-lt"/>
                <a:ea typeface="+mn-ea"/>
                <a:cs typeface="+mn-ea"/>
                <a:sym typeface="+mn-lt"/>
              </a:rPr>
              <a:t>线性多元回归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60400" y="1397000"/>
            <a:ext cx="10718800" cy="4729163"/>
          </a:xfrm>
        </p:spPr>
        <p:txBody>
          <a:bodyPr/>
          <a:lstStyle/>
          <a:p>
            <a:r>
              <a:rPr lang="zh-CN" altLang="en-US" dirty="0">
                <a:latin typeface="+mn-lt"/>
                <a:cs typeface="+mn-ea"/>
                <a:sym typeface="+mn-lt"/>
              </a:rPr>
              <a:t>方法</a:t>
            </a:r>
            <a:r>
              <a:rPr lang="en-US" altLang="zh-CN" dirty="0">
                <a:latin typeface="+mn-lt"/>
                <a:cs typeface="+mn-ea"/>
                <a:sym typeface="+mn-lt"/>
              </a:rPr>
              <a:t>2</a:t>
            </a:r>
            <a:r>
              <a:rPr lang="zh-CN" altLang="en-US" dirty="0">
                <a:latin typeface="+mn-lt"/>
                <a:cs typeface="+mn-ea"/>
                <a:sym typeface="+mn-lt"/>
              </a:rPr>
              <a:t>：最小二乘法</a:t>
            </a:r>
          </a:p>
          <a:p>
            <a:endParaRPr lang="zh-CN" altLang="en-US" dirty="0">
              <a:latin typeface="+mn-lt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56EDF08-EA27-4854-9C8D-C6E1C47889A8}"/>
                  </a:ext>
                </a:extLst>
              </p:cNvPr>
              <p:cNvSpPr txBox="1"/>
              <p:nvPr/>
            </p:nvSpPr>
            <p:spPr>
              <a:xfrm>
                <a:off x="690754" y="2200953"/>
                <a:ext cx="5805500" cy="23644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𝑋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1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1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altLang="zh-CN" sz="3200" b="0" i="1" smtClean="0">
                                            <a:latin typeface="Cambria Math" panose="02040503050406030204" pitchFamily="18" charset="0"/>
                                            <a:cs typeface="+mn-ea"/>
                                            <a:sym typeface="+mn-lt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3200" b="0" i="1" smtClean="0">
                                            <a:latin typeface="Cambria Math" panose="02040503050406030204" pitchFamily="18" charset="0"/>
                                            <a:cs typeface="+mn-ea"/>
                                            <a:sym typeface="+mn-lt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2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altLang="zh-CN" sz="3200" b="0" i="1" smtClean="0">
                                            <a:latin typeface="Cambria Math" panose="02040503050406030204" pitchFamily="18" charset="0"/>
                                            <a:cs typeface="+mn-ea"/>
                                            <a:sym typeface="+mn-lt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3200" b="0" i="1" smtClean="0">
                                            <a:latin typeface="Cambria Math" panose="02040503050406030204" pitchFamily="18" charset="0"/>
                                            <a:cs typeface="+mn-ea"/>
                                            <a:sym typeface="+mn-lt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𝑛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altLang="zh-CN" sz="3200" b="0" i="1" smtClean="0">
                                            <a:latin typeface="Cambria Math" panose="02040503050406030204" pitchFamily="18" charset="0"/>
                                            <a:cs typeface="+mn-ea"/>
                                            <a:sym typeface="+mn-lt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3200" b="0" i="1" smtClean="0">
                                            <a:latin typeface="Cambria Math" panose="02040503050406030204" pitchFamily="18" charset="0"/>
                                            <a:cs typeface="+mn-ea"/>
                                            <a:sym typeface="+mn-lt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1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1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altLang="zh-CN" sz="3200" i="1">
                                            <a:latin typeface="Cambria Math" panose="02040503050406030204" pitchFamily="18" charset="0"/>
                                            <a:cs typeface="+mn-ea"/>
                                            <a:sym typeface="+mn-lt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3200" b="0" i="1" smtClean="0">
                                            <a:latin typeface="Cambria Math" panose="02040503050406030204" pitchFamily="18" charset="0"/>
                                            <a:cs typeface="+mn-ea"/>
                                            <a:sym typeface="+mn-lt"/>
                                          </a:rPr>
                                          <m:t>2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2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altLang="zh-CN" sz="3200" i="1">
                                            <a:latin typeface="Cambria Math" panose="02040503050406030204" pitchFamily="18" charset="0"/>
                                            <a:cs typeface="+mn-ea"/>
                                            <a:sym typeface="+mn-lt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3200" b="0" i="1" smtClean="0">
                                            <a:latin typeface="Cambria Math" panose="02040503050406030204" pitchFamily="18" charset="0"/>
                                            <a:cs typeface="+mn-ea"/>
                                            <a:sym typeface="+mn-lt"/>
                                          </a:rPr>
                                          <m:t>2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𝑛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altLang="zh-CN" sz="3200" i="1">
                                            <a:latin typeface="Cambria Math" panose="02040503050406030204" pitchFamily="18" charset="0"/>
                                            <a:cs typeface="+mn-ea"/>
                                            <a:sym typeface="+mn-lt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3200" b="0" i="1" smtClean="0">
                                            <a:latin typeface="Cambria Math" panose="02040503050406030204" pitchFamily="18" charset="0"/>
                                            <a:cs typeface="+mn-ea"/>
                                            <a:sym typeface="+mn-lt"/>
                                          </a:rPr>
                                          <m:t>2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1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1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altLang="zh-CN" sz="3200" b="0" i="1" smtClean="0">
                                            <a:latin typeface="Cambria Math" panose="02040503050406030204" pitchFamily="18" charset="0"/>
                                            <a:cs typeface="+mn-ea"/>
                                            <a:sym typeface="+mn-lt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3200" b="0" i="1" smtClean="0">
                                            <a:latin typeface="Cambria Math" panose="02040503050406030204" pitchFamily="18" charset="0"/>
                                            <a:cs typeface="+mn-ea"/>
                                            <a:sym typeface="+mn-lt"/>
                                          </a:rPr>
                                          <m:t>𝑚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2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altLang="zh-CN" sz="3200" b="0" i="1" smtClean="0">
                                            <a:latin typeface="Cambria Math" panose="02040503050406030204" pitchFamily="18" charset="0"/>
                                            <a:cs typeface="+mn-ea"/>
                                            <a:sym typeface="+mn-lt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3200" b="0" i="1" smtClean="0">
                                            <a:latin typeface="Cambria Math" panose="02040503050406030204" pitchFamily="18" charset="0"/>
                                            <a:cs typeface="+mn-ea"/>
                                            <a:sym typeface="+mn-lt"/>
                                          </a:rPr>
                                          <m:t>𝑚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𝑛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altLang="zh-CN" sz="3200" b="0" i="1" smtClean="0">
                                            <a:latin typeface="Cambria Math" panose="02040503050406030204" pitchFamily="18" charset="0"/>
                                            <a:cs typeface="+mn-ea"/>
                                            <a:sym typeface="+mn-lt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3200" b="0" i="1" smtClean="0">
                                            <a:latin typeface="Cambria Math" panose="02040503050406030204" pitchFamily="18" charset="0"/>
                                            <a:cs typeface="+mn-ea"/>
                                            <a:sym typeface="+mn-lt"/>
                                          </a:rPr>
                                          <m:t>𝑚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3200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56EDF08-EA27-4854-9C8D-C6E1C4788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54" y="2200953"/>
                <a:ext cx="5805500" cy="2364430"/>
              </a:xfrm>
              <a:prstGeom prst="rect">
                <a:avLst/>
              </a:prstGeom>
              <a:blipFill>
                <a:blip r:embed="rId3"/>
                <a:stretch>
                  <a:fillRect b="-2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B304BC3-B464-4C4C-A4EF-648A2B543F48}"/>
                  </a:ext>
                </a:extLst>
              </p:cNvPr>
              <p:cNvSpPr txBox="1"/>
              <p:nvPr/>
            </p:nvSpPr>
            <p:spPr>
              <a:xfrm>
                <a:off x="6858000" y="2292552"/>
                <a:ext cx="1972207" cy="21046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𝑦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𝑦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altLang="zh-CN" sz="3200" b="0" i="1" smtClean="0">
                                            <a:latin typeface="Cambria Math" panose="02040503050406030204" pitchFamily="18" charset="0"/>
                                            <a:cs typeface="+mn-ea"/>
                                            <a:sym typeface="+mn-lt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3200" b="0" i="1" smtClean="0">
                                            <a:latin typeface="Cambria Math" panose="02040503050406030204" pitchFamily="18" charset="0"/>
                                            <a:cs typeface="+mn-ea"/>
                                            <a:sym typeface="+mn-lt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𝑦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altLang="zh-CN" sz="3200" b="0" i="1" smtClean="0">
                                            <a:latin typeface="Cambria Math" panose="02040503050406030204" pitchFamily="18" charset="0"/>
                                            <a:cs typeface="+mn-ea"/>
                                            <a:sym typeface="+mn-lt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3200" b="0" i="1" smtClean="0">
                                            <a:latin typeface="Cambria Math" panose="02040503050406030204" pitchFamily="18" charset="0"/>
                                            <a:cs typeface="+mn-ea"/>
                                            <a:sym typeface="+mn-lt"/>
                                          </a:rPr>
                                          <m:t>2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𝑦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altLang="zh-CN" sz="3200" b="0" i="1" smtClean="0">
                                            <a:latin typeface="Cambria Math" panose="02040503050406030204" pitchFamily="18" charset="0"/>
                                            <a:cs typeface="+mn-ea"/>
                                            <a:sym typeface="+mn-lt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3200" b="0" i="1" smtClean="0">
                                            <a:latin typeface="Cambria Math" panose="02040503050406030204" pitchFamily="18" charset="0"/>
                                            <a:cs typeface="+mn-ea"/>
                                            <a:sym typeface="+mn-lt"/>
                                          </a:rPr>
                                          <m:t>𝑚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3200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B304BC3-B464-4C4C-A4EF-648A2B543F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0" y="2292552"/>
                <a:ext cx="1972207" cy="21046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43D67C4-673F-4DA8-A3A8-25F16E29C6C1}"/>
                  </a:ext>
                </a:extLst>
              </p:cNvPr>
              <p:cNvSpPr txBox="1"/>
              <p:nvPr/>
            </p:nvSpPr>
            <p:spPr>
              <a:xfrm>
                <a:off x="9564661" y="2181654"/>
                <a:ext cx="1601208" cy="23837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𝜃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3200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43D67C4-673F-4DA8-A3A8-25F16E29C6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4661" y="2181654"/>
                <a:ext cx="1601208" cy="23837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8AE8B82-D703-4E0D-A3AF-8E29AB2C5C94}"/>
                  </a:ext>
                </a:extLst>
              </p:cNvPr>
              <p:cNvSpPr txBox="1"/>
              <p:nvPr/>
            </p:nvSpPr>
            <p:spPr>
              <a:xfrm>
                <a:off x="2524894" y="5000152"/>
                <a:ext cx="7125349" cy="5242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𝐽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dP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𝑋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𝜃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−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𝑦</m:t>
                              </m:r>
                            </m:e>
                          </m:d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2</m:t>
                          </m:r>
                        </m:sup>
                      </m:sSubSup>
                      <m:r>
                        <a:rPr lang="en-US" altLang="zh-CN" sz="32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d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𝑋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𝜃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−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𝑇</m:t>
                          </m:r>
                        </m:sup>
                      </m:sSup>
                      <m:r>
                        <a:rPr lang="en-US" altLang="zh-CN" sz="32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(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𝑋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𝜃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−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𝑦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)</m:t>
                      </m:r>
                    </m:oMath>
                  </m:oMathPara>
                </a14:m>
                <a:endParaRPr lang="zh-CN" altLang="en-US" sz="3200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8AE8B82-D703-4E0D-A3AF-8E29AB2C5C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4894" y="5000152"/>
                <a:ext cx="7125349" cy="52424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6BB179D-822B-4BA4-8A54-DCB4EBF73E49}"/>
                  </a:ext>
                </a:extLst>
              </p:cNvPr>
              <p:cNvSpPr txBox="1"/>
              <p:nvPr/>
            </p:nvSpPr>
            <p:spPr>
              <a:xfrm>
                <a:off x="4704589" y="6126165"/>
                <a:ext cx="3148298" cy="665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𝜃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𝑇</m:t>
                          </m:r>
                        </m:sup>
                      </m:sSup>
                      <m:r>
                        <a:rPr lang="en-US" altLang="zh-CN" sz="32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𝑦</m:t>
                      </m:r>
                    </m:oMath>
                  </m:oMathPara>
                </a14:m>
                <a:endParaRPr lang="zh-CN" altLang="en-US" sz="3200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6BB179D-822B-4BA4-8A54-DCB4EBF73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589" y="6126165"/>
                <a:ext cx="3148298" cy="665631"/>
              </a:xfrm>
              <a:prstGeom prst="rect">
                <a:avLst/>
              </a:prstGeom>
              <a:blipFill>
                <a:blip r:embed="rId7"/>
                <a:stretch>
                  <a:fillRect b="-9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781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过拟合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60400" y="1397000"/>
            <a:ext cx="10718800" cy="4729163"/>
          </a:xfrm>
        </p:spPr>
        <p:txBody>
          <a:bodyPr/>
          <a:lstStyle/>
          <a:p>
            <a:r>
              <a:rPr lang="zh-CN" altLang="en-US" dirty="0">
                <a:latin typeface="+mn-lt"/>
                <a:cs typeface="+mn-ea"/>
                <a:sym typeface="+mn-lt"/>
              </a:rPr>
              <a:t>如果我们拥有的特征过多，所学习到的假设可能在训练集上表现得非常好，却无法推广到新样本上</a:t>
            </a:r>
            <a:r>
              <a:rPr lang="en-US" altLang="zh-CN" dirty="0">
                <a:latin typeface="+mn-lt"/>
                <a:cs typeface="+mn-ea"/>
                <a:sym typeface="+mn-lt"/>
              </a:rPr>
              <a:t>.</a:t>
            </a:r>
          </a:p>
          <a:p>
            <a:endParaRPr lang="zh-CN" altLang="en-US" dirty="0">
              <a:latin typeface="+mn-lt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D11AEC3-1C5B-4323-8B97-3098BF397D65}"/>
                  </a:ext>
                </a:extLst>
              </p:cNvPr>
              <p:cNvSpPr txBox="1"/>
              <p:nvPr/>
            </p:nvSpPr>
            <p:spPr>
              <a:xfrm>
                <a:off x="1752600" y="4723103"/>
                <a:ext cx="143302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𝑥</m:t>
                      </m:r>
                    </m:oMath>
                  </m:oMathPara>
                </a14:m>
                <a:endParaRPr lang="zh-CN" altLang="en-US" sz="2800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D11AEC3-1C5B-4323-8B97-3098BF397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4723103"/>
                <a:ext cx="1433021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B1B1CF3-6419-4C73-A776-99A62E569FAF}"/>
                  </a:ext>
                </a:extLst>
              </p:cNvPr>
              <p:cNvSpPr txBox="1"/>
              <p:nvPr/>
            </p:nvSpPr>
            <p:spPr>
              <a:xfrm>
                <a:off x="4891245" y="4723103"/>
                <a:ext cx="2576988" cy="4406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𝑥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800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B1B1CF3-6419-4C73-A776-99A62E569F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1245" y="4723103"/>
                <a:ext cx="2576988" cy="4406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625D3A3-40B3-4272-9898-4879193AA72F}"/>
                  </a:ext>
                </a:extLst>
              </p:cNvPr>
              <p:cNvSpPr txBox="1"/>
              <p:nvPr/>
            </p:nvSpPr>
            <p:spPr>
              <a:xfrm>
                <a:off x="6914163" y="5527333"/>
                <a:ext cx="4874027" cy="4406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𝑥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2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3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4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zh-CN" altLang="en-US" sz="2800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625D3A3-40B3-4272-9898-4879193AA7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4163" y="5527333"/>
                <a:ext cx="4874027" cy="4406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图表 12">
            <a:extLst>
              <a:ext uri="{FF2B5EF4-FFF2-40B4-BE49-F238E27FC236}">
                <a16:creationId xmlns:a16="http://schemas.microsoft.com/office/drawing/2014/main" id="{D75102E0-50BF-47DE-B90A-879DD57EFB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4936452"/>
              </p:ext>
            </p:extLst>
          </p:nvPr>
        </p:nvGraphicFramePr>
        <p:xfrm>
          <a:off x="769870" y="2289357"/>
          <a:ext cx="3114317" cy="2323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4" name="图表 13">
            <a:extLst>
              <a:ext uri="{FF2B5EF4-FFF2-40B4-BE49-F238E27FC236}">
                <a16:creationId xmlns:a16="http://schemas.microsoft.com/office/drawing/2014/main" id="{81399E62-C505-4BA2-AF00-61035032A7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1285484"/>
              </p:ext>
            </p:extLst>
          </p:nvPr>
        </p:nvGraphicFramePr>
        <p:xfrm>
          <a:off x="762000" y="2289357"/>
          <a:ext cx="3114317" cy="2323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5" name="图表 14">
            <a:extLst>
              <a:ext uri="{FF2B5EF4-FFF2-40B4-BE49-F238E27FC236}">
                <a16:creationId xmlns:a16="http://schemas.microsoft.com/office/drawing/2014/main" id="{E7AE708E-A5A0-44AB-9381-269272B536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8657079"/>
              </p:ext>
            </p:extLst>
          </p:nvPr>
        </p:nvGraphicFramePr>
        <p:xfrm>
          <a:off x="4458149" y="2306271"/>
          <a:ext cx="3114317" cy="2323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6" name="图表 15">
            <a:extLst>
              <a:ext uri="{FF2B5EF4-FFF2-40B4-BE49-F238E27FC236}">
                <a16:creationId xmlns:a16="http://schemas.microsoft.com/office/drawing/2014/main" id="{4F0723D3-F88D-4EC6-A5E1-E715F67E08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7407844"/>
              </p:ext>
            </p:extLst>
          </p:nvPr>
        </p:nvGraphicFramePr>
        <p:xfrm>
          <a:off x="4450279" y="2306271"/>
          <a:ext cx="3114317" cy="2323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17" name="图表 16">
            <a:extLst>
              <a:ext uri="{FF2B5EF4-FFF2-40B4-BE49-F238E27FC236}">
                <a16:creationId xmlns:a16="http://schemas.microsoft.com/office/drawing/2014/main" id="{808161FC-0A17-4E21-8C72-BBCD5B19EB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8474029"/>
              </p:ext>
            </p:extLst>
          </p:nvPr>
        </p:nvGraphicFramePr>
        <p:xfrm>
          <a:off x="8103819" y="2294717"/>
          <a:ext cx="3114317" cy="2323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18" name="图表 17">
            <a:extLst>
              <a:ext uri="{FF2B5EF4-FFF2-40B4-BE49-F238E27FC236}">
                <a16:creationId xmlns:a16="http://schemas.microsoft.com/office/drawing/2014/main" id="{E5C6BC02-FBB3-41F8-BF5F-68DABDEF93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9301624"/>
              </p:ext>
            </p:extLst>
          </p:nvPr>
        </p:nvGraphicFramePr>
        <p:xfrm>
          <a:off x="8103819" y="2289357"/>
          <a:ext cx="3114317" cy="2323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</p:spTree>
    <p:extLst>
      <p:ext uri="{BB962C8B-B14F-4D97-AF65-F5344CB8AC3E}">
        <p14:creationId xmlns:p14="http://schemas.microsoft.com/office/powerpoint/2010/main" val="1032836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过拟合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660400" y="1397000"/>
                <a:ext cx="10718800" cy="4729163"/>
              </a:xfrm>
            </p:spPr>
            <p:txBody>
              <a:bodyPr/>
              <a:lstStyle/>
              <a:p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正则化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惩罚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并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使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3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非常小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endParaRPr lang="zh-CN" altLang="en-US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660400" y="1397000"/>
                <a:ext cx="10718800" cy="4729163"/>
              </a:xfrm>
              <a:blipFill>
                <a:blip r:embed="rId3"/>
                <a:stretch>
                  <a:fillRect l="-1023" t="-21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B1B1CF3-6419-4C73-A776-99A62E569FAF}"/>
                  </a:ext>
                </a:extLst>
              </p:cNvPr>
              <p:cNvSpPr txBox="1"/>
              <p:nvPr/>
            </p:nvSpPr>
            <p:spPr>
              <a:xfrm>
                <a:off x="2269766" y="4321832"/>
                <a:ext cx="2576988" cy="4406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𝑥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800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B1B1CF3-6419-4C73-A776-99A62E569F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9766" y="4321832"/>
                <a:ext cx="2576988" cy="4406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625D3A3-40B3-4272-9898-4879193AA72F}"/>
                  </a:ext>
                </a:extLst>
              </p:cNvPr>
              <p:cNvSpPr txBox="1"/>
              <p:nvPr/>
            </p:nvSpPr>
            <p:spPr>
              <a:xfrm>
                <a:off x="5870540" y="4321832"/>
                <a:ext cx="4874027" cy="4406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𝑥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2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3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4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zh-CN" altLang="en-US" sz="2800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625D3A3-40B3-4272-9898-4879193AA7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0540" y="4321832"/>
                <a:ext cx="4874027" cy="4406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E7AE708E-A5A0-44AB-9381-269272B536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6936836"/>
              </p:ext>
            </p:extLst>
          </p:nvPr>
        </p:nvGraphicFramePr>
        <p:xfrm>
          <a:off x="1836670" y="1905000"/>
          <a:ext cx="3114317" cy="2323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7" name="图表 6">
            <a:extLst>
              <a:ext uri="{FF2B5EF4-FFF2-40B4-BE49-F238E27FC236}">
                <a16:creationId xmlns:a16="http://schemas.microsoft.com/office/drawing/2014/main" id="{4F0723D3-F88D-4EC6-A5E1-E715F67E08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0484872"/>
              </p:ext>
            </p:extLst>
          </p:nvPr>
        </p:nvGraphicFramePr>
        <p:xfrm>
          <a:off x="1828800" y="1905000"/>
          <a:ext cx="3114317" cy="2323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8" name="图表 7">
            <a:extLst>
              <a:ext uri="{FF2B5EF4-FFF2-40B4-BE49-F238E27FC236}">
                <a16:creationId xmlns:a16="http://schemas.microsoft.com/office/drawing/2014/main" id="{808161FC-0A17-4E21-8C72-BBCD5B19EB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5637429"/>
              </p:ext>
            </p:extLst>
          </p:nvPr>
        </p:nvGraphicFramePr>
        <p:xfrm>
          <a:off x="6867883" y="1893446"/>
          <a:ext cx="3114317" cy="2323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9" name="图表 8">
            <a:extLst>
              <a:ext uri="{FF2B5EF4-FFF2-40B4-BE49-F238E27FC236}">
                <a16:creationId xmlns:a16="http://schemas.microsoft.com/office/drawing/2014/main" id="{E5C6BC02-FBB3-41F8-BF5F-68DABDEF93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7944811"/>
              </p:ext>
            </p:extLst>
          </p:nvPr>
        </p:nvGraphicFramePr>
        <p:xfrm>
          <a:off x="6867883" y="1888086"/>
          <a:ext cx="3114317" cy="2323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080784C-0B49-428D-976C-413B5EC99E88}"/>
                  </a:ext>
                </a:extLst>
              </p:cNvPr>
              <p:cNvSpPr txBox="1"/>
              <p:nvPr/>
            </p:nvSpPr>
            <p:spPr>
              <a:xfrm>
                <a:off x="-131498" y="5516692"/>
                <a:ext cx="9087293" cy="11005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acc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𝐽</m:t>
                          </m:r>
                        </m:e>
                      </m:acc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;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𝑋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𝑦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2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𝑚</m:t>
                          </m:r>
                        </m:den>
                      </m:f>
                      <m:d>
                        <m:d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4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𝑖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𝑚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h</m:t>
                                      </m:r>
                                      <m:d>
                                        <m:d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cs typeface="+mn-ea"/>
                                              <a:sym typeface="+mn-lt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  <a:cs typeface="+mn-ea"/>
                                                  <a:sym typeface="+mn-lt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  <a:cs typeface="+mn-ea"/>
                                                  <a:sym typeface="+mn-lt"/>
                                                </a:rPr>
                                                <m:t>𝑥</m:t>
                                              </m:r>
                                            </m:e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n-US" altLang="zh-CN" sz="2400" i="1">
                                                      <a:latin typeface="Cambria Math" panose="02040503050406030204" pitchFamily="18" charset="0"/>
                                                      <a:cs typeface="+mn-ea"/>
                                                      <a:sym typeface="+mn-lt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altLang="zh-CN" sz="2400" i="1">
                                                      <a:latin typeface="Cambria Math" panose="02040503050406030204" pitchFamily="18" charset="0"/>
                                                      <a:cs typeface="+mn-ea"/>
                                                      <a:sym typeface="+mn-lt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</m:d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cs typeface="+mn-ea"/>
                                              <a:sym typeface="+mn-lt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cs typeface="+mn-ea"/>
                                              <a:sym typeface="+mn-lt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cs typeface="+mn-ea"/>
                                              <a:sym typeface="+mn-lt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cs typeface="+mn-ea"/>
                                              <a:sym typeface="+mn-lt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cs typeface="+mn-ea"/>
                                              <a:sym typeface="+mn-lt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+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1000</m:t>
                          </m:r>
                          <m:sSubSup>
                            <m:sSub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SupPr>
                            <m:e>
                              <m:r>
                                <a:rPr lang="zh-CN" altLang="en-US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+1000</m:t>
                          </m:r>
                          <m:sSubSup>
                            <m:sSub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Sup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4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altLang="zh-CN" sz="2400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080784C-0B49-428D-976C-413B5EC99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1498" y="5516692"/>
                <a:ext cx="9087293" cy="110055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右箭头 10"/>
          <p:cNvSpPr/>
          <p:nvPr/>
        </p:nvSpPr>
        <p:spPr>
          <a:xfrm>
            <a:off x="8478148" y="5962771"/>
            <a:ext cx="403538" cy="3111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080784C-0B49-428D-976C-413B5EC99E88}"/>
                  </a:ext>
                </a:extLst>
              </p:cNvPr>
              <p:cNvSpPr txBox="1"/>
              <p:nvPr/>
            </p:nvSpPr>
            <p:spPr>
              <a:xfrm>
                <a:off x="8763000" y="5834927"/>
                <a:ext cx="2907550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zh-CN" altLang="en-US" sz="280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3</m:t>
                          </m:r>
                        </m:sub>
                      </m:sSub>
                      <m:r>
                        <a:rPr lang="en-US" altLang="zh-CN" sz="280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≈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0, 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4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≈0</m:t>
                      </m:r>
                    </m:oMath>
                  </m:oMathPara>
                </a14:m>
                <a:endParaRPr lang="en-US" altLang="zh-CN" sz="2800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080784C-0B49-428D-976C-413B5EC99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3000" y="5834927"/>
                <a:ext cx="2907550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/>
          <p:cNvSpPr/>
          <p:nvPr/>
        </p:nvSpPr>
        <p:spPr>
          <a:xfrm>
            <a:off x="5410200" y="5516692"/>
            <a:ext cx="2819400" cy="11005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2347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2" grpId="0"/>
      <p:bldP spid="1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11896" y="3200400"/>
            <a:ext cx="8168208" cy="790865"/>
          </a:xfrm>
        </p:spPr>
        <p:txBody>
          <a:bodyPr/>
          <a:lstStyle/>
          <a:p>
            <a:pPr algn="ctr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分类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4753712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逻辑回归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660400" y="1397000"/>
                <a:ext cx="10718800" cy="4729163"/>
              </a:xfrm>
            </p:spPr>
            <p:txBody>
              <a:bodyPr/>
              <a:lstStyle/>
              <a:p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具有连续输出的线性回归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𝑧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𝑇</m:t>
                          </m:r>
                        </m:sup>
                      </m:sSup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𝑥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∈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𝑅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,   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𝜃</m:t>
                      </m:r>
                      <m:r>
                        <a:rPr lang="en-US" altLang="zh-CN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,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𝑥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∈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𝑅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将输出映射为概率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𝑔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𝑧</m:t>
                          </m:r>
                        </m:e>
                      </m:d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−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marL="0" indent="0" algn="ctr">
                  <a:buNone/>
                </a:pPr>
                <a:r>
                  <a:rPr lang="zh-CN" altLang="en-US" dirty="0">
                    <a:solidFill>
                      <a:schemeClr val="tx1"/>
                    </a:solidFill>
                    <a:latin typeface="+mn-lt"/>
                    <a:cs typeface="+mn-ea"/>
                    <a:sym typeface="+mn-lt"/>
                  </a:rPr>
                  <a:t>逻辑函数（</a:t>
                </a:r>
                <a:r>
                  <a:rPr lang="en-US" altLang="zh-CN" dirty="0">
                    <a:solidFill>
                      <a:schemeClr val="tx1"/>
                    </a:solidFill>
                    <a:latin typeface="+mn-lt"/>
                    <a:cs typeface="+mn-ea"/>
                    <a:sym typeface="+mn-lt"/>
                  </a:rPr>
                  <a:t>Sigmoid</a:t>
                </a:r>
                <a:r>
                  <a:rPr lang="zh-CN" altLang="en-US" dirty="0">
                    <a:solidFill>
                      <a:schemeClr val="tx1"/>
                    </a:solidFill>
                    <a:latin typeface="+mn-lt"/>
                    <a:cs typeface="+mn-ea"/>
                    <a:sym typeface="+mn-lt"/>
                  </a:rPr>
                  <a:t>函数）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marL="0" indent="0">
                  <a:buNone/>
                </a:pP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endParaRPr lang="zh-CN" altLang="en-US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660400" y="1397000"/>
                <a:ext cx="10718800" cy="4729163"/>
              </a:xfrm>
              <a:blipFill>
                <a:blip r:embed="rId2"/>
                <a:stretch>
                  <a:fillRect l="-1023" t="-21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001092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逻辑回归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660400" y="1397000"/>
                <a:ext cx="10718800" cy="4729163"/>
              </a:xfrm>
            </p:spPr>
            <p:txBody>
              <a:bodyPr/>
              <a:lstStyle/>
              <a:p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Sigmoid 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函数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输入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: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−∞~+∞</m:t>
                    </m:r>
                  </m:oMath>
                </a14:m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输出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0~1</m:t>
                    </m:r>
                  </m:oMath>
                </a14:m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连续的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可导的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:endParaRPr lang="zh-CN" altLang="en-US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660400" y="1397000"/>
                <a:ext cx="10718800" cy="4729163"/>
              </a:xfrm>
              <a:blipFill>
                <a:blip r:embed="rId2"/>
                <a:stretch>
                  <a:fillRect l="-1023" t="-23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内容占位符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2582" y="2667000"/>
            <a:ext cx="8389418" cy="3860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698889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逻辑回归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660400" y="1397000"/>
                <a:ext cx="10718800" cy="4729163"/>
              </a:xfrm>
            </p:spPr>
            <p:txBody>
              <a:bodyPr/>
              <a:lstStyle/>
              <a:p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线性正则化</a:t>
                </a:r>
                <a:endParaRPr lang="en-US" altLang="zh-CN" i="1" dirty="0">
                  <a:solidFill>
                    <a:schemeClr val="tx1"/>
                  </a:solidFill>
                  <a:latin typeface="+mn-lt"/>
                  <a:cs typeface="+mn-ea"/>
                  <a:sym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𝑇</m:t>
                          </m:r>
                        </m:sup>
                      </m:sSup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𝑥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0</m:t>
                          </m:r>
                        </m:sub>
                      </m:sSub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+…+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marL="0" indent="0">
                  <a:buNone/>
                </a:pP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逻辑函数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h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</m:e>
                      </m:d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dirty="0">
                  <a:latin typeface="+mn-lt"/>
                  <a:cs typeface="+mn-ea"/>
                  <a:sym typeface="+mn-lt"/>
                </a:endParaRPr>
              </a:p>
              <a:p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marL="0" indent="0">
                  <a:buNone/>
                </a:pPr>
                <a:endParaRPr lang="zh-CN" altLang="en-US" dirty="0">
                  <a:latin typeface="+mn-lt"/>
                  <a:cs typeface="+mn-ea"/>
                  <a:sym typeface="+mn-lt"/>
                </a:endParaRPr>
              </a:p>
              <a:p>
                <a:endParaRPr lang="zh-CN" altLang="en-US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660400" y="1397000"/>
                <a:ext cx="10718800" cy="4729163"/>
              </a:xfrm>
              <a:blipFill>
                <a:blip r:embed="rId3"/>
                <a:stretch>
                  <a:fillRect l="-1023" t="-21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750688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逻辑回归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660400" y="1397000"/>
                <a:ext cx="10718800" cy="4729163"/>
              </a:xfrm>
            </p:spPr>
            <p:txBody>
              <a:bodyPr/>
              <a:lstStyle/>
              <a:p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二分类问题，概率为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𝑝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𝑦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=1</m:t>
                          </m:r>
                        </m:e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;</m:t>
                          </m:r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</m:d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h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sub>
                      </m:sSub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(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𝑥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)</m:t>
                      </m:r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  <a:latin typeface="+mn-lt"/>
                  <a:cs typeface="+mn-ea"/>
                  <a:sym typeface="+mn-lt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solidFill>
                      <a:schemeClr val="tx1"/>
                    </a:solidFill>
                    <a:latin typeface="+mn-lt"/>
                    <a:cs typeface="+mn-ea"/>
                    <a:sym typeface="+mn-lt"/>
                  </a:rPr>
                  <a:t>                                   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𝑝</m:t>
                    </m:r>
                    <m:d>
                      <m:d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𝑦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=0</m:t>
                        </m:r>
                      </m:e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𝑥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;</m:t>
                        </m:r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𝜃</m:t>
                        </m:r>
                      </m:e>
                    </m:d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=1−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h</m:t>
                        </m:r>
                      </m:e>
                      <m:sub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𝜃</m:t>
                        </m:r>
                      </m:sub>
                    </m:sSub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(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𝑥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</m:t>
                    </m:r>
                  </m:oMath>
                </a14:m>
                <a:endParaRPr lang="en-US" altLang="zh-CN" dirty="0">
                  <a:solidFill>
                    <a:schemeClr val="tx1"/>
                  </a:solidFill>
                  <a:latin typeface="+mn-lt"/>
                  <a:cs typeface="+mn-ea"/>
                  <a:sym typeface="+mn-lt"/>
                </a:endParaRPr>
              </a:p>
              <a:p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一个样本的概率是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660400" y="1397000"/>
                <a:ext cx="10718800" cy="4729163"/>
              </a:xfrm>
              <a:blipFill>
                <a:blip r:embed="rId3"/>
                <a:stretch>
                  <a:fillRect l="-1023" t="-23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2688946" y="4038600"/>
                <a:ext cx="6814108" cy="5959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𝑝</m:t>
                      </m:r>
                      <m:d>
                        <m:dPr>
                          <m:ctrlPr>
                            <a:rPr lang="en-US" altLang="zh-CN" sz="32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sz="320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𝑦</m:t>
                          </m:r>
                        </m:e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;</m:t>
                          </m:r>
                          <m:r>
                            <a:rPr lang="zh-CN" altLang="en-US" sz="32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CN" altLang="en-US" sz="32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altLang="zh-CN" sz="32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(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sz="3200" dirty="0">
                              <a:latin typeface="+mn-lt"/>
                              <a:cs typeface="+mn-ea"/>
                              <a:sym typeface="+mn-lt"/>
                            </a:rPr>
                            <m:t> 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)</m:t>
                          </m:r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𝑦</m:t>
                          </m:r>
                        </m:sup>
                      </m:sSup>
                      <m:sSup>
                        <m:sSupPr>
                          <m:ctrlPr>
                            <a:rPr lang="en-US" altLang="zh-CN" sz="32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p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1−</m:t>
                              </m:r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CN" altLang="en-US" sz="32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altLang="zh-CN" sz="32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(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sz="3200" dirty="0">
                              <a:latin typeface="+mn-lt"/>
                              <a:cs typeface="+mn-ea"/>
                              <a:sym typeface="+mn-lt"/>
                            </a:rPr>
                            <m:t> 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)</m:t>
                          </m:r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1−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𝑦</m:t>
                          </m:r>
                        </m:sup>
                      </m:sSup>
                    </m:oMath>
                  </m:oMathPara>
                </a14:m>
                <a:endParaRPr lang="zh-CN" altLang="en-US" sz="3200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8946" y="4038600"/>
                <a:ext cx="6814108" cy="5959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446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逻辑回归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60400" y="1397000"/>
            <a:ext cx="10718800" cy="4729163"/>
          </a:xfrm>
        </p:spPr>
        <p:txBody>
          <a:bodyPr/>
          <a:lstStyle/>
          <a:p>
            <a:r>
              <a:rPr lang="zh-CN" altLang="en-US" dirty="0">
                <a:latin typeface="+mn-lt"/>
                <a:cs typeface="+mn-ea"/>
                <a:sym typeface="+mn-lt"/>
              </a:rPr>
              <a:t>所有样本的概率是：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399312" y="2133600"/>
                <a:ext cx="11038215" cy="1268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𝑝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𝑦</m:t>
                          </m:r>
                        </m:e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𝑋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;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𝜃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𝑖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𝑚</m:t>
                          </m:r>
                        </m:sup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80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(</m:t>
                                  </m:r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𝑖</m:t>
                                  </m:r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en-US" altLang="zh-CN" sz="280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(</m:t>
                                  </m:r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𝑖</m:t>
                                  </m:r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;</m:t>
                              </m:r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𝜃</m:t>
                              </m:r>
                            </m:e>
                          </m:d>
                        </m:e>
                      </m:nary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altLang="zh-CN" sz="28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𝑖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zh-CN" sz="280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(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𝑖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latin typeface="+mn-lt"/>
                                  <a:cs typeface="+mn-ea"/>
                                  <a:sym typeface="+mn-lt"/>
                                </a:rPr>
                                <m:t> 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)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(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𝑖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)</m:t>
                                  </m:r>
                                </m:sup>
                              </m:sSup>
                            </m:sup>
                          </m:sSup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1−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(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𝑖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latin typeface="+mn-lt"/>
                                  <a:cs typeface="+mn-ea"/>
                                  <a:sym typeface="+mn-lt"/>
                                </a:rPr>
                                <m:t> 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(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𝑖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)</m:t>
                                  </m:r>
                                </m:sup>
                              </m:sSup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800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312" y="2133600"/>
                <a:ext cx="11038215" cy="12685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1371600" y="4418152"/>
                <a:ext cx="10370147" cy="1268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𝑙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𝑜𝑔𝐿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(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𝜃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𝑖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(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𝑖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𝑙𝑜𝑔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(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𝑖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latin typeface="+mn-lt"/>
                                  <a:cs typeface="+mn-ea"/>
                                  <a:sym typeface="+mn-lt"/>
                                </a:rPr>
                                <m:t> 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)</m:t>
                              </m:r>
                            </m:e>
                            <m:sup/>
                          </m:sSup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cs typeface="+mn-ea"/>
                                              <a:sym typeface="+mn-lt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cs typeface="+mn-ea"/>
                                              <a:sym typeface="+mn-lt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𝑙𝑜𝑔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1−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(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𝑖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latin typeface="+mn-lt"/>
                                  <a:cs typeface="+mn-ea"/>
                                  <a:sym typeface="+mn-lt"/>
                                </a:rPr>
                                <m:t> 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)</m:t>
                              </m:r>
                            </m:e>
                            <m:sup/>
                          </m:sSup>
                        </m:e>
                      </m:nary>
                    </m:oMath>
                  </m:oMathPara>
                </a14:m>
                <a:endParaRPr lang="zh-CN" altLang="en-US" sz="2800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4418152"/>
                <a:ext cx="10370147" cy="12685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7010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5283BC2F-91B0-42BD-8212-28722D123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逻辑回归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660400" y="1397000"/>
                <a:ext cx="10718800" cy="4729163"/>
              </a:xfrm>
            </p:spPr>
            <p:txBody>
              <a:bodyPr/>
              <a:lstStyle/>
              <a:p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成本函数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solidFill>
                      <a:schemeClr val="tx1"/>
                    </a:solidFill>
                    <a:latin typeface="+mn-lt"/>
                    <a:cs typeface="+mn-ea"/>
                    <a:sym typeface="+mn-lt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𝑚𝑖𝑛</m:t>
                    </m:r>
                    <m:r>
                      <a:rPr lang="en-US" altLang="zh-CN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  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𝐽</m:t>
                    </m:r>
                    <m:d>
                      <m:d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𝜃</m:t>
                        </m:r>
                      </m:e>
                    </m:d>
                  </m:oMath>
                </a14:m>
                <a:endParaRPr lang="en-US" altLang="zh-CN" dirty="0">
                  <a:solidFill>
                    <a:schemeClr val="tx1"/>
                  </a:solidFill>
                  <a:latin typeface="+mn-lt"/>
                  <a:cs typeface="+mn-ea"/>
                  <a:sym typeface="+mn-lt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solidFill>
                      <a:schemeClr val="tx1"/>
                    </a:solidFill>
                    <a:latin typeface="+mn-lt"/>
                    <a:cs typeface="+mn-ea"/>
                    <a:sym typeface="+mn-lt"/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𝐽</m:t>
                    </m:r>
                    <m:d>
                      <m:d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𝜃</m:t>
                        </m:r>
                      </m:e>
                    </m:d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=−</m:t>
                    </m:r>
                    <m:f>
                      <m:f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𝑚</m:t>
                        </m:r>
                      </m:den>
                    </m:f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𝑙𝑜𝑔𝐿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(</m:t>
                    </m:r>
                    <m:r>
                      <a:rPr lang="zh-CN" alt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𝜃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</m:t>
                    </m:r>
                  </m:oMath>
                </a14:m>
                <a:endParaRPr lang="zh-CN" altLang="en-US" dirty="0">
                  <a:solidFill>
                    <a:schemeClr val="tx1"/>
                  </a:solidFill>
                  <a:latin typeface="+mn-lt"/>
                  <a:cs typeface="+mn-ea"/>
                  <a:sym typeface="+mn-lt"/>
                </a:endParaRPr>
              </a:p>
              <a:p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𝐽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𝜃</m:t>
                        </m:r>
                      </m:e>
                    </m:d>
                  </m:oMath>
                </a14:m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 是一个凸函数</a:t>
                </a:r>
              </a:p>
              <a:p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marL="0" indent="0">
                  <a:buNone/>
                </a:pPr>
                <a:endParaRPr lang="en-US" altLang="zh-CN" i="1" dirty="0">
                  <a:solidFill>
                    <a:schemeClr val="tx1"/>
                  </a:solidFill>
                  <a:latin typeface="+mn-lt"/>
                  <a:cs typeface="+mn-ea"/>
                  <a:sym typeface="+mn-lt"/>
                </a:endParaRPr>
              </a:p>
              <a:p>
                <a:endParaRPr lang="zh-CN" altLang="en-US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660400" y="1397000"/>
                <a:ext cx="10718800" cy="4729163"/>
              </a:xfrm>
              <a:blipFill>
                <a:blip r:embed="rId2"/>
                <a:stretch>
                  <a:fillRect l="-1023" t="-21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511269"/>
            <a:ext cx="7231912" cy="4457488"/>
          </a:xfrm>
          <a:prstGeom prst="rect">
            <a:avLst/>
          </a:prstGeom>
        </p:spPr>
      </p:pic>
      <p:pic>
        <p:nvPicPr>
          <p:cNvPr id="5" name="Picture 2" descr="https://img-blog.csdn.net/2018072812062013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480" y="4648200"/>
            <a:ext cx="5038441" cy="121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1365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60400" y="1397000"/>
            <a:ext cx="10718800" cy="4729163"/>
          </a:xfrm>
        </p:spPr>
        <p:txBody>
          <a:bodyPr/>
          <a:lstStyle/>
          <a:p>
            <a:r>
              <a:rPr lang="en-US" altLang="zh-CN" sz="2800" dirty="0" err="1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学习形式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决策树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回归与分类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latin typeface="+mn-lt"/>
                <a:cs typeface="+mn-ea"/>
                <a:sym typeface="+mn-lt"/>
              </a:rPr>
              <a:t>人工神经网络</a:t>
            </a:r>
            <a:endParaRPr lang="en-US" altLang="zh-CN" sz="2800" dirty="0"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集成学习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06CC045E-86E0-4244-95A5-8AEB67FA7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+mn-lt"/>
                <a:ea typeface="+mn-ea"/>
                <a:cs typeface="+mn-ea"/>
                <a:sym typeface="+mn-lt"/>
              </a:rPr>
              <a:t>从示例中学习</a:t>
            </a:r>
            <a:endParaRPr lang="en-US" altLang="zh-CN" sz="4000" dirty="0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8342493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人工神经网络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0" y="966824"/>
            <a:ext cx="7848600" cy="5167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13851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人工神经网络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8" y="1981200"/>
            <a:ext cx="5899669" cy="37338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972" y="1977656"/>
            <a:ext cx="6232487" cy="4099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29295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人工神经网络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660400" y="1397000"/>
                <a:ext cx="10718800" cy="4729163"/>
              </a:xfrm>
            </p:spPr>
            <p:txBody>
              <a:bodyPr/>
              <a:lstStyle/>
              <a:p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激活</a:t>
                </a:r>
                <a14:m>
                  <m:oMath xmlns:m="http://schemas.openxmlformats.org/officeDocument/2006/math">
                    <m:r>
                      <a:rPr lang="zh-CN" alt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函数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𝑎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=</m:t>
                    </m:r>
                    <m:r>
                      <a:rPr lang="zh-CN" alt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𝜎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𝑤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𝑇</m:t>
                        </m:r>
                      </m:sup>
                    </m:sSup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𝑥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+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𝑏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</m:t>
                    </m:r>
                  </m:oMath>
                </a14:m>
                <a:endParaRPr lang="zh-CN" altLang="en-US" dirty="0">
                  <a:solidFill>
                    <a:schemeClr val="tx1"/>
                  </a:solidFill>
                  <a:latin typeface="+mn-lt"/>
                  <a:cs typeface="+mn-ea"/>
                  <a:sym typeface="+mn-lt"/>
                </a:endParaRPr>
              </a:p>
              <a:p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示例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: </a:t>
                </a:r>
                <a:r>
                  <a:rPr lang="en-US" altLang="zh-CN" dirty="0" err="1">
                    <a:latin typeface="+mn-lt"/>
                    <a:cs typeface="+mn-ea"/>
                    <a:sym typeface="+mn-lt"/>
                  </a:rPr>
                  <a:t>ReLU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, Sigmoid, Tanh</a:t>
                </a:r>
                <a:endParaRPr lang="zh-CN" altLang="en-US" dirty="0">
                  <a:latin typeface="+mn-lt"/>
                  <a:cs typeface="+mn-ea"/>
                  <a:sym typeface="+mn-lt"/>
                </a:endParaRPr>
              </a:p>
              <a:p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endParaRPr lang="zh-CN" altLang="en-US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660400" y="1397000"/>
                <a:ext cx="10718800" cy="4729163"/>
              </a:xfrm>
              <a:blipFill>
                <a:blip r:embed="rId2"/>
                <a:stretch>
                  <a:fillRect l="-1023" t="-20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214" y="3733230"/>
            <a:ext cx="4450517" cy="244316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0824" y="3733230"/>
            <a:ext cx="3287789" cy="228106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571" y="3834256"/>
            <a:ext cx="3215251" cy="2180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92759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人工神经网络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60400" y="1397000"/>
            <a:ext cx="10718800" cy="4729163"/>
          </a:xfrm>
        </p:spPr>
        <p:txBody>
          <a:bodyPr/>
          <a:lstStyle/>
          <a:p>
            <a:r>
              <a:rPr lang="zh-CN" altLang="en-US" dirty="0">
                <a:latin typeface="+mn-lt"/>
                <a:cs typeface="+mn-ea"/>
                <a:sym typeface="+mn-lt"/>
              </a:rPr>
              <a:t>前馈 </a:t>
            </a:r>
            <a:r>
              <a:rPr lang="en-US" altLang="zh-CN" dirty="0">
                <a:latin typeface="+mn-lt"/>
                <a:cs typeface="+mn-ea"/>
                <a:sym typeface="+mn-lt"/>
              </a:rPr>
              <a:t>Feed forward</a:t>
            </a:r>
          </a:p>
          <a:p>
            <a:r>
              <a:rPr lang="zh-CN" altLang="en-US" dirty="0">
                <a:latin typeface="+mn-lt"/>
                <a:cs typeface="+mn-ea"/>
                <a:sym typeface="+mn-lt"/>
              </a:rPr>
              <a:t>反向传播 </a:t>
            </a:r>
            <a:r>
              <a:rPr lang="en-US" altLang="zh-CN" dirty="0">
                <a:latin typeface="+mn-lt"/>
                <a:cs typeface="+mn-ea"/>
                <a:sym typeface="+mn-lt"/>
              </a:rPr>
              <a:t>Back propagation</a:t>
            </a:r>
          </a:p>
          <a:p>
            <a:endParaRPr lang="zh-CN" altLang="en-US" dirty="0">
              <a:latin typeface="+mn-lt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2107151"/>
            <a:ext cx="4855245" cy="2901293"/>
          </a:xfrm>
          <a:prstGeom prst="rect">
            <a:avLst/>
          </a:prstGeom>
        </p:spPr>
      </p:pic>
      <p:sp>
        <p:nvSpPr>
          <p:cNvPr id="5" name="右箭头 4"/>
          <p:cNvSpPr/>
          <p:nvPr/>
        </p:nvSpPr>
        <p:spPr>
          <a:xfrm>
            <a:off x="6484694" y="1794191"/>
            <a:ext cx="3315855" cy="3129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右箭头 5"/>
          <p:cNvSpPr/>
          <p:nvPr/>
        </p:nvSpPr>
        <p:spPr>
          <a:xfrm flipH="1">
            <a:off x="6484693" y="4986901"/>
            <a:ext cx="3315855" cy="3129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059539" y="1362789"/>
            <a:ext cx="24048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+mn-lt"/>
                <a:cs typeface="+mn-ea"/>
                <a:sym typeface="+mn-lt"/>
              </a:rPr>
              <a:t>Feed forward </a:t>
            </a:r>
            <a:endParaRPr lang="zh-CN" altLang="en-US" sz="2800" dirty="0">
              <a:latin typeface="+mn-lt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905204" y="5256209"/>
            <a:ext cx="29851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+mn-lt"/>
                <a:cs typeface="+mn-ea"/>
                <a:sym typeface="+mn-lt"/>
              </a:rPr>
              <a:t>Back propagation</a:t>
            </a:r>
            <a:endParaRPr lang="zh-CN" altLang="en-US" sz="2800" dirty="0">
              <a:latin typeface="+mn-lt"/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090246" y="3134873"/>
            <a:ext cx="3879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latin typeface="+mn-lt"/>
                <a:cs typeface="+mn-ea"/>
                <a:sym typeface="+mn-lt"/>
              </a:rPr>
              <a:t>X</a:t>
            </a:r>
            <a:endParaRPr lang="zh-CN" altLang="en-US" sz="4000" dirty="0">
              <a:latin typeface="+mn-lt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803587" y="3134873"/>
            <a:ext cx="3879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latin typeface="+mn-lt"/>
                <a:cs typeface="+mn-ea"/>
                <a:sym typeface="+mn-lt"/>
              </a:rPr>
              <a:t>Y</a:t>
            </a:r>
            <a:endParaRPr lang="zh-CN" altLang="en-US" sz="4000" dirty="0">
              <a:latin typeface="+mn-lt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1845307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人工神经网络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1423438"/>
            <a:ext cx="1032429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57463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人工神经网络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FC5EA45-2FFD-4DFF-9125-C5EF66D6B6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031008"/>
            <a:ext cx="10363200" cy="539381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2A44829-CECD-43F1-991D-D06BD52F466F}"/>
              </a:ext>
            </a:extLst>
          </p:cNvPr>
          <p:cNvSpPr txBox="1"/>
          <p:nvPr/>
        </p:nvSpPr>
        <p:spPr>
          <a:xfrm>
            <a:off x="1173126" y="4114800"/>
            <a:ext cx="2326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在</a:t>
            </a:r>
            <a:r>
              <a:rPr lang="en-US" altLang="zh-CN" dirty="0"/>
              <a:t>2D</a:t>
            </a:r>
            <a:r>
              <a:rPr lang="zh-CN" altLang="en-US" dirty="0"/>
              <a:t>图像上运用卷积</a:t>
            </a:r>
          </a:p>
        </p:txBody>
      </p:sp>
    </p:spTree>
    <p:extLst>
      <p:ext uri="{BB962C8B-B14F-4D97-AF65-F5344CB8AC3E}">
        <p14:creationId xmlns:p14="http://schemas.microsoft.com/office/powerpoint/2010/main" val="78399403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人工神经网络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53C9BFA-3F77-4D17-9792-1E5F3A6C57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66800"/>
            <a:ext cx="10414000" cy="5259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45139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人工神经网络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447ED87-B494-447B-A682-6E5B1A7ED5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66800"/>
            <a:ext cx="10363200" cy="5364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68238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人工神经网络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2F2369F-5F08-4404-BFE9-28A6ECCC2A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91" y="1066800"/>
            <a:ext cx="9961716" cy="521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63248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人工神经网络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50A5D6B-75FB-4024-A2C5-A498A7857E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699" y="1017154"/>
            <a:ext cx="11684601" cy="5581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960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人工神经网络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5CDF1CD-D578-47C3-9192-BF331D8C44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028699"/>
            <a:ext cx="10382552" cy="539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3042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人工神经网络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259F5F1-03C9-4194-9973-A16488E40E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97" y="1028699"/>
            <a:ext cx="10376206" cy="5431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59892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人工神经网络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CC4AF9E-6841-4567-87A8-D350E78D0F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464" y="914400"/>
            <a:ext cx="9647072" cy="5210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01338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人工神经网络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184DBF5-1948-492E-8895-42BD39C785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255" y="1028699"/>
            <a:ext cx="10250637" cy="549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17104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人工神经网络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7F1AD9-B2E0-4C1C-9097-E54FA6CBA6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255" y="838200"/>
            <a:ext cx="9766610" cy="5428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99374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人工神经网络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89" y="1108269"/>
            <a:ext cx="11889622" cy="574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97397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46158C0-F80A-412D-846E-3970F22928A9}"/>
              </a:ext>
            </a:extLst>
          </p:cNvPr>
          <p:cNvSpPr/>
          <p:nvPr/>
        </p:nvSpPr>
        <p:spPr>
          <a:xfrm>
            <a:off x="2526384" y="1668544"/>
            <a:ext cx="7173797" cy="17604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8200BC8-53E3-420F-B540-54F19AE05F85}"/>
              </a:ext>
            </a:extLst>
          </p:cNvPr>
          <p:cNvSpPr txBox="1"/>
          <p:nvPr/>
        </p:nvSpPr>
        <p:spPr>
          <a:xfrm>
            <a:off x="3648409" y="2225607"/>
            <a:ext cx="49297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cs typeface="+mn-ea"/>
                <a:sym typeface="+mn-lt"/>
              </a:rPr>
              <a:t>What is Transformer?</a:t>
            </a:r>
            <a:endParaRPr lang="zh-CN" altLang="en-US" sz="3600" b="1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4288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562B0CF-99BA-4D1E-8350-90ABF1F8ED85}"/>
              </a:ext>
            </a:extLst>
          </p:cNvPr>
          <p:cNvSpPr txBox="1"/>
          <p:nvPr/>
        </p:nvSpPr>
        <p:spPr>
          <a:xfrm>
            <a:off x="520024" y="407833"/>
            <a:ext cx="28186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cs typeface="+mn-ea"/>
                <a:sym typeface="+mn-lt"/>
              </a:rPr>
              <a:t>What is Transformer?</a:t>
            </a:r>
            <a:endParaRPr lang="zh-CN" altLang="en-US" sz="2000" b="1" dirty="0"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41E366F-7707-4DED-8011-97FFD55E1245}"/>
              </a:ext>
            </a:extLst>
          </p:cNvPr>
          <p:cNvSpPr txBox="1"/>
          <p:nvPr/>
        </p:nvSpPr>
        <p:spPr>
          <a:xfrm>
            <a:off x="1012754" y="2246326"/>
            <a:ext cx="31854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cs typeface="+mn-ea"/>
                <a:sym typeface="+mn-lt"/>
              </a:rPr>
              <a:t>1.2. Multi-head attention</a:t>
            </a:r>
            <a:endParaRPr lang="zh-CN" altLang="en-US" sz="2000" b="1" dirty="0"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5D3D489-E992-456F-8D08-2689A09C59E6}"/>
              </a:ext>
            </a:extLst>
          </p:cNvPr>
          <p:cNvSpPr txBox="1"/>
          <p:nvPr/>
        </p:nvSpPr>
        <p:spPr>
          <a:xfrm>
            <a:off x="1012754" y="1662128"/>
            <a:ext cx="23182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cs typeface="+mn-ea"/>
                <a:sym typeface="+mn-lt"/>
              </a:rPr>
              <a:t>1.1. Self-attention</a:t>
            </a:r>
            <a:endParaRPr lang="zh-CN" altLang="en-US" sz="2000" b="1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186BFA9-2B8C-4962-8A22-8E3AF6F27ADC}"/>
              </a:ext>
            </a:extLst>
          </p:cNvPr>
          <p:cNvSpPr txBox="1"/>
          <p:nvPr/>
        </p:nvSpPr>
        <p:spPr>
          <a:xfrm>
            <a:off x="1012754" y="2830523"/>
            <a:ext cx="39453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cs typeface="+mn-ea"/>
                <a:sym typeface="+mn-lt"/>
              </a:rPr>
              <a:t>1.3. Encoder-decoder attention</a:t>
            </a:r>
            <a:endParaRPr lang="zh-CN" altLang="en-US" sz="2000" b="1" dirty="0"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32485C2-6867-40ED-9D8C-0CF805C23AB8}"/>
              </a:ext>
            </a:extLst>
          </p:cNvPr>
          <p:cNvSpPr txBox="1"/>
          <p:nvPr/>
        </p:nvSpPr>
        <p:spPr>
          <a:xfrm>
            <a:off x="1012754" y="3992641"/>
            <a:ext cx="1709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cs typeface="+mn-ea"/>
                <a:sym typeface="+mn-lt"/>
              </a:rPr>
              <a:t>2.1. Encoder</a:t>
            </a:r>
            <a:endParaRPr lang="zh-CN" altLang="en-US" sz="2000" b="1" dirty="0"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44B8BFE-3B2A-4357-A3D0-AAB83EBAE28D}"/>
              </a:ext>
            </a:extLst>
          </p:cNvPr>
          <p:cNvSpPr txBox="1"/>
          <p:nvPr/>
        </p:nvSpPr>
        <p:spPr>
          <a:xfrm>
            <a:off x="1012754" y="4595957"/>
            <a:ext cx="1709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cs typeface="+mn-ea"/>
                <a:sym typeface="+mn-lt"/>
              </a:rPr>
              <a:t>2.2. Decoder</a:t>
            </a:r>
            <a:endParaRPr lang="zh-CN" altLang="en-US" sz="2000" b="1" dirty="0"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0AADC97-8A88-4952-8DB4-4D69AF3458F0}"/>
              </a:ext>
            </a:extLst>
          </p:cNvPr>
          <p:cNvSpPr txBox="1"/>
          <p:nvPr/>
        </p:nvSpPr>
        <p:spPr>
          <a:xfrm>
            <a:off x="1012754" y="5199273"/>
            <a:ext cx="34724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cs typeface="+mn-ea"/>
                <a:sym typeface="+mn-lt"/>
              </a:rPr>
              <a:t>2.3. The whole architecture</a:t>
            </a:r>
            <a:endParaRPr lang="zh-CN" altLang="en-US" sz="2000" b="1" dirty="0"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3419FA2-3BAD-47BD-824B-C4923DD820E2}"/>
              </a:ext>
            </a:extLst>
          </p:cNvPr>
          <p:cNvSpPr txBox="1"/>
          <p:nvPr/>
        </p:nvSpPr>
        <p:spPr>
          <a:xfrm>
            <a:off x="520024" y="1112752"/>
            <a:ext cx="15842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cs typeface="+mn-ea"/>
                <a:sym typeface="+mn-lt"/>
              </a:rPr>
              <a:t>1. Attention</a:t>
            </a:r>
            <a:endParaRPr lang="zh-CN" altLang="en-US" sz="2000" b="1" dirty="0"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4C49BD6-ED68-4F9D-B208-6BB9C625E83C}"/>
              </a:ext>
            </a:extLst>
          </p:cNvPr>
          <p:cNvSpPr txBox="1"/>
          <p:nvPr/>
        </p:nvSpPr>
        <p:spPr>
          <a:xfrm>
            <a:off x="520024" y="3481502"/>
            <a:ext cx="27800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cs typeface="+mn-ea"/>
                <a:sym typeface="+mn-lt"/>
              </a:rPr>
              <a:t>2. Model Architecture</a:t>
            </a:r>
            <a:endParaRPr lang="zh-CN" altLang="en-US" sz="2000" b="1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56799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矩形 108">
            <a:extLst>
              <a:ext uri="{FF2B5EF4-FFF2-40B4-BE49-F238E27FC236}">
                <a16:creationId xmlns:a16="http://schemas.microsoft.com/office/drawing/2014/main" id="{60D0C593-702F-409D-A6B5-8CC819D9E3E1}"/>
              </a:ext>
            </a:extLst>
          </p:cNvPr>
          <p:cNvSpPr/>
          <p:nvPr/>
        </p:nvSpPr>
        <p:spPr>
          <a:xfrm>
            <a:off x="4702260" y="5162586"/>
            <a:ext cx="600137" cy="5181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016BAA4A-76C6-4061-8AC5-C6BA490342F6}"/>
              </a:ext>
            </a:extLst>
          </p:cNvPr>
          <p:cNvSpPr/>
          <p:nvPr/>
        </p:nvSpPr>
        <p:spPr>
          <a:xfrm>
            <a:off x="3944429" y="5159088"/>
            <a:ext cx="600137" cy="5181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2A1CC866-A725-49E1-85DB-016E038F691F}"/>
              </a:ext>
            </a:extLst>
          </p:cNvPr>
          <p:cNvSpPr/>
          <p:nvPr/>
        </p:nvSpPr>
        <p:spPr>
          <a:xfrm>
            <a:off x="9369727" y="5150643"/>
            <a:ext cx="1140794" cy="5181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F1AACBB-27A9-473A-936E-26F54BE1962B}"/>
              </a:ext>
            </a:extLst>
          </p:cNvPr>
          <p:cNvSpPr txBox="1"/>
          <p:nvPr/>
        </p:nvSpPr>
        <p:spPr>
          <a:xfrm>
            <a:off x="520024" y="471729"/>
            <a:ext cx="15842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cs typeface="+mn-ea"/>
                <a:sym typeface="+mn-lt"/>
              </a:rPr>
              <a:t>1. Attention</a:t>
            </a:r>
            <a:endParaRPr lang="zh-CN" altLang="en-US" sz="2000" b="1" dirty="0"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2476046-7B61-42D8-B11D-77962949BA95}"/>
              </a:ext>
            </a:extLst>
          </p:cNvPr>
          <p:cNvSpPr txBox="1"/>
          <p:nvPr/>
        </p:nvSpPr>
        <p:spPr>
          <a:xfrm>
            <a:off x="978444" y="1180752"/>
            <a:ext cx="48942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b="1" dirty="0">
                <a:cs typeface="+mn-ea"/>
                <a:sym typeface="+mn-lt"/>
              </a:rPr>
              <a:t>Encoder-decoder for Neural machine translation</a:t>
            </a:r>
            <a:endParaRPr lang="zh-CN" altLang="en-US" sz="1600" b="1" dirty="0"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B7106B9-7F30-45E7-9BBB-BD547DD5B58D}"/>
              </a:ext>
            </a:extLst>
          </p:cNvPr>
          <p:cNvSpPr/>
          <p:nvPr/>
        </p:nvSpPr>
        <p:spPr>
          <a:xfrm>
            <a:off x="978444" y="1889761"/>
            <a:ext cx="4561840" cy="23164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D5CE88-0E9F-458B-861F-FC81A0F51FE3}"/>
              </a:ext>
            </a:extLst>
          </p:cNvPr>
          <p:cNvSpPr/>
          <p:nvPr/>
        </p:nvSpPr>
        <p:spPr>
          <a:xfrm>
            <a:off x="6644640" y="1889760"/>
            <a:ext cx="4561840" cy="23164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F9E73547-C628-44A2-BD52-F8C1CE89EC64}"/>
              </a:ext>
            </a:extLst>
          </p:cNvPr>
          <p:cNvSpPr/>
          <p:nvPr/>
        </p:nvSpPr>
        <p:spPr>
          <a:xfrm>
            <a:off x="1786365" y="2460864"/>
            <a:ext cx="465496" cy="465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103CA38B-5BF6-4C1D-8002-9CF35D874564}"/>
              </a:ext>
            </a:extLst>
          </p:cNvPr>
          <p:cNvSpPr/>
          <p:nvPr/>
        </p:nvSpPr>
        <p:spPr>
          <a:xfrm>
            <a:off x="2532057" y="2460864"/>
            <a:ext cx="465496" cy="465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CA951BF-A9D6-4B5D-A490-1472CEEE2CF3}"/>
              </a:ext>
            </a:extLst>
          </p:cNvPr>
          <p:cNvSpPr/>
          <p:nvPr/>
        </p:nvSpPr>
        <p:spPr>
          <a:xfrm>
            <a:off x="3277749" y="2460864"/>
            <a:ext cx="465496" cy="465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619E8D6-9F6B-46F6-9072-961868450414}"/>
              </a:ext>
            </a:extLst>
          </p:cNvPr>
          <p:cNvSpPr/>
          <p:nvPr/>
        </p:nvSpPr>
        <p:spPr>
          <a:xfrm>
            <a:off x="4023441" y="2460864"/>
            <a:ext cx="465496" cy="465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DCCCA5A7-1750-4737-AEA3-6822701B83AA}"/>
              </a:ext>
            </a:extLst>
          </p:cNvPr>
          <p:cNvSpPr/>
          <p:nvPr/>
        </p:nvSpPr>
        <p:spPr>
          <a:xfrm>
            <a:off x="4769133" y="2460864"/>
            <a:ext cx="465496" cy="465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3C8024B-768F-4E16-9702-D6C73A10F169}"/>
              </a:ext>
            </a:extLst>
          </p:cNvPr>
          <p:cNvSpPr/>
          <p:nvPr/>
        </p:nvSpPr>
        <p:spPr>
          <a:xfrm>
            <a:off x="7301926" y="2460864"/>
            <a:ext cx="465496" cy="465496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A76365CA-569A-40C0-93CB-5F02A47BD371}"/>
              </a:ext>
            </a:extLst>
          </p:cNvPr>
          <p:cNvSpPr/>
          <p:nvPr/>
        </p:nvSpPr>
        <p:spPr>
          <a:xfrm>
            <a:off x="8222883" y="2460864"/>
            <a:ext cx="465496" cy="465496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ACF44651-097C-49D9-A77D-5D13C28C7DD9}"/>
              </a:ext>
            </a:extLst>
          </p:cNvPr>
          <p:cNvSpPr/>
          <p:nvPr/>
        </p:nvSpPr>
        <p:spPr>
          <a:xfrm>
            <a:off x="9143840" y="2460864"/>
            <a:ext cx="465496" cy="465496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07302148-866C-4F0D-B138-930BEF2694B9}"/>
              </a:ext>
            </a:extLst>
          </p:cNvPr>
          <p:cNvSpPr/>
          <p:nvPr/>
        </p:nvSpPr>
        <p:spPr>
          <a:xfrm>
            <a:off x="10064798" y="2460864"/>
            <a:ext cx="465496" cy="465496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A968B28E-CE36-48A3-9269-AA7A301F1619}"/>
              </a:ext>
            </a:extLst>
          </p:cNvPr>
          <p:cNvCxnSpPr>
            <a:cxnSpLocks/>
          </p:cNvCxnSpPr>
          <p:nvPr/>
        </p:nvCxnSpPr>
        <p:spPr>
          <a:xfrm>
            <a:off x="1062196" y="2693612"/>
            <a:ext cx="6690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48C1EFF8-8ACE-452C-8C28-8AB892755937}"/>
              </a:ext>
            </a:extLst>
          </p:cNvPr>
          <p:cNvCxnSpPr>
            <a:cxnSpLocks/>
          </p:cNvCxnSpPr>
          <p:nvPr/>
        </p:nvCxnSpPr>
        <p:spPr>
          <a:xfrm>
            <a:off x="6742938" y="2693612"/>
            <a:ext cx="494311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EC55EB68-EE8A-455B-9A29-A2445E7BAEC5}"/>
              </a:ext>
            </a:extLst>
          </p:cNvPr>
          <p:cNvCxnSpPr>
            <a:cxnSpLocks/>
          </p:cNvCxnSpPr>
          <p:nvPr/>
        </p:nvCxnSpPr>
        <p:spPr>
          <a:xfrm>
            <a:off x="2272665" y="2693612"/>
            <a:ext cx="2343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EC81F9DD-D2BD-4058-8956-2BE8F0ADF97B}"/>
              </a:ext>
            </a:extLst>
          </p:cNvPr>
          <p:cNvCxnSpPr>
            <a:cxnSpLocks/>
          </p:cNvCxnSpPr>
          <p:nvPr/>
        </p:nvCxnSpPr>
        <p:spPr>
          <a:xfrm>
            <a:off x="3014980" y="2693612"/>
            <a:ext cx="2343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036CC0E7-B365-439E-A17A-9814F32AF696}"/>
              </a:ext>
            </a:extLst>
          </p:cNvPr>
          <p:cNvCxnSpPr>
            <a:cxnSpLocks/>
          </p:cNvCxnSpPr>
          <p:nvPr/>
        </p:nvCxnSpPr>
        <p:spPr>
          <a:xfrm>
            <a:off x="3767455" y="2693612"/>
            <a:ext cx="2343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E22C1226-6E0D-4F34-8410-F0FD6054AC54}"/>
              </a:ext>
            </a:extLst>
          </p:cNvPr>
          <p:cNvCxnSpPr>
            <a:cxnSpLocks/>
          </p:cNvCxnSpPr>
          <p:nvPr/>
        </p:nvCxnSpPr>
        <p:spPr>
          <a:xfrm>
            <a:off x="4506595" y="2693612"/>
            <a:ext cx="2343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EE9EB00A-0033-4ADE-B164-0E47B4A3C94E}"/>
              </a:ext>
            </a:extLst>
          </p:cNvPr>
          <p:cNvCxnSpPr>
            <a:cxnSpLocks/>
          </p:cNvCxnSpPr>
          <p:nvPr/>
        </p:nvCxnSpPr>
        <p:spPr>
          <a:xfrm>
            <a:off x="7806055" y="2693496"/>
            <a:ext cx="367665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267E51A5-4F7A-4C19-9C08-3EE3763B2A5E}"/>
              </a:ext>
            </a:extLst>
          </p:cNvPr>
          <p:cNvCxnSpPr>
            <a:cxnSpLocks/>
          </p:cNvCxnSpPr>
          <p:nvPr/>
        </p:nvCxnSpPr>
        <p:spPr>
          <a:xfrm>
            <a:off x="8732647" y="2693612"/>
            <a:ext cx="367665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8E60DFBA-7BC5-4B98-B0AF-9F5E1AB2E513}"/>
              </a:ext>
            </a:extLst>
          </p:cNvPr>
          <p:cNvCxnSpPr>
            <a:cxnSpLocks/>
          </p:cNvCxnSpPr>
          <p:nvPr/>
        </p:nvCxnSpPr>
        <p:spPr>
          <a:xfrm>
            <a:off x="9652008" y="2693496"/>
            <a:ext cx="367665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ED0563A5-098C-44D2-BA80-2E71B49687FD}"/>
                  </a:ext>
                </a:extLst>
              </p:cNvPr>
              <p:cNvSpPr txBox="1"/>
              <p:nvPr/>
            </p:nvSpPr>
            <p:spPr>
              <a:xfrm>
                <a:off x="1049728" y="2230150"/>
                <a:ext cx="7189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𝑖𝑛𝑖𝑡</m:t>
                          </m:r>
                        </m:sub>
                      </m:sSub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ED0563A5-098C-44D2-BA80-2E71B4968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728" y="2230150"/>
                <a:ext cx="718979" cy="369332"/>
              </a:xfrm>
              <a:prstGeom prst="rect">
                <a:avLst/>
              </a:prstGeom>
              <a:blipFill>
                <a:blip r:embed="rId2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EAE931F0-13E0-4345-B54B-7D15888A37D0}"/>
                  </a:ext>
                </a:extLst>
              </p:cNvPr>
              <p:cNvSpPr txBox="1"/>
              <p:nvPr/>
            </p:nvSpPr>
            <p:spPr>
              <a:xfrm>
                <a:off x="2158518" y="2234099"/>
                <a:ext cx="5055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EAE931F0-13E0-4345-B54B-7D15888A3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8518" y="2234099"/>
                <a:ext cx="50558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5DA09169-58FD-4198-A3CD-98AEA46FD14E}"/>
                  </a:ext>
                </a:extLst>
              </p:cNvPr>
              <p:cNvSpPr txBox="1"/>
              <p:nvPr/>
            </p:nvSpPr>
            <p:spPr>
              <a:xfrm>
                <a:off x="2866772" y="2230508"/>
                <a:ext cx="5109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5DA09169-58FD-4198-A3CD-98AEA46FD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6772" y="2230508"/>
                <a:ext cx="510909" cy="369332"/>
              </a:xfrm>
              <a:prstGeom prst="rect">
                <a:avLst/>
              </a:prstGeom>
              <a:blipFill>
                <a:blip r:embed="rId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448473DB-794F-41B6-B4C6-28691375CCEB}"/>
                  </a:ext>
                </a:extLst>
              </p:cNvPr>
              <p:cNvSpPr txBox="1"/>
              <p:nvPr/>
            </p:nvSpPr>
            <p:spPr>
              <a:xfrm>
                <a:off x="3612184" y="2230150"/>
                <a:ext cx="5109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448473DB-794F-41B6-B4C6-28691375C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2184" y="2230150"/>
                <a:ext cx="510909" cy="369332"/>
              </a:xfrm>
              <a:prstGeom prst="rect">
                <a:avLst/>
              </a:prstGeom>
              <a:blipFill>
                <a:blip r:embed="rId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31A04A94-D6F5-4A20-B51C-722EF1F63D8A}"/>
                  </a:ext>
                </a:extLst>
              </p:cNvPr>
              <p:cNvSpPr txBox="1"/>
              <p:nvPr/>
            </p:nvSpPr>
            <p:spPr>
              <a:xfrm>
                <a:off x="4400531" y="2230150"/>
                <a:ext cx="5109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31A04A94-D6F5-4A20-B51C-722EF1F63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0531" y="2230150"/>
                <a:ext cx="510909" cy="369332"/>
              </a:xfrm>
              <a:prstGeom prst="rect">
                <a:avLst/>
              </a:prstGeom>
              <a:blipFill>
                <a:blip r:embed="rId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E7889068-5ABF-425E-BF04-EA5F015A1827}"/>
                  </a:ext>
                </a:extLst>
              </p:cNvPr>
              <p:cNvSpPr txBox="1"/>
              <p:nvPr/>
            </p:nvSpPr>
            <p:spPr>
              <a:xfrm>
                <a:off x="5845938" y="2230150"/>
                <a:ext cx="5109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E7889068-5ABF-425E-BF04-EA5F015A1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5938" y="2230150"/>
                <a:ext cx="510909" cy="369332"/>
              </a:xfrm>
              <a:prstGeom prst="rect">
                <a:avLst/>
              </a:prstGeom>
              <a:blipFill>
                <a:blip r:embed="rId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B5B36821-947E-4A84-A090-0074E8A8D1A4}"/>
              </a:ext>
            </a:extLst>
          </p:cNvPr>
          <p:cNvCxnSpPr>
            <a:cxnSpLocks/>
          </p:cNvCxnSpPr>
          <p:nvPr/>
        </p:nvCxnSpPr>
        <p:spPr>
          <a:xfrm>
            <a:off x="5349874" y="2693496"/>
            <a:ext cx="12541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DDBD3C7D-79D3-4010-A2D8-3608E6480081}"/>
                  </a:ext>
                </a:extLst>
              </p:cNvPr>
              <p:cNvSpPr txBox="1"/>
              <p:nvPr/>
            </p:nvSpPr>
            <p:spPr>
              <a:xfrm>
                <a:off x="7738033" y="2230150"/>
                <a:ext cx="5109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DDBD3C7D-79D3-4010-A2D8-3608E6480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8033" y="2230150"/>
                <a:ext cx="510909" cy="369332"/>
              </a:xfrm>
              <a:prstGeom prst="rect">
                <a:avLst/>
              </a:prstGeom>
              <a:blipFill>
                <a:blip r:embed="rId8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A1C0DB11-E94F-4B83-9A4D-ECAA906CEE47}"/>
                  </a:ext>
                </a:extLst>
              </p:cNvPr>
              <p:cNvSpPr txBox="1"/>
              <p:nvPr/>
            </p:nvSpPr>
            <p:spPr>
              <a:xfrm>
                <a:off x="8645960" y="2244821"/>
                <a:ext cx="5109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A1C0DB11-E94F-4B83-9A4D-ECAA906CE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5960" y="2244821"/>
                <a:ext cx="51090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14749FB5-FC34-47E0-8FC1-69E5FE83E48B}"/>
                  </a:ext>
                </a:extLst>
              </p:cNvPr>
              <p:cNvSpPr txBox="1"/>
              <p:nvPr/>
            </p:nvSpPr>
            <p:spPr>
              <a:xfrm>
                <a:off x="9580385" y="2244821"/>
                <a:ext cx="5109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14749FB5-FC34-47E0-8FC1-69E5FE83E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0385" y="2244821"/>
                <a:ext cx="51090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E7346E69-8789-4B5D-8B23-82B4F4555E68}"/>
              </a:ext>
            </a:extLst>
          </p:cNvPr>
          <p:cNvCxnSpPr>
            <a:cxnSpLocks/>
          </p:cNvCxnSpPr>
          <p:nvPr/>
        </p:nvCxnSpPr>
        <p:spPr>
          <a:xfrm flipV="1">
            <a:off x="2019113" y="2993189"/>
            <a:ext cx="0" cy="64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1B5532BD-8FFA-4A52-A8FA-D529E1422C9F}"/>
              </a:ext>
            </a:extLst>
          </p:cNvPr>
          <p:cNvCxnSpPr>
            <a:cxnSpLocks/>
          </p:cNvCxnSpPr>
          <p:nvPr/>
        </p:nvCxnSpPr>
        <p:spPr>
          <a:xfrm flipV="1">
            <a:off x="2764805" y="2993189"/>
            <a:ext cx="0" cy="64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0C7B75D1-3F89-4595-9413-00AA6932632E}"/>
              </a:ext>
            </a:extLst>
          </p:cNvPr>
          <p:cNvCxnSpPr>
            <a:cxnSpLocks/>
          </p:cNvCxnSpPr>
          <p:nvPr/>
        </p:nvCxnSpPr>
        <p:spPr>
          <a:xfrm flipV="1">
            <a:off x="3510497" y="2993189"/>
            <a:ext cx="0" cy="64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7CAB1831-CE71-47D9-961D-1B7555C692FC}"/>
              </a:ext>
            </a:extLst>
          </p:cNvPr>
          <p:cNvCxnSpPr>
            <a:cxnSpLocks/>
          </p:cNvCxnSpPr>
          <p:nvPr/>
        </p:nvCxnSpPr>
        <p:spPr>
          <a:xfrm flipV="1">
            <a:off x="4256189" y="2993189"/>
            <a:ext cx="0" cy="64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492037EB-F1CE-45A6-BE1D-3F484BD28F74}"/>
              </a:ext>
            </a:extLst>
          </p:cNvPr>
          <p:cNvCxnSpPr>
            <a:cxnSpLocks/>
          </p:cNvCxnSpPr>
          <p:nvPr/>
        </p:nvCxnSpPr>
        <p:spPr>
          <a:xfrm flipV="1">
            <a:off x="5001881" y="2993189"/>
            <a:ext cx="0" cy="64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EA6EEABA-474C-4E78-8931-3EB6E8C00D30}"/>
              </a:ext>
            </a:extLst>
          </p:cNvPr>
          <p:cNvCxnSpPr>
            <a:cxnSpLocks/>
          </p:cNvCxnSpPr>
          <p:nvPr/>
        </p:nvCxnSpPr>
        <p:spPr>
          <a:xfrm flipV="1">
            <a:off x="7534674" y="2993189"/>
            <a:ext cx="0" cy="64800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1022FC46-6AAC-4CAF-8DD1-5F00277E6830}"/>
              </a:ext>
            </a:extLst>
          </p:cNvPr>
          <p:cNvCxnSpPr>
            <a:cxnSpLocks/>
          </p:cNvCxnSpPr>
          <p:nvPr/>
        </p:nvCxnSpPr>
        <p:spPr>
          <a:xfrm flipV="1">
            <a:off x="8455631" y="2993189"/>
            <a:ext cx="0" cy="64800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75B91784-6D63-4D32-B177-AD5CB964FA1A}"/>
              </a:ext>
            </a:extLst>
          </p:cNvPr>
          <p:cNvCxnSpPr>
            <a:cxnSpLocks/>
          </p:cNvCxnSpPr>
          <p:nvPr/>
        </p:nvCxnSpPr>
        <p:spPr>
          <a:xfrm flipV="1">
            <a:off x="9376588" y="2993189"/>
            <a:ext cx="0" cy="64800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373C5C12-3DB0-4060-80BA-5C25694B3139}"/>
              </a:ext>
            </a:extLst>
          </p:cNvPr>
          <p:cNvCxnSpPr>
            <a:cxnSpLocks/>
          </p:cNvCxnSpPr>
          <p:nvPr/>
        </p:nvCxnSpPr>
        <p:spPr>
          <a:xfrm flipV="1">
            <a:off x="10297545" y="2993189"/>
            <a:ext cx="0" cy="64800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7129A303-6260-4D34-BBCD-10DE1FEDDADB}"/>
              </a:ext>
            </a:extLst>
          </p:cNvPr>
          <p:cNvSpPr txBox="1"/>
          <p:nvPr/>
        </p:nvSpPr>
        <p:spPr>
          <a:xfrm>
            <a:off x="1824188" y="3632219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我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17B18A7-D2D1-4398-8E50-F563572B7D28}"/>
              </a:ext>
            </a:extLst>
          </p:cNvPr>
          <p:cNvSpPr txBox="1"/>
          <p:nvPr/>
        </p:nvSpPr>
        <p:spPr>
          <a:xfrm>
            <a:off x="2570233" y="3632219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是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7DD361ED-9818-4924-9A4C-730A912E69ED}"/>
              </a:ext>
            </a:extLst>
          </p:cNvPr>
          <p:cNvSpPr txBox="1"/>
          <p:nvPr/>
        </p:nvSpPr>
        <p:spPr>
          <a:xfrm>
            <a:off x="3316278" y="3632219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个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C6D8AEF1-7814-4B8C-BA63-7C02DDD72A52}"/>
              </a:ext>
            </a:extLst>
          </p:cNvPr>
          <p:cNvSpPr txBox="1"/>
          <p:nvPr/>
        </p:nvSpPr>
        <p:spPr>
          <a:xfrm>
            <a:off x="4062323" y="3632219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学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0FE5ED1B-659F-4DCB-A4F9-8124CC47E7D6}"/>
              </a:ext>
            </a:extLst>
          </p:cNvPr>
          <p:cNvSpPr txBox="1"/>
          <p:nvPr/>
        </p:nvSpPr>
        <p:spPr>
          <a:xfrm>
            <a:off x="4808367" y="3632219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生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9F157E71-C2E9-4BBF-8017-0C878F82751A}"/>
              </a:ext>
            </a:extLst>
          </p:cNvPr>
          <p:cNvSpPr txBox="1"/>
          <p:nvPr/>
        </p:nvSpPr>
        <p:spPr>
          <a:xfrm>
            <a:off x="7237249" y="3658294"/>
            <a:ext cx="615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END</a:t>
            </a:r>
            <a:endParaRPr lang="zh-CN" altLang="en-US" sz="1600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B08EC7A4-9963-4D92-8CD5-BB39D67C94AD}"/>
              </a:ext>
            </a:extLst>
          </p:cNvPr>
          <p:cNvSpPr txBox="1"/>
          <p:nvPr/>
        </p:nvSpPr>
        <p:spPr>
          <a:xfrm>
            <a:off x="8340540" y="3658294"/>
            <a:ext cx="2423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I</a:t>
            </a:r>
            <a:endParaRPr lang="zh-CN" altLang="en-US" sz="1600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A886B8DC-4F10-4C44-A994-4FFEF30AFDD3}"/>
              </a:ext>
            </a:extLst>
          </p:cNvPr>
          <p:cNvSpPr txBox="1"/>
          <p:nvPr/>
        </p:nvSpPr>
        <p:spPr>
          <a:xfrm>
            <a:off x="9150703" y="3658294"/>
            <a:ext cx="4700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am</a:t>
            </a:r>
            <a:endParaRPr lang="zh-CN" altLang="en-US" sz="1600" dirty="0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3C0C6AD3-BA8A-49E1-8C0C-836DE700F2B0}"/>
              </a:ext>
            </a:extLst>
          </p:cNvPr>
          <p:cNvSpPr txBox="1"/>
          <p:nvPr/>
        </p:nvSpPr>
        <p:spPr>
          <a:xfrm>
            <a:off x="10148305" y="3658294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a</a:t>
            </a:r>
            <a:endParaRPr lang="zh-CN" altLang="en-US" sz="1600" dirty="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96188116-2372-4B84-963F-CBA78C2D4D38}"/>
              </a:ext>
            </a:extLst>
          </p:cNvPr>
          <p:cNvSpPr txBox="1"/>
          <p:nvPr/>
        </p:nvSpPr>
        <p:spPr>
          <a:xfrm>
            <a:off x="7419583" y="1407320"/>
            <a:ext cx="2423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I</a:t>
            </a:r>
            <a:endParaRPr lang="zh-CN" altLang="en-US" sz="1600" dirty="0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3C8E2594-5C12-4C7B-88D1-F40D687A120D}"/>
              </a:ext>
            </a:extLst>
          </p:cNvPr>
          <p:cNvSpPr txBox="1"/>
          <p:nvPr/>
        </p:nvSpPr>
        <p:spPr>
          <a:xfrm>
            <a:off x="8229746" y="1407320"/>
            <a:ext cx="4700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am</a:t>
            </a:r>
            <a:endParaRPr lang="zh-CN" altLang="en-US" sz="1600" dirty="0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7F6E6713-EFDC-4A03-B30F-C86F09E3BE28}"/>
              </a:ext>
            </a:extLst>
          </p:cNvPr>
          <p:cNvSpPr txBox="1"/>
          <p:nvPr/>
        </p:nvSpPr>
        <p:spPr>
          <a:xfrm>
            <a:off x="9227348" y="1407320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a</a:t>
            </a:r>
            <a:endParaRPr lang="zh-CN" altLang="en-US" sz="1600" dirty="0"/>
          </a:p>
        </p:txBody>
      </p: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852AF7EB-D9AD-4F2C-9806-AB5DBB04E885}"/>
              </a:ext>
            </a:extLst>
          </p:cNvPr>
          <p:cNvCxnSpPr>
            <a:cxnSpLocks/>
          </p:cNvCxnSpPr>
          <p:nvPr/>
        </p:nvCxnSpPr>
        <p:spPr>
          <a:xfrm flipV="1">
            <a:off x="7536597" y="1745874"/>
            <a:ext cx="0" cy="64299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FCCCCCCD-2139-4AC3-85DB-96E9FC94030E}"/>
              </a:ext>
            </a:extLst>
          </p:cNvPr>
          <p:cNvCxnSpPr>
            <a:cxnSpLocks/>
          </p:cNvCxnSpPr>
          <p:nvPr/>
        </p:nvCxnSpPr>
        <p:spPr>
          <a:xfrm flipV="1">
            <a:off x="8453162" y="1745874"/>
            <a:ext cx="0" cy="64299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51B90A00-80D3-4A83-AF16-B3097C65F793}"/>
              </a:ext>
            </a:extLst>
          </p:cNvPr>
          <p:cNvCxnSpPr>
            <a:cxnSpLocks/>
          </p:cNvCxnSpPr>
          <p:nvPr/>
        </p:nvCxnSpPr>
        <p:spPr>
          <a:xfrm flipV="1">
            <a:off x="9369727" y="1745874"/>
            <a:ext cx="0" cy="64299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A50121D7-7A1E-445E-95CC-6963FBB841EA}"/>
              </a:ext>
            </a:extLst>
          </p:cNvPr>
          <p:cNvCxnSpPr>
            <a:cxnSpLocks/>
          </p:cNvCxnSpPr>
          <p:nvPr/>
        </p:nvCxnSpPr>
        <p:spPr>
          <a:xfrm flipV="1">
            <a:off x="10286293" y="1745874"/>
            <a:ext cx="0" cy="64299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E8A81909-6EE8-4904-AE25-C9F62AD4E694}"/>
              </a:ext>
            </a:extLst>
          </p:cNvPr>
          <p:cNvSpPr txBox="1"/>
          <p:nvPr/>
        </p:nvSpPr>
        <p:spPr>
          <a:xfrm>
            <a:off x="9857328" y="1407320"/>
            <a:ext cx="8579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student</a:t>
            </a:r>
            <a:endParaRPr lang="zh-CN" altLang="en-US" sz="1600" dirty="0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FCDC5853-17CC-499E-A3AB-8BDFC77C3090}"/>
              </a:ext>
            </a:extLst>
          </p:cNvPr>
          <p:cNvSpPr txBox="1"/>
          <p:nvPr/>
        </p:nvSpPr>
        <p:spPr>
          <a:xfrm>
            <a:off x="978444" y="4702327"/>
            <a:ext cx="10855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b="1" dirty="0">
                <a:cs typeface="+mn-ea"/>
                <a:sym typeface="+mn-lt"/>
              </a:rPr>
              <a:t>Attention</a:t>
            </a:r>
            <a:endParaRPr lang="zh-CN" altLang="en-US" sz="1600" b="1" dirty="0">
              <a:cs typeface="+mn-ea"/>
              <a:sym typeface="+mn-lt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14C45B67-9202-4D0D-A6B3-F93B2A50EB69}"/>
              </a:ext>
            </a:extLst>
          </p:cNvPr>
          <p:cNvSpPr txBox="1"/>
          <p:nvPr/>
        </p:nvSpPr>
        <p:spPr>
          <a:xfrm>
            <a:off x="1824188" y="5243725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我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BE814368-738D-4E07-9BDF-41A811C161D5}"/>
              </a:ext>
            </a:extLst>
          </p:cNvPr>
          <p:cNvSpPr txBox="1"/>
          <p:nvPr/>
        </p:nvSpPr>
        <p:spPr>
          <a:xfrm>
            <a:off x="2570233" y="5243725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是</a:t>
            </a: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E2A67403-168A-4310-A402-242E0896CFFC}"/>
              </a:ext>
            </a:extLst>
          </p:cNvPr>
          <p:cNvSpPr txBox="1"/>
          <p:nvPr/>
        </p:nvSpPr>
        <p:spPr>
          <a:xfrm>
            <a:off x="3316278" y="5243725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个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34694E33-8C83-4B76-9D42-A0C5E021837A}"/>
              </a:ext>
            </a:extLst>
          </p:cNvPr>
          <p:cNvSpPr txBox="1"/>
          <p:nvPr/>
        </p:nvSpPr>
        <p:spPr>
          <a:xfrm>
            <a:off x="4062323" y="5243725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学</a:t>
            </a: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477A75B2-2EDB-4EDD-B151-E8611178F101}"/>
              </a:ext>
            </a:extLst>
          </p:cNvPr>
          <p:cNvSpPr txBox="1"/>
          <p:nvPr/>
        </p:nvSpPr>
        <p:spPr>
          <a:xfrm>
            <a:off x="4808367" y="5243725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生</a:t>
            </a: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89348805-78A2-4A0D-A2D9-1F7389AC6D20}"/>
              </a:ext>
            </a:extLst>
          </p:cNvPr>
          <p:cNvSpPr txBox="1"/>
          <p:nvPr/>
        </p:nvSpPr>
        <p:spPr>
          <a:xfrm>
            <a:off x="7088083" y="5240446"/>
            <a:ext cx="2423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I</a:t>
            </a:r>
            <a:endParaRPr lang="zh-CN" altLang="en-US" sz="1600" dirty="0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E8877EAF-BE21-4B37-9EB1-7AFF35919023}"/>
              </a:ext>
            </a:extLst>
          </p:cNvPr>
          <p:cNvSpPr txBox="1"/>
          <p:nvPr/>
        </p:nvSpPr>
        <p:spPr>
          <a:xfrm>
            <a:off x="7898246" y="5240446"/>
            <a:ext cx="4700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am</a:t>
            </a:r>
            <a:endParaRPr lang="zh-CN" altLang="en-US" sz="1600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60BA70EE-A65F-46DF-A6E8-38E5A6E10132}"/>
              </a:ext>
            </a:extLst>
          </p:cNvPr>
          <p:cNvSpPr txBox="1"/>
          <p:nvPr/>
        </p:nvSpPr>
        <p:spPr>
          <a:xfrm>
            <a:off x="8895848" y="5240446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a</a:t>
            </a:r>
            <a:endParaRPr lang="zh-CN" altLang="en-US" sz="1600" dirty="0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4A5A9A7B-92A2-4F2E-BE29-6939887BC763}"/>
              </a:ext>
            </a:extLst>
          </p:cNvPr>
          <p:cNvSpPr txBox="1"/>
          <p:nvPr/>
        </p:nvSpPr>
        <p:spPr>
          <a:xfrm>
            <a:off x="9511161" y="5240446"/>
            <a:ext cx="8579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student</a:t>
            </a:r>
            <a:endParaRPr lang="zh-CN" altLang="en-US" sz="1600" dirty="0"/>
          </a:p>
        </p:txBody>
      </p:sp>
      <p:cxnSp>
        <p:nvCxnSpPr>
          <p:cNvPr id="102" name="连接符: 肘形 101">
            <a:extLst>
              <a:ext uri="{FF2B5EF4-FFF2-40B4-BE49-F238E27FC236}">
                <a16:creationId xmlns:a16="http://schemas.microsoft.com/office/drawing/2014/main" id="{31CCF956-13F6-46CB-A4FD-968E063204C0}"/>
              </a:ext>
            </a:extLst>
          </p:cNvPr>
          <p:cNvCxnSpPr>
            <a:cxnSpLocks/>
            <a:stCxn id="100" idx="3"/>
            <a:endCxn id="109" idx="2"/>
          </p:cNvCxnSpPr>
          <p:nvPr/>
        </p:nvCxnSpPr>
        <p:spPr>
          <a:xfrm flipH="1">
            <a:off x="5002329" y="5409723"/>
            <a:ext cx="5508192" cy="271023"/>
          </a:xfrm>
          <a:prstGeom prst="bentConnector4">
            <a:avLst>
              <a:gd name="adj1" fmla="val -4150"/>
              <a:gd name="adj2" fmla="val 184347"/>
            </a:avLst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连接符: 肘形 110">
            <a:extLst>
              <a:ext uri="{FF2B5EF4-FFF2-40B4-BE49-F238E27FC236}">
                <a16:creationId xmlns:a16="http://schemas.microsoft.com/office/drawing/2014/main" id="{C72C3C40-A2BC-4BE7-87BE-E05F9A848EC3}"/>
              </a:ext>
            </a:extLst>
          </p:cNvPr>
          <p:cNvCxnSpPr>
            <a:cxnSpLocks/>
            <a:stCxn id="100" idx="3"/>
            <a:endCxn id="101" idx="2"/>
          </p:cNvCxnSpPr>
          <p:nvPr/>
        </p:nvCxnSpPr>
        <p:spPr>
          <a:xfrm flipH="1">
            <a:off x="4244498" y="5409723"/>
            <a:ext cx="6266023" cy="267525"/>
          </a:xfrm>
          <a:prstGeom prst="bentConnector4">
            <a:avLst>
              <a:gd name="adj1" fmla="val -3648"/>
              <a:gd name="adj2" fmla="val 185450"/>
            </a:avLst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4609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矩形 142">
            <a:extLst>
              <a:ext uri="{FF2B5EF4-FFF2-40B4-BE49-F238E27FC236}">
                <a16:creationId xmlns:a16="http://schemas.microsoft.com/office/drawing/2014/main" id="{185B2936-302A-4C96-8248-90D6AC1085EB}"/>
              </a:ext>
            </a:extLst>
          </p:cNvPr>
          <p:cNvSpPr/>
          <p:nvPr/>
        </p:nvSpPr>
        <p:spPr>
          <a:xfrm>
            <a:off x="1697367" y="6042468"/>
            <a:ext cx="600137" cy="518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DBD01A42-D482-42AA-ADCD-6511819D06B6}"/>
              </a:ext>
            </a:extLst>
          </p:cNvPr>
          <p:cNvSpPr/>
          <p:nvPr/>
        </p:nvSpPr>
        <p:spPr>
          <a:xfrm>
            <a:off x="2452339" y="6051132"/>
            <a:ext cx="600137" cy="518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37153194-8140-402F-A3B1-0B648EE7E414}"/>
              </a:ext>
            </a:extLst>
          </p:cNvPr>
          <p:cNvSpPr/>
          <p:nvPr/>
        </p:nvSpPr>
        <p:spPr>
          <a:xfrm>
            <a:off x="3211190" y="6062370"/>
            <a:ext cx="600137" cy="518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21AB5F7D-70F5-46B3-9471-33D810FDB7E2}"/>
              </a:ext>
            </a:extLst>
          </p:cNvPr>
          <p:cNvSpPr/>
          <p:nvPr/>
        </p:nvSpPr>
        <p:spPr>
          <a:xfrm>
            <a:off x="1492590" y="4688725"/>
            <a:ext cx="4033908" cy="4190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2476046-7B61-42D8-B11D-77962949BA95}"/>
              </a:ext>
            </a:extLst>
          </p:cNvPr>
          <p:cNvSpPr txBox="1"/>
          <p:nvPr/>
        </p:nvSpPr>
        <p:spPr>
          <a:xfrm>
            <a:off x="977956" y="1178459"/>
            <a:ext cx="22028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b="1" dirty="0">
                <a:cs typeface="+mn-ea"/>
                <a:sym typeface="+mn-lt"/>
              </a:rPr>
              <a:t>Attention in seq2seq</a:t>
            </a:r>
            <a:endParaRPr lang="zh-CN" altLang="en-US" sz="1600" b="1" dirty="0"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B7106B9-7F30-45E7-9BBB-BD547DD5B58D}"/>
              </a:ext>
            </a:extLst>
          </p:cNvPr>
          <p:cNvSpPr/>
          <p:nvPr/>
        </p:nvSpPr>
        <p:spPr>
          <a:xfrm>
            <a:off x="978444" y="1887468"/>
            <a:ext cx="4561840" cy="23164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D5CE88-0E9F-458B-861F-FC81A0F51FE3}"/>
              </a:ext>
            </a:extLst>
          </p:cNvPr>
          <p:cNvSpPr/>
          <p:nvPr/>
        </p:nvSpPr>
        <p:spPr>
          <a:xfrm>
            <a:off x="6644640" y="1887467"/>
            <a:ext cx="4561840" cy="23164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F9E73547-C628-44A2-BD52-F8C1CE89EC64}"/>
              </a:ext>
            </a:extLst>
          </p:cNvPr>
          <p:cNvSpPr/>
          <p:nvPr/>
        </p:nvSpPr>
        <p:spPr>
          <a:xfrm>
            <a:off x="1786365" y="2458571"/>
            <a:ext cx="465496" cy="465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103CA38B-5BF6-4C1D-8002-9CF35D874564}"/>
              </a:ext>
            </a:extLst>
          </p:cNvPr>
          <p:cNvSpPr/>
          <p:nvPr/>
        </p:nvSpPr>
        <p:spPr>
          <a:xfrm>
            <a:off x="2532057" y="2458571"/>
            <a:ext cx="465496" cy="465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CA951BF-A9D6-4B5D-A490-1472CEEE2CF3}"/>
              </a:ext>
            </a:extLst>
          </p:cNvPr>
          <p:cNvSpPr/>
          <p:nvPr/>
        </p:nvSpPr>
        <p:spPr>
          <a:xfrm>
            <a:off x="3277749" y="2458571"/>
            <a:ext cx="465496" cy="465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619E8D6-9F6B-46F6-9072-961868450414}"/>
              </a:ext>
            </a:extLst>
          </p:cNvPr>
          <p:cNvSpPr/>
          <p:nvPr/>
        </p:nvSpPr>
        <p:spPr>
          <a:xfrm>
            <a:off x="4023441" y="2458571"/>
            <a:ext cx="465496" cy="465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DCCCA5A7-1750-4737-AEA3-6822701B83AA}"/>
              </a:ext>
            </a:extLst>
          </p:cNvPr>
          <p:cNvSpPr/>
          <p:nvPr/>
        </p:nvSpPr>
        <p:spPr>
          <a:xfrm>
            <a:off x="4769133" y="2458571"/>
            <a:ext cx="465496" cy="465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3C8024B-768F-4E16-9702-D6C73A10F169}"/>
              </a:ext>
            </a:extLst>
          </p:cNvPr>
          <p:cNvSpPr/>
          <p:nvPr/>
        </p:nvSpPr>
        <p:spPr>
          <a:xfrm>
            <a:off x="7301926" y="2458571"/>
            <a:ext cx="465496" cy="465496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A76365CA-569A-40C0-93CB-5F02A47BD371}"/>
              </a:ext>
            </a:extLst>
          </p:cNvPr>
          <p:cNvSpPr/>
          <p:nvPr/>
        </p:nvSpPr>
        <p:spPr>
          <a:xfrm>
            <a:off x="8222883" y="2458571"/>
            <a:ext cx="465496" cy="465496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ACF44651-097C-49D9-A77D-5D13C28C7DD9}"/>
              </a:ext>
            </a:extLst>
          </p:cNvPr>
          <p:cNvSpPr/>
          <p:nvPr/>
        </p:nvSpPr>
        <p:spPr>
          <a:xfrm>
            <a:off x="9143840" y="2458571"/>
            <a:ext cx="465496" cy="465496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07302148-866C-4F0D-B138-930BEF2694B9}"/>
              </a:ext>
            </a:extLst>
          </p:cNvPr>
          <p:cNvSpPr/>
          <p:nvPr/>
        </p:nvSpPr>
        <p:spPr>
          <a:xfrm>
            <a:off x="10064798" y="2458571"/>
            <a:ext cx="465496" cy="465496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A968B28E-CE36-48A3-9269-AA7A301F1619}"/>
              </a:ext>
            </a:extLst>
          </p:cNvPr>
          <p:cNvCxnSpPr>
            <a:cxnSpLocks/>
          </p:cNvCxnSpPr>
          <p:nvPr/>
        </p:nvCxnSpPr>
        <p:spPr>
          <a:xfrm>
            <a:off x="1062196" y="2691319"/>
            <a:ext cx="6690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48C1EFF8-8ACE-452C-8C28-8AB892755937}"/>
              </a:ext>
            </a:extLst>
          </p:cNvPr>
          <p:cNvCxnSpPr>
            <a:cxnSpLocks/>
          </p:cNvCxnSpPr>
          <p:nvPr/>
        </p:nvCxnSpPr>
        <p:spPr>
          <a:xfrm>
            <a:off x="6742938" y="2691319"/>
            <a:ext cx="494311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EC55EB68-EE8A-455B-9A29-A2445E7BAEC5}"/>
              </a:ext>
            </a:extLst>
          </p:cNvPr>
          <p:cNvCxnSpPr>
            <a:cxnSpLocks/>
          </p:cNvCxnSpPr>
          <p:nvPr/>
        </p:nvCxnSpPr>
        <p:spPr>
          <a:xfrm>
            <a:off x="2272665" y="2691319"/>
            <a:ext cx="2343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EC81F9DD-D2BD-4058-8956-2BE8F0ADF97B}"/>
              </a:ext>
            </a:extLst>
          </p:cNvPr>
          <p:cNvCxnSpPr>
            <a:cxnSpLocks/>
          </p:cNvCxnSpPr>
          <p:nvPr/>
        </p:nvCxnSpPr>
        <p:spPr>
          <a:xfrm>
            <a:off x="3014980" y="2691319"/>
            <a:ext cx="2343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036CC0E7-B365-439E-A17A-9814F32AF696}"/>
              </a:ext>
            </a:extLst>
          </p:cNvPr>
          <p:cNvCxnSpPr>
            <a:cxnSpLocks/>
          </p:cNvCxnSpPr>
          <p:nvPr/>
        </p:nvCxnSpPr>
        <p:spPr>
          <a:xfrm>
            <a:off x="3767455" y="2691319"/>
            <a:ext cx="2343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E22C1226-6E0D-4F34-8410-F0FD6054AC54}"/>
              </a:ext>
            </a:extLst>
          </p:cNvPr>
          <p:cNvCxnSpPr>
            <a:cxnSpLocks/>
          </p:cNvCxnSpPr>
          <p:nvPr/>
        </p:nvCxnSpPr>
        <p:spPr>
          <a:xfrm>
            <a:off x="4506595" y="2691319"/>
            <a:ext cx="2343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EE9EB00A-0033-4ADE-B164-0E47B4A3C94E}"/>
              </a:ext>
            </a:extLst>
          </p:cNvPr>
          <p:cNvCxnSpPr>
            <a:cxnSpLocks/>
          </p:cNvCxnSpPr>
          <p:nvPr/>
        </p:nvCxnSpPr>
        <p:spPr>
          <a:xfrm>
            <a:off x="7806055" y="2691203"/>
            <a:ext cx="367665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267E51A5-4F7A-4C19-9C08-3EE3763B2A5E}"/>
              </a:ext>
            </a:extLst>
          </p:cNvPr>
          <p:cNvCxnSpPr>
            <a:cxnSpLocks/>
          </p:cNvCxnSpPr>
          <p:nvPr/>
        </p:nvCxnSpPr>
        <p:spPr>
          <a:xfrm>
            <a:off x="8732647" y="2691319"/>
            <a:ext cx="367665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8E60DFBA-7BC5-4B98-B0AF-9F5E1AB2E513}"/>
              </a:ext>
            </a:extLst>
          </p:cNvPr>
          <p:cNvCxnSpPr>
            <a:cxnSpLocks/>
          </p:cNvCxnSpPr>
          <p:nvPr/>
        </p:nvCxnSpPr>
        <p:spPr>
          <a:xfrm>
            <a:off x="9652008" y="2691203"/>
            <a:ext cx="367665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ED0563A5-098C-44D2-BA80-2E71B49687FD}"/>
                  </a:ext>
                </a:extLst>
              </p:cNvPr>
              <p:cNvSpPr txBox="1"/>
              <p:nvPr/>
            </p:nvSpPr>
            <p:spPr>
              <a:xfrm>
                <a:off x="1049728" y="2227857"/>
                <a:ext cx="7189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𝑖𝑛𝑖𝑡</m:t>
                          </m:r>
                        </m:sub>
                      </m:sSub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ED0563A5-098C-44D2-BA80-2E71B4968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728" y="2227857"/>
                <a:ext cx="718979" cy="369332"/>
              </a:xfrm>
              <a:prstGeom prst="rect">
                <a:avLst/>
              </a:prstGeom>
              <a:blipFill>
                <a:blip r:embed="rId2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EAE931F0-13E0-4345-B54B-7D15888A37D0}"/>
                  </a:ext>
                </a:extLst>
              </p:cNvPr>
              <p:cNvSpPr txBox="1"/>
              <p:nvPr/>
            </p:nvSpPr>
            <p:spPr>
              <a:xfrm>
                <a:off x="2158518" y="2231806"/>
                <a:ext cx="5055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EAE931F0-13E0-4345-B54B-7D15888A3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8518" y="2231806"/>
                <a:ext cx="50558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5DA09169-58FD-4198-A3CD-98AEA46FD14E}"/>
                  </a:ext>
                </a:extLst>
              </p:cNvPr>
              <p:cNvSpPr txBox="1"/>
              <p:nvPr/>
            </p:nvSpPr>
            <p:spPr>
              <a:xfrm>
                <a:off x="2866772" y="2228215"/>
                <a:ext cx="5109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5DA09169-58FD-4198-A3CD-98AEA46FD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6772" y="2228215"/>
                <a:ext cx="510909" cy="369332"/>
              </a:xfrm>
              <a:prstGeom prst="rect">
                <a:avLst/>
              </a:prstGeom>
              <a:blipFill>
                <a:blip r:embed="rId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448473DB-794F-41B6-B4C6-28691375CCEB}"/>
                  </a:ext>
                </a:extLst>
              </p:cNvPr>
              <p:cNvSpPr txBox="1"/>
              <p:nvPr/>
            </p:nvSpPr>
            <p:spPr>
              <a:xfrm>
                <a:off x="3612184" y="2227857"/>
                <a:ext cx="5109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448473DB-794F-41B6-B4C6-28691375C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2184" y="2227857"/>
                <a:ext cx="51090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31A04A94-D6F5-4A20-B51C-722EF1F63D8A}"/>
                  </a:ext>
                </a:extLst>
              </p:cNvPr>
              <p:cNvSpPr txBox="1"/>
              <p:nvPr/>
            </p:nvSpPr>
            <p:spPr>
              <a:xfrm>
                <a:off x="4400531" y="2227857"/>
                <a:ext cx="5109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31A04A94-D6F5-4A20-B51C-722EF1F63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0531" y="2227857"/>
                <a:ext cx="51090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E7889068-5ABF-425E-BF04-EA5F015A1827}"/>
                  </a:ext>
                </a:extLst>
              </p:cNvPr>
              <p:cNvSpPr txBox="1"/>
              <p:nvPr/>
            </p:nvSpPr>
            <p:spPr>
              <a:xfrm>
                <a:off x="5845938" y="2227857"/>
                <a:ext cx="5109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E7889068-5ABF-425E-BF04-EA5F015A1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5938" y="2227857"/>
                <a:ext cx="510909" cy="369332"/>
              </a:xfrm>
              <a:prstGeom prst="rect">
                <a:avLst/>
              </a:prstGeom>
              <a:blipFill>
                <a:blip r:embed="rId7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B5B36821-947E-4A84-A090-0074E8A8D1A4}"/>
              </a:ext>
            </a:extLst>
          </p:cNvPr>
          <p:cNvCxnSpPr>
            <a:cxnSpLocks/>
          </p:cNvCxnSpPr>
          <p:nvPr/>
        </p:nvCxnSpPr>
        <p:spPr>
          <a:xfrm>
            <a:off x="5349874" y="2691203"/>
            <a:ext cx="12541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DDBD3C7D-79D3-4010-A2D8-3608E6480081}"/>
                  </a:ext>
                </a:extLst>
              </p:cNvPr>
              <p:cNvSpPr txBox="1"/>
              <p:nvPr/>
            </p:nvSpPr>
            <p:spPr>
              <a:xfrm>
                <a:off x="7738033" y="2227857"/>
                <a:ext cx="5109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DDBD3C7D-79D3-4010-A2D8-3608E6480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8033" y="2227857"/>
                <a:ext cx="51090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A1C0DB11-E94F-4B83-9A4D-ECAA906CEE47}"/>
                  </a:ext>
                </a:extLst>
              </p:cNvPr>
              <p:cNvSpPr txBox="1"/>
              <p:nvPr/>
            </p:nvSpPr>
            <p:spPr>
              <a:xfrm>
                <a:off x="8645960" y="2242528"/>
                <a:ext cx="5109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A1C0DB11-E94F-4B83-9A4D-ECAA906CE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5960" y="2242528"/>
                <a:ext cx="510909" cy="369332"/>
              </a:xfrm>
              <a:prstGeom prst="rect">
                <a:avLst/>
              </a:prstGeom>
              <a:blipFill>
                <a:blip r:embed="rId9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14749FB5-FC34-47E0-8FC1-69E5FE83E48B}"/>
                  </a:ext>
                </a:extLst>
              </p:cNvPr>
              <p:cNvSpPr txBox="1"/>
              <p:nvPr/>
            </p:nvSpPr>
            <p:spPr>
              <a:xfrm>
                <a:off x="9580385" y="2242528"/>
                <a:ext cx="5109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14749FB5-FC34-47E0-8FC1-69E5FE83E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0385" y="2242528"/>
                <a:ext cx="510909" cy="369332"/>
              </a:xfrm>
              <a:prstGeom prst="rect">
                <a:avLst/>
              </a:prstGeom>
              <a:blipFill>
                <a:blip r:embed="rId10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E7346E69-8789-4B5D-8B23-82B4F4555E68}"/>
              </a:ext>
            </a:extLst>
          </p:cNvPr>
          <p:cNvCxnSpPr>
            <a:cxnSpLocks/>
          </p:cNvCxnSpPr>
          <p:nvPr/>
        </p:nvCxnSpPr>
        <p:spPr>
          <a:xfrm flipV="1">
            <a:off x="2019113" y="2990896"/>
            <a:ext cx="0" cy="64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1B5532BD-8FFA-4A52-A8FA-D529E1422C9F}"/>
              </a:ext>
            </a:extLst>
          </p:cNvPr>
          <p:cNvCxnSpPr>
            <a:cxnSpLocks/>
          </p:cNvCxnSpPr>
          <p:nvPr/>
        </p:nvCxnSpPr>
        <p:spPr>
          <a:xfrm flipV="1">
            <a:off x="2764805" y="2990896"/>
            <a:ext cx="0" cy="64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0C7B75D1-3F89-4595-9413-00AA6932632E}"/>
              </a:ext>
            </a:extLst>
          </p:cNvPr>
          <p:cNvCxnSpPr>
            <a:cxnSpLocks/>
          </p:cNvCxnSpPr>
          <p:nvPr/>
        </p:nvCxnSpPr>
        <p:spPr>
          <a:xfrm flipV="1">
            <a:off x="3510497" y="2990896"/>
            <a:ext cx="0" cy="64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7CAB1831-CE71-47D9-961D-1B7555C692FC}"/>
              </a:ext>
            </a:extLst>
          </p:cNvPr>
          <p:cNvCxnSpPr>
            <a:cxnSpLocks/>
          </p:cNvCxnSpPr>
          <p:nvPr/>
        </p:nvCxnSpPr>
        <p:spPr>
          <a:xfrm flipV="1">
            <a:off x="4256189" y="2990896"/>
            <a:ext cx="0" cy="64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492037EB-F1CE-45A6-BE1D-3F484BD28F74}"/>
              </a:ext>
            </a:extLst>
          </p:cNvPr>
          <p:cNvCxnSpPr>
            <a:cxnSpLocks/>
          </p:cNvCxnSpPr>
          <p:nvPr/>
        </p:nvCxnSpPr>
        <p:spPr>
          <a:xfrm flipV="1">
            <a:off x="5001881" y="2990896"/>
            <a:ext cx="0" cy="64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EA6EEABA-474C-4E78-8931-3EB6E8C00D30}"/>
              </a:ext>
            </a:extLst>
          </p:cNvPr>
          <p:cNvCxnSpPr>
            <a:cxnSpLocks/>
          </p:cNvCxnSpPr>
          <p:nvPr/>
        </p:nvCxnSpPr>
        <p:spPr>
          <a:xfrm flipV="1">
            <a:off x="7534674" y="2990896"/>
            <a:ext cx="0" cy="46800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1022FC46-6AAC-4CAF-8DD1-5F00277E6830}"/>
              </a:ext>
            </a:extLst>
          </p:cNvPr>
          <p:cNvCxnSpPr>
            <a:cxnSpLocks/>
          </p:cNvCxnSpPr>
          <p:nvPr/>
        </p:nvCxnSpPr>
        <p:spPr>
          <a:xfrm flipV="1">
            <a:off x="8455631" y="2990896"/>
            <a:ext cx="0" cy="46800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75B91784-6D63-4D32-B177-AD5CB964FA1A}"/>
              </a:ext>
            </a:extLst>
          </p:cNvPr>
          <p:cNvCxnSpPr>
            <a:cxnSpLocks/>
          </p:cNvCxnSpPr>
          <p:nvPr/>
        </p:nvCxnSpPr>
        <p:spPr>
          <a:xfrm flipV="1">
            <a:off x="9376588" y="2990896"/>
            <a:ext cx="0" cy="46800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373C5C12-3DB0-4060-80BA-5C25694B3139}"/>
              </a:ext>
            </a:extLst>
          </p:cNvPr>
          <p:cNvCxnSpPr>
            <a:cxnSpLocks/>
          </p:cNvCxnSpPr>
          <p:nvPr/>
        </p:nvCxnSpPr>
        <p:spPr>
          <a:xfrm flipV="1">
            <a:off x="10297545" y="2990896"/>
            <a:ext cx="0" cy="46800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7129A303-6260-4D34-BBCD-10DE1FEDDADB}"/>
              </a:ext>
            </a:extLst>
          </p:cNvPr>
          <p:cNvSpPr txBox="1"/>
          <p:nvPr/>
        </p:nvSpPr>
        <p:spPr>
          <a:xfrm>
            <a:off x="1824188" y="3629926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我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17B18A7-D2D1-4398-8E50-F563572B7D28}"/>
              </a:ext>
            </a:extLst>
          </p:cNvPr>
          <p:cNvSpPr txBox="1"/>
          <p:nvPr/>
        </p:nvSpPr>
        <p:spPr>
          <a:xfrm>
            <a:off x="2570233" y="3629926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是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7DD361ED-9818-4924-9A4C-730A912E69ED}"/>
              </a:ext>
            </a:extLst>
          </p:cNvPr>
          <p:cNvSpPr txBox="1"/>
          <p:nvPr/>
        </p:nvSpPr>
        <p:spPr>
          <a:xfrm>
            <a:off x="3316278" y="3629926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个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C6D8AEF1-7814-4B8C-BA63-7C02DDD72A52}"/>
              </a:ext>
            </a:extLst>
          </p:cNvPr>
          <p:cNvSpPr txBox="1"/>
          <p:nvPr/>
        </p:nvSpPr>
        <p:spPr>
          <a:xfrm>
            <a:off x="4062323" y="3629926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学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0FE5ED1B-659F-4DCB-A4F9-8124CC47E7D6}"/>
              </a:ext>
            </a:extLst>
          </p:cNvPr>
          <p:cNvSpPr txBox="1"/>
          <p:nvPr/>
        </p:nvSpPr>
        <p:spPr>
          <a:xfrm>
            <a:off x="4808367" y="3629926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生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9F157E71-C2E9-4BBF-8017-0C878F82751A}"/>
              </a:ext>
            </a:extLst>
          </p:cNvPr>
          <p:cNvSpPr txBox="1"/>
          <p:nvPr/>
        </p:nvSpPr>
        <p:spPr>
          <a:xfrm>
            <a:off x="7237249" y="3454335"/>
            <a:ext cx="615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END</a:t>
            </a:r>
            <a:endParaRPr lang="zh-CN" altLang="en-US" sz="1600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B08EC7A4-9963-4D92-8CD5-BB39D67C94AD}"/>
              </a:ext>
            </a:extLst>
          </p:cNvPr>
          <p:cNvSpPr txBox="1"/>
          <p:nvPr/>
        </p:nvSpPr>
        <p:spPr>
          <a:xfrm>
            <a:off x="8340540" y="3454335"/>
            <a:ext cx="2423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I</a:t>
            </a:r>
            <a:endParaRPr lang="zh-CN" altLang="en-US" sz="1600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A886B8DC-4F10-4C44-A994-4FFEF30AFDD3}"/>
              </a:ext>
            </a:extLst>
          </p:cNvPr>
          <p:cNvSpPr txBox="1"/>
          <p:nvPr/>
        </p:nvSpPr>
        <p:spPr>
          <a:xfrm>
            <a:off x="9150703" y="3454335"/>
            <a:ext cx="4700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am</a:t>
            </a:r>
            <a:endParaRPr lang="zh-CN" altLang="en-US" sz="1600" dirty="0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3C0C6AD3-BA8A-49E1-8C0C-836DE700F2B0}"/>
              </a:ext>
            </a:extLst>
          </p:cNvPr>
          <p:cNvSpPr txBox="1"/>
          <p:nvPr/>
        </p:nvSpPr>
        <p:spPr>
          <a:xfrm>
            <a:off x="10148305" y="3454335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a</a:t>
            </a:r>
            <a:endParaRPr lang="zh-CN" altLang="en-US" sz="1600" dirty="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96188116-2372-4B84-963F-CBA78C2D4D38}"/>
              </a:ext>
            </a:extLst>
          </p:cNvPr>
          <p:cNvSpPr txBox="1"/>
          <p:nvPr/>
        </p:nvSpPr>
        <p:spPr>
          <a:xfrm>
            <a:off x="7419583" y="1405027"/>
            <a:ext cx="2423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I</a:t>
            </a:r>
            <a:endParaRPr lang="zh-CN" altLang="en-US" sz="1600" dirty="0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3C8E2594-5C12-4C7B-88D1-F40D687A120D}"/>
              </a:ext>
            </a:extLst>
          </p:cNvPr>
          <p:cNvSpPr txBox="1"/>
          <p:nvPr/>
        </p:nvSpPr>
        <p:spPr>
          <a:xfrm>
            <a:off x="8229746" y="1405027"/>
            <a:ext cx="4700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am</a:t>
            </a:r>
            <a:endParaRPr lang="zh-CN" altLang="en-US" sz="1600" dirty="0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7F6E6713-EFDC-4A03-B30F-C86F09E3BE28}"/>
              </a:ext>
            </a:extLst>
          </p:cNvPr>
          <p:cNvSpPr txBox="1"/>
          <p:nvPr/>
        </p:nvSpPr>
        <p:spPr>
          <a:xfrm>
            <a:off x="9227348" y="1405027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a</a:t>
            </a:r>
            <a:endParaRPr lang="zh-CN" altLang="en-US" sz="1600" dirty="0"/>
          </a:p>
        </p:txBody>
      </p: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852AF7EB-D9AD-4F2C-9806-AB5DBB04E885}"/>
              </a:ext>
            </a:extLst>
          </p:cNvPr>
          <p:cNvCxnSpPr>
            <a:cxnSpLocks/>
          </p:cNvCxnSpPr>
          <p:nvPr/>
        </p:nvCxnSpPr>
        <p:spPr>
          <a:xfrm flipV="1">
            <a:off x="7536597" y="1743581"/>
            <a:ext cx="0" cy="64299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FCCCCCCD-2139-4AC3-85DB-96E9FC94030E}"/>
              </a:ext>
            </a:extLst>
          </p:cNvPr>
          <p:cNvCxnSpPr>
            <a:cxnSpLocks/>
          </p:cNvCxnSpPr>
          <p:nvPr/>
        </p:nvCxnSpPr>
        <p:spPr>
          <a:xfrm flipV="1">
            <a:off x="8453162" y="1743581"/>
            <a:ext cx="0" cy="64299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51B90A00-80D3-4A83-AF16-B3097C65F793}"/>
              </a:ext>
            </a:extLst>
          </p:cNvPr>
          <p:cNvCxnSpPr>
            <a:cxnSpLocks/>
          </p:cNvCxnSpPr>
          <p:nvPr/>
        </p:nvCxnSpPr>
        <p:spPr>
          <a:xfrm flipV="1">
            <a:off x="9369727" y="1743581"/>
            <a:ext cx="0" cy="64299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A50121D7-7A1E-445E-95CC-6963FBB841EA}"/>
              </a:ext>
            </a:extLst>
          </p:cNvPr>
          <p:cNvCxnSpPr>
            <a:cxnSpLocks/>
          </p:cNvCxnSpPr>
          <p:nvPr/>
        </p:nvCxnSpPr>
        <p:spPr>
          <a:xfrm flipV="1">
            <a:off x="10286293" y="1743581"/>
            <a:ext cx="0" cy="64299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E8A81909-6EE8-4904-AE25-C9F62AD4E694}"/>
              </a:ext>
            </a:extLst>
          </p:cNvPr>
          <p:cNvSpPr txBox="1"/>
          <p:nvPr/>
        </p:nvSpPr>
        <p:spPr>
          <a:xfrm>
            <a:off x="9857328" y="1405027"/>
            <a:ext cx="8579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student</a:t>
            </a:r>
            <a:endParaRPr lang="zh-CN" alt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FBAEEB33-2DB5-4857-84B4-21ADF99912C6}"/>
                  </a:ext>
                </a:extLst>
              </p:cNvPr>
              <p:cNvSpPr txBox="1"/>
              <p:nvPr/>
            </p:nvSpPr>
            <p:spPr>
              <a:xfrm>
                <a:off x="7301270" y="3759430"/>
                <a:ext cx="4804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FBAEEB33-2DB5-4857-84B4-21ADF9991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1270" y="3759430"/>
                <a:ext cx="480452" cy="369332"/>
              </a:xfrm>
              <a:prstGeom prst="rect">
                <a:avLst/>
              </a:prstGeom>
              <a:blipFill>
                <a:blip r:embed="rId11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74C3A449-E683-4897-928F-A4A295475FC2}"/>
                  </a:ext>
                </a:extLst>
              </p:cNvPr>
              <p:cNvSpPr txBox="1"/>
              <p:nvPr/>
            </p:nvSpPr>
            <p:spPr>
              <a:xfrm>
                <a:off x="8231278" y="3759430"/>
                <a:ext cx="4804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74C3A449-E683-4897-928F-A4A295475F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1278" y="3759430"/>
                <a:ext cx="480452" cy="369332"/>
              </a:xfrm>
              <a:prstGeom prst="rect">
                <a:avLst/>
              </a:prstGeom>
              <a:blipFill>
                <a:blip r:embed="rId12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75087CDA-8F46-4F0C-997D-75CADAC53C7C}"/>
                  </a:ext>
                </a:extLst>
              </p:cNvPr>
              <p:cNvSpPr txBox="1"/>
              <p:nvPr/>
            </p:nvSpPr>
            <p:spPr>
              <a:xfrm>
                <a:off x="9161286" y="3759430"/>
                <a:ext cx="4804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75087CDA-8F46-4F0C-997D-75CADAC53C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1286" y="3759430"/>
                <a:ext cx="480452" cy="369332"/>
              </a:xfrm>
              <a:prstGeom prst="rect">
                <a:avLst/>
              </a:prstGeom>
              <a:blipFill>
                <a:blip r:embed="rId1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9575CB40-03F4-49D2-B75C-8798B7CB9689}"/>
                  </a:ext>
                </a:extLst>
              </p:cNvPr>
              <p:cNvSpPr txBox="1"/>
              <p:nvPr/>
            </p:nvSpPr>
            <p:spPr>
              <a:xfrm>
                <a:off x="10083674" y="3759430"/>
                <a:ext cx="4804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9575CB40-03F4-49D2-B75C-8798B7CB9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3674" y="3759430"/>
                <a:ext cx="480452" cy="369332"/>
              </a:xfrm>
              <a:prstGeom prst="rect">
                <a:avLst/>
              </a:prstGeom>
              <a:blipFill>
                <a:blip r:embed="rId1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7BB7828C-9710-4D31-AF05-92B83E9C609B}"/>
                  </a:ext>
                </a:extLst>
              </p:cNvPr>
              <p:cNvSpPr txBox="1"/>
              <p:nvPr/>
            </p:nvSpPr>
            <p:spPr>
              <a:xfrm>
                <a:off x="1814433" y="4295216"/>
                <a:ext cx="4644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7BB7828C-9710-4D31-AF05-92B83E9C6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4433" y="4295216"/>
                <a:ext cx="464423" cy="369332"/>
              </a:xfrm>
              <a:prstGeom prst="rect">
                <a:avLst/>
              </a:prstGeom>
              <a:blipFill>
                <a:blip r:embed="rId1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004A5CCE-CAB8-4233-AFBF-D23ECA406038}"/>
                  </a:ext>
                </a:extLst>
              </p:cNvPr>
              <p:cNvSpPr txBox="1"/>
              <p:nvPr/>
            </p:nvSpPr>
            <p:spPr>
              <a:xfrm>
                <a:off x="2550847" y="4295216"/>
                <a:ext cx="4697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004A5CCE-CAB8-4233-AFBF-D23ECA4060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0847" y="4295216"/>
                <a:ext cx="469744" cy="369332"/>
              </a:xfrm>
              <a:prstGeom prst="rect">
                <a:avLst/>
              </a:prstGeom>
              <a:blipFill>
                <a:blip r:embed="rId1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37FC436F-2BD2-46DB-81FC-5CE882BD15AD}"/>
                  </a:ext>
                </a:extLst>
              </p:cNvPr>
              <p:cNvSpPr txBox="1"/>
              <p:nvPr/>
            </p:nvSpPr>
            <p:spPr>
              <a:xfrm>
                <a:off x="3292582" y="4295216"/>
                <a:ext cx="4697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37FC436F-2BD2-46DB-81FC-5CE882BD1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582" y="4295216"/>
                <a:ext cx="469744" cy="369332"/>
              </a:xfrm>
              <a:prstGeom prst="rect">
                <a:avLst/>
              </a:prstGeom>
              <a:blipFill>
                <a:blip r:embed="rId1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4F386464-677C-472C-A0E5-D56B07FB20FA}"/>
                  </a:ext>
                </a:extLst>
              </p:cNvPr>
              <p:cNvSpPr txBox="1"/>
              <p:nvPr/>
            </p:nvSpPr>
            <p:spPr>
              <a:xfrm>
                <a:off x="4034317" y="4295216"/>
                <a:ext cx="4697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4F386464-677C-472C-A0E5-D56B07FB2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4317" y="4295216"/>
                <a:ext cx="469744" cy="369332"/>
              </a:xfrm>
              <a:prstGeom prst="rect">
                <a:avLst/>
              </a:prstGeom>
              <a:blipFill>
                <a:blip r:embed="rId18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EC112069-21F0-4715-9D44-DBF5FBC168EC}"/>
                  </a:ext>
                </a:extLst>
              </p:cNvPr>
              <p:cNvSpPr txBox="1"/>
              <p:nvPr/>
            </p:nvSpPr>
            <p:spPr>
              <a:xfrm>
                <a:off x="4776052" y="4295216"/>
                <a:ext cx="4697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EC112069-21F0-4715-9D44-DBF5FBC168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6052" y="4295216"/>
                <a:ext cx="469744" cy="369332"/>
              </a:xfrm>
              <a:prstGeom prst="rect">
                <a:avLst/>
              </a:prstGeom>
              <a:blipFill>
                <a:blip r:embed="rId19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1C436136-28F9-4870-80C2-9BAAEB84CED0}"/>
                  </a:ext>
                </a:extLst>
              </p:cNvPr>
              <p:cNvSpPr txBox="1"/>
              <p:nvPr/>
            </p:nvSpPr>
            <p:spPr>
              <a:xfrm>
                <a:off x="1803266" y="4678652"/>
                <a:ext cx="4942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1C436136-28F9-4870-80C2-9BAAEB84C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266" y="4678652"/>
                <a:ext cx="494238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4A5BE96C-955F-4038-A8F8-716D5A531CEE}"/>
                  </a:ext>
                </a:extLst>
              </p:cNvPr>
              <p:cNvSpPr txBox="1"/>
              <p:nvPr/>
            </p:nvSpPr>
            <p:spPr>
              <a:xfrm>
                <a:off x="2539680" y="4678652"/>
                <a:ext cx="499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4A5BE96C-955F-4038-A8F8-716D5A531C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9680" y="4678652"/>
                <a:ext cx="499559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99AE01F3-B90D-40CF-AC58-183337EAE6A9}"/>
                  </a:ext>
                </a:extLst>
              </p:cNvPr>
              <p:cNvSpPr txBox="1"/>
              <p:nvPr/>
            </p:nvSpPr>
            <p:spPr>
              <a:xfrm>
                <a:off x="3281415" y="4678652"/>
                <a:ext cx="499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99AE01F3-B90D-40CF-AC58-183337EAE6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1415" y="4678652"/>
                <a:ext cx="499559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5406F198-8865-471E-A0B6-9F174DC07D67}"/>
                  </a:ext>
                </a:extLst>
              </p:cNvPr>
              <p:cNvSpPr txBox="1"/>
              <p:nvPr/>
            </p:nvSpPr>
            <p:spPr>
              <a:xfrm>
                <a:off x="4023150" y="4678652"/>
                <a:ext cx="499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5406F198-8865-471E-A0B6-9F174DC07D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150" y="4678652"/>
                <a:ext cx="499559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4168991E-B831-43E8-8ABD-9C53C11B55C8}"/>
                  </a:ext>
                </a:extLst>
              </p:cNvPr>
              <p:cNvSpPr txBox="1"/>
              <p:nvPr/>
            </p:nvSpPr>
            <p:spPr>
              <a:xfrm>
                <a:off x="4764885" y="4678652"/>
                <a:ext cx="499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4168991E-B831-43E8-8ABD-9C53C11B55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4885" y="4678652"/>
                <a:ext cx="499559" cy="369332"/>
              </a:xfrm>
              <a:prstGeom prst="rect">
                <a:avLst/>
              </a:prstGeom>
              <a:blipFill>
                <a:blip r:embed="rId2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E8FEC692-6209-489D-BA2D-DE436D88CA6D}"/>
                  </a:ext>
                </a:extLst>
              </p:cNvPr>
              <p:cNvSpPr txBox="1"/>
              <p:nvPr/>
            </p:nvSpPr>
            <p:spPr>
              <a:xfrm>
                <a:off x="3262768" y="5327948"/>
                <a:ext cx="4985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E8FEC692-6209-489D-BA2D-DE436D88CA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768" y="5327948"/>
                <a:ext cx="498528" cy="369332"/>
              </a:xfrm>
              <a:prstGeom prst="rect">
                <a:avLst/>
              </a:prstGeom>
              <a:blipFill>
                <a:blip r:embed="rId2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矩形 133">
            <a:extLst>
              <a:ext uri="{FF2B5EF4-FFF2-40B4-BE49-F238E27FC236}">
                <a16:creationId xmlns:a16="http://schemas.microsoft.com/office/drawing/2014/main" id="{5D007996-D94C-4729-A92F-1FF76E0F193C}"/>
              </a:ext>
            </a:extLst>
          </p:cNvPr>
          <p:cNvSpPr/>
          <p:nvPr/>
        </p:nvSpPr>
        <p:spPr>
          <a:xfrm>
            <a:off x="4702260" y="6051132"/>
            <a:ext cx="600137" cy="51816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E6AD4054-0F87-4AAF-A80B-F0F49109704D}"/>
              </a:ext>
            </a:extLst>
          </p:cNvPr>
          <p:cNvSpPr/>
          <p:nvPr/>
        </p:nvSpPr>
        <p:spPr>
          <a:xfrm>
            <a:off x="3944429" y="6047634"/>
            <a:ext cx="600137" cy="51816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531911CF-5B63-46B3-B0A5-02366F7575D7}"/>
              </a:ext>
            </a:extLst>
          </p:cNvPr>
          <p:cNvSpPr txBox="1"/>
          <p:nvPr/>
        </p:nvSpPr>
        <p:spPr>
          <a:xfrm>
            <a:off x="1824188" y="6132271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我</a:t>
            </a: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07FDCF03-F769-4EB0-8215-CBDC4C2C2FCE}"/>
              </a:ext>
            </a:extLst>
          </p:cNvPr>
          <p:cNvSpPr txBox="1"/>
          <p:nvPr/>
        </p:nvSpPr>
        <p:spPr>
          <a:xfrm>
            <a:off x="2570233" y="6132271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是</a:t>
            </a: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156B7E72-1EC0-48B2-9931-5F10BAF6D45A}"/>
              </a:ext>
            </a:extLst>
          </p:cNvPr>
          <p:cNvSpPr txBox="1"/>
          <p:nvPr/>
        </p:nvSpPr>
        <p:spPr>
          <a:xfrm>
            <a:off x="3316278" y="6132271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个</a:t>
            </a: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A5AE0B21-BB92-4AE3-AB5F-6F12D0D3420C}"/>
              </a:ext>
            </a:extLst>
          </p:cNvPr>
          <p:cNvSpPr txBox="1"/>
          <p:nvPr/>
        </p:nvSpPr>
        <p:spPr>
          <a:xfrm>
            <a:off x="4062323" y="6132271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学</a:t>
            </a: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414D82F5-B524-4DAF-8A8D-2042ACC76EEF}"/>
              </a:ext>
            </a:extLst>
          </p:cNvPr>
          <p:cNvSpPr txBox="1"/>
          <p:nvPr/>
        </p:nvSpPr>
        <p:spPr>
          <a:xfrm>
            <a:off x="4808367" y="6132271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生</a:t>
            </a:r>
          </a:p>
        </p:txBody>
      </p:sp>
      <p:cxnSp>
        <p:nvCxnSpPr>
          <p:cNvPr id="141" name="直接箭头连接符 140">
            <a:extLst>
              <a:ext uri="{FF2B5EF4-FFF2-40B4-BE49-F238E27FC236}">
                <a16:creationId xmlns:a16="http://schemas.microsoft.com/office/drawing/2014/main" id="{7C5DCC7E-5A1C-427C-8DEF-4A2A9F0EAFF8}"/>
              </a:ext>
            </a:extLst>
          </p:cNvPr>
          <p:cNvCxnSpPr>
            <a:cxnSpLocks/>
            <a:stCxn id="121" idx="2"/>
            <a:endCxn id="119" idx="0"/>
          </p:cNvCxnSpPr>
          <p:nvPr/>
        </p:nvCxnSpPr>
        <p:spPr>
          <a:xfrm>
            <a:off x="3509544" y="5107787"/>
            <a:ext cx="2488" cy="220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箭头连接符 141">
            <a:extLst>
              <a:ext uri="{FF2B5EF4-FFF2-40B4-BE49-F238E27FC236}">
                <a16:creationId xmlns:a16="http://schemas.microsoft.com/office/drawing/2014/main" id="{3E491E07-EA72-4B29-8ECA-330A42CC810A}"/>
              </a:ext>
            </a:extLst>
          </p:cNvPr>
          <p:cNvCxnSpPr>
            <a:cxnSpLocks/>
            <a:stCxn id="119" idx="2"/>
          </p:cNvCxnSpPr>
          <p:nvPr/>
        </p:nvCxnSpPr>
        <p:spPr>
          <a:xfrm>
            <a:off x="3512032" y="5697280"/>
            <a:ext cx="0" cy="243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9AA6E2DB-C58A-48F4-8B0F-22F2AC7320AB}"/>
              </a:ext>
            </a:extLst>
          </p:cNvPr>
          <p:cNvCxnSpPr>
            <a:cxnSpLocks/>
          </p:cNvCxnSpPr>
          <p:nvPr/>
        </p:nvCxnSpPr>
        <p:spPr>
          <a:xfrm>
            <a:off x="5302397" y="4479882"/>
            <a:ext cx="4983894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连接符: 肘形 33">
            <a:extLst>
              <a:ext uri="{FF2B5EF4-FFF2-40B4-BE49-F238E27FC236}">
                <a16:creationId xmlns:a16="http://schemas.microsoft.com/office/drawing/2014/main" id="{67E70199-5126-4FBB-A2A4-723DE8FEBB69}"/>
              </a:ext>
            </a:extLst>
          </p:cNvPr>
          <p:cNvCxnSpPr>
            <a:stCxn id="134" idx="3"/>
            <a:endCxn id="106" idx="2"/>
          </p:cNvCxnSpPr>
          <p:nvPr/>
        </p:nvCxnSpPr>
        <p:spPr>
          <a:xfrm flipV="1">
            <a:off x="5302397" y="4128762"/>
            <a:ext cx="5021503" cy="2181450"/>
          </a:xfrm>
          <a:prstGeom prst="bentConnector2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箭头连接符 146">
            <a:extLst>
              <a:ext uri="{FF2B5EF4-FFF2-40B4-BE49-F238E27FC236}">
                <a16:creationId xmlns:a16="http://schemas.microsoft.com/office/drawing/2014/main" id="{2ACF5D4D-2D8C-4362-A962-6233F1FA889C}"/>
              </a:ext>
            </a:extLst>
          </p:cNvPr>
          <p:cNvCxnSpPr>
            <a:cxnSpLocks/>
            <a:stCxn id="35" idx="2"/>
            <a:endCxn id="107" idx="0"/>
          </p:cNvCxnSpPr>
          <p:nvPr/>
        </p:nvCxnSpPr>
        <p:spPr>
          <a:xfrm flipH="1">
            <a:off x="2046645" y="2601138"/>
            <a:ext cx="364667" cy="1694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箭头连接符 147">
            <a:extLst>
              <a:ext uri="{FF2B5EF4-FFF2-40B4-BE49-F238E27FC236}">
                <a16:creationId xmlns:a16="http://schemas.microsoft.com/office/drawing/2014/main" id="{D4524602-D5E7-46E0-BBB6-B72B982E1553}"/>
              </a:ext>
            </a:extLst>
          </p:cNvPr>
          <p:cNvCxnSpPr>
            <a:cxnSpLocks/>
            <a:stCxn id="36" idx="2"/>
            <a:endCxn id="108" idx="0"/>
          </p:cNvCxnSpPr>
          <p:nvPr/>
        </p:nvCxnSpPr>
        <p:spPr>
          <a:xfrm flipH="1">
            <a:off x="2785719" y="2597547"/>
            <a:ext cx="336508" cy="16976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箭头连接符 148">
            <a:extLst>
              <a:ext uri="{FF2B5EF4-FFF2-40B4-BE49-F238E27FC236}">
                <a16:creationId xmlns:a16="http://schemas.microsoft.com/office/drawing/2014/main" id="{4D3D7050-FCA4-4D42-BC43-AF6762F9773E}"/>
              </a:ext>
            </a:extLst>
          </p:cNvPr>
          <p:cNvCxnSpPr>
            <a:cxnSpLocks/>
            <a:stCxn id="37" idx="2"/>
            <a:endCxn id="110" idx="0"/>
          </p:cNvCxnSpPr>
          <p:nvPr/>
        </p:nvCxnSpPr>
        <p:spPr>
          <a:xfrm flipH="1">
            <a:off x="3527454" y="2597189"/>
            <a:ext cx="340185" cy="16980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EB6976D2-CA6F-4317-B1D3-08A0EBC5CF70}"/>
              </a:ext>
            </a:extLst>
          </p:cNvPr>
          <p:cNvCxnSpPr>
            <a:cxnSpLocks/>
            <a:stCxn id="38" idx="2"/>
            <a:endCxn id="112" idx="0"/>
          </p:cNvCxnSpPr>
          <p:nvPr/>
        </p:nvCxnSpPr>
        <p:spPr>
          <a:xfrm flipH="1">
            <a:off x="4269189" y="2597189"/>
            <a:ext cx="386797" cy="16980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38EF6890-E916-4599-9BEB-FE65C6B42CE6}"/>
              </a:ext>
            </a:extLst>
          </p:cNvPr>
          <p:cNvCxnSpPr>
            <a:cxnSpLocks/>
            <a:stCxn id="39" idx="2"/>
            <a:endCxn id="113" idx="0"/>
          </p:cNvCxnSpPr>
          <p:nvPr/>
        </p:nvCxnSpPr>
        <p:spPr>
          <a:xfrm flipH="1">
            <a:off x="5010924" y="2597189"/>
            <a:ext cx="1090469" cy="16980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4F75A56A-B00A-4666-A66C-130E19F166B2}"/>
              </a:ext>
            </a:extLst>
          </p:cNvPr>
          <p:cNvSpPr txBox="1"/>
          <p:nvPr/>
        </p:nvSpPr>
        <p:spPr>
          <a:xfrm>
            <a:off x="520024" y="471729"/>
            <a:ext cx="15842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cs typeface="+mn-ea"/>
                <a:sym typeface="+mn-lt"/>
              </a:rPr>
              <a:t>1. Attention</a:t>
            </a:r>
            <a:endParaRPr lang="zh-CN" altLang="en-US" sz="2000" b="1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76514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Attention 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1028700"/>
            <a:ext cx="8382000" cy="51308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Attention 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2925" y="946150"/>
            <a:ext cx="5140325" cy="524891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Attention 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80" y="1155065"/>
            <a:ext cx="4127500" cy="48367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375" y="2187575"/>
            <a:ext cx="5283200" cy="269494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Multi-Head Attention 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690" y="996950"/>
            <a:ext cx="9532620" cy="5131435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19ABB278-5412-49B0-97D9-0769B6512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842" y="671783"/>
            <a:ext cx="4252494" cy="599296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6FC2ABE-A752-416C-A9DB-9006EC5B333D}"/>
              </a:ext>
            </a:extLst>
          </p:cNvPr>
          <p:cNvSpPr txBox="1"/>
          <p:nvPr/>
        </p:nvSpPr>
        <p:spPr>
          <a:xfrm>
            <a:off x="520024" y="471729"/>
            <a:ext cx="34483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cs typeface="+mn-ea"/>
                <a:sym typeface="+mn-lt"/>
              </a:rPr>
              <a:t>Encoder-decoder attention</a:t>
            </a:r>
            <a:endParaRPr lang="zh-CN" altLang="en-US" sz="2000" b="1" dirty="0">
              <a:cs typeface="+mn-ea"/>
              <a:sym typeface="+mn-lt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602B0B81-6AD5-4038-A16A-0CA6BBB89ECE}"/>
              </a:ext>
            </a:extLst>
          </p:cNvPr>
          <p:cNvSpPr/>
          <p:nvPr/>
        </p:nvSpPr>
        <p:spPr>
          <a:xfrm>
            <a:off x="1711555" y="4171314"/>
            <a:ext cx="1063395" cy="63905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0CDF1D6-5238-48DF-9802-8659F1A8FB9C}"/>
              </a:ext>
            </a:extLst>
          </p:cNvPr>
          <p:cNvSpPr/>
          <p:nvPr/>
        </p:nvSpPr>
        <p:spPr>
          <a:xfrm>
            <a:off x="3041245" y="4102734"/>
            <a:ext cx="1063395" cy="63905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34D9979-2AC0-4B5F-B086-A6D6A7314F46}"/>
              </a:ext>
            </a:extLst>
          </p:cNvPr>
          <p:cNvSpPr/>
          <p:nvPr/>
        </p:nvSpPr>
        <p:spPr>
          <a:xfrm>
            <a:off x="3046325" y="3157855"/>
            <a:ext cx="1063395" cy="54546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B45C7EA-9144-4A1C-AC10-10C9EA232E3A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4104640" y="2070100"/>
            <a:ext cx="1859409" cy="235216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55833D62-5B2C-43FB-8840-1E3414E67759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4109720" y="3048000"/>
            <a:ext cx="1854329" cy="38258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BCDAC1AC-4BC4-4303-B09F-19358D1DEAA5}"/>
              </a:ext>
            </a:extLst>
          </p:cNvPr>
          <p:cNvSpPr txBox="1"/>
          <p:nvPr/>
        </p:nvSpPr>
        <p:spPr>
          <a:xfrm>
            <a:off x="6047651" y="1885434"/>
            <a:ext cx="3775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cs typeface="+mn-ea"/>
                <a:sym typeface="+mn-lt"/>
              </a:rPr>
              <a:t>Masked Multi-Head attention</a:t>
            </a:r>
            <a:endParaRPr lang="zh-CN" altLang="en-US" b="1" dirty="0"/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58AF18D1-F960-4AD1-B036-F3A689F91D95}"/>
              </a:ext>
            </a:extLst>
          </p:cNvPr>
          <p:cNvCxnSpPr>
            <a:cxnSpLocks/>
            <a:stCxn id="9" idx="3"/>
            <a:endCxn id="28" idx="1"/>
          </p:cNvCxnSpPr>
          <p:nvPr/>
        </p:nvCxnSpPr>
        <p:spPr>
          <a:xfrm flipV="1">
            <a:off x="2774950" y="1138808"/>
            <a:ext cx="3277781" cy="335203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388518E0-9C72-4E02-A45E-BC6FC3366DFF}"/>
              </a:ext>
            </a:extLst>
          </p:cNvPr>
          <p:cNvSpPr txBox="1"/>
          <p:nvPr/>
        </p:nvSpPr>
        <p:spPr>
          <a:xfrm>
            <a:off x="6052731" y="954142"/>
            <a:ext cx="3119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cs typeface="+mn-ea"/>
                <a:sym typeface="+mn-lt"/>
              </a:rPr>
              <a:t>Multi-Head attention</a:t>
            </a:r>
            <a:endParaRPr lang="zh-CN" altLang="en-US" b="1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AE81FE8-FCB3-4632-8837-D0466C180B86}"/>
              </a:ext>
            </a:extLst>
          </p:cNvPr>
          <p:cNvSpPr txBox="1"/>
          <p:nvPr/>
        </p:nvSpPr>
        <p:spPr>
          <a:xfrm>
            <a:off x="6319026" y="1323474"/>
            <a:ext cx="3533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cs typeface="+mn-ea"/>
                <a:sym typeface="+mn-lt"/>
              </a:rPr>
              <a:t>K,V,Q </a:t>
            </a:r>
            <a:r>
              <a:rPr lang="en-US" altLang="zh-CN" sz="1600" dirty="0">
                <a:cs typeface="+mn-ea"/>
                <a:sym typeface="Wingdings" panose="05000000000000000000" pitchFamily="2" charset="2"/>
              </a:rPr>
              <a:t> Input &amp; Encoder output</a:t>
            </a:r>
            <a:endParaRPr lang="zh-CN" altLang="en-US" sz="16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131B696-983E-4900-B83F-78AF4AD7C2F0}"/>
              </a:ext>
            </a:extLst>
          </p:cNvPr>
          <p:cNvSpPr txBox="1"/>
          <p:nvPr/>
        </p:nvSpPr>
        <p:spPr>
          <a:xfrm>
            <a:off x="6326557" y="2272236"/>
            <a:ext cx="44491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cs typeface="+mn-ea"/>
                <a:sym typeface="+mn-lt"/>
              </a:rPr>
              <a:t>K,V,Q </a:t>
            </a:r>
            <a:r>
              <a:rPr lang="en-US" altLang="zh-CN" sz="1600" dirty="0">
                <a:cs typeface="+mn-ea"/>
                <a:sym typeface="Wingdings" panose="05000000000000000000" pitchFamily="2" charset="2"/>
              </a:rPr>
              <a:t> Output &amp; Decoder output(masked)</a:t>
            </a:r>
            <a:endParaRPr lang="zh-CN" altLang="en-US" sz="16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CC7A1B5-F888-434C-A8C7-C2785743F82F}"/>
              </a:ext>
            </a:extLst>
          </p:cNvPr>
          <p:cNvSpPr txBox="1"/>
          <p:nvPr/>
        </p:nvSpPr>
        <p:spPr>
          <a:xfrm>
            <a:off x="6047651" y="2873968"/>
            <a:ext cx="57829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cs typeface="+mn-ea"/>
                <a:sym typeface="+mn-lt"/>
              </a:rPr>
              <a:t>Multi-Head attention(Encoder-decoder attention)</a:t>
            </a:r>
            <a:endParaRPr lang="zh-CN" altLang="en-US" b="1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D839C2F-F1FD-4D6C-B057-ABEB6B33CB67}"/>
              </a:ext>
            </a:extLst>
          </p:cNvPr>
          <p:cNvSpPr txBox="1"/>
          <p:nvPr/>
        </p:nvSpPr>
        <p:spPr>
          <a:xfrm>
            <a:off x="6326557" y="3250280"/>
            <a:ext cx="40990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cs typeface="+mn-ea"/>
                <a:sym typeface="+mn-lt"/>
              </a:rPr>
              <a:t>K,V</a:t>
            </a:r>
            <a:r>
              <a:rPr lang="en-US" altLang="zh-CN" sz="1600" dirty="0">
                <a:cs typeface="+mn-ea"/>
                <a:sym typeface="Wingdings" panose="05000000000000000000" pitchFamily="2" charset="2"/>
              </a:rPr>
              <a:t> Encoder output</a:t>
            </a:r>
          </a:p>
          <a:p>
            <a:r>
              <a:rPr lang="en-US" altLang="zh-CN" sz="1600" dirty="0">
                <a:cs typeface="+mn-ea"/>
                <a:sym typeface="+mn-lt"/>
              </a:rPr>
              <a:t>Q </a:t>
            </a:r>
            <a:r>
              <a:rPr lang="en-US" altLang="zh-CN" sz="1600" dirty="0">
                <a:cs typeface="+mn-ea"/>
                <a:sym typeface="Wingdings" panose="05000000000000000000" pitchFamily="2" charset="2"/>
              </a:rPr>
              <a:t> Masked Multi-Head attention output</a:t>
            </a:r>
            <a:endParaRPr lang="zh-CN" altLang="en-US" sz="1600" dirty="0"/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AAAC8967-F127-4FCC-AA85-B4EBC4151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271" y="3978141"/>
            <a:ext cx="2265192" cy="2729436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41E55544-8F6B-44F5-B27A-B0EC422619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0355" y="3862502"/>
            <a:ext cx="2245330" cy="284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252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矩形 146">
            <a:extLst>
              <a:ext uri="{FF2B5EF4-FFF2-40B4-BE49-F238E27FC236}">
                <a16:creationId xmlns:a16="http://schemas.microsoft.com/office/drawing/2014/main" id="{9BDA530E-BE3C-4866-A883-51E54D50C356}"/>
              </a:ext>
            </a:extLst>
          </p:cNvPr>
          <p:cNvSpPr/>
          <p:nvPr/>
        </p:nvSpPr>
        <p:spPr>
          <a:xfrm>
            <a:off x="3191477" y="522015"/>
            <a:ext cx="4285136" cy="55023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5E40C55-5527-4AEA-9A32-15C70052F7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056" t="36136" r="50382" b="26741"/>
          <a:stretch/>
        </p:blipFill>
        <p:spPr>
          <a:xfrm>
            <a:off x="415827" y="1329156"/>
            <a:ext cx="2576974" cy="3167532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5576BA2-1C2F-4669-AC77-6153DB87CBFC}"/>
              </a:ext>
            </a:extLst>
          </p:cNvPr>
          <p:cNvSpPr txBox="1"/>
          <p:nvPr/>
        </p:nvSpPr>
        <p:spPr>
          <a:xfrm>
            <a:off x="520024" y="471729"/>
            <a:ext cx="1709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cs typeface="+mn-ea"/>
                <a:sym typeface="+mn-lt"/>
              </a:rPr>
              <a:t>2.1. Encoder</a:t>
            </a:r>
            <a:endParaRPr lang="zh-CN" altLang="en-US" sz="2000" b="1" dirty="0"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02B4B5F-DA0B-4588-97EE-8D34A71C3305}"/>
              </a:ext>
            </a:extLst>
          </p:cNvPr>
          <p:cNvSpPr/>
          <p:nvPr/>
        </p:nvSpPr>
        <p:spPr>
          <a:xfrm>
            <a:off x="3323272" y="1565274"/>
            <a:ext cx="4033060" cy="11657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5B14907-7BF2-41B0-AD1C-86CB72D64ED7}"/>
              </a:ext>
            </a:extLst>
          </p:cNvPr>
          <p:cNvSpPr txBox="1"/>
          <p:nvPr/>
        </p:nvSpPr>
        <p:spPr>
          <a:xfrm>
            <a:off x="4228618" y="1692784"/>
            <a:ext cx="22223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</a:rPr>
              <a:t>Position-wise Feed-Forward Networks</a:t>
            </a:r>
            <a:endParaRPr lang="zh-CN" altLang="en-US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B375849-796B-4E36-BE35-8BE33707D38E}"/>
              </a:ext>
            </a:extLst>
          </p:cNvPr>
          <p:cNvSpPr/>
          <p:nvPr/>
        </p:nvSpPr>
        <p:spPr>
          <a:xfrm>
            <a:off x="3333467" y="3398005"/>
            <a:ext cx="4012670" cy="92388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2EBF513-46D7-4ED1-B854-13299DA58682}"/>
              </a:ext>
            </a:extLst>
          </p:cNvPr>
          <p:cNvSpPr txBox="1"/>
          <p:nvPr/>
        </p:nvSpPr>
        <p:spPr>
          <a:xfrm>
            <a:off x="3499622" y="5398623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The</a:t>
            </a:r>
            <a:endParaRPr lang="zh-CN" altLang="en-US" b="1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0C157BE-2901-405C-8737-A96908CF755D}"/>
              </a:ext>
            </a:extLst>
          </p:cNvPr>
          <p:cNvSpPr txBox="1"/>
          <p:nvPr/>
        </p:nvSpPr>
        <p:spPr>
          <a:xfrm>
            <a:off x="4318324" y="5398623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animal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FDF67D6-AD09-40B6-A575-E81E680789CD}"/>
              </a:ext>
            </a:extLst>
          </p:cNvPr>
          <p:cNvSpPr txBox="1"/>
          <p:nvPr/>
        </p:nvSpPr>
        <p:spPr>
          <a:xfrm>
            <a:off x="5442095" y="539862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…</a:t>
            </a:r>
            <a:endParaRPr lang="zh-CN" altLang="en-US" b="1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2388F8F-BE19-4631-AB1B-D4BE40904851}"/>
              </a:ext>
            </a:extLst>
          </p:cNvPr>
          <p:cNvSpPr txBox="1"/>
          <p:nvPr/>
        </p:nvSpPr>
        <p:spPr>
          <a:xfrm>
            <a:off x="6613017" y="5390882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tired</a:t>
            </a:r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6C9BB1D-2087-4913-BC41-4310D82FE178}"/>
              </a:ext>
            </a:extLst>
          </p:cNvPr>
          <p:cNvSpPr/>
          <p:nvPr/>
        </p:nvSpPr>
        <p:spPr>
          <a:xfrm>
            <a:off x="3412564" y="4663411"/>
            <a:ext cx="756326" cy="26395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A9A6A26-B478-4C8A-9DED-A8456C2EA258}"/>
              </a:ext>
            </a:extLst>
          </p:cNvPr>
          <p:cNvSpPr/>
          <p:nvPr/>
        </p:nvSpPr>
        <p:spPr>
          <a:xfrm>
            <a:off x="4334402" y="4663411"/>
            <a:ext cx="756326" cy="26395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DE106C1-F6F9-44A5-A0DC-FE20C437604B}"/>
              </a:ext>
            </a:extLst>
          </p:cNvPr>
          <p:cNvSpPr/>
          <p:nvPr/>
        </p:nvSpPr>
        <p:spPr>
          <a:xfrm>
            <a:off x="6553699" y="4663411"/>
            <a:ext cx="756326" cy="26395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0E9AD0B7-7871-4D04-AEE3-A620D4861D38}"/>
              </a:ext>
            </a:extLst>
          </p:cNvPr>
          <p:cNvCxnSpPr>
            <a:cxnSpLocks/>
            <a:stCxn id="23" idx="0"/>
          </p:cNvCxnSpPr>
          <p:nvPr/>
        </p:nvCxnSpPr>
        <p:spPr>
          <a:xfrm flipH="1" flipV="1">
            <a:off x="3790728" y="4962923"/>
            <a:ext cx="6412" cy="435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22C99146-33DC-4EEC-801B-0BD00C3051DC}"/>
              </a:ext>
            </a:extLst>
          </p:cNvPr>
          <p:cNvCxnSpPr>
            <a:cxnSpLocks/>
          </p:cNvCxnSpPr>
          <p:nvPr/>
        </p:nvCxnSpPr>
        <p:spPr>
          <a:xfrm flipV="1">
            <a:off x="4712798" y="4983242"/>
            <a:ext cx="0" cy="415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C1B45CD3-B9E5-4D5A-91BC-C337CD261CA7}"/>
              </a:ext>
            </a:extLst>
          </p:cNvPr>
          <p:cNvCxnSpPr>
            <a:cxnSpLocks/>
            <a:stCxn id="26" idx="0"/>
          </p:cNvCxnSpPr>
          <p:nvPr/>
        </p:nvCxnSpPr>
        <p:spPr>
          <a:xfrm flipH="1" flipV="1">
            <a:off x="6927679" y="4983242"/>
            <a:ext cx="2092" cy="407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0B0A010B-E0C1-4294-A6A7-E29FADD028A3}"/>
              </a:ext>
            </a:extLst>
          </p:cNvPr>
          <p:cNvCxnSpPr>
            <a:cxnSpLocks/>
          </p:cNvCxnSpPr>
          <p:nvPr/>
        </p:nvCxnSpPr>
        <p:spPr>
          <a:xfrm flipV="1">
            <a:off x="4712969" y="4383189"/>
            <a:ext cx="0" cy="242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FD872931-FD17-4309-A1A7-C11EF1F970F2}"/>
              </a:ext>
            </a:extLst>
          </p:cNvPr>
          <p:cNvCxnSpPr>
            <a:cxnSpLocks/>
          </p:cNvCxnSpPr>
          <p:nvPr/>
        </p:nvCxnSpPr>
        <p:spPr>
          <a:xfrm flipV="1">
            <a:off x="3790727" y="4383189"/>
            <a:ext cx="0" cy="242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EAB95346-C4B0-48AC-AE31-BB3D853CBA99}"/>
              </a:ext>
            </a:extLst>
          </p:cNvPr>
          <p:cNvCxnSpPr>
            <a:cxnSpLocks/>
          </p:cNvCxnSpPr>
          <p:nvPr/>
        </p:nvCxnSpPr>
        <p:spPr>
          <a:xfrm flipV="1">
            <a:off x="6927679" y="4383189"/>
            <a:ext cx="0" cy="242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C54EDAD3-C32C-4F8E-8B65-000B19F5D61D}"/>
                  </a:ext>
                </a:extLst>
              </p:cNvPr>
              <p:cNvSpPr txBox="1"/>
              <p:nvPr/>
            </p:nvSpPr>
            <p:spPr>
              <a:xfrm>
                <a:off x="3587017" y="4618481"/>
                <a:ext cx="40741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C54EDAD3-C32C-4F8E-8B65-000B19F5D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7017" y="4618481"/>
                <a:ext cx="407419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AF636900-2570-41CC-9D34-ECE455B51C77}"/>
                  </a:ext>
                </a:extLst>
              </p:cNvPr>
              <p:cNvSpPr txBox="1"/>
              <p:nvPr/>
            </p:nvSpPr>
            <p:spPr>
              <a:xfrm>
                <a:off x="4512423" y="4618481"/>
                <a:ext cx="41158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AF636900-2570-41CC-9D34-ECE455B51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2423" y="4618481"/>
                <a:ext cx="41158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2CBCC742-273D-4C3F-956D-E038827F4C9C}"/>
                  </a:ext>
                </a:extLst>
              </p:cNvPr>
              <p:cNvSpPr txBox="1"/>
              <p:nvPr/>
            </p:nvSpPr>
            <p:spPr>
              <a:xfrm>
                <a:off x="6721885" y="4618481"/>
                <a:ext cx="42344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2CBCC742-273D-4C3F-956D-E038827F4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1885" y="4618481"/>
                <a:ext cx="423449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48194F86-871A-465B-8638-F40FADA2B6FA}"/>
                  </a:ext>
                </a:extLst>
              </p:cNvPr>
              <p:cNvSpPr txBox="1"/>
              <p:nvPr/>
            </p:nvSpPr>
            <p:spPr>
              <a:xfrm>
                <a:off x="4918592" y="4636947"/>
                <a:ext cx="157823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𝑚𝑜𝑑𝑒𝑙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CN" sz="1400" dirty="0"/>
                        <m:t>= 512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48194F86-871A-465B-8638-F40FADA2B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8592" y="4636947"/>
                <a:ext cx="1578230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F3F27365-DBC6-4E8A-8121-925F6CEF30CF}"/>
                  </a:ext>
                </a:extLst>
              </p:cNvPr>
              <p:cNvSpPr txBox="1"/>
              <p:nvPr/>
            </p:nvSpPr>
            <p:spPr>
              <a:xfrm>
                <a:off x="4918592" y="1035000"/>
                <a:ext cx="1779843" cy="3243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𝑜𝑢𝑡𝑝𝑢𝑡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CN" sz="1400" dirty="0"/>
                        <m:t>= 512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F3F27365-DBC6-4E8A-8121-925F6CEF3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8592" y="1035000"/>
                <a:ext cx="1779843" cy="324384"/>
              </a:xfrm>
              <a:prstGeom prst="rect">
                <a:avLst/>
              </a:prstGeom>
              <a:blipFill>
                <a:blip r:embed="rId7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文本框 69">
            <a:extLst>
              <a:ext uri="{FF2B5EF4-FFF2-40B4-BE49-F238E27FC236}">
                <a16:creationId xmlns:a16="http://schemas.microsoft.com/office/drawing/2014/main" id="{D8C652FD-F782-440D-9D64-E8C53872388D}"/>
              </a:ext>
            </a:extLst>
          </p:cNvPr>
          <p:cNvSpPr txBox="1"/>
          <p:nvPr/>
        </p:nvSpPr>
        <p:spPr>
          <a:xfrm>
            <a:off x="4228618" y="3536784"/>
            <a:ext cx="22223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Multi-Head Attention</a:t>
            </a:r>
            <a:endParaRPr lang="zh-CN" alt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B58784F5-3652-45C0-9B29-5CDBEC89E8E4}"/>
              </a:ext>
            </a:extLst>
          </p:cNvPr>
          <p:cNvSpPr/>
          <p:nvPr/>
        </p:nvSpPr>
        <p:spPr>
          <a:xfrm>
            <a:off x="3412564" y="2940418"/>
            <a:ext cx="756326" cy="26395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E92D8FC2-1256-414B-817E-7E77ACA84577}"/>
              </a:ext>
            </a:extLst>
          </p:cNvPr>
          <p:cNvSpPr/>
          <p:nvPr/>
        </p:nvSpPr>
        <p:spPr>
          <a:xfrm>
            <a:off x="4334402" y="2940418"/>
            <a:ext cx="756326" cy="26395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8E5276B0-81FC-4263-AAAA-D6F30B353056}"/>
              </a:ext>
            </a:extLst>
          </p:cNvPr>
          <p:cNvSpPr/>
          <p:nvPr/>
        </p:nvSpPr>
        <p:spPr>
          <a:xfrm>
            <a:off x="6553699" y="2940418"/>
            <a:ext cx="756326" cy="26395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56C28490-CB43-447B-BB63-5AEEBABEF529}"/>
              </a:ext>
            </a:extLst>
          </p:cNvPr>
          <p:cNvCxnSpPr>
            <a:cxnSpLocks/>
          </p:cNvCxnSpPr>
          <p:nvPr/>
        </p:nvCxnSpPr>
        <p:spPr>
          <a:xfrm flipH="1" flipV="1">
            <a:off x="3790728" y="3239930"/>
            <a:ext cx="6412" cy="43570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5B224CE7-673E-438C-BC42-CA2DB1E7B5FB}"/>
              </a:ext>
            </a:extLst>
          </p:cNvPr>
          <p:cNvCxnSpPr>
            <a:cxnSpLocks/>
          </p:cNvCxnSpPr>
          <p:nvPr/>
        </p:nvCxnSpPr>
        <p:spPr>
          <a:xfrm flipV="1">
            <a:off x="4712798" y="3260249"/>
            <a:ext cx="0" cy="415381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61A22E38-DA1F-46FE-B5D3-2651899BD6FC}"/>
              </a:ext>
            </a:extLst>
          </p:cNvPr>
          <p:cNvCxnSpPr>
            <a:cxnSpLocks/>
          </p:cNvCxnSpPr>
          <p:nvPr/>
        </p:nvCxnSpPr>
        <p:spPr>
          <a:xfrm flipH="1" flipV="1">
            <a:off x="6927679" y="3260249"/>
            <a:ext cx="2092" cy="40764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EDDBD8BA-0009-455D-9533-8370AA4C59C9}"/>
              </a:ext>
            </a:extLst>
          </p:cNvPr>
          <p:cNvCxnSpPr>
            <a:cxnSpLocks/>
          </p:cNvCxnSpPr>
          <p:nvPr/>
        </p:nvCxnSpPr>
        <p:spPr>
          <a:xfrm flipV="1">
            <a:off x="4712969" y="2660196"/>
            <a:ext cx="0" cy="242526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A04555FD-8038-4DD3-AB76-BDF88F919055}"/>
              </a:ext>
            </a:extLst>
          </p:cNvPr>
          <p:cNvCxnSpPr>
            <a:cxnSpLocks/>
          </p:cNvCxnSpPr>
          <p:nvPr/>
        </p:nvCxnSpPr>
        <p:spPr>
          <a:xfrm flipV="1">
            <a:off x="3790727" y="2660196"/>
            <a:ext cx="0" cy="242526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687CFE2F-183B-4E52-BA6D-FF84E4F4693B}"/>
              </a:ext>
            </a:extLst>
          </p:cNvPr>
          <p:cNvCxnSpPr>
            <a:cxnSpLocks/>
          </p:cNvCxnSpPr>
          <p:nvPr/>
        </p:nvCxnSpPr>
        <p:spPr>
          <a:xfrm flipV="1">
            <a:off x="6927679" y="2660196"/>
            <a:ext cx="0" cy="242526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57542FB3-5083-47BE-BDBE-11462227C109}"/>
                  </a:ext>
                </a:extLst>
              </p:cNvPr>
              <p:cNvSpPr txBox="1"/>
              <p:nvPr/>
            </p:nvSpPr>
            <p:spPr>
              <a:xfrm>
                <a:off x="3587017" y="2895488"/>
                <a:ext cx="40741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57542FB3-5083-47BE-BDBE-11462227C1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7017" y="2895488"/>
                <a:ext cx="407419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3EB872B5-3C5D-42CB-B88C-47F2E615A6A8}"/>
                  </a:ext>
                </a:extLst>
              </p:cNvPr>
              <p:cNvSpPr txBox="1"/>
              <p:nvPr/>
            </p:nvSpPr>
            <p:spPr>
              <a:xfrm>
                <a:off x="4512423" y="2895488"/>
                <a:ext cx="41158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3EB872B5-3C5D-42CB-B88C-47F2E615A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2423" y="2895488"/>
                <a:ext cx="411588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E0841467-5322-4704-92A6-D9F07F96889B}"/>
                  </a:ext>
                </a:extLst>
              </p:cNvPr>
              <p:cNvSpPr txBox="1"/>
              <p:nvPr/>
            </p:nvSpPr>
            <p:spPr>
              <a:xfrm>
                <a:off x="6721885" y="2895488"/>
                <a:ext cx="40799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E0841467-5322-4704-92A6-D9F07F9688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1885" y="2895488"/>
                <a:ext cx="407997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D5A097A8-6C7C-40AD-944F-06236E6EFFCF}"/>
                  </a:ext>
                </a:extLst>
              </p:cNvPr>
              <p:cNvSpPr txBox="1"/>
              <p:nvPr/>
            </p:nvSpPr>
            <p:spPr>
              <a:xfrm>
                <a:off x="5019398" y="2913954"/>
                <a:ext cx="157823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𝑎𝑡𝑡𝑒𝑛𝑡𝑖𝑜𝑛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CN" sz="1400" dirty="0"/>
                        <m:t>= 512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D5A097A8-6C7C-40AD-944F-06236E6EF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9398" y="2913954"/>
                <a:ext cx="1578230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矩形 84">
            <a:extLst>
              <a:ext uri="{FF2B5EF4-FFF2-40B4-BE49-F238E27FC236}">
                <a16:creationId xmlns:a16="http://schemas.microsoft.com/office/drawing/2014/main" id="{3D88569A-1B00-4D2B-99A6-04723C605CE9}"/>
              </a:ext>
            </a:extLst>
          </p:cNvPr>
          <p:cNvSpPr/>
          <p:nvPr/>
        </p:nvSpPr>
        <p:spPr>
          <a:xfrm>
            <a:off x="3407145" y="1079930"/>
            <a:ext cx="756326" cy="26395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16AB3DA3-4F5A-48D7-A54A-8FB14663F597}"/>
              </a:ext>
            </a:extLst>
          </p:cNvPr>
          <p:cNvSpPr/>
          <p:nvPr/>
        </p:nvSpPr>
        <p:spPr>
          <a:xfrm>
            <a:off x="4328983" y="1079930"/>
            <a:ext cx="756326" cy="26395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FFC2B57D-06A9-4856-915C-86D1E332F1CC}"/>
              </a:ext>
            </a:extLst>
          </p:cNvPr>
          <p:cNvSpPr/>
          <p:nvPr/>
        </p:nvSpPr>
        <p:spPr>
          <a:xfrm>
            <a:off x="6553699" y="1079930"/>
            <a:ext cx="756326" cy="26395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1BA16087-4D59-4190-A49C-CAA25504C39B}"/>
              </a:ext>
            </a:extLst>
          </p:cNvPr>
          <p:cNvCxnSpPr>
            <a:cxnSpLocks/>
          </p:cNvCxnSpPr>
          <p:nvPr/>
        </p:nvCxnSpPr>
        <p:spPr>
          <a:xfrm flipH="1" flipV="1">
            <a:off x="3785309" y="1379442"/>
            <a:ext cx="6412" cy="43570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44C33884-B0EC-4F5D-A32D-F5A33BBDE31B}"/>
              </a:ext>
            </a:extLst>
          </p:cNvPr>
          <p:cNvCxnSpPr>
            <a:cxnSpLocks/>
          </p:cNvCxnSpPr>
          <p:nvPr/>
        </p:nvCxnSpPr>
        <p:spPr>
          <a:xfrm flipV="1">
            <a:off x="4707379" y="1399761"/>
            <a:ext cx="0" cy="415381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A6FFB69A-DF5B-4F4C-9EF8-DD2B3CC4C79A}"/>
              </a:ext>
            </a:extLst>
          </p:cNvPr>
          <p:cNvCxnSpPr>
            <a:cxnSpLocks/>
          </p:cNvCxnSpPr>
          <p:nvPr/>
        </p:nvCxnSpPr>
        <p:spPr>
          <a:xfrm flipH="1" flipV="1">
            <a:off x="6922260" y="1399761"/>
            <a:ext cx="2092" cy="40764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691C4356-FDA1-476F-98BC-9457DFFBBC12}"/>
              </a:ext>
            </a:extLst>
          </p:cNvPr>
          <p:cNvCxnSpPr>
            <a:cxnSpLocks/>
          </p:cNvCxnSpPr>
          <p:nvPr/>
        </p:nvCxnSpPr>
        <p:spPr>
          <a:xfrm flipV="1">
            <a:off x="4707550" y="799708"/>
            <a:ext cx="0" cy="242526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FEF3E91B-E132-4486-9124-342B9D179AF9}"/>
              </a:ext>
            </a:extLst>
          </p:cNvPr>
          <p:cNvCxnSpPr>
            <a:cxnSpLocks/>
          </p:cNvCxnSpPr>
          <p:nvPr/>
        </p:nvCxnSpPr>
        <p:spPr>
          <a:xfrm flipV="1">
            <a:off x="3785308" y="799708"/>
            <a:ext cx="0" cy="242526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93F80444-69D6-41CF-8BA3-9948CD91EE8E}"/>
              </a:ext>
            </a:extLst>
          </p:cNvPr>
          <p:cNvCxnSpPr>
            <a:cxnSpLocks/>
          </p:cNvCxnSpPr>
          <p:nvPr/>
        </p:nvCxnSpPr>
        <p:spPr>
          <a:xfrm flipV="1">
            <a:off x="6922260" y="799708"/>
            <a:ext cx="0" cy="242526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931E4FFE-5DA9-4E83-9811-E23E3EE3A92E}"/>
                  </a:ext>
                </a:extLst>
              </p:cNvPr>
              <p:cNvSpPr txBox="1"/>
              <p:nvPr/>
            </p:nvSpPr>
            <p:spPr>
              <a:xfrm>
                <a:off x="3581598" y="1035000"/>
                <a:ext cx="40741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931E4FFE-5DA9-4E83-9811-E23E3EE3A9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598" y="1035000"/>
                <a:ext cx="407419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892C7EC8-4C81-458E-94F9-EEF46F76D63C}"/>
                  </a:ext>
                </a:extLst>
              </p:cNvPr>
              <p:cNvSpPr txBox="1"/>
              <p:nvPr/>
            </p:nvSpPr>
            <p:spPr>
              <a:xfrm>
                <a:off x="4507004" y="1035000"/>
                <a:ext cx="41158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892C7EC8-4C81-458E-94F9-EEF46F76D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7004" y="1035000"/>
                <a:ext cx="411588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582A9D4E-0611-43D4-A84B-57466A75A824}"/>
                  </a:ext>
                </a:extLst>
              </p:cNvPr>
              <p:cNvSpPr txBox="1"/>
              <p:nvPr/>
            </p:nvSpPr>
            <p:spPr>
              <a:xfrm>
                <a:off x="6716466" y="1035000"/>
                <a:ext cx="4112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582A9D4E-0611-43D4-A84B-57466A75A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6466" y="1035000"/>
                <a:ext cx="411202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4F29F72F-846C-4331-86C8-0C268B0605AB}"/>
                  </a:ext>
                </a:extLst>
              </p:cNvPr>
              <p:cNvSpPr txBox="1"/>
              <p:nvPr/>
            </p:nvSpPr>
            <p:spPr>
              <a:xfrm>
                <a:off x="3276965" y="6298264"/>
                <a:ext cx="40330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l-PL" altLang="zh-CN" b="0" i="1" dirty="0" smtClean="0">
                        <a:effectLst/>
                        <a:latin typeface="Cambria Math" panose="02040503050406030204" pitchFamily="18" charset="0"/>
                      </a:rPr>
                      <m:t>𝐹𝐹𝑁</m:t>
                    </m:r>
                    <m:r>
                      <a:rPr lang="pl-PL" altLang="zh-CN" b="0" i="1" dirty="0"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pl-PL" altLang="zh-CN" b="0" i="1" dirty="0"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pl-PL" altLang="zh-CN" b="0" i="1" dirty="0">
                        <a:effectLst/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pl-PL" altLang="zh-CN" b="0" i="1" dirty="0">
                        <a:effectLst/>
                        <a:latin typeface="Cambria Math" panose="02040503050406030204" pitchFamily="18" charset="0"/>
                      </a:rPr>
                      <m:t>max</m:t>
                    </m:r>
                    <m:r>
                      <a:rPr lang="pl-PL" altLang="zh-CN" b="0" i="1" dirty="0">
                        <a:effectLst/>
                        <a:latin typeface="Cambria Math" panose="02040503050406030204" pitchFamily="18" charset="0"/>
                      </a:rPr>
                      <m:t>⁡(0,</m:t>
                    </m:r>
                    <m:r>
                      <a:rPr lang="pl-PL" altLang="zh-CN" b="0" i="1" dirty="0">
                        <a:effectLst/>
                        <a:latin typeface="Cambria Math" panose="02040503050406030204" pitchFamily="18" charset="0"/>
                      </a:rPr>
                      <m:t>𝑥𝑊</m:t>
                    </m:r>
                    <m:r>
                      <a:rPr lang="pl-PL" altLang="zh-CN" b="0" i="1" dirty="0">
                        <a:effectLst/>
                        <a:latin typeface="Cambria Math" panose="02040503050406030204" pitchFamily="18" charset="0"/>
                      </a:rPr>
                      <m:t>1​+</m:t>
                    </m:r>
                    <m:r>
                      <a:rPr lang="pl-PL" altLang="zh-CN" b="0" i="1" dirty="0">
                        <a:effectLst/>
                        <a:latin typeface="Cambria Math" panose="02040503050406030204" pitchFamily="18" charset="0"/>
                      </a:rPr>
                      <m:t>𝑏</m:t>
                    </m:r>
                    <m:r>
                      <a:rPr lang="pl-PL" altLang="zh-CN" b="0" i="1" dirty="0">
                        <a:effectLst/>
                        <a:latin typeface="Cambria Math" panose="02040503050406030204" pitchFamily="18" charset="0"/>
                      </a:rPr>
                      <m:t>1​)</m:t>
                    </m:r>
                    <m:r>
                      <a:rPr lang="pl-PL" altLang="zh-CN" b="0" i="1" dirty="0">
                        <a:effectLst/>
                        <a:latin typeface="Cambria Math" panose="02040503050406030204" pitchFamily="18" charset="0"/>
                      </a:rPr>
                      <m:t>𝑊</m:t>
                    </m:r>
                    <m:r>
                      <a:rPr lang="pl-PL" altLang="zh-CN" b="0" i="1" dirty="0">
                        <a:effectLst/>
                        <a:latin typeface="Cambria Math" panose="02040503050406030204" pitchFamily="18" charset="0"/>
                      </a:rPr>
                      <m:t>2​+</m:t>
                    </m:r>
                    <m:r>
                      <a:rPr lang="pl-PL" altLang="zh-CN" b="0" i="1" dirty="0">
                        <a:effectLst/>
                        <a:latin typeface="Cambria Math" panose="02040503050406030204" pitchFamily="18" charset="0"/>
                      </a:rPr>
                      <m:t>𝑏</m:t>
                    </m:r>
                    <m:r>
                      <a:rPr lang="pl-PL" altLang="zh-CN" b="0" i="1" dirty="0">
                        <a:solidFill>
                          <a:srgbClr val="4D4D4D"/>
                        </a:solidFill>
                        <a:effectLst/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pl-PL" altLang="zh-CN" b="0" i="0" dirty="0">
                    <a:solidFill>
                      <a:srgbClr val="4D4D4D"/>
                    </a:solidFill>
                    <a:effectLst/>
                    <a:latin typeface="KaTeX_Main"/>
                  </a:rPr>
                  <a:t>​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4F29F72F-846C-4331-86C8-0C268B060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965" y="6298264"/>
                <a:ext cx="4033060" cy="369332"/>
              </a:xfrm>
              <a:prstGeom prst="rect">
                <a:avLst/>
              </a:prstGeom>
              <a:blipFill>
                <a:blip r:embed="rId15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4" name="矩形: 圆角 153">
            <a:extLst>
              <a:ext uri="{FF2B5EF4-FFF2-40B4-BE49-F238E27FC236}">
                <a16:creationId xmlns:a16="http://schemas.microsoft.com/office/drawing/2014/main" id="{EBFA41BC-36DE-4780-8253-1366932EB7E3}"/>
              </a:ext>
            </a:extLst>
          </p:cNvPr>
          <p:cNvSpPr/>
          <p:nvPr/>
        </p:nvSpPr>
        <p:spPr>
          <a:xfrm>
            <a:off x="927267" y="3001089"/>
            <a:ext cx="2250546" cy="140316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矩形: 圆角 154">
            <a:extLst>
              <a:ext uri="{FF2B5EF4-FFF2-40B4-BE49-F238E27FC236}">
                <a16:creationId xmlns:a16="http://schemas.microsoft.com/office/drawing/2014/main" id="{4EEA005A-24A0-468C-A6AE-32038EBC4FAD}"/>
              </a:ext>
            </a:extLst>
          </p:cNvPr>
          <p:cNvSpPr/>
          <p:nvPr/>
        </p:nvSpPr>
        <p:spPr>
          <a:xfrm>
            <a:off x="936455" y="1718205"/>
            <a:ext cx="2250546" cy="104409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32474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28F89F25-223D-4653-8345-FD325A866B43}"/>
              </a:ext>
            </a:extLst>
          </p:cNvPr>
          <p:cNvSpPr/>
          <p:nvPr/>
        </p:nvSpPr>
        <p:spPr>
          <a:xfrm>
            <a:off x="9162288" y="4873212"/>
            <a:ext cx="2615183" cy="14422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A8C3841-D683-437A-BAF0-4A9BCFF3A243}"/>
              </a:ext>
            </a:extLst>
          </p:cNvPr>
          <p:cNvSpPr txBox="1"/>
          <p:nvPr/>
        </p:nvSpPr>
        <p:spPr>
          <a:xfrm>
            <a:off x="520024" y="471729"/>
            <a:ext cx="1709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cs typeface="+mn-ea"/>
                <a:sym typeface="+mn-lt"/>
              </a:rPr>
              <a:t>2.2. Decoder</a:t>
            </a:r>
            <a:endParaRPr lang="zh-CN" altLang="en-US" sz="2000" b="1" dirty="0"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EF9A52B-3A22-40CF-82D2-E1987DD68C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028" t="24110" r="13895" b="27049"/>
          <a:stretch/>
        </p:blipFill>
        <p:spPr>
          <a:xfrm>
            <a:off x="1068664" y="1345298"/>
            <a:ext cx="2063213" cy="4167404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12F47E20-8A58-4DA8-B50E-B91654411B22}"/>
              </a:ext>
            </a:extLst>
          </p:cNvPr>
          <p:cNvSpPr/>
          <p:nvPr/>
        </p:nvSpPr>
        <p:spPr>
          <a:xfrm>
            <a:off x="1139784" y="2598420"/>
            <a:ext cx="1644056" cy="98679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EFBA73F-1085-464A-9B85-BF81E47BC29A}"/>
              </a:ext>
            </a:extLst>
          </p:cNvPr>
          <p:cNvSpPr/>
          <p:nvPr/>
        </p:nvSpPr>
        <p:spPr>
          <a:xfrm>
            <a:off x="1139784" y="1514083"/>
            <a:ext cx="1644056" cy="94717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1E1E818-04DB-413F-884D-2E6D060BFDC8}"/>
              </a:ext>
            </a:extLst>
          </p:cNvPr>
          <p:cNvSpPr/>
          <p:nvPr/>
        </p:nvSpPr>
        <p:spPr>
          <a:xfrm>
            <a:off x="1139784" y="3860292"/>
            <a:ext cx="1644056" cy="124815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E1B1373-96B9-4278-B357-B39694BFE803}"/>
              </a:ext>
            </a:extLst>
          </p:cNvPr>
          <p:cNvSpPr txBox="1"/>
          <p:nvPr/>
        </p:nvSpPr>
        <p:spPr>
          <a:xfrm>
            <a:off x="3436677" y="4147856"/>
            <a:ext cx="3775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cs typeface="+mn-ea"/>
                <a:sym typeface="+mn-lt"/>
              </a:rPr>
              <a:t>Masked Multi-Head attention</a:t>
            </a:r>
            <a:endParaRPr lang="zh-CN" altLang="en-US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0012DB7-EC83-4CD9-BEAD-8C248B85990F}"/>
              </a:ext>
            </a:extLst>
          </p:cNvPr>
          <p:cNvSpPr txBox="1"/>
          <p:nvPr/>
        </p:nvSpPr>
        <p:spPr>
          <a:xfrm>
            <a:off x="3715583" y="4534658"/>
            <a:ext cx="44491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cs typeface="+mn-ea"/>
                <a:sym typeface="+mn-lt"/>
              </a:rPr>
              <a:t>K,V,Q </a:t>
            </a:r>
            <a:r>
              <a:rPr lang="en-US" altLang="zh-CN" sz="1600" dirty="0">
                <a:cs typeface="+mn-ea"/>
                <a:sym typeface="Wingdings" panose="05000000000000000000" pitchFamily="2" charset="2"/>
              </a:rPr>
              <a:t> Output &amp; Decoder output(masked)</a:t>
            </a:r>
            <a:endParaRPr lang="zh-CN" altLang="en-US" sz="16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C898B68-E98D-4E68-9AA7-E79D127E1963}"/>
              </a:ext>
            </a:extLst>
          </p:cNvPr>
          <p:cNvSpPr txBox="1"/>
          <p:nvPr/>
        </p:nvSpPr>
        <p:spPr>
          <a:xfrm>
            <a:off x="3436677" y="2760300"/>
            <a:ext cx="57829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cs typeface="+mn-ea"/>
                <a:sym typeface="+mn-lt"/>
              </a:rPr>
              <a:t>Multi-Head attention(Encoder-decoder attention)</a:t>
            </a:r>
            <a:endParaRPr lang="zh-CN" altLang="en-US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D5B5B47-C837-4334-B53F-4499237078DC}"/>
              </a:ext>
            </a:extLst>
          </p:cNvPr>
          <p:cNvSpPr txBox="1"/>
          <p:nvPr/>
        </p:nvSpPr>
        <p:spPr>
          <a:xfrm>
            <a:off x="3715583" y="3136612"/>
            <a:ext cx="40990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cs typeface="+mn-ea"/>
                <a:sym typeface="+mn-lt"/>
              </a:rPr>
              <a:t>K,V</a:t>
            </a:r>
            <a:r>
              <a:rPr lang="en-US" altLang="zh-CN" sz="1600" dirty="0">
                <a:cs typeface="+mn-ea"/>
                <a:sym typeface="Wingdings" panose="05000000000000000000" pitchFamily="2" charset="2"/>
              </a:rPr>
              <a:t> Encoder output</a:t>
            </a:r>
          </a:p>
          <a:p>
            <a:r>
              <a:rPr lang="en-US" altLang="zh-CN" sz="1600" dirty="0">
                <a:cs typeface="+mn-ea"/>
                <a:sym typeface="+mn-lt"/>
              </a:rPr>
              <a:t>Q </a:t>
            </a:r>
            <a:r>
              <a:rPr lang="en-US" altLang="zh-CN" sz="1600" dirty="0">
                <a:cs typeface="+mn-ea"/>
                <a:sym typeface="Wingdings" panose="05000000000000000000" pitchFamily="2" charset="2"/>
              </a:rPr>
              <a:t> Masked Multi-Head attention output</a:t>
            </a:r>
            <a:endParaRPr lang="zh-CN" altLang="en-US" sz="16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0D91E4F-082E-4617-AFE8-5D0C7E45D147}"/>
              </a:ext>
            </a:extLst>
          </p:cNvPr>
          <p:cNvSpPr txBox="1"/>
          <p:nvPr/>
        </p:nvSpPr>
        <p:spPr>
          <a:xfrm>
            <a:off x="3436677" y="1514083"/>
            <a:ext cx="57829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cs typeface="+mn-ea"/>
                <a:sym typeface="+mn-lt"/>
              </a:rPr>
              <a:t>Position-wise Feed-Forward Networks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24E5EDF-0F37-4511-9434-D0B2BA994900}"/>
              </a:ext>
            </a:extLst>
          </p:cNvPr>
          <p:cNvSpPr txBox="1"/>
          <p:nvPr/>
        </p:nvSpPr>
        <p:spPr>
          <a:xfrm>
            <a:off x="7437498" y="587895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F90EC62-C3CA-4FFC-83FA-99225E51DD64}"/>
              </a:ext>
            </a:extLst>
          </p:cNvPr>
          <p:cNvSpPr txBox="1"/>
          <p:nvPr/>
        </p:nvSpPr>
        <p:spPr>
          <a:xfrm>
            <a:off x="8370983" y="589511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物</a:t>
            </a:r>
            <a:endParaRPr lang="zh-CN" altLang="en-US" b="1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370DDCF-F63E-48C0-995E-FB93F81558FD}"/>
              </a:ext>
            </a:extLst>
          </p:cNvPr>
          <p:cNvSpPr txBox="1"/>
          <p:nvPr/>
        </p:nvSpPr>
        <p:spPr>
          <a:xfrm>
            <a:off x="9683174" y="588859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…</a:t>
            </a:r>
            <a:endParaRPr lang="zh-CN" altLang="en-US" b="1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65B733-FCB5-4184-AF19-EA6EE22DAC5B}"/>
              </a:ext>
            </a:extLst>
          </p:cNvPr>
          <p:cNvSpPr txBox="1"/>
          <p:nvPr/>
        </p:nvSpPr>
        <p:spPr>
          <a:xfrm>
            <a:off x="10901595" y="587683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累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BD61446-CAD6-4698-95A1-EB5C68D03B25}"/>
              </a:ext>
            </a:extLst>
          </p:cNvPr>
          <p:cNvSpPr/>
          <p:nvPr/>
        </p:nvSpPr>
        <p:spPr>
          <a:xfrm>
            <a:off x="7271124" y="5153378"/>
            <a:ext cx="756326" cy="26395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D6209BF-44CA-44BE-AF06-E560379C00ED}"/>
              </a:ext>
            </a:extLst>
          </p:cNvPr>
          <p:cNvSpPr/>
          <p:nvPr/>
        </p:nvSpPr>
        <p:spPr>
          <a:xfrm>
            <a:off x="8192962" y="5153378"/>
            <a:ext cx="756326" cy="26395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11CCAA5-F42A-4B4C-B2BA-9E10C0680C6F}"/>
              </a:ext>
            </a:extLst>
          </p:cNvPr>
          <p:cNvSpPr/>
          <p:nvPr/>
        </p:nvSpPr>
        <p:spPr>
          <a:xfrm>
            <a:off x="10747264" y="5153378"/>
            <a:ext cx="756326" cy="26395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0D9A3917-3095-426D-88FC-416723CA291B}"/>
              </a:ext>
            </a:extLst>
          </p:cNvPr>
          <p:cNvCxnSpPr>
            <a:cxnSpLocks/>
            <a:stCxn id="14" idx="0"/>
            <a:endCxn id="24" idx="2"/>
          </p:cNvCxnSpPr>
          <p:nvPr/>
        </p:nvCxnSpPr>
        <p:spPr>
          <a:xfrm flipV="1">
            <a:off x="7645247" y="5416225"/>
            <a:ext cx="4040" cy="462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D8F749D8-DF18-4CE4-A22F-3683A679BFD5}"/>
              </a:ext>
            </a:extLst>
          </p:cNvPr>
          <p:cNvCxnSpPr>
            <a:cxnSpLocks/>
          </p:cNvCxnSpPr>
          <p:nvPr/>
        </p:nvCxnSpPr>
        <p:spPr>
          <a:xfrm flipV="1">
            <a:off x="8571358" y="5473209"/>
            <a:ext cx="0" cy="415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0C5CAEC5-3093-490A-9FC2-127C848B964E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11109344" y="5416225"/>
            <a:ext cx="0" cy="4606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9A9DF30-D57A-44E3-86AF-46580C9BA18F}"/>
                  </a:ext>
                </a:extLst>
              </p:cNvPr>
              <p:cNvSpPr txBox="1"/>
              <p:nvPr/>
            </p:nvSpPr>
            <p:spPr>
              <a:xfrm>
                <a:off x="7445577" y="5108448"/>
                <a:ext cx="40741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9A9DF30-D57A-44E3-86AF-46580C9BA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5577" y="5108448"/>
                <a:ext cx="407419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0486D41-9EDB-4B19-AB86-33EC6CB4CD70}"/>
                  </a:ext>
                </a:extLst>
              </p:cNvPr>
              <p:cNvSpPr txBox="1"/>
              <p:nvPr/>
            </p:nvSpPr>
            <p:spPr>
              <a:xfrm>
                <a:off x="8370983" y="5108448"/>
                <a:ext cx="41158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0486D41-9EDB-4B19-AB86-33EC6CB4C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0983" y="5108448"/>
                <a:ext cx="41158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C0D952F3-F485-49B8-9CD6-FCF96A23DAA3}"/>
                  </a:ext>
                </a:extLst>
              </p:cNvPr>
              <p:cNvSpPr txBox="1"/>
              <p:nvPr/>
            </p:nvSpPr>
            <p:spPr>
              <a:xfrm>
                <a:off x="10915450" y="5108448"/>
                <a:ext cx="42344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C0D952F3-F485-49B8-9CD6-FCF96A23DA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5450" y="5108448"/>
                <a:ext cx="423449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C7EC9094-0135-48D8-9972-E870777E0871}"/>
                  </a:ext>
                </a:extLst>
              </p:cNvPr>
              <p:cNvSpPr txBox="1"/>
              <p:nvPr/>
            </p:nvSpPr>
            <p:spPr>
              <a:xfrm>
                <a:off x="10161140" y="4505192"/>
                <a:ext cx="6174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等线" panose="02010600030101010101" pitchFamily="2" charset="-122"/>
                        </a:rPr>
                        <m:t>−</m:t>
                      </m:r>
                      <m:r>
                        <a:rPr lang="zh-CN" altLang="en-US" i="1" dirty="0" smtClean="0">
                          <a:latin typeface="Cambria Math" panose="02040503050406030204" pitchFamily="18" charset="0"/>
                          <a:ea typeface="等线" panose="02010600030101010101" pitchFamily="2" charset="-122"/>
                        </a:rPr>
                        <m:t>∞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C7EC9094-0135-48D8-9972-E870777E0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1140" y="4505192"/>
                <a:ext cx="61747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F74C1911-AEB6-4F78-B76B-229E36759F75}"/>
                  </a:ext>
                </a:extLst>
              </p:cNvPr>
              <p:cNvSpPr txBox="1"/>
              <p:nvPr/>
            </p:nvSpPr>
            <p:spPr>
              <a:xfrm>
                <a:off x="10152323" y="3672340"/>
                <a:ext cx="6351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等线" panose="02010600030101010101" pitchFamily="2" charset="-122"/>
                        </a:rPr>
                        <m:t>→0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F74C1911-AEB6-4F78-B76B-229E36759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323" y="3672340"/>
                <a:ext cx="63511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43124748-1C23-4318-9603-E977E59AE545}"/>
              </a:ext>
            </a:extLst>
          </p:cNvPr>
          <p:cNvCxnSpPr>
            <a:stCxn id="29" idx="0"/>
            <a:endCxn id="32" idx="2"/>
          </p:cNvCxnSpPr>
          <p:nvPr/>
        </p:nvCxnSpPr>
        <p:spPr>
          <a:xfrm flipH="1" flipV="1">
            <a:off x="10469878" y="4041672"/>
            <a:ext cx="1" cy="463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FF4BCA37-33A4-4A65-84CE-37F8CE1650CE}"/>
              </a:ext>
            </a:extLst>
          </p:cNvPr>
          <p:cNvSpPr txBox="1"/>
          <p:nvPr/>
        </p:nvSpPr>
        <p:spPr>
          <a:xfrm>
            <a:off x="9219665" y="4903161"/>
            <a:ext cx="8790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cs typeface="+mn-ea"/>
                <a:sym typeface="Wingdings" panose="05000000000000000000" pitchFamily="2" charset="2"/>
              </a:rPr>
              <a:t>masked</a:t>
            </a:r>
            <a:endParaRPr lang="zh-CN" altLang="en-US" sz="14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1B32DF1-FFCA-48A8-A88F-30AF42F2FE0B}"/>
              </a:ext>
            </a:extLst>
          </p:cNvPr>
          <p:cNvSpPr txBox="1"/>
          <p:nvPr/>
        </p:nvSpPr>
        <p:spPr>
          <a:xfrm>
            <a:off x="10503911" y="4151294"/>
            <a:ext cx="8790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 err="1">
                <a:cs typeface="+mn-ea"/>
                <a:sym typeface="Wingdings" panose="05000000000000000000" pitchFamily="2" charset="2"/>
              </a:rPr>
              <a:t>softmax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033673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984AE98-55E0-45B9-8CD1-795C62AF5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81D1B-1DEF-4DD3-AA63-B623800C6228}" type="slidenum">
              <a:rPr lang="zh-CN" altLang="en-US" smtClean="0"/>
              <a:t>88</a:t>
            </a:fld>
            <a:endParaRPr lang="zh-CN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F021A2C-3D51-45DA-992E-620920E02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018" y="1066800"/>
            <a:ext cx="6858000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4779805-EB26-4D67-96CE-B40C130DD254}"/>
              </a:ext>
            </a:extLst>
          </p:cNvPr>
          <p:cNvSpPr txBox="1"/>
          <p:nvPr/>
        </p:nvSpPr>
        <p:spPr>
          <a:xfrm>
            <a:off x="304800" y="16002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cs typeface="+mn-ea"/>
                <a:sym typeface="+mn-lt"/>
              </a:rPr>
              <a:t>Self Attention vs Encoder-Decoder Attention </a:t>
            </a:r>
            <a:endParaRPr lang="zh-CN" altLang="en-US" sz="1800" b="1" dirty="0"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A0844E4-0FA0-48FF-9839-D77782837E19}"/>
              </a:ext>
            </a:extLst>
          </p:cNvPr>
          <p:cNvSpPr txBox="1"/>
          <p:nvPr/>
        </p:nvSpPr>
        <p:spPr>
          <a:xfrm>
            <a:off x="7924800" y="914400"/>
            <a:ext cx="35331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cs typeface="+mn-ea"/>
                <a:sym typeface="+mn-lt"/>
              </a:rPr>
              <a:t>Self Attention:</a:t>
            </a:r>
          </a:p>
          <a:p>
            <a:r>
              <a:rPr lang="zh-CN" altLang="en-US" b="1" dirty="0"/>
              <a:t>   </a:t>
            </a:r>
            <a:r>
              <a:rPr lang="en-US" altLang="zh-CN" b="1" dirty="0"/>
              <a:t>Q=K=V=input sequences</a:t>
            </a:r>
            <a:endParaRPr lang="zh-CN" altLang="en-US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1D9676-5337-4ED5-AABF-118511225660}"/>
              </a:ext>
            </a:extLst>
          </p:cNvPr>
          <p:cNvSpPr txBox="1"/>
          <p:nvPr/>
        </p:nvSpPr>
        <p:spPr>
          <a:xfrm>
            <a:off x="7947891" y="1981200"/>
            <a:ext cx="35331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cs typeface="+mn-ea"/>
                <a:sym typeface="+mn-lt"/>
              </a:rPr>
              <a:t>Encoder-Decoder Attention </a:t>
            </a:r>
            <a:r>
              <a:rPr lang="en-US" altLang="zh-CN" sz="1600" dirty="0">
                <a:cs typeface="+mn-ea"/>
                <a:sym typeface="+mn-lt"/>
              </a:rPr>
              <a:t>:</a:t>
            </a:r>
          </a:p>
          <a:p>
            <a:r>
              <a:rPr lang="en-US" altLang="zh-CN" sz="1600" dirty="0">
                <a:cs typeface="+mn-ea"/>
                <a:sym typeface="+mn-lt"/>
              </a:rPr>
              <a:t>   </a:t>
            </a:r>
            <a:r>
              <a:rPr lang="en-US" altLang="zh-CN" sz="1600" b="1" dirty="0">
                <a:sym typeface="+mn-lt"/>
              </a:rPr>
              <a:t>K=V=</a:t>
            </a:r>
            <a:r>
              <a:rPr lang="en-US" altLang="zh-CN" sz="1600" b="1" dirty="0"/>
              <a:t>input sequences</a:t>
            </a:r>
            <a:endParaRPr lang="en-US" altLang="zh-CN" sz="1600" b="1" dirty="0">
              <a:sym typeface="+mn-lt"/>
            </a:endParaRPr>
          </a:p>
          <a:p>
            <a:r>
              <a:rPr lang="zh-CN" altLang="en-US" sz="1600" b="1" dirty="0"/>
              <a:t>   </a:t>
            </a:r>
            <a:r>
              <a:rPr lang="en-US" altLang="zh-CN" sz="1600" b="1" dirty="0"/>
              <a:t>Q=output sequences</a:t>
            </a:r>
            <a:endParaRPr lang="zh-CN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897819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>
            <a:extLst>
              <a:ext uri="{FF2B5EF4-FFF2-40B4-BE49-F238E27FC236}">
                <a16:creationId xmlns:a16="http://schemas.microsoft.com/office/drawing/2014/main" id="{90513CAD-BFE6-4D32-9DBD-1249086C3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360" y="580344"/>
            <a:ext cx="4367039" cy="6154393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A8C3841-D683-437A-BAF0-4A9BCFF3A243}"/>
              </a:ext>
            </a:extLst>
          </p:cNvPr>
          <p:cNvSpPr txBox="1"/>
          <p:nvPr/>
        </p:nvSpPr>
        <p:spPr>
          <a:xfrm>
            <a:off x="520024" y="471729"/>
            <a:ext cx="34724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cs typeface="+mn-ea"/>
                <a:sym typeface="+mn-lt"/>
              </a:rPr>
              <a:t>2.3. The whole architecture</a:t>
            </a:r>
            <a:endParaRPr lang="zh-CN" altLang="en-US" sz="2000" b="1" dirty="0"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AEE73A2-5303-4E46-BCC4-6B2534212CB9}"/>
              </a:ext>
            </a:extLst>
          </p:cNvPr>
          <p:cNvSpPr txBox="1"/>
          <p:nvPr/>
        </p:nvSpPr>
        <p:spPr>
          <a:xfrm>
            <a:off x="5069735" y="1069155"/>
            <a:ext cx="2082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2.3.1. Embedding</a:t>
            </a:r>
            <a:endParaRPr lang="zh-CN" altLang="en-US" b="1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AF1F176-1A2F-4836-9CF0-7E36F21634BB}"/>
              </a:ext>
            </a:extLst>
          </p:cNvPr>
          <p:cNvSpPr txBox="1"/>
          <p:nvPr/>
        </p:nvSpPr>
        <p:spPr>
          <a:xfrm>
            <a:off x="5451751" y="1580518"/>
            <a:ext cx="5120470" cy="119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/>
              <a:t>share </a:t>
            </a:r>
            <a:r>
              <a:rPr lang="en-US" altLang="zh-CN" sz="1600" b="1" dirty="0"/>
              <a:t>the same weight matrix</a:t>
            </a:r>
          </a:p>
          <a:p>
            <a:pPr>
              <a:lnSpc>
                <a:spcPct val="150000"/>
              </a:lnSpc>
            </a:pPr>
            <a:r>
              <a:rPr lang="en-US" altLang="zh-CN" sz="1600" dirty="0"/>
              <a:t>between the two </a:t>
            </a:r>
            <a:r>
              <a:rPr lang="en-US" altLang="zh-CN" sz="1600" b="1" dirty="0"/>
              <a:t>embedding layers </a:t>
            </a:r>
          </a:p>
          <a:p>
            <a:pPr>
              <a:lnSpc>
                <a:spcPct val="150000"/>
              </a:lnSpc>
            </a:pPr>
            <a:r>
              <a:rPr lang="en-US" altLang="zh-CN" sz="1600" dirty="0"/>
              <a:t>and the </a:t>
            </a:r>
            <a:r>
              <a:rPr lang="en-US" altLang="zh-CN" sz="1600" b="1" dirty="0"/>
              <a:t>pre-</a:t>
            </a:r>
            <a:r>
              <a:rPr lang="en-US" altLang="zh-CN" sz="1600" b="1" dirty="0" err="1"/>
              <a:t>softmax</a:t>
            </a:r>
            <a:r>
              <a:rPr lang="en-US" altLang="zh-CN" sz="1600" b="1" dirty="0"/>
              <a:t> linear transformation</a:t>
            </a:r>
            <a:endParaRPr lang="zh-CN" altLang="en-US" sz="1600" b="1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A0531C4-97BC-4868-AAF4-979C3F3F7810}"/>
              </a:ext>
            </a:extLst>
          </p:cNvPr>
          <p:cNvSpPr/>
          <p:nvPr/>
        </p:nvSpPr>
        <p:spPr>
          <a:xfrm>
            <a:off x="5181600" y="1699581"/>
            <a:ext cx="176784" cy="9570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5DAE5927-2742-4EE0-81C9-29E50F4222AB}"/>
              </a:ext>
            </a:extLst>
          </p:cNvPr>
          <p:cNvCxnSpPr>
            <a:cxnSpLocks/>
            <a:endCxn id="27" idx="1"/>
          </p:cNvCxnSpPr>
          <p:nvPr/>
        </p:nvCxnSpPr>
        <p:spPr>
          <a:xfrm flipV="1">
            <a:off x="2573518" y="2178117"/>
            <a:ext cx="2608082" cy="3285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0611DF93-C54D-43E7-B619-49F3897C95F1}"/>
              </a:ext>
            </a:extLst>
          </p:cNvPr>
          <p:cNvCxnSpPr>
            <a:cxnSpLocks/>
            <a:endCxn id="27" idx="1"/>
          </p:cNvCxnSpPr>
          <p:nvPr/>
        </p:nvCxnSpPr>
        <p:spPr>
          <a:xfrm flipV="1">
            <a:off x="3836709" y="2178117"/>
            <a:ext cx="1344891" cy="3318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382CB55D-96D7-4D53-9A5A-DC7FECFD93E6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3992449" y="1926386"/>
            <a:ext cx="1189151" cy="2517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BC0C60CF-8CA1-484F-9741-F725D7C0759C}"/>
              </a:ext>
            </a:extLst>
          </p:cNvPr>
          <p:cNvSpPr txBox="1"/>
          <p:nvPr/>
        </p:nvSpPr>
        <p:spPr>
          <a:xfrm>
            <a:off x="5069735" y="3035862"/>
            <a:ext cx="3044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2.3.2. Positional Encoding</a:t>
            </a:r>
            <a:endParaRPr lang="zh-CN" altLang="en-US" b="1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7667821-C111-4D78-89BD-A6DDD5FDA311}"/>
              </a:ext>
            </a:extLst>
          </p:cNvPr>
          <p:cNvSpPr txBox="1"/>
          <p:nvPr/>
        </p:nvSpPr>
        <p:spPr>
          <a:xfrm>
            <a:off x="5484640" y="3496524"/>
            <a:ext cx="51204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/>
              <a:t>use sine and cosine functions of different frequencies</a:t>
            </a:r>
            <a:endParaRPr lang="zh-CN" altLang="en-US" sz="1600" dirty="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BDE4FB8-5747-4C15-B21F-69ED65DC9938}"/>
              </a:ext>
            </a:extLst>
          </p:cNvPr>
          <p:cNvSpPr/>
          <p:nvPr/>
        </p:nvSpPr>
        <p:spPr>
          <a:xfrm>
            <a:off x="5181600" y="3518078"/>
            <a:ext cx="176784" cy="11489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FA58CF4C-1F84-4110-BB00-E7D366973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4640" y="3832879"/>
            <a:ext cx="3623398" cy="834115"/>
          </a:xfrm>
          <a:prstGeom prst="rect">
            <a:avLst/>
          </a:prstGeom>
        </p:spPr>
      </p:pic>
      <p:sp>
        <p:nvSpPr>
          <p:cNvPr id="50" name="文本框 49">
            <a:extLst>
              <a:ext uri="{FF2B5EF4-FFF2-40B4-BE49-F238E27FC236}">
                <a16:creationId xmlns:a16="http://schemas.microsoft.com/office/drawing/2014/main" id="{9E3D08D6-4B75-46F3-9D05-6CC102A3F4DC}"/>
              </a:ext>
            </a:extLst>
          </p:cNvPr>
          <p:cNvSpPr txBox="1"/>
          <p:nvPr/>
        </p:nvSpPr>
        <p:spPr>
          <a:xfrm>
            <a:off x="5069735" y="4789087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2.3.3. </a:t>
            </a:r>
            <a:r>
              <a:rPr lang="en-US" altLang="zh-CN" b="1" dirty="0" err="1"/>
              <a:t>Softmax</a:t>
            </a:r>
            <a:endParaRPr lang="zh-CN" altLang="en-US" b="1" dirty="0"/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B5347D29-923D-4EF2-874C-78CFB7A24C44}"/>
              </a:ext>
            </a:extLst>
          </p:cNvPr>
          <p:cNvCxnSpPr>
            <a:cxnSpLocks/>
            <a:endCxn id="50" idx="1"/>
          </p:cNvCxnSpPr>
          <p:nvPr/>
        </p:nvCxnSpPr>
        <p:spPr>
          <a:xfrm>
            <a:off x="4006481" y="1580518"/>
            <a:ext cx="1063254" cy="3393235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82B78780-45E4-4ACF-A6D2-93787C5161DA}"/>
              </a:ext>
            </a:extLst>
          </p:cNvPr>
          <p:cNvSpPr txBox="1"/>
          <p:nvPr/>
        </p:nvSpPr>
        <p:spPr>
          <a:xfrm>
            <a:off x="5269992" y="5788845"/>
            <a:ext cx="8993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output</a:t>
            </a:r>
            <a:endParaRPr lang="zh-CN" altLang="en-US" sz="1600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2C370C34-F6A4-4DEC-BE1D-789E943F8BF2}"/>
              </a:ext>
            </a:extLst>
          </p:cNvPr>
          <p:cNvSpPr txBox="1"/>
          <p:nvPr/>
        </p:nvSpPr>
        <p:spPr>
          <a:xfrm>
            <a:off x="6591946" y="5788845"/>
            <a:ext cx="8993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Linear</a:t>
            </a:r>
            <a:endParaRPr lang="zh-CN" altLang="en-US" sz="1600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4D654673-C85B-4ADF-91B6-54A3DFAF3D05}"/>
              </a:ext>
            </a:extLst>
          </p:cNvPr>
          <p:cNvSpPr txBox="1"/>
          <p:nvPr/>
        </p:nvSpPr>
        <p:spPr>
          <a:xfrm>
            <a:off x="7868180" y="5788845"/>
            <a:ext cx="11181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 err="1"/>
              <a:t>Softmax</a:t>
            </a:r>
            <a:endParaRPr lang="zh-CN" altLang="en-US" sz="1600" dirty="0"/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ABCD2F65-AD84-4733-B1B1-E89FE60C8B99}"/>
              </a:ext>
            </a:extLst>
          </p:cNvPr>
          <p:cNvCxnSpPr>
            <a:cxnSpLocks/>
            <a:stCxn id="58" idx="3"/>
            <a:endCxn id="59" idx="1"/>
          </p:cNvCxnSpPr>
          <p:nvPr/>
        </p:nvCxnSpPr>
        <p:spPr>
          <a:xfrm>
            <a:off x="6169347" y="5958122"/>
            <a:ext cx="4225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84CD1AD0-A968-43D1-8DF1-4EF695F9F5C4}"/>
              </a:ext>
            </a:extLst>
          </p:cNvPr>
          <p:cNvCxnSpPr>
            <a:cxnSpLocks/>
          </p:cNvCxnSpPr>
          <p:nvPr/>
        </p:nvCxnSpPr>
        <p:spPr>
          <a:xfrm>
            <a:off x="7485233" y="5958122"/>
            <a:ext cx="4225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AD536CC1-A9B3-443F-89ED-17B6E1471F03}"/>
              </a:ext>
            </a:extLst>
          </p:cNvPr>
          <p:cNvCxnSpPr>
            <a:cxnSpLocks/>
          </p:cNvCxnSpPr>
          <p:nvPr/>
        </p:nvCxnSpPr>
        <p:spPr>
          <a:xfrm>
            <a:off x="8896738" y="5958122"/>
            <a:ext cx="4225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46DEBB8A-8EAD-44E5-BDBA-5B5FD4F82FE9}"/>
                  </a:ext>
                </a:extLst>
              </p:cNvPr>
              <p:cNvSpPr txBox="1"/>
              <p:nvPr/>
            </p:nvSpPr>
            <p:spPr>
              <a:xfrm>
                <a:off x="6993792" y="5496380"/>
                <a:ext cx="14426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𝑣𝑜𝑐𝑎𝑏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𝑠𝑖𝑧𝑒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46DEBB8A-8EAD-44E5-BDBA-5B5FD4F82F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3792" y="5496380"/>
                <a:ext cx="144263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DFD4103C-6AED-4DBD-A219-57BC65699D17}"/>
                  </a:ext>
                </a:extLst>
              </p:cNvPr>
              <p:cNvSpPr txBox="1"/>
              <p:nvPr/>
            </p:nvSpPr>
            <p:spPr>
              <a:xfrm>
                <a:off x="9405688" y="5793197"/>
                <a:ext cx="18051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𝑣𝑜𝑐𝑎𝑏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𝑠𝑖𝑧𝑒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DFD4103C-6AED-4DBD-A219-57BC65699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5688" y="5793197"/>
                <a:ext cx="180511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hlinkHover r:id="rId6" action="ppaction://hlinksldjump"/>
            <a:extLst>
              <a:ext uri="{FF2B5EF4-FFF2-40B4-BE49-F238E27FC236}">
                <a16:creationId xmlns:a16="http://schemas.microsoft.com/office/drawing/2014/main" id="{B500A55B-2283-4CAF-B292-7FE22FDC79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2221" y="3496524"/>
            <a:ext cx="1465162" cy="1073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4395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>
            <a:extLst>
              <a:ext uri="{FF2B5EF4-FFF2-40B4-BE49-F238E27FC236}">
                <a16:creationId xmlns:a16="http://schemas.microsoft.com/office/drawing/2014/main" id="{90513CAD-BFE6-4D32-9DBD-1249086C3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360" y="580344"/>
            <a:ext cx="4367039" cy="6154393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A8C3841-D683-437A-BAF0-4A9BCFF3A243}"/>
              </a:ext>
            </a:extLst>
          </p:cNvPr>
          <p:cNvSpPr txBox="1"/>
          <p:nvPr/>
        </p:nvSpPr>
        <p:spPr>
          <a:xfrm>
            <a:off x="520024" y="471729"/>
            <a:ext cx="34724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cs typeface="+mn-ea"/>
                <a:sym typeface="+mn-lt"/>
              </a:rPr>
              <a:t>2.3. The whole architecture</a:t>
            </a:r>
            <a:endParaRPr lang="zh-CN" altLang="en-US" sz="2000" b="1" dirty="0"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AEE73A2-5303-4E46-BCC4-6B2534212CB9}"/>
              </a:ext>
            </a:extLst>
          </p:cNvPr>
          <p:cNvSpPr txBox="1"/>
          <p:nvPr/>
        </p:nvSpPr>
        <p:spPr>
          <a:xfrm>
            <a:off x="5069735" y="1114907"/>
            <a:ext cx="2749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2.3.4. Encoder-Decoder</a:t>
            </a:r>
            <a:endParaRPr lang="zh-CN" altLang="en-US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FE1BF92-59CA-443F-89E0-7602AB112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9735" y="2070374"/>
            <a:ext cx="6096000" cy="32807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1F54867-035D-405E-B688-B19AA1A7EFBD}"/>
                  </a:ext>
                </a:extLst>
              </p:cNvPr>
              <p:cNvSpPr txBox="1"/>
              <p:nvPr/>
            </p:nvSpPr>
            <p:spPr>
              <a:xfrm>
                <a:off x="5872376" y="1701042"/>
                <a:ext cx="9893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altLang="zh-CN" b="1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0" dirty="0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1F54867-035D-405E-B688-B19AA1A7EF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2376" y="1701042"/>
                <a:ext cx="989309" cy="369332"/>
              </a:xfrm>
              <a:prstGeom prst="rect">
                <a:avLst/>
              </a:prstGeom>
              <a:blipFill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3082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724400" y="2743200"/>
            <a:ext cx="2743200" cy="790575"/>
          </a:xfrm>
        </p:spPr>
        <p:txBody>
          <a:bodyPr>
            <a:normAutofit/>
          </a:bodyPr>
          <a:lstStyle/>
          <a:p>
            <a:pPr algn="ctr"/>
            <a:r>
              <a:rPr lang="zh-CN" altLang="en-US" sz="4400" dirty="0">
                <a:latin typeface="+mn-lt"/>
                <a:ea typeface="+mn-ea"/>
                <a:cs typeface="+mn-ea"/>
                <a:sym typeface="+mn-lt"/>
              </a:rPr>
              <a:t>感谢听讲！</a:t>
            </a:r>
          </a:p>
        </p:txBody>
      </p:sp>
    </p:spTree>
    <p:extLst>
      <p:ext uri="{BB962C8B-B14F-4D97-AF65-F5344CB8AC3E}">
        <p14:creationId xmlns:p14="http://schemas.microsoft.com/office/powerpoint/2010/main" val="22897584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385"/>
  <p:tag name="DEFAULTHEIGHT" val="283"/>
  <p:tag name="FIRSTDAN@SGFAKZNFUVWXY5M7" val="3532"/>
  <p:tag name="DEFAULTDISPLAYSOURCE" val="\documentclass{article}\pagestyle{empty}&#10;\begin{document}&#10;&#10;\end{document}&#10;"/>
  <p:tag name="EMBEDFONTS" val="1"/>
</p:tagLst>
</file>

<file path=ppt/theme/theme1.xml><?xml version="1.0" encoding="utf-8"?>
<a:theme xmlns:a="http://schemas.openxmlformats.org/drawingml/2006/main" name="Office 主题​​">
  <a:themeElements>
    <a:clrScheme name="SE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05122"/>
      </a:accent1>
      <a:accent2>
        <a:srgbClr val="FDCA04"/>
      </a:accent2>
      <a:accent3>
        <a:srgbClr val="00529D"/>
      </a:accent3>
      <a:accent4>
        <a:srgbClr val="B01417"/>
      </a:accent4>
      <a:accent5>
        <a:srgbClr val="7F7611"/>
      </a:accent5>
      <a:accent6>
        <a:srgbClr val="5D6B70"/>
      </a:accent6>
      <a:hlink>
        <a:srgbClr val="868A8C"/>
      </a:hlink>
      <a:folHlink>
        <a:srgbClr val="C2C6C8"/>
      </a:folHlink>
    </a:clrScheme>
    <a:fontScheme name="l3uhyc0o">
      <a:majorFont>
        <a:latin typeface="Arial" panose="020B06040202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SE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05122"/>
      </a:accent1>
      <a:accent2>
        <a:srgbClr val="FDCA04"/>
      </a:accent2>
      <a:accent3>
        <a:srgbClr val="00529D"/>
      </a:accent3>
      <a:accent4>
        <a:srgbClr val="B01417"/>
      </a:accent4>
      <a:accent5>
        <a:srgbClr val="7F7611"/>
      </a:accent5>
      <a:accent6>
        <a:srgbClr val="5D6B70"/>
      </a:accent6>
      <a:hlink>
        <a:srgbClr val="868A8C"/>
      </a:hlink>
      <a:folHlink>
        <a:srgbClr val="C2C6C8"/>
      </a:folHlink>
    </a:clrScheme>
    <a:fontScheme name="rrl2zhyn">
      <a:majorFont>
        <a:latin typeface="Arial" panose="020B06040202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FA12 cs188 lecture 1 -- introduction</Template>
  <TotalTime>90168</TotalTime>
  <Words>2077</Words>
  <Application>Microsoft Office PowerPoint</Application>
  <PresentationFormat>宽屏</PresentationFormat>
  <Paragraphs>665</Paragraphs>
  <Slides>91</Slides>
  <Notes>29</Notes>
  <HiddenSlides>2</HiddenSlides>
  <MMClips>1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91</vt:i4>
      </vt:variant>
    </vt:vector>
  </HeadingPairs>
  <TitlesOfParts>
    <vt:vector size="100" baseType="lpstr">
      <vt:lpstr>Helvetica Regular</vt:lpstr>
      <vt:lpstr>KaTeX_Main</vt:lpstr>
      <vt:lpstr>宋体</vt:lpstr>
      <vt:lpstr>微软雅黑</vt:lpstr>
      <vt:lpstr>Arial</vt:lpstr>
      <vt:lpstr>Cambria Math</vt:lpstr>
      <vt:lpstr>Helvetica</vt:lpstr>
      <vt:lpstr>Office 主题​​</vt:lpstr>
      <vt:lpstr>1_Office 主题​​</vt:lpstr>
      <vt:lpstr>PowerPoint 演示文稿</vt:lpstr>
      <vt:lpstr>PowerPoint 演示文稿</vt:lpstr>
      <vt:lpstr>从示例中学习</vt:lpstr>
      <vt:lpstr>从示例中学习</vt:lpstr>
      <vt:lpstr>从示例中学习</vt:lpstr>
      <vt:lpstr>PowerPoint 演示文稿</vt:lpstr>
      <vt:lpstr>PowerPoint 演示文稿</vt:lpstr>
      <vt:lpstr>学习的定义</vt:lpstr>
      <vt:lpstr>发展</vt:lpstr>
      <vt:lpstr>发展</vt:lpstr>
      <vt:lpstr>学习形式</vt:lpstr>
      <vt:lpstr>监督学习</vt:lpstr>
      <vt:lpstr>监督学习</vt:lpstr>
      <vt:lpstr>监督学习</vt:lpstr>
      <vt:lpstr>监督学习</vt:lpstr>
      <vt:lpstr>无监督学习</vt:lpstr>
      <vt:lpstr>PowerPoint 演示文稿</vt:lpstr>
      <vt:lpstr>无监督学习</vt:lpstr>
      <vt:lpstr>半监督学习</vt:lpstr>
      <vt:lpstr>强化学习</vt:lpstr>
      <vt:lpstr>一些重要的事情</vt:lpstr>
      <vt:lpstr>一些重要的事情</vt:lpstr>
      <vt:lpstr>自学材料</vt:lpstr>
      <vt:lpstr>从示例中学习</vt:lpstr>
      <vt:lpstr>决策树</vt:lpstr>
      <vt:lpstr>决策树</vt:lpstr>
      <vt:lpstr>决策树</vt:lpstr>
      <vt:lpstr>决策树</vt:lpstr>
      <vt:lpstr>决策树</vt:lpstr>
      <vt:lpstr>决策树</vt:lpstr>
      <vt:lpstr>决策树</vt:lpstr>
      <vt:lpstr>决策树</vt:lpstr>
      <vt:lpstr>决策树</vt:lpstr>
      <vt:lpstr>从示例中学习</vt:lpstr>
      <vt:lpstr>单变量线性回归</vt:lpstr>
      <vt:lpstr>单变量线性回归</vt:lpstr>
      <vt:lpstr>单变量线性回归</vt:lpstr>
      <vt:lpstr>单变量线性回归</vt:lpstr>
      <vt:lpstr>单变量线性回归</vt:lpstr>
      <vt:lpstr>单变量线性回归</vt:lpstr>
      <vt:lpstr>单变量线性回归</vt:lpstr>
      <vt:lpstr>单变量线性回归</vt:lpstr>
      <vt:lpstr>单变量线性回归</vt:lpstr>
      <vt:lpstr>单变量线性回归</vt:lpstr>
      <vt:lpstr>单变量线性回归</vt:lpstr>
      <vt:lpstr>单变量线性回归</vt:lpstr>
      <vt:lpstr>线性多元回归</vt:lpstr>
      <vt:lpstr>线性多元回归</vt:lpstr>
      <vt:lpstr>线性多元回归</vt:lpstr>
      <vt:lpstr>线性多元回归</vt:lpstr>
      <vt:lpstr>过拟合</vt:lpstr>
      <vt:lpstr>过拟合</vt:lpstr>
      <vt:lpstr>分类</vt:lpstr>
      <vt:lpstr>逻辑回归</vt:lpstr>
      <vt:lpstr>逻辑回归</vt:lpstr>
      <vt:lpstr>逻辑回归</vt:lpstr>
      <vt:lpstr>逻辑回归</vt:lpstr>
      <vt:lpstr>逻辑回归</vt:lpstr>
      <vt:lpstr>逻辑回归</vt:lpstr>
      <vt:lpstr>从示例中学习</vt:lpstr>
      <vt:lpstr>人工神经网络</vt:lpstr>
      <vt:lpstr>人工神经网络</vt:lpstr>
      <vt:lpstr>人工神经网络</vt:lpstr>
      <vt:lpstr>人工神经网络</vt:lpstr>
      <vt:lpstr>人工神经网络</vt:lpstr>
      <vt:lpstr>人工神经网络</vt:lpstr>
      <vt:lpstr>人工神经网络</vt:lpstr>
      <vt:lpstr>人工神经网络</vt:lpstr>
      <vt:lpstr>人工神经网络</vt:lpstr>
      <vt:lpstr>人工神经网络</vt:lpstr>
      <vt:lpstr>人工神经网络</vt:lpstr>
      <vt:lpstr>人工神经网络</vt:lpstr>
      <vt:lpstr>人工神经网络</vt:lpstr>
      <vt:lpstr>人工神经网络</vt:lpstr>
      <vt:lpstr>人工神经网络</vt:lpstr>
      <vt:lpstr>人工神经网络</vt:lpstr>
      <vt:lpstr>PowerPoint 演示文稿</vt:lpstr>
      <vt:lpstr>PowerPoint 演示文稿</vt:lpstr>
      <vt:lpstr>PowerPoint 演示文稿</vt:lpstr>
      <vt:lpstr>PowerPoint 演示文稿</vt:lpstr>
      <vt:lpstr>Attention </vt:lpstr>
      <vt:lpstr>Attention </vt:lpstr>
      <vt:lpstr>Attention </vt:lpstr>
      <vt:lpstr>Multi-Head Attention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感谢听讲！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294-5: Statistical Natural Language Processing</dc:title>
  <dc:creator>Preferred Customer</dc:creator>
  <cp:lastModifiedBy>Administrator</cp:lastModifiedBy>
  <cp:revision>6120</cp:revision>
  <cp:lastPrinted>2014-01-28T19:38:34Z</cp:lastPrinted>
  <dcterms:created xsi:type="dcterms:W3CDTF">2004-08-27T04:16:05Z</dcterms:created>
  <dcterms:modified xsi:type="dcterms:W3CDTF">2026-05-11T02:02:18Z</dcterms:modified>
</cp:coreProperties>
</file>