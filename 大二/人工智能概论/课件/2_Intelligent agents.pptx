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7" r:id="rId2"/>
    <p:sldMasterId id="2147483679" r:id="rId3"/>
  </p:sldMasterIdLst>
  <p:notesMasterIdLst>
    <p:notesMasterId r:id="rId36"/>
  </p:notesMasterIdLst>
  <p:handoutMasterIdLst>
    <p:handoutMasterId r:id="rId37"/>
  </p:handoutMasterIdLst>
  <p:sldIdLst>
    <p:sldId id="523" r:id="rId4"/>
    <p:sldId id="480" r:id="rId5"/>
    <p:sldId id="258" r:id="rId6"/>
    <p:sldId id="259" r:id="rId7"/>
    <p:sldId id="260" r:id="rId8"/>
    <p:sldId id="261" r:id="rId9"/>
    <p:sldId id="262" r:id="rId10"/>
    <p:sldId id="279" r:id="rId11"/>
    <p:sldId id="263" r:id="rId12"/>
    <p:sldId id="265" r:id="rId13"/>
    <p:sldId id="267" r:id="rId14"/>
    <p:sldId id="283" r:id="rId15"/>
    <p:sldId id="282" r:id="rId16"/>
    <p:sldId id="281" r:id="rId17"/>
    <p:sldId id="280" r:id="rId18"/>
    <p:sldId id="285" r:id="rId19"/>
    <p:sldId id="284" r:id="rId20"/>
    <p:sldId id="575" r:id="rId21"/>
    <p:sldId id="270" r:id="rId22"/>
    <p:sldId id="576" r:id="rId23"/>
    <p:sldId id="577" r:id="rId24"/>
    <p:sldId id="271" r:id="rId25"/>
    <p:sldId id="578" r:id="rId26"/>
    <p:sldId id="272" r:id="rId27"/>
    <p:sldId id="579" r:id="rId28"/>
    <p:sldId id="273" r:id="rId29"/>
    <p:sldId id="274" r:id="rId30"/>
    <p:sldId id="574" r:id="rId31"/>
    <p:sldId id="287" r:id="rId32"/>
    <p:sldId id="580" r:id="rId33"/>
    <p:sldId id="581" r:id="rId34"/>
    <p:sldId id="527" r:id="rId35"/>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3" userDrawn="1">
          <p15:clr>
            <a:srgbClr val="A4A3A4"/>
          </p15:clr>
        </p15:guide>
        <p15:guide id="2" pos="3840" userDrawn="1">
          <p15:clr>
            <a:srgbClr val="A4A3A4"/>
          </p15:clr>
        </p15:guide>
        <p15:guide id="3" pos="1050" userDrawn="1">
          <p15:clr>
            <a:srgbClr val="A4A3A4"/>
          </p15:clr>
        </p15:guide>
        <p15:guide id="4" pos="6607" userDrawn="1">
          <p15:clr>
            <a:srgbClr val="A4A3A4"/>
          </p15:clr>
        </p15:guide>
        <p15:guide id="5" orient="horz" pos="648" userDrawn="1">
          <p15:clr>
            <a:srgbClr val="A4A3A4"/>
          </p15:clr>
        </p15:guide>
        <p15:guide id="6" orient="horz" pos="731" userDrawn="1">
          <p15:clr>
            <a:srgbClr val="A4A3A4"/>
          </p15:clr>
        </p15:guide>
        <p15:guide id="7" orient="horz" pos="3952" userDrawn="1">
          <p15:clr>
            <a:srgbClr val="A4A3A4"/>
          </p15:clr>
        </p15:guide>
        <p15:guide id="8" orient="horz" pos="383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叶 丁" initials="叶" lastIdx="2" clrIdx="0">
    <p:extLst>
      <p:ext uri="{19B8F6BF-5375-455C-9EA6-DF929625EA0E}">
        <p15:presenceInfo xmlns:p15="http://schemas.microsoft.com/office/powerpoint/2012/main" userId="7525c676c6ae861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15223"/>
    <a:srgbClr val="141213"/>
    <a:srgbClr val="EAB908"/>
    <a:srgbClr val="EAB905"/>
    <a:srgbClr val="FECD54"/>
    <a:srgbClr val="817222"/>
    <a:srgbClr val="4B7D2B"/>
    <a:srgbClr val="9A8B3D"/>
    <a:srgbClr val="D3D1D2"/>
    <a:srgbClr val="5656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34" autoAdjust="0"/>
    <p:restoredTop sz="94219" autoAdjust="0"/>
  </p:normalViewPr>
  <p:slideViewPr>
    <p:cSldViewPr snapToGrid="0" showGuides="1">
      <p:cViewPr varScale="1">
        <p:scale>
          <a:sx n="151" d="100"/>
          <a:sy n="151" d="100"/>
        </p:scale>
        <p:origin x="252" y="100"/>
      </p:cViewPr>
      <p:guideLst>
        <p:guide orient="horz" pos="2273"/>
        <p:guide pos="3840"/>
        <p:guide pos="1050"/>
        <p:guide pos="6607"/>
        <p:guide orient="horz" pos="648"/>
        <p:guide orient="horz" pos="731"/>
        <p:guide orient="horz" pos="3952"/>
        <p:guide orient="horz" pos="3838"/>
      </p:guideLst>
    </p:cSldViewPr>
  </p:slideViewPr>
  <p:outlineViewPr>
    <p:cViewPr>
      <p:scale>
        <a:sx n="33" d="100"/>
        <a:sy n="33" d="100"/>
      </p:scale>
      <p:origin x="0" y="0"/>
    </p:cViewPr>
  </p:outlineViewPr>
  <p:notesTextViewPr>
    <p:cViewPr>
      <p:scale>
        <a:sx n="1" d="1"/>
        <a:sy n="1" d="1"/>
      </p:scale>
      <p:origin x="0" y="0"/>
    </p:cViewPr>
  </p:notesTextViewPr>
  <p:sorterViewPr>
    <p:cViewPr>
      <p:scale>
        <a:sx n="122" d="100"/>
        <a:sy n="122" d="100"/>
      </p:scale>
      <p:origin x="0" y="-1392"/>
    </p:cViewPr>
  </p:sorterViewPr>
  <p:notesViewPr>
    <p:cSldViewPr snapToGrid="0" showGuides="1">
      <p:cViewPr varScale="1">
        <p:scale>
          <a:sx n="83" d="100"/>
          <a:sy n="83" d="100"/>
        </p:scale>
        <p:origin x="3992" y="208"/>
      </p:cViewPr>
      <p:guideLst/>
    </p:cSldViewPr>
  </p:notesViewPr>
  <p:gridSpacing cx="46800" cy="468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commentAuthors" Target="commentAuthor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handoutMaster" Target="handoutMasters/handoutMaster1.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C176BC-2537-496C-92BE-280C92B96ED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232F750-D334-4736-B10E-0035158269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01325C-51CE-41A1-8630-1A52C13085BB}" type="datetimeFigureOut">
              <a:rPr lang="zh-CN" altLang="en-US" smtClean="0"/>
              <a:t>2026/3/9</a:t>
            </a:fld>
            <a:endParaRPr lang="zh-CN" altLang="en-US"/>
          </a:p>
        </p:txBody>
      </p:sp>
      <p:sp>
        <p:nvSpPr>
          <p:cNvPr id="4" name="页脚占位符 3">
            <a:extLst>
              <a:ext uri="{FF2B5EF4-FFF2-40B4-BE49-F238E27FC236}">
                <a16:creationId xmlns:a16="http://schemas.microsoft.com/office/drawing/2014/main" id="{329A2961-3AD5-4B21-AA67-7500903979B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389F27F7-0D80-46EC-B423-14DAAD04B55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7E3C29-C726-4695-AB77-50247DBF3DA6}" type="slidenum">
              <a:rPr lang="zh-CN" altLang="en-US" smtClean="0"/>
              <a:t>‹#›</a:t>
            </a:fld>
            <a:endParaRPr lang="zh-CN" altLang="en-US"/>
          </a:p>
        </p:txBody>
      </p:sp>
    </p:spTree>
    <p:extLst>
      <p:ext uri="{BB962C8B-B14F-4D97-AF65-F5344CB8AC3E}">
        <p14:creationId xmlns:p14="http://schemas.microsoft.com/office/powerpoint/2010/main" val="22602408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3B8505-E7BC-4327-812D-12C5E82484FC}" type="datetimeFigureOut">
              <a:rPr lang="zh-CN" altLang="en-US" smtClean="0"/>
              <a:t>2026/3/9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1B729-817F-448C-AF52-5327A9569471}" type="slidenum">
              <a:rPr lang="zh-CN" altLang="en-US" smtClean="0"/>
              <a:t>‹#›</a:t>
            </a:fld>
            <a:endParaRPr lang="zh-CN" altLang="en-US"/>
          </a:p>
        </p:txBody>
      </p:sp>
    </p:spTree>
    <p:extLst>
      <p:ext uri="{BB962C8B-B14F-4D97-AF65-F5344CB8AC3E}">
        <p14:creationId xmlns:p14="http://schemas.microsoft.com/office/powerpoint/2010/main" val="317266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20204" pitchFamily="34" charset="0"/>
              <a:buChar char="•"/>
            </a:pPr>
            <a:endParaRPr kumimoji="1" lang="zh-CN" altLang="en-US" dirty="0">
              <a:latin typeface="+mn-ea"/>
              <a:cs typeface="Arial" panose="020B060402020202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t>1</a:t>
            </a:fld>
            <a:endParaRPr lang="zh-CN" altLang="en-US"/>
          </a:p>
        </p:txBody>
      </p:sp>
    </p:spTree>
    <p:extLst>
      <p:ext uri="{BB962C8B-B14F-4D97-AF65-F5344CB8AC3E}">
        <p14:creationId xmlns:p14="http://schemas.microsoft.com/office/powerpoint/2010/main" val="3254090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2</a:t>
            </a:fld>
            <a:endParaRPr lang="zh-CN" altLang="en-US"/>
          </a:p>
        </p:txBody>
      </p:sp>
    </p:spTree>
    <p:extLst>
      <p:ext uri="{BB962C8B-B14F-4D97-AF65-F5344CB8AC3E}">
        <p14:creationId xmlns:p14="http://schemas.microsoft.com/office/powerpoint/2010/main" val="886637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05757988-8435-BAFE-010F-4D54BC7B040E}"/>
              </a:ext>
            </a:extLst>
          </p:cNvPr>
          <p:cNvSpPr>
            <a:spLocks noGrp="1" noRot="1" noChangeAspect="1" noChangeArrowheads="1" noTextEdit="1"/>
          </p:cNvSpPr>
          <p:nvPr>
            <p:ph type="sldImg" idx="4294967295"/>
          </p:nvPr>
        </p:nvSpPr>
        <p:spPr>
          <a:ln>
            <a:miter lim="800000"/>
          </a:ln>
        </p:spPr>
      </p:sp>
      <p:sp>
        <p:nvSpPr>
          <p:cNvPr id="18434" name="Notes Placeholder 2">
            <a:extLst>
              <a:ext uri="{FF2B5EF4-FFF2-40B4-BE49-F238E27FC236}">
                <a16:creationId xmlns:a16="http://schemas.microsoft.com/office/drawing/2014/main" id="{E3A6A118-E93A-E0CC-16C9-DA068C6AF1AA}"/>
              </a:ext>
            </a:extLst>
          </p:cNvPr>
          <p:cNvSpPr>
            <a:spLocks noGrp="1" noChangeArrowheads="1"/>
          </p:cNvSpPr>
          <p:nvPr>
            <p:ph type="body" idx="4294967295"/>
          </p:nvPr>
        </p:nvSpPr>
        <p:spPr>
          <a:ln/>
        </p:spPr>
        <p:txBody>
          <a:bodyPr/>
          <a:lstStyle/>
          <a:p>
            <a:pPr eaLnBrk="1" hangingPunct="1">
              <a:spcBef>
                <a:spcPct val="0"/>
              </a:spcBef>
            </a:pPr>
            <a:r>
              <a:rPr lang="zh-CN" altLang="en-US" dirty="0">
                <a:ea typeface="MS PGothic" panose="020B0600070205080204" pitchFamily="34" charset="-128"/>
              </a:rPr>
              <a:t>人体的例子 思想</a:t>
            </a:r>
            <a:r>
              <a:rPr lang="en-US" altLang="zh-CN" dirty="0">
                <a:ea typeface="MS PGothic" panose="020B0600070205080204" pitchFamily="34" charset="-128"/>
              </a:rPr>
              <a:t>+</a:t>
            </a:r>
            <a:r>
              <a:rPr lang="zh-CN" altLang="en-US" dirty="0">
                <a:ea typeface="MS PGothic" panose="020B0600070205080204" pitchFamily="34" charset="-128"/>
              </a:rPr>
              <a:t>身体</a:t>
            </a:r>
            <a:endParaRPr lang="en-US" altLang="zh-CN" dirty="0">
              <a:ea typeface="MS PGothic" panose="020B0600070205080204" pitchFamily="34" charset="-128"/>
            </a:endParaRPr>
          </a:p>
          <a:p>
            <a:pPr eaLnBrk="1" hangingPunct="1">
              <a:spcBef>
                <a:spcPct val="0"/>
              </a:spcBef>
            </a:pPr>
            <a:r>
              <a:rPr lang="zh-CN" altLang="en-US" dirty="0">
                <a:ea typeface="MS PGothic" panose="020B0600070205080204" pitchFamily="34" charset="-128"/>
              </a:rPr>
              <a:t>计算机的例子 软件</a:t>
            </a:r>
            <a:r>
              <a:rPr lang="en-US" altLang="zh-CN" dirty="0">
                <a:ea typeface="MS PGothic" panose="020B0600070205080204" pitchFamily="34" charset="-128"/>
              </a:rPr>
              <a:t>+</a:t>
            </a:r>
            <a:r>
              <a:rPr lang="zh-CN" altLang="en-US">
                <a:ea typeface="MS PGothic" panose="020B0600070205080204" pitchFamily="34" charset="-128"/>
              </a:rPr>
              <a:t>硬件</a:t>
            </a:r>
            <a:endParaRPr lang="zh-CN" altLang="zh-CN">
              <a:ea typeface="MS PGothic" panose="020B0600070205080204" pitchFamily="34" charset="-128"/>
            </a:endParaRPr>
          </a:p>
        </p:txBody>
      </p:sp>
      <p:sp>
        <p:nvSpPr>
          <p:cNvPr id="18435" name="Slide Number Placeholder 3">
            <a:extLst>
              <a:ext uri="{FF2B5EF4-FFF2-40B4-BE49-F238E27FC236}">
                <a16:creationId xmlns:a16="http://schemas.microsoft.com/office/drawing/2014/main" id="{2A2F7808-A7E7-4D70-50B1-1C2464C9727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C78FC0E3-4007-0CDC-544F-81B1C667545D}"/>
              </a:ext>
            </a:extLst>
          </p:cNvPr>
          <p:cNvSpPr>
            <a:spLocks noGrp="1" noRot="1" noChangeAspect="1" noChangeArrowheads="1"/>
          </p:cNvSpPr>
          <p:nvPr>
            <p:ph type="sldImg" idx="4294967295"/>
          </p:nvPr>
        </p:nvSpPr>
        <p:spPr>
          <a:ln>
            <a:miter lim="800000"/>
          </a:ln>
        </p:spPr>
      </p:sp>
      <p:sp>
        <p:nvSpPr>
          <p:cNvPr id="20482" name="Notes Placeholder 2">
            <a:extLst>
              <a:ext uri="{FF2B5EF4-FFF2-40B4-BE49-F238E27FC236}">
                <a16:creationId xmlns:a16="http://schemas.microsoft.com/office/drawing/2014/main" id="{1629BF66-9260-7F09-3939-453576CFE4E6}"/>
              </a:ext>
            </a:extLst>
          </p:cNvPr>
          <p:cNvSpPr>
            <a:spLocks noGrp="1" noChangeArrowheads="1"/>
          </p:cNvSpPr>
          <p:nvPr>
            <p:ph type="body" idx="4294967295"/>
          </p:nvPr>
        </p:nvSpPr>
        <p:spPr>
          <a:ln/>
        </p:spPr>
        <p:txBody>
          <a:bodyPr/>
          <a:lstStyle/>
          <a:p>
            <a:r>
              <a:rPr lang="en-US" altLang="zh-CN">
                <a:ea typeface="MS PGothic" panose="020B0600070205080204" pitchFamily="34" charset="-128"/>
              </a:rPr>
              <a:t>Only 2 locations</a:t>
            </a:r>
          </a:p>
        </p:txBody>
      </p:sp>
      <p:sp>
        <p:nvSpPr>
          <p:cNvPr id="20483" name="Slide Number Placeholder 3">
            <a:extLst>
              <a:ext uri="{FF2B5EF4-FFF2-40B4-BE49-F238E27FC236}">
                <a16:creationId xmlns:a16="http://schemas.microsoft.com/office/drawing/2014/main" id="{EAA72ABA-6859-D855-AC59-1A7A14A2F55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7</a:t>
            </a:fld>
            <a:endParaRPr lang="zh-CN" altLang="en-US"/>
          </a:p>
        </p:txBody>
      </p:sp>
    </p:spTree>
    <p:extLst>
      <p:ext uri="{BB962C8B-B14F-4D97-AF65-F5344CB8AC3E}">
        <p14:creationId xmlns:p14="http://schemas.microsoft.com/office/powerpoint/2010/main" val="30058919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9</a:t>
            </a:fld>
            <a:endParaRPr lang="zh-CN" altLang="en-US"/>
          </a:p>
        </p:txBody>
      </p:sp>
    </p:spTree>
    <p:extLst>
      <p:ext uri="{BB962C8B-B14F-4D97-AF65-F5344CB8AC3E}">
        <p14:creationId xmlns:p14="http://schemas.microsoft.com/office/powerpoint/2010/main" val="1565618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a:extLst>
              <a:ext uri="{FF2B5EF4-FFF2-40B4-BE49-F238E27FC236}">
                <a16:creationId xmlns:a16="http://schemas.microsoft.com/office/drawing/2014/main" id="{4816C9DE-F291-88BC-FC07-3125CB5BB9BE}"/>
              </a:ext>
            </a:extLst>
          </p:cNvPr>
          <p:cNvSpPr>
            <a:spLocks noGrp="1" noRot="1" noChangeAspect="1" noChangeArrowheads="1"/>
          </p:cNvSpPr>
          <p:nvPr>
            <p:ph type="sldImg" idx="4294967295"/>
          </p:nvPr>
        </p:nvSpPr>
        <p:spPr>
          <a:ln>
            <a:miter lim="800000"/>
          </a:ln>
        </p:spPr>
      </p:sp>
      <p:sp>
        <p:nvSpPr>
          <p:cNvPr id="27650" name="文本占位符 2">
            <a:extLst>
              <a:ext uri="{FF2B5EF4-FFF2-40B4-BE49-F238E27FC236}">
                <a16:creationId xmlns:a16="http://schemas.microsoft.com/office/drawing/2014/main" id="{44D6F1CE-6A94-F764-155E-6946E934A352}"/>
              </a:ext>
            </a:extLst>
          </p:cNvPr>
          <p:cNvSpPr>
            <a:spLocks noGrp="1" noChangeArrowheads="1"/>
          </p:cNvSpPr>
          <p:nvPr>
            <p:ph type="body" idx="4294967295"/>
          </p:nvPr>
        </p:nvSpPr>
        <p:spPr/>
        <p:txBody>
          <a:bodyPr/>
          <a:lstStyle/>
          <a:p>
            <a:r>
              <a:rPr lang="zh-CN" altLang="en-US">
                <a:ea typeface="MS PGothic" panose="020B0600070205080204" pitchFamily="34" charset="-128"/>
              </a:rPr>
              <a:t>自己像一个</a:t>
            </a:r>
            <a:r>
              <a:rPr lang="en-US" altLang="zh-CN">
                <a:ea typeface="MS PGothic" panose="020B0600070205080204" pitchFamily="34" charset="-128"/>
              </a:rPr>
              <a:t>PEAS</a:t>
            </a:r>
            <a:r>
              <a:rPr lang="zh-CN" altLang="en-US">
                <a:ea typeface="MS PGothic" panose="020B0600070205080204" pitchFamily="34" charset="-128"/>
              </a:rPr>
              <a:t>的例子</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81BD4C0-0327-BD3A-02E4-F55FA138F7A4}"/>
              </a:ext>
            </a:extLst>
          </p:cNvPr>
          <p:cNvSpPr>
            <a:spLocks noGrp="1" noRot="1" noChangeAspect="1" noChangeArrowheads="1"/>
          </p:cNvSpPr>
          <p:nvPr>
            <p:ph type="sldImg" idx="4294967295"/>
          </p:nvPr>
        </p:nvSpPr>
        <p:spPr>
          <a:ln>
            <a:miter lim="800000"/>
          </a:ln>
        </p:spPr>
      </p:sp>
      <p:sp>
        <p:nvSpPr>
          <p:cNvPr id="31746" name="Notes Placeholder 2">
            <a:extLst>
              <a:ext uri="{FF2B5EF4-FFF2-40B4-BE49-F238E27FC236}">
                <a16:creationId xmlns:a16="http://schemas.microsoft.com/office/drawing/2014/main" id="{04219CEB-FE9D-34E0-F146-55E0E8AF7E59}"/>
              </a:ext>
            </a:extLst>
          </p:cNvPr>
          <p:cNvSpPr>
            <a:spLocks noGrp="1" noChangeArrowheads="1"/>
          </p:cNvSpPr>
          <p:nvPr>
            <p:ph type="body" idx="4294967295"/>
          </p:nvPr>
        </p:nvSpPr>
        <p:spPr>
          <a:ln/>
        </p:spPr>
        <p:txBody>
          <a:bodyPr/>
          <a:lstStyle/>
          <a:p>
            <a:r>
              <a:rPr lang="en-US" altLang="zh-CN" dirty="0">
                <a:ea typeface="MS PGothic" panose="020B0600070205080204" pitchFamily="34" charset="-128"/>
              </a:rPr>
              <a:t>Satellite image analysis. Some categories depend on definition of task.</a:t>
            </a:r>
          </a:p>
        </p:txBody>
      </p:sp>
      <p:sp>
        <p:nvSpPr>
          <p:cNvPr id="31747" name="Slide Number Placeholder 3">
            <a:extLst>
              <a:ext uri="{FF2B5EF4-FFF2-40B4-BE49-F238E27FC236}">
                <a16:creationId xmlns:a16="http://schemas.microsoft.com/office/drawing/2014/main" id="{883327F5-7DE9-D6FF-B136-4F0C4859CE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4B9714C5-38D5-C4A6-8412-68EFFF4420C8}"/>
              </a:ext>
            </a:extLst>
          </p:cNvPr>
          <p:cNvSpPr>
            <a:spLocks noGrp="1" noRot="1" noChangeAspect="1" noChangeArrowheads="1"/>
          </p:cNvSpPr>
          <p:nvPr>
            <p:ph type="sldImg" idx="4294967295"/>
          </p:nvPr>
        </p:nvSpPr>
        <p:spPr>
          <a:ln>
            <a:miter lim="800000"/>
          </a:ln>
        </p:spPr>
      </p:sp>
      <p:sp>
        <p:nvSpPr>
          <p:cNvPr id="33794" name="Notes Placeholder 2">
            <a:extLst>
              <a:ext uri="{FF2B5EF4-FFF2-40B4-BE49-F238E27FC236}">
                <a16:creationId xmlns:a16="http://schemas.microsoft.com/office/drawing/2014/main" id="{CC5554BE-AADB-80CA-3C93-6A0775FF611C}"/>
              </a:ext>
            </a:extLst>
          </p:cNvPr>
          <p:cNvSpPr>
            <a:spLocks noGrp="1" noChangeArrowheads="1"/>
          </p:cNvSpPr>
          <p:nvPr>
            <p:ph type="body" idx="4294967295"/>
          </p:nvPr>
        </p:nvSpPr>
        <p:spPr>
          <a:ln/>
        </p:spPr>
        <p:txBody>
          <a:bodyPr/>
          <a:lstStyle/>
          <a:p>
            <a:endParaRPr lang="zh-CN" altLang="zh-CN" dirty="0">
              <a:ea typeface="MS PGothic" panose="020B0600070205080204" pitchFamily="34" charset="-128"/>
            </a:endParaRPr>
          </a:p>
        </p:txBody>
      </p:sp>
      <p:sp>
        <p:nvSpPr>
          <p:cNvPr id="33795" name="Slide Number Placeholder 3">
            <a:extLst>
              <a:ext uri="{FF2B5EF4-FFF2-40B4-BE49-F238E27FC236}">
                <a16:creationId xmlns:a16="http://schemas.microsoft.com/office/drawing/2014/main" id="{60BC5B99-D9DE-9441-D46D-3ACDBFD9DCD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a:extLst>
              <a:ext uri="{FF2B5EF4-FFF2-40B4-BE49-F238E27FC236}">
                <a16:creationId xmlns:a16="http://schemas.microsoft.com/office/drawing/2014/main" id="{2A954977-31A7-9C90-0CAB-3D8E37C7C997}"/>
              </a:ext>
            </a:extLst>
          </p:cNvPr>
          <p:cNvSpPr>
            <a:spLocks noGrp="1" noRot="1" noChangeAspect="1" noChangeArrowheads="1"/>
          </p:cNvSpPr>
          <p:nvPr>
            <p:ph type="sldImg" idx="4294967295"/>
          </p:nvPr>
        </p:nvSpPr>
        <p:spPr>
          <a:ln>
            <a:miter lim="800000"/>
          </a:ln>
        </p:spPr>
      </p:sp>
      <p:sp>
        <p:nvSpPr>
          <p:cNvPr id="35842" name="文本占位符 2">
            <a:extLst>
              <a:ext uri="{FF2B5EF4-FFF2-40B4-BE49-F238E27FC236}">
                <a16:creationId xmlns:a16="http://schemas.microsoft.com/office/drawing/2014/main" id="{BE7A0935-A595-692D-A1AC-27154DDFA0F5}"/>
              </a:ext>
            </a:extLst>
          </p:cNvPr>
          <p:cNvSpPr>
            <a:spLocks noGrp="1" noChangeArrowheads="1"/>
          </p:cNvSpPr>
          <p:nvPr>
            <p:ph type="body" idx="4294967295"/>
          </p:nvPr>
        </p:nvSpPr>
        <p:spPr/>
        <p:txBody>
          <a:bodyPr/>
          <a:lstStyle/>
          <a:p>
            <a:r>
              <a:rPr lang="zh-CN" altLang="en-US">
                <a:ea typeface="MS PGothic" panose="020B0600070205080204" pitchFamily="34" charset="-128"/>
              </a:rPr>
              <a:t>图片分类 </a:t>
            </a:r>
            <a:r>
              <a:rPr lang="en-US" altLang="zh-CN">
                <a:ea typeface="MS PGothic" panose="020B0600070205080204" pitchFamily="34" charset="-128"/>
              </a:rPr>
              <a:t>episodic</a:t>
            </a:r>
          </a:p>
          <a:p>
            <a:r>
              <a:rPr lang="zh-CN" altLang="en-US">
                <a:ea typeface="MS PGothic" panose="020B0600070205080204" pitchFamily="34" charset="-128"/>
              </a:rPr>
              <a:t>机器翻译 </a:t>
            </a:r>
            <a:r>
              <a:rPr lang="en-US" altLang="zh-CN">
                <a:ea typeface="MS PGothic" panose="020B0600070205080204" pitchFamily="34" charset="-128"/>
              </a:rPr>
              <a:t>sequential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a:extLst>
              <a:ext uri="{FF2B5EF4-FFF2-40B4-BE49-F238E27FC236}">
                <a16:creationId xmlns:a16="http://schemas.microsoft.com/office/drawing/2014/main" id="{26092B96-777B-1A8E-0DCE-7BBE11EB43C6}"/>
              </a:ext>
            </a:extLst>
          </p:cNvPr>
          <p:cNvSpPr>
            <a:spLocks noGrp="1" noRot="1" noChangeAspect="1" noChangeArrowheads="1"/>
          </p:cNvSpPr>
          <p:nvPr>
            <p:ph type="sldImg" idx="4294967295"/>
          </p:nvPr>
        </p:nvSpPr>
        <p:spPr>
          <a:ln>
            <a:miter lim="800000"/>
          </a:ln>
        </p:spPr>
      </p:sp>
      <p:sp>
        <p:nvSpPr>
          <p:cNvPr id="37890" name="文本占位符 2">
            <a:extLst>
              <a:ext uri="{FF2B5EF4-FFF2-40B4-BE49-F238E27FC236}">
                <a16:creationId xmlns:a16="http://schemas.microsoft.com/office/drawing/2014/main" id="{C0E4730B-E431-D64E-F192-583A6AA5D355}"/>
              </a:ext>
            </a:extLst>
          </p:cNvPr>
          <p:cNvSpPr>
            <a:spLocks noGrp="1" noChangeArrowheads="1"/>
          </p:cNvSpPr>
          <p:nvPr>
            <p:ph type="body" idx="4294967295"/>
          </p:nvPr>
        </p:nvSpPr>
        <p:spPr/>
        <p:txBody>
          <a:bodyPr/>
          <a:lstStyle/>
          <a:p>
            <a:r>
              <a:rPr lang="zh-CN" altLang="en-US" dirty="0">
                <a:ea typeface="MS PGothic" panose="020B0600070205080204" pitchFamily="34" charset="-128"/>
              </a:rPr>
              <a:t>Taxi driving is clearly dynamic: the other cars and the taxi itself keep moving</a:t>
            </a:r>
          </a:p>
          <a:p>
            <a:r>
              <a:rPr lang="zh-CN" altLang="en-US" dirty="0">
                <a:ea typeface="MS PGothic" panose="020B0600070205080204" pitchFamily="34" charset="-128"/>
              </a:rPr>
              <a:t>while the driving algorithm dithers about what to do next. Chess, when played with a clock,</a:t>
            </a:r>
          </a:p>
          <a:p>
            <a:r>
              <a:rPr lang="zh-CN" altLang="en-US" dirty="0">
                <a:ea typeface="MS PGothic" panose="020B0600070205080204" pitchFamily="34" charset="-128"/>
              </a:rPr>
              <a:t>is semidynamic. Crossword puzzles are static.</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a:extLst>
              <a:ext uri="{FF2B5EF4-FFF2-40B4-BE49-F238E27FC236}">
                <a16:creationId xmlns:a16="http://schemas.microsoft.com/office/drawing/2014/main" id="{9447DD22-729B-D0DB-A7E5-77D9C40F2B00}"/>
              </a:ext>
            </a:extLst>
          </p:cNvPr>
          <p:cNvSpPr>
            <a:spLocks noGrp="1" noRot="1" noChangeAspect="1" noChangeArrowheads="1"/>
          </p:cNvSpPr>
          <p:nvPr>
            <p:ph type="sldImg" idx="4294967295"/>
          </p:nvPr>
        </p:nvSpPr>
        <p:spPr>
          <a:ln>
            <a:miter lim="800000"/>
          </a:ln>
        </p:spPr>
      </p:sp>
      <p:sp>
        <p:nvSpPr>
          <p:cNvPr id="39938" name="文本占位符 2">
            <a:extLst>
              <a:ext uri="{FF2B5EF4-FFF2-40B4-BE49-F238E27FC236}">
                <a16:creationId xmlns:a16="http://schemas.microsoft.com/office/drawing/2014/main" id="{2CF34ED2-149E-524A-2692-FAF4DAFF703B}"/>
              </a:ext>
            </a:extLst>
          </p:cNvPr>
          <p:cNvSpPr>
            <a:spLocks noGrp="1" noChangeArrowheads="1"/>
          </p:cNvSpPr>
          <p:nvPr>
            <p:ph type="body" idx="4294967295"/>
          </p:nvPr>
        </p:nvSpPr>
        <p:spPr/>
        <p:txBody>
          <a:bodyPr/>
          <a:lstStyle/>
          <a:p>
            <a:r>
              <a:rPr lang="zh-CN" altLang="en-US">
                <a:ea typeface="MS PGothic" panose="020B0600070205080204" pitchFamily="34" charset="-128"/>
              </a:rPr>
              <a:t>For example, the chess environment has a finite number of distinct states (excluding the clock).</a:t>
            </a:r>
          </a:p>
          <a:p>
            <a:r>
              <a:rPr lang="zh-CN" altLang="en-US">
                <a:ea typeface="MS PGothic" panose="020B0600070205080204" pitchFamily="34" charset="-128"/>
              </a:rPr>
              <a:t>Chess also has a discrete set of percepts and actions. Taxi driving is a continuous-state and</a:t>
            </a:r>
          </a:p>
          <a:p>
            <a:r>
              <a:rPr lang="zh-CN" altLang="en-US">
                <a:ea typeface="MS PGothic" panose="020B0600070205080204" pitchFamily="34" charset="-128"/>
              </a:rPr>
              <a:t>continuous-time problem: the speed and location of the taxi and of the other vehicles sweep</a:t>
            </a:r>
          </a:p>
          <a:p>
            <a:r>
              <a:rPr lang="zh-CN" altLang="en-US">
                <a:ea typeface="MS PGothic" panose="020B0600070205080204" pitchFamily="34" charset="-128"/>
              </a:rPr>
              <a:t>through a range of continuous values and do so smoothly over time.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幻灯片图像占位符 1">
            <a:extLst>
              <a:ext uri="{FF2B5EF4-FFF2-40B4-BE49-F238E27FC236}">
                <a16:creationId xmlns:a16="http://schemas.microsoft.com/office/drawing/2014/main" id="{CA6F27FD-5947-3F22-593A-953D6EE57CA1}"/>
              </a:ext>
            </a:extLst>
          </p:cNvPr>
          <p:cNvSpPr>
            <a:spLocks noGrp="1" noRot="1" noChangeAspect="1" noChangeArrowheads="1"/>
          </p:cNvSpPr>
          <p:nvPr>
            <p:ph type="sldImg" idx="4294967295"/>
          </p:nvPr>
        </p:nvSpPr>
        <p:spPr>
          <a:ln>
            <a:miter lim="800000"/>
          </a:ln>
        </p:spPr>
      </p:sp>
      <p:sp>
        <p:nvSpPr>
          <p:cNvPr id="41986" name="文本占位符 2">
            <a:extLst>
              <a:ext uri="{FF2B5EF4-FFF2-40B4-BE49-F238E27FC236}">
                <a16:creationId xmlns:a16="http://schemas.microsoft.com/office/drawing/2014/main" id="{37595252-A238-BCDA-730C-281DC6E42A3B}"/>
              </a:ext>
            </a:extLst>
          </p:cNvPr>
          <p:cNvSpPr>
            <a:spLocks noGrp="1" noChangeArrowheads="1"/>
          </p:cNvSpPr>
          <p:nvPr>
            <p:ph type="body" idx="4294967295"/>
          </p:nvPr>
        </p:nvSpPr>
        <p:spPr/>
        <p:txBody>
          <a:bodyPr/>
          <a:lstStyle/>
          <a:p>
            <a:r>
              <a:rPr lang="en-US" altLang="zh-CN">
                <a:ea typeface="MS PGothic" panose="020B0600070205080204" pitchFamily="34" charset="-128"/>
              </a:rPr>
              <a:t>play cheese</a:t>
            </a:r>
          </a:p>
          <a:p>
            <a:r>
              <a:rPr lang="en-US" altLang="zh-CN">
                <a:ea typeface="MS PGothic" panose="020B0600070205080204" pitchFamily="34" charset="-128"/>
              </a:rPr>
              <a:t>image classification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18</a:t>
            </a:fld>
            <a:endParaRPr lang="zh-CN" altLang="en-US"/>
          </a:p>
        </p:txBody>
      </p:sp>
    </p:spTree>
    <p:extLst>
      <p:ext uri="{BB962C8B-B14F-4D97-AF65-F5344CB8AC3E}">
        <p14:creationId xmlns:p14="http://schemas.microsoft.com/office/powerpoint/2010/main" val="1619919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F7BE7EB7-B68C-B045-62C0-ADA0E346393E}"/>
              </a:ext>
            </a:extLst>
          </p:cNvPr>
          <p:cNvSpPr>
            <a:spLocks noGrp="1" noRot="1" noChangeAspect="1" noChangeArrowheads="1"/>
          </p:cNvSpPr>
          <p:nvPr>
            <p:ph type="sldImg" idx="4294967295"/>
          </p:nvPr>
        </p:nvSpPr>
        <p:spPr>
          <a:ln>
            <a:miter lim="800000"/>
          </a:ln>
        </p:spPr>
      </p:sp>
      <p:sp>
        <p:nvSpPr>
          <p:cNvPr id="45058" name="Notes Placeholder 2">
            <a:extLst>
              <a:ext uri="{FF2B5EF4-FFF2-40B4-BE49-F238E27FC236}">
                <a16:creationId xmlns:a16="http://schemas.microsoft.com/office/drawing/2014/main" id="{9ABEB609-622E-D7C2-E6A2-D26171303A89}"/>
              </a:ext>
            </a:extLst>
          </p:cNvPr>
          <p:cNvSpPr>
            <a:spLocks noGrp="1" noChangeArrowheads="1"/>
          </p:cNvSpPr>
          <p:nvPr>
            <p:ph type="body" idx="4294967295"/>
          </p:nvPr>
        </p:nvSpPr>
        <p:spPr>
          <a:ln/>
        </p:spPr>
        <p:txBody>
          <a:bodyPr/>
          <a:lstStyle/>
          <a:p>
            <a:r>
              <a:rPr lang="en-US" altLang="zh-CN">
                <a:ea typeface="MS PGothic" panose="020B0600070205080204" pitchFamily="34" charset="-128"/>
              </a:rPr>
              <a:t>Based on sensors</a:t>
            </a:r>
          </a:p>
        </p:txBody>
      </p:sp>
      <p:sp>
        <p:nvSpPr>
          <p:cNvPr id="45059" name="Slide Number Placeholder 3">
            <a:extLst>
              <a:ext uri="{FF2B5EF4-FFF2-40B4-BE49-F238E27FC236}">
                <a16:creationId xmlns:a16="http://schemas.microsoft.com/office/drawing/2014/main" id="{1674490C-894B-F98E-A0DE-3193C3C4A50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E97839C7-C0C1-1189-DA47-BE0B0D53588E}"/>
              </a:ext>
            </a:extLst>
          </p:cNvPr>
          <p:cNvSpPr>
            <a:spLocks noGrp="1" noRot="1" noChangeAspect="1" noChangeArrowheads="1"/>
          </p:cNvSpPr>
          <p:nvPr>
            <p:ph type="sldImg" idx="4294967295"/>
          </p:nvPr>
        </p:nvSpPr>
        <p:spPr>
          <a:ln>
            <a:miter lim="800000"/>
          </a:ln>
        </p:spPr>
      </p:sp>
      <p:sp>
        <p:nvSpPr>
          <p:cNvPr id="47106" name="Notes Placeholder 2">
            <a:extLst>
              <a:ext uri="{FF2B5EF4-FFF2-40B4-BE49-F238E27FC236}">
                <a16:creationId xmlns:a16="http://schemas.microsoft.com/office/drawing/2014/main" id="{E92C5BE2-33C5-0450-F1F4-8CE02461CED9}"/>
              </a:ext>
            </a:extLst>
          </p:cNvPr>
          <p:cNvSpPr>
            <a:spLocks noGrp="1" noChangeArrowheads="1"/>
          </p:cNvSpPr>
          <p:nvPr>
            <p:ph type="body" idx="4294967295"/>
          </p:nvPr>
        </p:nvSpPr>
        <p:spPr>
          <a:ln/>
        </p:spPr>
        <p:txBody>
          <a:bodyPr/>
          <a:lstStyle/>
          <a:p>
            <a:r>
              <a:rPr lang="en-US" altLang="zh-CN" dirty="0">
                <a:ea typeface="MS PGothic" panose="020B0600070205080204" pitchFamily="34" charset="-128"/>
              </a:rPr>
              <a:t>Another example: fly buzzing against window.</a:t>
            </a:r>
          </a:p>
          <a:p>
            <a:r>
              <a:rPr lang="en-US" altLang="zh-CN" dirty="0">
                <a:ea typeface="MS PGothic" panose="020B0600070205080204" pitchFamily="34" charset="-128"/>
              </a:rPr>
              <a:t>simple reflex agent</a:t>
            </a:r>
            <a:r>
              <a:rPr lang="zh-CN" altLang="en-US" dirty="0">
                <a:ea typeface="MS PGothic" panose="020B0600070205080204" pitchFamily="34" charset="-128"/>
              </a:rPr>
              <a:t>只会在</a:t>
            </a:r>
            <a:r>
              <a:rPr lang="en-US" altLang="zh-CN" dirty="0">
                <a:ea typeface="MS PGothic" panose="020B0600070205080204" pitchFamily="34" charset="-128"/>
              </a:rPr>
              <a:t>fully observable environment</a:t>
            </a:r>
            <a:r>
              <a:rPr lang="zh-CN" altLang="en-US" dirty="0">
                <a:ea typeface="MS PGothic" panose="020B0600070205080204" pitchFamily="34" charset="-128"/>
              </a:rPr>
              <a:t>时才好用，否则会陷入</a:t>
            </a:r>
            <a:r>
              <a:rPr lang="en-US" altLang="zh-CN" dirty="0">
                <a:ea typeface="MS PGothic" panose="020B0600070205080204" pitchFamily="34" charset="-128"/>
              </a:rPr>
              <a:t>infinite loop</a:t>
            </a:r>
            <a:r>
              <a:rPr lang="zh-CN" altLang="en-US" dirty="0">
                <a:ea typeface="MS PGothic" panose="020B0600070205080204" pitchFamily="34" charset="-128"/>
              </a:rPr>
              <a:t>。</a:t>
            </a:r>
          </a:p>
        </p:txBody>
      </p:sp>
      <p:sp>
        <p:nvSpPr>
          <p:cNvPr id="47107" name="Slide Number Placeholder 3">
            <a:extLst>
              <a:ext uri="{FF2B5EF4-FFF2-40B4-BE49-F238E27FC236}">
                <a16:creationId xmlns:a16="http://schemas.microsoft.com/office/drawing/2014/main" id="{27952FE8-1AAA-0BB7-9F50-E234154645F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Arial" panose="020B0604020202020204" pitchFamily="34" charset="0"/>
              </a:rPr>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2BD5349C-5129-E4CD-CDE1-B1716C268527}"/>
              </a:ext>
            </a:extLst>
          </p:cNvPr>
          <p:cNvSpPr>
            <a:spLocks noGrp="1" noRot="1" noChangeAspect="1" noChangeArrowheads="1"/>
          </p:cNvSpPr>
          <p:nvPr>
            <p:ph type="sldImg" idx="4294967295"/>
          </p:nvPr>
        </p:nvSpPr>
        <p:spPr>
          <a:ln>
            <a:miter lim="800000"/>
          </a:ln>
        </p:spPr>
      </p:sp>
      <p:sp>
        <p:nvSpPr>
          <p:cNvPr id="54274" name="Notes Placeholder 2">
            <a:extLst>
              <a:ext uri="{FF2B5EF4-FFF2-40B4-BE49-F238E27FC236}">
                <a16:creationId xmlns:a16="http://schemas.microsoft.com/office/drawing/2014/main" id="{DEB1C6AD-00FC-C64E-1B04-FB3CA0B28106}"/>
              </a:ext>
            </a:extLst>
          </p:cNvPr>
          <p:cNvSpPr>
            <a:spLocks noGrp="1" noChangeArrowheads="1"/>
          </p:cNvSpPr>
          <p:nvPr>
            <p:ph type="body" idx="4294967295"/>
          </p:nvPr>
        </p:nvSpPr>
        <p:spPr>
          <a:ln/>
        </p:spPr>
        <p:txBody>
          <a:bodyPr/>
          <a:lstStyle/>
          <a:p>
            <a:r>
              <a:rPr lang="en-US" altLang="zh-CN">
                <a:ea typeface="MS PGothic" panose="020B0600070205080204" pitchFamily="34" charset="-128"/>
              </a:rPr>
              <a:t>Example: why is it important to get a good grade in this course?</a:t>
            </a:r>
          </a:p>
        </p:txBody>
      </p:sp>
      <p:sp>
        <p:nvSpPr>
          <p:cNvPr id="54275" name="Slide Number Placeholder 3">
            <a:extLst>
              <a:ext uri="{FF2B5EF4-FFF2-40B4-BE49-F238E27FC236}">
                <a16:creationId xmlns:a16="http://schemas.microsoft.com/office/drawing/2014/main" id="{ED20A976-41D9-AF13-0CEC-C615E9BA738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Arial" panose="020B0604020202020204" pitchFamily="34" charset="0"/>
              </a:rPr>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26</a:t>
            </a:fld>
            <a:endParaRPr lang="zh-CN" altLang="en-US"/>
          </a:p>
        </p:txBody>
      </p:sp>
    </p:spTree>
    <p:extLst>
      <p:ext uri="{BB962C8B-B14F-4D97-AF65-F5344CB8AC3E}">
        <p14:creationId xmlns:p14="http://schemas.microsoft.com/office/powerpoint/2010/main" val="5603731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0A0A8D9F-E8F2-AC7E-45A2-2A4268226424}"/>
              </a:ext>
            </a:extLst>
          </p:cNvPr>
          <p:cNvSpPr>
            <a:spLocks noGrp="1" noRot="1" noChangeAspect="1" noChangeArrowheads="1"/>
          </p:cNvSpPr>
          <p:nvPr>
            <p:ph type="sldImg" idx="4294967295"/>
          </p:nvPr>
        </p:nvSpPr>
        <p:spPr>
          <a:ln>
            <a:miter lim="800000"/>
          </a:ln>
        </p:spPr>
      </p:sp>
      <p:sp>
        <p:nvSpPr>
          <p:cNvPr id="57346" name="Notes Placeholder 2">
            <a:extLst>
              <a:ext uri="{FF2B5EF4-FFF2-40B4-BE49-F238E27FC236}">
                <a16:creationId xmlns:a16="http://schemas.microsoft.com/office/drawing/2014/main" id="{EE949F99-8404-FF28-054B-035CC5A89715}"/>
              </a:ext>
            </a:extLst>
          </p:cNvPr>
          <p:cNvSpPr>
            <a:spLocks noGrp="1" noChangeArrowheads="1"/>
          </p:cNvSpPr>
          <p:nvPr>
            <p:ph type="body" idx="4294967295"/>
          </p:nvPr>
        </p:nvSpPr>
        <p:spPr>
          <a:ln/>
        </p:spPr>
        <p:txBody>
          <a:bodyPr/>
          <a:lstStyle/>
          <a:p>
            <a:r>
              <a:rPr lang="en-US" altLang="zh-CN">
                <a:ea typeface="MS PGothic" panose="020B0600070205080204" pitchFamily="34" charset="-128"/>
              </a:rPr>
              <a:t>Problem generator: acts in new ways, explores.</a:t>
            </a:r>
          </a:p>
        </p:txBody>
      </p:sp>
      <p:sp>
        <p:nvSpPr>
          <p:cNvPr id="57347" name="Slide Number Placeholder 3">
            <a:extLst>
              <a:ext uri="{FF2B5EF4-FFF2-40B4-BE49-F238E27FC236}">
                <a16:creationId xmlns:a16="http://schemas.microsoft.com/office/drawing/2014/main" id="{1D56DBDB-A46A-6007-A2DB-859EFB48FB4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0A0A8D9F-E8F2-AC7E-45A2-2A4268226424}"/>
              </a:ext>
            </a:extLst>
          </p:cNvPr>
          <p:cNvSpPr>
            <a:spLocks noGrp="1" noRot="1" noChangeAspect="1" noChangeArrowheads="1"/>
          </p:cNvSpPr>
          <p:nvPr>
            <p:ph type="sldImg" idx="4294967295"/>
          </p:nvPr>
        </p:nvSpPr>
        <p:spPr>
          <a:ln>
            <a:miter lim="800000"/>
          </a:ln>
        </p:spPr>
      </p:sp>
      <p:sp>
        <p:nvSpPr>
          <p:cNvPr id="57346" name="Notes Placeholder 2">
            <a:extLst>
              <a:ext uri="{FF2B5EF4-FFF2-40B4-BE49-F238E27FC236}">
                <a16:creationId xmlns:a16="http://schemas.microsoft.com/office/drawing/2014/main" id="{EE949F99-8404-FF28-054B-035CC5A89715}"/>
              </a:ext>
            </a:extLst>
          </p:cNvPr>
          <p:cNvSpPr>
            <a:spLocks noGrp="1" noChangeArrowheads="1"/>
          </p:cNvSpPr>
          <p:nvPr>
            <p:ph type="body" idx="4294967295"/>
          </p:nvPr>
        </p:nvSpPr>
        <p:spPr>
          <a:ln/>
        </p:spPr>
        <p:txBody>
          <a:bodyPr/>
          <a:lstStyle/>
          <a:p>
            <a:r>
              <a:rPr lang="en-US" altLang="zh-CN">
                <a:ea typeface="MS PGothic" panose="020B0600070205080204" pitchFamily="34" charset="-128"/>
              </a:rPr>
              <a:t>Problem generator: acts in new ways, explores.</a:t>
            </a:r>
          </a:p>
        </p:txBody>
      </p:sp>
      <p:sp>
        <p:nvSpPr>
          <p:cNvPr id="57347" name="Slide Number Placeholder 3">
            <a:extLst>
              <a:ext uri="{FF2B5EF4-FFF2-40B4-BE49-F238E27FC236}">
                <a16:creationId xmlns:a16="http://schemas.microsoft.com/office/drawing/2014/main" id="{1D56DBDB-A46A-6007-A2DB-859EFB48FB4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extLst>
      <p:ext uri="{BB962C8B-B14F-4D97-AF65-F5344CB8AC3E}">
        <p14:creationId xmlns:p14="http://schemas.microsoft.com/office/powerpoint/2010/main" val="7932059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29</a:t>
            </a:fld>
            <a:endParaRPr lang="zh-CN" altLang="en-US"/>
          </a:p>
        </p:txBody>
      </p:sp>
    </p:spTree>
    <p:extLst>
      <p:ext uri="{BB962C8B-B14F-4D97-AF65-F5344CB8AC3E}">
        <p14:creationId xmlns:p14="http://schemas.microsoft.com/office/powerpoint/2010/main" val="14181150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32</a:t>
            </a:fld>
            <a:endParaRPr lang="zh-CN" altLang="en-US"/>
          </a:p>
        </p:txBody>
      </p:sp>
    </p:spTree>
    <p:extLst>
      <p:ext uri="{BB962C8B-B14F-4D97-AF65-F5344CB8AC3E}">
        <p14:creationId xmlns:p14="http://schemas.microsoft.com/office/powerpoint/2010/main" val="611652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a:extLst>
              <a:ext uri="{FF2B5EF4-FFF2-40B4-BE49-F238E27FC236}">
                <a16:creationId xmlns:a16="http://schemas.microsoft.com/office/drawing/2014/main" id="{E27F0E8A-FBE3-41B6-A56B-7A14F7AAA7BA}"/>
              </a:ext>
            </a:extLst>
          </p:cNvPr>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a:extLst>
              <a:ext uri="{FF2B5EF4-FFF2-40B4-BE49-F238E27FC236}">
                <a16:creationId xmlns:a16="http://schemas.microsoft.com/office/drawing/2014/main" id="{8EAB9554-0968-7F4C-B17C-055427BAAC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extLst>
      <p:ext uri="{BB962C8B-B14F-4D97-AF65-F5344CB8AC3E}">
        <p14:creationId xmlns:p14="http://schemas.microsoft.com/office/powerpoint/2010/main" val="4020554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a:extLst>
              <a:ext uri="{FF2B5EF4-FFF2-40B4-BE49-F238E27FC236}">
                <a16:creationId xmlns:a16="http://schemas.microsoft.com/office/drawing/2014/main" id="{1B478B4D-326B-4F22-B792-98AB7E9C8268}"/>
              </a:ext>
            </a:extLst>
          </p:cNvPr>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a:extLst>
              <a:ext uri="{FF2B5EF4-FFF2-40B4-BE49-F238E27FC236}">
                <a16:creationId xmlns:a16="http://schemas.microsoft.com/office/drawing/2014/main" id="{2742BE2E-64C4-45DC-B5F2-9CE85916052B}"/>
              </a:ext>
            </a:extLst>
          </p:cNvPr>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20204" pitchFamily="34" charset="0"/>
                <a:sym typeface="+mn-lt"/>
              </a:rPr>
              <a:t>Contents</a:t>
            </a:r>
            <a:endParaRPr lang="zh-CN" altLang="en-US" sz="4400" b="1" i="0" dirty="0">
              <a:solidFill>
                <a:schemeClr val="bg1"/>
              </a:solidFill>
              <a:latin typeface="Helvetica" pitchFamily="2" charset="0"/>
              <a:cs typeface="Arial" panose="020B0604020202020204" pitchFamily="34" charset="0"/>
              <a:sym typeface="+mn-lt"/>
            </a:endParaRPr>
          </a:p>
        </p:txBody>
      </p:sp>
      <p:sp>
        <p:nvSpPr>
          <p:cNvPr id="87" name="任意多边形: 形状 86">
            <a:extLst>
              <a:ext uri="{FF2B5EF4-FFF2-40B4-BE49-F238E27FC236}">
                <a16:creationId xmlns:a16="http://schemas.microsoft.com/office/drawing/2014/main" id="{BEB662E1-75A1-469F-B2C5-6EC6E8255C44}"/>
              </a:ext>
            </a:extLst>
          </p:cNvPr>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a:extLst>
              <a:ext uri="{FF2B5EF4-FFF2-40B4-BE49-F238E27FC236}">
                <a16:creationId xmlns:a16="http://schemas.microsoft.com/office/drawing/2014/main" id="{CF32DCCF-D109-144D-93EF-7A463349CB65}"/>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a:extLst>
              <a:ext uri="{FF2B5EF4-FFF2-40B4-BE49-F238E27FC236}">
                <a16:creationId xmlns:a16="http://schemas.microsoft.com/office/drawing/2014/main" id="{D607238F-89BF-434F-A2F2-C5D1BB90B631}"/>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extLst>
      <p:ext uri="{BB962C8B-B14F-4D97-AF65-F5344CB8AC3E}">
        <p14:creationId xmlns:p14="http://schemas.microsoft.com/office/powerpoint/2010/main" val="1540706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7CB78A0-538A-4F4C-97AC-5D6B9B36EAE3}"/>
              </a:ext>
            </a:extLst>
          </p:cNvPr>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a:extLst>
              <a:ext uri="{FF2B5EF4-FFF2-40B4-BE49-F238E27FC236}">
                <a16:creationId xmlns:a16="http://schemas.microsoft.com/office/drawing/2014/main" id="{DCD3F2D1-9FCF-4792-8D92-8CA0C104ED79}"/>
              </a:ext>
            </a:extLst>
          </p:cNvPr>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20204" pitchFamily="34" charset="0"/>
              </a:rPr>
              <a:t>Part 01</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E1FBCD60-E317-434E-9948-6517EE806648}"/>
              </a:ext>
            </a:extLst>
          </p:cNvPr>
          <p:cNvCxnSpPr>
            <a:cxnSpLocks/>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E5FF972F-6C72-4EB1-91BD-22FC6A6BFE55}"/>
              </a:ext>
            </a:extLst>
          </p:cNvPr>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a:extLst>
              <a:ext uri="{FF2B5EF4-FFF2-40B4-BE49-F238E27FC236}">
                <a16:creationId xmlns:a16="http://schemas.microsoft.com/office/drawing/2014/main" id="{6ED22ADE-3337-4765-824B-2BCE393B3BC8}"/>
              </a:ext>
            </a:extLst>
          </p:cNvPr>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a:extLst>
              <a:ext uri="{FF2B5EF4-FFF2-40B4-BE49-F238E27FC236}">
                <a16:creationId xmlns:a16="http://schemas.microsoft.com/office/drawing/2014/main" id="{77F0E457-CBAE-48A1-9FDD-0AD48E16BB0E}"/>
              </a:ext>
            </a:extLst>
          </p:cNvPr>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a:extLst>
              <a:ext uri="{FF2B5EF4-FFF2-40B4-BE49-F238E27FC236}">
                <a16:creationId xmlns:a16="http://schemas.microsoft.com/office/drawing/2014/main" id="{BF5B61E3-C874-41BD-9977-575DE377EF7C}"/>
              </a:ext>
            </a:extLst>
          </p:cNvPr>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a:extLst>
              <a:ext uri="{FF2B5EF4-FFF2-40B4-BE49-F238E27FC236}">
                <a16:creationId xmlns:a16="http://schemas.microsoft.com/office/drawing/2014/main" id="{E79C958C-4261-4C02-847F-E854178B5EDF}"/>
              </a:ext>
            </a:extLst>
          </p:cNvPr>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a:extLst>
              <a:ext uri="{FF2B5EF4-FFF2-40B4-BE49-F238E27FC236}">
                <a16:creationId xmlns:a16="http://schemas.microsoft.com/office/drawing/2014/main" id="{50FB6E99-D418-4444-914B-2306780544C7}"/>
              </a:ext>
            </a:extLst>
          </p:cNvPr>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94547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a:extLst>
              <a:ext uri="{FF2B5EF4-FFF2-40B4-BE49-F238E27FC236}">
                <a16:creationId xmlns:a16="http://schemas.microsoft.com/office/drawing/2014/main" id="{5FB16484-E5F7-4B77-B7A5-FDAB1703AF52}"/>
              </a:ext>
            </a:extLst>
          </p:cNvPr>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B6FD6F57-F8D0-494A-A461-A05057362E3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02</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0F3C94DC-BC3D-4914-BCEA-9BADE3C91715}"/>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a:extLst>
              <a:ext uri="{FF2B5EF4-FFF2-40B4-BE49-F238E27FC236}">
                <a16:creationId xmlns:a16="http://schemas.microsoft.com/office/drawing/2014/main" id="{D3B89C71-934D-411D-A2EA-05C70F77FCCA}"/>
              </a:ext>
            </a:extLst>
          </p:cNvPr>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a:extLst>
              <a:ext uri="{FF2B5EF4-FFF2-40B4-BE49-F238E27FC236}">
                <a16:creationId xmlns:a16="http://schemas.microsoft.com/office/drawing/2014/main" id="{A837D7F3-A47E-4687-B46E-2D3048C16002}"/>
              </a:ext>
            </a:extLst>
          </p:cNvPr>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a:extLst>
              <a:ext uri="{FF2B5EF4-FFF2-40B4-BE49-F238E27FC236}">
                <a16:creationId xmlns:a16="http://schemas.microsoft.com/office/drawing/2014/main" id="{FE10A76B-7B22-4776-AAF9-D0EEE0D973D2}"/>
              </a:ext>
            </a:extLst>
          </p:cNvPr>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a:extLst>
              <a:ext uri="{FF2B5EF4-FFF2-40B4-BE49-F238E27FC236}">
                <a16:creationId xmlns:a16="http://schemas.microsoft.com/office/drawing/2014/main" id="{80425897-AA01-4101-B050-A034992317B0}"/>
              </a:ext>
            </a:extLst>
          </p:cNvPr>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a:extLst>
              <a:ext uri="{FF2B5EF4-FFF2-40B4-BE49-F238E27FC236}">
                <a16:creationId xmlns:a16="http://schemas.microsoft.com/office/drawing/2014/main" id="{1DC1ADFB-E837-4D7F-B9F3-657D2F4ACAB6}"/>
              </a:ext>
            </a:extLst>
          </p:cNvPr>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a:extLst>
              <a:ext uri="{FF2B5EF4-FFF2-40B4-BE49-F238E27FC236}">
                <a16:creationId xmlns:a16="http://schemas.microsoft.com/office/drawing/2014/main" id="{034BB7AD-2674-4436-98EF-FC7061F0982B}"/>
              </a:ext>
            </a:extLst>
          </p:cNvPr>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extLst>
      <p:ext uri="{BB962C8B-B14F-4D97-AF65-F5344CB8AC3E}">
        <p14:creationId xmlns:p14="http://schemas.microsoft.com/office/powerpoint/2010/main" val="1585464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E3D9E87-D3B4-4F53-99F3-7438B7E4D4AB}"/>
              </a:ext>
            </a:extLst>
          </p:cNvPr>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a:extLst>
              <a:ext uri="{FF2B5EF4-FFF2-40B4-BE49-F238E27FC236}">
                <a16:creationId xmlns:a16="http://schemas.microsoft.com/office/drawing/2014/main" id="{6CD21FE1-F1E4-4E14-BF8F-A4D4ED823FBC}"/>
              </a:ext>
            </a:extLst>
          </p:cNvPr>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B76C3FD-32D6-4E41-B7F5-97F8A47A3D0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03</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8DD83EE6-28E8-42E1-9D1D-CEA16A3EF647}"/>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D2CCFA9F-ED6D-4706-AB87-12B0B7099A55}"/>
              </a:ext>
            </a:extLst>
          </p:cNvPr>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a:extLst>
              <a:ext uri="{FF2B5EF4-FFF2-40B4-BE49-F238E27FC236}">
                <a16:creationId xmlns:a16="http://schemas.microsoft.com/office/drawing/2014/main" id="{2F53FD0E-8CED-473A-8132-8C32D5EB7E41}"/>
              </a:ext>
            </a:extLst>
          </p:cNvPr>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a:extLst>
              <a:ext uri="{FF2B5EF4-FFF2-40B4-BE49-F238E27FC236}">
                <a16:creationId xmlns:a16="http://schemas.microsoft.com/office/drawing/2014/main" id="{686A2882-5AAA-4796-ACBF-11DE20417AB5}"/>
              </a:ext>
            </a:extLst>
          </p:cNvPr>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a:extLst>
              <a:ext uri="{FF2B5EF4-FFF2-40B4-BE49-F238E27FC236}">
                <a16:creationId xmlns:a16="http://schemas.microsoft.com/office/drawing/2014/main" id="{965BF0DA-9E98-46CA-BC5A-2F733F99C372}"/>
              </a:ext>
            </a:extLst>
          </p:cNvPr>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44B3714-021E-44F1-A9C0-8DB23D7B89EA}"/>
              </a:ext>
            </a:extLst>
          </p:cNvPr>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extLst>
      <p:ext uri="{BB962C8B-B14F-4D97-AF65-F5344CB8AC3E}">
        <p14:creationId xmlns:p14="http://schemas.microsoft.com/office/powerpoint/2010/main" val="1321017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a:extLst>
              <a:ext uri="{FF2B5EF4-FFF2-40B4-BE49-F238E27FC236}">
                <a16:creationId xmlns:a16="http://schemas.microsoft.com/office/drawing/2014/main" id="{F4B8A56B-7F99-43EE-87F0-42D96BE6E0C1}"/>
              </a:ext>
            </a:extLst>
          </p:cNvPr>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AD7A4933-BE2B-4B78-BB0B-EFF272C4458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04</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A73394E7-E5C6-4B02-8A31-9C03D9C6FA0B}"/>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a:extLst>
              <a:ext uri="{FF2B5EF4-FFF2-40B4-BE49-F238E27FC236}">
                <a16:creationId xmlns:a16="http://schemas.microsoft.com/office/drawing/2014/main" id="{9FDAE5AE-1C3F-4A93-B305-B77CDC3F4BE2}"/>
              </a:ext>
            </a:extLst>
          </p:cNvPr>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a:extLst>
              <a:ext uri="{FF2B5EF4-FFF2-40B4-BE49-F238E27FC236}">
                <a16:creationId xmlns:a16="http://schemas.microsoft.com/office/drawing/2014/main" id="{8B831D4E-CDC6-4513-9163-9BB77DDB0516}"/>
              </a:ext>
            </a:extLst>
          </p:cNvPr>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a:extLst>
              <a:ext uri="{FF2B5EF4-FFF2-40B4-BE49-F238E27FC236}">
                <a16:creationId xmlns:a16="http://schemas.microsoft.com/office/drawing/2014/main" id="{25618009-D285-438D-BF60-F87BDBE0685A}"/>
              </a:ext>
            </a:extLst>
          </p:cNvPr>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a:extLst>
              <a:ext uri="{FF2B5EF4-FFF2-40B4-BE49-F238E27FC236}">
                <a16:creationId xmlns:a16="http://schemas.microsoft.com/office/drawing/2014/main" id="{4A10CB81-B3E3-411C-90C9-3480A10EDB9B}"/>
              </a:ext>
            </a:extLst>
          </p:cNvPr>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a:extLst>
              <a:ext uri="{FF2B5EF4-FFF2-40B4-BE49-F238E27FC236}">
                <a16:creationId xmlns:a16="http://schemas.microsoft.com/office/drawing/2014/main" id="{D251409D-FDB9-430B-A00F-D4A65811924B}"/>
              </a:ext>
            </a:extLst>
          </p:cNvPr>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63A1AFEA-57CF-4E71-AF6C-91E549CCF7E6}"/>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934243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a:extLst>
              <a:ext uri="{FF2B5EF4-FFF2-40B4-BE49-F238E27FC236}">
                <a16:creationId xmlns:a16="http://schemas.microsoft.com/office/drawing/2014/main" id="{03B97F61-153E-4B6E-8D40-C8B9A7E64D60}"/>
              </a:ext>
            </a:extLst>
          </p:cNvPr>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7B2B8D9-D400-4BD8-9CF6-DCEAAC82BDD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05</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F285F31B-D145-4BD9-A54B-96E8E681B170}"/>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a:extLst>
              <a:ext uri="{FF2B5EF4-FFF2-40B4-BE49-F238E27FC236}">
                <a16:creationId xmlns:a16="http://schemas.microsoft.com/office/drawing/2014/main" id="{883EB526-2712-4265-9BF4-5874AAB98515}"/>
              </a:ext>
            </a:extLst>
          </p:cNvPr>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a:extLst>
              <a:ext uri="{FF2B5EF4-FFF2-40B4-BE49-F238E27FC236}">
                <a16:creationId xmlns:a16="http://schemas.microsoft.com/office/drawing/2014/main" id="{C7D4DE0F-D1AF-4276-ADBB-A15A5BFE8CB9}"/>
              </a:ext>
            </a:extLst>
          </p:cNvPr>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a:extLst>
              <a:ext uri="{FF2B5EF4-FFF2-40B4-BE49-F238E27FC236}">
                <a16:creationId xmlns:a16="http://schemas.microsoft.com/office/drawing/2014/main" id="{DFA316F4-7F98-4275-AAEF-578596A20622}"/>
              </a:ext>
            </a:extLst>
          </p:cNvPr>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a:extLst>
              <a:ext uri="{FF2B5EF4-FFF2-40B4-BE49-F238E27FC236}">
                <a16:creationId xmlns:a16="http://schemas.microsoft.com/office/drawing/2014/main" id="{219BA2AF-DF75-4C32-85E3-CB62BA8F7564}"/>
              </a:ext>
            </a:extLst>
          </p:cNvPr>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a:extLst>
              <a:ext uri="{FF2B5EF4-FFF2-40B4-BE49-F238E27FC236}">
                <a16:creationId xmlns:a16="http://schemas.microsoft.com/office/drawing/2014/main" id="{A86D27D2-3D87-4A30-89B6-7FAFD15E7EA4}"/>
              </a:ext>
            </a:extLst>
          </p:cNvPr>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BD5DBA0-D1E0-4B8B-AF12-F77A29B64E62}"/>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1233385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a:extLst>
              <a:ext uri="{FF2B5EF4-FFF2-40B4-BE49-F238E27FC236}">
                <a16:creationId xmlns:a16="http://schemas.microsoft.com/office/drawing/2014/main" id="{60753701-EC64-455B-B060-1320051E3FE3}"/>
              </a:ext>
            </a:extLst>
          </p:cNvPr>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F5CBE861-C433-4078-A9A5-2C401EE3B270}"/>
              </a:ext>
            </a:extLst>
          </p:cNvPr>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06</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23DD6575-0576-4AFA-9BC4-891ADAB845BD}"/>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a:extLst>
              <a:ext uri="{FF2B5EF4-FFF2-40B4-BE49-F238E27FC236}">
                <a16:creationId xmlns:a16="http://schemas.microsoft.com/office/drawing/2014/main" id="{C48532B4-0A1B-49CC-99AA-FE75395721EF}"/>
              </a:ext>
            </a:extLst>
          </p:cNvPr>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a:extLst>
              <a:ext uri="{FF2B5EF4-FFF2-40B4-BE49-F238E27FC236}">
                <a16:creationId xmlns:a16="http://schemas.microsoft.com/office/drawing/2014/main" id="{32356412-5283-4799-9197-98AEACE613AC}"/>
              </a:ext>
            </a:extLst>
          </p:cNvPr>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a:extLst>
              <a:ext uri="{FF2B5EF4-FFF2-40B4-BE49-F238E27FC236}">
                <a16:creationId xmlns:a16="http://schemas.microsoft.com/office/drawing/2014/main" id="{4E421018-60A0-4F10-A9A6-A6EE3BBD8BF9}"/>
              </a:ext>
            </a:extLst>
          </p:cNvPr>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a:extLst>
              <a:ext uri="{FF2B5EF4-FFF2-40B4-BE49-F238E27FC236}">
                <a16:creationId xmlns:a16="http://schemas.microsoft.com/office/drawing/2014/main" id="{9B17F2FA-61E0-4197-AD3A-2DE5104FF5C1}"/>
              </a:ext>
            </a:extLst>
          </p:cNvPr>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a:extLst>
              <a:ext uri="{FF2B5EF4-FFF2-40B4-BE49-F238E27FC236}">
                <a16:creationId xmlns:a16="http://schemas.microsoft.com/office/drawing/2014/main" id="{1C86E54A-170E-4CA4-BE8B-1118DA74B7C4}"/>
              </a:ext>
            </a:extLst>
          </p:cNvPr>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A5976A4D-F088-4D08-ABB4-FDF23F9CA863}"/>
              </a:ext>
            </a:extLst>
          </p:cNvPr>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4050161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a:extLst>
              <a:ext uri="{FF2B5EF4-FFF2-40B4-BE49-F238E27FC236}">
                <a16:creationId xmlns:a16="http://schemas.microsoft.com/office/drawing/2014/main" id="{82CF8FAE-6DBB-42F8-A821-12D15C788E8C}"/>
              </a:ext>
            </a:extLst>
          </p:cNvPr>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a:extLst>
              <a:ext uri="{FF2B5EF4-FFF2-40B4-BE49-F238E27FC236}">
                <a16:creationId xmlns:a16="http://schemas.microsoft.com/office/drawing/2014/main" id="{B958D3BC-E7F4-4914-8CAC-14D6BF0FFFB3}"/>
              </a:ext>
            </a:extLst>
          </p:cNvPr>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a:extLst>
              <a:ext uri="{FF2B5EF4-FFF2-40B4-BE49-F238E27FC236}">
                <a16:creationId xmlns:a16="http://schemas.microsoft.com/office/drawing/2014/main" id="{2453FC77-9263-4C53-8F22-D64EBC3880B1}"/>
              </a:ext>
            </a:extLst>
          </p:cNvPr>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a:extLst>
              <a:ext uri="{FF2B5EF4-FFF2-40B4-BE49-F238E27FC236}">
                <a16:creationId xmlns:a16="http://schemas.microsoft.com/office/drawing/2014/main" id="{9B3BEEB7-FA72-410F-B92D-7D208F847B83}"/>
              </a:ext>
            </a:extLst>
          </p:cNvPr>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20204" pitchFamily="34" charset="0"/>
              </a:rPr>
              <a:t>Contents</a:t>
            </a:r>
            <a:endParaRPr lang="zh-CN" altLang="en-US" sz="4000" b="1" i="0" dirty="0">
              <a:solidFill>
                <a:schemeClr val="bg1"/>
              </a:solidFill>
              <a:latin typeface="Helvetica" pitchFamily="2" charset="0"/>
              <a:ea typeface="+mj-ea"/>
              <a:cs typeface="Arial" panose="020B0604020202020204" pitchFamily="34" charset="0"/>
            </a:endParaRPr>
          </a:p>
        </p:txBody>
      </p:sp>
      <p:pic>
        <p:nvPicPr>
          <p:cNvPr id="47" name="图片 46">
            <a:extLst>
              <a:ext uri="{FF2B5EF4-FFF2-40B4-BE49-F238E27FC236}">
                <a16:creationId xmlns:a16="http://schemas.microsoft.com/office/drawing/2014/main" id="{C02326B7-0E5A-F24B-8BE7-D58545042AA0}"/>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556391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a:extLst>
              <a:ext uri="{FF2B5EF4-FFF2-40B4-BE49-F238E27FC236}">
                <a16:creationId xmlns:a16="http://schemas.microsoft.com/office/drawing/2014/main" id="{EF621E98-351F-489A-ADCE-3FC79FDE6DDD}"/>
              </a:ext>
            </a:extLst>
          </p:cNvPr>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a:extLst>
              <a:ext uri="{FF2B5EF4-FFF2-40B4-BE49-F238E27FC236}">
                <a16:creationId xmlns:a16="http://schemas.microsoft.com/office/drawing/2014/main" id="{C25A5A92-C8E6-4CA8-AB93-8B885C5EA989}"/>
              </a:ext>
            </a:extLst>
          </p:cNvPr>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a:extLst>
              <a:ext uri="{FF2B5EF4-FFF2-40B4-BE49-F238E27FC236}">
                <a16:creationId xmlns:a16="http://schemas.microsoft.com/office/drawing/2014/main" id="{0B284135-360D-47CC-8BC2-5C03015968F7}"/>
              </a:ext>
            </a:extLst>
          </p:cNvPr>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a:extLst>
              <a:ext uri="{FF2B5EF4-FFF2-40B4-BE49-F238E27FC236}">
                <a16:creationId xmlns:a16="http://schemas.microsoft.com/office/drawing/2014/main" id="{D0824BE2-0B1A-47B1-BAAF-7C29E1879AE7}"/>
              </a:ext>
            </a:extLst>
          </p:cNvPr>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3019191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a:extLst>
              <a:ext uri="{FF2B5EF4-FFF2-40B4-BE49-F238E27FC236}">
                <a16:creationId xmlns:a16="http://schemas.microsoft.com/office/drawing/2014/main" id="{053D6D2E-F110-4473-8442-17B28C05A741}"/>
              </a:ext>
            </a:extLst>
          </p:cNvPr>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a:extLst>
              <a:ext uri="{FF2B5EF4-FFF2-40B4-BE49-F238E27FC236}">
                <a16:creationId xmlns:a16="http://schemas.microsoft.com/office/drawing/2014/main" id="{E6BEB427-D252-4942-9F34-301C642191A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a:extLst>
              <a:ext uri="{FF2B5EF4-FFF2-40B4-BE49-F238E27FC236}">
                <a16:creationId xmlns:a16="http://schemas.microsoft.com/office/drawing/2014/main" id="{17358D7B-1DA9-9E4B-AFF1-9A13B20D43F0}"/>
              </a:ext>
            </a:extLst>
          </p:cNvPr>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a:extLst>
              <a:ext uri="{FF2B5EF4-FFF2-40B4-BE49-F238E27FC236}">
                <a16:creationId xmlns:a16="http://schemas.microsoft.com/office/drawing/2014/main" id="{ACA3C166-80E6-1B4A-AD5B-C8D47456872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2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a:extLst>
              <a:ext uri="{FF2B5EF4-FFF2-40B4-BE49-F238E27FC236}">
                <a16:creationId xmlns:a16="http://schemas.microsoft.com/office/drawing/2014/main" id="{4B77A5BA-0111-5844-9F86-5926B121D3FB}"/>
              </a:ext>
            </a:extLst>
          </p:cNvPr>
          <p:cNvSpPr>
            <a:spLocks noGrp="1"/>
          </p:cNvSpPr>
          <p:nvPr>
            <p:ph type="dt" sz="half" idx="10"/>
          </p:nvPr>
        </p:nvSpPr>
        <p:spPr/>
        <p:txBody>
          <a:bodyPr/>
          <a:lstStyle/>
          <a:p>
            <a:endParaRPr lang="zh-CN" altLang="en-US"/>
          </a:p>
        </p:txBody>
      </p:sp>
      <p:sp>
        <p:nvSpPr>
          <p:cNvPr id="14" name="页脚占位符 13">
            <a:extLst>
              <a:ext uri="{FF2B5EF4-FFF2-40B4-BE49-F238E27FC236}">
                <a16:creationId xmlns:a16="http://schemas.microsoft.com/office/drawing/2014/main" id="{44B829B2-7BD2-9948-8F21-7182730A06BA}"/>
              </a:ext>
            </a:extLst>
          </p:cNvPr>
          <p:cNvSpPr>
            <a:spLocks noGrp="1"/>
          </p:cNvSpPr>
          <p:nvPr>
            <p:ph type="ftr" sz="quarter" idx="11"/>
          </p:nvPr>
        </p:nvSpPr>
        <p:spPr/>
        <p:txBody>
          <a:bodyPr/>
          <a:lstStyle/>
          <a:p>
            <a:endParaRPr lang="zh-CN" altLang="en-US" dirty="0"/>
          </a:p>
        </p:txBody>
      </p:sp>
      <p:sp>
        <p:nvSpPr>
          <p:cNvPr id="15" name="灯片编号占位符 14">
            <a:extLst>
              <a:ext uri="{FF2B5EF4-FFF2-40B4-BE49-F238E27FC236}">
                <a16:creationId xmlns:a16="http://schemas.microsoft.com/office/drawing/2014/main" id="{6280651B-EA0A-1E41-B81D-87E3C43E66B9}"/>
              </a:ext>
            </a:extLst>
          </p:cNvPr>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Tree>
    <p:extLst>
      <p:ext uri="{BB962C8B-B14F-4D97-AF65-F5344CB8AC3E}">
        <p14:creationId xmlns:p14="http://schemas.microsoft.com/office/powerpoint/2010/main" val="37282911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B0862E3-9A13-49FB-8057-D6463602E7B6}"/>
              </a:ext>
            </a:extLst>
          </p:cNvPr>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33B73963-4941-42F0-9B00-7431FEF61A6C}"/>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9C71AABC-C91A-43D0-9AF8-0B6162EDCDD1}"/>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A32A9019-0CBC-4C4A-90F0-2676ED9FCD3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1D06DB6D-BC70-544C-8EA4-3A3874C968F6}"/>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37181323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80DB1628-9D3D-4F59-B275-C695A900F19A}"/>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F01A7288-9F85-304B-887D-2D1E13D7A25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DE14FD2D-7810-B34E-8AFB-9A17BDEA7011}"/>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940593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a:extLst>
              <a:ext uri="{FF2B5EF4-FFF2-40B4-BE49-F238E27FC236}">
                <a16:creationId xmlns:a16="http://schemas.microsoft.com/office/drawing/2014/main" id="{F03BE017-E7F3-4A34-ABC3-ECA964258175}"/>
              </a:ext>
            </a:extLst>
          </p:cNvPr>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a:extLst>
              <a:ext uri="{FF2B5EF4-FFF2-40B4-BE49-F238E27FC236}">
                <a16:creationId xmlns:a16="http://schemas.microsoft.com/office/drawing/2014/main" id="{D3B0A0DB-185C-4430-9224-1C0A227377F5}"/>
              </a:ext>
            </a:extLst>
          </p:cNvPr>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a:extLst>
              <a:ext uri="{FF2B5EF4-FFF2-40B4-BE49-F238E27FC236}">
                <a16:creationId xmlns:a16="http://schemas.microsoft.com/office/drawing/2014/main" id="{E3FA308D-84A8-4382-ADA4-2CD6EA62223C}"/>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68876A75-1BD3-9D4E-9D34-C6453E6DC7DB}"/>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48222E54-5ACA-6D4B-9A58-9B51C83B622D}"/>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941146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a:extLst>
              <a:ext uri="{FF2B5EF4-FFF2-40B4-BE49-F238E27FC236}">
                <a16:creationId xmlns:a16="http://schemas.microsoft.com/office/drawing/2014/main" id="{260C43B2-4304-44E2-A6F0-062D59008B9B}"/>
              </a:ext>
            </a:extLst>
          </p:cNvPr>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a:extLst>
              <a:ext uri="{FF2B5EF4-FFF2-40B4-BE49-F238E27FC236}">
                <a16:creationId xmlns:a16="http://schemas.microsoft.com/office/drawing/2014/main" id="{11D8ADCD-C58A-41B8-80C4-2341BB348593}"/>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a:extLst>
              <a:ext uri="{FF2B5EF4-FFF2-40B4-BE49-F238E27FC236}">
                <a16:creationId xmlns:a16="http://schemas.microsoft.com/office/drawing/2014/main" id="{841EB5B4-0657-4AE7-A427-642106D598D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EC81340F-C45F-6B4F-9864-73BF32BA909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31D45924-509B-5D4C-A99D-FF1FB6F34BEF}"/>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954094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D88D36A-B7BF-4F3A-AA10-0BECE80A557F}"/>
              </a:ext>
            </a:extLst>
          </p:cNvPr>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a:extLst>
              <a:ext uri="{FF2B5EF4-FFF2-40B4-BE49-F238E27FC236}">
                <a16:creationId xmlns:a16="http://schemas.microsoft.com/office/drawing/2014/main" id="{DEC9F75E-9249-4FFE-AF96-E92B201A183F}"/>
              </a:ext>
            </a:extLst>
          </p:cNvPr>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a:extLst>
              <a:ext uri="{FF2B5EF4-FFF2-40B4-BE49-F238E27FC236}">
                <a16:creationId xmlns:a16="http://schemas.microsoft.com/office/drawing/2014/main" id="{E7782F2A-850E-4B5F-8330-CF50AC9EFA7B}"/>
              </a:ext>
            </a:extLst>
          </p:cNvPr>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a:extLst>
              <a:ext uri="{FF2B5EF4-FFF2-40B4-BE49-F238E27FC236}">
                <a16:creationId xmlns:a16="http://schemas.microsoft.com/office/drawing/2014/main" id="{25096E3E-9433-4D85-BA39-301B214A355E}"/>
              </a:ext>
            </a:extLst>
          </p:cNvPr>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DF883148-B063-4C5A-9CC7-CE69774A8C94}"/>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B8A4FF80-ED1E-4D1D-9434-215EB5FB872B}"/>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B3A067A2-39E8-0940-8B54-688BC270D1DC}"/>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7D982EDC-1B4A-034E-9CE9-9172DBAF4898}"/>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164266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6196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5F00C798-F4CB-49E3-81E0-4CD12D5AEAD6}"/>
              </a:ext>
            </a:extLst>
          </p:cNvPr>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a:extLst>
              <a:ext uri="{FF2B5EF4-FFF2-40B4-BE49-F238E27FC236}">
                <a16:creationId xmlns:a16="http://schemas.microsoft.com/office/drawing/2014/main" id="{8C1695A4-3593-4E25-8722-4214E3CC76B6}"/>
              </a:ext>
            </a:extLst>
          </p:cNvPr>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a:extLst>
              <a:ext uri="{FF2B5EF4-FFF2-40B4-BE49-F238E27FC236}">
                <a16:creationId xmlns:a16="http://schemas.microsoft.com/office/drawing/2014/main" id="{A29C0276-5751-4797-BFA5-F68D05ACBB63}"/>
              </a:ext>
            </a:extLst>
          </p:cNvPr>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a:extLst>
              <a:ext uri="{FF2B5EF4-FFF2-40B4-BE49-F238E27FC236}">
                <a16:creationId xmlns:a16="http://schemas.microsoft.com/office/drawing/2014/main" id="{D85E25CC-A5BC-44E2-9950-5BDC824D9AC1}"/>
              </a:ext>
            </a:extLst>
          </p:cNvPr>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5713267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B2DFB5F-1361-46F4-B3DF-471ECD4DCA18}"/>
              </a:ext>
            </a:extLst>
          </p:cNvPr>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a:extLst>
              <a:ext uri="{FF2B5EF4-FFF2-40B4-BE49-F238E27FC236}">
                <a16:creationId xmlns:a16="http://schemas.microsoft.com/office/drawing/2014/main" id="{385D4CE6-0BBF-450D-B3AB-7C163A40E793}"/>
              </a:ext>
            </a:extLst>
          </p:cNvPr>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extLst>
      <p:ext uri="{BB962C8B-B14F-4D97-AF65-F5344CB8AC3E}">
        <p14:creationId xmlns:p14="http://schemas.microsoft.com/office/powerpoint/2010/main" val="32368182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bg bwMode="auto">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noProof="1"/>
              <a:t>Click to edit Master title style</a:t>
            </a:r>
          </a:p>
        </p:txBody>
      </p:sp>
      <p:sp>
        <p:nvSpPr>
          <p:cNvPr id="8" name="Content Placeholder 7"/>
          <p:cNvSpPr>
            <a:spLocks noGrp="1"/>
          </p:cNvSpPr>
          <p:nvPr>
            <p:ph sz="quarter" idx="1"/>
          </p:nvPr>
        </p:nvSpPr>
        <p:spPr>
          <a:xfrm>
            <a:off x="402336" y="1527048"/>
            <a:ext cx="11338560" cy="45720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3" name="Date Placeholder 3">
            <a:extLst>
              <a:ext uri="{FF2B5EF4-FFF2-40B4-BE49-F238E27FC236}">
                <a16:creationId xmlns:a16="http://schemas.microsoft.com/office/drawing/2014/main" id="{ECD9281A-630A-D647-F925-722D8BECBC47}"/>
              </a:ext>
            </a:extLst>
          </p:cNvPr>
          <p:cNvSpPr>
            <a:spLocks noGrp="1"/>
          </p:cNvSpPr>
          <p:nvPr>
            <p:ph type="dt" sz="half" idx="10"/>
          </p:nvPr>
        </p:nvSpPr>
        <p:spPr/>
        <p:txBody>
          <a:bodyPr/>
          <a:lstStyle>
            <a:lvl1pPr>
              <a:defRPr/>
            </a:lvl1pPr>
          </a:lstStyle>
          <a:p>
            <a:endParaRPr lang="en-US"/>
          </a:p>
        </p:txBody>
      </p:sp>
      <p:sp>
        <p:nvSpPr>
          <p:cNvPr id="4" name="Footer Placeholder 4">
            <a:extLst>
              <a:ext uri="{FF2B5EF4-FFF2-40B4-BE49-F238E27FC236}">
                <a16:creationId xmlns:a16="http://schemas.microsoft.com/office/drawing/2014/main" id="{31B596E2-AA30-6792-684A-C4CF18756D2F}"/>
              </a:ext>
            </a:extLst>
          </p:cNvPr>
          <p:cNvSpPr>
            <a:spLocks noGrp="1"/>
          </p:cNvSpPr>
          <p:nvPr>
            <p:ph type="ftr" sz="quarter" idx="11"/>
          </p:nvPr>
        </p:nvSpPr>
        <p:spPr/>
        <p:txBody>
          <a:bodyPr/>
          <a:lstStyle>
            <a:lvl1pPr>
              <a:defRPr/>
            </a:lvl1pPr>
          </a:lstStyle>
          <a:p>
            <a:r>
              <a:rPr lang="en-US" altLang="zh-CN"/>
              <a:t>Artificial Intelligence a modern approach</a:t>
            </a:r>
          </a:p>
        </p:txBody>
      </p:sp>
      <p:sp>
        <p:nvSpPr>
          <p:cNvPr id="5" name="Slide Number Placeholder 5">
            <a:extLst>
              <a:ext uri="{FF2B5EF4-FFF2-40B4-BE49-F238E27FC236}">
                <a16:creationId xmlns:a16="http://schemas.microsoft.com/office/drawing/2014/main" id="{DF14ED86-3759-CE59-E80F-0BE6032FEE8C}"/>
              </a:ext>
            </a:extLst>
          </p:cNvPr>
          <p:cNvSpPr>
            <a:spLocks noGrp="1"/>
          </p:cNvSpPr>
          <p:nvPr>
            <p:ph type="sldNum" sz="quarter" idx="12"/>
          </p:nvPr>
        </p:nvSpPr>
        <p:spPr>
          <a:xfrm>
            <a:off x="5816600" y="1027114"/>
            <a:ext cx="609600" cy="441325"/>
          </a:xfrm>
        </p:spPr>
        <p:txBody>
          <a:bodyPr/>
          <a:lstStyle>
            <a:lvl1pPr>
              <a:defRPr/>
            </a:lvl1pPr>
          </a:lstStyle>
          <a:p>
            <a:fld id="{5D839138-5554-4A72-89BF-BBFB0D949EB2}" type="slidenum">
              <a:rPr lang="en-US"/>
              <a:pPr/>
              <a:t>‹#›</a:t>
            </a:fld>
            <a:endParaRPr lang="en-US"/>
          </a:p>
        </p:txBody>
      </p:sp>
    </p:spTree>
    <p:extLst>
      <p:ext uri="{BB962C8B-B14F-4D97-AF65-F5344CB8AC3E}">
        <p14:creationId xmlns:p14="http://schemas.microsoft.com/office/powerpoint/2010/main" val="386475009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a:extLst>
              <a:ext uri="{FF2B5EF4-FFF2-40B4-BE49-F238E27FC236}">
                <a16:creationId xmlns:a16="http://schemas.microsoft.com/office/drawing/2014/main" id="{E27F0E8A-FBE3-41B6-A56B-7A14F7AAA7BA}"/>
              </a:ext>
            </a:extLst>
          </p:cNvPr>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a:extLst>
              <a:ext uri="{FF2B5EF4-FFF2-40B4-BE49-F238E27FC236}">
                <a16:creationId xmlns:a16="http://schemas.microsoft.com/office/drawing/2014/main" id="{8EAB9554-0968-7F4C-B17C-055427BAAC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extLst>
      <p:ext uri="{BB962C8B-B14F-4D97-AF65-F5344CB8AC3E}">
        <p14:creationId xmlns:p14="http://schemas.microsoft.com/office/powerpoint/2010/main" val="41711788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a:extLst>
              <a:ext uri="{FF2B5EF4-FFF2-40B4-BE49-F238E27FC236}">
                <a16:creationId xmlns:a16="http://schemas.microsoft.com/office/drawing/2014/main" id="{1B478B4D-326B-4F22-B792-98AB7E9C8268}"/>
              </a:ext>
            </a:extLst>
          </p:cNvPr>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a:extLst>
              <a:ext uri="{FF2B5EF4-FFF2-40B4-BE49-F238E27FC236}">
                <a16:creationId xmlns:a16="http://schemas.microsoft.com/office/drawing/2014/main" id="{2742BE2E-64C4-45DC-B5F2-9CE85916052B}"/>
              </a:ext>
            </a:extLst>
          </p:cNvPr>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20204" pitchFamily="34" charset="0"/>
                <a:sym typeface="+mn-lt"/>
              </a:rPr>
              <a:t>Contents</a:t>
            </a:r>
            <a:endParaRPr lang="zh-CN" altLang="en-US" sz="4400" b="1" i="0" dirty="0">
              <a:solidFill>
                <a:schemeClr val="bg1"/>
              </a:solidFill>
              <a:latin typeface="Helvetica" pitchFamily="2" charset="0"/>
              <a:cs typeface="Arial" panose="020B0604020202020204" pitchFamily="34" charset="0"/>
              <a:sym typeface="+mn-lt"/>
            </a:endParaRPr>
          </a:p>
        </p:txBody>
      </p:sp>
      <p:sp>
        <p:nvSpPr>
          <p:cNvPr id="87" name="任意多边形: 形状 86">
            <a:extLst>
              <a:ext uri="{FF2B5EF4-FFF2-40B4-BE49-F238E27FC236}">
                <a16:creationId xmlns:a16="http://schemas.microsoft.com/office/drawing/2014/main" id="{BEB662E1-75A1-469F-B2C5-6EC6E8255C44}"/>
              </a:ext>
            </a:extLst>
          </p:cNvPr>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a:extLst>
              <a:ext uri="{FF2B5EF4-FFF2-40B4-BE49-F238E27FC236}">
                <a16:creationId xmlns:a16="http://schemas.microsoft.com/office/drawing/2014/main" id="{CF32DCCF-D109-144D-93EF-7A463349CB65}"/>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a:extLst>
              <a:ext uri="{FF2B5EF4-FFF2-40B4-BE49-F238E27FC236}">
                <a16:creationId xmlns:a16="http://schemas.microsoft.com/office/drawing/2014/main" id="{D607238F-89BF-434F-A2F2-C5D1BB90B631}"/>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extLst>
      <p:ext uri="{BB962C8B-B14F-4D97-AF65-F5344CB8AC3E}">
        <p14:creationId xmlns:p14="http://schemas.microsoft.com/office/powerpoint/2010/main" val="33892728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7CB78A0-538A-4F4C-97AC-5D6B9B36EAE3}"/>
              </a:ext>
            </a:extLst>
          </p:cNvPr>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a:extLst>
              <a:ext uri="{FF2B5EF4-FFF2-40B4-BE49-F238E27FC236}">
                <a16:creationId xmlns:a16="http://schemas.microsoft.com/office/drawing/2014/main" id="{DCD3F2D1-9FCF-4792-8D92-8CA0C104ED79}"/>
              </a:ext>
            </a:extLst>
          </p:cNvPr>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20204" pitchFamily="34" charset="0"/>
              </a:rPr>
              <a:t>Part 01</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E1FBCD60-E317-434E-9948-6517EE806648}"/>
              </a:ext>
            </a:extLst>
          </p:cNvPr>
          <p:cNvCxnSpPr>
            <a:cxnSpLocks/>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E5FF972F-6C72-4EB1-91BD-22FC6A6BFE55}"/>
              </a:ext>
            </a:extLst>
          </p:cNvPr>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a:extLst>
              <a:ext uri="{FF2B5EF4-FFF2-40B4-BE49-F238E27FC236}">
                <a16:creationId xmlns:a16="http://schemas.microsoft.com/office/drawing/2014/main" id="{6ED22ADE-3337-4765-824B-2BCE393B3BC8}"/>
              </a:ext>
            </a:extLst>
          </p:cNvPr>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a:extLst>
              <a:ext uri="{FF2B5EF4-FFF2-40B4-BE49-F238E27FC236}">
                <a16:creationId xmlns:a16="http://schemas.microsoft.com/office/drawing/2014/main" id="{77F0E457-CBAE-48A1-9FDD-0AD48E16BB0E}"/>
              </a:ext>
            </a:extLst>
          </p:cNvPr>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a:extLst>
              <a:ext uri="{FF2B5EF4-FFF2-40B4-BE49-F238E27FC236}">
                <a16:creationId xmlns:a16="http://schemas.microsoft.com/office/drawing/2014/main" id="{BF5B61E3-C874-41BD-9977-575DE377EF7C}"/>
              </a:ext>
            </a:extLst>
          </p:cNvPr>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a:extLst>
              <a:ext uri="{FF2B5EF4-FFF2-40B4-BE49-F238E27FC236}">
                <a16:creationId xmlns:a16="http://schemas.microsoft.com/office/drawing/2014/main" id="{E79C958C-4261-4C02-847F-E854178B5EDF}"/>
              </a:ext>
            </a:extLst>
          </p:cNvPr>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a:extLst>
              <a:ext uri="{FF2B5EF4-FFF2-40B4-BE49-F238E27FC236}">
                <a16:creationId xmlns:a16="http://schemas.microsoft.com/office/drawing/2014/main" id="{50FB6E99-D418-4444-914B-2306780544C7}"/>
              </a:ext>
            </a:extLst>
          </p:cNvPr>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36852020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a:extLst>
              <a:ext uri="{FF2B5EF4-FFF2-40B4-BE49-F238E27FC236}">
                <a16:creationId xmlns:a16="http://schemas.microsoft.com/office/drawing/2014/main" id="{5FB16484-E5F7-4B77-B7A5-FDAB1703AF52}"/>
              </a:ext>
            </a:extLst>
          </p:cNvPr>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B6FD6F57-F8D0-494A-A461-A05057362E3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02</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0F3C94DC-BC3D-4914-BCEA-9BADE3C91715}"/>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a:extLst>
              <a:ext uri="{FF2B5EF4-FFF2-40B4-BE49-F238E27FC236}">
                <a16:creationId xmlns:a16="http://schemas.microsoft.com/office/drawing/2014/main" id="{D3B89C71-934D-411D-A2EA-05C70F77FCCA}"/>
              </a:ext>
            </a:extLst>
          </p:cNvPr>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a:extLst>
              <a:ext uri="{FF2B5EF4-FFF2-40B4-BE49-F238E27FC236}">
                <a16:creationId xmlns:a16="http://schemas.microsoft.com/office/drawing/2014/main" id="{A837D7F3-A47E-4687-B46E-2D3048C16002}"/>
              </a:ext>
            </a:extLst>
          </p:cNvPr>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a:extLst>
              <a:ext uri="{FF2B5EF4-FFF2-40B4-BE49-F238E27FC236}">
                <a16:creationId xmlns:a16="http://schemas.microsoft.com/office/drawing/2014/main" id="{FE10A76B-7B22-4776-AAF9-D0EEE0D973D2}"/>
              </a:ext>
            </a:extLst>
          </p:cNvPr>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a:extLst>
              <a:ext uri="{FF2B5EF4-FFF2-40B4-BE49-F238E27FC236}">
                <a16:creationId xmlns:a16="http://schemas.microsoft.com/office/drawing/2014/main" id="{80425897-AA01-4101-B050-A034992317B0}"/>
              </a:ext>
            </a:extLst>
          </p:cNvPr>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a:extLst>
              <a:ext uri="{FF2B5EF4-FFF2-40B4-BE49-F238E27FC236}">
                <a16:creationId xmlns:a16="http://schemas.microsoft.com/office/drawing/2014/main" id="{1DC1ADFB-E837-4D7F-B9F3-657D2F4ACAB6}"/>
              </a:ext>
            </a:extLst>
          </p:cNvPr>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a:extLst>
              <a:ext uri="{FF2B5EF4-FFF2-40B4-BE49-F238E27FC236}">
                <a16:creationId xmlns:a16="http://schemas.microsoft.com/office/drawing/2014/main" id="{034BB7AD-2674-4436-98EF-FC7061F0982B}"/>
              </a:ext>
            </a:extLst>
          </p:cNvPr>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extLst>
      <p:ext uri="{BB962C8B-B14F-4D97-AF65-F5344CB8AC3E}">
        <p14:creationId xmlns:p14="http://schemas.microsoft.com/office/powerpoint/2010/main" val="6276976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E3D9E87-D3B4-4F53-99F3-7438B7E4D4AB}"/>
              </a:ext>
            </a:extLst>
          </p:cNvPr>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a:extLst>
              <a:ext uri="{FF2B5EF4-FFF2-40B4-BE49-F238E27FC236}">
                <a16:creationId xmlns:a16="http://schemas.microsoft.com/office/drawing/2014/main" id="{6CD21FE1-F1E4-4E14-BF8F-A4D4ED823FBC}"/>
              </a:ext>
            </a:extLst>
          </p:cNvPr>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B76C3FD-32D6-4E41-B7F5-97F8A47A3D0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03</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8DD83EE6-28E8-42E1-9D1D-CEA16A3EF647}"/>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D2CCFA9F-ED6D-4706-AB87-12B0B7099A55}"/>
              </a:ext>
            </a:extLst>
          </p:cNvPr>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a:extLst>
              <a:ext uri="{FF2B5EF4-FFF2-40B4-BE49-F238E27FC236}">
                <a16:creationId xmlns:a16="http://schemas.microsoft.com/office/drawing/2014/main" id="{2F53FD0E-8CED-473A-8132-8C32D5EB7E41}"/>
              </a:ext>
            </a:extLst>
          </p:cNvPr>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a:extLst>
              <a:ext uri="{FF2B5EF4-FFF2-40B4-BE49-F238E27FC236}">
                <a16:creationId xmlns:a16="http://schemas.microsoft.com/office/drawing/2014/main" id="{686A2882-5AAA-4796-ACBF-11DE20417AB5}"/>
              </a:ext>
            </a:extLst>
          </p:cNvPr>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a:extLst>
              <a:ext uri="{FF2B5EF4-FFF2-40B4-BE49-F238E27FC236}">
                <a16:creationId xmlns:a16="http://schemas.microsoft.com/office/drawing/2014/main" id="{965BF0DA-9E98-46CA-BC5A-2F733F99C372}"/>
              </a:ext>
            </a:extLst>
          </p:cNvPr>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44B3714-021E-44F1-A9C0-8DB23D7B89EA}"/>
              </a:ext>
            </a:extLst>
          </p:cNvPr>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extLst>
      <p:ext uri="{BB962C8B-B14F-4D97-AF65-F5344CB8AC3E}">
        <p14:creationId xmlns:p14="http://schemas.microsoft.com/office/powerpoint/2010/main" val="208215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a:extLst>
              <a:ext uri="{FF2B5EF4-FFF2-40B4-BE49-F238E27FC236}">
                <a16:creationId xmlns:a16="http://schemas.microsoft.com/office/drawing/2014/main" id="{F4B8A56B-7F99-43EE-87F0-42D96BE6E0C1}"/>
              </a:ext>
            </a:extLst>
          </p:cNvPr>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AD7A4933-BE2B-4B78-BB0B-EFF272C4458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04</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A73394E7-E5C6-4B02-8A31-9C03D9C6FA0B}"/>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a:extLst>
              <a:ext uri="{FF2B5EF4-FFF2-40B4-BE49-F238E27FC236}">
                <a16:creationId xmlns:a16="http://schemas.microsoft.com/office/drawing/2014/main" id="{9FDAE5AE-1C3F-4A93-B305-B77CDC3F4BE2}"/>
              </a:ext>
            </a:extLst>
          </p:cNvPr>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a:extLst>
              <a:ext uri="{FF2B5EF4-FFF2-40B4-BE49-F238E27FC236}">
                <a16:creationId xmlns:a16="http://schemas.microsoft.com/office/drawing/2014/main" id="{8B831D4E-CDC6-4513-9163-9BB77DDB0516}"/>
              </a:ext>
            </a:extLst>
          </p:cNvPr>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a:extLst>
              <a:ext uri="{FF2B5EF4-FFF2-40B4-BE49-F238E27FC236}">
                <a16:creationId xmlns:a16="http://schemas.microsoft.com/office/drawing/2014/main" id="{25618009-D285-438D-BF60-F87BDBE0685A}"/>
              </a:ext>
            </a:extLst>
          </p:cNvPr>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a:extLst>
              <a:ext uri="{FF2B5EF4-FFF2-40B4-BE49-F238E27FC236}">
                <a16:creationId xmlns:a16="http://schemas.microsoft.com/office/drawing/2014/main" id="{4A10CB81-B3E3-411C-90C9-3480A10EDB9B}"/>
              </a:ext>
            </a:extLst>
          </p:cNvPr>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a:extLst>
              <a:ext uri="{FF2B5EF4-FFF2-40B4-BE49-F238E27FC236}">
                <a16:creationId xmlns:a16="http://schemas.microsoft.com/office/drawing/2014/main" id="{D251409D-FDB9-430B-A00F-D4A65811924B}"/>
              </a:ext>
            </a:extLst>
          </p:cNvPr>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63A1AFEA-57CF-4E71-AF6C-91E549CCF7E6}"/>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12628826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a:extLst>
              <a:ext uri="{FF2B5EF4-FFF2-40B4-BE49-F238E27FC236}">
                <a16:creationId xmlns:a16="http://schemas.microsoft.com/office/drawing/2014/main" id="{03B97F61-153E-4B6E-8D40-C8B9A7E64D60}"/>
              </a:ext>
            </a:extLst>
          </p:cNvPr>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7B2B8D9-D400-4BD8-9CF6-DCEAAC82BDD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05</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F285F31B-D145-4BD9-A54B-96E8E681B170}"/>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a:extLst>
              <a:ext uri="{FF2B5EF4-FFF2-40B4-BE49-F238E27FC236}">
                <a16:creationId xmlns:a16="http://schemas.microsoft.com/office/drawing/2014/main" id="{883EB526-2712-4265-9BF4-5874AAB98515}"/>
              </a:ext>
            </a:extLst>
          </p:cNvPr>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a:extLst>
              <a:ext uri="{FF2B5EF4-FFF2-40B4-BE49-F238E27FC236}">
                <a16:creationId xmlns:a16="http://schemas.microsoft.com/office/drawing/2014/main" id="{C7D4DE0F-D1AF-4276-ADBB-A15A5BFE8CB9}"/>
              </a:ext>
            </a:extLst>
          </p:cNvPr>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a:extLst>
              <a:ext uri="{FF2B5EF4-FFF2-40B4-BE49-F238E27FC236}">
                <a16:creationId xmlns:a16="http://schemas.microsoft.com/office/drawing/2014/main" id="{DFA316F4-7F98-4275-AAEF-578596A20622}"/>
              </a:ext>
            </a:extLst>
          </p:cNvPr>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a:extLst>
              <a:ext uri="{FF2B5EF4-FFF2-40B4-BE49-F238E27FC236}">
                <a16:creationId xmlns:a16="http://schemas.microsoft.com/office/drawing/2014/main" id="{219BA2AF-DF75-4C32-85E3-CB62BA8F7564}"/>
              </a:ext>
            </a:extLst>
          </p:cNvPr>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a:extLst>
              <a:ext uri="{FF2B5EF4-FFF2-40B4-BE49-F238E27FC236}">
                <a16:creationId xmlns:a16="http://schemas.microsoft.com/office/drawing/2014/main" id="{A86D27D2-3D87-4A30-89B6-7FAFD15E7EA4}"/>
              </a:ext>
            </a:extLst>
          </p:cNvPr>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BD5DBA0-D1E0-4B8B-AF12-F77A29B64E62}"/>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38307554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a:extLst>
              <a:ext uri="{FF2B5EF4-FFF2-40B4-BE49-F238E27FC236}">
                <a16:creationId xmlns:a16="http://schemas.microsoft.com/office/drawing/2014/main" id="{60753701-EC64-455B-B060-1320051E3FE3}"/>
              </a:ext>
            </a:extLst>
          </p:cNvPr>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F5CBE861-C433-4078-A9A5-2C401EE3B270}"/>
              </a:ext>
            </a:extLst>
          </p:cNvPr>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06</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23DD6575-0576-4AFA-9BC4-891ADAB845BD}"/>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a:extLst>
              <a:ext uri="{FF2B5EF4-FFF2-40B4-BE49-F238E27FC236}">
                <a16:creationId xmlns:a16="http://schemas.microsoft.com/office/drawing/2014/main" id="{C48532B4-0A1B-49CC-99AA-FE75395721EF}"/>
              </a:ext>
            </a:extLst>
          </p:cNvPr>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a:extLst>
              <a:ext uri="{FF2B5EF4-FFF2-40B4-BE49-F238E27FC236}">
                <a16:creationId xmlns:a16="http://schemas.microsoft.com/office/drawing/2014/main" id="{32356412-5283-4799-9197-98AEACE613AC}"/>
              </a:ext>
            </a:extLst>
          </p:cNvPr>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a:extLst>
              <a:ext uri="{FF2B5EF4-FFF2-40B4-BE49-F238E27FC236}">
                <a16:creationId xmlns:a16="http://schemas.microsoft.com/office/drawing/2014/main" id="{4E421018-60A0-4F10-A9A6-A6EE3BBD8BF9}"/>
              </a:ext>
            </a:extLst>
          </p:cNvPr>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a:extLst>
              <a:ext uri="{FF2B5EF4-FFF2-40B4-BE49-F238E27FC236}">
                <a16:creationId xmlns:a16="http://schemas.microsoft.com/office/drawing/2014/main" id="{9B17F2FA-61E0-4197-AD3A-2DE5104FF5C1}"/>
              </a:ext>
            </a:extLst>
          </p:cNvPr>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a:extLst>
              <a:ext uri="{FF2B5EF4-FFF2-40B4-BE49-F238E27FC236}">
                <a16:creationId xmlns:a16="http://schemas.microsoft.com/office/drawing/2014/main" id="{1C86E54A-170E-4CA4-BE8B-1118DA74B7C4}"/>
              </a:ext>
            </a:extLst>
          </p:cNvPr>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A5976A4D-F088-4D08-ABB4-FDF23F9CA863}"/>
              </a:ext>
            </a:extLst>
          </p:cNvPr>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2982493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a:extLst>
              <a:ext uri="{FF2B5EF4-FFF2-40B4-BE49-F238E27FC236}">
                <a16:creationId xmlns:a16="http://schemas.microsoft.com/office/drawing/2014/main" id="{82CF8FAE-6DBB-42F8-A821-12D15C788E8C}"/>
              </a:ext>
            </a:extLst>
          </p:cNvPr>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a:extLst>
              <a:ext uri="{FF2B5EF4-FFF2-40B4-BE49-F238E27FC236}">
                <a16:creationId xmlns:a16="http://schemas.microsoft.com/office/drawing/2014/main" id="{B958D3BC-E7F4-4914-8CAC-14D6BF0FFFB3}"/>
              </a:ext>
            </a:extLst>
          </p:cNvPr>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a:extLst>
              <a:ext uri="{FF2B5EF4-FFF2-40B4-BE49-F238E27FC236}">
                <a16:creationId xmlns:a16="http://schemas.microsoft.com/office/drawing/2014/main" id="{2453FC77-9263-4C53-8F22-D64EBC3880B1}"/>
              </a:ext>
            </a:extLst>
          </p:cNvPr>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a:extLst>
              <a:ext uri="{FF2B5EF4-FFF2-40B4-BE49-F238E27FC236}">
                <a16:creationId xmlns:a16="http://schemas.microsoft.com/office/drawing/2014/main" id="{9B3BEEB7-FA72-410F-B92D-7D208F847B83}"/>
              </a:ext>
            </a:extLst>
          </p:cNvPr>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20204" pitchFamily="34" charset="0"/>
              </a:rPr>
              <a:t>Contents</a:t>
            </a:r>
            <a:endParaRPr lang="zh-CN" altLang="en-US" sz="4000" b="1" i="0" dirty="0">
              <a:solidFill>
                <a:schemeClr val="bg1"/>
              </a:solidFill>
              <a:latin typeface="Helvetica" pitchFamily="2" charset="0"/>
              <a:ea typeface="+mj-ea"/>
              <a:cs typeface="Arial" panose="020B0604020202020204" pitchFamily="34" charset="0"/>
            </a:endParaRPr>
          </a:p>
        </p:txBody>
      </p:sp>
      <p:pic>
        <p:nvPicPr>
          <p:cNvPr id="47" name="图片 46">
            <a:extLst>
              <a:ext uri="{FF2B5EF4-FFF2-40B4-BE49-F238E27FC236}">
                <a16:creationId xmlns:a16="http://schemas.microsoft.com/office/drawing/2014/main" id="{C02326B7-0E5A-F24B-8BE7-D58545042AA0}"/>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10391880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a:extLst>
              <a:ext uri="{FF2B5EF4-FFF2-40B4-BE49-F238E27FC236}">
                <a16:creationId xmlns:a16="http://schemas.microsoft.com/office/drawing/2014/main" id="{EF621E98-351F-489A-ADCE-3FC79FDE6DDD}"/>
              </a:ext>
            </a:extLst>
          </p:cNvPr>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a:extLst>
              <a:ext uri="{FF2B5EF4-FFF2-40B4-BE49-F238E27FC236}">
                <a16:creationId xmlns:a16="http://schemas.microsoft.com/office/drawing/2014/main" id="{C25A5A92-C8E6-4CA8-AB93-8B885C5EA989}"/>
              </a:ext>
            </a:extLst>
          </p:cNvPr>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a:extLst>
              <a:ext uri="{FF2B5EF4-FFF2-40B4-BE49-F238E27FC236}">
                <a16:creationId xmlns:a16="http://schemas.microsoft.com/office/drawing/2014/main" id="{0B284135-360D-47CC-8BC2-5C03015968F7}"/>
              </a:ext>
            </a:extLst>
          </p:cNvPr>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a:extLst>
              <a:ext uri="{FF2B5EF4-FFF2-40B4-BE49-F238E27FC236}">
                <a16:creationId xmlns:a16="http://schemas.microsoft.com/office/drawing/2014/main" id="{D0824BE2-0B1A-47B1-BAAF-7C29E1879AE7}"/>
              </a:ext>
            </a:extLst>
          </p:cNvPr>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23802034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a:extLst>
              <a:ext uri="{FF2B5EF4-FFF2-40B4-BE49-F238E27FC236}">
                <a16:creationId xmlns:a16="http://schemas.microsoft.com/office/drawing/2014/main" id="{053D6D2E-F110-4473-8442-17B28C05A741}"/>
              </a:ext>
            </a:extLst>
          </p:cNvPr>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a:extLst>
              <a:ext uri="{FF2B5EF4-FFF2-40B4-BE49-F238E27FC236}">
                <a16:creationId xmlns:a16="http://schemas.microsoft.com/office/drawing/2014/main" id="{E6BEB427-D252-4942-9F34-301C642191A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a:extLst>
              <a:ext uri="{FF2B5EF4-FFF2-40B4-BE49-F238E27FC236}">
                <a16:creationId xmlns:a16="http://schemas.microsoft.com/office/drawing/2014/main" id="{17358D7B-1DA9-9E4B-AFF1-9A13B20D43F0}"/>
              </a:ext>
            </a:extLst>
          </p:cNvPr>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a:extLst>
              <a:ext uri="{FF2B5EF4-FFF2-40B4-BE49-F238E27FC236}">
                <a16:creationId xmlns:a16="http://schemas.microsoft.com/office/drawing/2014/main" id="{ACA3C166-80E6-1B4A-AD5B-C8D47456872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2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a:extLst>
              <a:ext uri="{FF2B5EF4-FFF2-40B4-BE49-F238E27FC236}">
                <a16:creationId xmlns:a16="http://schemas.microsoft.com/office/drawing/2014/main" id="{4B77A5BA-0111-5844-9F86-5926B121D3FB}"/>
              </a:ext>
            </a:extLst>
          </p:cNvPr>
          <p:cNvSpPr>
            <a:spLocks noGrp="1"/>
          </p:cNvSpPr>
          <p:nvPr>
            <p:ph type="dt" sz="half" idx="10"/>
          </p:nvPr>
        </p:nvSpPr>
        <p:spPr/>
        <p:txBody>
          <a:bodyPr/>
          <a:lstStyle/>
          <a:p>
            <a:endParaRPr lang="zh-CN" altLang="en-US"/>
          </a:p>
        </p:txBody>
      </p:sp>
      <p:sp>
        <p:nvSpPr>
          <p:cNvPr id="14" name="页脚占位符 13">
            <a:extLst>
              <a:ext uri="{FF2B5EF4-FFF2-40B4-BE49-F238E27FC236}">
                <a16:creationId xmlns:a16="http://schemas.microsoft.com/office/drawing/2014/main" id="{44B829B2-7BD2-9948-8F21-7182730A06BA}"/>
              </a:ext>
            </a:extLst>
          </p:cNvPr>
          <p:cNvSpPr>
            <a:spLocks noGrp="1"/>
          </p:cNvSpPr>
          <p:nvPr>
            <p:ph type="ftr" sz="quarter" idx="11"/>
          </p:nvPr>
        </p:nvSpPr>
        <p:spPr/>
        <p:txBody>
          <a:bodyPr/>
          <a:lstStyle/>
          <a:p>
            <a:endParaRPr lang="zh-CN" altLang="en-US" dirty="0"/>
          </a:p>
        </p:txBody>
      </p:sp>
      <p:sp>
        <p:nvSpPr>
          <p:cNvPr id="15" name="灯片编号占位符 14">
            <a:extLst>
              <a:ext uri="{FF2B5EF4-FFF2-40B4-BE49-F238E27FC236}">
                <a16:creationId xmlns:a16="http://schemas.microsoft.com/office/drawing/2014/main" id="{6280651B-EA0A-1E41-B81D-87E3C43E66B9}"/>
              </a:ext>
            </a:extLst>
          </p:cNvPr>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Tree>
    <p:extLst>
      <p:ext uri="{BB962C8B-B14F-4D97-AF65-F5344CB8AC3E}">
        <p14:creationId xmlns:p14="http://schemas.microsoft.com/office/powerpoint/2010/main" val="21993590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B0862E3-9A13-49FB-8057-D6463602E7B6}"/>
              </a:ext>
            </a:extLst>
          </p:cNvPr>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33B73963-4941-42F0-9B00-7431FEF61A6C}"/>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9C71AABC-C91A-43D0-9AF8-0B6162EDCDD1}"/>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A32A9019-0CBC-4C4A-90F0-2676ED9FCD3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1D06DB6D-BC70-544C-8EA4-3A3874C968F6}"/>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7509407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80DB1628-9D3D-4F59-B275-C695A900F19A}"/>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F01A7288-9F85-304B-887D-2D1E13D7A25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DE14FD2D-7810-B34E-8AFB-9A17BDEA7011}"/>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10545848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a:extLst>
              <a:ext uri="{FF2B5EF4-FFF2-40B4-BE49-F238E27FC236}">
                <a16:creationId xmlns:a16="http://schemas.microsoft.com/office/drawing/2014/main" id="{F03BE017-E7F3-4A34-ABC3-ECA964258175}"/>
              </a:ext>
            </a:extLst>
          </p:cNvPr>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a:extLst>
              <a:ext uri="{FF2B5EF4-FFF2-40B4-BE49-F238E27FC236}">
                <a16:creationId xmlns:a16="http://schemas.microsoft.com/office/drawing/2014/main" id="{D3B0A0DB-185C-4430-9224-1C0A227377F5}"/>
              </a:ext>
            </a:extLst>
          </p:cNvPr>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a:extLst>
              <a:ext uri="{FF2B5EF4-FFF2-40B4-BE49-F238E27FC236}">
                <a16:creationId xmlns:a16="http://schemas.microsoft.com/office/drawing/2014/main" id="{E3FA308D-84A8-4382-ADA4-2CD6EA62223C}"/>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68876A75-1BD3-9D4E-9D34-C6453E6DC7DB}"/>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48222E54-5ACA-6D4B-9A58-9B51C83B622D}"/>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2955622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a:extLst>
              <a:ext uri="{FF2B5EF4-FFF2-40B4-BE49-F238E27FC236}">
                <a16:creationId xmlns:a16="http://schemas.microsoft.com/office/drawing/2014/main" id="{260C43B2-4304-44E2-A6F0-062D59008B9B}"/>
              </a:ext>
            </a:extLst>
          </p:cNvPr>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a:extLst>
              <a:ext uri="{FF2B5EF4-FFF2-40B4-BE49-F238E27FC236}">
                <a16:creationId xmlns:a16="http://schemas.microsoft.com/office/drawing/2014/main" id="{11D8ADCD-C58A-41B8-80C4-2341BB348593}"/>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a:extLst>
              <a:ext uri="{FF2B5EF4-FFF2-40B4-BE49-F238E27FC236}">
                <a16:creationId xmlns:a16="http://schemas.microsoft.com/office/drawing/2014/main" id="{841EB5B4-0657-4AE7-A427-642106D598D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EC81340F-C45F-6B4F-9864-73BF32BA909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31D45924-509B-5D4C-A99D-FF1FB6F34BEF}"/>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6455029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D88D36A-B7BF-4F3A-AA10-0BECE80A557F}"/>
              </a:ext>
            </a:extLst>
          </p:cNvPr>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a:extLst>
              <a:ext uri="{FF2B5EF4-FFF2-40B4-BE49-F238E27FC236}">
                <a16:creationId xmlns:a16="http://schemas.microsoft.com/office/drawing/2014/main" id="{DEC9F75E-9249-4FFE-AF96-E92B201A183F}"/>
              </a:ext>
            </a:extLst>
          </p:cNvPr>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a:extLst>
              <a:ext uri="{FF2B5EF4-FFF2-40B4-BE49-F238E27FC236}">
                <a16:creationId xmlns:a16="http://schemas.microsoft.com/office/drawing/2014/main" id="{E7782F2A-850E-4B5F-8330-CF50AC9EFA7B}"/>
              </a:ext>
            </a:extLst>
          </p:cNvPr>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a:extLst>
              <a:ext uri="{FF2B5EF4-FFF2-40B4-BE49-F238E27FC236}">
                <a16:creationId xmlns:a16="http://schemas.microsoft.com/office/drawing/2014/main" id="{25096E3E-9433-4D85-BA39-301B214A355E}"/>
              </a:ext>
            </a:extLst>
          </p:cNvPr>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DF883148-B063-4C5A-9CC7-CE69774A8C94}"/>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B8A4FF80-ED1E-4D1D-9434-215EB5FB872B}"/>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B3A067A2-39E8-0940-8B54-688BC270D1DC}"/>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7D982EDC-1B4A-034E-9CE9-9172DBAF4898}"/>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413452043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5904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5F00C798-F4CB-49E3-81E0-4CD12D5AEAD6}"/>
              </a:ext>
            </a:extLst>
          </p:cNvPr>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a:extLst>
              <a:ext uri="{FF2B5EF4-FFF2-40B4-BE49-F238E27FC236}">
                <a16:creationId xmlns:a16="http://schemas.microsoft.com/office/drawing/2014/main" id="{8C1695A4-3593-4E25-8722-4214E3CC76B6}"/>
              </a:ext>
            </a:extLst>
          </p:cNvPr>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a:extLst>
              <a:ext uri="{FF2B5EF4-FFF2-40B4-BE49-F238E27FC236}">
                <a16:creationId xmlns:a16="http://schemas.microsoft.com/office/drawing/2014/main" id="{A29C0276-5751-4797-BFA5-F68D05ACBB63}"/>
              </a:ext>
            </a:extLst>
          </p:cNvPr>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a:extLst>
              <a:ext uri="{FF2B5EF4-FFF2-40B4-BE49-F238E27FC236}">
                <a16:creationId xmlns:a16="http://schemas.microsoft.com/office/drawing/2014/main" id="{D85E25CC-A5BC-44E2-9950-5BDC824D9AC1}"/>
              </a:ext>
            </a:extLst>
          </p:cNvPr>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147718268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B2DFB5F-1361-46F4-B3DF-471ECD4DCA18}"/>
              </a:ext>
            </a:extLst>
          </p:cNvPr>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a:extLst>
              <a:ext uri="{FF2B5EF4-FFF2-40B4-BE49-F238E27FC236}">
                <a16:creationId xmlns:a16="http://schemas.microsoft.com/office/drawing/2014/main" id="{385D4CE6-0BBF-450D-B3AB-7C163A40E793}"/>
              </a:ext>
            </a:extLst>
          </p:cNvPr>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extLst>
      <p:ext uri="{BB962C8B-B14F-4D97-AF65-F5344CB8AC3E}">
        <p14:creationId xmlns:p14="http://schemas.microsoft.com/office/powerpoint/2010/main" val="32895653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and Content">
    <p:bg bwMode="auto">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noProof="1"/>
              <a:t>Click to edit Master title style</a:t>
            </a:r>
          </a:p>
        </p:txBody>
      </p:sp>
      <p:sp>
        <p:nvSpPr>
          <p:cNvPr id="8" name="Content Placeholder 7"/>
          <p:cNvSpPr>
            <a:spLocks noGrp="1"/>
          </p:cNvSpPr>
          <p:nvPr>
            <p:ph sz="quarter" idx="1"/>
          </p:nvPr>
        </p:nvSpPr>
        <p:spPr>
          <a:xfrm>
            <a:off x="402336" y="1527048"/>
            <a:ext cx="11338560" cy="45720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3" name="Date Placeholder 3">
            <a:extLst>
              <a:ext uri="{FF2B5EF4-FFF2-40B4-BE49-F238E27FC236}">
                <a16:creationId xmlns:a16="http://schemas.microsoft.com/office/drawing/2014/main" id="{ECD9281A-630A-D647-F925-722D8BECBC47}"/>
              </a:ext>
            </a:extLst>
          </p:cNvPr>
          <p:cNvSpPr>
            <a:spLocks noGrp="1"/>
          </p:cNvSpPr>
          <p:nvPr>
            <p:ph type="dt" sz="half" idx="10"/>
          </p:nvPr>
        </p:nvSpPr>
        <p:spPr/>
        <p:txBody>
          <a:bodyPr/>
          <a:lstStyle>
            <a:lvl1pPr>
              <a:defRPr/>
            </a:lvl1pPr>
          </a:lstStyle>
          <a:p>
            <a:endParaRPr lang="en-US"/>
          </a:p>
        </p:txBody>
      </p:sp>
      <p:sp>
        <p:nvSpPr>
          <p:cNvPr id="4" name="Footer Placeholder 4">
            <a:extLst>
              <a:ext uri="{FF2B5EF4-FFF2-40B4-BE49-F238E27FC236}">
                <a16:creationId xmlns:a16="http://schemas.microsoft.com/office/drawing/2014/main" id="{31B596E2-AA30-6792-684A-C4CF18756D2F}"/>
              </a:ext>
            </a:extLst>
          </p:cNvPr>
          <p:cNvSpPr>
            <a:spLocks noGrp="1"/>
          </p:cNvSpPr>
          <p:nvPr>
            <p:ph type="ftr" sz="quarter" idx="11"/>
          </p:nvPr>
        </p:nvSpPr>
        <p:spPr/>
        <p:txBody>
          <a:bodyPr/>
          <a:lstStyle>
            <a:lvl1pPr>
              <a:defRPr/>
            </a:lvl1pPr>
          </a:lstStyle>
          <a:p>
            <a:r>
              <a:rPr lang="en-US" altLang="zh-CN"/>
              <a:t>Artificial Intelligence a modern approach</a:t>
            </a:r>
          </a:p>
        </p:txBody>
      </p:sp>
      <p:sp>
        <p:nvSpPr>
          <p:cNvPr id="5" name="Slide Number Placeholder 5">
            <a:extLst>
              <a:ext uri="{FF2B5EF4-FFF2-40B4-BE49-F238E27FC236}">
                <a16:creationId xmlns:a16="http://schemas.microsoft.com/office/drawing/2014/main" id="{DF14ED86-3759-CE59-E80F-0BE6032FEE8C}"/>
              </a:ext>
            </a:extLst>
          </p:cNvPr>
          <p:cNvSpPr>
            <a:spLocks noGrp="1"/>
          </p:cNvSpPr>
          <p:nvPr>
            <p:ph type="sldNum" sz="quarter" idx="12"/>
          </p:nvPr>
        </p:nvSpPr>
        <p:spPr>
          <a:xfrm>
            <a:off x="5816600" y="1027114"/>
            <a:ext cx="609600" cy="441325"/>
          </a:xfrm>
        </p:spPr>
        <p:txBody>
          <a:bodyPr/>
          <a:lstStyle>
            <a:lvl1pPr>
              <a:defRPr/>
            </a:lvl1pPr>
          </a:lstStyle>
          <a:p>
            <a:fld id="{5D839138-5554-4A72-89BF-BBFB0D949EB2}" type="slidenum">
              <a:rPr lang="en-US"/>
              <a:pPr/>
              <a:t>‹#›</a:t>
            </a:fld>
            <a:endParaRPr lang="en-US"/>
          </a:p>
        </p:txBody>
      </p:sp>
    </p:spTree>
    <p:extLst>
      <p:ext uri="{BB962C8B-B14F-4D97-AF65-F5344CB8AC3E}">
        <p14:creationId xmlns:p14="http://schemas.microsoft.com/office/powerpoint/2010/main" val="356654921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523B942-3F1B-403C-8E85-6382B2069353}"/>
              </a:ext>
            </a:extLst>
          </p:cNvPr>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DD93AE5-CDDD-4CA4-8BCF-44DD4A71403B}"/>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91383BD-F3E7-403E-84A3-6F01BCC23915}"/>
              </a:ext>
            </a:extLst>
          </p:cNvPr>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a:extLst>
              <a:ext uri="{FF2B5EF4-FFF2-40B4-BE49-F238E27FC236}">
                <a16:creationId xmlns:a16="http://schemas.microsoft.com/office/drawing/2014/main" id="{1B9A1635-4D35-4F49-9AAC-DA6F5F037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a:extLst>
              <a:ext uri="{FF2B5EF4-FFF2-40B4-BE49-F238E27FC236}">
                <a16:creationId xmlns:a16="http://schemas.microsoft.com/office/drawing/2014/main" id="{C16FD9E9-D991-439F-8738-F1CD489BA103}"/>
              </a:ext>
            </a:extLst>
          </p:cNvPr>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pPr/>
              <a:t>‹#›</a:t>
            </a:fld>
            <a:endParaRPr lang="zh-CN" altLang="en-US" dirty="0"/>
          </a:p>
        </p:txBody>
      </p:sp>
      <p:sp>
        <p:nvSpPr>
          <p:cNvPr id="7" name="椭圆 6">
            <a:extLst>
              <a:ext uri="{FF2B5EF4-FFF2-40B4-BE49-F238E27FC236}">
                <a16:creationId xmlns:a16="http://schemas.microsoft.com/office/drawing/2014/main" id="{9994C284-E105-48E5-B7ED-E6DDC39F64AA}"/>
              </a:ext>
            </a:extLst>
          </p:cNvPr>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a:extLst>
              <a:ext uri="{FF2B5EF4-FFF2-40B4-BE49-F238E27FC236}">
                <a16:creationId xmlns:a16="http://schemas.microsoft.com/office/drawing/2014/main" id="{8E9773E7-896B-4ABE-A918-DD345AEA7B33}"/>
              </a:ext>
            </a:extLst>
          </p:cNvPr>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1322824675"/>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62" r:id="rId3"/>
    <p:sldLayoutId id="2147483663" r:id="rId4"/>
    <p:sldLayoutId id="2147483664" r:id="rId5"/>
    <p:sldLayoutId id="2147483665" r:id="rId6"/>
    <p:sldLayoutId id="2147483666" r:id="rId7"/>
    <p:sldLayoutId id="2147483667" r:id="rId8"/>
    <p:sldLayoutId id="2147483661" r:id="rId9"/>
    <p:sldLayoutId id="2147483669" r:id="rId10"/>
    <p:sldLayoutId id="2147483671" r:id="rId11"/>
    <p:sldLayoutId id="2147483674" r:id="rId12"/>
    <p:sldLayoutId id="2147483654" r:id="rId13"/>
    <p:sldLayoutId id="2147483675" r:id="rId14"/>
    <p:sldLayoutId id="2147483672" r:id="rId15"/>
    <p:sldLayoutId id="2147483673" r:id="rId16"/>
    <p:sldLayoutId id="2147483659" r:id="rId17"/>
    <p:sldLayoutId id="2147483657" r:id="rId18"/>
    <p:sldLayoutId id="2147483676" r:id="rId19"/>
    <p:sldLayoutId id="2147483678" r:id="rId20"/>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020933"/>
      </p:ext>
    </p:extLst>
  </p:cSld>
  <p:clrMap bg1="lt1" tx1="dk1" bg2="lt2" tx2="dk2" accent1="accent1" accent2="accent2" accent3="accent3" accent4="accent4" accent5="accent5" accent6="accent6" hlink="hlink" folHlink="folHlink"/>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523B942-3F1B-403C-8E85-6382B2069353}"/>
              </a:ext>
            </a:extLst>
          </p:cNvPr>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DD93AE5-CDDD-4CA4-8BCF-44DD4A71403B}"/>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91383BD-F3E7-403E-84A3-6F01BCC23915}"/>
              </a:ext>
            </a:extLst>
          </p:cNvPr>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a:extLst>
              <a:ext uri="{FF2B5EF4-FFF2-40B4-BE49-F238E27FC236}">
                <a16:creationId xmlns:a16="http://schemas.microsoft.com/office/drawing/2014/main" id="{1B9A1635-4D35-4F49-9AAC-DA6F5F037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a:extLst>
              <a:ext uri="{FF2B5EF4-FFF2-40B4-BE49-F238E27FC236}">
                <a16:creationId xmlns:a16="http://schemas.microsoft.com/office/drawing/2014/main" id="{C16FD9E9-D991-439F-8738-F1CD489BA103}"/>
              </a:ext>
            </a:extLst>
          </p:cNvPr>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pPr/>
              <a:t>‹#›</a:t>
            </a:fld>
            <a:endParaRPr lang="zh-CN" altLang="en-US" dirty="0"/>
          </a:p>
        </p:txBody>
      </p:sp>
      <p:sp>
        <p:nvSpPr>
          <p:cNvPr id="7" name="椭圆 6">
            <a:extLst>
              <a:ext uri="{FF2B5EF4-FFF2-40B4-BE49-F238E27FC236}">
                <a16:creationId xmlns:a16="http://schemas.microsoft.com/office/drawing/2014/main" id="{9994C284-E105-48E5-B7ED-E6DDC39F64AA}"/>
              </a:ext>
            </a:extLst>
          </p:cNvPr>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a:extLst>
              <a:ext uri="{FF2B5EF4-FFF2-40B4-BE49-F238E27FC236}">
                <a16:creationId xmlns:a16="http://schemas.microsoft.com/office/drawing/2014/main" id="{8E9773E7-896B-4ABE-A918-DD345AEA7B33}"/>
              </a:ext>
            </a:extLst>
          </p:cNvPr>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203566215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99" r:id="rId20"/>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hyperlink" Target="http://www.ai.sri.com/~oreilly/aima3ejava/aima3ejavademos.html" TargetMode="Externa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a:extLst>
              <a:ext uri="{FF2B5EF4-FFF2-40B4-BE49-F238E27FC236}">
                <a16:creationId xmlns:a16="http://schemas.microsoft.com/office/drawing/2014/main" id="{D5F3D8B8-541B-475D-AED2-11349A7D54F0}"/>
              </a:ext>
            </a:extLst>
          </p:cNvPr>
          <p:cNvSpPr txBox="1">
            <a:spLocks/>
          </p:cNvSpPr>
          <p:nvPr/>
        </p:nvSpPr>
        <p:spPr>
          <a:xfrm>
            <a:off x="4250993" y="1073654"/>
            <a:ext cx="7021811"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None/>
            </a:pPr>
            <a:r>
              <a:rPr lang="zh-CN" altLang="en-US" sz="6600" b="1" dirty="0">
                <a:solidFill>
                  <a:schemeClr val="accent1"/>
                </a:solidFill>
                <a:cs typeface="+mn-ea"/>
                <a:sym typeface="+mn-lt"/>
              </a:rPr>
              <a:t>智能体</a:t>
            </a:r>
            <a:endParaRPr lang="en-US" altLang="zh-CN" sz="6600" b="1" dirty="0">
              <a:solidFill>
                <a:schemeClr val="accent1"/>
              </a:solidFill>
              <a:cs typeface="+mn-ea"/>
              <a:sym typeface="+mn-lt"/>
            </a:endParaRPr>
          </a:p>
          <a:p>
            <a:pPr marL="0" indent="0" algn="r">
              <a:lnSpc>
                <a:spcPct val="100000"/>
              </a:lnSpc>
              <a:buNone/>
            </a:pPr>
            <a:r>
              <a:rPr lang="en-US" altLang="zh-CN" sz="4000" b="1" dirty="0">
                <a:solidFill>
                  <a:schemeClr val="accent1"/>
                </a:solidFill>
                <a:cs typeface="+mn-ea"/>
                <a:sym typeface="+mn-lt"/>
              </a:rPr>
              <a:t>Intelligent Agents</a:t>
            </a:r>
            <a:endParaRPr lang="zh-CN" altLang="en-US" sz="4000" b="1" dirty="0">
              <a:solidFill>
                <a:schemeClr val="accent1"/>
              </a:solidFill>
              <a:cs typeface="+mn-ea"/>
              <a:sym typeface="+mn-lt"/>
            </a:endParaRPr>
          </a:p>
        </p:txBody>
      </p:sp>
      <p:sp>
        <p:nvSpPr>
          <p:cNvPr id="64" name="矩形 63">
            <a:extLst>
              <a:ext uri="{FF2B5EF4-FFF2-40B4-BE49-F238E27FC236}">
                <a16:creationId xmlns:a16="http://schemas.microsoft.com/office/drawing/2014/main" id="{3FDA94B7-63AB-4449-B259-ABBFB1BD1237}"/>
              </a:ext>
            </a:extLst>
          </p:cNvPr>
          <p:cNvSpPr/>
          <p:nvPr/>
        </p:nvSpPr>
        <p:spPr>
          <a:xfrm>
            <a:off x="8043723" y="4972130"/>
            <a:ext cx="3003067" cy="611578"/>
          </a:xfrm>
          <a:prstGeom prst="rect">
            <a:avLst/>
          </a:prstGeom>
        </p:spPr>
        <p:txBody>
          <a:bodyPr wrap="square" lIns="0" rIns="0">
            <a:spAutoFit/>
          </a:bodyPr>
          <a:lstStyle/>
          <a:p>
            <a:pPr algn="r">
              <a:lnSpc>
                <a:spcPct val="130000"/>
              </a:lnSpc>
            </a:pPr>
            <a:endParaRPr lang="zh-CN" altLang="en-US" sz="2800" dirty="0">
              <a:solidFill>
                <a:schemeClr val="accent1"/>
              </a:solidFill>
              <a:cs typeface="+mn-ea"/>
              <a:sym typeface="+mn-lt"/>
            </a:endParaRPr>
          </a:p>
        </p:txBody>
      </p:sp>
      <p:sp>
        <p:nvSpPr>
          <p:cNvPr id="67" name="矩形 66">
            <a:extLst>
              <a:ext uri="{FF2B5EF4-FFF2-40B4-BE49-F238E27FC236}">
                <a16:creationId xmlns:a16="http://schemas.microsoft.com/office/drawing/2014/main" id="{B696F87A-50D9-4A47-8F75-C4FC6260D652}"/>
              </a:ext>
            </a:extLst>
          </p:cNvPr>
          <p:cNvSpPr/>
          <p:nvPr/>
        </p:nvSpPr>
        <p:spPr>
          <a:xfrm>
            <a:off x="4386263" y="4309656"/>
            <a:ext cx="6751272" cy="611514"/>
          </a:xfrm>
          <a:prstGeom prst="rect">
            <a:avLst/>
          </a:prstGeom>
        </p:spPr>
        <p:txBody>
          <a:bodyPr wrap="square">
            <a:spAutoFit/>
          </a:bodyPr>
          <a:lstStyle/>
          <a:p>
            <a:pPr algn="r">
              <a:lnSpc>
                <a:spcPct val="130000"/>
              </a:lnSpc>
            </a:pPr>
            <a:r>
              <a:rPr lang="zh-CN" altLang="en-US" sz="2800" dirty="0">
                <a:solidFill>
                  <a:schemeClr val="accent1"/>
                </a:solidFill>
                <a:cs typeface="+mn-ea"/>
                <a:sym typeface="+mn-lt"/>
              </a:rPr>
              <a:t>杨旭</a:t>
            </a:r>
            <a:endParaRPr lang="en-US" altLang="zh-CN" sz="2800" dirty="0">
              <a:solidFill>
                <a:schemeClr val="accent1"/>
              </a:solidFill>
              <a:cs typeface="+mn-ea"/>
              <a:sym typeface="+mn-lt"/>
            </a:endParaRPr>
          </a:p>
        </p:txBody>
      </p:sp>
      <p:cxnSp>
        <p:nvCxnSpPr>
          <p:cNvPr id="3" name="直接连接符 2">
            <a:extLst>
              <a:ext uri="{FF2B5EF4-FFF2-40B4-BE49-F238E27FC236}">
                <a16:creationId xmlns:a16="http://schemas.microsoft.com/office/drawing/2014/main" id="{F12F855B-6482-4247-8DD0-5666489F33A1}"/>
              </a:ext>
            </a:extLst>
          </p:cNvPr>
          <p:cNvCxnSpPr/>
          <p:nvPr/>
        </p:nvCxnSpPr>
        <p:spPr>
          <a:xfrm>
            <a:off x="11226555" y="4069080"/>
            <a:ext cx="0" cy="1404000"/>
          </a:xfrm>
          <a:prstGeom prst="line">
            <a:avLst/>
          </a:prstGeom>
          <a:ln w="50800" cmpd="thickThi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32F5BD40-E4DD-D48F-4396-F7C77BE9B75D}"/>
              </a:ext>
            </a:extLst>
          </p:cNvPr>
          <p:cNvSpPr txBox="1"/>
          <p:nvPr/>
        </p:nvSpPr>
        <p:spPr>
          <a:xfrm>
            <a:off x="7267923" y="3969150"/>
            <a:ext cx="3868749" cy="400110"/>
          </a:xfrm>
          <a:prstGeom prst="rect">
            <a:avLst/>
          </a:prstGeom>
          <a:noFill/>
        </p:spPr>
        <p:txBody>
          <a:bodyPr wrap="square">
            <a:spAutoFit/>
          </a:bodyPr>
          <a:lstStyle/>
          <a:p>
            <a:pPr algn="r" eaLnBrk="1" hangingPunct="1">
              <a:buFont typeface="Arial" panose="020B0604020202020204" pitchFamily="34" charset="0"/>
              <a:buNone/>
            </a:pPr>
            <a:r>
              <a:rPr lang="en-US" altLang="zh-CN" sz="2000" b="1" cap="none" dirty="0">
                <a:solidFill>
                  <a:srgbClr val="515223"/>
                </a:solidFill>
                <a:cs typeface="+mn-ea"/>
                <a:sym typeface="+mn-lt"/>
              </a:rPr>
              <a:t>CHAPTER 2</a:t>
            </a:r>
          </a:p>
        </p:txBody>
      </p:sp>
    </p:spTree>
    <p:extLst>
      <p:ext uri="{BB962C8B-B14F-4D97-AF65-F5344CB8AC3E}">
        <p14:creationId xmlns:p14="http://schemas.microsoft.com/office/powerpoint/2010/main" val="3529178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85D104B-EA07-43A9-AEFD-EEEFFF325767}"/>
              </a:ext>
            </a:extLst>
          </p:cNvPr>
          <p:cNvGrpSpPr/>
          <p:nvPr/>
        </p:nvGrpSpPr>
        <p:grpSpPr>
          <a:xfrm>
            <a:off x="3395730" y="1542616"/>
            <a:ext cx="7997342" cy="3622697"/>
            <a:chOff x="3423751" y="1095244"/>
            <a:chExt cx="7997342" cy="3363752"/>
          </a:xfrm>
        </p:grpSpPr>
        <p:sp>
          <p:nvSpPr>
            <p:cNvPr id="129" name="文本框 128">
              <a:extLst>
                <a:ext uri="{FF2B5EF4-FFF2-40B4-BE49-F238E27FC236}">
                  <a16:creationId xmlns:a16="http://schemas.microsoft.com/office/drawing/2014/main" id="{60527AF3-BA7F-490C-9804-7B47DE1C8CB9}"/>
                </a:ext>
              </a:extLst>
            </p:cNvPr>
            <p:cNvSpPr txBox="1"/>
            <p:nvPr/>
          </p:nvSpPr>
          <p:spPr>
            <a:xfrm>
              <a:off x="3426679" y="1095244"/>
              <a:ext cx="7644263" cy="523220"/>
            </a:xfrm>
            <a:prstGeom prst="rect">
              <a:avLst/>
            </a:prstGeom>
            <a:noFill/>
          </p:spPr>
          <p:txBody>
            <a:bodyPr wrap="square" tIns="0" bIns="0" rtlCol="0" anchor="ctr" anchorCtr="0">
              <a:norm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CN" sz="2800" b="1" dirty="0">
                  <a:cs typeface="+mn-ea"/>
                  <a:sym typeface="+mn-lt"/>
                </a:rPr>
                <a:t>01 </a:t>
              </a:r>
              <a:r>
                <a:rPr lang="zh-CN" altLang="en-US" sz="2800" b="1" dirty="0">
                  <a:cs typeface="+mn-ea"/>
                  <a:sym typeface="+mn-lt"/>
                </a:rPr>
                <a:t>智能体和环境</a:t>
              </a:r>
              <a:endParaRPr lang="en-US" altLang="zh-CN" sz="2800" b="1" dirty="0">
                <a:cs typeface="+mn-ea"/>
                <a:sym typeface="+mn-lt"/>
              </a:endParaRPr>
            </a:p>
          </p:txBody>
        </p:sp>
        <p:sp>
          <p:nvSpPr>
            <p:cNvPr id="134" name="文本框 133">
              <a:extLst>
                <a:ext uri="{FF2B5EF4-FFF2-40B4-BE49-F238E27FC236}">
                  <a16:creationId xmlns:a16="http://schemas.microsoft.com/office/drawing/2014/main" id="{6BCE892E-97E1-44B2-97F3-9C58A43D2367}"/>
                </a:ext>
              </a:extLst>
            </p:cNvPr>
            <p:cNvSpPr txBox="1"/>
            <p:nvPr/>
          </p:nvSpPr>
          <p:spPr>
            <a:xfrm>
              <a:off x="3423753" y="1751189"/>
              <a:ext cx="7644263" cy="523220"/>
            </a:xfrm>
            <a:prstGeom prst="rect">
              <a:avLst/>
            </a:prstGeom>
            <a:noFill/>
          </p:spPr>
          <p:txBody>
            <a:bodyPr wrap="square" rtlCol="0" anchor="ctr" anchorCtr="0">
              <a:normAutofit/>
            </a:bodyPr>
            <a:lstStyle/>
            <a:p>
              <a:pPr lvl="0">
                <a:defRPr/>
              </a:pPr>
              <a:r>
                <a:rPr lang="en-US" altLang="zh-CN" sz="2800" b="1" dirty="0">
                  <a:cs typeface="+mn-ea"/>
                  <a:sym typeface="+mn-lt"/>
                </a:rPr>
                <a:t>02 </a:t>
              </a:r>
              <a:r>
                <a:rPr lang="zh-CN" altLang="en-US" sz="2800" b="1" dirty="0">
                  <a:cs typeface="+mn-ea"/>
                  <a:sym typeface="+mn-lt"/>
                </a:rPr>
                <a:t>理性</a:t>
              </a:r>
              <a:endParaRPr lang="en-US" altLang="zh-CN" sz="2800" b="1" dirty="0">
                <a:cs typeface="+mn-ea"/>
                <a:sym typeface="+mn-lt"/>
              </a:endParaRPr>
            </a:p>
          </p:txBody>
        </p:sp>
        <p:sp>
          <p:nvSpPr>
            <p:cNvPr id="139" name="文本框 138">
              <a:extLst>
                <a:ext uri="{FF2B5EF4-FFF2-40B4-BE49-F238E27FC236}">
                  <a16:creationId xmlns:a16="http://schemas.microsoft.com/office/drawing/2014/main" id="{CEB08782-CF07-4C47-B393-0A53B49A7F25}"/>
                </a:ext>
              </a:extLst>
            </p:cNvPr>
            <p:cNvSpPr txBox="1"/>
            <p:nvPr/>
          </p:nvSpPr>
          <p:spPr>
            <a:xfrm>
              <a:off x="3423751" y="2220334"/>
              <a:ext cx="7997342" cy="1102780"/>
            </a:xfrm>
            <a:prstGeom prst="rect">
              <a:avLst/>
            </a:prstGeom>
            <a:noFill/>
          </p:spPr>
          <p:txBody>
            <a:bodyPr wrap="square" rtlCol="0" anchor="ctr" anchorCtr="0">
              <a:noAutofit/>
            </a:bodyPr>
            <a:lstStyle/>
            <a:p>
              <a:pPr lvl="0">
                <a:defRPr/>
              </a:pPr>
              <a:r>
                <a:rPr lang="en-US" altLang="zh-CN" sz="2800" b="1" dirty="0">
                  <a:cs typeface="+mn-ea"/>
                  <a:sym typeface="+mn-lt"/>
                </a:rPr>
                <a:t>03 PEAS (</a:t>
              </a:r>
              <a:r>
                <a:rPr lang="zh-CN" altLang="en-US" sz="2800" b="1" dirty="0">
                  <a:cs typeface="+mn-ea"/>
                  <a:sym typeface="+mn-lt"/>
                </a:rPr>
                <a:t>性能指标、环境、执行器、传感器</a:t>
              </a:r>
              <a:r>
                <a:rPr lang="en-US" altLang="zh-CN" sz="2800" b="1" dirty="0">
                  <a:cs typeface="+mn-ea"/>
                  <a:sym typeface="+mn-lt"/>
                </a:rPr>
                <a:t>)</a:t>
              </a:r>
            </a:p>
          </p:txBody>
        </p:sp>
        <p:sp>
          <p:nvSpPr>
            <p:cNvPr id="144" name="文本框 143">
              <a:extLst>
                <a:ext uri="{FF2B5EF4-FFF2-40B4-BE49-F238E27FC236}">
                  <a16:creationId xmlns:a16="http://schemas.microsoft.com/office/drawing/2014/main" id="{4DD5935B-AB80-4414-B730-1A7FED9B7ACA}"/>
                </a:ext>
              </a:extLst>
            </p:cNvPr>
            <p:cNvSpPr txBox="1"/>
            <p:nvPr/>
          </p:nvSpPr>
          <p:spPr>
            <a:xfrm>
              <a:off x="3423751" y="3237745"/>
              <a:ext cx="7642800" cy="523220"/>
            </a:xfrm>
            <a:prstGeom prst="rect">
              <a:avLst/>
            </a:prstGeom>
            <a:noFill/>
          </p:spPr>
          <p:txBody>
            <a:bodyPr wrap="square" rtlCol="0" anchor="ctr" anchorCtr="0">
              <a:normAutofit/>
            </a:bodyPr>
            <a:lstStyle/>
            <a:p>
              <a:pPr lvl="0">
                <a:defRPr/>
              </a:pPr>
              <a:r>
                <a:rPr lang="en-US" altLang="zh-CN" sz="2800" b="1" dirty="0">
                  <a:cs typeface="+mn-ea"/>
                  <a:sym typeface="+mn-lt"/>
                </a:rPr>
                <a:t>04 </a:t>
              </a:r>
              <a:r>
                <a:rPr lang="zh-CN" altLang="en-US" sz="2800" b="1" dirty="0">
                  <a:cs typeface="+mn-ea"/>
                  <a:sym typeface="+mn-lt"/>
                </a:rPr>
                <a:t>环境种类</a:t>
              </a:r>
              <a:endParaRPr lang="en-US" altLang="zh-CN" sz="2800" b="1" dirty="0">
                <a:cs typeface="+mn-ea"/>
                <a:sym typeface="+mn-lt"/>
              </a:endParaRPr>
            </a:p>
          </p:txBody>
        </p:sp>
        <p:sp>
          <p:nvSpPr>
            <p:cNvPr id="149" name="文本框 148">
              <a:extLst>
                <a:ext uri="{FF2B5EF4-FFF2-40B4-BE49-F238E27FC236}">
                  <a16:creationId xmlns:a16="http://schemas.microsoft.com/office/drawing/2014/main" id="{2EE29C2C-038B-443A-905F-F5F888237985}"/>
                </a:ext>
              </a:extLst>
            </p:cNvPr>
            <p:cNvSpPr txBox="1"/>
            <p:nvPr/>
          </p:nvSpPr>
          <p:spPr>
            <a:xfrm>
              <a:off x="3423751" y="3935776"/>
              <a:ext cx="7642800" cy="523220"/>
            </a:xfrm>
            <a:prstGeom prst="rect">
              <a:avLst/>
            </a:prstGeom>
            <a:noFill/>
          </p:spPr>
          <p:txBody>
            <a:bodyPr wrap="square" rtlCol="0" anchor="ctr" anchorCtr="0">
              <a:normAutofit/>
            </a:bodyPr>
            <a:lstStyle/>
            <a:p>
              <a:pPr lvl="0">
                <a:defRPr/>
              </a:pPr>
              <a:r>
                <a:rPr lang="en-US" altLang="zh-CN" sz="2800" b="1" dirty="0">
                  <a:cs typeface="+mn-ea"/>
                  <a:sym typeface="+mn-lt"/>
                </a:rPr>
                <a:t>05 </a:t>
              </a:r>
              <a:r>
                <a:rPr lang="zh-CN" altLang="en-US" sz="2800" b="1" dirty="0">
                  <a:cs typeface="+mn-ea"/>
                  <a:sym typeface="+mn-lt"/>
                </a:rPr>
                <a:t>智能体种类</a:t>
              </a:r>
              <a:endParaRPr lang="en-US" altLang="zh-CN" sz="2800" b="1" dirty="0">
                <a:cs typeface="+mn-ea"/>
                <a:sym typeface="+mn-lt"/>
              </a:endParaRPr>
            </a:p>
          </p:txBody>
        </p:sp>
      </p:grpSp>
    </p:spTree>
    <p:extLst>
      <p:ext uri="{BB962C8B-B14F-4D97-AF65-F5344CB8AC3E}">
        <p14:creationId xmlns:p14="http://schemas.microsoft.com/office/powerpoint/2010/main" val="209755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16E002FA-3F98-449E-A48F-5543321E9133}"/>
              </a:ext>
            </a:extLst>
          </p:cNvPr>
          <p:cNvSpPr>
            <a:spLocks noGrp="1" noChangeArrowheads="1"/>
          </p:cNvSpPr>
          <p:nvPr>
            <p:ph type="title"/>
          </p:nvPr>
        </p:nvSpPr>
        <p:spPr/>
        <p:txBody>
          <a:bodyPr/>
          <a:lstStyle/>
          <a:p>
            <a:pPr eaLnBrk="1" hangingPunct="1"/>
            <a:r>
              <a:rPr lang="zh-CN" altLang="en-US" dirty="0">
                <a:solidFill>
                  <a:srgbClr val="515223"/>
                </a:solidFill>
                <a:latin typeface="+mn-lt"/>
                <a:ea typeface="+mn-ea"/>
                <a:cs typeface="+mn-ea"/>
                <a:sym typeface="+mn-lt"/>
              </a:rPr>
              <a:t>智能体</a:t>
            </a:r>
            <a:endParaRPr lang="en-US" altLang="zh-CN" dirty="0">
              <a:solidFill>
                <a:srgbClr val="515223"/>
              </a:solidFill>
              <a:latin typeface="+mn-lt"/>
              <a:ea typeface="+mn-ea"/>
              <a:cs typeface="+mn-ea"/>
              <a:sym typeface="+mn-lt"/>
            </a:endParaRPr>
          </a:p>
        </p:txBody>
      </p:sp>
      <p:sp>
        <p:nvSpPr>
          <p:cNvPr id="16386" name="Footer Placeholder 4">
            <a:extLst>
              <a:ext uri="{FF2B5EF4-FFF2-40B4-BE49-F238E27FC236}">
                <a16:creationId xmlns:a16="http://schemas.microsoft.com/office/drawing/2014/main" id="{0BBEA3B0-7731-B75C-566A-00CCDB04F534}"/>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5123" name="Rectangle 3">
            <a:extLst>
              <a:ext uri="{FF2B5EF4-FFF2-40B4-BE49-F238E27FC236}">
                <a16:creationId xmlns:a16="http://schemas.microsoft.com/office/drawing/2014/main" id="{C175B79A-7CA3-9DA3-F1E8-CA5BA070374C}"/>
              </a:ext>
            </a:extLst>
          </p:cNvPr>
          <p:cNvSpPr>
            <a:spLocks noGrp="1" noChangeArrowheads="1"/>
          </p:cNvSpPr>
          <p:nvPr>
            <p:ph sz="quarter" idx="4294967295"/>
          </p:nvPr>
        </p:nvSpPr>
        <p:spPr>
          <a:xfrm>
            <a:off x="1091255" y="1513215"/>
            <a:ext cx="10293374" cy="4572000"/>
          </a:xfrm>
        </p:spPr>
        <p:txBody>
          <a:bodyPr>
            <a:normAutofit lnSpcReduction="10000"/>
          </a:bodyPr>
          <a:lstStyle/>
          <a:p>
            <a:pPr eaLnBrk="1" hangingPunct="1">
              <a:lnSpc>
                <a:spcPct val="100000"/>
              </a:lnSpc>
              <a:buFont typeface="Arial" panose="020B0604020202020204" pitchFamily="34" charset="0"/>
              <a:buChar char="•"/>
            </a:pPr>
            <a:r>
              <a:rPr lang="zh-CN" altLang="en-US" dirty="0">
                <a:latin typeface="+mn-lt"/>
                <a:cs typeface="+mn-ea"/>
                <a:sym typeface="+mn-lt"/>
              </a:rPr>
              <a:t>一个</a:t>
            </a:r>
            <a:r>
              <a:rPr lang="zh-CN" altLang="en-US" b="1" dirty="0">
                <a:solidFill>
                  <a:srgbClr val="C00000"/>
                </a:solidFill>
                <a:latin typeface="+mn-lt"/>
                <a:cs typeface="+mn-ea"/>
                <a:sym typeface="+mn-lt"/>
              </a:rPr>
              <a:t>智能体（</a:t>
            </a:r>
            <a:r>
              <a:rPr lang="en-US" altLang="zh-CN" b="1" dirty="0">
                <a:solidFill>
                  <a:srgbClr val="C00000"/>
                </a:solidFill>
                <a:latin typeface="+mn-lt"/>
                <a:cs typeface="+mn-ea"/>
                <a:sym typeface="+mn-lt"/>
              </a:rPr>
              <a:t>Agent</a:t>
            </a:r>
            <a:r>
              <a:rPr lang="zh-CN" altLang="en-US" b="1" dirty="0">
                <a:solidFill>
                  <a:srgbClr val="C00000"/>
                </a:solidFill>
                <a:latin typeface="+mn-lt"/>
                <a:cs typeface="+mn-ea"/>
                <a:sym typeface="+mn-lt"/>
              </a:rPr>
              <a:t>）</a:t>
            </a:r>
            <a:r>
              <a:rPr lang="zh-CN" altLang="en-US" dirty="0">
                <a:latin typeface="+mn-lt"/>
                <a:cs typeface="+mn-ea"/>
                <a:sym typeface="+mn-lt"/>
              </a:rPr>
              <a:t>是指任何可以被视为通过</a:t>
            </a:r>
            <a:r>
              <a:rPr lang="zh-CN" altLang="en-US" b="1" dirty="0">
                <a:solidFill>
                  <a:srgbClr val="C00000"/>
                </a:solidFill>
                <a:latin typeface="+mn-lt"/>
                <a:cs typeface="+mn-ea"/>
                <a:sym typeface="+mn-lt"/>
              </a:rPr>
              <a:t>传感器感知其环境</a:t>
            </a:r>
            <a:r>
              <a:rPr lang="zh-CN" altLang="en-US" dirty="0">
                <a:latin typeface="+mn-lt"/>
                <a:cs typeface="+mn-ea"/>
                <a:sym typeface="+mn-lt"/>
              </a:rPr>
              <a:t>并通过</a:t>
            </a:r>
            <a:r>
              <a:rPr lang="zh-CN" altLang="en-US" b="1" dirty="0">
                <a:solidFill>
                  <a:srgbClr val="C00000"/>
                </a:solidFill>
                <a:latin typeface="+mn-lt"/>
                <a:cs typeface="+mn-ea"/>
                <a:sym typeface="+mn-lt"/>
              </a:rPr>
              <a:t>执行器对该环境采取行动</a:t>
            </a:r>
            <a:r>
              <a:rPr lang="zh-CN" altLang="en-US" dirty="0">
                <a:latin typeface="+mn-lt"/>
                <a:cs typeface="+mn-ea"/>
                <a:sym typeface="+mn-lt"/>
              </a:rPr>
              <a:t>的物体</a:t>
            </a:r>
            <a:endParaRPr lang="en-US" altLang="zh-CN" dirty="0">
              <a:latin typeface="+mn-lt"/>
              <a:cs typeface="+mn-ea"/>
              <a:sym typeface="+mn-lt"/>
            </a:endParaRPr>
          </a:p>
          <a:p>
            <a:pPr eaLnBrk="1" hangingPunct="1">
              <a:lnSpc>
                <a:spcPct val="100000"/>
              </a:lnSpc>
              <a:buFont typeface="Arial" panose="020B0604020202020204" pitchFamily="34" charset="0"/>
              <a:buChar char="•"/>
            </a:pPr>
            <a:endParaRPr lang="en-US" altLang="zh-CN" dirty="0">
              <a:latin typeface="+mn-lt"/>
              <a:cs typeface="+mn-ea"/>
              <a:sym typeface="+mn-lt"/>
            </a:endParaRPr>
          </a:p>
          <a:p>
            <a:pPr eaLnBrk="1" hangingPunct="1">
              <a:lnSpc>
                <a:spcPct val="100000"/>
              </a:lnSpc>
              <a:buFont typeface="Arial" panose="020B0604020202020204" pitchFamily="34" charset="0"/>
              <a:buChar char="•"/>
            </a:pPr>
            <a:r>
              <a:rPr lang="zh-CN" altLang="en-US" dirty="0">
                <a:latin typeface="+mn-lt"/>
                <a:cs typeface="+mn-ea"/>
                <a:sym typeface="+mn-lt"/>
              </a:rPr>
              <a:t>人类智能体</a:t>
            </a:r>
            <a:r>
              <a:rPr lang="en-US" altLang="zh-CN" dirty="0">
                <a:latin typeface="+mn-lt"/>
                <a:cs typeface="+mn-ea"/>
                <a:sym typeface="+mn-lt"/>
              </a:rPr>
              <a:t>: </a:t>
            </a:r>
          </a:p>
          <a:p>
            <a:pPr lvl="1">
              <a:lnSpc>
                <a:spcPct val="100000"/>
              </a:lnSpc>
              <a:buFont typeface="Arial" panose="020B0604020202020204" pitchFamily="34" charset="0"/>
              <a:buChar char="–"/>
            </a:pPr>
            <a:r>
              <a:rPr lang="zh-CN" altLang="en-US" dirty="0">
                <a:solidFill>
                  <a:srgbClr val="0070C0"/>
                </a:solidFill>
                <a:latin typeface="+mn-lt"/>
                <a:cs typeface="+mn-ea"/>
                <a:sym typeface="+mn-lt"/>
              </a:rPr>
              <a:t>用于传感器的眼睛、耳朵和其他器官；</a:t>
            </a:r>
            <a:endParaRPr lang="en-US" altLang="zh-CN" dirty="0">
              <a:solidFill>
                <a:srgbClr val="0070C0"/>
              </a:solidFill>
              <a:latin typeface="+mn-lt"/>
              <a:cs typeface="+mn-ea"/>
              <a:sym typeface="+mn-lt"/>
            </a:endParaRPr>
          </a:p>
          <a:p>
            <a:pPr lvl="1">
              <a:lnSpc>
                <a:spcPct val="100000"/>
              </a:lnSpc>
              <a:buFont typeface="Arial" panose="020B0604020202020204" pitchFamily="34" charset="0"/>
              <a:buChar char="–"/>
            </a:pPr>
            <a:r>
              <a:rPr lang="zh-CN" altLang="en-US" dirty="0">
                <a:solidFill>
                  <a:srgbClr val="0070C0"/>
                </a:solidFill>
                <a:latin typeface="+mn-lt"/>
                <a:cs typeface="+mn-ea"/>
                <a:sym typeface="+mn-lt"/>
              </a:rPr>
              <a:t>充当执行器的手、腿、嘴和其他身体部位</a:t>
            </a:r>
            <a:endParaRPr lang="en-US" altLang="zh-CN" dirty="0">
              <a:solidFill>
                <a:srgbClr val="0070C0"/>
              </a:solidFill>
              <a:latin typeface="+mn-lt"/>
              <a:cs typeface="+mn-ea"/>
              <a:sym typeface="+mn-lt"/>
            </a:endParaRPr>
          </a:p>
          <a:p>
            <a:pPr lvl="1">
              <a:lnSpc>
                <a:spcPct val="100000"/>
              </a:lnSpc>
              <a:buFont typeface="Arial" panose="020B0604020202020204" pitchFamily="34" charset="0"/>
              <a:buChar char="–"/>
            </a:pPr>
            <a:endParaRPr lang="en-US" altLang="zh-CN" dirty="0">
              <a:latin typeface="+mn-lt"/>
              <a:cs typeface="+mn-ea"/>
              <a:sym typeface="+mn-lt"/>
            </a:endParaRPr>
          </a:p>
          <a:p>
            <a:pPr eaLnBrk="1" hangingPunct="1">
              <a:lnSpc>
                <a:spcPct val="100000"/>
              </a:lnSpc>
              <a:buFont typeface="Arial" panose="020B0604020202020204" pitchFamily="34" charset="0"/>
              <a:buChar char="•"/>
            </a:pPr>
            <a:r>
              <a:rPr lang="zh-CN" altLang="en-US" dirty="0">
                <a:latin typeface="+mn-lt"/>
                <a:cs typeface="+mn-ea"/>
                <a:sym typeface="+mn-lt"/>
              </a:rPr>
              <a:t>机器智能体</a:t>
            </a:r>
            <a:r>
              <a:rPr lang="en-US" altLang="zh-CN" dirty="0">
                <a:latin typeface="+mn-lt"/>
                <a:cs typeface="+mn-ea"/>
                <a:sym typeface="+mn-lt"/>
              </a:rPr>
              <a:t>:</a:t>
            </a:r>
          </a:p>
          <a:p>
            <a:pPr lvl="1">
              <a:lnSpc>
                <a:spcPct val="100000"/>
              </a:lnSpc>
              <a:buFont typeface="Arial" panose="020B0604020202020204" pitchFamily="34" charset="0"/>
              <a:buChar char="–"/>
            </a:pPr>
            <a:r>
              <a:rPr lang="zh-CN" altLang="en-US" dirty="0">
                <a:solidFill>
                  <a:srgbClr val="0070C0"/>
                </a:solidFill>
                <a:latin typeface="+mn-lt"/>
                <a:cs typeface="+mn-ea"/>
                <a:sym typeface="+mn-lt"/>
              </a:rPr>
              <a:t>传感器用相机和红外测距仪</a:t>
            </a:r>
            <a:endParaRPr lang="en-US" altLang="zh-CN" dirty="0">
              <a:solidFill>
                <a:srgbClr val="0070C0"/>
              </a:solidFill>
              <a:latin typeface="+mn-lt"/>
              <a:cs typeface="+mn-ea"/>
              <a:sym typeface="+mn-lt"/>
            </a:endParaRPr>
          </a:p>
          <a:p>
            <a:pPr lvl="1">
              <a:lnSpc>
                <a:spcPct val="100000"/>
              </a:lnSpc>
              <a:buFont typeface="Arial" panose="020B0604020202020204" pitchFamily="34" charset="0"/>
              <a:buChar char="–"/>
            </a:pPr>
            <a:r>
              <a:rPr lang="zh-CN" altLang="en-US" dirty="0">
                <a:solidFill>
                  <a:srgbClr val="0070C0"/>
                </a:solidFill>
                <a:latin typeface="+mn-lt"/>
                <a:cs typeface="+mn-ea"/>
                <a:sym typeface="+mn-lt"/>
              </a:rPr>
              <a:t>用于执行器的各种电机</a:t>
            </a:r>
            <a:endParaRPr lang="en-US" altLang="zh-CN" dirty="0">
              <a:solidFill>
                <a:srgbClr val="0070C0"/>
              </a:solidFill>
              <a:latin typeface="+mn-lt"/>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2" end="2"/>
                                            </p:txEl>
                                          </p:spTgt>
                                        </p:tgtEl>
                                        <p:attrNameLst>
                                          <p:attrName>style.visibility</p:attrName>
                                        </p:attrNameLst>
                                      </p:cBhvr>
                                      <p:to>
                                        <p:strVal val="visible"/>
                                      </p:to>
                                    </p:set>
                                  </p:childTnLst>
                                </p:cTn>
                              </p:par>
                              <p:par>
                                <p:cTn id="7" presetID="3" presetClass="entr" presetSubtype="10" fill="hold" nodeType="withEffect">
                                  <p:stCondLst>
                                    <p:cond delay="0"/>
                                  </p:stCondLst>
                                  <p:childTnLst>
                                    <p:set>
                                      <p:cBhvr>
                                        <p:cTn id="8" dur="1" fill="hold">
                                          <p:stCondLst>
                                            <p:cond delay="0"/>
                                          </p:stCondLst>
                                        </p:cTn>
                                        <p:tgtEl>
                                          <p:spTgt spid="5123">
                                            <p:txEl>
                                              <p:pRg st="3" end="3"/>
                                            </p:txEl>
                                          </p:spTgt>
                                        </p:tgtEl>
                                        <p:attrNameLst>
                                          <p:attrName>style.visibility</p:attrName>
                                        </p:attrNameLst>
                                      </p:cBhvr>
                                      <p:to>
                                        <p:strVal val="visible"/>
                                      </p:to>
                                    </p:set>
                                    <p:animEffect transition="in" filter="blinds(horizontal)">
                                      <p:cBhvr>
                                        <p:cTn id="9" dur="500"/>
                                        <p:tgtEl>
                                          <p:spTgt spid="5123">
                                            <p:txEl>
                                              <p:pRg st="3" end="3"/>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123">
                                            <p:txEl>
                                              <p:pRg st="7" end="7"/>
                                            </p:txEl>
                                          </p:spTgt>
                                        </p:tgtEl>
                                        <p:attrNameLst>
                                          <p:attrName>style.visibility</p:attrName>
                                        </p:attrNameLst>
                                      </p:cBhvr>
                                      <p:to>
                                        <p:strVal val="visible"/>
                                      </p:to>
                                    </p:set>
                                    <p:animEffect transition="in" filter="blinds(horizontal)">
                                      <p:cBhvr>
                                        <p:cTn id="18" dur="500"/>
                                        <p:tgtEl>
                                          <p:spTgt spid="51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90E902EB-0355-4E7B-D8C7-F539BB123435}"/>
              </a:ext>
            </a:extLst>
          </p:cNvPr>
          <p:cNvSpPr>
            <a:spLocks noGrp="1" noChangeArrowheads="1"/>
          </p:cNvSpPr>
          <p:nvPr>
            <p:ph type="title"/>
          </p:nvPr>
        </p:nvSpPr>
        <p:spPr/>
        <p:txBody>
          <a:bodyPr/>
          <a:lstStyle/>
          <a:p>
            <a:pPr eaLnBrk="1" hangingPunct="1"/>
            <a:r>
              <a:rPr lang="zh-CN" altLang="en-US" dirty="0">
                <a:solidFill>
                  <a:srgbClr val="515223"/>
                </a:solidFill>
                <a:latin typeface="+mn-lt"/>
                <a:ea typeface="+mn-ea"/>
                <a:cs typeface="+mn-ea"/>
                <a:sym typeface="+mn-lt"/>
              </a:rPr>
              <a:t>智能体和环境</a:t>
            </a:r>
            <a:endParaRPr lang="en-US" altLang="zh-CN" dirty="0">
              <a:solidFill>
                <a:srgbClr val="515223"/>
              </a:solidFill>
              <a:latin typeface="+mn-lt"/>
              <a:ea typeface="+mn-ea"/>
              <a:cs typeface="+mn-ea"/>
              <a:sym typeface="+mn-lt"/>
            </a:endParaRPr>
          </a:p>
        </p:txBody>
      </p:sp>
      <p:sp>
        <p:nvSpPr>
          <p:cNvPr id="17410" name="Footer Placeholder 5">
            <a:extLst>
              <a:ext uri="{FF2B5EF4-FFF2-40B4-BE49-F238E27FC236}">
                <a16:creationId xmlns:a16="http://schemas.microsoft.com/office/drawing/2014/main" id="{5DDF6FDA-813C-07D5-B26F-4B6820785D0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6147" name="Rectangle 3">
            <a:extLst>
              <a:ext uri="{FF2B5EF4-FFF2-40B4-BE49-F238E27FC236}">
                <a16:creationId xmlns:a16="http://schemas.microsoft.com/office/drawing/2014/main" id="{8250514E-13B0-77B1-4F74-61891E577A1A}"/>
              </a:ext>
            </a:extLst>
          </p:cNvPr>
          <p:cNvSpPr>
            <a:spLocks noGrp="1" noChangeArrowheads="1"/>
          </p:cNvSpPr>
          <p:nvPr>
            <p:ph sz="quarter" idx="4294967295"/>
          </p:nvPr>
        </p:nvSpPr>
        <p:spPr>
          <a:xfrm>
            <a:off x="986528" y="1758306"/>
            <a:ext cx="10218944" cy="4572000"/>
          </a:xfrm>
        </p:spPr>
        <p:txBody>
          <a:bodyPr/>
          <a:lstStyle/>
          <a:p>
            <a:pPr eaLnBrk="1" hangingPunct="1">
              <a:lnSpc>
                <a:spcPct val="90000"/>
              </a:lnSpc>
              <a:buFont typeface="Wingdings 2" panose="05020102010507070707" pitchFamily="18" charset="2"/>
              <a:buNone/>
            </a:pPr>
            <a:endParaRPr lang="en-US" altLang="zh-CN" sz="2600" dirty="0">
              <a:latin typeface="+mn-lt"/>
              <a:cs typeface="+mn-ea"/>
              <a:sym typeface="+mn-lt"/>
            </a:endParaRPr>
          </a:p>
          <a:p>
            <a:pPr eaLnBrk="1" hangingPunct="1">
              <a:lnSpc>
                <a:spcPct val="90000"/>
              </a:lnSpc>
              <a:buFont typeface="Wingdings 2" panose="05020102010507070707" pitchFamily="18" charset="2"/>
              <a:buNone/>
            </a:pPr>
            <a:endParaRPr lang="en-US" altLang="zh-CN" sz="2600" dirty="0">
              <a:latin typeface="+mn-lt"/>
              <a:cs typeface="+mn-ea"/>
              <a:sym typeface="+mn-lt"/>
            </a:endParaRPr>
          </a:p>
          <a:p>
            <a:pPr eaLnBrk="1" hangingPunct="1">
              <a:lnSpc>
                <a:spcPct val="90000"/>
              </a:lnSpc>
              <a:buFont typeface="Wingdings 2" panose="05020102010507070707" pitchFamily="18" charset="2"/>
              <a:buNone/>
            </a:pPr>
            <a:endParaRPr lang="en-US" altLang="zh-CN" sz="2600" dirty="0">
              <a:latin typeface="+mn-lt"/>
              <a:cs typeface="+mn-ea"/>
              <a:sym typeface="+mn-lt"/>
            </a:endParaRPr>
          </a:p>
          <a:p>
            <a:r>
              <a:rPr lang="zh-CN" altLang="en-US" sz="2600" dirty="0">
                <a:latin typeface="+mn-lt"/>
                <a:cs typeface="+mn-ea"/>
                <a:sym typeface="+mn-lt"/>
              </a:rPr>
              <a:t>该智能体从历史感知数据匹配到动作的函数：</a:t>
            </a:r>
            <a:endParaRPr lang="en-US" altLang="zh-CN" sz="2600" dirty="0">
              <a:latin typeface="+mn-lt"/>
              <a:cs typeface="+mn-ea"/>
              <a:sym typeface="+mn-lt"/>
            </a:endParaRPr>
          </a:p>
          <a:p>
            <a:pPr algn="ctr">
              <a:buNone/>
            </a:pPr>
            <a:r>
              <a:rPr lang="en-US" altLang="zh-CN" sz="2600" dirty="0">
                <a:latin typeface="+mn-lt"/>
                <a:cs typeface="+mn-ea"/>
                <a:sym typeface="+mn-lt"/>
              </a:rPr>
              <a:t>[</a:t>
            </a:r>
            <a:r>
              <a:rPr lang="en-US" altLang="zh-CN" sz="2600" i="1" dirty="0">
                <a:latin typeface="+mn-lt"/>
                <a:cs typeface="+mn-ea"/>
                <a:sym typeface="+mn-lt"/>
              </a:rPr>
              <a:t>f</a:t>
            </a:r>
            <a:r>
              <a:rPr lang="en-US" altLang="zh-CN" sz="2600" dirty="0">
                <a:latin typeface="+mn-lt"/>
                <a:cs typeface="+mn-ea"/>
                <a:sym typeface="+mn-lt"/>
              </a:rPr>
              <a:t>: P*  A]
</a:t>
            </a:r>
          </a:p>
          <a:p>
            <a:pPr eaLnBrk="1" hangingPunct="1">
              <a:lnSpc>
                <a:spcPct val="90000"/>
              </a:lnSpc>
              <a:buFont typeface="Arial" panose="020B0604020202020204" pitchFamily="34" charset="0"/>
              <a:buChar char="•"/>
            </a:pPr>
            <a:r>
              <a:rPr lang="zh-CN" altLang="en-US" sz="2600" dirty="0">
                <a:latin typeface="+mn-lt"/>
                <a:cs typeface="+mn-ea"/>
                <a:sym typeface="+mn-lt"/>
              </a:rPr>
              <a:t>该智能体程序在物理结构上运行产生函数</a:t>
            </a:r>
            <a:r>
              <a:rPr lang="en-US" altLang="zh-CN" sz="2600" i="1" dirty="0">
                <a:latin typeface="+mn-lt"/>
                <a:cs typeface="+mn-ea"/>
                <a:sym typeface="+mn-lt"/>
              </a:rPr>
              <a:t>f</a:t>
            </a:r>
            <a:endParaRPr lang="en-US" altLang="zh-CN" sz="2600" dirty="0">
              <a:latin typeface="+mn-lt"/>
              <a:cs typeface="+mn-ea"/>
              <a:sym typeface="+mn-lt"/>
            </a:endParaRPr>
          </a:p>
          <a:p>
            <a:pPr eaLnBrk="1" hangingPunct="1">
              <a:lnSpc>
                <a:spcPct val="90000"/>
              </a:lnSpc>
              <a:buFont typeface="Arial" panose="020B0604020202020204" pitchFamily="34" charset="0"/>
              <a:buChar char="•"/>
            </a:pPr>
            <a:r>
              <a:rPr lang="zh-CN" altLang="en-US" sz="2600" dirty="0">
                <a:latin typeface="+mn-lt"/>
                <a:cs typeface="+mn-ea"/>
                <a:sym typeface="+mn-lt"/>
              </a:rPr>
              <a:t>智能体</a:t>
            </a:r>
            <a:r>
              <a:rPr lang="en-US" altLang="zh-CN" sz="2600" dirty="0">
                <a:latin typeface="+mn-lt"/>
                <a:cs typeface="+mn-ea"/>
                <a:sym typeface="+mn-lt"/>
              </a:rPr>
              <a:t> = </a:t>
            </a:r>
            <a:r>
              <a:rPr lang="zh-CN" altLang="en-US" sz="2600" dirty="0">
                <a:latin typeface="+mn-lt"/>
                <a:cs typeface="+mn-ea"/>
                <a:sym typeface="+mn-lt"/>
              </a:rPr>
              <a:t>架构</a:t>
            </a:r>
            <a:r>
              <a:rPr lang="en-US" altLang="zh-CN" sz="2600" dirty="0">
                <a:latin typeface="+mn-lt"/>
                <a:cs typeface="+mn-ea"/>
                <a:sym typeface="+mn-lt"/>
              </a:rPr>
              <a:t> + </a:t>
            </a:r>
            <a:r>
              <a:rPr lang="zh-CN" altLang="en-US" sz="2600" dirty="0">
                <a:latin typeface="+mn-lt"/>
                <a:cs typeface="+mn-ea"/>
                <a:sym typeface="+mn-lt"/>
              </a:rPr>
              <a:t>程序</a:t>
            </a:r>
            <a:endParaRPr lang="en-US" altLang="zh-CN" sz="2600" dirty="0">
              <a:latin typeface="+mn-lt"/>
              <a:cs typeface="+mn-ea"/>
              <a:sym typeface="+mn-lt"/>
            </a:endParaRPr>
          </a:p>
        </p:txBody>
      </p:sp>
      <p:pic>
        <p:nvPicPr>
          <p:cNvPr id="6148" name="Picture 4" descr="agent-environment">
            <a:extLst>
              <a:ext uri="{FF2B5EF4-FFF2-40B4-BE49-F238E27FC236}">
                <a16:creationId xmlns:a16="http://schemas.microsoft.com/office/drawing/2014/main" id="{16F6D906-BF57-7A1A-FE84-90E957C3E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3109" y="1028699"/>
            <a:ext cx="4385782" cy="1980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blinds(horizontal)">
                                      <p:cBhvr>
                                        <p:cTn id="7" dur="500"/>
                                        <p:tgtEl>
                                          <p:spTgt spid="61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2" dur="500"/>
                                        <p:tgtEl>
                                          <p:spTgt spid="6147">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147">
                                            <p:txEl>
                                              <p:pRg st="4" end="4"/>
                                            </p:txEl>
                                          </p:spTgt>
                                        </p:tgtEl>
                                        <p:attrNameLst>
                                          <p:attrName>style.visibility</p:attrName>
                                        </p:attrNameLst>
                                      </p:cBhvr>
                                      <p:to>
                                        <p:strVal val="visible"/>
                                      </p:to>
                                    </p:set>
                                    <p:animEffect transition="in" filter="blinds(horizontal)">
                                      <p:cBhvr>
                                        <p:cTn id="15" dur="500"/>
                                        <p:tgtEl>
                                          <p:spTgt spid="6147">
                                            <p:txEl>
                                              <p:pRg st="4" end="4"/>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6147">
                                            <p:txEl>
                                              <p:pRg st="5" end="5"/>
                                            </p:txEl>
                                          </p:spTgt>
                                        </p:tgtEl>
                                        <p:attrNameLst>
                                          <p:attrName>style.visibility</p:attrName>
                                        </p:attrNameLst>
                                      </p:cBhvr>
                                      <p:to>
                                        <p:strVal val="visible"/>
                                      </p:to>
                                    </p:set>
                                    <p:animEffect transition="in" filter="blinds(horizontal)">
                                      <p:cBhvr>
                                        <p:cTn id="20" dur="500"/>
                                        <p:tgtEl>
                                          <p:spTgt spid="6147">
                                            <p:txEl>
                                              <p:pRg st="5" end="5"/>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6147">
                                            <p:txEl>
                                              <p:pRg st="6" end="6"/>
                                            </p:txEl>
                                          </p:spTgt>
                                        </p:tgtEl>
                                        <p:attrNameLst>
                                          <p:attrName>style.visibility</p:attrName>
                                        </p:attrNameLst>
                                      </p:cBhvr>
                                      <p:to>
                                        <p:strVal val="visible"/>
                                      </p:to>
                                    </p:set>
                                    <p:animEffect transition="in" filter="blinds(horizontal)">
                                      <p:cBhvr>
                                        <p:cTn id="23" dur="500"/>
                                        <p:tgtEl>
                                          <p:spTgt spid="61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DA81A193-78D0-A503-CE45-FBC5FF6A9468}"/>
              </a:ext>
            </a:extLst>
          </p:cNvPr>
          <p:cNvSpPr>
            <a:spLocks noGrp="1" noChangeArrowheads="1"/>
          </p:cNvSpPr>
          <p:nvPr>
            <p:ph type="title"/>
          </p:nvPr>
        </p:nvSpPr>
        <p:spPr/>
        <p:txBody>
          <a:bodyPr/>
          <a:lstStyle/>
          <a:p>
            <a:pPr eaLnBrk="1" hangingPunct="1"/>
            <a:r>
              <a:rPr lang="zh-CN" altLang="en-US" dirty="0">
                <a:solidFill>
                  <a:srgbClr val="515223"/>
                </a:solidFill>
                <a:latin typeface="+mn-lt"/>
                <a:ea typeface="+mn-ea"/>
                <a:cs typeface="+mn-ea"/>
                <a:sym typeface="+mn-lt"/>
              </a:rPr>
              <a:t>吸尘器世界</a:t>
            </a:r>
            <a:endParaRPr lang="en-US" altLang="zh-CN" dirty="0">
              <a:solidFill>
                <a:srgbClr val="515223"/>
              </a:solidFill>
              <a:latin typeface="+mn-lt"/>
              <a:ea typeface="+mn-ea"/>
              <a:cs typeface="+mn-ea"/>
              <a:sym typeface="+mn-lt"/>
            </a:endParaRPr>
          </a:p>
        </p:txBody>
      </p:sp>
      <p:sp>
        <p:nvSpPr>
          <p:cNvPr id="19458" name="Footer Placeholder 6">
            <a:extLst>
              <a:ext uri="{FF2B5EF4-FFF2-40B4-BE49-F238E27FC236}">
                <a16:creationId xmlns:a16="http://schemas.microsoft.com/office/drawing/2014/main" id="{F3829B51-CAF6-B614-D32F-00357B3182D0}"/>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7171" name="Rectangle 3">
            <a:extLst>
              <a:ext uri="{FF2B5EF4-FFF2-40B4-BE49-F238E27FC236}">
                <a16:creationId xmlns:a16="http://schemas.microsoft.com/office/drawing/2014/main" id="{410F904F-5C60-0F77-D2A3-31B85E7322ED}"/>
              </a:ext>
            </a:extLst>
          </p:cNvPr>
          <p:cNvSpPr>
            <a:spLocks noGrp="1" noChangeArrowheads="1"/>
          </p:cNvSpPr>
          <p:nvPr>
            <p:ph sz="quarter" idx="4294967295"/>
          </p:nvPr>
        </p:nvSpPr>
        <p:spPr>
          <a:xfrm>
            <a:off x="1091255" y="1851818"/>
            <a:ext cx="9951347" cy="4525963"/>
          </a:xfrm>
        </p:spPr>
        <p:txBody>
          <a:bodyPr/>
          <a:lstStyle/>
          <a:p>
            <a:pPr eaLnBrk="1" hangingPunct="1"/>
            <a:endParaRPr lang="en-US" altLang="zh-CN" dirty="0">
              <a:latin typeface="+mn-lt"/>
              <a:cs typeface="+mn-ea"/>
              <a:sym typeface="+mn-lt"/>
            </a:endParaRPr>
          </a:p>
          <a:p>
            <a:pPr eaLnBrk="1" hangingPunct="1"/>
            <a:r>
              <a:rPr lang="zh-CN" altLang="en-US" sz="2400" dirty="0">
                <a:latin typeface="+mn-lt"/>
                <a:cs typeface="+mn-ea"/>
                <a:sym typeface="+mn-lt"/>
              </a:rPr>
              <a:t>感知器</a:t>
            </a:r>
            <a:r>
              <a:rPr lang="en-US" altLang="zh-CN" sz="2400" dirty="0">
                <a:latin typeface="+mn-lt"/>
                <a:cs typeface="+mn-ea"/>
                <a:sym typeface="+mn-lt"/>
              </a:rPr>
              <a:t>: </a:t>
            </a:r>
            <a:r>
              <a:rPr lang="zh-CN" altLang="en-US" sz="2400" dirty="0">
                <a:latin typeface="+mn-lt"/>
                <a:cs typeface="+mn-ea"/>
                <a:sym typeface="+mn-lt"/>
              </a:rPr>
              <a:t>位置和内容</a:t>
            </a:r>
            <a:r>
              <a:rPr lang="en-US" altLang="zh-CN" sz="2400" dirty="0">
                <a:latin typeface="+mn-lt"/>
                <a:cs typeface="+mn-ea"/>
                <a:sym typeface="+mn-lt"/>
              </a:rPr>
              <a:t>, e.g., [</a:t>
            </a:r>
            <a:r>
              <a:rPr lang="en-US" altLang="zh-CN" sz="2400" dirty="0" err="1">
                <a:latin typeface="+mn-lt"/>
                <a:cs typeface="+mn-ea"/>
                <a:sym typeface="+mn-lt"/>
              </a:rPr>
              <a:t>A,Dirty</a:t>
            </a:r>
            <a:r>
              <a:rPr lang="en-US" altLang="zh-CN" sz="2400" dirty="0">
                <a:latin typeface="+mn-lt"/>
                <a:cs typeface="+mn-ea"/>
                <a:sym typeface="+mn-lt"/>
              </a:rPr>
              <a:t>]</a:t>
            </a:r>
          </a:p>
          <a:p>
            <a:pPr eaLnBrk="1" hangingPunct="1"/>
            <a:r>
              <a:rPr lang="zh-CN" altLang="en-US" sz="2400" dirty="0">
                <a:latin typeface="+mn-lt"/>
                <a:cs typeface="+mn-ea"/>
                <a:sym typeface="+mn-lt"/>
              </a:rPr>
              <a:t>动作</a:t>
            </a:r>
            <a:r>
              <a:rPr lang="en-US" altLang="zh-CN" sz="2400" dirty="0">
                <a:latin typeface="+mn-lt"/>
                <a:cs typeface="+mn-ea"/>
                <a:sym typeface="+mn-lt"/>
              </a:rPr>
              <a:t>: </a:t>
            </a:r>
            <a:r>
              <a:rPr lang="en-US" altLang="zh-CN" sz="2400" i="1" dirty="0">
                <a:latin typeface="+mn-lt"/>
                <a:cs typeface="+mn-ea"/>
                <a:sym typeface="+mn-lt"/>
              </a:rPr>
              <a:t>Left</a:t>
            </a:r>
            <a:r>
              <a:rPr lang="en-US" altLang="zh-CN" sz="2400" dirty="0">
                <a:latin typeface="+mn-lt"/>
                <a:cs typeface="+mn-ea"/>
                <a:sym typeface="+mn-lt"/>
              </a:rPr>
              <a:t>, </a:t>
            </a:r>
            <a:r>
              <a:rPr lang="en-US" altLang="zh-CN" sz="2400" i="1" dirty="0">
                <a:latin typeface="+mn-lt"/>
                <a:cs typeface="+mn-ea"/>
                <a:sym typeface="+mn-lt"/>
              </a:rPr>
              <a:t>Right</a:t>
            </a:r>
            <a:r>
              <a:rPr lang="en-US" altLang="zh-CN" sz="2400" dirty="0">
                <a:latin typeface="+mn-lt"/>
                <a:cs typeface="+mn-ea"/>
                <a:sym typeface="+mn-lt"/>
              </a:rPr>
              <a:t>, </a:t>
            </a:r>
            <a:r>
              <a:rPr lang="en-US" altLang="zh-CN" sz="2400" i="1" dirty="0">
                <a:latin typeface="+mn-lt"/>
                <a:cs typeface="+mn-ea"/>
                <a:sym typeface="+mn-lt"/>
              </a:rPr>
              <a:t>Suck</a:t>
            </a:r>
            <a:r>
              <a:rPr lang="en-US" altLang="zh-CN" sz="2400" dirty="0">
                <a:latin typeface="+mn-lt"/>
                <a:cs typeface="+mn-ea"/>
                <a:sym typeface="+mn-lt"/>
              </a:rPr>
              <a:t>, </a:t>
            </a:r>
            <a:r>
              <a:rPr lang="en-US" altLang="zh-CN" sz="2400" i="1" dirty="0" err="1">
                <a:latin typeface="+mn-lt"/>
                <a:cs typeface="+mn-ea"/>
                <a:sym typeface="+mn-lt"/>
              </a:rPr>
              <a:t>NoOp</a:t>
            </a:r>
            <a:r>
              <a:rPr lang="zh-CN" altLang="en-US" sz="2400" i="1" dirty="0">
                <a:latin typeface="+mn-lt"/>
                <a:cs typeface="+mn-ea"/>
                <a:sym typeface="+mn-lt"/>
              </a:rPr>
              <a:t>（左、右、吸、空）</a:t>
            </a:r>
            <a:endParaRPr lang="en-US" altLang="zh-CN" sz="2400" i="1" dirty="0">
              <a:latin typeface="+mn-lt"/>
              <a:cs typeface="+mn-ea"/>
              <a:sym typeface="+mn-lt"/>
            </a:endParaRPr>
          </a:p>
          <a:p>
            <a:pPr eaLnBrk="1" hangingPunct="1"/>
            <a:r>
              <a:rPr lang="zh-CN" altLang="en-US" sz="2400" i="1" dirty="0">
                <a:latin typeface="+mn-lt"/>
                <a:cs typeface="+mn-ea"/>
                <a:sym typeface="+mn-lt"/>
              </a:rPr>
              <a:t>智能体程序：</a:t>
            </a:r>
            <a:r>
              <a:rPr lang="en-US" altLang="zh-CN" sz="2400" i="1" dirty="0">
                <a:latin typeface="+mn-lt"/>
                <a:cs typeface="+mn-ea"/>
                <a:sym typeface="+mn-lt"/>
              </a:rPr>
              <a:t> </a:t>
            </a:r>
            <a:r>
              <a:rPr lang="zh-CN" altLang="en-US" sz="2400" i="1" dirty="0">
                <a:latin typeface="+mn-lt"/>
                <a:cs typeface="+mn-ea"/>
                <a:sym typeface="+mn-lt"/>
              </a:rPr>
              <a:t>下述表格</a:t>
            </a:r>
          </a:p>
        </p:txBody>
      </p:sp>
      <p:pic>
        <p:nvPicPr>
          <p:cNvPr id="7172" name="Picture 4" descr="vacuum2-environment">
            <a:extLst>
              <a:ext uri="{FF2B5EF4-FFF2-40B4-BE49-F238E27FC236}">
                <a16:creationId xmlns:a16="http://schemas.microsoft.com/office/drawing/2014/main" id="{A97BD493-6FDA-0868-1213-7C5F3136D3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8172" y="1200586"/>
            <a:ext cx="2115966" cy="1083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a:extLst>
              <a:ext uri="{FF2B5EF4-FFF2-40B4-BE49-F238E27FC236}">
                <a16:creationId xmlns:a16="http://schemas.microsoft.com/office/drawing/2014/main" id="{8DB796B9-51D6-E2FF-F00A-212C81E8AC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3382" y="3769518"/>
            <a:ext cx="6737350" cy="224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TextBox 7">
            <a:extLst>
              <a:ext uri="{FF2B5EF4-FFF2-40B4-BE49-F238E27FC236}">
                <a16:creationId xmlns:a16="http://schemas.microsoft.com/office/drawing/2014/main" id="{DA7CCF93-A836-F369-1617-7AA4877D543C}"/>
              </a:ext>
            </a:extLst>
          </p:cNvPr>
          <p:cNvSpPr txBox="1">
            <a:spLocks noChangeArrowheads="1"/>
          </p:cNvSpPr>
          <p:nvPr/>
        </p:nvSpPr>
        <p:spPr bwMode="auto">
          <a:xfrm>
            <a:off x="3593033" y="2086173"/>
            <a:ext cx="614718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400" dirty="0">
                <a:latin typeface="+mn-lt"/>
                <a:cs typeface="+mn-ea"/>
                <a:sym typeface="+mn-lt"/>
              </a:rPr>
              <a:t>Demo: </a:t>
            </a:r>
            <a:r>
              <a:rPr lang="en-US" altLang="zh-CN" sz="1400" dirty="0">
                <a:latin typeface="+mn-lt"/>
                <a:cs typeface="+mn-ea"/>
                <a:sym typeface="+mn-lt"/>
                <a:hlinkClick r:id="rId5"/>
              </a:rPr>
              <a:t>http://www.ai.sri.com/~oreilly/aima3ejava/aima3ejavademos.html</a:t>
            </a:r>
            <a:endParaRPr lang="en-US" altLang="zh-CN" sz="1400" dirty="0">
              <a:latin typeface="+mn-lt"/>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fade">
                                      <p:cBhvr>
                                        <p:cTn id="7" dur="500"/>
                                        <p:tgtEl>
                                          <p:spTgt spid="717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463"/>
                                        </p:tgtEl>
                                        <p:attrNameLst>
                                          <p:attrName>style.visibility</p:attrName>
                                        </p:attrNameLst>
                                      </p:cBhvr>
                                      <p:to>
                                        <p:strVal val="visible"/>
                                      </p:to>
                                    </p:set>
                                    <p:animEffect transition="in" filter="fade">
                                      <p:cBhvr>
                                        <p:cTn id="10" dur="500"/>
                                        <p:tgtEl>
                                          <p:spTgt spid="1946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171">
                                            <p:txEl>
                                              <p:pRg st="1" end="1"/>
                                            </p:txEl>
                                          </p:spTgt>
                                        </p:tgtEl>
                                        <p:attrNameLst>
                                          <p:attrName>style.visibility</p:attrName>
                                        </p:attrNameLst>
                                      </p:cBhvr>
                                      <p:to>
                                        <p:strVal val="visible"/>
                                      </p:to>
                                    </p:set>
                                    <p:animEffect transition="in" filter="blinds(horizontal)">
                                      <p:cBhvr>
                                        <p:cTn id="15" dur="500"/>
                                        <p:tgtEl>
                                          <p:spTgt spid="7171">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7171">
                                            <p:txEl>
                                              <p:pRg st="2" end="2"/>
                                            </p:txEl>
                                          </p:spTgt>
                                        </p:tgtEl>
                                        <p:attrNameLst>
                                          <p:attrName>style.visibility</p:attrName>
                                        </p:attrNameLst>
                                      </p:cBhvr>
                                      <p:to>
                                        <p:strVal val="visible"/>
                                      </p:to>
                                    </p:set>
                                    <p:animEffect transition="in" filter="blinds(horizontal)">
                                      <p:cBhvr>
                                        <p:cTn id="20" dur="500"/>
                                        <p:tgtEl>
                                          <p:spTgt spid="7171">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7171">
                                            <p:txEl>
                                              <p:pRg st="3" end="3"/>
                                            </p:txEl>
                                          </p:spTgt>
                                        </p:tgtEl>
                                        <p:attrNameLst>
                                          <p:attrName>style.visibility</p:attrName>
                                        </p:attrNameLst>
                                      </p:cBhvr>
                                      <p:to>
                                        <p:strVal val="visible"/>
                                      </p:to>
                                    </p:set>
                                    <p:animEffect transition="in" filter="blinds(horizontal)">
                                      <p:cBhvr>
                                        <p:cTn id="25" dur="500"/>
                                        <p:tgtEl>
                                          <p:spTgt spid="7171">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1027"/>
                                        </p:tgtEl>
                                        <p:attrNameLst>
                                          <p:attrName>style.visibility</p:attrName>
                                        </p:attrNameLst>
                                      </p:cBhvr>
                                      <p:to>
                                        <p:strVal val="visible"/>
                                      </p:to>
                                    </p:set>
                                    <p:animEffect transition="in" filter="blinds(horizontal)">
                                      <p:cBhvr>
                                        <p:cTn id="30"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DCBCB435-963E-06E6-8C18-E9FE46D127DA}"/>
              </a:ext>
            </a:extLst>
          </p:cNvPr>
          <p:cNvSpPr>
            <a:spLocks noGrp="1" noChangeArrowheads="1"/>
          </p:cNvSpPr>
          <p:nvPr>
            <p:ph type="title"/>
          </p:nvPr>
        </p:nvSpPr>
        <p:spPr/>
        <p:txBody>
          <a:bodyPr/>
          <a:lstStyle/>
          <a:p>
            <a:pPr eaLnBrk="1" hangingPunct="1"/>
            <a:r>
              <a:rPr lang="zh-CN" altLang="en-US" dirty="0">
                <a:solidFill>
                  <a:srgbClr val="515223"/>
                </a:solidFill>
                <a:latin typeface="+mn-lt"/>
                <a:ea typeface="+mn-ea"/>
                <a:cs typeface="+mn-ea"/>
                <a:sym typeface="+mn-lt"/>
              </a:rPr>
              <a:t>理性智能体</a:t>
            </a:r>
            <a:endParaRPr lang="en-US" altLang="zh-CN" dirty="0">
              <a:solidFill>
                <a:srgbClr val="515223"/>
              </a:solidFill>
              <a:latin typeface="+mn-lt"/>
              <a:ea typeface="+mn-ea"/>
              <a:cs typeface="+mn-ea"/>
              <a:sym typeface="+mn-lt"/>
            </a:endParaRPr>
          </a:p>
        </p:txBody>
      </p:sp>
      <p:sp>
        <p:nvSpPr>
          <p:cNvPr id="21506" name="Footer Placeholder 4">
            <a:extLst>
              <a:ext uri="{FF2B5EF4-FFF2-40B4-BE49-F238E27FC236}">
                <a16:creationId xmlns:a16="http://schemas.microsoft.com/office/drawing/2014/main" id="{D86961A7-2E54-A165-593B-D45A0EF497F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dirty="0">
                <a:solidFill>
                  <a:srgbClr val="FFFFFF"/>
                </a:solidFill>
                <a:latin typeface="+mn-lt"/>
                <a:cs typeface="+mn-ea"/>
                <a:sym typeface="+mn-lt"/>
              </a:rPr>
              <a:t>Artificial Intelligence a modern approach</a:t>
            </a:r>
          </a:p>
        </p:txBody>
      </p:sp>
      <p:sp>
        <p:nvSpPr>
          <p:cNvPr id="10243" name="Rectangle 3">
            <a:extLst>
              <a:ext uri="{FF2B5EF4-FFF2-40B4-BE49-F238E27FC236}">
                <a16:creationId xmlns:a16="http://schemas.microsoft.com/office/drawing/2014/main" id="{F837D49F-8692-54CA-96B6-BF74A608202E}"/>
              </a:ext>
            </a:extLst>
          </p:cNvPr>
          <p:cNvSpPr>
            <a:spLocks noGrp="1" noChangeArrowheads="1"/>
          </p:cNvSpPr>
          <p:nvPr>
            <p:ph sz="quarter" idx="4294967295"/>
          </p:nvPr>
        </p:nvSpPr>
        <p:spPr>
          <a:xfrm>
            <a:off x="1091255" y="1548115"/>
            <a:ext cx="10644733" cy="4572000"/>
          </a:xfrm>
        </p:spPr>
        <p:txBody>
          <a:bodyPr>
            <a:normAutofit/>
          </a:bodyPr>
          <a:lstStyle/>
          <a:p>
            <a:pPr>
              <a:lnSpc>
                <a:spcPct val="120000"/>
              </a:lnSpc>
            </a:pPr>
            <a:r>
              <a:rPr lang="zh-CN" altLang="en-US" sz="2500" dirty="0">
                <a:solidFill>
                  <a:srgbClr val="FF0000"/>
                </a:solidFill>
                <a:latin typeface="+mn-lt"/>
                <a:cs typeface="+mn-ea"/>
                <a:sym typeface="+mn-lt"/>
              </a:rPr>
              <a:t>理性智能体</a:t>
            </a:r>
            <a:r>
              <a:rPr lang="en-US" altLang="zh-CN" sz="2500" dirty="0">
                <a:latin typeface="+mn-lt"/>
                <a:cs typeface="+mn-ea"/>
                <a:sym typeface="+mn-lt"/>
              </a:rPr>
              <a:t>: </a:t>
            </a:r>
            <a:r>
              <a:rPr lang="zh-CN" altLang="en-US" sz="2500" dirty="0">
                <a:latin typeface="+mn-lt"/>
                <a:cs typeface="+mn-ea"/>
                <a:sym typeface="+mn-lt"/>
              </a:rPr>
              <a:t>理性的智能体对于每一种可能的感知序列，一个理性智能体应选择一项行动，该行动有望在给定感知序列所提供的证据以及智能体所拥有的任何内置知识的情况下，最大化其性能指标。</a:t>
            </a:r>
            <a:endParaRPr lang="en-US" altLang="zh-CN" sz="2500" dirty="0">
              <a:latin typeface="+mn-lt"/>
              <a:cs typeface="+mn-ea"/>
              <a:sym typeface="+mn-lt"/>
            </a:endParaRPr>
          </a:p>
          <a:p>
            <a:pPr>
              <a:lnSpc>
                <a:spcPct val="120000"/>
              </a:lnSpc>
            </a:pPr>
            <a:endParaRPr lang="en-US" altLang="zh-CN" sz="2500" dirty="0">
              <a:solidFill>
                <a:srgbClr val="FF0000"/>
              </a:solidFill>
              <a:latin typeface="+mn-lt"/>
              <a:cs typeface="+mn-ea"/>
              <a:sym typeface="+mn-lt"/>
            </a:endParaRPr>
          </a:p>
          <a:p>
            <a:pPr eaLnBrk="1" hangingPunct="1">
              <a:lnSpc>
                <a:spcPct val="120000"/>
              </a:lnSpc>
              <a:buFont typeface="Arial" panose="020B0604020202020204" pitchFamily="34" charset="0"/>
              <a:buChar char="•"/>
            </a:pPr>
            <a:r>
              <a:rPr lang="zh-CN" altLang="en-US" sz="2500" dirty="0">
                <a:solidFill>
                  <a:srgbClr val="FF0000"/>
                </a:solidFill>
                <a:latin typeface="+mn-lt"/>
                <a:cs typeface="+mn-ea"/>
                <a:sym typeface="+mn-lt"/>
              </a:rPr>
              <a:t>理性</a:t>
            </a:r>
            <a:endParaRPr lang="en-US" altLang="zh-CN" sz="2500" dirty="0">
              <a:solidFill>
                <a:srgbClr val="FF0000"/>
              </a:solidFill>
              <a:latin typeface="+mn-lt"/>
              <a:cs typeface="+mn-ea"/>
              <a:sym typeface="+mn-lt"/>
            </a:endParaRPr>
          </a:p>
          <a:p>
            <a:pPr lvl="1" eaLnBrk="1" hangingPunct="1">
              <a:lnSpc>
                <a:spcPct val="120000"/>
              </a:lnSpc>
              <a:buFont typeface="Arial" panose="020B0604020202020204" pitchFamily="34" charset="0"/>
              <a:buChar char="–"/>
            </a:pPr>
            <a:r>
              <a:rPr lang="zh-CN" altLang="en-US" sz="2000" dirty="0">
                <a:solidFill>
                  <a:srgbClr val="0070C0"/>
                </a:solidFill>
                <a:latin typeface="+mn-lt"/>
                <a:cs typeface="+mn-ea"/>
                <a:sym typeface="+mn-lt"/>
              </a:rPr>
              <a:t>衡量成功的功效</a:t>
            </a:r>
            <a:endParaRPr lang="en-US" altLang="zh-CN" sz="2000" dirty="0">
              <a:solidFill>
                <a:srgbClr val="0070C0"/>
              </a:solidFill>
              <a:latin typeface="+mn-lt"/>
              <a:cs typeface="+mn-ea"/>
              <a:sym typeface="+mn-lt"/>
            </a:endParaRPr>
          </a:p>
          <a:p>
            <a:pPr lvl="1" eaLnBrk="1" hangingPunct="1">
              <a:lnSpc>
                <a:spcPct val="120000"/>
              </a:lnSpc>
              <a:buFont typeface="Arial" panose="020B0604020202020204" pitchFamily="34" charset="0"/>
              <a:buChar char="–"/>
            </a:pPr>
            <a:r>
              <a:rPr lang="zh-CN" altLang="en-US" sz="2000" dirty="0">
                <a:solidFill>
                  <a:srgbClr val="0070C0"/>
                </a:solidFill>
                <a:latin typeface="+mn-lt"/>
                <a:cs typeface="+mn-ea"/>
                <a:sym typeface="+mn-lt"/>
              </a:rPr>
              <a:t>智能体对环境的先验知识</a:t>
            </a:r>
            <a:endParaRPr lang="en-US" altLang="zh-CN" sz="2000" dirty="0">
              <a:solidFill>
                <a:srgbClr val="0070C0"/>
              </a:solidFill>
              <a:latin typeface="+mn-lt"/>
              <a:cs typeface="+mn-ea"/>
              <a:sym typeface="+mn-lt"/>
            </a:endParaRPr>
          </a:p>
          <a:p>
            <a:pPr lvl="1" eaLnBrk="1" hangingPunct="1">
              <a:lnSpc>
                <a:spcPct val="120000"/>
              </a:lnSpc>
              <a:buFont typeface="Arial" panose="020B0604020202020204" pitchFamily="34" charset="0"/>
              <a:buChar char="–"/>
            </a:pPr>
            <a:r>
              <a:rPr lang="zh-CN" altLang="en-US" sz="2000" dirty="0">
                <a:solidFill>
                  <a:srgbClr val="0070C0"/>
                </a:solidFill>
                <a:latin typeface="+mn-lt"/>
                <a:cs typeface="+mn-ea"/>
                <a:sym typeface="+mn-lt"/>
              </a:rPr>
              <a:t>智能体可执行的操作</a:t>
            </a:r>
            <a:endParaRPr lang="en-US" altLang="zh-CN" sz="2000" dirty="0">
              <a:solidFill>
                <a:srgbClr val="0070C0"/>
              </a:solidFill>
              <a:latin typeface="+mn-lt"/>
              <a:cs typeface="+mn-ea"/>
              <a:sym typeface="+mn-lt"/>
            </a:endParaRPr>
          </a:p>
          <a:p>
            <a:pPr lvl="1" eaLnBrk="1" hangingPunct="1">
              <a:lnSpc>
                <a:spcPct val="120000"/>
              </a:lnSpc>
              <a:buFont typeface="Arial" panose="020B0604020202020204" pitchFamily="34" charset="0"/>
              <a:buChar char="–"/>
            </a:pPr>
            <a:r>
              <a:rPr lang="zh-CN" altLang="en-US" sz="2000" dirty="0">
                <a:solidFill>
                  <a:srgbClr val="0070C0"/>
                </a:solidFill>
                <a:latin typeface="+mn-lt"/>
                <a:cs typeface="+mn-ea"/>
                <a:sym typeface="+mn-lt"/>
              </a:rPr>
              <a:t>智能体迄今为止的感知序列</a:t>
            </a:r>
            <a:endParaRPr lang="en-US" altLang="zh-CN" sz="2000" dirty="0">
              <a:latin typeface="+mn-lt"/>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animEffect transition="in" filter="fade">
                                      <p:cBhvr>
                                        <p:cTn id="7" dur="500"/>
                                        <p:tgtEl>
                                          <p:spTgt spid="1024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243">
                                            <p:txEl>
                                              <p:pRg st="3" end="3"/>
                                            </p:txEl>
                                          </p:spTgt>
                                        </p:tgtEl>
                                        <p:attrNameLst>
                                          <p:attrName>style.visibility</p:attrName>
                                        </p:attrNameLst>
                                      </p:cBhvr>
                                      <p:to>
                                        <p:strVal val="visible"/>
                                      </p:to>
                                    </p:set>
                                    <p:animEffect transition="in" filter="fade">
                                      <p:cBhvr>
                                        <p:cTn id="10" dur="500"/>
                                        <p:tgtEl>
                                          <p:spTgt spid="1024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243">
                                            <p:txEl>
                                              <p:pRg st="4" end="4"/>
                                            </p:txEl>
                                          </p:spTgt>
                                        </p:tgtEl>
                                        <p:attrNameLst>
                                          <p:attrName>style.visibility</p:attrName>
                                        </p:attrNameLst>
                                      </p:cBhvr>
                                      <p:to>
                                        <p:strVal val="visible"/>
                                      </p:to>
                                    </p:set>
                                    <p:animEffect transition="in" filter="fade">
                                      <p:cBhvr>
                                        <p:cTn id="13" dur="500"/>
                                        <p:tgtEl>
                                          <p:spTgt spid="1024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243">
                                            <p:txEl>
                                              <p:pRg st="5" end="5"/>
                                            </p:txEl>
                                          </p:spTgt>
                                        </p:tgtEl>
                                        <p:attrNameLst>
                                          <p:attrName>style.visibility</p:attrName>
                                        </p:attrNameLst>
                                      </p:cBhvr>
                                      <p:to>
                                        <p:strVal val="visible"/>
                                      </p:to>
                                    </p:set>
                                    <p:animEffect transition="in" filter="fade">
                                      <p:cBhvr>
                                        <p:cTn id="16" dur="500"/>
                                        <p:tgtEl>
                                          <p:spTgt spid="1024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0243">
                                            <p:txEl>
                                              <p:pRg st="6" end="6"/>
                                            </p:txEl>
                                          </p:spTgt>
                                        </p:tgtEl>
                                        <p:attrNameLst>
                                          <p:attrName>style.visibility</p:attrName>
                                        </p:attrNameLst>
                                      </p:cBhvr>
                                      <p:to>
                                        <p:strVal val="visible"/>
                                      </p:to>
                                    </p:set>
                                    <p:animEffect transition="in" filter="fade">
                                      <p:cBhvr>
                                        <p:cTn id="19" dur="500"/>
                                        <p:tgtEl>
                                          <p:spTgt spid="102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881F89A-97EC-F1E7-D591-39E9B7647ADE}"/>
              </a:ext>
            </a:extLst>
          </p:cNvPr>
          <p:cNvSpPr>
            <a:spLocks noGrp="1" noChangeArrowheads="1"/>
          </p:cNvSpPr>
          <p:nvPr>
            <p:ph type="title"/>
          </p:nvPr>
        </p:nvSpPr>
        <p:spPr/>
        <p:txBody>
          <a:bodyPr/>
          <a:lstStyle/>
          <a:p>
            <a:pPr eaLnBrk="1" hangingPunct="1"/>
            <a:r>
              <a:rPr lang="zh-CN" altLang="en-US" dirty="0">
                <a:solidFill>
                  <a:srgbClr val="515223"/>
                </a:solidFill>
                <a:latin typeface="+mn-lt"/>
                <a:ea typeface="+mn-ea"/>
                <a:cs typeface="+mn-ea"/>
                <a:sym typeface="+mn-lt"/>
              </a:rPr>
              <a:t>理性</a:t>
            </a:r>
            <a:endParaRPr lang="en-US" altLang="zh-CN" dirty="0">
              <a:solidFill>
                <a:srgbClr val="515223"/>
              </a:solidFill>
              <a:latin typeface="+mn-lt"/>
              <a:ea typeface="+mn-ea"/>
              <a:cs typeface="+mn-ea"/>
              <a:sym typeface="+mn-lt"/>
            </a:endParaRPr>
          </a:p>
        </p:txBody>
      </p:sp>
      <p:sp>
        <p:nvSpPr>
          <p:cNvPr id="23554" name="Footer Placeholder 4">
            <a:extLst>
              <a:ext uri="{FF2B5EF4-FFF2-40B4-BE49-F238E27FC236}">
                <a16:creationId xmlns:a16="http://schemas.microsoft.com/office/drawing/2014/main" id="{4536C200-443A-8523-16F4-CD80EB015D3F}"/>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3" name="Content Placeholder 2">
            <a:extLst>
              <a:ext uri="{FF2B5EF4-FFF2-40B4-BE49-F238E27FC236}">
                <a16:creationId xmlns:a16="http://schemas.microsoft.com/office/drawing/2014/main" id="{F146841D-C399-0D68-222B-440CE9E5C67C}"/>
              </a:ext>
            </a:extLst>
          </p:cNvPr>
          <p:cNvSpPr>
            <a:spLocks noGrp="1" noChangeArrowheads="1"/>
          </p:cNvSpPr>
          <p:nvPr>
            <p:ph sz="quarter" idx="4294967295"/>
          </p:nvPr>
        </p:nvSpPr>
        <p:spPr>
          <a:xfrm>
            <a:off x="1091254" y="1527175"/>
            <a:ext cx="9923427" cy="4572000"/>
          </a:xfrm>
        </p:spPr>
        <p:txBody>
          <a:bodyPr/>
          <a:lstStyle/>
          <a:p>
            <a:pPr>
              <a:lnSpc>
                <a:spcPct val="100000"/>
              </a:lnSpc>
            </a:pPr>
            <a:r>
              <a:rPr lang="zh-CN" altLang="en-US" dirty="0">
                <a:latin typeface="+mn-lt"/>
                <a:cs typeface="+mn-ea"/>
                <a:sym typeface="+mn-lt"/>
              </a:rPr>
              <a:t>理性不同于全知</a:t>
            </a:r>
            <a:endParaRPr lang="en-US" altLang="zh-CN" dirty="0">
              <a:latin typeface="+mn-lt"/>
              <a:cs typeface="+mn-ea"/>
              <a:sym typeface="+mn-lt"/>
            </a:endParaRPr>
          </a:p>
          <a:p>
            <a:pPr lvl="1">
              <a:lnSpc>
                <a:spcPct val="100000"/>
              </a:lnSpc>
            </a:pPr>
            <a:r>
              <a:rPr lang="zh-CN" altLang="en-US" dirty="0">
                <a:solidFill>
                  <a:srgbClr val="0070C0"/>
                </a:solidFill>
                <a:latin typeface="+mn-lt"/>
                <a:cs typeface="+mn-ea"/>
                <a:sym typeface="+mn-lt"/>
              </a:rPr>
              <a:t>感知器可能无法提供所有相关信息。</a:t>
            </a:r>
            <a:endParaRPr lang="en-US" altLang="zh-CN" dirty="0">
              <a:solidFill>
                <a:srgbClr val="0070C0"/>
              </a:solidFill>
              <a:latin typeface="+mn-lt"/>
              <a:cs typeface="+mn-ea"/>
              <a:sym typeface="+mn-lt"/>
            </a:endParaRPr>
          </a:p>
          <a:p>
            <a:pPr lvl="1">
              <a:lnSpc>
                <a:spcPct val="100000"/>
              </a:lnSpc>
            </a:pPr>
            <a:r>
              <a:rPr lang="zh-CN" altLang="en-US" dirty="0">
                <a:solidFill>
                  <a:srgbClr val="0070C0"/>
                </a:solidFill>
                <a:latin typeface="+mn-lt"/>
                <a:cs typeface="+mn-ea"/>
                <a:sym typeface="+mn-lt"/>
              </a:rPr>
              <a:t>例如，在纸牌游戏中，你不知道其他玩家的牌。</a:t>
            </a:r>
            <a:endParaRPr lang="en-US" altLang="zh-CN" dirty="0">
              <a:solidFill>
                <a:srgbClr val="0070C0"/>
              </a:solidFill>
              <a:latin typeface="+mn-lt"/>
              <a:cs typeface="+mn-ea"/>
              <a:sym typeface="+mn-lt"/>
            </a:endParaRPr>
          </a:p>
          <a:p>
            <a:pPr lvl="1">
              <a:lnSpc>
                <a:spcPct val="100000"/>
              </a:lnSpc>
            </a:pPr>
            <a:endParaRPr lang="en-US" altLang="zh-CN" dirty="0">
              <a:latin typeface="+mn-lt"/>
              <a:cs typeface="+mn-ea"/>
              <a:sym typeface="+mn-lt"/>
            </a:endParaRPr>
          </a:p>
          <a:p>
            <a:pPr>
              <a:lnSpc>
                <a:spcPct val="100000"/>
              </a:lnSpc>
            </a:pPr>
            <a:r>
              <a:rPr lang="zh-CN" altLang="en-US" dirty="0">
                <a:latin typeface="+mn-lt"/>
                <a:cs typeface="+mn-ea"/>
                <a:sym typeface="+mn-lt"/>
              </a:rPr>
              <a:t>理性与完美是不同的</a:t>
            </a:r>
            <a:endParaRPr lang="en-US" altLang="zh-CN" dirty="0">
              <a:latin typeface="+mn-lt"/>
              <a:cs typeface="+mn-ea"/>
              <a:sym typeface="+mn-lt"/>
            </a:endParaRPr>
          </a:p>
          <a:p>
            <a:pPr lvl="1">
              <a:lnSpc>
                <a:spcPct val="100000"/>
              </a:lnSpc>
            </a:pPr>
            <a:r>
              <a:rPr lang="zh-CN" altLang="en-US" dirty="0">
                <a:solidFill>
                  <a:srgbClr val="0070C0"/>
                </a:solidFill>
                <a:latin typeface="+mn-lt"/>
                <a:cs typeface="+mn-ea"/>
                <a:sym typeface="+mn-lt"/>
              </a:rPr>
              <a:t>理性追求的是预期结果的最大化，而完美追求的是实际结果的最大化。</a:t>
            </a:r>
            <a:endParaRPr lang="en-US" altLang="zh-CN" dirty="0">
              <a:latin typeface="+mn-lt"/>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zh-CN" altLang="en-US" dirty="0">
                <a:solidFill>
                  <a:srgbClr val="515223"/>
                </a:solidFill>
                <a:latin typeface="+mn-lt"/>
                <a:ea typeface="+mn-ea"/>
                <a:cs typeface="+mn-ea"/>
                <a:sym typeface="+mn-lt"/>
              </a:rPr>
              <a:t>智能体的自主性</a:t>
            </a:r>
            <a:endParaRPr lang="en-GB" altLang="zh-CN" dirty="0">
              <a:solidFill>
                <a:srgbClr val="515223"/>
              </a:solidFill>
              <a:latin typeface="+mn-lt"/>
              <a:ea typeface="+mn-ea"/>
              <a:cs typeface="+mn-ea"/>
              <a:sym typeface="+mn-lt"/>
            </a:endParaRPr>
          </a:p>
        </p:txBody>
      </p:sp>
      <p:sp>
        <p:nvSpPr>
          <p:cNvPr id="24578" name="Rectangle 3">
            <a:extLst>
              <a:ext uri="{FF2B5EF4-FFF2-40B4-BE49-F238E27FC236}">
                <a16:creationId xmlns:a16="http://schemas.microsoft.com/office/drawing/2014/main" id="{18F6D3E3-978E-B312-FCBE-34399A78984C}"/>
              </a:ext>
            </a:extLst>
          </p:cNvPr>
          <p:cNvSpPr>
            <a:spLocks noGrp="1" noChangeArrowheads="1"/>
          </p:cNvSpPr>
          <p:nvPr>
            <p:ph sz="quarter" idx="4294967295"/>
          </p:nvPr>
        </p:nvSpPr>
        <p:spPr>
          <a:xfrm>
            <a:off x="1091255" y="2959003"/>
            <a:ext cx="9783823" cy="3124200"/>
          </a:xfrm>
        </p:spPr>
        <p:txBody>
          <a:bodyPr/>
          <a:lstStyle/>
          <a:p>
            <a:pPr eaLnBrk="1" hangingPunct="1"/>
            <a:r>
              <a:rPr lang="zh-CN" altLang="en-US" dirty="0">
                <a:latin typeface="+mn-lt"/>
                <a:cs typeface="+mn-ea"/>
                <a:sym typeface="+mn-lt"/>
              </a:rPr>
              <a:t>极端情况：</a:t>
            </a:r>
            <a:endParaRPr lang="en-US" altLang="zh-CN" dirty="0">
              <a:latin typeface="+mn-lt"/>
              <a:cs typeface="+mn-ea"/>
              <a:sym typeface="+mn-lt"/>
            </a:endParaRPr>
          </a:p>
          <a:p>
            <a:pPr lvl="1"/>
            <a:r>
              <a:rPr lang="zh-CN" altLang="en-US" dirty="0">
                <a:solidFill>
                  <a:srgbClr val="0070C0"/>
                </a:solidFill>
                <a:latin typeface="+mn-lt"/>
                <a:cs typeface="+mn-ea"/>
                <a:sym typeface="+mn-lt"/>
              </a:rPr>
              <a:t>无自主权</a:t>
            </a:r>
            <a:endParaRPr lang="en-US" altLang="zh-CN" dirty="0">
              <a:solidFill>
                <a:srgbClr val="0070C0"/>
              </a:solidFill>
              <a:latin typeface="+mn-lt"/>
              <a:cs typeface="+mn-ea"/>
              <a:sym typeface="+mn-lt"/>
            </a:endParaRPr>
          </a:p>
          <a:p>
            <a:pPr lvl="1"/>
            <a:r>
              <a:rPr lang="zh-CN" altLang="en-US" dirty="0">
                <a:solidFill>
                  <a:srgbClr val="0070C0"/>
                </a:solidFill>
                <a:latin typeface="+mn-lt"/>
                <a:cs typeface="+mn-ea"/>
                <a:sym typeface="+mn-lt"/>
              </a:rPr>
              <a:t>完全自主</a:t>
            </a:r>
            <a:endParaRPr lang="en-GB" altLang="zh-CN" dirty="0">
              <a:solidFill>
                <a:srgbClr val="0070C0"/>
              </a:solidFill>
              <a:latin typeface="+mn-lt"/>
              <a:cs typeface="+mn-ea"/>
              <a:sym typeface="+mn-lt"/>
            </a:endParaRPr>
          </a:p>
          <a:p>
            <a:pPr eaLnBrk="1" hangingPunct="1"/>
            <a:r>
              <a:rPr lang="zh-CN" altLang="en-US" dirty="0">
                <a:latin typeface="+mn-lt"/>
                <a:cs typeface="+mn-ea"/>
                <a:sym typeface="+mn-lt"/>
              </a:rPr>
              <a:t>示例</a:t>
            </a:r>
            <a:r>
              <a:rPr lang="en-GB" altLang="zh-CN" dirty="0">
                <a:latin typeface="+mn-lt"/>
                <a:cs typeface="+mn-ea"/>
                <a:sym typeface="+mn-lt"/>
              </a:rPr>
              <a:t>: </a:t>
            </a:r>
            <a:r>
              <a:rPr lang="zh-CN" altLang="en-US" dirty="0">
                <a:latin typeface="+mn-lt"/>
                <a:cs typeface="+mn-ea"/>
                <a:sym typeface="+mn-lt"/>
              </a:rPr>
              <a:t>让宝宝学习做某些事</a:t>
            </a:r>
            <a:endParaRPr lang="en-GB" altLang="zh-CN" dirty="0">
              <a:latin typeface="+mn-lt"/>
              <a:cs typeface="+mn-ea"/>
              <a:sym typeface="+mn-lt"/>
            </a:endParaRPr>
          </a:p>
          <a:p>
            <a:pPr eaLnBrk="1" hangingPunct="1"/>
            <a:r>
              <a:rPr lang="zh-CN" altLang="en-US" dirty="0">
                <a:latin typeface="+mn-lt"/>
                <a:cs typeface="+mn-ea"/>
                <a:sym typeface="+mn-lt"/>
              </a:rPr>
              <a:t>理想情况</a:t>
            </a:r>
            <a:r>
              <a:rPr lang="en-GB" altLang="zh-CN" dirty="0">
                <a:latin typeface="+mn-lt"/>
                <a:cs typeface="+mn-ea"/>
                <a:sym typeface="+mn-lt"/>
              </a:rPr>
              <a:t>: </a:t>
            </a:r>
            <a:r>
              <a:rPr lang="zh-CN" altLang="en-US" dirty="0">
                <a:latin typeface="+mn-lt"/>
                <a:cs typeface="+mn-ea"/>
                <a:sym typeface="+mn-lt"/>
              </a:rPr>
              <a:t>让智能体具备一定的自主性</a:t>
            </a:r>
            <a:endParaRPr lang="en-GB" altLang="zh-CN" dirty="0">
              <a:latin typeface="+mn-lt"/>
              <a:cs typeface="+mn-ea"/>
              <a:sym typeface="+mn-lt"/>
            </a:endParaRPr>
          </a:p>
          <a:p>
            <a:pPr lvl="1" eaLnBrk="1" hangingPunct="1"/>
            <a:r>
              <a:rPr lang="zh-CN" altLang="en-US" dirty="0">
                <a:solidFill>
                  <a:srgbClr val="0070C0"/>
                </a:solidFill>
                <a:latin typeface="+mn-lt"/>
                <a:cs typeface="+mn-ea"/>
                <a:sym typeface="+mn-lt"/>
              </a:rPr>
              <a:t>可能随着经验的积累变得更加自主。</a:t>
            </a:r>
            <a:endParaRPr lang="en-GB" altLang="zh-CN" dirty="0">
              <a:solidFill>
                <a:srgbClr val="0070C0"/>
              </a:solidFill>
              <a:latin typeface="+mn-lt"/>
              <a:cs typeface="+mn-ea"/>
              <a:sym typeface="+mn-lt"/>
            </a:endParaRPr>
          </a:p>
        </p:txBody>
      </p:sp>
      <p:sp>
        <p:nvSpPr>
          <p:cNvPr id="24579" name="AutoShape 4">
            <a:extLst>
              <a:ext uri="{FF2B5EF4-FFF2-40B4-BE49-F238E27FC236}">
                <a16:creationId xmlns:a16="http://schemas.microsoft.com/office/drawing/2014/main" id="{66688967-93AF-DA19-FA0D-D00F21300E82}"/>
              </a:ext>
            </a:extLst>
          </p:cNvPr>
          <p:cNvSpPr>
            <a:spLocks noChangeArrowheads="1"/>
          </p:cNvSpPr>
          <p:nvPr/>
        </p:nvSpPr>
        <p:spPr bwMode="auto">
          <a:xfrm>
            <a:off x="1093382" y="1435395"/>
            <a:ext cx="10005237" cy="1127052"/>
          </a:xfrm>
          <a:prstGeom prst="roundRect">
            <a:avLst>
              <a:gd name="adj" fmla="val 16667"/>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lgn="ctr"/>
            <a:r>
              <a:rPr lang="zh-CN" altLang="en-US" sz="2400" dirty="0">
                <a:solidFill>
                  <a:schemeClr val="bg1"/>
                </a:solidFill>
                <a:latin typeface="+mn-lt"/>
                <a:cs typeface="+mn-ea"/>
                <a:sym typeface="+mn-lt"/>
              </a:rPr>
              <a:t>智能体自主性的程度是由其的行为范围（受自身经验影响）决定。</a:t>
            </a:r>
            <a:endParaRPr lang="en-US" altLang="zh-CN" sz="2400" dirty="0">
              <a:solidFill>
                <a:schemeClr val="bg1"/>
              </a:solidFill>
              <a:latin typeface="+mn-lt"/>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24578">
                                            <p:txEl>
                                              <p:pRg st="0" end="0"/>
                                            </p:txEl>
                                          </p:spTgt>
                                        </p:tgtEl>
                                        <p:attrNameLst>
                                          <p:attrName>style.visibility</p:attrName>
                                        </p:attrNameLst>
                                      </p:cBhvr>
                                      <p:to>
                                        <p:strVal val="visible"/>
                                      </p:to>
                                    </p:set>
                                    <p:animEffect transition="in" filter="fade">
                                      <p:cBhvr>
                                        <p:cTn id="9" dur="500"/>
                                        <p:tgtEl>
                                          <p:spTgt spid="24578">
                                            <p:txEl>
                                              <p:pRg st="0" end="0"/>
                                            </p:txEl>
                                          </p:spTgt>
                                        </p:tgtEl>
                                      </p:cBhvr>
                                    </p:animEffect>
                                  </p:childTnLst>
                                </p:cTn>
                              </p:par>
                              <p:par>
                                <p:cTn id="10" presetID="10" presetClass="entr" presetSubtype="0" fill="hold" nodeType="withEffect">
                                  <p:stCondLst>
                                    <p:cond delay="0"/>
                                  </p:stCondLst>
                                  <p:childTnLst>
                                    <p:set>
                                      <p:cBhvr>
                                        <p:cTn id="11" dur="1" fill="hold">
                                          <p:stCondLst>
                                            <p:cond delay="0"/>
                                          </p:stCondLst>
                                        </p:cTn>
                                        <p:tgtEl>
                                          <p:spTgt spid="24578">
                                            <p:txEl>
                                              <p:pRg st="1" end="1"/>
                                            </p:txEl>
                                          </p:spTgt>
                                        </p:tgtEl>
                                        <p:attrNameLst>
                                          <p:attrName>style.visibility</p:attrName>
                                        </p:attrNameLst>
                                      </p:cBhvr>
                                      <p:to>
                                        <p:strVal val="visible"/>
                                      </p:to>
                                    </p:set>
                                    <p:animEffect transition="in" filter="fade">
                                      <p:cBhvr>
                                        <p:cTn id="12" dur="500"/>
                                        <p:tgtEl>
                                          <p:spTgt spid="24578">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4578">
                                            <p:txEl>
                                              <p:pRg st="2" end="2"/>
                                            </p:txEl>
                                          </p:spTgt>
                                        </p:tgtEl>
                                        <p:attrNameLst>
                                          <p:attrName>style.visibility</p:attrName>
                                        </p:attrNameLst>
                                      </p:cBhvr>
                                      <p:to>
                                        <p:strVal val="visible"/>
                                      </p:to>
                                    </p:set>
                                    <p:animEffect transition="in" filter="fade">
                                      <p:cBhvr>
                                        <p:cTn id="15" dur="500"/>
                                        <p:tgtEl>
                                          <p:spTgt spid="2457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4578">
                                            <p:txEl>
                                              <p:pRg st="3" end="3"/>
                                            </p:txEl>
                                          </p:spTgt>
                                        </p:tgtEl>
                                        <p:attrNameLst>
                                          <p:attrName>style.visibility</p:attrName>
                                        </p:attrNameLst>
                                      </p:cBhvr>
                                      <p:to>
                                        <p:strVal val="visible"/>
                                      </p:to>
                                    </p:set>
                                    <p:animEffect transition="in" filter="fade">
                                      <p:cBhvr>
                                        <p:cTn id="20" dur="500"/>
                                        <p:tgtEl>
                                          <p:spTgt spid="2457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4578">
                                            <p:txEl>
                                              <p:pRg st="4" end="4"/>
                                            </p:txEl>
                                          </p:spTgt>
                                        </p:tgtEl>
                                        <p:attrNameLst>
                                          <p:attrName>style.visibility</p:attrName>
                                        </p:attrNameLst>
                                      </p:cBhvr>
                                      <p:to>
                                        <p:strVal val="visible"/>
                                      </p:to>
                                    </p:set>
                                    <p:animEffect transition="in" filter="fade">
                                      <p:cBhvr>
                                        <p:cTn id="25" dur="500"/>
                                        <p:tgtEl>
                                          <p:spTgt spid="24578">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4578">
                                            <p:txEl>
                                              <p:pRg st="5" end="5"/>
                                            </p:txEl>
                                          </p:spTgt>
                                        </p:tgtEl>
                                        <p:attrNameLst>
                                          <p:attrName>style.visibility</p:attrName>
                                        </p:attrNameLst>
                                      </p:cBhvr>
                                      <p:to>
                                        <p:strVal val="visible"/>
                                      </p:to>
                                    </p:set>
                                    <p:animEffect transition="in" filter="fade">
                                      <p:cBhvr>
                                        <p:cTn id="30" dur="500"/>
                                        <p:tgtEl>
                                          <p:spTgt spid="2457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D5012C5E-3075-CA74-BD28-E348A5440773}"/>
              </a:ext>
            </a:extLst>
          </p:cNvPr>
          <p:cNvSpPr>
            <a:spLocks noGrp="1" noChangeArrowheads="1"/>
          </p:cNvSpPr>
          <p:nvPr>
            <p:ph type="title"/>
          </p:nvPr>
        </p:nvSpPr>
        <p:spPr/>
        <p:txBody>
          <a:bodyPr/>
          <a:lstStyle/>
          <a:p>
            <a:pPr eaLnBrk="1" hangingPunct="1"/>
            <a:r>
              <a:rPr lang="zh-CN" altLang="en-US" dirty="0">
                <a:solidFill>
                  <a:srgbClr val="515223"/>
                </a:solidFill>
                <a:latin typeface="+mn-lt"/>
                <a:ea typeface="+mn-ea"/>
                <a:cs typeface="+mn-ea"/>
                <a:sym typeface="+mn-lt"/>
              </a:rPr>
              <a:t>智能体设计</a:t>
            </a:r>
            <a:r>
              <a:rPr lang="en-US" altLang="zh-CN" dirty="0">
                <a:solidFill>
                  <a:srgbClr val="515223"/>
                </a:solidFill>
                <a:latin typeface="+mn-lt"/>
                <a:ea typeface="+mn-ea"/>
                <a:cs typeface="+mn-ea"/>
                <a:sym typeface="+mn-lt"/>
              </a:rPr>
              <a:t>: PEAS</a:t>
            </a:r>
          </a:p>
        </p:txBody>
      </p:sp>
      <p:sp>
        <p:nvSpPr>
          <p:cNvPr id="25602" name="Footer Placeholder 4">
            <a:extLst>
              <a:ext uri="{FF2B5EF4-FFF2-40B4-BE49-F238E27FC236}">
                <a16:creationId xmlns:a16="http://schemas.microsoft.com/office/drawing/2014/main" id="{EC6E2718-FED6-E9CB-56E9-972F61D272DC}"/>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dirty="0">
                <a:solidFill>
                  <a:srgbClr val="FFFFFF"/>
                </a:solidFill>
                <a:latin typeface="+mn-lt"/>
                <a:cs typeface="+mn-ea"/>
                <a:sym typeface="+mn-lt"/>
              </a:rPr>
              <a:t>Artificial Intelligence a modern approach</a:t>
            </a:r>
          </a:p>
        </p:txBody>
      </p:sp>
      <p:sp>
        <p:nvSpPr>
          <p:cNvPr id="12291" name="Rectangle 3">
            <a:extLst>
              <a:ext uri="{FF2B5EF4-FFF2-40B4-BE49-F238E27FC236}">
                <a16:creationId xmlns:a16="http://schemas.microsoft.com/office/drawing/2014/main" id="{8D3DDA2D-B9C9-57DA-BFED-B1A36ADDD0B5}"/>
              </a:ext>
            </a:extLst>
          </p:cNvPr>
          <p:cNvSpPr>
            <a:spLocks noGrp="1" noChangeArrowheads="1"/>
          </p:cNvSpPr>
          <p:nvPr>
            <p:ph sz="quarter" idx="4294967295"/>
          </p:nvPr>
        </p:nvSpPr>
        <p:spPr>
          <a:xfrm>
            <a:off x="1091255" y="1373187"/>
            <a:ext cx="10586540" cy="4983162"/>
          </a:xfrm>
        </p:spPr>
        <p:txBody>
          <a:bodyPr>
            <a:normAutofit/>
          </a:bodyPr>
          <a:lstStyle/>
          <a:p>
            <a:pPr>
              <a:lnSpc>
                <a:spcPct val="100000"/>
              </a:lnSpc>
            </a:pPr>
            <a:r>
              <a:rPr lang="en-US" altLang="zh-CN" sz="2600" dirty="0">
                <a:latin typeface="+mn-lt"/>
                <a:cs typeface="+mn-ea"/>
                <a:sym typeface="+mn-lt"/>
              </a:rPr>
              <a:t>PEAS</a:t>
            </a:r>
            <a:r>
              <a:rPr lang="zh-CN" altLang="en-US" sz="2600" dirty="0">
                <a:latin typeface="+mn-lt"/>
                <a:cs typeface="+mn-ea"/>
                <a:sym typeface="+mn-lt"/>
              </a:rPr>
              <a:t>：性能指标、环境、执行器、传感器</a:t>
            </a:r>
            <a:endParaRPr lang="en-US" altLang="zh-CN" sz="2600" dirty="0">
              <a:latin typeface="+mn-lt"/>
              <a:cs typeface="+mn-ea"/>
              <a:sym typeface="+mn-lt"/>
            </a:endParaRPr>
          </a:p>
          <a:p>
            <a:pPr>
              <a:lnSpc>
                <a:spcPct val="100000"/>
              </a:lnSpc>
            </a:pPr>
            <a:endParaRPr lang="en-US" altLang="zh-CN" sz="2600" dirty="0">
              <a:latin typeface="+mn-lt"/>
              <a:cs typeface="+mn-ea"/>
              <a:sym typeface="+mn-lt"/>
            </a:endParaRPr>
          </a:p>
          <a:p>
            <a:pPr>
              <a:lnSpc>
                <a:spcPct val="100000"/>
              </a:lnSpc>
            </a:pPr>
            <a:r>
              <a:rPr lang="zh-CN" altLang="en-US" sz="2600" dirty="0">
                <a:latin typeface="+mn-lt"/>
                <a:cs typeface="+mn-ea"/>
                <a:sym typeface="+mn-lt"/>
              </a:rPr>
              <a:t>必须先指定智能体设计的设置。</a:t>
            </a:r>
            <a:endParaRPr lang="en-US" altLang="zh-CN" sz="2600" dirty="0">
              <a:latin typeface="+mn-lt"/>
              <a:cs typeface="+mn-ea"/>
              <a:sym typeface="+mn-lt"/>
            </a:endParaRPr>
          </a:p>
          <a:p>
            <a:pPr>
              <a:lnSpc>
                <a:spcPct val="100000"/>
              </a:lnSpc>
            </a:pPr>
            <a:endParaRPr lang="en-US" altLang="zh-CN" sz="2600" dirty="0">
              <a:latin typeface="+mn-lt"/>
              <a:cs typeface="+mn-ea"/>
              <a:sym typeface="+mn-lt"/>
            </a:endParaRPr>
          </a:p>
          <a:p>
            <a:pPr>
              <a:lnSpc>
                <a:spcPct val="100000"/>
              </a:lnSpc>
            </a:pPr>
            <a:r>
              <a:rPr lang="zh-CN" altLang="en-US" sz="2600" dirty="0">
                <a:latin typeface="+mn-lt"/>
                <a:cs typeface="+mn-ea"/>
                <a:sym typeface="+mn-lt"/>
              </a:rPr>
              <a:t>例如，考虑设计一名自动驾驶出租车司机的任务：</a:t>
            </a:r>
            <a:endParaRPr lang="en-US" altLang="zh-CN" sz="2600" dirty="0">
              <a:latin typeface="+mn-lt"/>
              <a:cs typeface="+mn-ea"/>
              <a:sym typeface="+mn-lt"/>
            </a:endParaRPr>
          </a:p>
          <a:p>
            <a:pPr lvl="1">
              <a:lnSpc>
                <a:spcPct val="100000"/>
              </a:lnSpc>
            </a:pPr>
            <a:r>
              <a:rPr lang="zh-CN" altLang="en-US" sz="2200" dirty="0">
                <a:solidFill>
                  <a:schemeClr val="accent3"/>
                </a:solidFill>
                <a:latin typeface="+mn-lt"/>
                <a:cs typeface="+mn-ea"/>
                <a:sym typeface="+mn-lt"/>
              </a:rPr>
              <a:t>性能指标：安全、快速、合法、舒适的旅程，实现利润最大化</a:t>
            </a:r>
            <a:endParaRPr lang="en-US" altLang="zh-CN" sz="2200" dirty="0">
              <a:solidFill>
                <a:schemeClr val="accent3"/>
              </a:solidFill>
              <a:latin typeface="+mn-lt"/>
              <a:cs typeface="+mn-ea"/>
              <a:sym typeface="+mn-lt"/>
            </a:endParaRPr>
          </a:p>
          <a:p>
            <a:pPr lvl="1">
              <a:lnSpc>
                <a:spcPct val="100000"/>
              </a:lnSpc>
            </a:pPr>
            <a:r>
              <a:rPr lang="zh-CN" altLang="en-US" sz="2200" dirty="0">
                <a:solidFill>
                  <a:schemeClr val="accent3"/>
                </a:solidFill>
                <a:latin typeface="+mn-lt"/>
                <a:cs typeface="+mn-ea"/>
                <a:sym typeface="+mn-lt"/>
              </a:rPr>
              <a:t>环境：道路、其他交通、行人、顾客</a:t>
            </a:r>
            <a:endParaRPr lang="en-US" altLang="zh-CN" sz="2200" dirty="0">
              <a:solidFill>
                <a:schemeClr val="accent3"/>
              </a:solidFill>
              <a:latin typeface="+mn-lt"/>
              <a:cs typeface="+mn-ea"/>
              <a:sym typeface="+mn-lt"/>
            </a:endParaRPr>
          </a:p>
          <a:p>
            <a:pPr lvl="1">
              <a:lnSpc>
                <a:spcPct val="100000"/>
              </a:lnSpc>
            </a:pPr>
            <a:r>
              <a:rPr lang="zh-CN" altLang="en-US" sz="2200" dirty="0">
                <a:solidFill>
                  <a:schemeClr val="accent3"/>
                </a:solidFill>
                <a:latin typeface="+mn-lt"/>
                <a:cs typeface="+mn-ea"/>
                <a:sym typeface="+mn-lt"/>
              </a:rPr>
              <a:t>执行器：方向盘、油门、刹车、信号灯、喇叭</a:t>
            </a:r>
            <a:endParaRPr lang="en-US" altLang="zh-CN" sz="2200" dirty="0">
              <a:solidFill>
                <a:schemeClr val="accent3"/>
              </a:solidFill>
              <a:latin typeface="+mn-lt"/>
              <a:cs typeface="+mn-ea"/>
              <a:sym typeface="+mn-lt"/>
            </a:endParaRPr>
          </a:p>
          <a:p>
            <a:pPr lvl="1">
              <a:lnSpc>
                <a:spcPct val="100000"/>
              </a:lnSpc>
            </a:pPr>
            <a:r>
              <a:rPr lang="zh-CN" altLang="en-US" sz="2200" dirty="0">
                <a:solidFill>
                  <a:schemeClr val="accent3"/>
                </a:solidFill>
                <a:latin typeface="+mn-lt"/>
                <a:cs typeface="+mn-ea"/>
                <a:sym typeface="+mn-lt"/>
              </a:rPr>
              <a:t>传感器：摄像头、声呐、速度表、</a:t>
            </a:r>
            <a:r>
              <a:rPr lang="en-US" altLang="zh-CN" sz="2200" dirty="0">
                <a:solidFill>
                  <a:schemeClr val="accent3"/>
                </a:solidFill>
                <a:latin typeface="+mn-lt"/>
                <a:cs typeface="+mn-ea"/>
                <a:sym typeface="+mn-lt"/>
              </a:rPr>
              <a:t>GPS</a:t>
            </a:r>
            <a:r>
              <a:rPr lang="zh-CN" altLang="en-US" sz="2200" dirty="0">
                <a:solidFill>
                  <a:schemeClr val="accent3"/>
                </a:solidFill>
                <a:latin typeface="+mn-lt"/>
                <a:cs typeface="+mn-ea"/>
                <a:sym typeface="+mn-lt"/>
              </a:rPr>
              <a:t>、里程表、发动机传感器、键盘</a:t>
            </a:r>
            <a:endParaRPr lang="en-US" altLang="zh-CN" sz="2600" dirty="0">
              <a:solidFill>
                <a:schemeClr val="accent3"/>
              </a:solidFill>
              <a:latin typeface="+mn-lt"/>
              <a:cs typeface="+mn-ea"/>
              <a:sym typeface="+mn-lt"/>
            </a:endParaRPr>
          </a:p>
          <a:p>
            <a:pPr marL="0" indent="0" eaLnBrk="1" hangingPunct="1">
              <a:lnSpc>
                <a:spcPct val="100000"/>
              </a:lnSpc>
              <a:buNone/>
            </a:pPr>
            <a:endParaRPr lang="en-US" altLang="zh-CN" dirty="0">
              <a:solidFill>
                <a:srgbClr val="0070C0"/>
              </a:solidFill>
              <a:latin typeface="+mn-lt"/>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blinds(horizontal)">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291">
                                            <p:txEl>
                                              <p:pRg st="2" end="2"/>
                                            </p:txEl>
                                          </p:spTgt>
                                        </p:tgtEl>
                                        <p:attrNameLst>
                                          <p:attrName>style.visibility</p:attrName>
                                        </p:attrNameLst>
                                      </p:cBhvr>
                                      <p:to>
                                        <p:strVal val="visible"/>
                                      </p:to>
                                    </p:set>
                                    <p:animEffect transition="in" filter="blinds(horizontal)">
                                      <p:cBhvr>
                                        <p:cTn id="12" dur="500"/>
                                        <p:tgtEl>
                                          <p:spTgt spid="1229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291">
                                            <p:txEl>
                                              <p:pRg st="4" end="4"/>
                                            </p:txEl>
                                          </p:spTgt>
                                        </p:tgtEl>
                                        <p:attrNameLst>
                                          <p:attrName>style.visibility</p:attrName>
                                        </p:attrNameLst>
                                      </p:cBhvr>
                                      <p:to>
                                        <p:strVal val="visible"/>
                                      </p:to>
                                    </p:set>
                                    <p:animEffect transition="in" filter="blinds(horizontal)">
                                      <p:cBhvr>
                                        <p:cTn id="17" dur="500"/>
                                        <p:tgtEl>
                                          <p:spTgt spid="1229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291">
                                            <p:txEl>
                                              <p:pRg st="5" end="5"/>
                                            </p:txEl>
                                          </p:spTgt>
                                        </p:tgtEl>
                                        <p:attrNameLst>
                                          <p:attrName>style.visibility</p:attrName>
                                        </p:attrNameLst>
                                      </p:cBhvr>
                                      <p:to>
                                        <p:strVal val="visible"/>
                                      </p:to>
                                    </p:set>
                                    <p:animEffect transition="in" filter="blinds(horizontal)">
                                      <p:cBhvr>
                                        <p:cTn id="22" dur="500"/>
                                        <p:tgtEl>
                                          <p:spTgt spid="1229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2291">
                                            <p:txEl>
                                              <p:pRg st="6" end="6"/>
                                            </p:txEl>
                                          </p:spTgt>
                                        </p:tgtEl>
                                        <p:attrNameLst>
                                          <p:attrName>style.visibility</p:attrName>
                                        </p:attrNameLst>
                                      </p:cBhvr>
                                      <p:to>
                                        <p:strVal val="visible"/>
                                      </p:to>
                                    </p:set>
                                    <p:animEffect transition="in" filter="blinds(horizontal)">
                                      <p:cBhvr>
                                        <p:cTn id="27" dur="500"/>
                                        <p:tgtEl>
                                          <p:spTgt spid="12291">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2291">
                                            <p:txEl>
                                              <p:pRg st="7" end="7"/>
                                            </p:txEl>
                                          </p:spTgt>
                                        </p:tgtEl>
                                        <p:attrNameLst>
                                          <p:attrName>style.visibility</p:attrName>
                                        </p:attrNameLst>
                                      </p:cBhvr>
                                      <p:to>
                                        <p:strVal val="visible"/>
                                      </p:to>
                                    </p:set>
                                    <p:animEffect transition="in" filter="blinds(horizontal)">
                                      <p:cBhvr>
                                        <p:cTn id="32" dur="500"/>
                                        <p:tgtEl>
                                          <p:spTgt spid="12291">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2291">
                                            <p:txEl>
                                              <p:pRg st="8" end="8"/>
                                            </p:txEl>
                                          </p:spTgt>
                                        </p:tgtEl>
                                        <p:attrNameLst>
                                          <p:attrName>style.visibility</p:attrName>
                                        </p:attrNameLst>
                                      </p:cBhvr>
                                      <p:to>
                                        <p:strVal val="visible"/>
                                      </p:to>
                                    </p:set>
                                    <p:animEffect transition="in" filter="blinds(horizontal)">
                                      <p:cBhvr>
                                        <p:cTn id="37" dur="500"/>
                                        <p:tgtEl>
                                          <p:spTgt spid="122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6F6FA500-D565-0BA7-6874-6064E8EE538A}"/>
              </a:ext>
            </a:extLst>
          </p:cNvPr>
          <p:cNvSpPr>
            <a:spLocks noGrp="1" noChangeArrowheads="1"/>
          </p:cNvSpPr>
          <p:nvPr>
            <p:ph type="title"/>
          </p:nvPr>
        </p:nvSpPr>
        <p:spPr/>
        <p:txBody>
          <a:bodyPr/>
          <a:lstStyle/>
          <a:p>
            <a:pPr eaLnBrk="1" hangingPunct="1"/>
            <a:r>
              <a:rPr lang="en-US" altLang="zh-CN" dirty="0">
                <a:solidFill>
                  <a:srgbClr val="515223"/>
                </a:solidFill>
                <a:latin typeface="+mn-lt"/>
                <a:ea typeface="+mn-ea"/>
                <a:cs typeface="+mn-ea"/>
                <a:sym typeface="+mn-lt"/>
              </a:rPr>
              <a:t>PEAS</a:t>
            </a:r>
          </a:p>
        </p:txBody>
      </p:sp>
      <p:sp>
        <p:nvSpPr>
          <p:cNvPr id="26626" name="Footer Placeholder 4">
            <a:extLst>
              <a:ext uri="{FF2B5EF4-FFF2-40B4-BE49-F238E27FC236}">
                <a16:creationId xmlns:a16="http://schemas.microsoft.com/office/drawing/2014/main" id="{E38FB3B5-3FFF-58EE-B64B-B07A12EA6CED}"/>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15363" name="Rectangle 3">
            <a:extLst>
              <a:ext uri="{FF2B5EF4-FFF2-40B4-BE49-F238E27FC236}">
                <a16:creationId xmlns:a16="http://schemas.microsoft.com/office/drawing/2014/main" id="{81B20B40-5779-2370-F845-9A0D1869D94B}"/>
              </a:ext>
            </a:extLst>
          </p:cNvPr>
          <p:cNvSpPr>
            <a:spLocks noGrp="1" noChangeArrowheads="1"/>
          </p:cNvSpPr>
          <p:nvPr>
            <p:ph sz="quarter" idx="4294967295"/>
          </p:nvPr>
        </p:nvSpPr>
        <p:spPr>
          <a:xfrm>
            <a:off x="1091255" y="1520195"/>
            <a:ext cx="9199841" cy="4572000"/>
          </a:xfrm>
        </p:spPr>
        <p:txBody>
          <a:bodyPr/>
          <a:lstStyle/>
          <a:p>
            <a:pPr>
              <a:lnSpc>
                <a:spcPct val="100000"/>
              </a:lnSpc>
            </a:pPr>
            <a:r>
              <a:rPr lang="zh-CN" altLang="en-US" dirty="0">
                <a:latin typeface="+mn-lt"/>
                <a:cs typeface="+mn-ea"/>
                <a:sym typeface="+mn-lt"/>
              </a:rPr>
              <a:t>智能体：零件拣选机器人</a:t>
            </a:r>
            <a:endParaRPr lang="en-US" altLang="zh-CN" dirty="0">
              <a:latin typeface="+mn-lt"/>
              <a:cs typeface="+mn-ea"/>
              <a:sym typeface="+mn-lt"/>
            </a:endParaRPr>
          </a:p>
          <a:p>
            <a:pPr>
              <a:lnSpc>
                <a:spcPct val="100000"/>
              </a:lnSpc>
            </a:pPr>
            <a:endParaRPr lang="en-US" altLang="zh-CN" dirty="0">
              <a:latin typeface="+mn-lt"/>
              <a:cs typeface="+mn-ea"/>
              <a:sym typeface="+mn-lt"/>
            </a:endParaRPr>
          </a:p>
          <a:p>
            <a:pPr>
              <a:lnSpc>
                <a:spcPct val="100000"/>
              </a:lnSpc>
            </a:pPr>
            <a:r>
              <a:rPr lang="zh-CN" altLang="en-US" dirty="0">
                <a:latin typeface="+mn-lt"/>
                <a:cs typeface="+mn-ea"/>
                <a:sym typeface="+mn-lt"/>
              </a:rPr>
              <a:t>性能指标：正确归类零件的百分比</a:t>
            </a:r>
            <a:endParaRPr lang="en-US" altLang="zh-CN" dirty="0">
              <a:latin typeface="+mn-lt"/>
              <a:cs typeface="+mn-ea"/>
              <a:sym typeface="+mn-lt"/>
            </a:endParaRPr>
          </a:p>
          <a:p>
            <a:pPr>
              <a:lnSpc>
                <a:spcPct val="100000"/>
              </a:lnSpc>
            </a:pPr>
            <a:r>
              <a:rPr lang="zh-CN" altLang="en-US" dirty="0">
                <a:latin typeface="+mn-lt"/>
                <a:cs typeface="+mn-ea"/>
                <a:sym typeface="+mn-lt"/>
              </a:rPr>
              <a:t>环境：带零件的传送带，料箱</a:t>
            </a:r>
            <a:endParaRPr lang="en-US" altLang="zh-CN" dirty="0">
              <a:latin typeface="+mn-lt"/>
              <a:cs typeface="+mn-ea"/>
              <a:sym typeface="+mn-lt"/>
            </a:endParaRPr>
          </a:p>
          <a:p>
            <a:pPr>
              <a:lnSpc>
                <a:spcPct val="100000"/>
              </a:lnSpc>
            </a:pPr>
            <a:r>
              <a:rPr lang="zh-CN" altLang="en-US" dirty="0">
                <a:latin typeface="+mn-lt"/>
                <a:cs typeface="+mn-ea"/>
                <a:sym typeface="+mn-lt"/>
              </a:rPr>
              <a:t>执行器：关节式手臂和手</a:t>
            </a:r>
            <a:endParaRPr lang="en-US" altLang="zh-CN" dirty="0">
              <a:latin typeface="+mn-lt"/>
              <a:cs typeface="+mn-ea"/>
              <a:sym typeface="+mn-lt"/>
            </a:endParaRPr>
          </a:p>
          <a:p>
            <a:pPr>
              <a:lnSpc>
                <a:spcPct val="100000"/>
              </a:lnSpc>
            </a:pPr>
            <a:r>
              <a:rPr lang="zh-CN" altLang="en-US" dirty="0">
                <a:latin typeface="+mn-lt"/>
                <a:cs typeface="+mn-ea"/>
                <a:sym typeface="+mn-lt"/>
              </a:rPr>
              <a:t>传感器：摄像头、关节角度传感器</a:t>
            </a:r>
            <a:endParaRPr lang="en-US" altLang="zh-CN" dirty="0">
              <a:latin typeface="+mn-lt"/>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blinds(horizontal)">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2" dur="500"/>
                                        <p:tgtEl>
                                          <p:spTgt spid="153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17" dur="500"/>
                                        <p:tgtEl>
                                          <p:spTgt spid="1536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363">
                                            <p:txEl>
                                              <p:pRg st="4" end="4"/>
                                            </p:txEl>
                                          </p:spTgt>
                                        </p:tgtEl>
                                        <p:attrNameLst>
                                          <p:attrName>style.visibility</p:attrName>
                                        </p:attrNameLst>
                                      </p:cBhvr>
                                      <p:to>
                                        <p:strVal val="visible"/>
                                      </p:to>
                                    </p:set>
                                    <p:animEffect transition="in" filter="blinds(horizontal)">
                                      <p:cBhvr>
                                        <p:cTn id="22" dur="500"/>
                                        <p:tgtEl>
                                          <p:spTgt spid="1536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5363">
                                            <p:txEl>
                                              <p:pRg st="5" end="5"/>
                                            </p:txEl>
                                          </p:spTgt>
                                        </p:tgtEl>
                                        <p:attrNameLst>
                                          <p:attrName>style.visibility</p:attrName>
                                        </p:attrNameLst>
                                      </p:cBhvr>
                                      <p:to>
                                        <p:strVal val="visible"/>
                                      </p:to>
                                    </p:set>
                                    <p:animEffect transition="in" filter="blinds(horizontal)">
                                      <p:cBhvr>
                                        <p:cTn id="27" dur="500"/>
                                        <p:tgtEl>
                                          <p:spTgt spid="153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8B4BF5AF-C577-EE0E-D168-873C74414ACF}"/>
              </a:ext>
            </a:extLst>
          </p:cNvPr>
          <p:cNvSpPr>
            <a:spLocks noGrp="1" noChangeArrowheads="1"/>
          </p:cNvSpPr>
          <p:nvPr>
            <p:ph type="title"/>
          </p:nvPr>
        </p:nvSpPr>
        <p:spPr/>
        <p:txBody>
          <a:bodyPr/>
          <a:lstStyle/>
          <a:p>
            <a:pPr eaLnBrk="1" hangingPunct="1"/>
            <a:r>
              <a:rPr lang="zh-CN" altLang="en-US" dirty="0">
                <a:solidFill>
                  <a:srgbClr val="515223"/>
                </a:solidFill>
                <a:latin typeface="+mn-lt"/>
                <a:ea typeface="+mn-ea"/>
                <a:cs typeface="+mn-ea"/>
                <a:sym typeface="+mn-lt"/>
              </a:rPr>
              <a:t>环境类型</a:t>
            </a:r>
            <a:endParaRPr lang="en-US" altLang="zh-CN" dirty="0">
              <a:solidFill>
                <a:srgbClr val="515223"/>
              </a:solidFill>
              <a:latin typeface="+mn-lt"/>
              <a:ea typeface="+mn-ea"/>
              <a:cs typeface="+mn-ea"/>
              <a:sym typeface="+mn-lt"/>
            </a:endParaRPr>
          </a:p>
        </p:txBody>
      </p:sp>
      <p:sp>
        <p:nvSpPr>
          <p:cNvPr id="29698" name="Footer Placeholder 4">
            <a:extLst>
              <a:ext uri="{FF2B5EF4-FFF2-40B4-BE49-F238E27FC236}">
                <a16:creationId xmlns:a16="http://schemas.microsoft.com/office/drawing/2014/main" id="{BD74BE65-4A75-68EC-2787-D97B96579A42}"/>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29700" name="Rectangle 3">
            <a:extLst>
              <a:ext uri="{FF2B5EF4-FFF2-40B4-BE49-F238E27FC236}">
                <a16:creationId xmlns:a16="http://schemas.microsoft.com/office/drawing/2014/main" id="{67B661E0-6309-26F1-1E4E-CF7F45B05D88}"/>
              </a:ext>
            </a:extLst>
          </p:cNvPr>
          <p:cNvSpPr>
            <a:spLocks noGrp="1" noChangeArrowheads="1"/>
          </p:cNvSpPr>
          <p:nvPr>
            <p:ph sz="quarter" idx="4294967295"/>
          </p:nvPr>
        </p:nvSpPr>
        <p:spPr>
          <a:xfrm>
            <a:off x="1091255" y="1541135"/>
            <a:ext cx="8504238" cy="4572000"/>
          </a:xfrm>
        </p:spPr>
        <p:txBody>
          <a:bodyPr/>
          <a:lstStyle/>
          <a:p>
            <a:pPr eaLnBrk="1" hangingPunct="1">
              <a:lnSpc>
                <a:spcPct val="100000"/>
              </a:lnSpc>
              <a:buFont typeface="Arial" panose="020B0604020202020204" pitchFamily="34" charset="0"/>
              <a:buChar char="•"/>
            </a:pPr>
            <a:r>
              <a:rPr lang="en-US" altLang="zh-CN" sz="2400" dirty="0" err="1">
                <a:solidFill>
                  <a:srgbClr val="FF0000"/>
                </a:solidFill>
                <a:latin typeface="+mn-ea"/>
              </a:rPr>
              <a:t>完全可观察的</a:t>
            </a:r>
            <a:r>
              <a:rPr lang="en-US" altLang="zh-CN" sz="2400" dirty="0">
                <a:latin typeface="+mn-ea"/>
              </a:rPr>
              <a:t> (</a:t>
            </a:r>
            <a:r>
              <a:rPr lang="en-US" altLang="zh-CN" sz="2400" dirty="0" err="1">
                <a:latin typeface="+mn-ea"/>
              </a:rPr>
              <a:t>与部分可观察性</a:t>
            </a:r>
            <a:r>
              <a:rPr lang="en-US" altLang="zh-CN" sz="2400" dirty="0">
                <a:latin typeface="+mn-ea"/>
              </a:rPr>
              <a:t>）</a:t>
            </a:r>
          </a:p>
          <a:p>
            <a:pPr eaLnBrk="1" hangingPunct="1">
              <a:lnSpc>
                <a:spcPct val="100000"/>
              </a:lnSpc>
              <a:buFont typeface="Arial" panose="020B0604020202020204" pitchFamily="34" charset="0"/>
              <a:buChar char="•"/>
            </a:pPr>
            <a:r>
              <a:rPr lang="en-US" altLang="zh-CN" sz="2400" dirty="0" err="1">
                <a:solidFill>
                  <a:srgbClr val="FF0000"/>
                </a:solidFill>
                <a:latin typeface="+mn-ea"/>
              </a:rPr>
              <a:t>确定性</a:t>
            </a:r>
            <a:r>
              <a:rPr lang="en-US" altLang="zh-CN" sz="2400" dirty="0">
                <a:latin typeface="+mn-ea"/>
              </a:rPr>
              <a:t> (</a:t>
            </a:r>
            <a:r>
              <a:rPr lang="en-US" altLang="zh-CN" sz="2400" dirty="0" err="1">
                <a:latin typeface="+mn-ea"/>
              </a:rPr>
              <a:t>与随机性</a:t>
            </a:r>
            <a:r>
              <a:rPr lang="en-US" altLang="zh-CN" sz="2400" dirty="0">
                <a:latin typeface="+mn-ea"/>
              </a:rPr>
              <a:t>）</a:t>
            </a:r>
          </a:p>
          <a:p>
            <a:pPr eaLnBrk="1" hangingPunct="1">
              <a:lnSpc>
                <a:spcPct val="100000"/>
              </a:lnSpc>
              <a:buFont typeface="Arial" panose="020B0604020202020204" pitchFamily="34" charset="0"/>
              <a:buChar char="•"/>
            </a:pPr>
            <a:r>
              <a:rPr lang="zh-CN" altLang="en-US" sz="2400" dirty="0">
                <a:solidFill>
                  <a:srgbClr val="FF0000"/>
                </a:solidFill>
                <a:latin typeface="+mn-ea"/>
              </a:rPr>
              <a:t>分段性</a:t>
            </a:r>
            <a:r>
              <a:rPr lang="en-US" altLang="zh-CN" sz="2400" dirty="0">
                <a:latin typeface="+mn-ea"/>
              </a:rPr>
              <a:t>(</a:t>
            </a:r>
            <a:r>
              <a:rPr lang="en-US" altLang="zh-CN" sz="2400" dirty="0" err="1">
                <a:latin typeface="+mn-ea"/>
              </a:rPr>
              <a:t>与顺序</a:t>
            </a:r>
            <a:r>
              <a:rPr lang="en-US" altLang="zh-CN" sz="2400" dirty="0">
                <a:latin typeface="+mn-ea"/>
              </a:rPr>
              <a:t>）</a:t>
            </a:r>
          </a:p>
          <a:p>
            <a:pPr eaLnBrk="1" hangingPunct="1">
              <a:lnSpc>
                <a:spcPct val="100000"/>
              </a:lnSpc>
              <a:buFont typeface="Arial" panose="020B0604020202020204" pitchFamily="34" charset="0"/>
              <a:buChar char="•"/>
            </a:pPr>
            <a:r>
              <a:rPr lang="en-US" altLang="zh-CN" sz="2400" dirty="0" err="1">
                <a:solidFill>
                  <a:srgbClr val="FF0000"/>
                </a:solidFill>
                <a:latin typeface="+mn-ea"/>
              </a:rPr>
              <a:t>静态</a:t>
            </a:r>
            <a:r>
              <a:rPr lang="en-US" altLang="zh-CN" sz="2400" dirty="0">
                <a:latin typeface="+mn-ea"/>
              </a:rPr>
              <a:t>(</a:t>
            </a:r>
            <a:r>
              <a:rPr lang="en-US" altLang="zh-CN" sz="2400" dirty="0" err="1">
                <a:latin typeface="+mn-ea"/>
              </a:rPr>
              <a:t>与动态</a:t>
            </a:r>
            <a:r>
              <a:rPr lang="en-US" altLang="zh-CN" sz="2400" dirty="0">
                <a:latin typeface="+mn-ea"/>
              </a:rPr>
              <a:t>）</a:t>
            </a:r>
          </a:p>
          <a:p>
            <a:pPr eaLnBrk="1" hangingPunct="1">
              <a:lnSpc>
                <a:spcPct val="100000"/>
              </a:lnSpc>
              <a:buFont typeface="Arial" panose="020B0604020202020204" pitchFamily="34" charset="0"/>
              <a:buChar char="•"/>
            </a:pPr>
            <a:r>
              <a:rPr lang="en-US" altLang="zh-CN" sz="2400" dirty="0" err="1">
                <a:solidFill>
                  <a:srgbClr val="FF0000"/>
                </a:solidFill>
                <a:latin typeface="+mn-ea"/>
              </a:rPr>
              <a:t>离散</a:t>
            </a:r>
            <a:r>
              <a:rPr lang="en-US" altLang="zh-CN" sz="2400" dirty="0">
                <a:latin typeface="+mn-ea"/>
              </a:rPr>
              <a:t> (</a:t>
            </a:r>
            <a:r>
              <a:rPr lang="en-US" altLang="zh-CN" sz="2400" dirty="0" err="1">
                <a:latin typeface="+mn-ea"/>
              </a:rPr>
              <a:t>与连续</a:t>
            </a:r>
            <a:r>
              <a:rPr lang="en-US" altLang="zh-CN" sz="2400" dirty="0">
                <a:latin typeface="+mn-ea"/>
              </a:rPr>
              <a:t>）</a:t>
            </a:r>
          </a:p>
          <a:p>
            <a:pPr eaLnBrk="1" hangingPunct="1">
              <a:lnSpc>
                <a:spcPct val="100000"/>
              </a:lnSpc>
              <a:buFont typeface="Arial" panose="020B0604020202020204" pitchFamily="34" charset="0"/>
              <a:buChar char="•"/>
            </a:pPr>
            <a:r>
              <a:rPr lang="en-US" altLang="zh-CN" sz="2400" dirty="0">
                <a:solidFill>
                  <a:srgbClr val="FF0000"/>
                </a:solidFill>
                <a:latin typeface="+mn-ea"/>
              </a:rPr>
              <a:t>单</a:t>
            </a:r>
            <a:r>
              <a:rPr lang="zh-CN" altLang="en-US" sz="2400" dirty="0">
                <a:solidFill>
                  <a:srgbClr val="FF0000"/>
                </a:solidFill>
                <a:latin typeface="+mn-ea"/>
              </a:rPr>
              <a:t>智能体</a:t>
            </a:r>
            <a:r>
              <a:rPr lang="en-US" altLang="zh-CN" sz="2400" dirty="0">
                <a:latin typeface="+mn-ea"/>
              </a:rPr>
              <a:t> (</a:t>
            </a:r>
            <a:r>
              <a:rPr lang="en-US" altLang="zh-CN" sz="2400" dirty="0" err="1">
                <a:latin typeface="+mn-ea"/>
              </a:rPr>
              <a:t>与多智能体相比</a:t>
            </a:r>
            <a:r>
              <a:rPr lang="zh-CN" altLang="en-US" sz="2400" dirty="0">
                <a:latin typeface="+mn-ea"/>
              </a:rPr>
              <a:t>）</a:t>
            </a:r>
            <a:r>
              <a:rPr lang="en-US" altLang="zh-CN" sz="2400" dirty="0">
                <a:latin typeface="+mn-ea"/>
              </a:rPr>
              <a:t>：</a:t>
            </a:r>
            <a:endParaRPr lang="en-US" altLang="zh-CN" sz="2400" dirty="0">
              <a:latin typeface="+mn-ea"/>
              <a:cs typeface="+mn-ea"/>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2">
            <a:extLst>
              <a:ext uri="{FF2B5EF4-FFF2-40B4-BE49-F238E27FC236}">
                <a16:creationId xmlns:a16="http://schemas.microsoft.com/office/drawing/2014/main" id="{8D85ED74-C436-2202-3DF7-22AF6142ABB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dirty="0">
                <a:solidFill>
                  <a:srgbClr val="FFFFFF"/>
                </a:solidFill>
                <a:latin typeface="+mn-lt"/>
                <a:cs typeface="+mn-ea"/>
                <a:sym typeface="+mn-lt"/>
              </a:rPr>
              <a:t>Artificial Intelligence a modern approach</a:t>
            </a:r>
          </a:p>
        </p:txBody>
      </p:sp>
      <p:sp>
        <p:nvSpPr>
          <p:cNvPr id="22" name="Title 1">
            <a:extLst>
              <a:ext uri="{FF2B5EF4-FFF2-40B4-BE49-F238E27FC236}">
                <a16:creationId xmlns:a16="http://schemas.microsoft.com/office/drawing/2014/main" id="{545CF437-4572-4642-9F31-8D82D6A5C3F0}"/>
              </a:ext>
            </a:extLst>
          </p:cNvPr>
          <p:cNvSpPr>
            <a:spLocks noGrp="1" noChangeArrowheads="1"/>
          </p:cNvSpPr>
          <p:nvPr>
            <p:ph type="title"/>
          </p:nvPr>
        </p:nvSpPr>
        <p:spPr>
          <a:xfrm>
            <a:off x="1091255" y="237834"/>
            <a:ext cx="8168208" cy="790865"/>
          </a:xfrm>
        </p:spPr>
        <p:txBody>
          <a:bodyPr>
            <a:normAutofit/>
          </a:bodyPr>
          <a:lstStyle/>
          <a:p>
            <a:pPr eaLnBrk="1" hangingPunct="1"/>
            <a:r>
              <a:rPr lang="en-US" altLang="zh-CN" sz="3240" dirty="0">
                <a:solidFill>
                  <a:srgbClr val="FF0000"/>
                </a:solidFill>
                <a:latin typeface="+mn-lt"/>
                <a:ea typeface="+mn-ea"/>
                <a:cs typeface="+mn-ea"/>
                <a:sym typeface="+mn-lt"/>
              </a:rPr>
              <a:t>完全可观察的</a:t>
            </a:r>
            <a:r>
              <a:rPr lang="en-US" altLang="zh-CN" dirty="0">
                <a:solidFill>
                  <a:srgbClr val="7B9899"/>
                </a:solidFill>
                <a:latin typeface="+mn-lt"/>
                <a:ea typeface="+mn-ea"/>
                <a:cs typeface="+mn-ea"/>
                <a:sym typeface="+mn-lt"/>
              </a:rPr>
              <a:t> </a:t>
            </a:r>
            <a:r>
              <a:rPr lang="en-US" altLang="zh-CN" sz="3240" dirty="0">
                <a:solidFill>
                  <a:srgbClr val="515223"/>
                </a:solidFill>
                <a:latin typeface="+mn-lt"/>
                <a:ea typeface="+mn-ea"/>
                <a:cs typeface="+mn-ea"/>
                <a:sym typeface="+mn-lt"/>
              </a:rPr>
              <a:t>(与部分可观察性）</a:t>
            </a:r>
            <a:endParaRPr lang="en-US" altLang="zh-CN" sz="3000" dirty="0">
              <a:solidFill>
                <a:srgbClr val="515223"/>
              </a:solidFill>
              <a:latin typeface="+mn-lt"/>
              <a:ea typeface="+mn-ea"/>
              <a:cs typeface="+mn-ea"/>
              <a:sym typeface="+mn-lt"/>
            </a:endParaRPr>
          </a:p>
        </p:txBody>
      </p:sp>
      <p:sp>
        <p:nvSpPr>
          <p:cNvPr id="23" name="Content Placeholder 4">
            <a:extLst>
              <a:ext uri="{FF2B5EF4-FFF2-40B4-BE49-F238E27FC236}">
                <a16:creationId xmlns:a16="http://schemas.microsoft.com/office/drawing/2014/main" id="{EBB8AF20-CDCE-4B8C-9D8F-2540ECA1C5CA}"/>
              </a:ext>
            </a:extLst>
          </p:cNvPr>
          <p:cNvSpPr txBox="1">
            <a:spLocks noChangeArrowheads="1"/>
          </p:cNvSpPr>
          <p:nvPr/>
        </p:nvSpPr>
        <p:spPr>
          <a:xfrm>
            <a:off x="1091255" y="1527175"/>
            <a:ext cx="9821075" cy="4572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tLang="zh-CN" dirty="0" err="1">
                <a:latin typeface="+mn-lt"/>
                <a:cs typeface="+mn-ea"/>
                <a:sym typeface="+mn-lt"/>
              </a:rPr>
              <a:t>智能体选择行动所需的一切是否都已具备？</a:t>
            </a:r>
            <a:r>
              <a:rPr lang="en-GB" altLang="zh-CN" b="1" dirty="0" err="1">
                <a:latin typeface="+mn-lt"/>
                <a:cs typeface="+mn-ea"/>
                <a:sym typeface="+mn-lt"/>
              </a:rPr>
              <a:t>通过其传感器</a:t>
            </a:r>
            <a:r>
              <a:rPr lang="en-GB" altLang="zh-CN" dirty="0" err="1">
                <a:latin typeface="+mn-lt"/>
                <a:cs typeface="+mn-ea"/>
                <a:sym typeface="+mn-lt"/>
              </a:rPr>
              <a:t>完美或完整信息</a:t>
            </a:r>
            <a:r>
              <a:rPr lang="en-GB" altLang="zh-CN" dirty="0">
                <a:latin typeface="+mn-lt"/>
                <a:cs typeface="+mn-ea"/>
                <a:sym typeface="+mn-lt"/>
              </a:rPr>
              <a:t>。</a:t>
            </a:r>
          </a:p>
          <a:p>
            <a:pPr lvl="1"/>
            <a:r>
              <a:rPr lang="en-GB" altLang="zh-CN" dirty="0" err="1">
                <a:solidFill>
                  <a:srgbClr val="0070C0"/>
                </a:solidFill>
                <a:latin typeface="+mn-lt"/>
                <a:cs typeface="+mn-ea"/>
                <a:sym typeface="+mn-lt"/>
              </a:rPr>
              <a:t>如果是这样，该环境是完全</a:t>
            </a:r>
            <a:r>
              <a:rPr lang="zh-CN" altLang="en-US" dirty="0">
                <a:solidFill>
                  <a:srgbClr val="0070C0"/>
                </a:solidFill>
                <a:latin typeface="+mn-lt"/>
                <a:cs typeface="+mn-ea"/>
                <a:sym typeface="+mn-lt"/>
              </a:rPr>
              <a:t>可观测</a:t>
            </a:r>
            <a:r>
              <a:rPr lang="en-GB" altLang="zh-CN" dirty="0">
                <a:solidFill>
                  <a:srgbClr val="0070C0"/>
                </a:solidFill>
                <a:latin typeface="+mn-lt"/>
                <a:cs typeface="+mn-ea"/>
                <a:sym typeface="+mn-lt"/>
              </a:rPr>
              <a:t>的。</a:t>
            </a:r>
          </a:p>
          <a:p>
            <a:r>
              <a:rPr lang="en-GB" altLang="zh-CN" dirty="0" err="1">
                <a:latin typeface="+mn-lt"/>
                <a:cs typeface="+mn-ea"/>
                <a:sym typeface="+mn-lt"/>
              </a:rPr>
              <a:t>如果不是，环境的某些部分将无法访问</a:t>
            </a:r>
            <a:r>
              <a:rPr lang="en-GB" altLang="zh-CN" dirty="0">
                <a:latin typeface="+mn-lt"/>
                <a:cs typeface="+mn-ea"/>
                <a:sym typeface="+mn-lt"/>
              </a:rPr>
              <a:t>。</a:t>
            </a:r>
          </a:p>
          <a:p>
            <a:pPr lvl="1"/>
            <a:r>
              <a:rPr lang="zh-CN" altLang="en-US" dirty="0">
                <a:solidFill>
                  <a:srgbClr val="0070C0"/>
                </a:solidFill>
                <a:latin typeface="+mn-lt"/>
                <a:cs typeface="+mn-ea"/>
                <a:sym typeface="+mn-lt"/>
              </a:rPr>
              <a:t>智能体</a:t>
            </a:r>
            <a:r>
              <a:rPr lang="en-GB" altLang="zh-CN" dirty="0" err="1">
                <a:solidFill>
                  <a:srgbClr val="0070C0"/>
                </a:solidFill>
                <a:latin typeface="+mn-lt"/>
                <a:cs typeface="+mn-ea"/>
                <a:sym typeface="+mn-lt"/>
              </a:rPr>
              <a:t>必须对世界做出明智的猜测</a:t>
            </a:r>
            <a:r>
              <a:rPr lang="en-GB" altLang="zh-CN" dirty="0">
                <a:solidFill>
                  <a:srgbClr val="0070C0"/>
                </a:solidFill>
                <a:latin typeface="+mn-lt"/>
                <a:cs typeface="+mn-ea"/>
                <a:sym typeface="+mn-lt"/>
              </a:rPr>
              <a:t>。</a:t>
            </a:r>
          </a:p>
          <a:p>
            <a:r>
              <a:rPr lang="en-GB" altLang="zh-CN" dirty="0" err="1">
                <a:latin typeface="+mn-lt"/>
                <a:cs typeface="+mn-ea"/>
                <a:sym typeface="+mn-lt"/>
              </a:rPr>
              <a:t>在决策理论中：完全信息与不完全信息</a:t>
            </a:r>
            <a:r>
              <a:rPr lang="en-GB" altLang="zh-CN" dirty="0">
                <a:latin typeface="+mn-lt"/>
                <a:cs typeface="+mn-ea"/>
                <a:sym typeface="+mn-lt"/>
              </a:rPr>
              <a:t>。</a:t>
            </a:r>
          </a:p>
          <a:p>
            <a:endParaRPr lang="en-US" altLang="zh-CN" dirty="0">
              <a:latin typeface="+mn-lt"/>
              <a:cs typeface="+mn-ea"/>
              <a:sym typeface="+mn-lt"/>
            </a:endParaRPr>
          </a:p>
        </p:txBody>
      </p:sp>
      <p:grpSp>
        <p:nvGrpSpPr>
          <p:cNvPr id="37" name="Group 17">
            <a:extLst>
              <a:ext uri="{FF2B5EF4-FFF2-40B4-BE49-F238E27FC236}">
                <a16:creationId xmlns:a16="http://schemas.microsoft.com/office/drawing/2014/main" id="{1FFB2178-9443-4FB8-8560-8DF6D3F9966A}"/>
              </a:ext>
            </a:extLst>
          </p:cNvPr>
          <p:cNvGrpSpPr>
            <a:grpSpLocks/>
          </p:cNvGrpSpPr>
          <p:nvPr/>
        </p:nvGrpSpPr>
        <p:grpSpPr bwMode="auto">
          <a:xfrm>
            <a:off x="1666875" y="4656693"/>
            <a:ext cx="8640497" cy="674132"/>
            <a:chOff x="457200" y="4267200"/>
            <a:chExt cx="8048449" cy="674133"/>
          </a:xfrm>
        </p:grpSpPr>
        <p:sp>
          <p:nvSpPr>
            <p:cNvPr id="38" name="TextBox 5">
              <a:extLst>
                <a:ext uri="{FF2B5EF4-FFF2-40B4-BE49-F238E27FC236}">
                  <a16:creationId xmlns:a16="http://schemas.microsoft.com/office/drawing/2014/main" id="{9A090B3B-24A1-4ABF-9CC3-D73E4370595F}"/>
                </a:ext>
              </a:extLst>
            </p:cNvPr>
            <p:cNvSpPr txBox="1">
              <a:spLocks noChangeArrowheads="1"/>
            </p:cNvSpPr>
            <p:nvPr/>
          </p:nvSpPr>
          <p:spPr bwMode="auto">
            <a:xfrm>
              <a:off x="588459" y="4267200"/>
              <a:ext cx="602044"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err="1">
                  <a:latin typeface="+mn-lt"/>
                  <a:cs typeface="+mn-ea"/>
                  <a:sym typeface="+mn-lt"/>
                </a:rPr>
                <a:t>字谜</a:t>
              </a:r>
              <a:endParaRPr lang="en-US" altLang="zh-CN" sz="1800" b="1" dirty="0">
                <a:latin typeface="+mn-lt"/>
                <a:cs typeface="+mn-ea"/>
                <a:sym typeface="+mn-lt"/>
              </a:endParaRPr>
            </a:p>
          </p:txBody>
        </p:sp>
        <p:sp>
          <p:nvSpPr>
            <p:cNvPr id="39" name="TextBox 6">
              <a:extLst>
                <a:ext uri="{FF2B5EF4-FFF2-40B4-BE49-F238E27FC236}">
                  <a16:creationId xmlns:a16="http://schemas.microsoft.com/office/drawing/2014/main" id="{DA71013C-4D25-4CD6-A2C1-DCB7F7C1B793}"/>
                </a:ext>
              </a:extLst>
            </p:cNvPr>
            <p:cNvSpPr txBox="1">
              <a:spLocks noChangeArrowheads="1"/>
            </p:cNvSpPr>
            <p:nvPr/>
          </p:nvSpPr>
          <p:spPr bwMode="auto">
            <a:xfrm>
              <a:off x="2778558" y="4267200"/>
              <a:ext cx="817060"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zh-CN" altLang="en-US" b="1" dirty="0">
                  <a:latin typeface="+mn-lt"/>
                  <a:cs typeface="+mn-ea"/>
                  <a:sym typeface="+mn-lt"/>
                </a:rPr>
                <a:t>双陆</a:t>
              </a:r>
              <a:r>
                <a:rPr lang="zh-CN" altLang="en-US" sz="1800" b="1" dirty="0">
                  <a:latin typeface="+mn-lt"/>
                  <a:cs typeface="+mn-ea"/>
                  <a:sym typeface="+mn-lt"/>
                </a:rPr>
                <a:t>棋</a:t>
              </a:r>
              <a:endParaRPr lang="en-US" altLang="zh-CN" sz="1800" b="1" dirty="0">
                <a:latin typeface="+mn-lt"/>
                <a:cs typeface="+mn-ea"/>
                <a:sym typeface="+mn-lt"/>
              </a:endParaRPr>
            </a:p>
          </p:txBody>
        </p:sp>
        <p:sp>
          <p:nvSpPr>
            <p:cNvPr id="40" name="TextBox 7">
              <a:extLst>
                <a:ext uri="{FF2B5EF4-FFF2-40B4-BE49-F238E27FC236}">
                  <a16:creationId xmlns:a16="http://schemas.microsoft.com/office/drawing/2014/main" id="{ECA75201-73ED-4B74-A52F-6E8E572DC40F}"/>
                </a:ext>
              </a:extLst>
            </p:cNvPr>
            <p:cNvSpPr txBox="1">
              <a:spLocks noChangeArrowheads="1"/>
            </p:cNvSpPr>
            <p:nvPr/>
          </p:nvSpPr>
          <p:spPr bwMode="auto">
            <a:xfrm>
              <a:off x="4038600" y="4267200"/>
              <a:ext cx="1254558"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出租车司机</a:t>
              </a:r>
            </a:p>
          </p:txBody>
        </p:sp>
        <p:sp>
          <p:nvSpPr>
            <p:cNvPr id="41" name="TextBox 8">
              <a:extLst>
                <a:ext uri="{FF2B5EF4-FFF2-40B4-BE49-F238E27FC236}">
                  <a16:creationId xmlns:a16="http://schemas.microsoft.com/office/drawing/2014/main" id="{B929115B-FED7-4DD4-B456-0EC4CF4A60FD}"/>
                </a:ext>
              </a:extLst>
            </p:cNvPr>
            <p:cNvSpPr txBox="1">
              <a:spLocks noChangeArrowheads="1"/>
            </p:cNvSpPr>
            <p:nvPr/>
          </p:nvSpPr>
          <p:spPr bwMode="auto">
            <a:xfrm>
              <a:off x="5486400" y="4267200"/>
              <a:ext cx="168757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零件拣选机器人</a:t>
              </a:r>
            </a:p>
          </p:txBody>
        </p:sp>
        <p:sp>
          <p:nvSpPr>
            <p:cNvPr id="42" name="TextBox 9">
              <a:extLst>
                <a:ext uri="{FF2B5EF4-FFF2-40B4-BE49-F238E27FC236}">
                  <a16:creationId xmlns:a16="http://schemas.microsoft.com/office/drawing/2014/main" id="{E75EE922-0377-4BB0-BD90-D7084AF811FE}"/>
                </a:ext>
              </a:extLst>
            </p:cNvPr>
            <p:cNvSpPr txBox="1">
              <a:spLocks noChangeArrowheads="1"/>
            </p:cNvSpPr>
            <p:nvPr/>
          </p:nvSpPr>
          <p:spPr bwMode="auto">
            <a:xfrm>
              <a:off x="1600200" y="4267200"/>
              <a:ext cx="605031"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扑克</a:t>
              </a:r>
            </a:p>
          </p:txBody>
        </p:sp>
        <p:sp>
          <p:nvSpPr>
            <p:cNvPr id="43" name="TextBox 10">
              <a:extLst>
                <a:ext uri="{FF2B5EF4-FFF2-40B4-BE49-F238E27FC236}">
                  <a16:creationId xmlns:a16="http://schemas.microsoft.com/office/drawing/2014/main" id="{82A97244-5E77-44AE-AA47-11CA3EA72728}"/>
                </a:ext>
              </a:extLst>
            </p:cNvPr>
            <p:cNvSpPr txBox="1">
              <a:spLocks noChangeArrowheads="1"/>
            </p:cNvSpPr>
            <p:nvPr/>
          </p:nvSpPr>
          <p:spPr bwMode="auto">
            <a:xfrm>
              <a:off x="7467600" y="4267200"/>
              <a:ext cx="1038049"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图像分析</a:t>
              </a:r>
            </a:p>
          </p:txBody>
        </p:sp>
        <p:sp>
          <p:nvSpPr>
            <p:cNvPr id="44" name="TextBox 11">
              <a:extLst>
                <a:ext uri="{FF2B5EF4-FFF2-40B4-BE49-F238E27FC236}">
                  <a16:creationId xmlns:a16="http://schemas.microsoft.com/office/drawing/2014/main" id="{01706EB1-E662-404A-9313-4CAF258D9819}"/>
                </a:ext>
              </a:extLst>
            </p:cNvPr>
            <p:cNvSpPr txBox="1">
              <a:spLocks noChangeArrowheads="1"/>
            </p:cNvSpPr>
            <p:nvPr/>
          </p:nvSpPr>
          <p:spPr bwMode="auto">
            <a:xfrm>
              <a:off x="457200" y="4572000"/>
              <a:ext cx="817060"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完全地</a:t>
              </a:r>
            </a:p>
          </p:txBody>
        </p:sp>
        <p:sp>
          <p:nvSpPr>
            <p:cNvPr id="45" name="TextBox 12">
              <a:extLst>
                <a:ext uri="{FF2B5EF4-FFF2-40B4-BE49-F238E27FC236}">
                  <a16:creationId xmlns:a16="http://schemas.microsoft.com/office/drawing/2014/main" id="{AD053343-AF13-4A92-B750-4985829475E9}"/>
                </a:ext>
              </a:extLst>
            </p:cNvPr>
            <p:cNvSpPr txBox="1">
              <a:spLocks noChangeArrowheads="1"/>
            </p:cNvSpPr>
            <p:nvPr/>
          </p:nvSpPr>
          <p:spPr bwMode="auto">
            <a:xfrm>
              <a:off x="5923899" y="4572000"/>
              <a:ext cx="817060"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err="1">
                  <a:latin typeface="+mn-lt"/>
                  <a:cs typeface="+mn-ea"/>
                  <a:sym typeface="+mn-lt"/>
                </a:rPr>
                <a:t>完全地</a:t>
              </a:r>
              <a:endParaRPr lang="en-US" altLang="zh-CN" sz="1800" dirty="0">
                <a:latin typeface="+mn-lt"/>
                <a:cs typeface="+mn-ea"/>
                <a:sym typeface="+mn-lt"/>
              </a:endParaRPr>
            </a:p>
          </p:txBody>
        </p:sp>
        <p:sp>
          <p:nvSpPr>
            <p:cNvPr id="46" name="TextBox 13">
              <a:extLst>
                <a:ext uri="{FF2B5EF4-FFF2-40B4-BE49-F238E27FC236}">
                  <a16:creationId xmlns:a16="http://schemas.microsoft.com/office/drawing/2014/main" id="{F1672BC5-227D-4292-940A-7CDF188AF790}"/>
                </a:ext>
              </a:extLst>
            </p:cNvPr>
            <p:cNvSpPr txBox="1">
              <a:spLocks noChangeArrowheads="1"/>
            </p:cNvSpPr>
            <p:nvPr/>
          </p:nvSpPr>
          <p:spPr bwMode="auto">
            <a:xfrm>
              <a:off x="7611474" y="4572000"/>
              <a:ext cx="817060"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完全地</a:t>
              </a:r>
            </a:p>
          </p:txBody>
        </p:sp>
        <p:sp>
          <p:nvSpPr>
            <p:cNvPr id="47" name="TextBox 14">
              <a:extLst>
                <a:ext uri="{FF2B5EF4-FFF2-40B4-BE49-F238E27FC236}">
                  <a16:creationId xmlns:a16="http://schemas.microsoft.com/office/drawing/2014/main" id="{8744E67F-DD5F-4071-9965-B0B7D0AC530E}"/>
                </a:ext>
              </a:extLst>
            </p:cNvPr>
            <p:cNvSpPr txBox="1">
              <a:spLocks noChangeArrowheads="1"/>
            </p:cNvSpPr>
            <p:nvPr/>
          </p:nvSpPr>
          <p:spPr bwMode="auto">
            <a:xfrm>
              <a:off x="2743200" y="4572000"/>
              <a:ext cx="817060"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部分地</a:t>
              </a:r>
            </a:p>
          </p:txBody>
        </p:sp>
        <p:sp>
          <p:nvSpPr>
            <p:cNvPr id="48" name="TextBox 15">
              <a:extLst>
                <a:ext uri="{FF2B5EF4-FFF2-40B4-BE49-F238E27FC236}">
                  <a16:creationId xmlns:a16="http://schemas.microsoft.com/office/drawing/2014/main" id="{2F86D047-7603-4811-8074-43ED4D98077C}"/>
                </a:ext>
              </a:extLst>
            </p:cNvPr>
            <p:cNvSpPr txBox="1">
              <a:spLocks noChangeArrowheads="1"/>
            </p:cNvSpPr>
            <p:nvPr/>
          </p:nvSpPr>
          <p:spPr bwMode="auto">
            <a:xfrm>
              <a:off x="1524000" y="4572000"/>
              <a:ext cx="817060"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a:latin typeface="+mn-lt"/>
                  <a:cs typeface="+mn-ea"/>
                  <a:sym typeface="+mn-lt"/>
                </a:rPr>
                <a:t>部分地</a:t>
              </a:r>
            </a:p>
          </p:txBody>
        </p:sp>
        <p:sp>
          <p:nvSpPr>
            <p:cNvPr id="49" name="TextBox 16">
              <a:extLst>
                <a:ext uri="{FF2B5EF4-FFF2-40B4-BE49-F238E27FC236}">
                  <a16:creationId xmlns:a16="http://schemas.microsoft.com/office/drawing/2014/main" id="{73655BFB-6A25-4A47-A32B-98AE02250D01}"/>
                </a:ext>
              </a:extLst>
            </p:cNvPr>
            <p:cNvSpPr txBox="1">
              <a:spLocks noChangeArrowheads="1"/>
            </p:cNvSpPr>
            <p:nvPr/>
          </p:nvSpPr>
          <p:spPr bwMode="auto">
            <a:xfrm>
              <a:off x="4191000" y="4572000"/>
              <a:ext cx="817060"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err="1">
                  <a:latin typeface="+mn-lt"/>
                  <a:cs typeface="+mn-ea"/>
                  <a:sym typeface="+mn-lt"/>
                </a:rPr>
                <a:t>部分地</a:t>
              </a:r>
              <a:endParaRPr lang="en-US" altLang="zh-CN" sz="1800" dirty="0">
                <a:latin typeface="+mn-lt"/>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
                                            <p:txEl>
                                              <p:pRg st="1" end="1"/>
                                            </p:txEl>
                                          </p:spTgt>
                                        </p:tgtEl>
                                        <p:attrNameLst>
                                          <p:attrName>style.visibility</p:attrName>
                                        </p:attrNameLst>
                                      </p:cBhvr>
                                      <p:to>
                                        <p:strVal val="visible"/>
                                      </p:to>
                                    </p:set>
                                    <p:animEffect transition="in" filter="fade">
                                      <p:cBhvr>
                                        <p:cTn id="10" dur="500"/>
                                        <p:tgtEl>
                                          <p:spTgt spid="2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xEl>
                                              <p:pRg st="2" end="2"/>
                                            </p:txEl>
                                          </p:spTgt>
                                        </p:tgtEl>
                                        <p:attrNameLst>
                                          <p:attrName>style.visibility</p:attrName>
                                        </p:attrNameLst>
                                      </p:cBhvr>
                                      <p:to>
                                        <p:strVal val="visible"/>
                                      </p:to>
                                    </p:set>
                                    <p:animEffect transition="in" filter="fade">
                                      <p:cBhvr>
                                        <p:cTn id="15" dur="500"/>
                                        <p:tgtEl>
                                          <p:spTgt spid="2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xEl>
                                              <p:pRg st="3" end="3"/>
                                            </p:txEl>
                                          </p:spTgt>
                                        </p:tgtEl>
                                        <p:attrNameLst>
                                          <p:attrName>style.visibility</p:attrName>
                                        </p:attrNameLst>
                                      </p:cBhvr>
                                      <p:to>
                                        <p:strVal val="visible"/>
                                      </p:to>
                                    </p:set>
                                    <p:animEffect transition="in" filter="fade">
                                      <p:cBhvr>
                                        <p:cTn id="18" dur="500"/>
                                        <p:tgtEl>
                                          <p:spTgt spid="2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xEl>
                                              <p:pRg st="4" end="4"/>
                                            </p:txEl>
                                          </p:spTgt>
                                        </p:tgtEl>
                                        <p:attrNameLst>
                                          <p:attrName>style.visibility</p:attrName>
                                        </p:attrNameLst>
                                      </p:cBhvr>
                                      <p:to>
                                        <p:strVal val="visible"/>
                                      </p:to>
                                    </p:set>
                                    <p:animEffect transition="in" filter="fade">
                                      <p:cBhvr>
                                        <p:cTn id="23" dur="500"/>
                                        <p:tgtEl>
                                          <p:spTgt spid="2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2">
            <a:extLst>
              <a:ext uri="{FF2B5EF4-FFF2-40B4-BE49-F238E27FC236}">
                <a16:creationId xmlns:a16="http://schemas.microsoft.com/office/drawing/2014/main" id="{9DCF9C91-17FD-DEFF-0DDC-DC8FECD5DB85}"/>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24" name="Title 1">
            <a:extLst>
              <a:ext uri="{FF2B5EF4-FFF2-40B4-BE49-F238E27FC236}">
                <a16:creationId xmlns:a16="http://schemas.microsoft.com/office/drawing/2014/main" id="{87D3C287-2120-4B36-8DDA-2FC0399FBD8C}"/>
              </a:ext>
            </a:extLst>
          </p:cNvPr>
          <p:cNvSpPr>
            <a:spLocks noGrp="1" noChangeArrowheads="1"/>
          </p:cNvSpPr>
          <p:nvPr>
            <p:ph type="title"/>
          </p:nvPr>
        </p:nvSpPr>
        <p:spPr>
          <a:xfrm>
            <a:off x="1091255" y="237834"/>
            <a:ext cx="8168208" cy="790865"/>
          </a:xfrm>
        </p:spPr>
        <p:txBody>
          <a:bodyPr/>
          <a:lstStyle/>
          <a:p>
            <a:pPr eaLnBrk="1" hangingPunct="1"/>
            <a:r>
              <a:rPr lang="en-US" altLang="zh-CN" sz="3600" dirty="0">
                <a:solidFill>
                  <a:srgbClr val="FF0000"/>
                </a:solidFill>
                <a:latin typeface="+mn-lt"/>
                <a:ea typeface="+mn-ea"/>
                <a:cs typeface="+mn-ea"/>
                <a:sym typeface="+mn-lt"/>
              </a:rPr>
              <a:t>确定性</a:t>
            </a:r>
            <a:r>
              <a:rPr lang="en-US" altLang="zh-CN" sz="3600" dirty="0">
                <a:solidFill>
                  <a:srgbClr val="7B9899"/>
                </a:solidFill>
                <a:latin typeface="+mn-lt"/>
                <a:ea typeface="+mn-ea"/>
                <a:cs typeface="+mn-ea"/>
                <a:sym typeface="+mn-lt"/>
              </a:rPr>
              <a:t> </a:t>
            </a:r>
            <a:r>
              <a:rPr lang="en-US" altLang="zh-CN" sz="3600" dirty="0">
                <a:solidFill>
                  <a:srgbClr val="515223"/>
                </a:solidFill>
                <a:latin typeface="+mn-lt"/>
                <a:ea typeface="+mn-ea"/>
                <a:cs typeface="+mn-ea"/>
                <a:sym typeface="+mn-lt"/>
              </a:rPr>
              <a:t>(与随机性）</a:t>
            </a:r>
            <a:endParaRPr lang="en-US" altLang="zh-CN" dirty="0">
              <a:solidFill>
                <a:srgbClr val="515223"/>
              </a:solidFill>
              <a:latin typeface="+mn-lt"/>
              <a:ea typeface="+mn-ea"/>
              <a:cs typeface="+mn-ea"/>
              <a:sym typeface="+mn-lt"/>
            </a:endParaRPr>
          </a:p>
        </p:txBody>
      </p:sp>
      <p:sp>
        <p:nvSpPr>
          <p:cNvPr id="25" name="Content Placeholder 4">
            <a:extLst>
              <a:ext uri="{FF2B5EF4-FFF2-40B4-BE49-F238E27FC236}">
                <a16:creationId xmlns:a16="http://schemas.microsoft.com/office/drawing/2014/main" id="{325D035F-BA76-4F86-8F3A-19EA516D4580}"/>
              </a:ext>
            </a:extLst>
          </p:cNvPr>
          <p:cNvSpPr txBox="1">
            <a:spLocks noChangeArrowheads="1"/>
          </p:cNvSpPr>
          <p:nvPr/>
        </p:nvSpPr>
        <p:spPr>
          <a:xfrm>
            <a:off x="1091255" y="1568447"/>
            <a:ext cx="9818724" cy="2359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tLang="zh-CN" dirty="0" err="1">
                <a:latin typeface="+mn-lt"/>
                <a:cs typeface="+mn-ea"/>
                <a:sym typeface="+mn-lt"/>
              </a:rPr>
              <a:t>世界状态的变化吗</a:t>
            </a:r>
            <a:r>
              <a:rPr lang="en-GB" altLang="zh-CN" dirty="0">
                <a:latin typeface="+mn-lt"/>
                <a:cs typeface="+mn-ea"/>
                <a:sym typeface="+mn-lt"/>
              </a:rPr>
              <a:t>？</a:t>
            </a:r>
          </a:p>
          <a:p>
            <a:pPr lvl="1"/>
            <a:r>
              <a:rPr lang="en-GB" altLang="zh-CN" dirty="0" err="1">
                <a:solidFill>
                  <a:srgbClr val="0070C0"/>
                </a:solidFill>
                <a:latin typeface="+mn-lt"/>
                <a:cs typeface="+mn-ea"/>
                <a:sym typeface="+mn-lt"/>
              </a:rPr>
              <a:t>仅依赖于当前状态和智能体的动作</a:t>
            </a:r>
            <a:endParaRPr lang="en-GB" altLang="zh-CN" dirty="0">
              <a:solidFill>
                <a:srgbClr val="0070C0"/>
              </a:solidFill>
              <a:latin typeface="+mn-lt"/>
              <a:cs typeface="+mn-ea"/>
              <a:sym typeface="+mn-lt"/>
            </a:endParaRPr>
          </a:p>
          <a:p>
            <a:r>
              <a:rPr lang="en-GB" altLang="zh-CN" dirty="0" err="1">
                <a:latin typeface="+mn-lt"/>
                <a:cs typeface="+mn-ea"/>
                <a:sym typeface="+mn-lt"/>
              </a:rPr>
              <a:t>非确定性环境</a:t>
            </a:r>
            <a:endParaRPr lang="en-GB" altLang="zh-CN" dirty="0">
              <a:latin typeface="+mn-lt"/>
              <a:cs typeface="+mn-ea"/>
              <a:sym typeface="+mn-lt"/>
            </a:endParaRPr>
          </a:p>
          <a:p>
            <a:pPr lvl="1"/>
            <a:r>
              <a:rPr lang="en-GB" altLang="zh-CN" dirty="0" err="1">
                <a:solidFill>
                  <a:srgbClr val="0070C0"/>
                </a:solidFill>
                <a:latin typeface="+mn-lt"/>
                <a:cs typeface="+mn-ea"/>
                <a:sym typeface="+mn-lt"/>
              </a:rPr>
              <a:t>存在</a:t>
            </a:r>
            <a:r>
              <a:rPr lang="zh-CN" altLang="en-US" dirty="0">
                <a:solidFill>
                  <a:srgbClr val="0070C0"/>
                </a:solidFill>
                <a:latin typeface="+mn-lt"/>
                <a:cs typeface="+mn-ea"/>
                <a:sym typeface="+mn-lt"/>
              </a:rPr>
              <a:t>智能体</a:t>
            </a:r>
            <a:r>
              <a:rPr lang="en-GB" altLang="zh-CN" dirty="0" err="1">
                <a:solidFill>
                  <a:srgbClr val="0070C0"/>
                </a:solidFill>
                <a:latin typeface="+mn-lt"/>
                <a:cs typeface="+mn-ea"/>
                <a:sym typeface="+mn-lt"/>
              </a:rPr>
              <a:t>无法控制的方面</a:t>
            </a:r>
            <a:endParaRPr lang="en-GB" altLang="zh-CN" dirty="0">
              <a:solidFill>
                <a:srgbClr val="0070C0"/>
              </a:solidFill>
              <a:latin typeface="+mn-lt"/>
              <a:cs typeface="+mn-ea"/>
              <a:sym typeface="+mn-lt"/>
            </a:endParaRPr>
          </a:p>
          <a:p>
            <a:pPr lvl="1"/>
            <a:r>
              <a:rPr lang="en-GB" altLang="zh-CN" dirty="0" err="1">
                <a:solidFill>
                  <a:srgbClr val="0070C0"/>
                </a:solidFill>
                <a:latin typeface="+mn-lt"/>
                <a:cs typeface="+mn-ea"/>
                <a:sym typeface="+mn-lt"/>
              </a:rPr>
              <a:t>效用函数必须猜测世界的变化</a:t>
            </a:r>
            <a:r>
              <a:rPr lang="en-GB" altLang="zh-CN" dirty="0">
                <a:solidFill>
                  <a:srgbClr val="0070C0"/>
                </a:solidFill>
                <a:latin typeface="+mn-lt"/>
                <a:cs typeface="+mn-ea"/>
                <a:sym typeface="+mn-lt"/>
              </a:rPr>
              <a:t>。</a:t>
            </a:r>
          </a:p>
          <a:p>
            <a:pPr lvl="1"/>
            <a:endParaRPr lang="en-US" altLang="zh-CN" dirty="0">
              <a:latin typeface="+mn-lt"/>
              <a:cs typeface="+mn-ea"/>
              <a:sym typeface="+mn-lt"/>
            </a:endParaRPr>
          </a:p>
        </p:txBody>
      </p:sp>
      <p:grpSp>
        <p:nvGrpSpPr>
          <p:cNvPr id="26" name="组合 25">
            <a:extLst>
              <a:ext uri="{FF2B5EF4-FFF2-40B4-BE49-F238E27FC236}">
                <a16:creationId xmlns:a16="http://schemas.microsoft.com/office/drawing/2014/main" id="{F7749AA5-6CEB-40A2-B2FC-F23C53314351}"/>
              </a:ext>
            </a:extLst>
          </p:cNvPr>
          <p:cNvGrpSpPr/>
          <p:nvPr/>
        </p:nvGrpSpPr>
        <p:grpSpPr>
          <a:xfrm>
            <a:off x="1091256" y="4015576"/>
            <a:ext cx="8992786" cy="828746"/>
            <a:chOff x="1676401" y="4267200"/>
            <a:chExt cx="8349945" cy="687293"/>
          </a:xfrm>
        </p:grpSpPr>
        <p:sp>
          <p:nvSpPr>
            <p:cNvPr id="27" name="TextBox 8">
              <a:extLst>
                <a:ext uri="{FF2B5EF4-FFF2-40B4-BE49-F238E27FC236}">
                  <a16:creationId xmlns:a16="http://schemas.microsoft.com/office/drawing/2014/main" id="{E3BC9578-2C90-41EF-B981-2B0754E2540F}"/>
                </a:ext>
              </a:extLst>
            </p:cNvPr>
            <p:cNvSpPr txBox="1">
              <a:spLocks noChangeArrowheads="1"/>
            </p:cNvSpPr>
            <p:nvPr/>
          </p:nvSpPr>
          <p:spPr bwMode="auto">
            <a:xfrm>
              <a:off x="7010400" y="4267200"/>
              <a:ext cx="1682205" cy="30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a:latin typeface="+mn-lt"/>
                  <a:cs typeface="+mn-ea"/>
                  <a:sym typeface="+mn-lt"/>
                </a:rPr>
                <a:t>零件拣选机器人</a:t>
              </a:r>
            </a:p>
          </p:txBody>
        </p:sp>
        <p:sp>
          <p:nvSpPr>
            <p:cNvPr id="28" name="TextBox 11">
              <a:extLst>
                <a:ext uri="{FF2B5EF4-FFF2-40B4-BE49-F238E27FC236}">
                  <a16:creationId xmlns:a16="http://schemas.microsoft.com/office/drawing/2014/main" id="{E3DE36F0-FC57-4F54-8E53-1824C71DDEB5}"/>
                </a:ext>
              </a:extLst>
            </p:cNvPr>
            <p:cNvSpPr txBox="1">
              <a:spLocks noChangeArrowheads="1"/>
            </p:cNvSpPr>
            <p:nvPr/>
          </p:nvSpPr>
          <p:spPr bwMode="auto">
            <a:xfrm>
              <a:off x="1783566" y="4267200"/>
              <a:ext cx="600129" cy="30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err="1">
                  <a:latin typeface="+mn-lt"/>
                  <a:cs typeface="+mn-ea"/>
                  <a:sym typeface="+mn-lt"/>
                </a:rPr>
                <a:t>字谜</a:t>
              </a:r>
              <a:endParaRPr lang="en-US" altLang="zh-CN" sz="1800" b="1" dirty="0">
                <a:latin typeface="+mn-lt"/>
                <a:cs typeface="+mn-ea"/>
                <a:sym typeface="+mn-lt"/>
              </a:endParaRPr>
            </a:p>
          </p:txBody>
        </p:sp>
        <p:sp>
          <p:nvSpPr>
            <p:cNvPr id="29" name="TextBox 12">
              <a:extLst>
                <a:ext uri="{FF2B5EF4-FFF2-40B4-BE49-F238E27FC236}">
                  <a16:creationId xmlns:a16="http://schemas.microsoft.com/office/drawing/2014/main" id="{CC8CA91B-DDCB-4DA6-A24F-4F63DC784338}"/>
                </a:ext>
              </a:extLst>
            </p:cNvPr>
            <p:cNvSpPr txBox="1">
              <a:spLocks noChangeArrowheads="1"/>
            </p:cNvSpPr>
            <p:nvPr/>
          </p:nvSpPr>
          <p:spPr bwMode="auto">
            <a:xfrm>
              <a:off x="4190999" y="4267200"/>
              <a:ext cx="814460" cy="30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zh-CN" altLang="en-US" sz="1800" b="1" dirty="0">
                  <a:latin typeface="+mn-lt"/>
                  <a:cs typeface="+mn-ea"/>
                  <a:sym typeface="+mn-lt"/>
                </a:rPr>
                <a:t>双陆棋</a:t>
              </a:r>
              <a:endParaRPr lang="en-US" altLang="zh-CN" sz="1800" b="1" dirty="0">
                <a:latin typeface="+mn-lt"/>
                <a:cs typeface="+mn-ea"/>
                <a:sym typeface="+mn-lt"/>
              </a:endParaRPr>
            </a:p>
          </p:txBody>
        </p:sp>
        <p:sp>
          <p:nvSpPr>
            <p:cNvPr id="30" name="TextBox 13">
              <a:extLst>
                <a:ext uri="{FF2B5EF4-FFF2-40B4-BE49-F238E27FC236}">
                  <a16:creationId xmlns:a16="http://schemas.microsoft.com/office/drawing/2014/main" id="{CA7CC5E1-06FF-47E4-B271-3C6560B93A2C}"/>
                </a:ext>
              </a:extLst>
            </p:cNvPr>
            <p:cNvSpPr txBox="1">
              <a:spLocks noChangeArrowheads="1"/>
            </p:cNvSpPr>
            <p:nvPr/>
          </p:nvSpPr>
          <p:spPr bwMode="auto">
            <a:xfrm>
              <a:off x="5562601" y="4267200"/>
              <a:ext cx="1250566" cy="30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a:latin typeface="+mn-lt"/>
                  <a:cs typeface="+mn-ea"/>
                  <a:sym typeface="+mn-lt"/>
                </a:rPr>
                <a:t>出租车司机</a:t>
              </a:r>
            </a:p>
          </p:txBody>
        </p:sp>
        <p:sp>
          <p:nvSpPr>
            <p:cNvPr id="32" name="TextBox 15">
              <a:extLst>
                <a:ext uri="{FF2B5EF4-FFF2-40B4-BE49-F238E27FC236}">
                  <a16:creationId xmlns:a16="http://schemas.microsoft.com/office/drawing/2014/main" id="{0378531D-A607-4050-B4A2-AC2CFE5C0986}"/>
                </a:ext>
              </a:extLst>
            </p:cNvPr>
            <p:cNvSpPr txBox="1">
              <a:spLocks noChangeArrowheads="1"/>
            </p:cNvSpPr>
            <p:nvPr/>
          </p:nvSpPr>
          <p:spPr bwMode="auto">
            <a:xfrm>
              <a:off x="3124201" y="4267200"/>
              <a:ext cx="603105" cy="30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扑克</a:t>
              </a:r>
            </a:p>
          </p:txBody>
        </p:sp>
        <p:sp>
          <p:nvSpPr>
            <p:cNvPr id="33" name="TextBox 16">
              <a:extLst>
                <a:ext uri="{FF2B5EF4-FFF2-40B4-BE49-F238E27FC236}">
                  <a16:creationId xmlns:a16="http://schemas.microsoft.com/office/drawing/2014/main" id="{2DCB8DCA-4268-451D-99B0-AD14BEB1614F}"/>
                </a:ext>
              </a:extLst>
            </p:cNvPr>
            <p:cNvSpPr txBox="1">
              <a:spLocks noChangeArrowheads="1"/>
            </p:cNvSpPr>
            <p:nvPr/>
          </p:nvSpPr>
          <p:spPr bwMode="auto">
            <a:xfrm>
              <a:off x="8991600" y="4267200"/>
              <a:ext cx="1034746" cy="30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图像分析</a:t>
              </a:r>
            </a:p>
          </p:txBody>
        </p:sp>
        <p:sp>
          <p:nvSpPr>
            <p:cNvPr id="34" name="TextBox 17">
              <a:extLst>
                <a:ext uri="{FF2B5EF4-FFF2-40B4-BE49-F238E27FC236}">
                  <a16:creationId xmlns:a16="http://schemas.microsoft.com/office/drawing/2014/main" id="{F39A88B1-5876-4835-95A6-6F31B11290DB}"/>
                </a:ext>
              </a:extLst>
            </p:cNvPr>
            <p:cNvSpPr txBox="1">
              <a:spLocks noChangeArrowheads="1"/>
            </p:cNvSpPr>
            <p:nvPr/>
          </p:nvSpPr>
          <p:spPr bwMode="auto">
            <a:xfrm>
              <a:off x="1676401" y="4648200"/>
              <a:ext cx="814460" cy="30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确定性</a:t>
              </a:r>
            </a:p>
          </p:txBody>
        </p:sp>
        <p:sp>
          <p:nvSpPr>
            <p:cNvPr id="35" name="TextBox 18">
              <a:extLst>
                <a:ext uri="{FF2B5EF4-FFF2-40B4-BE49-F238E27FC236}">
                  <a16:creationId xmlns:a16="http://schemas.microsoft.com/office/drawing/2014/main" id="{1E72DD15-2B05-4536-AFE1-C022E5B7F64F}"/>
                </a:ext>
              </a:extLst>
            </p:cNvPr>
            <p:cNvSpPr txBox="1">
              <a:spLocks noChangeArrowheads="1"/>
            </p:cNvSpPr>
            <p:nvPr/>
          </p:nvSpPr>
          <p:spPr bwMode="auto">
            <a:xfrm>
              <a:off x="9067801" y="4648200"/>
              <a:ext cx="814460" cy="30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确定性</a:t>
              </a:r>
            </a:p>
          </p:txBody>
        </p:sp>
        <p:sp>
          <p:nvSpPr>
            <p:cNvPr id="36" name="TextBox 19">
              <a:extLst>
                <a:ext uri="{FF2B5EF4-FFF2-40B4-BE49-F238E27FC236}">
                  <a16:creationId xmlns:a16="http://schemas.microsoft.com/office/drawing/2014/main" id="{916C4A1A-3C2F-443B-9DC0-BEC7BC9A7EAD}"/>
                </a:ext>
              </a:extLst>
            </p:cNvPr>
            <p:cNvSpPr txBox="1">
              <a:spLocks noChangeArrowheads="1"/>
            </p:cNvSpPr>
            <p:nvPr/>
          </p:nvSpPr>
          <p:spPr bwMode="auto">
            <a:xfrm>
              <a:off x="5780654" y="4648200"/>
              <a:ext cx="814460" cy="30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err="1">
                  <a:latin typeface="+mn-lt"/>
                  <a:cs typeface="+mn-ea"/>
                  <a:sym typeface="+mn-lt"/>
                </a:rPr>
                <a:t>随机的</a:t>
              </a:r>
              <a:endParaRPr lang="en-US" altLang="zh-CN" sz="1800" dirty="0">
                <a:latin typeface="+mn-lt"/>
                <a:cs typeface="+mn-ea"/>
                <a:sym typeface="+mn-lt"/>
              </a:endParaRPr>
            </a:p>
          </p:txBody>
        </p:sp>
        <p:sp>
          <p:nvSpPr>
            <p:cNvPr id="37" name="TextBox 20">
              <a:extLst>
                <a:ext uri="{FF2B5EF4-FFF2-40B4-BE49-F238E27FC236}">
                  <a16:creationId xmlns:a16="http://schemas.microsoft.com/office/drawing/2014/main" id="{F6871E57-2E52-446F-A2A3-1C720EE0F67A}"/>
                </a:ext>
              </a:extLst>
            </p:cNvPr>
            <p:cNvSpPr txBox="1">
              <a:spLocks noChangeArrowheads="1"/>
            </p:cNvSpPr>
            <p:nvPr/>
          </p:nvSpPr>
          <p:spPr bwMode="auto">
            <a:xfrm>
              <a:off x="4191000" y="4648200"/>
              <a:ext cx="814460" cy="30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a:latin typeface="+mn-lt"/>
                  <a:cs typeface="+mn-ea"/>
                  <a:sym typeface="+mn-lt"/>
                </a:rPr>
                <a:t>随机的</a:t>
              </a:r>
            </a:p>
          </p:txBody>
        </p:sp>
        <p:sp>
          <p:nvSpPr>
            <p:cNvPr id="38" name="TextBox 21">
              <a:extLst>
                <a:ext uri="{FF2B5EF4-FFF2-40B4-BE49-F238E27FC236}">
                  <a16:creationId xmlns:a16="http://schemas.microsoft.com/office/drawing/2014/main" id="{DAB77CBC-86B0-4202-B71F-07A0E882640E}"/>
                </a:ext>
              </a:extLst>
            </p:cNvPr>
            <p:cNvSpPr txBox="1">
              <a:spLocks noChangeArrowheads="1"/>
            </p:cNvSpPr>
            <p:nvPr/>
          </p:nvSpPr>
          <p:spPr bwMode="auto">
            <a:xfrm>
              <a:off x="2971800" y="4648200"/>
              <a:ext cx="814460" cy="30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a:latin typeface="+mn-lt"/>
                  <a:cs typeface="+mn-ea"/>
                  <a:sym typeface="+mn-lt"/>
                </a:rPr>
                <a:t>随机的</a:t>
              </a:r>
            </a:p>
          </p:txBody>
        </p:sp>
        <p:sp>
          <p:nvSpPr>
            <p:cNvPr id="39" name="TextBox 22">
              <a:extLst>
                <a:ext uri="{FF2B5EF4-FFF2-40B4-BE49-F238E27FC236}">
                  <a16:creationId xmlns:a16="http://schemas.microsoft.com/office/drawing/2014/main" id="{91DF8146-FA5D-4F90-B2E7-F135BC889536}"/>
                </a:ext>
              </a:extLst>
            </p:cNvPr>
            <p:cNvSpPr txBox="1">
              <a:spLocks noChangeArrowheads="1"/>
            </p:cNvSpPr>
            <p:nvPr/>
          </p:nvSpPr>
          <p:spPr bwMode="auto">
            <a:xfrm>
              <a:off x="7391400" y="4648200"/>
              <a:ext cx="814460" cy="306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随机的</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500"/>
                                        <p:tgtEl>
                                          <p:spTgt spid="2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
                                            <p:txEl>
                                              <p:pRg st="1" end="1"/>
                                            </p:txEl>
                                          </p:spTgt>
                                        </p:tgtEl>
                                        <p:attrNameLst>
                                          <p:attrName>style.visibility</p:attrName>
                                        </p:attrNameLst>
                                      </p:cBhvr>
                                      <p:to>
                                        <p:strVal val="visible"/>
                                      </p:to>
                                    </p:set>
                                    <p:animEffect transition="in" filter="fade">
                                      <p:cBhvr>
                                        <p:cTn id="10" dur="500"/>
                                        <p:tgtEl>
                                          <p:spTgt spid="2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xEl>
                                              <p:pRg st="2" end="2"/>
                                            </p:txEl>
                                          </p:spTgt>
                                        </p:tgtEl>
                                        <p:attrNameLst>
                                          <p:attrName>style.visibility</p:attrName>
                                        </p:attrNameLst>
                                      </p:cBhvr>
                                      <p:to>
                                        <p:strVal val="visible"/>
                                      </p:to>
                                    </p:set>
                                    <p:animEffect transition="in" filter="fade">
                                      <p:cBhvr>
                                        <p:cTn id="15" dur="500"/>
                                        <p:tgtEl>
                                          <p:spTgt spid="2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5">
                                            <p:txEl>
                                              <p:pRg st="3" end="3"/>
                                            </p:txEl>
                                          </p:spTgt>
                                        </p:tgtEl>
                                        <p:attrNameLst>
                                          <p:attrName>style.visibility</p:attrName>
                                        </p:attrNameLst>
                                      </p:cBhvr>
                                      <p:to>
                                        <p:strVal val="visible"/>
                                      </p:to>
                                    </p:set>
                                    <p:animEffect transition="in" filter="fade">
                                      <p:cBhvr>
                                        <p:cTn id="18" dur="500"/>
                                        <p:tgtEl>
                                          <p:spTgt spid="25">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5">
                                            <p:txEl>
                                              <p:pRg st="4" end="4"/>
                                            </p:txEl>
                                          </p:spTgt>
                                        </p:tgtEl>
                                        <p:attrNameLst>
                                          <p:attrName>style.visibility</p:attrName>
                                        </p:attrNameLst>
                                      </p:cBhvr>
                                      <p:to>
                                        <p:strVal val="visible"/>
                                      </p:to>
                                    </p:set>
                                    <p:animEffect transition="in" filter="fade">
                                      <p:cBhvr>
                                        <p:cTn id="21" dur="500"/>
                                        <p:tgtEl>
                                          <p:spTgt spid="2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CBA24148-024C-0A96-68FD-E99303923FC3}"/>
              </a:ext>
            </a:extLst>
          </p:cNvPr>
          <p:cNvSpPr>
            <a:spLocks noGrp="1" noChangeArrowheads="1"/>
          </p:cNvSpPr>
          <p:nvPr>
            <p:ph type="title"/>
          </p:nvPr>
        </p:nvSpPr>
        <p:spPr/>
        <p:txBody>
          <a:bodyPr/>
          <a:lstStyle/>
          <a:p>
            <a:pPr eaLnBrk="1" hangingPunct="1"/>
            <a:r>
              <a:rPr lang="zh-CN" altLang="en-US" sz="3600" dirty="0">
                <a:solidFill>
                  <a:srgbClr val="FF0000"/>
                </a:solidFill>
                <a:latin typeface="+mn-lt"/>
                <a:ea typeface="+mn-ea"/>
                <a:cs typeface="+mn-ea"/>
                <a:sym typeface="+mn-lt"/>
              </a:rPr>
              <a:t>分段性</a:t>
            </a:r>
            <a:r>
              <a:rPr lang="en-US" altLang="zh-CN" sz="3600" dirty="0">
                <a:solidFill>
                  <a:srgbClr val="FF0000"/>
                </a:solidFill>
                <a:latin typeface="+mn-lt"/>
                <a:ea typeface="+mn-ea"/>
                <a:cs typeface="+mn-ea"/>
                <a:sym typeface="+mn-lt"/>
              </a:rPr>
              <a:t> </a:t>
            </a:r>
            <a:r>
              <a:rPr lang="en-US" altLang="zh-CN" sz="3600" dirty="0">
                <a:solidFill>
                  <a:srgbClr val="515223"/>
                </a:solidFill>
                <a:latin typeface="+mn-lt"/>
                <a:ea typeface="+mn-ea"/>
                <a:cs typeface="+mn-ea"/>
                <a:sym typeface="+mn-lt"/>
              </a:rPr>
              <a:t>(</a:t>
            </a:r>
            <a:r>
              <a:rPr lang="zh-CN" altLang="en-US" sz="3600" dirty="0">
                <a:solidFill>
                  <a:srgbClr val="515223"/>
                </a:solidFill>
                <a:latin typeface="+mn-lt"/>
                <a:ea typeface="+mn-ea"/>
                <a:cs typeface="+mn-ea"/>
                <a:sym typeface="+mn-lt"/>
              </a:rPr>
              <a:t>与顺序性</a:t>
            </a:r>
            <a:r>
              <a:rPr lang="en-US" altLang="zh-CN" sz="3600" dirty="0">
                <a:solidFill>
                  <a:srgbClr val="515223"/>
                </a:solidFill>
                <a:latin typeface="+mn-lt"/>
                <a:ea typeface="+mn-ea"/>
                <a:cs typeface="+mn-ea"/>
                <a:sym typeface="+mn-lt"/>
              </a:rPr>
              <a:t>)</a:t>
            </a:r>
            <a:endParaRPr lang="en-US" altLang="zh-CN" dirty="0">
              <a:solidFill>
                <a:srgbClr val="515223"/>
              </a:solidFill>
              <a:latin typeface="+mn-lt"/>
              <a:ea typeface="+mn-ea"/>
              <a:cs typeface="+mn-ea"/>
              <a:sym typeface="+mn-lt"/>
            </a:endParaRPr>
          </a:p>
        </p:txBody>
      </p:sp>
      <p:sp>
        <p:nvSpPr>
          <p:cNvPr id="34818" name="Footer Placeholder 2">
            <a:extLst>
              <a:ext uri="{FF2B5EF4-FFF2-40B4-BE49-F238E27FC236}">
                <a16:creationId xmlns:a16="http://schemas.microsoft.com/office/drawing/2014/main" id="{77222A9D-F153-F9D2-A6F5-B6F6AD3073D6}"/>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18" name="Content Placeholder 4">
            <a:extLst>
              <a:ext uri="{FF2B5EF4-FFF2-40B4-BE49-F238E27FC236}">
                <a16:creationId xmlns:a16="http://schemas.microsoft.com/office/drawing/2014/main" id="{FBFD4AE0-4F3B-4F4E-A8D6-FA1489DC9818}"/>
              </a:ext>
            </a:extLst>
          </p:cNvPr>
          <p:cNvSpPr txBox="1">
            <a:spLocks noChangeArrowheads="1"/>
          </p:cNvSpPr>
          <p:nvPr/>
        </p:nvSpPr>
        <p:spPr>
          <a:xfrm>
            <a:off x="1091254" y="1480204"/>
            <a:ext cx="10076989" cy="4572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tLang="zh-CN" sz="2400" dirty="0" err="1">
                <a:latin typeface="+mn-lt"/>
                <a:cs typeface="+mn-ea"/>
                <a:sym typeface="+mn-lt"/>
              </a:rPr>
              <a:t>当前行动的选择是</a:t>
            </a:r>
            <a:r>
              <a:rPr lang="en-GB" altLang="zh-CN" sz="2400" dirty="0">
                <a:latin typeface="+mn-lt"/>
                <a:cs typeface="+mn-ea"/>
                <a:sym typeface="+mn-lt"/>
              </a:rPr>
              <a:t>？</a:t>
            </a:r>
          </a:p>
          <a:p>
            <a:pPr lvl="1"/>
            <a:r>
              <a:rPr lang="en-GB" altLang="zh-CN" sz="2000" dirty="0" err="1">
                <a:solidFill>
                  <a:srgbClr val="0070C0"/>
                </a:solidFill>
                <a:latin typeface="+mn-lt"/>
                <a:cs typeface="+mn-ea"/>
                <a:sym typeface="+mn-lt"/>
              </a:rPr>
              <a:t>取决于先前的行动</a:t>
            </a:r>
            <a:r>
              <a:rPr lang="en-GB" altLang="zh-CN" sz="2000" dirty="0">
                <a:solidFill>
                  <a:srgbClr val="0070C0"/>
                </a:solidFill>
                <a:latin typeface="+mn-lt"/>
                <a:cs typeface="+mn-ea"/>
                <a:sym typeface="+mn-lt"/>
              </a:rPr>
              <a:t>？</a:t>
            </a:r>
          </a:p>
          <a:p>
            <a:pPr lvl="1"/>
            <a:r>
              <a:rPr lang="en-GB" altLang="zh-CN" sz="2000" dirty="0" err="1">
                <a:solidFill>
                  <a:srgbClr val="0070C0"/>
                </a:solidFill>
                <a:latin typeface="+mn-lt"/>
                <a:cs typeface="+mn-ea"/>
                <a:sym typeface="+mn-lt"/>
              </a:rPr>
              <a:t>如果不是，那么环境就是分段式的</a:t>
            </a:r>
            <a:r>
              <a:rPr lang="en-GB" altLang="zh-CN" sz="2000" dirty="0">
                <a:solidFill>
                  <a:srgbClr val="0070C0"/>
                </a:solidFill>
                <a:latin typeface="+mn-lt"/>
                <a:cs typeface="+mn-ea"/>
                <a:sym typeface="+mn-lt"/>
              </a:rPr>
              <a:t>。</a:t>
            </a:r>
          </a:p>
          <a:p>
            <a:r>
              <a:rPr lang="en-GB" altLang="zh-CN" sz="2400" dirty="0" err="1">
                <a:latin typeface="+mn-lt"/>
                <a:cs typeface="+mn-ea"/>
                <a:sym typeface="+mn-lt"/>
              </a:rPr>
              <a:t>在非</a:t>
            </a:r>
            <a:r>
              <a:rPr lang="zh-CN" altLang="en-US" sz="2400" dirty="0">
                <a:latin typeface="+mn-lt"/>
                <a:cs typeface="+mn-ea"/>
                <a:sym typeface="+mn-lt"/>
              </a:rPr>
              <a:t>分段式</a:t>
            </a:r>
            <a:r>
              <a:rPr lang="en-GB" altLang="zh-CN" sz="2400" dirty="0" err="1">
                <a:latin typeface="+mn-lt"/>
                <a:cs typeface="+mn-ea"/>
                <a:sym typeface="+mn-lt"/>
              </a:rPr>
              <a:t>环境中</a:t>
            </a:r>
            <a:r>
              <a:rPr lang="en-GB" altLang="zh-CN" sz="2400" dirty="0">
                <a:latin typeface="+mn-lt"/>
                <a:cs typeface="+mn-ea"/>
                <a:sym typeface="+mn-lt"/>
              </a:rPr>
              <a:t>：</a:t>
            </a:r>
          </a:p>
          <a:p>
            <a:pPr lvl="1"/>
            <a:r>
              <a:rPr lang="zh-CN" altLang="en-US" sz="2000" dirty="0">
                <a:solidFill>
                  <a:srgbClr val="0070C0"/>
                </a:solidFill>
                <a:latin typeface="+mn-lt"/>
                <a:cs typeface="+mn-ea"/>
                <a:sym typeface="+mn-lt"/>
              </a:rPr>
              <a:t>智能体</a:t>
            </a:r>
            <a:r>
              <a:rPr lang="en-GB" altLang="zh-CN" sz="2000" dirty="0" err="1">
                <a:solidFill>
                  <a:srgbClr val="0070C0"/>
                </a:solidFill>
                <a:latin typeface="+mn-lt"/>
                <a:cs typeface="+mn-ea"/>
                <a:sym typeface="+mn-lt"/>
              </a:rPr>
              <a:t>必须提前规划</a:t>
            </a:r>
            <a:r>
              <a:rPr lang="en-GB" altLang="zh-CN" sz="2000" dirty="0">
                <a:solidFill>
                  <a:srgbClr val="0070C0"/>
                </a:solidFill>
                <a:latin typeface="+mn-lt"/>
                <a:cs typeface="+mn-ea"/>
                <a:sym typeface="+mn-lt"/>
              </a:rPr>
              <a:t>：</a:t>
            </a:r>
          </a:p>
          <a:p>
            <a:pPr lvl="2"/>
            <a:r>
              <a:rPr lang="en-GB" altLang="zh-CN" sz="1800" dirty="0" err="1">
                <a:latin typeface="+mn-lt"/>
                <a:cs typeface="+mn-ea"/>
                <a:sym typeface="+mn-lt"/>
              </a:rPr>
              <a:t>当前的选择会影响未来的行动</a:t>
            </a:r>
            <a:r>
              <a:rPr lang="en-GB" altLang="zh-CN" sz="1800" dirty="0">
                <a:latin typeface="+mn-lt"/>
                <a:cs typeface="+mn-ea"/>
                <a:sym typeface="+mn-lt"/>
              </a:rPr>
              <a:t>。</a:t>
            </a:r>
          </a:p>
          <a:p>
            <a:endParaRPr lang="en-US" altLang="zh-CN" dirty="0">
              <a:latin typeface="+mn-lt"/>
              <a:cs typeface="+mn-ea"/>
              <a:sym typeface="+mn-lt"/>
            </a:endParaRPr>
          </a:p>
        </p:txBody>
      </p:sp>
      <p:grpSp>
        <p:nvGrpSpPr>
          <p:cNvPr id="19" name="组合 18">
            <a:extLst>
              <a:ext uri="{FF2B5EF4-FFF2-40B4-BE49-F238E27FC236}">
                <a16:creationId xmlns:a16="http://schemas.microsoft.com/office/drawing/2014/main" id="{CCCC680B-110B-4E6D-93DE-2863DEE0E54A}"/>
              </a:ext>
            </a:extLst>
          </p:cNvPr>
          <p:cNvGrpSpPr/>
          <p:nvPr/>
        </p:nvGrpSpPr>
        <p:grpSpPr>
          <a:xfrm>
            <a:off x="1180635" y="4074057"/>
            <a:ext cx="9605490" cy="817009"/>
            <a:chOff x="1752601" y="4263683"/>
            <a:chExt cx="8189078" cy="613760"/>
          </a:xfrm>
        </p:grpSpPr>
        <p:sp>
          <p:nvSpPr>
            <p:cNvPr id="20" name="TextBox 5">
              <a:extLst>
                <a:ext uri="{FF2B5EF4-FFF2-40B4-BE49-F238E27FC236}">
                  <a16:creationId xmlns:a16="http://schemas.microsoft.com/office/drawing/2014/main" id="{6E0EFDD1-B8C4-4722-B0CC-F18C2DF6B889}"/>
                </a:ext>
              </a:extLst>
            </p:cNvPr>
            <p:cNvSpPr txBox="1">
              <a:spLocks noChangeArrowheads="1"/>
            </p:cNvSpPr>
            <p:nvPr/>
          </p:nvSpPr>
          <p:spPr bwMode="auto">
            <a:xfrm>
              <a:off x="1849277" y="4267200"/>
              <a:ext cx="551024" cy="2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err="1">
                  <a:latin typeface="+mn-lt"/>
                  <a:cs typeface="+mn-ea"/>
                  <a:sym typeface="+mn-lt"/>
                </a:rPr>
                <a:t>字谜</a:t>
              </a:r>
              <a:endParaRPr lang="en-US" altLang="zh-CN" sz="1800" b="1" dirty="0">
                <a:latin typeface="+mn-lt"/>
                <a:cs typeface="+mn-ea"/>
                <a:sym typeface="+mn-lt"/>
              </a:endParaRPr>
            </a:p>
          </p:txBody>
        </p:sp>
        <p:sp>
          <p:nvSpPr>
            <p:cNvPr id="27" name="TextBox 6">
              <a:extLst>
                <a:ext uri="{FF2B5EF4-FFF2-40B4-BE49-F238E27FC236}">
                  <a16:creationId xmlns:a16="http://schemas.microsoft.com/office/drawing/2014/main" id="{9942D2D9-DDC4-4579-9A4B-B282F433338E}"/>
                </a:ext>
              </a:extLst>
            </p:cNvPr>
            <p:cNvSpPr txBox="1">
              <a:spLocks noChangeArrowheads="1"/>
            </p:cNvSpPr>
            <p:nvPr/>
          </p:nvSpPr>
          <p:spPr bwMode="auto">
            <a:xfrm>
              <a:off x="4112068" y="4263683"/>
              <a:ext cx="750551" cy="2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zh-CN" altLang="en-US" sz="1800" b="1" dirty="0">
                  <a:latin typeface="+mn-lt"/>
                  <a:cs typeface="+mn-ea"/>
                  <a:sym typeface="+mn-lt"/>
                </a:rPr>
                <a:t>双陆棋</a:t>
              </a:r>
              <a:endParaRPr lang="en-US" altLang="zh-CN" sz="1800" b="1" dirty="0">
                <a:latin typeface="+mn-lt"/>
                <a:cs typeface="+mn-ea"/>
                <a:sym typeface="+mn-lt"/>
              </a:endParaRPr>
            </a:p>
          </p:txBody>
        </p:sp>
        <p:sp>
          <p:nvSpPr>
            <p:cNvPr id="28" name="TextBox 7">
              <a:extLst>
                <a:ext uri="{FF2B5EF4-FFF2-40B4-BE49-F238E27FC236}">
                  <a16:creationId xmlns:a16="http://schemas.microsoft.com/office/drawing/2014/main" id="{2CFF8802-DCBA-491E-A864-78E820496933}"/>
                </a:ext>
              </a:extLst>
            </p:cNvPr>
            <p:cNvSpPr txBox="1">
              <a:spLocks noChangeArrowheads="1"/>
            </p:cNvSpPr>
            <p:nvPr/>
          </p:nvSpPr>
          <p:spPr bwMode="auto">
            <a:xfrm>
              <a:off x="5397805" y="4269818"/>
              <a:ext cx="1148240" cy="2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a:latin typeface="+mn-lt"/>
                  <a:cs typeface="+mn-ea"/>
                  <a:sym typeface="+mn-lt"/>
                </a:rPr>
                <a:t>出租车司机</a:t>
              </a:r>
            </a:p>
          </p:txBody>
        </p:sp>
        <p:sp>
          <p:nvSpPr>
            <p:cNvPr id="29" name="TextBox 8">
              <a:extLst>
                <a:ext uri="{FF2B5EF4-FFF2-40B4-BE49-F238E27FC236}">
                  <a16:creationId xmlns:a16="http://schemas.microsoft.com/office/drawing/2014/main" id="{A853408F-C545-40B1-8693-4B8801A18DBE}"/>
                </a:ext>
              </a:extLst>
            </p:cNvPr>
            <p:cNvSpPr txBox="1">
              <a:spLocks noChangeArrowheads="1"/>
            </p:cNvSpPr>
            <p:nvPr/>
          </p:nvSpPr>
          <p:spPr bwMode="auto">
            <a:xfrm>
              <a:off x="7010400" y="4267200"/>
              <a:ext cx="1544561" cy="2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零件拣选机器人</a:t>
              </a:r>
            </a:p>
          </p:txBody>
        </p:sp>
        <p:sp>
          <p:nvSpPr>
            <p:cNvPr id="30" name="TextBox 9">
              <a:extLst>
                <a:ext uri="{FF2B5EF4-FFF2-40B4-BE49-F238E27FC236}">
                  <a16:creationId xmlns:a16="http://schemas.microsoft.com/office/drawing/2014/main" id="{24771427-5990-4890-BF78-A889AA65985A}"/>
                </a:ext>
              </a:extLst>
            </p:cNvPr>
            <p:cNvSpPr txBox="1">
              <a:spLocks noChangeArrowheads="1"/>
            </p:cNvSpPr>
            <p:nvPr/>
          </p:nvSpPr>
          <p:spPr bwMode="auto">
            <a:xfrm>
              <a:off x="2916431" y="4267200"/>
              <a:ext cx="553757" cy="2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扑克</a:t>
              </a:r>
            </a:p>
          </p:txBody>
        </p:sp>
        <p:sp>
          <p:nvSpPr>
            <p:cNvPr id="31" name="TextBox 10">
              <a:extLst>
                <a:ext uri="{FF2B5EF4-FFF2-40B4-BE49-F238E27FC236}">
                  <a16:creationId xmlns:a16="http://schemas.microsoft.com/office/drawing/2014/main" id="{107860F7-0C34-455C-93B0-8906B3CCE3DA}"/>
                </a:ext>
              </a:extLst>
            </p:cNvPr>
            <p:cNvSpPr txBox="1">
              <a:spLocks noChangeArrowheads="1"/>
            </p:cNvSpPr>
            <p:nvPr/>
          </p:nvSpPr>
          <p:spPr bwMode="auto">
            <a:xfrm>
              <a:off x="8991600" y="4267200"/>
              <a:ext cx="950079" cy="2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图像分析</a:t>
              </a:r>
            </a:p>
          </p:txBody>
        </p:sp>
        <p:sp>
          <p:nvSpPr>
            <p:cNvPr id="32" name="TextBox 20">
              <a:extLst>
                <a:ext uri="{FF2B5EF4-FFF2-40B4-BE49-F238E27FC236}">
                  <a16:creationId xmlns:a16="http://schemas.microsoft.com/office/drawing/2014/main" id="{822F7FA5-13B3-41C5-ABE2-FCF417E5355B}"/>
                </a:ext>
              </a:extLst>
            </p:cNvPr>
            <p:cNvSpPr txBox="1">
              <a:spLocks noChangeArrowheads="1"/>
            </p:cNvSpPr>
            <p:nvPr/>
          </p:nvSpPr>
          <p:spPr bwMode="auto">
            <a:xfrm>
              <a:off x="5562601" y="4572000"/>
              <a:ext cx="747818" cy="2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顺序的</a:t>
              </a:r>
            </a:p>
          </p:txBody>
        </p:sp>
        <p:sp>
          <p:nvSpPr>
            <p:cNvPr id="33" name="TextBox 21">
              <a:extLst>
                <a:ext uri="{FF2B5EF4-FFF2-40B4-BE49-F238E27FC236}">
                  <a16:creationId xmlns:a16="http://schemas.microsoft.com/office/drawing/2014/main" id="{D41BD850-01C2-44D1-9BCF-1B3E24258143}"/>
                </a:ext>
              </a:extLst>
            </p:cNvPr>
            <p:cNvSpPr txBox="1">
              <a:spLocks noChangeArrowheads="1"/>
            </p:cNvSpPr>
            <p:nvPr/>
          </p:nvSpPr>
          <p:spPr bwMode="auto">
            <a:xfrm>
              <a:off x="4114801" y="4572000"/>
              <a:ext cx="747818" cy="2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顺序的</a:t>
              </a:r>
            </a:p>
          </p:txBody>
        </p:sp>
        <p:sp>
          <p:nvSpPr>
            <p:cNvPr id="34" name="TextBox 22">
              <a:extLst>
                <a:ext uri="{FF2B5EF4-FFF2-40B4-BE49-F238E27FC236}">
                  <a16:creationId xmlns:a16="http://schemas.microsoft.com/office/drawing/2014/main" id="{4C54CAAA-4415-4F52-B01E-06E0671443C9}"/>
                </a:ext>
              </a:extLst>
            </p:cNvPr>
            <p:cNvSpPr txBox="1">
              <a:spLocks noChangeArrowheads="1"/>
            </p:cNvSpPr>
            <p:nvPr/>
          </p:nvSpPr>
          <p:spPr bwMode="auto">
            <a:xfrm>
              <a:off x="2819401" y="4572000"/>
              <a:ext cx="747818" cy="2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顺序的</a:t>
              </a:r>
            </a:p>
          </p:txBody>
        </p:sp>
        <p:sp>
          <p:nvSpPr>
            <p:cNvPr id="35" name="TextBox 23">
              <a:extLst>
                <a:ext uri="{FF2B5EF4-FFF2-40B4-BE49-F238E27FC236}">
                  <a16:creationId xmlns:a16="http://schemas.microsoft.com/office/drawing/2014/main" id="{D70ACA06-5119-42B0-B834-FC91FE6888BC}"/>
                </a:ext>
              </a:extLst>
            </p:cNvPr>
            <p:cNvSpPr txBox="1">
              <a:spLocks noChangeArrowheads="1"/>
            </p:cNvSpPr>
            <p:nvPr/>
          </p:nvSpPr>
          <p:spPr bwMode="auto">
            <a:xfrm>
              <a:off x="1752601" y="4572000"/>
              <a:ext cx="747818" cy="2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顺序的</a:t>
              </a:r>
            </a:p>
          </p:txBody>
        </p:sp>
        <p:sp>
          <p:nvSpPr>
            <p:cNvPr id="36" name="TextBox 24">
              <a:extLst>
                <a:ext uri="{FF2B5EF4-FFF2-40B4-BE49-F238E27FC236}">
                  <a16:creationId xmlns:a16="http://schemas.microsoft.com/office/drawing/2014/main" id="{C705AA9E-CC25-4B4C-A733-8CD79372BB09}"/>
                </a:ext>
              </a:extLst>
            </p:cNvPr>
            <p:cNvSpPr txBox="1">
              <a:spLocks noChangeArrowheads="1"/>
            </p:cNvSpPr>
            <p:nvPr/>
          </p:nvSpPr>
          <p:spPr bwMode="auto">
            <a:xfrm>
              <a:off x="7310374" y="4599990"/>
              <a:ext cx="747818" cy="2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zh-CN" altLang="en-US" sz="1800" dirty="0">
                  <a:latin typeface="+mn-lt"/>
                  <a:cs typeface="+mn-ea"/>
                  <a:sym typeface="+mn-lt"/>
                </a:rPr>
                <a:t>分段的</a:t>
              </a:r>
              <a:endParaRPr lang="en-US" altLang="zh-CN" sz="1800" dirty="0">
                <a:latin typeface="+mn-lt"/>
                <a:cs typeface="+mn-ea"/>
                <a:sym typeface="+mn-lt"/>
              </a:endParaRPr>
            </a:p>
          </p:txBody>
        </p:sp>
        <p:sp>
          <p:nvSpPr>
            <p:cNvPr id="37" name="TextBox 25">
              <a:extLst>
                <a:ext uri="{FF2B5EF4-FFF2-40B4-BE49-F238E27FC236}">
                  <a16:creationId xmlns:a16="http://schemas.microsoft.com/office/drawing/2014/main" id="{352314B7-413C-4722-9735-6EEBD166BEF7}"/>
                </a:ext>
              </a:extLst>
            </p:cNvPr>
            <p:cNvSpPr txBox="1">
              <a:spLocks noChangeArrowheads="1"/>
            </p:cNvSpPr>
            <p:nvPr/>
          </p:nvSpPr>
          <p:spPr bwMode="auto">
            <a:xfrm>
              <a:off x="9092730" y="4571999"/>
              <a:ext cx="747818" cy="277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zh-CN" altLang="en-US" sz="1800" dirty="0">
                  <a:latin typeface="+mn-lt"/>
                  <a:cs typeface="+mn-ea"/>
                  <a:sym typeface="+mn-lt"/>
                </a:rPr>
                <a:t>分段</a:t>
              </a:r>
              <a:r>
                <a:rPr lang="en-US" altLang="zh-CN" sz="1800" dirty="0">
                  <a:latin typeface="+mn-lt"/>
                  <a:cs typeface="+mn-ea"/>
                  <a:sym typeface="+mn-lt"/>
                </a:rPr>
                <a:t>的</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
                                            <p:txEl>
                                              <p:pRg st="1" end="1"/>
                                            </p:txEl>
                                          </p:spTgt>
                                        </p:tgtEl>
                                        <p:attrNameLst>
                                          <p:attrName>style.visibility</p:attrName>
                                        </p:attrNameLst>
                                      </p:cBhvr>
                                      <p:to>
                                        <p:strVal val="visible"/>
                                      </p:to>
                                    </p:set>
                                    <p:animEffect transition="in" filter="fade">
                                      <p:cBhvr>
                                        <p:cTn id="10" dur="500"/>
                                        <p:tgtEl>
                                          <p:spTgt spid="18">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xEl>
                                              <p:pRg st="2" end="2"/>
                                            </p:txEl>
                                          </p:spTgt>
                                        </p:tgtEl>
                                        <p:attrNameLst>
                                          <p:attrName>style.visibility</p:attrName>
                                        </p:attrNameLst>
                                      </p:cBhvr>
                                      <p:to>
                                        <p:strVal val="visible"/>
                                      </p:to>
                                    </p:set>
                                    <p:animEffect transition="in" filter="fade">
                                      <p:cBhvr>
                                        <p:cTn id="13" dur="500"/>
                                        <p:tgtEl>
                                          <p:spTgt spid="1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8">
                                            <p:txEl>
                                              <p:pRg st="3" end="3"/>
                                            </p:txEl>
                                          </p:spTgt>
                                        </p:tgtEl>
                                        <p:attrNameLst>
                                          <p:attrName>style.visibility</p:attrName>
                                        </p:attrNameLst>
                                      </p:cBhvr>
                                      <p:to>
                                        <p:strVal val="visible"/>
                                      </p:to>
                                    </p:set>
                                    <p:animEffect transition="in" filter="fade">
                                      <p:cBhvr>
                                        <p:cTn id="18" dur="500"/>
                                        <p:tgtEl>
                                          <p:spTgt spid="18">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8">
                                            <p:txEl>
                                              <p:pRg st="4" end="4"/>
                                            </p:txEl>
                                          </p:spTgt>
                                        </p:tgtEl>
                                        <p:attrNameLst>
                                          <p:attrName>style.visibility</p:attrName>
                                        </p:attrNameLst>
                                      </p:cBhvr>
                                      <p:to>
                                        <p:strVal val="visible"/>
                                      </p:to>
                                    </p:set>
                                    <p:animEffect transition="in" filter="fade">
                                      <p:cBhvr>
                                        <p:cTn id="21" dur="500"/>
                                        <p:tgtEl>
                                          <p:spTgt spid="18">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8">
                                            <p:txEl>
                                              <p:pRg st="5" end="5"/>
                                            </p:txEl>
                                          </p:spTgt>
                                        </p:tgtEl>
                                        <p:attrNameLst>
                                          <p:attrName>style.visibility</p:attrName>
                                        </p:attrNameLst>
                                      </p:cBhvr>
                                      <p:to>
                                        <p:strVal val="visible"/>
                                      </p:to>
                                    </p:set>
                                    <p:animEffect transition="in" filter="fade">
                                      <p:cBhvr>
                                        <p:cTn id="24" dur="500"/>
                                        <p:tgtEl>
                                          <p:spTgt spid="18">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2">
            <a:extLst>
              <a:ext uri="{FF2B5EF4-FFF2-40B4-BE49-F238E27FC236}">
                <a16:creationId xmlns:a16="http://schemas.microsoft.com/office/drawing/2014/main" id="{13B366BA-6EA2-5E34-C831-CF234290FF4D}"/>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20" name="Title 1">
            <a:extLst>
              <a:ext uri="{FF2B5EF4-FFF2-40B4-BE49-F238E27FC236}">
                <a16:creationId xmlns:a16="http://schemas.microsoft.com/office/drawing/2014/main" id="{14984673-BADC-4445-A265-04A0ABAA48AB}"/>
              </a:ext>
            </a:extLst>
          </p:cNvPr>
          <p:cNvSpPr>
            <a:spLocks noGrp="1" noChangeArrowheads="1"/>
          </p:cNvSpPr>
          <p:nvPr>
            <p:ph type="title"/>
          </p:nvPr>
        </p:nvSpPr>
        <p:spPr>
          <a:xfrm>
            <a:off x="1091255" y="237834"/>
            <a:ext cx="8168208" cy="790865"/>
          </a:xfrm>
        </p:spPr>
        <p:txBody>
          <a:bodyPr/>
          <a:lstStyle/>
          <a:p>
            <a:pPr eaLnBrk="1" hangingPunct="1"/>
            <a:r>
              <a:rPr lang="en-US" altLang="zh-CN" sz="3600" dirty="0">
                <a:solidFill>
                  <a:srgbClr val="FF0000"/>
                </a:solidFill>
                <a:latin typeface="+mn-lt"/>
                <a:ea typeface="+mn-ea"/>
                <a:cs typeface="+mn-ea"/>
                <a:sym typeface="+mn-lt"/>
              </a:rPr>
              <a:t>静态</a:t>
            </a:r>
            <a:r>
              <a:rPr lang="en-US" altLang="zh-CN" sz="3600" dirty="0">
                <a:solidFill>
                  <a:srgbClr val="515223"/>
                </a:solidFill>
                <a:latin typeface="+mn-lt"/>
                <a:ea typeface="+mn-ea"/>
                <a:cs typeface="+mn-ea"/>
                <a:sym typeface="+mn-lt"/>
              </a:rPr>
              <a:t>(与动态）</a:t>
            </a:r>
            <a:endParaRPr lang="en-US" altLang="zh-CN" dirty="0">
              <a:solidFill>
                <a:srgbClr val="515223"/>
              </a:solidFill>
              <a:latin typeface="+mn-lt"/>
              <a:ea typeface="+mn-ea"/>
              <a:cs typeface="+mn-ea"/>
              <a:sym typeface="+mn-lt"/>
            </a:endParaRPr>
          </a:p>
        </p:txBody>
      </p:sp>
      <p:sp>
        <p:nvSpPr>
          <p:cNvPr id="21" name="Content Placeholder 4">
            <a:extLst>
              <a:ext uri="{FF2B5EF4-FFF2-40B4-BE49-F238E27FC236}">
                <a16:creationId xmlns:a16="http://schemas.microsoft.com/office/drawing/2014/main" id="{03BA39F2-C9B0-4BE5-92D4-5B76B14130FB}"/>
              </a:ext>
            </a:extLst>
          </p:cNvPr>
          <p:cNvSpPr txBox="1">
            <a:spLocks noChangeArrowheads="1"/>
          </p:cNvSpPr>
          <p:nvPr/>
        </p:nvSpPr>
        <p:spPr>
          <a:xfrm>
            <a:off x="1091255" y="1355725"/>
            <a:ext cx="10314314" cy="29649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tLang="zh-CN" dirty="0" err="1">
                <a:latin typeface="+mn-lt"/>
                <a:cs typeface="+mn-ea"/>
                <a:sym typeface="+mn-lt"/>
              </a:rPr>
              <a:t>静态环境不会改变</a:t>
            </a:r>
            <a:r>
              <a:rPr lang="en-GB" altLang="zh-CN" dirty="0">
                <a:latin typeface="+mn-lt"/>
                <a:cs typeface="+mn-ea"/>
                <a:sym typeface="+mn-lt"/>
              </a:rPr>
              <a:t>。</a:t>
            </a:r>
          </a:p>
          <a:p>
            <a:pPr lvl="1"/>
            <a:r>
              <a:rPr lang="en-GB" altLang="zh-CN" dirty="0">
                <a:solidFill>
                  <a:srgbClr val="0070C0"/>
                </a:solidFill>
                <a:latin typeface="+mn-lt"/>
                <a:cs typeface="+mn-ea"/>
                <a:sym typeface="+mn-lt"/>
              </a:rPr>
              <a:t>当</a:t>
            </a:r>
            <a:r>
              <a:rPr lang="zh-CN" altLang="en-US" dirty="0">
                <a:solidFill>
                  <a:srgbClr val="0070C0"/>
                </a:solidFill>
                <a:latin typeface="+mn-lt"/>
                <a:cs typeface="+mn-ea"/>
                <a:sym typeface="+mn-lt"/>
              </a:rPr>
              <a:t>智能体</a:t>
            </a:r>
            <a:r>
              <a:rPr lang="en-GB" altLang="zh-CN" dirty="0" err="1">
                <a:solidFill>
                  <a:srgbClr val="0070C0"/>
                </a:solidFill>
                <a:latin typeface="+mn-lt"/>
                <a:cs typeface="+mn-ea"/>
                <a:sym typeface="+mn-lt"/>
              </a:rPr>
              <a:t>正在权衡该怎么做时</a:t>
            </a:r>
            <a:r>
              <a:rPr lang="en-GB" altLang="zh-CN" dirty="0">
                <a:solidFill>
                  <a:srgbClr val="0070C0"/>
                </a:solidFill>
                <a:latin typeface="+mn-lt"/>
                <a:cs typeface="+mn-ea"/>
                <a:sym typeface="+mn-lt"/>
              </a:rPr>
              <a:t>。</a:t>
            </a:r>
          </a:p>
          <a:p>
            <a:r>
              <a:rPr lang="en-GB" altLang="zh-CN" dirty="0" err="1">
                <a:latin typeface="+mn-lt"/>
                <a:cs typeface="+mn-ea"/>
                <a:sym typeface="+mn-lt"/>
              </a:rPr>
              <a:t>动态环境会变化</a:t>
            </a:r>
            <a:r>
              <a:rPr lang="en-GB" altLang="zh-CN" dirty="0">
                <a:latin typeface="+mn-lt"/>
                <a:cs typeface="+mn-ea"/>
                <a:sym typeface="+mn-lt"/>
              </a:rPr>
              <a:t>。</a:t>
            </a:r>
          </a:p>
          <a:p>
            <a:pPr lvl="1"/>
            <a:r>
              <a:rPr lang="en-GB" altLang="zh-CN" sz="2000" dirty="0" err="1">
                <a:solidFill>
                  <a:srgbClr val="0070C0"/>
                </a:solidFill>
                <a:latin typeface="+mn-lt"/>
                <a:cs typeface="+mn-ea"/>
                <a:sym typeface="+mn-lt"/>
              </a:rPr>
              <a:t>因此</a:t>
            </a:r>
            <a:r>
              <a:rPr lang="en-GB" altLang="zh-CN" sz="2000" dirty="0">
                <a:solidFill>
                  <a:srgbClr val="0070C0"/>
                </a:solidFill>
                <a:latin typeface="+mn-lt"/>
                <a:cs typeface="+mn-ea"/>
                <a:sym typeface="+mn-lt"/>
              </a:rPr>
              <a:t>，</a:t>
            </a:r>
            <a:r>
              <a:rPr lang="zh-CN" altLang="en-US" sz="2000" dirty="0">
                <a:solidFill>
                  <a:srgbClr val="0070C0"/>
                </a:solidFill>
                <a:latin typeface="+mn-lt"/>
                <a:cs typeface="+mn-ea"/>
                <a:sym typeface="+mn-lt"/>
              </a:rPr>
              <a:t>智能体</a:t>
            </a:r>
            <a:r>
              <a:rPr lang="en-GB" altLang="zh-CN" sz="2000" dirty="0" err="1">
                <a:solidFill>
                  <a:srgbClr val="0070C0"/>
                </a:solidFill>
                <a:latin typeface="+mn-lt"/>
                <a:cs typeface="+mn-ea"/>
                <a:sym typeface="+mn-lt"/>
              </a:rPr>
              <a:t>在选择行动时应</a:t>
            </a:r>
            <a:r>
              <a:rPr lang="en-GB" altLang="zh-CN" sz="2000" dirty="0">
                <a:solidFill>
                  <a:srgbClr val="0070C0"/>
                </a:solidFill>
                <a:latin typeface="+mn-lt"/>
                <a:cs typeface="+mn-ea"/>
                <a:sym typeface="+mn-lt"/>
              </a:rPr>
              <a:t>/</a:t>
            </a:r>
            <a:r>
              <a:rPr lang="en-GB" altLang="zh-CN" sz="2000" dirty="0" err="1">
                <a:solidFill>
                  <a:srgbClr val="0070C0"/>
                </a:solidFill>
                <a:latin typeface="+mn-lt"/>
                <a:cs typeface="+mn-ea"/>
                <a:sym typeface="+mn-lt"/>
              </a:rPr>
              <a:t>可以参考世界</a:t>
            </a:r>
            <a:r>
              <a:rPr lang="en-GB" altLang="zh-CN" sz="2000" dirty="0">
                <a:solidFill>
                  <a:srgbClr val="0070C0"/>
                </a:solidFill>
                <a:latin typeface="+mn-lt"/>
                <a:cs typeface="+mn-ea"/>
                <a:sym typeface="+mn-lt"/>
              </a:rPr>
              <a:t>。</a:t>
            </a:r>
          </a:p>
          <a:p>
            <a:pPr lvl="1"/>
            <a:r>
              <a:rPr lang="en-GB" altLang="zh-CN" sz="2000" dirty="0" err="1">
                <a:solidFill>
                  <a:srgbClr val="0070C0"/>
                </a:solidFill>
                <a:latin typeface="+mn-lt"/>
                <a:cs typeface="+mn-ea"/>
                <a:sym typeface="+mn-lt"/>
              </a:rPr>
              <a:t>或者：在审议过程中预见变化，或者迅速做出决策</a:t>
            </a:r>
            <a:r>
              <a:rPr lang="en-GB" altLang="zh-CN" sz="2000" dirty="0">
                <a:solidFill>
                  <a:srgbClr val="0070C0"/>
                </a:solidFill>
                <a:latin typeface="+mn-lt"/>
                <a:cs typeface="+mn-ea"/>
                <a:sym typeface="+mn-lt"/>
              </a:rPr>
              <a:t>。</a:t>
            </a:r>
          </a:p>
          <a:p>
            <a:r>
              <a:rPr lang="en-GB" altLang="zh-CN" sz="2500" dirty="0" err="1">
                <a:latin typeface="+mn-lt"/>
                <a:cs typeface="+mn-ea"/>
                <a:sym typeface="+mn-lt"/>
              </a:rPr>
              <a:t>半动态如果环境本身随时间推移并未发生变化，但智能体的性能得分却发生了变化</a:t>
            </a:r>
            <a:r>
              <a:rPr lang="en-GB" altLang="zh-CN" sz="2500" dirty="0">
                <a:latin typeface="+mn-lt"/>
                <a:cs typeface="+mn-ea"/>
                <a:sym typeface="+mn-lt"/>
              </a:rPr>
              <a:t>。</a:t>
            </a:r>
          </a:p>
          <a:p>
            <a:endParaRPr lang="en-US" altLang="zh-CN" dirty="0">
              <a:latin typeface="+mn-lt"/>
              <a:cs typeface="+mn-ea"/>
              <a:sym typeface="+mn-lt"/>
            </a:endParaRPr>
          </a:p>
        </p:txBody>
      </p:sp>
      <p:grpSp>
        <p:nvGrpSpPr>
          <p:cNvPr id="22" name="组合 21">
            <a:extLst>
              <a:ext uri="{FF2B5EF4-FFF2-40B4-BE49-F238E27FC236}">
                <a16:creationId xmlns:a16="http://schemas.microsoft.com/office/drawing/2014/main" id="{D745AC04-F830-4119-9EAD-D809AA76E9E9}"/>
              </a:ext>
            </a:extLst>
          </p:cNvPr>
          <p:cNvGrpSpPr/>
          <p:nvPr/>
        </p:nvGrpSpPr>
        <p:grpSpPr>
          <a:xfrm>
            <a:off x="1442877" y="4540010"/>
            <a:ext cx="9113803" cy="798523"/>
            <a:chOff x="1981200" y="5105411"/>
            <a:chExt cx="7900209" cy="758160"/>
          </a:xfrm>
        </p:grpSpPr>
        <p:sp>
          <p:nvSpPr>
            <p:cNvPr id="23" name="TextBox 5">
              <a:extLst>
                <a:ext uri="{FF2B5EF4-FFF2-40B4-BE49-F238E27FC236}">
                  <a16:creationId xmlns:a16="http://schemas.microsoft.com/office/drawing/2014/main" id="{0D121DD6-22FA-488D-B08C-8C66A1F1BDB3}"/>
                </a:ext>
              </a:extLst>
            </p:cNvPr>
            <p:cNvSpPr txBox="1">
              <a:spLocks noChangeArrowheads="1"/>
            </p:cNvSpPr>
            <p:nvPr/>
          </p:nvSpPr>
          <p:spPr bwMode="auto">
            <a:xfrm>
              <a:off x="1981200" y="5116527"/>
              <a:ext cx="560266" cy="35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err="1">
                  <a:latin typeface="+mn-lt"/>
                  <a:cs typeface="+mn-ea"/>
                  <a:sym typeface="+mn-lt"/>
                </a:rPr>
                <a:t>字谜</a:t>
              </a:r>
              <a:endParaRPr lang="en-US" altLang="zh-CN" sz="1800" b="1" dirty="0">
                <a:latin typeface="+mn-lt"/>
                <a:cs typeface="+mn-ea"/>
                <a:sym typeface="+mn-lt"/>
              </a:endParaRPr>
            </a:p>
          </p:txBody>
        </p:sp>
        <p:sp>
          <p:nvSpPr>
            <p:cNvPr id="24" name="TextBox 6">
              <a:extLst>
                <a:ext uri="{FF2B5EF4-FFF2-40B4-BE49-F238E27FC236}">
                  <a16:creationId xmlns:a16="http://schemas.microsoft.com/office/drawing/2014/main" id="{AD96ED58-0145-4378-B12D-FE1BF2D86B8B}"/>
                </a:ext>
              </a:extLst>
            </p:cNvPr>
            <p:cNvSpPr txBox="1">
              <a:spLocks noChangeArrowheads="1"/>
            </p:cNvSpPr>
            <p:nvPr/>
          </p:nvSpPr>
          <p:spPr bwMode="auto">
            <a:xfrm>
              <a:off x="4281908" y="5116527"/>
              <a:ext cx="760360" cy="35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zh-CN" altLang="en-US" sz="1800" b="1" dirty="0">
                  <a:latin typeface="+mn-lt"/>
                  <a:cs typeface="+mn-ea"/>
                  <a:sym typeface="+mn-lt"/>
                </a:rPr>
                <a:t>双陆棋</a:t>
              </a:r>
              <a:endParaRPr lang="en-US" altLang="zh-CN" sz="1800" b="1" dirty="0">
                <a:latin typeface="+mn-lt"/>
                <a:cs typeface="+mn-ea"/>
                <a:sym typeface="+mn-lt"/>
              </a:endParaRPr>
            </a:p>
          </p:txBody>
        </p:sp>
        <p:sp>
          <p:nvSpPr>
            <p:cNvPr id="25" name="TextBox 7">
              <a:extLst>
                <a:ext uri="{FF2B5EF4-FFF2-40B4-BE49-F238E27FC236}">
                  <a16:creationId xmlns:a16="http://schemas.microsoft.com/office/drawing/2014/main" id="{165DCB83-BD88-4B94-8CD2-A50B46027AB4}"/>
                </a:ext>
              </a:extLst>
            </p:cNvPr>
            <p:cNvSpPr txBox="1">
              <a:spLocks noChangeArrowheads="1"/>
            </p:cNvSpPr>
            <p:nvPr/>
          </p:nvSpPr>
          <p:spPr bwMode="auto">
            <a:xfrm>
              <a:off x="5562598" y="5116527"/>
              <a:ext cx="1167498" cy="35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a:latin typeface="+mn-lt"/>
                  <a:cs typeface="+mn-ea"/>
                  <a:sym typeface="+mn-lt"/>
                </a:rPr>
                <a:t>出租车司机</a:t>
              </a:r>
            </a:p>
          </p:txBody>
        </p:sp>
        <p:sp>
          <p:nvSpPr>
            <p:cNvPr id="26" name="TextBox 8">
              <a:extLst>
                <a:ext uri="{FF2B5EF4-FFF2-40B4-BE49-F238E27FC236}">
                  <a16:creationId xmlns:a16="http://schemas.microsoft.com/office/drawing/2014/main" id="{7D992DC9-408B-4426-B0BE-D3070F32E965}"/>
                </a:ext>
              </a:extLst>
            </p:cNvPr>
            <p:cNvSpPr txBox="1">
              <a:spLocks noChangeArrowheads="1"/>
            </p:cNvSpPr>
            <p:nvPr/>
          </p:nvSpPr>
          <p:spPr bwMode="auto">
            <a:xfrm>
              <a:off x="7010397" y="5116527"/>
              <a:ext cx="1570466" cy="35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a:latin typeface="+mn-lt"/>
                  <a:cs typeface="+mn-ea"/>
                  <a:sym typeface="+mn-lt"/>
                </a:rPr>
                <a:t>零件拣选机器人</a:t>
              </a:r>
            </a:p>
          </p:txBody>
        </p:sp>
        <p:sp>
          <p:nvSpPr>
            <p:cNvPr id="27" name="TextBox 9">
              <a:extLst>
                <a:ext uri="{FF2B5EF4-FFF2-40B4-BE49-F238E27FC236}">
                  <a16:creationId xmlns:a16="http://schemas.microsoft.com/office/drawing/2014/main" id="{69F56BE2-C4DE-46A5-A268-416BC16CFBED}"/>
                </a:ext>
              </a:extLst>
            </p:cNvPr>
            <p:cNvSpPr txBox="1">
              <a:spLocks noChangeArrowheads="1"/>
            </p:cNvSpPr>
            <p:nvPr/>
          </p:nvSpPr>
          <p:spPr bwMode="auto">
            <a:xfrm>
              <a:off x="3124200" y="5116527"/>
              <a:ext cx="563045" cy="35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扑克</a:t>
              </a:r>
            </a:p>
          </p:txBody>
        </p:sp>
        <p:sp>
          <p:nvSpPr>
            <p:cNvPr id="28" name="TextBox 10">
              <a:extLst>
                <a:ext uri="{FF2B5EF4-FFF2-40B4-BE49-F238E27FC236}">
                  <a16:creationId xmlns:a16="http://schemas.microsoft.com/office/drawing/2014/main" id="{B67CDA1D-4FA4-4EB0-98E9-FF6FD53AFCDB}"/>
                </a:ext>
              </a:extLst>
            </p:cNvPr>
            <p:cNvSpPr txBox="1">
              <a:spLocks noChangeArrowheads="1"/>
            </p:cNvSpPr>
            <p:nvPr/>
          </p:nvSpPr>
          <p:spPr bwMode="auto">
            <a:xfrm>
              <a:off x="8915396" y="5105411"/>
              <a:ext cx="966013" cy="35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图像分析</a:t>
              </a:r>
            </a:p>
          </p:txBody>
        </p:sp>
        <p:sp>
          <p:nvSpPr>
            <p:cNvPr id="29" name="TextBox 11">
              <a:extLst>
                <a:ext uri="{FF2B5EF4-FFF2-40B4-BE49-F238E27FC236}">
                  <a16:creationId xmlns:a16="http://schemas.microsoft.com/office/drawing/2014/main" id="{9ED0D11B-ECCA-4E29-A0F7-5A56443D32CA}"/>
                </a:ext>
              </a:extLst>
            </p:cNvPr>
            <p:cNvSpPr txBox="1">
              <a:spLocks noChangeArrowheads="1"/>
            </p:cNvSpPr>
            <p:nvPr/>
          </p:nvSpPr>
          <p:spPr bwMode="auto">
            <a:xfrm>
              <a:off x="1981200" y="5486408"/>
              <a:ext cx="560266" cy="35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a:latin typeface="+mn-lt"/>
                  <a:cs typeface="+mn-ea"/>
                  <a:sym typeface="+mn-lt"/>
                </a:rPr>
                <a:t>静态</a:t>
              </a:r>
            </a:p>
          </p:txBody>
        </p:sp>
        <p:sp>
          <p:nvSpPr>
            <p:cNvPr id="30" name="TextBox 12">
              <a:extLst>
                <a:ext uri="{FF2B5EF4-FFF2-40B4-BE49-F238E27FC236}">
                  <a16:creationId xmlns:a16="http://schemas.microsoft.com/office/drawing/2014/main" id="{9ED6A68C-3D1D-4263-9B78-9BCC23B9D48B}"/>
                </a:ext>
              </a:extLst>
            </p:cNvPr>
            <p:cNvSpPr txBox="1">
              <a:spLocks noChangeArrowheads="1"/>
            </p:cNvSpPr>
            <p:nvPr/>
          </p:nvSpPr>
          <p:spPr bwMode="auto">
            <a:xfrm>
              <a:off x="3126978" y="5486403"/>
              <a:ext cx="560266" cy="35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a:latin typeface="+mn-lt"/>
                  <a:cs typeface="+mn-ea"/>
                  <a:sym typeface="+mn-lt"/>
                </a:rPr>
                <a:t>静态</a:t>
              </a:r>
            </a:p>
          </p:txBody>
        </p:sp>
        <p:sp>
          <p:nvSpPr>
            <p:cNvPr id="31" name="TextBox 13">
              <a:extLst>
                <a:ext uri="{FF2B5EF4-FFF2-40B4-BE49-F238E27FC236}">
                  <a16:creationId xmlns:a16="http://schemas.microsoft.com/office/drawing/2014/main" id="{B6D53E29-DA28-46F5-BF21-19AB4824F1F4}"/>
                </a:ext>
              </a:extLst>
            </p:cNvPr>
            <p:cNvSpPr txBox="1">
              <a:spLocks noChangeArrowheads="1"/>
            </p:cNvSpPr>
            <p:nvPr/>
          </p:nvSpPr>
          <p:spPr bwMode="auto">
            <a:xfrm>
              <a:off x="4382889" y="5485795"/>
              <a:ext cx="560266" cy="35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a:latin typeface="+mn-lt"/>
                  <a:cs typeface="+mn-ea"/>
                  <a:sym typeface="+mn-lt"/>
                </a:rPr>
                <a:t>静态</a:t>
              </a:r>
            </a:p>
          </p:txBody>
        </p:sp>
        <p:sp>
          <p:nvSpPr>
            <p:cNvPr id="32" name="TextBox 14">
              <a:extLst>
                <a:ext uri="{FF2B5EF4-FFF2-40B4-BE49-F238E27FC236}">
                  <a16:creationId xmlns:a16="http://schemas.microsoft.com/office/drawing/2014/main" id="{736B9C6A-3BB9-40EC-A9FA-00763C381A4B}"/>
                </a:ext>
              </a:extLst>
            </p:cNvPr>
            <p:cNvSpPr txBox="1">
              <a:spLocks noChangeArrowheads="1"/>
            </p:cNvSpPr>
            <p:nvPr/>
          </p:nvSpPr>
          <p:spPr bwMode="auto">
            <a:xfrm>
              <a:off x="5638799" y="5486398"/>
              <a:ext cx="560266" cy="35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动态</a:t>
              </a:r>
            </a:p>
          </p:txBody>
        </p:sp>
        <p:sp>
          <p:nvSpPr>
            <p:cNvPr id="33" name="TextBox 15">
              <a:extLst>
                <a:ext uri="{FF2B5EF4-FFF2-40B4-BE49-F238E27FC236}">
                  <a16:creationId xmlns:a16="http://schemas.microsoft.com/office/drawing/2014/main" id="{34E1C393-D7AC-4D53-A93F-B2BFDB7F78F3}"/>
                </a:ext>
              </a:extLst>
            </p:cNvPr>
            <p:cNvSpPr txBox="1">
              <a:spLocks noChangeArrowheads="1"/>
            </p:cNvSpPr>
            <p:nvPr/>
          </p:nvSpPr>
          <p:spPr bwMode="auto">
            <a:xfrm>
              <a:off x="7477124" y="5485787"/>
              <a:ext cx="560266" cy="35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a:latin typeface="+mn-lt"/>
                  <a:cs typeface="+mn-ea"/>
                  <a:sym typeface="+mn-lt"/>
                </a:rPr>
                <a:t>动态</a:t>
              </a:r>
            </a:p>
          </p:txBody>
        </p:sp>
        <p:sp>
          <p:nvSpPr>
            <p:cNvPr id="34" name="TextBox 16">
              <a:extLst>
                <a:ext uri="{FF2B5EF4-FFF2-40B4-BE49-F238E27FC236}">
                  <a16:creationId xmlns:a16="http://schemas.microsoft.com/office/drawing/2014/main" id="{ECA3EADE-5D9F-4632-B3D0-95BE66A54C73}"/>
                </a:ext>
              </a:extLst>
            </p:cNvPr>
            <p:cNvSpPr txBox="1">
              <a:spLocks noChangeArrowheads="1"/>
            </p:cNvSpPr>
            <p:nvPr/>
          </p:nvSpPr>
          <p:spPr bwMode="auto">
            <a:xfrm>
              <a:off x="9006292" y="5512907"/>
              <a:ext cx="784219" cy="35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zh-CN" altLang="en-US" dirty="0">
                  <a:latin typeface="+mn-lt"/>
                  <a:cs typeface="+mn-ea"/>
                  <a:sym typeface="+mn-lt"/>
                </a:rPr>
                <a:t>半动态</a:t>
              </a:r>
              <a:endParaRPr lang="en-US" altLang="zh-CN" sz="1800" dirty="0">
                <a:latin typeface="+mn-lt"/>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500"/>
                                        <p:tgtEl>
                                          <p:spTgt spid="2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1">
                                            <p:txEl>
                                              <p:pRg st="1" end="1"/>
                                            </p:txEl>
                                          </p:spTgt>
                                        </p:tgtEl>
                                        <p:attrNameLst>
                                          <p:attrName>style.visibility</p:attrName>
                                        </p:attrNameLst>
                                      </p:cBhvr>
                                      <p:to>
                                        <p:strVal val="visible"/>
                                      </p:to>
                                    </p:set>
                                    <p:animEffect transition="in" filter="fade">
                                      <p:cBhvr>
                                        <p:cTn id="10" dur="500"/>
                                        <p:tgtEl>
                                          <p:spTgt spid="2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animEffect transition="in" filter="fade">
                                      <p:cBhvr>
                                        <p:cTn id="15" dur="500"/>
                                        <p:tgtEl>
                                          <p:spTgt spid="21">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xEl>
                                              <p:pRg st="3" end="3"/>
                                            </p:txEl>
                                          </p:spTgt>
                                        </p:tgtEl>
                                        <p:attrNameLst>
                                          <p:attrName>style.visibility</p:attrName>
                                        </p:attrNameLst>
                                      </p:cBhvr>
                                      <p:to>
                                        <p:strVal val="visible"/>
                                      </p:to>
                                    </p:set>
                                    <p:animEffect transition="in" filter="fade">
                                      <p:cBhvr>
                                        <p:cTn id="18" dur="500"/>
                                        <p:tgtEl>
                                          <p:spTgt spid="21">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1">
                                            <p:txEl>
                                              <p:pRg st="4" end="4"/>
                                            </p:txEl>
                                          </p:spTgt>
                                        </p:tgtEl>
                                        <p:attrNameLst>
                                          <p:attrName>style.visibility</p:attrName>
                                        </p:attrNameLst>
                                      </p:cBhvr>
                                      <p:to>
                                        <p:strVal val="visible"/>
                                      </p:to>
                                    </p:set>
                                    <p:animEffect transition="in" filter="fade">
                                      <p:cBhvr>
                                        <p:cTn id="21" dur="500"/>
                                        <p:tgtEl>
                                          <p:spTgt spid="2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1">
                                            <p:txEl>
                                              <p:pRg st="5" end="5"/>
                                            </p:txEl>
                                          </p:spTgt>
                                        </p:tgtEl>
                                        <p:attrNameLst>
                                          <p:attrName>style.visibility</p:attrName>
                                        </p:attrNameLst>
                                      </p:cBhvr>
                                      <p:to>
                                        <p:strVal val="visible"/>
                                      </p:to>
                                    </p:set>
                                    <p:animEffect transition="in" filter="fade">
                                      <p:cBhvr>
                                        <p:cTn id="26" dur="500"/>
                                        <p:tgtEl>
                                          <p:spTgt spid="21">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2">
            <a:extLst>
              <a:ext uri="{FF2B5EF4-FFF2-40B4-BE49-F238E27FC236}">
                <a16:creationId xmlns:a16="http://schemas.microsoft.com/office/drawing/2014/main" id="{8EC9B2B2-411E-D371-EB3B-72A45F87A9E4}"/>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20" name="Title 1">
            <a:extLst>
              <a:ext uri="{FF2B5EF4-FFF2-40B4-BE49-F238E27FC236}">
                <a16:creationId xmlns:a16="http://schemas.microsoft.com/office/drawing/2014/main" id="{4840B3BD-67AF-4459-8524-C237CD3F0919}"/>
              </a:ext>
            </a:extLst>
          </p:cNvPr>
          <p:cNvSpPr>
            <a:spLocks noGrp="1" noChangeArrowheads="1"/>
          </p:cNvSpPr>
          <p:nvPr>
            <p:ph type="title"/>
          </p:nvPr>
        </p:nvSpPr>
        <p:spPr>
          <a:xfrm>
            <a:off x="1091255" y="237834"/>
            <a:ext cx="8168208" cy="790865"/>
          </a:xfrm>
        </p:spPr>
        <p:txBody>
          <a:bodyPr/>
          <a:lstStyle/>
          <a:p>
            <a:pPr eaLnBrk="1" hangingPunct="1"/>
            <a:r>
              <a:rPr lang="en-US" altLang="zh-CN" sz="3600" dirty="0">
                <a:solidFill>
                  <a:srgbClr val="FF0000"/>
                </a:solidFill>
                <a:latin typeface="+mn-lt"/>
                <a:ea typeface="+mn-ea"/>
                <a:cs typeface="+mn-ea"/>
                <a:sym typeface="+mn-lt"/>
              </a:rPr>
              <a:t>离散</a:t>
            </a:r>
            <a:r>
              <a:rPr lang="en-US" altLang="zh-CN" sz="3600" dirty="0">
                <a:solidFill>
                  <a:srgbClr val="7B9899"/>
                </a:solidFill>
                <a:latin typeface="+mn-lt"/>
                <a:ea typeface="+mn-ea"/>
                <a:cs typeface="+mn-ea"/>
                <a:sym typeface="+mn-lt"/>
              </a:rPr>
              <a:t> </a:t>
            </a:r>
            <a:r>
              <a:rPr lang="en-US" altLang="zh-CN" sz="3600" dirty="0">
                <a:solidFill>
                  <a:srgbClr val="515223"/>
                </a:solidFill>
                <a:latin typeface="+mn-lt"/>
                <a:ea typeface="+mn-ea"/>
                <a:cs typeface="+mn-ea"/>
                <a:sym typeface="+mn-lt"/>
              </a:rPr>
              <a:t>(与连续）</a:t>
            </a:r>
            <a:endParaRPr lang="en-US" altLang="zh-CN" dirty="0">
              <a:solidFill>
                <a:srgbClr val="515223"/>
              </a:solidFill>
              <a:latin typeface="+mn-lt"/>
              <a:ea typeface="+mn-ea"/>
              <a:cs typeface="+mn-ea"/>
              <a:sym typeface="+mn-lt"/>
            </a:endParaRPr>
          </a:p>
        </p:txBody>
      </p:sp>
      <p:sp>
        <p:nvSpPr>
          <p:cNvPr id="21" name="Content Placeholder 4">
            <a:extLst>
              <a:ext uri="{FF2B5EF4-FFF2-40B4-BE49-F238E27FC236}">
                <a16:creationId xmlns:a16="http://schemas.microsoft.com/office/drawing/2014/main" id="{A669D2D3-D672-4CD1-882D-882ADDDDCCAA}"/>
              </a:ext>
            </a:extLst>
          </p:cNvPr>
          <p:cNvSpPr txBox="1">
            <a:spLocks noChangeArrowheads="1"/>
          </p:cNvSpPr>
          <p:nvPr/>
        </p:nvSpPr>
        <p:spPr>
          <a:xfrm>
            <a:off x="1091255" y="1608028"/>
            <a:ext cx="9635015" cy="12625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tLang="zh-CN" sz="2400" dirty="0" err="1">
                <a:latin typeface="+mn-lt"/>
                <a:cs typeface="+mn-ea"/>
                <a:sym typeface="+mn-lt"/>
              </a:rPr>
              <a:t>数量有限、各不相同且定义明确的</a:t>
            </a:r>
            <a:r>
              <a:rPr lang="zh-CN" altLang="en-US" sz="2400" dirty="0">
                <a:latin typeface="+mn-lt"/>
                <a:cs typeface="+mn-ea"/>
                <a:sym typeface="+mn-lt"/>
              </a:rPr>
              <a:t>感知</a:t>
            </a:r>
            <a:r>
              <a:rPr lang="en-GB" altLang="zh-CN" sz="2400" dirty="0" err="1">
                <a:latin typeface="+mn-lt"/>
                <a:cs typeface="+mn-ea"/>
                <a:sym typeface="+mn-lt"/>
              </a:rPr>
              <a:t>以及动作与一系列数值（连续）之间的关系</a:t>
            </a:r>
            <a:endParaRPr lang="en-US" altLang="zh-CN" sz="2400" dirty="0">
              <a:latin typeface="+mn-lt"/>
              <a:cs typeface="+mn-ea"/>
              <a:sym typeface="+mn-lt"/>
            </a:endParaRPr>
          </a:p>
        </p:txBody>
      </p:sp>
      <p:grpSp>
        <p:nvGrpSpPr>
          <p:cNvPr id="22" name="组合 21">
            <a:extLst>
              <a:ext uri="{FF2B5EF4-FFF2-40B4-BE49-F238E27FC236}">
                <a16:creationId xmlns:a16="http://schemas.microsoft.com/office/drawing/2014/main" id="{C64D8883-82A3-47EF-8EE8-7A2F63E0DE2D}"/>
              </a:ext>
            </a:extLst>
          </p:cNvPr>
          <p:cNvGrpSpPr/>
          <p:nvPr/>
        </p:nvGrpSpPr>
        <p:grpSpPr>
          <a:xfrm>
            <a:off x="1342876" y="2872641"/>
            <a:ext cx="8830782" cy="874481"/>
            <a:chOff x="983824" y="3026057"/>
            <a:chExt cx="8022850" cy="792977"/>
          </a:xfrm>
        </p:grpSpPr>
        <p:sp>
          <p:nvSpPr>
            <p:cNvPr id="23" name="TextBox 5">
              <a:extLst>
                <a:ext uri="{FF2B5EF4-FFF2-40B4-BE49-F238E27FC236}">
                  <a16:creationId xmlns:a16="http://schemas.microsoft.com/office/drawing/2014/main" id="{5A46F6AA-7DFE-4CA9-9815-80F80A4BD14C}"/>
                </a:ext>
              </a:extLst>
            </p:cNvPr>
            <p:cNvSpPr txBox="1">
              <a:spLocks noChangeArrowheads="1"/>
            </p:cNvSpPr>
            <p:nvPr/>
          </p:nvSpPr>
          <p:spPr bwMode="auto">
            <a:xfrm>
              <a:off x="983824" y="3037171"/>
              <a:ext cx="587198" cy="3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err="1">
                  <a:latin typeface="+mn-lt"/>
                  <a:cs typeface="+mn-ea"/>
                  <a:sym typeface="+mn-lt"/>
                </a:rPr>
                <a:t>字谜</a:t>
              </a:r>
              <a:endParaRPr lang="en-US" altLang="zh-CN" sz="1800" b="1" dirty="0">
                <a:latin typeface="+mn-lt"/>
                <a:cs typeface="+mn-ea"/>
                <a:sym typeface="+mn-lt"/>
              </a:endParaRPr>
            </a:p>
          </p:txBody>
        </p:sp>
        <p:sp>
          <p:nvSpPr>
            <p:cNvPr id="24" name="TextBox 6">
              <a:extLst>
                <a:ext uri="{FF2B5EF4-FFF2-40B4-BE49-F238E27FC236}">
                  <a16:creationId xmlns:a16="http://schemas.microsoft.com/office/drawing/2014/main" id="{FF54FB5E-1403-4F34-BDDD-E5DAE900792F}"/>
                </a:ext>
              </a:extLst>
            </p:cNvPr>
            <p:cNvSpPr txBox="1">
              <a:spLocks noChangeArrowheads="1"/>
            </p:cNvSpPr>
            <p:nvPr/>
          </p:nvSpPr>
          <p:spPr bwMode="auto">
            <a:xfrm>
              <a:off x="3241168" y="3037171"/>
              <a:ext cx="796911" cy="3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zh-CN" altLang="en-US" sz="1800" b="1" dirty="0">
                  <a:latin typeface="+mn-lt"/>
                  <a:cs typeface="+mn-ea"/>
                  <a:sym typeface="+mn-lt"/>
                </a:rPr>
                <a:t>双陆棋</a:t>
              </a:r>
              <a:endParaRPr lang="en-US" altLang="zh-CN" sz="1800" b="1" dirty="0">
                <a:latin typeface="+mn-lt"/>
                <a:cs typeface="+mn-ea"/>
                <a:sym typeface="+mn-lt"/>
              </a:endParaRPr>
            </a:p>
          </p:txBody>
        </p:sp>
        <p:sp>
          <p:nvSpPr>
            <p:cNvPr id="25" name="TextBox 7">
              <a:extLst>
                <a:ext uri="{FF2B5EF4-FFF2-40B4-BE49-F238E27FC236}">
                  <a16:creationId xmlns:a16="http://schemas.microsoft.com/office/drawing/2014/main" id="{70C049C8-2BEC-4482-9D8A-5F1A6A92A7B4}"/>
                </a:ext>
              </a:extLst>
            </p:cNvPr>
            <p:cNvSpPr txBox="1">
              <a:spLocks noChangeArrowheads="1"/>
            </p:cNvSpPr>
            <p:nvPr/>
          </p:nvSpPr>
          <p:spPr bwMode="auto">
            <a:xfrm>
              <a:off x="4641425" y="3037171"/>
              <a:ext cx="1223621" cy="3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出租车司机</a:t>
              </a:r>
            </a:p>
          </p:txBody>
        </p:sp>
        <p:sp>
          <p:nvSpPr>
            <p:cNvPr id="26" name="TextBox 8">
              <a:extLst>
                <a:ext uri="{FF2B5EF4-FFF2-40B4-BE49-F238E27FC236}">
                  <a16:creationId xmlns:a16="http://schemas.microsoft.com/office/drawing/2014/main" id="{09E64C2A-D672-4E19-90F7-776AFD0EF613}"/>
                </a:ext>
              </a:extLst>
            </p:cNvPr>
            <p:cNvSpPr txBox="1">
              <a:spLocks noChangeArrowheads="1"/>
            </p:cNvSpPr>
            <p:nvPr/>
          </p:nvSpPr>
          <p:spPr bwMode="auto">
            <a:xfrm>
              <a:off x="6089224" y="3037171"/>
              <a:ext cx="1645960" cy="3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a:latin typeface="+mn-lt"/>
                  <a:cs typeface="+mn-ea"/>
                  <a:sym typeface="+mn-lt"/>
                </a:rPr>
                <a:t>零件拣选机器人</a:t>
              </a:r>
            </a:p>
          </p:txBody>
        </p:sp>
        <p:sp>
          <p:nvSpPr>
            <p:cNvPr id="27" name="TextBox 9">
              <a:extLst>
                <a:ext uri="{FF2B5EF4-FFF2-40B4-BE49-F238E27FC236}">
                  <a16:creationId xmlns:a16="http://schemas.microsoft.com/office/drawing/2014/main" id="{D9B8F31E-D46B-4A95-B811-CD87BDC1D250}"/>
                </a:ext>
              </a:extLst>
            </p:cNvPr>
            <p:cNvSpPr txBox="1">
              <a:spLocks noChangeArrowheads="1"/>
            </p:cNvSpPr>
            <p:nvPr/>
          </p:nvSpPr>
          <p:spPr bwMode="auto">
            <a:xfrm>
              <a:off x="2125368" y="3037171"/>
              <a:ext cx="590111" cy="3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err="1">
                  <a:latin typeface="+mn-lt"/>
                  <a:cs typeface="+mn-ea"/>
                  <a:sym typeface="+mn-lt"/>
                </a:rPr>
                <a:t>扑克</a:t>
              </a:r>
              <a:endParaRPr lang="en-US" altLang="zh-CN" sz="1800" b="1" dirty="0">
                <a:latin typeface="+mn-lt"/>
                <a:cs typeface="+mn-ea"/>
                <a:sym typeface="+mn-lt"/>
              </a:endParaRPr>
            </a:p>
          </p:txBody>
        </p:sp>
        <p:sp>
          <p:nvSpPr>
            <p:cNvPr id="28" name="TextBox 10">
              <a:extLst>
                <a:ext uri="{FF2B5EF4-FFF2-40B4-BE49-F238E27FC236}">
                  <a16:creationId xmlns:a16="http://schemas.microsoft.com/office/drawing/2014/main" id="{B5A7D7C4-5827-4653-8ACA-37D16263BF12}"/>
                </a:ext>
              </a:extLst>
            </p:cNvPr>
            <p:cNvSpPr txBox="1">
              <a:spLocks noChangeArrowheads="1"/>
            </p:cNvSpPr>
            <p:nvPr/>
          </p:nvSpPr>
          <p:spPr bwMode="auto">
            <a:xfrm>
              <a:off x="7994224" y="3026057"/>
              <a:ext cx="1012450" cy="3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图像分析</a:t>
              </a:r>
            </a:p>
          </p:txBody>
        </p:sp>
        <p:sp>
          <p:nvSpPr>
            <p:cNvPr id="29" name="TextBox 11">
              <a:extLst>
                <a:ext uri="{FF2B5EF4-FFF2-40B4-BE49-F238E27FC236}">
                  <a16:creationId xmlns:a16="http://schemas.microsoft.com/office/drawing/2014/main" id="{9639CBA3-A00E-41E0-8288-8A0783125768}"/>
                </a:ext>
              </a:extLst>
            </p:cNvPr>
            <p:cNvSpPr txBox="1">
              <a:spLocks noChangeArrowheads="1"/>
            </p:cNvSpPr>
            <p:nvPr/>
          </p:nvSpPr>
          <p:spPr bwMode="auto">
            <a:xfrm>
              <a:off x="983825" y="3483257"/>
              <a:ext cx="587198" cy="3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离散</a:t>
              </a:r>
            </a:p>
          </p:txBody>
        </p:sp>
        <p:sp>
          <p:nvSpPr>
            <p:cNvPr id="30" name="TextBox 12">
              <a:extLst>
                <a:ext uri="{FF2B5EF4-FFF2-40B4-BE49-F238E27FC236}">
                  <a16:creationId xmlns:a16="http://schemas.microsoft.com/office/drawing/2014/main" id="{21A34C5F-D108-4481-BFA6-32BB2706D4BF}"/>
                </a:ext>
              </a:extLst>
            </p:cNvPr>
            <p:cNvSpPr txBox="1">
              <a:spLocks noChangeArrowheads="1"/>
            </p:cNvSpPr>
            <p:nvPr/>
          </p:nvSpPr>
          <p:spPr bwMode="auto">
            <a:xfrm>
              <a:off x="2126825" y="3483257"/>
              <a:ext cx="587198" cy="3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离散</a:t>
              </a:r>
            </a:p>
          </p:txBody>
        </p:sp>
        <p:sp>
          <p:nvSpPr>
            <p:cNvPr id="31" name="TextBox 13">
              <a:extLst>
                <a:ext uri="{FF2B5EF4-FFF2-40B4-BE49-F238E27FC236}">
                  <a16:creationId xmlns:a16="http://schemas.microsoft.com/office/drawing/2014/main" id="{546F739C-DA62-4724-8869-31824B5E005A}"/>
                </a:ext>
              </a:extLst>
            </p:cNvPr>
            <p:cNvSpPr txBox="1">
              <a:spLocks noChangeArrowheads="1"/>
            </p:cNvSpPr>
            <p:nvPr/>
          </p:nvSpPr>
          <p:spPr bwMode="auto">
            <a:xfrm>
              <a:off x="3346025" y="3483257"/>
              <a:ext cx="587198" cy="3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离散</a:t>
              </a:r>
            </a:p>
          </p:txBody>
        </p:sp>
        <p:sp>
          <p:nvSpPr>
            <p:cNvPr id="32" name="TextBox 14">
              <a:extLst>
                <a:ext uri="{FF2B5EF4-FFF2-40B4-BE49-F238E27FC236}">
                  <a16:creationId xmlns:a16="http://schemas.microsoft.com/office/drawing/2014/main" id="{8AEF1227-D9AE-4E6C-AABC-3FC2873346DB}"/>
                </a:ext>
              </a:extLst>
            </p:cNvPr>
            <p:cNvSpPr txBox="1">
              <a:spLocks noChangeArrowheads="1"/>
            </p:cNvSpPr>
            <p:nvPr/>
          </p:nvSpPr>
          <p:spPr bwMode="auto">
            <a:xfrm>
              <a:off x="4870024" y="3483257"/>
              <a:ext cx="587198" cy="3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zh-CN" altLang="en-US" sz="1800" dirty="0">
                  <a:latin typeface="+mn-lt"/>
                  <a:cs typeface="+mn-ea"/>
                  <a:sym typeface="+mn-lt"/>
                </a:rPr>
                <a:t>连续</a:t>
              </a:r>
              <a:endParaRPr lang="en-US" altLang="zh-CN" sz="1800" dirty="0">
                <a:latin typeface="+mn-lt"/>
                <a:cs typeface="+mn-ea"/>
                <a:sym typeface="+mn-lt"/>
              </a:endParaRPr>
            </a:p>
          </p:txBody>
        </p:sp>
        <p:sp>
          <p:nvSpPr>
            <p:cNvPr id="33" name="TextBox 15">
              <a:extLst>
                <a:ext uri="{FF2B5EF4-FFF2-40B4-BE49-F238E27FC236}">
                  <a16:creationId xmlns:a16="http://schemas.microsoft.com/office/drawing/2014/main" id="{C5432AC2-0D8B-4E42-8ACE-22E9BBF4AA78}"/>
                </a:ext>
              </a:extLst>
            </p:cNvPr>
            <p:cNvSpPr txBox="1">
              <a:spLocks noChangeArrowheads="1"/>
            </p:cNvSpPr>
            <p:nvPr/>
          </p:nvSpPr>
          <p:spPr bwMode="auto">
            <a:xfrm>
              <a:off x="6775024" y="3483257"/>
              <a:ext cx="587198" cy="3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zh-CN" altLang="en-US" sz="1800" dirty="0">
                  <a:latin typeface="+mn-lt"/>
                  <a:cs typeface="+mn-ea"/>
                  <a:sym typeface="+mn-lt"/>
                </a:rPr>
                <a:t>连续</a:t>
              </a:r>
              <a:endParaRPr lang="en-US" altLang="zh-CN" sz="1800" dirty="0">
                <a:latin typeface="+mn-lt"/>
                <a:cs typeface="+mn-ea"/>
                <a:sym typeface="+mn-lt"/>
              </a:endParaRPr>
            </a:p>
          </p:txBody>
        </p:sp>
        <p:sp>
          <p:nvSpPr>
            <p:cNvPr id="34" name="TextBox 16">
              <a:extLst>
                <a:ext uri="{FF2B5EF4-FFF2-40B4-BE49-F238E27FC236}">
                  <a16:creationId xmlns:a16="http://schemas.microsoft.com/office/drawing/2014/main" id="{27E76F79-497A-4C94-9FB5-6D6A560586E6}"/>
                </a:ext>
              </a:extLst>
            </p:cNvPr>
            <p:cNvSpPr txBox="1">
              <a:spLocks noChangeArrowheads="1"/>
            </p:cNvSpPr>
            <p:nvPr/>
          </p:nvSpPr>
          <p:spPr bwMode="auto">
            <a:xfrm>
              <a:off x="8206850" y="3484125"/>
              <a:ext cx="587198" cy="33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zh-CN" altLang="en-US" sz="1800" dirty="0">
                  <a:latin typeface="+mn-lt"/>
                  <a:cs typeface="+mn-ea"/>
                  <a:sym typeface="+mn-lt"/>
                </a:rPr>
                <a:t>连续</a:t>
              </a:r>
              <a:endParaRPr lang="en-US" altLang="zh-CN" sz="1800" dirty="0">
                <a:latin typeface="+mn-lt"/>
                <a:cs typeface="+mn-ea"/>
                <a:sym typeface="+mn-lt"/>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2">
            <a:extLst>
              <a:ext uri="{FF2B5EF4-FFF2-40B4-BE49-F238E27FC236}">
                <a16:creationId xmlns:a16="http://schemas.microsoft.com/office/drawing/2014/main" id="{14718046-B4FD-2BD3-274C-5A903D18D6F0}"/>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20" name="Title 1">
            <a:extLst>
              <a:ext uri="{FF2B5EF4-FFF2-40B4-BE49-F238E27FC236}">
                <a16:creationId xmlns:a16="http://schemas.microsoft.com/office/drawing/2014/main" id="{DA50A5DD-E918-4D3B-B64A-FCB5DC7C5FC2}"/>
              </a:ext>
            </a:extLst>
          </p:cNvPr>
          <p:cNvSpPr>
            <a:spLocks noGrp="1" noChangeArrowheads="1"/>
          </p:cNvSpPr>
          <p:nvPr>
            <p:ph type="title"/>
          </p:nvPr>
        </p:nvSpPr>
        <p:spPr>
          <a:xfrm>
            <a:off x="1091255" y="237834"/>
            <a:ext cx="8168208" cy="790865"/>
          </a:xfrm>
        </p:spPr>
        <p:txBody>
          <a:bodyPr/>
          <a:lstStyle/>
          <a:p>
            <a:pPr eaLnBrk="1" hangingPunct="1"/>
            <a:r>
              <a:rPr lang="en-US" altLang="zh-CN" sz="3600" dirty="0">
                <a:solidFill>
                  <a:srgbClr val="FF0000"/>
                </a:solidFill>
                <a:latin typeface="+mn-lt"/>
                <a:ea typeface="+mn-ea"/>
                <a:cs typeface="+mn-ea"/>
                <a:sym typeface="+mn-lt"/>
              </a:rPr>
              <a:t>单</a:t>
            </a:r>
            <a:r>
              <a:rPr lang="zh-CN" altLang="en-US" sz="3600" dirty="0">
                <a:solidFill>
                  <a:srgbClr val="FF0000"/>
                </a:solidFill>
                <a:latin typeface="+mn-lt"/>
                <a:ea typeface="+mn-ea"/>
                <a:cs typeface="+mn-ea"/>
                <a:sym typeface="+mn-lt"/>
              </a:rPr>
              <a:t>智能体</a:t>
            </a:r>
            <a:r>
              <a:rPr lang="en-US" altLang="zh-CN" sz="3600" dirty="0">
                <a:solidFill>
                  <a:srgbClr val="7B9899"/>
                </a:solidFill>
                <a:latin typeface="+mn-lt"/>
                <a:ea typeface="+mn-ea"/>
                <a:cs typeface="+mn-ea"/>
                <a:sym typeface="+mn-lt"/>
              </a:rPr>
              <a:t> </a:t>
            </a:r>
            <a:r>
              <a:rPr lang="en-US" altLang="zh-CN" sz="3600" dirty="0">
                <a:solidFill>
                  <a:srgbClr val="515223"/>
                </a:solidFill>
                <a:latin typeface="+mn-lt"/>
                <a:ea typeface="+mn-ea"/>
                <a:cs typeface="+mn-ea"/>
                <a:sym typeface="+mn-lt"/>
              </a:rPr>
              <a:t>(与多智能体）</a:t>
            </a:r>
            <a:endParaRPr lang="en-US" altLang="zh-CN" dirty="0">
              <a:solidFill>
                <a:srgbClr val="515223"/>
              </a:solidFill>
              <a:latin typeface="+mn-lt"/>
              <a:ea typeface="+mn-ea"/>
              <a:cs typeface="+mn-ea"/>
              <a:sym typeface="+mn-lt"/>
            </a:endParaRPr>
          </a:p>
        </p:txBody>
      </p:sp>
      <p:sp>
        <p:nvSpPr>
          <p:cNvPr id="21" name="Content Placeholder 4">
            <a:extLst>
              <a:ext uri="{FF2B5EF4-FFF2-40B4-BE49-F238E27FC236}">
                <a16:creationId xmlns:a16="http://schemas.microsoft.com/office/drawing/2014/main" id="{8DB61F7B-0763-4F6C-A198-DBA3E777EB09}"/>
              </a:ext>
            </a:extLst>
          </p:cNvPr>
          <p:cNvSpPr txBox="1">
            <a:spLocks noChangeArrowheads="1"/>
          </p:cNvSpPr>
          <p:nvPr/>
        </p:nvSpPr>
        <p:spPr>
          <a:xfrm>
            <a:off x="1091255" y="1620044"/>
            <a:ext cx="8504238" cy="1444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a:latin typeface="+mn-lt"/>
                <a:cs typeface="+mn-ea"/>
                <a:sym typeface="+mn-lt"/>
              </a:rPr>
              <a:t>一个智能体单独在环境中运行，或者有许多智能体协同工作。</a:t>
            </a:r>
            <a:endParaRPr lang="en-US" altLang="zh-CN" dirty="0">
              <a:latin typeface="+mn-lt"/>
              <a:cs typeface="+mn-ea"/>
              <a:sym typeface="+mn-lt"/>
            </a:endParaRPr>
          </a:p>
        </p:txBody>
      </p:sp>
      <p:grpSp>
        <p:nvGrpSpPr>
          <p:cNvPr id="22" name="组合 21">
            <a:extLst>
              <a:ext uri="{FF2B5EF4-FFF2-40B4-BE49-F238E27FC236}">
                <a16:creationId xmlns:a16="http://schemas.microsoft.com/office/drawing/2014/main" id="{456FB7FA-088C-47E7-B3E9-4AAEABEE3F89}"/>
              </a:ext>
            </a:extLst>
          </p:cNvPr>
          <p:cNvGrpSpPr/>
          <p:nvPr/>
        </p:nvGrpSpPr>
        <p:grpSpPr>
          <a:xfrm>
            <a:off x="1343709" y="3064670"/>
            <a:ext cx="8808987" cy="880529"/>
            <a:chOff x="1908505" y="3657600"/>
            <a:chExt cx="8098892" cy="787520"/>
          </a:xfrm>
        </p:grpSpPr>
        <p:sp>
          <p:nvSpPr>
            <p:cNvPr id="23" name="TextBox 5">
              <a:extLst>
                <a:ext uri="{FF2B5EF4-FFF2-40B4-BE49-F238E27FC236}">
                  <a16:creationId xmlns:a16="http://schemas.microsoft.com/office/drawing/2014/main" id="{06798B29-00A3-4AF1-A10C-E2B05A923F4C}"/>
                </a:ext>
              </a:extLst>
            </p:cNvPr>
            <p:cNvSpPr txBox="1">
              <a:spLocks noChangeArrowheads="1"/>
            </p:cNvSpPr>
            <p:nvPr/>
          </p:nvSpPr>
          <p:spPr bwMode="auto">
            <a:xfrm>
              <a:off x="1908505" y="3668714"/>
              <a:ext cx="594230" cy="33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err="1">
                  <a:latin typeface="+mn-lt"/>
                  <a:cs typeface="+mn-ea"/>
                  <a:sym typeface="+mn-lt"/>
                </a:rPr>
                <a:t>字谜</a:t>
              </a:r>
              <a:endParaRPr lang="en-US" altLang="zh-CN" sz="1800" b="1" dirty="0">
                <a:latin typeface="+mn-lt"/>
                <a:cs typeface="+mn-ea"/>
                <a:sym typeface="+mn-lt"/>
              </a:endParaRPr>
            </a:p>
          </p:txBody>
        </p:sp>
        <p:sp>
          <p:nvSpPr>
            <p:cNvPr id="24" name="TextBox 6">
              <a:extLst>
                <a:ext uri="{FF2B5EF4-FFF2-40B4-BE49-F238E27FC236}">
                  <a16:creationId xmlns:a16="http://schemas.microsoft.com/office/drawing/2014/main" id="{B8FBD7BC-0193-404B-A507-C6E89F276314}"/>
                </a:ext>
              </a:extLst>
            </p:cNvPr>
            <p:cNvSpPr txBox="1">
              <a:spLocks noChangeArrowheads="1"/>
            </p:cNvSpPr>
            <p:nvPr/>
          </p:nvSpPr>
          <p:spPr bwMode="auto">
            <a:xfrm>
              <a:off x="4131174" y="3668714"/>
              <a:ext cx="806455" cy="33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zh-CN" altLang="en-US" sz="1800" b="1" dirty="0">
                  <a:latin typeface="+mn-lt"/>
                  <a:cs typeface="+mn-ea"/>
                  <a:sym typeface="+mn-lt"/>
                </a:rPr>
                <a:t>双陆棋</a:t>
              </a:r>
              <a:endParaRPr lang="en-US" altLang="zh-CN" sz="1800" b="1" dirty="0">
                <a:latin typeface="+mn-lt"/>
                <a:cs typeface="+mn-ea"/>
                <a:sym typeface="+mn-lt"/>
              </a:endParaRPr>
            </a:p>
          </p:txBody>
        </p:sp>
        <p:sp>
          <p:nvSpPr>
            <p:cNvPr id="25" name="TextBox 7">
              <a:extLst>
                <a:ext uri="{FF2B5EF4-FFF2-40B4-BE49-F238E27FC236}">
                  <a16:creationId xmlns:a16="http://schemas.microsoft.com/office/drawing/2014/main" id="{9BC2F75A-8799-479E-B3F2-7A1C5D75EFB5}"/>
                </a:ext>
              </a:extLst>
            </p:cNvPr>
            <p:cNvSpPr txBox="1">
              <a:spLocks noChangeArrowheads="1"/>
            </p:cNvSpPr>
            <p:nvPr/>
          </p:nvSpPr>
          <p:spPr bwMode="auto">
            <a:xfrm>
              <a:off x="5439265" y="3668714"/>
              <a:ext cx="1238274" cy="33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出租车司机</a:t>
              </a:r>
            </a:p>
          </p:txBody>
        </p:sp>
        <p:sp>
          <p:nvSpPr>
            <p:cNvPr id="26" name="TextBox 8">
              <a:extLst>
                <a:ext uri="{FF2B5EF4-FFF2-40B4-BE49-F238E27FC236}">
                  <a16:creationId xmlns:a16="http://schemas.microsoft.com/office/drawing/2014/main" id="{9B93F0DF-E42E-4E73-9B29-A197BAA3DAE6}"/>
                </a:ext>
              </a:extLst>
            </p:cNvPr>
            <p:cNvSpPr txBox="1">
              <a:spLocks noChangeArrowheads="1"/>
            </p:cNvSpPr>
            <p:nvPr/>
          </p:nvSpPr>
          <p:spPr bwMode="auto">
            <a:xfrm>
              <a:off x="7049502" y="3668714"/>
              <a:ext cx="1665671" cy="33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err="1">
                  <a:latin typeface="+mn-lt"/>
                  <a:cs typeface="+mn-ea"/>
                  <a:sym typeface="+mn-lt"/>
                </a:rPr>
                <a:t>零件拣选机器人</a:t>
              </a:r>
              <a:endParaRPr lang="en-US" altLang="zh-CN" sz="1800" b="1" dirty="0">
                <a:latin typeface="+mn-lt"/>
                <a:cs typeface="+mn-ea"/>
                <a:sym typeface="+mn-lt"/>
              </a:endParaRPr>
            </a:p>
          </p:txBody>
        </p:sp>
        <p:sp>
          <p:nvSpPr>
            <p:cNvPr id="27" name="TextBox 9">
              <a:extLst>
                <a:ext uri="{FF2B5EF4-FFF2-40B4-BE49-F238E27FC236}">
                  <a16:creationId xmlns:a16="http://schemas.microsoft.com/office/drawing/2014/main" id="{A3ABCFFD-1781-47E3-8D69-9CBE33BA8F8A}"/>
                </a:ext>
              </a:extLst>
            </p:cNvPr>
            <p:cNvSpPr txBox="1">
              <a:spLocks noChangeArrowheads="1"/>
            </p:cNvSpPr>
            <p:nvPr/>
          </p:nvSpPr>
          <p:spPr bwMode="auto">
            <a:xfrm>
              <a:off x="3124201" y="3668714"/>
              <a:ext cx="597178" cy="33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a:latin typeface="+mn-lt"/>
                  <a:cs typeface="+mn-ea"/>
                  <a:sym typeface="+mn-lt"/>
                </a:rPr>
                <a:t>扑克</a:t>
              </a:r>
            </a:p>
          </p:txBody>
        </p:sp>
        <p:sp>
          <p:nvSpPr>
            <p:cNvPr id="28" name="TextBox 10">
              <a:extLst>
                <a:ext uri="{FF2B5EF4-FFF2-40B4-BE49-F238E27FC236}">
                  <a16:creationId xmlns:a16="http://schemas.microsoft.com/office/drawing/2014/main" id="{56D1561D-0B16-4E71-A4B3-1968703AE5A2}"/>
                </a:ext>
              </a:extLst>
            </p:cNvPr>
            <p:cNvSpPr txBox="1">
              <a:spLocks noChangeArrowheads="1"/>
            </p:cNvSpPr>
            <p:nvPr/>
          </p:nvSpPr>
          <p:spPr bwMode="auto">
            <a:xfrm>
              <a:off x="8982822" y="3657600"/>
              <a:ext cx="1024575" cy="33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b="1" dirty="0" err="1">
                  <a:latin typeface="+mn-lt"/>
                  <a:cs typeface="+mn-ea"/>
                  <a:sym typeface="+mn-lt"/>
                </a:rPr>
                <a:t>图像分析</a:t>
              </a:r>
              <a:endParaRPr lang="en-US" altLang="zh-CN" sz="1800" b="1" dirty="0">
                <a:latin typeface="+mn-lt"/>
                <a:cs typeface="+mn-ea"/>
                <a:sym typeface="+mn-lt"/>
              </a:endParaRPr>
            </a:p>
          </p:txBody>
        </p:sp>
        <p:sp>
          <p:nvSpPr>
            <p:cNvPr id="29" name="TextBox 11">
              <a:extLst>
                <a:ext uri="{FF2B5EF4-FFF2-40B4-BE49-F238E27FC236}">
                  <a16:creationId xmlns:a16="http://schemas.microsoft.com/office/drawing/2014/main" id="{C084EBA6-17F4-4E48-A968-124799713C87}"/>
                </a:ext>
              </a:extLst>
            </p:cNvPr>
            <p:cNvSpPr txBox="1">
              <a:spLocks noChangeArrowheads="1"/>
            </p:cNvSpPr>
            <p:nvPr/>
          </p:nvSpPr>
          <p:spPr bwMode="auto">
            <a:xfrm>
              <a:off x="2014618" y="4114800"/>
              <a:ext cx="382005" cy="33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a:latin typeface="+mn-lt"/>
                  <a:cs typeface="+mn-ea"/>
                  <a:sym typeface="+mn-lt"/>
                </a:rPr>
                <a:t>单</a:t>
              </a:r>
            </a:p>
          </p:txBody>
        </p:sp>
        <p:sp>
          <p:nvSpPr>
            <p:cNvPr id="30" name="TextBox 12">
              <a:extLst>
                <a:ext uri="{FF2B5EF4-FFF2-40B4-BE49-F238E27FC236}">
                  <a16:creationId xmlns:a16="http://schemas.microsoft.com/office/drawing/2014/main" id="{8A1EB4E1-BCBC-42F9-8015-0EBCA3CA3A62}"/>
                </a:ext>
              </a:extLst>
            </p:cNvPr>
            <p:cNvSpPr txBox="1">
              <a:spLocks noChangeArrowheads="1"/>
            </p:cNvSpPr>
            <p:nvPr/>
          </p:nvSpPr>
          <p:spPr bwMode="auto">
            <a:xfrm>
              <a:off x="7696200" y="4114800"/>
              <a:ext cx="382005" cy="33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a:latin typeface="+mn-lt"/>
                  <a:cs typeface="+mn-ea"/>
                  <a:sym typeface="+mn-lt"/>
                </a:rPr>
                <a:t>单</a:t>
              </a:r>
            </a:p>
          </p:txBody>
        </p:sp>
        <p:sp>
          <p:nvSpPr>
            <p:cNvPr id="31" name="TextBox 13">
              <a:extLst>
                <a:ext uri="{FF2B5EF4-FFF2-40B4-BE49-F238E27FC236}">
                  <a16:creationId xmlns:a16="http://schemas.microsoft.com/office/drawing/2014/main" id="{8833F915-8395-4AB9-BA6B-929865618C67}"/>
                </a:ext>
              </a:extLst>
            </p:cNvPr>
            <p:cNvSpPr txBox="1">
              <a:spLocks noChangeArrowheads="1"/>
            </p:cNvSpPr>
            <p:nvPr/>
          </p:nvSpPr>
          <p:spPr bwMode="auto">
            <a:xfrm>
              <a:off x="9296400" y="4114800"/>
              <a:ext cx="382005" cy="33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dirty="0">
                  <a:latin typeface="+mn-lt"/>
                  <a:cs typeface="+mn-ea"/>
                  <a:sym typeface="+mn-lt"/>
                </a:rPr>
                <a:t>单</a:t>
              </a:r>
            </a:p>
          </p:txBody>
        </p:sp>
        <p:sp>
          <p:nvSpPr>
            <p:cNvPr id="32" name="TextBox 14">
              <a:extLst>
                <a:ext uri="{FF2B5EF4-FFF2-40B4-BE49-F238E27FC236}">
                  <a16:creationId xmlns:a16="http://schemas.microsoft.com/office/drawing/2014/main" id="{627F142E-0B95-4222-B59E-F1A839FDD6EE}"/>
                </a:ext>
              </a:extLst>
            </p:cNvPr>
            <p:cNvSpPr txBox="1">
              <a:spLocks noChangeArrowheads="1"/>
            </p:cNvSpPr>
            <p:nvPr/>
          </p:nvSpPr>
          <p:spPr bwMode="auto">
            <a:xfrm>
              <a:off x="5867400" y="4114800"/>
              <a:ext cx="382005" cy="33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多</a:t>
              </a:r>
            </a:p>
          </p:txBody>
        </p:sp>
        <p:sp>
          <p:nvSpPr>
            <p:cNvPr id="33" name="TextBox 15">
              <a:extLst>
                <a:ext uri="{FF2B5EF4-FFF2-40B4-BE49-F238E27FC236}">
                  <a16:creationId xmlns:a16="http://schemas.microsoft.com/office/drawing/2014/main" id="{37BC61E4-B2C5-49F8-A64A-0F46ACB88E1B}"/>
                </a:ext>
              </a:extLst>
            </p:cNvPr>
            <p:cNvSpPr txBox="1">
              <a:spLocks noChangeArrowheads="1"/>
            </p:cNvSpPr>
            <p:nvPr/>
          </p:nvSpPr>
          <p:spPr bwMode="auto">
            <a:xfrm>
              <a:off x="4343400" y="4114800"/>
              <a:ext cx="382005" cy="33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多</a:t>
              </a:r>
            </a:p>
          </p:txBody>
        </p:sp>
        <p:sp>
          <p:nvSpPr>
            <p:cNvPr id="34" name="TextBox 16">
              <a:extLst>
                <a:ext uri="{FF2B5EF4-FFF2-40B4-BE49-F238E27FC236}">
                  <a16:creationId xmlns:a16="http://schemas.microsoft.com/office/drawing/2014/main" id="{2F1ECEAE-C3B2-4B70-981D-BF5A623332A2}"/>
                </a:ext>
              </a:extLst>
            </p:cNvPr>
            <p:cNvSpPr txBox="1">
              <a:spLocks noChangeArrowheads="1"/>
            </p:cNvSpPr>
            <p:nvPr/>
          </p:nvSpPr>
          <p:spPr bwMode="auto">
            <a:xfrm>
              <a:off x="3124200" y="4114800"/>
              <a:ext cx="382005" cy="33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800">
                  <a:latin typeface="+mn-lt"/>
                  <a:cs typeface="+mn-ea"/>
                  <a:sym typeface="+mn-lt"/>
                </a:rPr>
                <a:t>多</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B5AB57DE-637B-D1A4-DA43-EB2A06EDD1F5}"/>
              </a:ext>
            </a:extLst>
          </p:cNvPr>
          <p:cNvSpPr>
            <a:spLocks noGrp="1" noChangeArrowheads="1"/>
          </p:cNvSpPr>
          <p:nvPr>
            <p:ph type="title"/>
          </p:nvPr>
        </p:nvSpPr>
        <p:spPr/>
        <p:txBody>
          <a:bodyPr/>
          <a:lstStyle/>
          <a:p>
            <a:pPr eaLnBrk="1" hangingPunct="1"/>
            <a:r>
              <a:rPr lang="zh-CN" altLang="en-US" sz="3600" dirty="0">
                <a:solidFill>
                  <a:srgbClr val="515223"/>
                </a:solidFill>
                <a:latin typeface="+mn-lt"/>
                <a:ea typeface="+mn-ea"/>
                <a:cs typeface="+mn-ea"/>
                <a:sym typeface="+mn-lt"/>
              </a:rPr>
              <a:t>智能体</a:t>
            </a:r>
            <a:r>
              <a:rPr lang="en-US" altLang="zh-CN" sz="3600" dirty="0" err="1">
                <a:solidFill>
                  <a:srgbClr val="515223"/>
                </a:solidFill>
                <a:latin typeface="+mn-lt"/>
                <a:ea typeface="+mn-ea"/>
                <a:cs typeface="+mn-ea"/>
                <a:sym typeface="+mn-lt"/>
              </a:rPr>
              <a:t>类型</a:t>
            </a:r>
            <a:endParaRPr lang="en-US" altLang="zh-CN" sz="3600" dirty="0">
              <a:solidFill>
                <a:srgbClr val="515223"/>
              </a:solidFill>
              <a:latin typeface="+mn-lt"/>
              <a:ea typeface="+mn-ea"/>
              <a:cs typeface="+mn-ea"/>
              <a:sym typeface="+mn-lt"/>
            </a:endParaRPr>
          </a:p>
        </p:txBody>
      </p:sp>
      <p:sp>
        <p:nvSpPr>
          <p:cNvPr id="43010" name="Footer Placeholder 4">
            <a:extLst>
              <a:ext uri="{FF2B5EF4-FFF2-40B4-BE49-F238E27FC236}">
                <a16:creationId xmlns:a16="http://schemas.microsoft.com/office/drawing/2014/main" id="{11F185EF-8633-DFC9-493D-938B73719405}"/>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200">
                <a:solidFill>
                  <a:srgbClr val="FFFFFF"/>
                </a:solidFill>
                <a:latin typeface="+mn-lt"/>
                <a:cs typeface="+mn-ea"/>
                <a:sym typeface="+mn-lt"/>
              </a:rPr>
              <a:t>人工智能：一种现代方法</a:t>
            </a:r>
          </a:p>
        </p:txBody>
      </p:sp>
      <p:sp>
        <p:nvSpPr>
          <p:cNvPr id="43012" name="Content Placeholder 2">
            <a:extLst>
              <a:ext uri="{FF2B5EF4-FFF2-40B4-BE49-F238E27FC236}">
                <a16:creationId xmlns:a16="http://schemas.microsoft.com/office/drawing/2014/main" id="{B3010787-605C-AE3D-109C-13EDEDBB5FAB}"/>
              </a:ext>
            </a:extLst>
          </p:cNvPr>
          <p:cNvSpPr>
            <a:spLocks noGrp="1" noChangeArrowheads="1"/>
          </p:cNvSpPr>
          <p:nvPr>
            <p:ph sz="quarter" idx="4294967295"/>
          </p:nvPr>
        </p:nvSpPr>
        <p:spPr>
          <a:xfrm>
            <a:off x="1091254" y="1512426"/>
            <a:ext cx="10567345" cy="3052200"/>
          </a:xfrm>
        </p:spPr>
        <p:txBody>
          <a:bodyPr/>
          <a:lstStyle/>
          <a:p>
            <a:pPr eaLnBrk="1" hangingPunct="1">
              <a:lnSpc>
                <a:spcPct val="100000"/>
              </a:lnSpc>
            </a:pPr>
            <a:r>
              <a:rPr lang="en-US" altLang="zh-CN" sz="2800" dirty="0">
                <a:latin typeface="+mn-lt"/>
                <a:cs typeface="+mn-ea"/>
                <a:sym typeface="+mn-lt"/>
              </a:rPr>
              <a:t>按一般性递增顺序排列的四种基本类型：</a:t>
            </a:r>
          </a:p>
          <a:p>
            <a:pPr lvl="1" eaLnBrk="1" hangingPunct="1">
              <a:lnSpc>
                <a:spcPct val="100000"/>
              </a:lnSpc>
            </a:pPr>
            <a:r>
              <a:rPr lang="en-US" altLang="zh-CN" sz="2400" dirty="0" err="1">
                <a:solidFill>
                  <a:srgbClr val="0070C0"/>
                </a:solidFill>
                <a:latin typeface="+mn-lt"/>
                <a:cs typeface="+mn-ea"/>
                <a:sym typeface="+mn-lt"/>
              </a:rPr>
              <a:t>简单反</a:t>
            </a:r>
            <a:r>
              <a:rPr lang="zh-CN" altLang="en-US" sz="2400" dirty="0">
                <a:solidFill>
                  <a:srgbClr val="0070C0"/>
                </a:solidFill>
                <a:latin typeface="+mn-lt"/>
                <a:cs typeface="+mn-ea"/>
                <a:sym typeface="+mn-lt"/>
              </a:rPr>
              <a:t>应</a:t>
            </a:r>
            <a:r>
              <a:rPr lang="en-US" altLang="zh-CN" sz="2400" dirty="0" err="1">
                <a:solidFill>
                  <a:srgbClr val="0070C0"/>
                </a:solidFill>
                <a:latin typeface="+mn-lt"/>
                <a:cs typeface="+mn-ea"/>
                <a:sym typeface="+mn-lt"/>
              </a:rPr>
              <a:t>智能体</a:t>
            </a:r>
            <a:endParaRPr lang="en-US" altLang="zh-CN" sz="2400" dirty="0">
              <a:solidFill>
                <a:srgbClr val="0070C0"/>
              </a:solidFill>
              <a:latin typeface="+mn-lt"/>
              <a:cs typeface="+mn-ea"/>
              <a:sym typeface="+mn-lt"/>
            </a:endParaRPr>
          </a:p>
          <a:p>
            <a:pPr lvl="1" eaLnBrk="1" hangingPunct="1">
              <a:lnSpc>
                <a:spcPct val="100000"/>
              </a:lnSpc>
            </a:pPr>
            <a:r>
              <a:rPr lang="en-US" altLang="zh-CN" sz="2400" dirty="0">
                <a:solidFill>
                  <a:srgbClr val="0070C0"/>
                </a:solidFill>
                <a:latin typeface="+mn-lt"/>
                <a:cs typeface="+mn-ea"/>
                <a:sym typeface="+mn-lt"/>
              </a:rPr>
              <a:t>具有状态/</a:t>
            </a:r>
            <a:r>
              <a:rPr lang="en-US" altLang="zh-CN" sz="2400" dirty="0" err="1">
                <a:solidFill>
                  <a:srgbClr val="0070C0"/>
                </a:solidFill>
                <a:latin typeface="+mn-lt"/>
                <a:cs typeface="+mn-ea"/>
                <a:sym typeface="+mn-lt"/>
              </a:rPr>
              <a:t>模型的反</a:t>
            </a:r>
            <a:r>
              <a:rPr lang="zh-CN" altLang="en-US" sz="2400" dirty="0">
                <a:solidFill>
                  <a:srgbClr val="0070C0"/>
                </a:solidFill>
                <a:latin typeface="+mn-lt"/>
                <a:cs typeface="+mn-ea"/>
                <a:sym typeface="+mn-lt"/>
              </a:rPr>
              <a:t>应</a:t>
            </a:r>
            <a:r>
              <a:rPr lang="en-US" altLang="zh-CN" sz="2400" dirty="0" err="1">
                <a:solidFill>
                  <a:srgbClr val="0070C0"/>
                </a:solidFill>
                <a:latin typeface="+mn-lt"/>
                <a:cs typeface="+mn-ea"/>
                <a:sym typeface="+mn-lt"/>
              </a:rPr>
              <a:t>智能体</a:t>
            </a:r>
            <a:endParaRPr lang="en-US" altLang="zh-CN" sz="2400" dirty="0">
              <a:solidFill>
                <a:srgbClr val="0070C0"/>
              </a:solidFill>
              <a:latin typeface="+mn-lt"/>
              <a:cs typeface="+mn-ea"/>
              <a:sym typeface="+mn-lt"/>
            </a:endParaRPr>
          </a:p>
          <a:p>
            <a:pPr lvl="1" eaLnBrk="1" hangingPunct="1">
              <a:lnSpc>
                <a:spcPct val="100000"/>
              </a:lnSpc>
            </a:pPr>
            <a:r>
              <a:rPr lang="en-US" altLang="zh-CN" sz="2400" dirty="0">
                <a:solidFill>
                  <a:srgbClr val="0070C0"/>
                </a:solidFill>
                <a:latin typeface="+mn-lt"/>
                <a:cs typeface="+mn-ea"/>
                <a:sym typeface="+mn-lt"/>
              </a:rPr>
              <a:t>基于目标的智能体</a:t>
            </a:r>
          </a:p>
          <a:p>
            <a:pPr lvl="1" eaLnBrk="1" hangingPunct="1">
              <a:lnSpc>
                <a:spcPct val="100000"/>
              </a:lnSpc>
            </a:pPr>
            <a:r>
              <a:rPr lang="en-US" altLang="zh-CN" sz="2400" dirty="0">
                <a:solidFill>
                  <a:srgbClr val="0070C0"/>
                </a:solidFill>
                <a:latin typeface="+mn-lt"/>
                <a:cs typeface="+mn-ea"/>
                <a:sym typeface="+mn-lt"/>
              </a:rPr>
              <a:t>基于效用的智能体</a:t>
            </a:r>
          </a:p>
          <a:p>
            <a:pPr lvl="1" eaLnBrk="1" hangingPunct="1">
              <a:lnSpc>
                <a:spcPct val="100000"/>
              </a:lnSpc>
            </a:pPr>
            <a:r>
              <a:rPr lang="en-US" altLang="zh-CN" sz="2400" dirty="0" err="1">
                <a:solidFill>
                  <a:srgbClr val="0070C0"/>
                </a:solidFill>
                <a:latin typeface="+mn-lt"/>
                <a:cs typeface="+mn-ea"/>
                <a:sym typeface="+mn-lt"/>
              </a:rPr>
              <a:t>所有这些都可以转化为</a:t>
            </a:r>
            <a:r>
              <a:rPr lang="en-US" altLang="zh-CN" sz="2400" dirty="0">
                <a:solidFill>
                  <a:srgbClr val="0070C0"/>
                </a:solidFill>
                <a:latin typeface="+mn-lt"/>
                <a:cs typeface="+mn-ea"/>
                <a:sym typeface="+mn-lt"/>
              </a:rPr>
              <a:t>——</a:t>
            </a:r>
            <a:r>
              <a:rPr lang="zh-CN" altLang="en-US" sz="2400" dirty="0">
                <a:solidFill>
                  <a:srgbClr val="0070C0"/>
                </a:solidFill>
                <a:latin typeface="+mn-lt"/>
                <a:cs typeface="+mn-ea"/>
                <a:sym typeface="+mn-lt"/>
              </a:rPr>
              <a:t>可</a:t>
            </a:r>
            <a:r>
              <a:rPr lang="en-US" altLang="zh-CN" sz="2400" dirty="0" err="1">
                <a:solidFill>
                  <a:srgbClr val="0070C0"/>
                </a:solidFill>
                <a:latin typeface="+mn-lt"/>
                <a:cs typeface="+mn-ea"/>
                <a:sym typeface="+mn-lt"/>
              </a:rPr>
              <a:t>学习智能体</a:t>
            </a:r>
            <a:r>
              <a:rPr lang="en-US" altLang="zh-CN" sz="2400" dirty="0">
                <a:solidFill>
                  <a:srgbClr val="0070C0"/>
                </a:solidFill>
                <a:latin typeface="+mn-lt"/>
                <a:cs typeface="+mn-ea"/>
                <a:sym typeface="+mn-lt"/>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a:extLst>
              <a:ext uri="{FF2B5EF4-FFF2-40B4-BE49-F238E27FC236}">
                <a16:creationId xmlns:a16="http://schemas.microsoft.com/office/drawing/2014/main" id="{5D2F71D8-205D-E7EB-E91F-021FD3F6F079}"/>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44036" name="Picture 4" descr="simple-reflex-agent">
            <a:extLst>
              <a:ext uri="{FF2B5EF4-FFF2-40B4-BE49-F238E27FC236}">
                <a16:creationId xmlns:a16="http://schemas.microsoft.com/office/drawing/2014/main" id="{23EB1DC7-710C-6A69-8EE9-FDE4041282E6}"/>
              </a:ext>
            </a:extLst>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3695698" y="1028699"/>
            <a:ext cx="4800600" cy="3055938"/>
          </a:xfrm>
        </p:spPr>
      </p:pic>
      <p:grpSp>
        <p:nvGrpSpPr>
          <p:cNvPr id="5" name="组合 4">
            <a:extLst>
              <a:ext uri="{FF2B5EF4-FFF2-40B4-BE49-F238E27FC236}">
                <a16:creationId xmlns:a16="http://schemas.microsoft.com/office/drawing/2014/main" id="{C3397640-902E-5332-8D86-3FF3121F2E5A}"/>
              </a:ext>
            </a:extLst>
          </p:cNvPr>
          <p:cNvGrpSpPr/>
          <p:nvPr/>
        </p:nvGrpSpPr>
        <p:grpSpPr>
          <a:xfrm>
            <a:off x="1847410" y="4516488"/>
            <a:ext cx="8497179" cy="1880420"/>
            <a:chOff x="1747684" y="4542503"/>
            <a:chExt cx="8497179" cy="1880420"/>
          </a:xfrm>
        </p:grpSpPr>
        <p:sp>
          <p:nvSpPr>
            <p:cNvPr id="3" name="矩形: 圆角 2">
              <a:extLst>
                <a:ext uri="{FF2B5EF4-FFF2-40B4-BE49-F238E27FC236}">
                  <a16:creationId xmlns:a16="http://schemas.microsoft.com/office/drawing/2014/main" id="{051C7392-6A81-A1AC-A6F3-4204B334A672}"/>
                </a:ext>
              </a:extLst>
            </p:cNvPr>
            <p:cNvSpPr/>
            <p:nvPr/>
          </p:nvSpPr>
          <p:spPr>
            <a:xfrm>
              <a:off x="1747684" y="4542503"/>
              <a:ext cx="8497179" cy="1880420"/>
            </a:xfrm>
            <a:prstGeom prst="roundRect">
              <a:avLst>
                <a:gd name="adj" fmla="val 2253"/>
              </a:avLst>
            </a:prstGeom>
            <a:solidFill>
              <a:schemeClr val="bg1"/>
            </a:solidFill>
            <a:ln>
              <a:noFill/>
            </a:ln>
            <a:effectLst>
              <a:outerShdw blurRad="190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4037" name="Picture 2">
              <a:extLst>
                <a:ext uri="{FF2B5EF4-FFF2-40B4-BE49-F238E27FC236}">
                  <a16:creationId xmlns:a16="http://schemas.microsoft.com/office/drawing/2014/main" id="{7866987C-4F54-23A8-D1A5-8937C42376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7508" y="4581200"/>
              <a:ext cx="8437529" cy="1792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Rectangle 2">
            <a:extLst>
              <a:ext uri="{FF2B5EF4-FFF2-40B4-BE49-F238E27FC236}">
                <a16:creationId xmlns:a16="http://schemas.microsoft.com/office/drawing/2014/main" id="{B7DBBED6-4329-41E8-BACB-2373DB8EF8D2}"/>
              </a:ext>
            </a:extLst>
          </p:cNvPr>
          <p:cNvSpPr txBox="1">
            <a:spLocks noChangeArrowheads="1"/>
          </p:cNvSpPr>
          <p:nvPr/>
        </p:nvSpPr>
        <p:spPr>
          <a:xfrm>
            <a:off x="1137329" y="207451"/>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pitchFamily="2" charset="0"/>
                <a:ea typeface="微软雅黑" panose="020B0503020204020204" pitchFamily="34" charset="-122"/>
                <a:cs typeface="Arial" panose="020B0604020202020204" pitchFamily="34" charset="0"/>
              </a:defRPr>
            </a:lvl1pPr>
          </a:lstStyle>
          <a:p>
            <a:r>
              <a:rPr lang="en-US" altLang="zh-CN" dirty="0" err="1">
                <a:solidFill>
                  <a:srgbClr val="515223"/>
                </a:solidFill>
                <a:latin typeface="+mn-lt"/>
                <a:ea typeface="+mn-ea"/>
                <a:cs typeface="+mn-ea"/>
                <a:sym typeface="+mn-lt"/>
              </a:rPr>
              <a:t>简单</a:t>
            </a:r>
            <a:r>
              <a:rPr lang="zh-CN" altLang="en-US" dirty="0">
                <a:solidFill>
                  <a:srgbClr val="515223"/>
                </a:solidFill>
                <a:latin typeface="+mn-lt"/>
                <a:ea typeface="+mn-ea"/>
                <a:cs typeface="+mn-ea"/>
                <a:sym typeface="+mn-lt"/>
              </a:rPr>
              <a:t>反应</a:t>
            </a:r>
            <a:r>
              <a:rPr lang="en-US" altLang="zh-CN" dirty="0" err="1">
                <a:solidFill>
                  <a:srgbClr val="515223"/>
                </a:solidFill>
                <a:latin typeface="+mn-lt"/>
                <a:ea typeface="+mn-ea"/>
                <a:cs typeface="+mn-ea"/>
                <a:sym typeface="+mn-lt"/>
              </a:rPr>
              <a:t>智能体</a:t>
            </a:r>
            <a:endParaRPr lang="en-US" altLang="zh-CN" dirty="0">
              <a:solidFill>
                <a:srgbClr val="515223"/>
              </a:solidFill>
              <a:latin typeface="+mn-lt"/>
              <a:ea typeface="+mn-ea"/>
              <a:cs typeface="+mn-ea"/>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31B3A28B-5B80-8390-3A02-FE1945DB2BA1}"/>
              </a:ext>
            </a:extLst>
          </p:cNvPr>
          <p:cNvSpPr>
            <a:spLocks noGrp="1" noChangeArrowheads="1"/>
          </p:cNvSpPr>
          <p:nvPr>
            <p:ph type="title"/>
          </p:nvPr>
        </p:nvSpPr>
        <p:spPr/>
        <p:txBody>
          <a:bodyPr/>
          <a:lstStyle/>
          <a:p>
            <a:pPr eaLnBrk="1" hangingPunct="1"/>
            <a:r>
              <a:rPr lang="en-US" altLang="zh-CN" sz="3600" dirty="0" err="1">
                <a:solidFill>
                  <a:srgbClr val="515223"/>
                </a:solidFill>
                <a:latin typeface="+mn-lt"/>
                <a:ea typeface="+mn-ea"/>
                <a:cs typeface="+mn-ea"/>
                <a:sym typeface="+mn-lt"/>
              </a:rPr>
              <a:t>简单</a:t>
            </a:r>
            <a:r>
              <a:rPr lang="zh-CN" altLang="en-US" sz="3600" dirty="0">
                <a:solidFill>
                  <a:srgbClr val="515223"/>
                </a:solidFill>
                <a:latin typeface="+mn-lt"/>
                <a:ea typeface="+mn-ea"/>
                <a:cs typeface="+mn-ea"/>
                <a:sym typeface="+mn-lt"/>
              </a:rPr>
              <a:t>反应</a:t>
            </a:r>
            <a:r>
              <a:rPr lang="en-US" altLang="zh-CN" sz="3600" dirty="0" err="1">
                <a:solidFill>
                  <a:srgbClr val="515223"/>
                </a:solidFill>
                <a:latin typeface="+mn-lt"/>
                <a:ea typeface="+mn-ea"/>
                <a:cs typeface="+mn-ea"/>
                <a:sym typeface="+mn-lt"/>
              </a:rPr>
              <a:t>智能体</a:t>
            </a:r>
            <a:endParaRPr lang="en-US" altLang="zh-CN" sz="3600" dirty="0">
              <a:solidFill>
                <a:srgbClr val="515223"/>
              </a:solidFill>
              <a:latin typeface="+mn-lt"/>
              <a:ea typeface="+mn-ea"/>
              <a:cs typeface="+mn-ea"/>
              <a:sym typeface="+mn-lt"/>
            </a:endParaRPr>
          </a:p>
        </p:txBody>
      </p:sp>
      <p:sp>
        <p:nvSpPr>
          <p:cNvPr id="46082" name="Footer Placeholder 4">
            <a:extLst>
              <a:ext uri="{FF2B5EF4-FFF2-40B4-BE49-F238E27FC236}">
                <a16:creationId xmlns:a16="http://schemas.microsoft.com/office/drawing/2014/main" id="{1670F183-70BB-D5DF-D97D-5AD3AA417DD4}"/>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3" name="Content Placeholder 2">
            <a:extLst>
              <a:ext uri="{FF2B5EF4-FFF2-40B4-BE49-F238E27FC236}">
                <a16:creationId xmlns:a16="http://schemas.microsoft.com/office/drawing/2014/main" id="{01F70206-2648-70D3-5B5C-49EFEBEE7A0B}"/>
              </a:ext>
            </a:extLst>
          </p:cNvPr>
          <p:cNvSpPr>
            <a:spLocks noGrp="1"/>
          </p:cNvSpPr>
          <p:nvPr>
            <p:ph sz="quarter" idx="4294967295"/>
          </p:nvPr>
        </p:nvSpPr>
        <p:spPr>
          <a:xfrm>
            <a:off x="1091254" y="1482929"/>
            <a:ext cx="10427645" cy="4572000"/>
          </a:xfrm>
        </p:spPr>
        <p:txBody>
          <a:bodyPr/>
          <a:lstStyle/>
          <a:p>
            <a:pPr eaLnBrk="1" hangingPunct="1"/>
            <a:r>
              <a:rPr lang="en-US" altLang="zh-CN" sz="2000" noProof="1">
                <a:latin typeface="+mn-lt"/>
                <a:cs typeface="+mn-ea"/>
                <a:sym typeface="+mn-lt"/>
              </a:rPr>
              <a:t>简单但智力非常有限。</a:t>
            </a:r>
          </a:p>
          <a:p>
            <a:pPr eaLnBrk="1" hangingPunct="1"/>
            <a:r>
              <a:rPr lang="en-US" altLang="zh-CN" sz="2000" b="1" noProof="1">
                <a:latin typeface="+mn-lt"/>
                <a:cs typeface="+mn-ea"/>
                <a:sym typeface="+mn-lt"/>
              </a:rPr>
              <a:t>行动并不取决于感知历史，而只取决于当前的感知。</a:t>
            </a:r>
          </a:p>
          <a:p>
            <a:pPr eaLnBrk="1" hangingPunct="1"/>
            <a:r>
              <a:rPr lang="en-US" altLang="zh-CN" sz="2000" noProof="1">
                <a:latin typeface="+mn-lt"/>
                <a:cs typeface="+mn-ea"/>
                <a:sym typeface="+mn-lt"/>
              </a:rPr>
              <a:t>因此，无需任何内存需求。</a:t>
            </a:r>
          </a:p>
          <a:p>
            <a:pPr eaLnBrk="1" hangingPunct="1"/>
            <a:r>
              <a:rPr lang="en-US" altLang="zh-CN" sz="2000" noProof="1">
                <a:latin typeface="+mn-lt"/>
                <a:cs typeface="+mn-ea"/>
                <a:sym typeface="+mn-lt"/>
              </a:rPr>
              <a:t>无限循环</a:t>
            </a:r>
          </a:p>
          <a:p>
            <a:pPr lvl="1" eaLnBrk="1" hangingPunct="1"/>
            <a:r>
              <a:rPr lang="en-US" altLang="zh-CN" sz="2000" noProof="1">
                <a:solidFill>
                  <a:srgbClr val="0070C0"/>
                </a:solidFill>
                <a:latin typeface="+mn-lt"/>
                <a:cs typeface="+mn-ea"/>
                <a:sym typeface="+mn-lt"/>
              </a:rPr>
              <a:t>假设吸尘器未观察到位置。如果给定位置为“清洁”，你会怎么做？在A的左侧或B的右侧——这将导致无限循环。</a:t>
            </a:r>
          </a:p>
          <a:p>
            <a:pPr lvl="1" eaLnBrk="1" hangingPunct="1"/>
            <a:r>
              <a:rPr lang="en-US" altLang="zh-CN" sz="2000" noProof="1">
                <a:solidFill>
                  <a:srgbClr val="0070C0"/>
                </a:solidFill>
                <a:latin typeface="+mn-lt"/>
                <a:cs typeface="+mn-ea"/>
                <a:sym typeface="+mn-lt"/>
              </a:rPr>
              <a:t>可能的解决方案：随机化行动。</a:t>
            </a:r>
          </a:p>
          <a:p>
            <a:pPr marL="274955" lvl="1" indent="0">
              <a:buNone/>
            </a:pPr>
            <a:endParaRPr lang="en-US" altLang="zh-CN" sz="2000" noProof="1">
              <a:latin typeface="+mn-lt"/>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B258FE4F-14E7-18B4-4334-C0AA6D2A9645}"/>
              </a:ext>
            </a:extLst>
          </p:cNvPr>
          <p:cNvSpPr>
            <a:spLocks noGrp="1" noChangeArrowheads="1"/>
          </p:cNvSpPr>
          <p:nvPr>
            <p:ph type="title"/>
          </p:nvPr>
        </p:nvSpPr>
        <p:spPr/>
        <p:txBody>
          <a:bodyPr/>
          <a:lstStyle/>
          <a:p>
            <a:r>
              <a:rPr lang="zh-CN" altLang="en-US" sz="3600" dirty="0">
                <a:solidFill>
                  <a:srgbClr val="515223"/>
                </a:solidFill>
                <a:latin typeface="+mn-lt"/>
                <a:ea typeface="+mn-ea"/>
                <a:cs typeface="+mn-ea"/>
                <a:sym typeface="+mn-lt"/>
              </a:rPr>
              <a:t>状态</a:t>
            </a:r>
            <a:endParaRPr lang="en-US" altLang="zh-CN" sz="3600" dirty="0">
              <a:solidFill>
                <a:srgbClr val="515223"/>
              </a:solidFill>
              <a:latin typeface="+mn-lt"/>
              <a:ea typeface="+mn-ea"/>
              <a:cs typeface="+mn-ea"/>
              <a:sym typeface="+mn-lt"/>
            </a:endParaRPr>
          </a:p>
        </p:txBody>
      </p:sp>
      <p:sp>
        <p:nvSpPr>
          <p:cNvPr id="48131" name="Footer Placeholder 3">
            <a:extLst>
              <a:ext uri="{FF2B5EF4-FFF2-40B4-BE49-F238E27FC236}">
                <a16:creationId xmlns:a16="http://schemas.microsoft.com/office/drawing/2014/main" id="{8D1E6642-F78A-52C5-8DA2-A0233E4A3BCA}"/>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48130" name="Content Placeholder 2">
            <a:extLst>
              <a:ext uri="{FF2B5EF4-FFF2-40B4-BE49-F238E27FC236}">
                <a16:creationId xmlns:a16="http://schemas.microsoft.com/office/drawing/2014/main" id="{1590F4EE-7115-49E9-B980-46409BC36553}"/>
              </a:ext>
            </a:extLst>
          </p:cNvPr>
          <p:cNvSpPr>
            <a:spLocks noGrp="1" noChangeArrowheads="1"/>
          </p:cNvSpPr>
          <p:nvPr>
            <p:ph sz="quarter" idx="4294967295"/>
          </p:nvPr>
        </p:nvSpPr>
        <p:spPr>
          <a:xfrm>
            <a:off x="1091255" y="1534549"/>
            <a:ext cx="9822551" cy="4572000"/>
          </a:xfrm>
        </p:spPr>
        <p:txBody>
          <a:bodyPr>
            <a:normAutofit/>
          </a:bodyPr>
          <a:lstStyle/>
          <a:p>
            <a:pPr eaLnBrk="1" hangingPunct="1">
              <a:lnSpc>
                <a:spcPct val="90000"/>
              </a:lnSpc>
              <a:buFont typeface="Arial" panose="020B0604020202020204" pitchFamily="34" charset="0"/>
              <a:buChar char="•"/>
            </a:pPr>
            <a:r>
              <a:rPr lang="en-US" altLang="zh-CN" sz="2400" dirty="0" err="1">
                <a:latin typeface="+mn-lt"/>
                <a:cs typeface="+mn-ea"/>
                <a:sym typeface="+mn-lt"/>
              </a:rPr>
              <a:t>回想一下</a:t>
            </a:r>
            <a:r>
              <a:rPr lang="zh-CN" altLang="en-US" sz="2400" dirty="0">
                <a:solidFill>
                  <a:srgbClr val="FF0000"/>
                </a:solidFill>
                <a:latin typeface="+mn-lt"/>
                <a:cs typeface="+mn-ea"/>
                <a:sym typeface="+mn-lt"/>
              </a:rPr>
              <a:t>智能体</a:t>
            </a:r>
            <a:r>
              <a:rPr lang="en-US" altLang="zh-CN" sz="2400" dirty="0" err="1">
                <a:solidFill>
                  <a:srgbClr val="FF0000"/>
                </a:solidFill>
                <a:latin typeface="+mn-lt"/>
                <a:cs typeface="+mn-ea"/>
                <a:sym typeface="+mn-lt"/>
              </a:rPr>
              <a:t>函数</a:t>
            </a:r>
            <a:r>
              <a:rPr lang="en-US" altLang="zh-CN" sz="2400" dirty="0">
                <a:latin typeface="+mn-lt"/>
                <a:cs typeface="+mn-ea"/>
                <a:sym typeface="+mn-lt"/>
              </a:rPr>
              <a:t> 将感知历史映射到动作的：</a:t>
            </a:r>
          </a:p>
          <a:p>
            <a:pPr algn="ctr" eaLnBrk="1" hangingPunct="1">
              <a:lnSpc>
                <a:spcPct val="90000"/>
              </a:lnSpc>
              <a:buFont typeface="Wingdings 2" panose="05020102010507070707" pitchFamily="18" charset="2"/>
              <a:buNone/>
            </a:pPr>
            <a:r>
              <a:rPr lang="en-US" altLang="zh-CN" sz="2400" dirty="0">
                <a:latin typeface="+mn-lt"/>
                <a:cs typeface="+mn-ea"/>
                <a:sym typeface="+mn-lt"/>
              </a:rPr>
              <a:t>[</a:t>
            </a:r>
            <a:r>
              <a:rPr lang="en-US" altLang="zh-CN" sz="2400" i="1" dirty="0">
                <a:latin typeface="+mn-lt"/>
                <a:cs typeface="+mn-ea"/>
                <a:sym typeface="+mn-lt"/>
              </a:rPr>
              <a:t>f</a:t>
            </a:r>
            <a:r>
              <a:rPr lang="en-US" altLang="zh-CN" sz="2400" dirty="0">
                <a:latin typeface="+mn-lt"/>
                <a:cs typeface="+mn-ea"/>
                <a:sym typeface="+mn-lt"/>
              </a:rPr>
              <a:t>: P* A]</a:t>
            </a:r>
          </a:p>
          <a:p>
            <a:pPr eaLnBrk="1" hangingPunct="1">
              <a:lnSpc>
                <a:spcPct val="90000"/>
              </a:lnSpc>
              <a:buFont typeface="Wingdings 2" panose="05020102010507070707" pitchFamily="18" charset="2"/>
              <a:buChar char="•"/>
            </a:pPr>
            <a:r>
              <a:rPr lang="zh-CN" altLang="en-US" sz="2400" dirty="0">
                <a:latin typeface="+mn-lt"/>
                <a:cs typeface="+mn-ea"/>
                <a:sym typeface="+mn-lt"/>
              </a:rPr>
              <a:t>智能体</a:t>
            </a:r>
            <a:r>
              <a:rPr lang="en-US" altLang="zh-CN" sz="2400" dirty="0" err="1">
                <a:latin typeface="+mn-lt"/>
                <a:cs typeface="+mn-ea"/>
                <a:sym typeface="+mn-lt"/>
              </a:rPr>
              <a:t>程序可以通过维护一个</a:t>
            </a:r>
            <a:r>
              <a:rPr lang="zh-CN" altLang="en-US" sz="2400" b="1" dirty="0">
                <a:latin typeface="+mn-lt"/>
                <a:cs typeface="+mn-ea"/>
                <a:sym typeface="+mn-lt"/>
              </a:rPr>
              <a:t>内部状态</a:t>
            </a:r>
            <a:r>
              <a:rPr lang="en-US" altLang="zh-CN" sz="2400" dirty="0" err="1">
                <a:latin typeface="+mn-lt"/>
                <a:cs typeface="+mn-ea"/>
                <a:sym typeface="+mn-lt"/>
              </a:rPr>
              <a:t>来实现代理功能</a:t>
            </a:r>
            <a:r>
              <a:rPr lang="en-US" altLang="zh-CN" sz="2400" dirty="0">
                <a:latin typeface="+mn-lt"/>
                <a:cs typeface="+mn-ea"/>
                <a:sym typeface="+mn-lt"/>
              </a:rPr>
              <a:t>。</a:t>
            </a:r>
          </a:p>
          <a:p>
            <a:pPr eaLnBrk="1" hangingPunct="1">
              <a:lnSpc>
                <a:spcPct val="90000"/>
              </a:lnSpc>
              <a:buFont typeface="Wingdings 2" panose="05020102010507070707" pitchFamily="18" charset="2"/>
              <a:buChar char="•"/>
            </a:pPr>
            <a:r>
              <a:rPr lang="en-US" altLang="zh-CN" sz="2400" dirty="0" err="1">
                <a:latin typeface="+mn-lt"/>
                <a:cs typeface="+mn-ea"/>
                <a:sym typeface="+mn-lt"/>
              </a:rPr>
              <a:t>内部状态可以包含有关外部环境状态的信息</a:t>
            </a:r>
            <a:r>
              <a:rPr lang="en-US" altLang="zh-CN" sz="2400" dirty="0">
                <a:latin typeface="+mn-lt"/>
                <a:cs typeface="+mn-ea"/>
                <a:sym typeface="+mn-lt"/>
              </a:rPr>
              <a:t>。</a:t>
            </a:r>
          </a:p>
          <a:p>
            <a:pPr eaLnBrk="1" hangingPunct="1">
              <a:lnSpc>
                <a:spcPct val="90000"/>
              </a:lnSpc>
            </a:pPr>
            <a:r>
              <a:rPr lang="zh-CN" altLang="en-US" sz="2400" dirty="0">
                <a:latin typeface="+mn-lt"/>
                <a:cs typeface="+mn-ea"/>
                <a:sym typeface="+mn-lt"/>
              </a:rPr>
              <a:t>状态</a:t>
            </a:r>
            <a:r>
              <a:rPr lang="en-US" altLang="zh-CN" sz="2400" dirty="0" err="1">
                <a:latin typeface="+mn-lt"/>
                <a:cs typeface="+mn-ea"/>
                <a:sym typeface="+mn-lt"/>
              </a:rPr>
              <a:t>取决于</a:t>
            </a:r>
            <a:r>
              <a:rPr lang="zh-CN" altLang="en-US" sz="2400" dirty="0">
                <a:latin typeface="+mn-lt"/>
                <a:cs typeface="+mn-ea"/>
                <a:sym typeface="+mn-lt"/>
              </a:rPr>
              <a:t>感知器</a:t>
            </a:r>
            <a:r>
              <a:rPr lang="en-US" altLang="zh-CN" sz="2400" dirty="0" err="1">
                <a:latin typeface="+mn-lt"/>
                <a:cs typeface="+mn-ea"/>
                <a:sym typeface="+mn-lt"/>
              </a:rPr>
              <a:t>的历史以及所采取行动的历史</a:t>
            </a:r>
            <a:r>
              <a:rPr lang="en-US" altLang="zh-CN" sz="2400" dirty="0">
                <a:latin typeface="+mn-lt"/>
                <a:cs typeface="+mn-ea"/>
                <a:sym typeface="+mn-lt"/>
              </a:rPr>
              <a:t>：</a:t>
            </a:r>
          </a:p>
          <a:p>
            <a:pPr algn="ctr" eaLnBrk="1" hangingPunct="1">
              <a:lnSpc>
                <a:spcPct val="90000"/>
              </a:lnSpc>
              <a:buFont typeface="Wingdings 2" panose="05020102010507070707" pitchFamily="18" charset="2"/>
              <a:buNone/>
            </a:pPr>
            <a:r>
              <a:rPr lang="en-US" altLang="zh-CN" sz="2400" dirty="0">
                <a:latin typeface="+mn-lt"/>
                <a:cs typeface="+mn-ea"/>
                <a:sym typeface="+mn-lt"/>
              </a:rPr>
              <a:t>[</a:t>
            </a:r>
            <a:r>
              <a:rPr lang="en-US" altLang="zh-CN" sz="2400" i="1" dirty="0">
                <a:latin typeface="+mn-lt"/>
                <a:cs typeface="+mn-ea"/>
                <a:sym typeface="+mn-lt"/>
              </a:rPr>
              <a:t>f</a:t>
            </a:r>
            <a:r>
              <a:rPr lang="en-US" altLang="zh-CN" sz="2400" dirty="0">
                <a:latin typeface="+mn-lt"/>
                <a:cs typeface="+mn-ea"/>
                <a:sym typeface="+mn-lt"/>
              </a:rPr>
              <a:t>: P*, A*S A] </a:t>
            </a:r>
          </a:p>
          <a:p>
            <a:pPr eaLnBrk="1" hangingPunct="1">
              <a:lnSpc>
                <a:spcPct val="90000"/>
              </a:lnSpc>
              <a:buFont typeface="Wingdings 2" panose="05020102010507070707" pitchFamily="18" charset="2"/>
              <a:buNone/>
            </a:pPr>
            <a:r>
              <a:rPr lang="en-US" altLang="zh-CN" sz="2400" dirty="0">
                <a:latin typeface="+mn-lt"/>
                <a:cs typeface="+mn-ea"/>
                <a:sym typeface="+mn-lt"/>
              </a:rPr>
              <a:t>   </a:t>
            </a:r>
            <a:r>
              <a:rPr lang="zh-CN" altLang="en-US" sz="2400" dirty="0">
                <a:latin typeface="+mn-lt"/>
                <a:cs typeface="+mn-ea"/>
                <a:sym typeface="+mn-lt"/>
              </a:rPr>
              <a:t>其中</a:t>
            </a:r>
            <a:r>
              <a:rPr lang="en-US" altLang="zh-CN" sz="2400" dirty="0">
                <a:latin typeface="+mn-lt"/>
                <a:cs typeface="+mn-ea"/>
                <a:sym typeface="+mn-lt"/>
              </a:rPr>
              <a:t>S 是状态的集合。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130">
                                            <p:txEl>
                                              <p:pRg st="0" end="0"/>
                                            </p:txEl>
                                          </p:spTgt>
                                        </p:tgtEl>
                                        <p:attrNameLst>
                                          <p:attrName>style.visibility</p:attrName>
                                        </p:attrNameLst>
                                      </p:cBhvr>
                                      <p:to>
                                        <p:strVal val="visible"/>
                                      </p:to>
                                    </p:set>
                                    <p:animEffect transition="in" filter="fade">
                                      <p:cBhvr>
                                        <p:cTn id="7" dur="500"/>
                                        <p:tgtEl>
                                          <p:spTgt spid="4813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8130">
                                            <p:txEl>
                                              <p:pRg st="1" end="1"/>
                                            </p:txEl>
                                          </p:spTgt>
                                        </p:tgtEl>
                                        <p:attrNameLst>
                                          <p:attrName>style.visibility</p:attrName>
                                        </p:attrNameLst>
                                      </p:cBhvr>
                                      <p:to>
                                        <p:strVal val="visible"/>
                                      </p:to>
                                    </p:set>
                                    <p:animEffect transition="in" filter="fade">
                                      <p:cBhvr>
                                        <p:cTn id="10" dur="500"/>
                                        <p:tgtEl>
                                          <p:spTgt spid="48130">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8130">
                                            <p:txEl>
                                              <p:pRg st="2" end="2"/>
                                            </p:txEl>
                                          </p:spTgt>
                                        </p:tgtEl>
                                        <p:attrNameLst>
                                          <p:attrName>style.visibility</p:attrName>
                                        </p:attrNameLst>
                                      </p:cBhvr>
                                      <p:to>
                                        <p:strVal val="visible"/>
                                      </p:to>
                                    </p:set>
                                    <p:animEffect transition="in" filter="fade">
                                      <p:cBhvr>
                                        <p:cTn id="13" dur="500"/>
                                        <p:tgtEl>
                                          <p:spTgt spid="48130">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8130">
                                            <p:txEl>
                                              <p:pRg st="3" end="3"/>
                                            </p:txEl>
                                          </p:spTgt>
                                        </p:tgtEl>
                                        <p:attrNameLst>
                                          <p:attrName>style.visibility</p:attrName>
                                        </p:attrNameLst>
                                      </p:cBhvr>
                                      <p:to>
                                        <p:strVal val="visible"/>
                                      </p:to>
                                    </p:set>
                                    <p:animEffect transition="in" filter="fade">
                                      <p:cBhvr>
                                        <p:cTn id="16" dur="500"/>
                                        <p:tgtEl>
                                          <p:spTgt spid="48130">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8130">
                                            <p:txEl>
                                              <p:pRg st="4" end="4"/>
                                            </p:txEl>
                                          </p:spTgt>
                                        </p:tgtEl>
                                        <p:attrNameLst>
                                          <p:attrName>style.visibility</p:attrName>
                                        </p:attrNameLst>
                                      </p:cBhvr>
                                      <p:to>
                                        <p:strVal val="visible"/>
                                      </p:to>
                                    </p:set>
                                    <p:animEffect transition="in" filter="fade">
                                      <p:cBhvr>
                                        <p:cTn id="21" dur="500"/>
                                        <p:tgtEl>
                                          <p:spTgt spid="48130">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8130">
                                            <p:txEl>
                                              <p:pRg st="5" end="5"/>
                                            </p:txEl>
                                          </p:spTgt>
                                        </p:tgtEl>
                                        <p:attrNameLst>
                                          <p:attrName>style.visibility</p:attrName>
                                        </p:attrNameLst>
                                      </p:cBhvr>
                                      <p:to>
                                        <p:strVal val="visible"/>
                                      </p:to>
                                    </p:set>
                                    <p:animEffect transition="in" filter="fade">
                                      <p:cBhvr>
                                        <p:cTn id="24" dur="500"/>
                                        <p:tgtEl>
                                          <p:spTgt spid="48130">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8130">
                                            <p:txEl>
                                              <p:pRg st="6" end="6"/>
                                            </p:txEl>
                                          </p:spTgt>
                                        </p:tgtEl>
                                        <p:attrNameLst>
                                          <p:attrName>style.visibility</p:attrName>
                                        </p:attrNameLst>
                                      </p:cBhvr>
                                      <p:to>
                                        <p:strVal val="visible"/>
                                      </p:to>
                                    </p:set>
                                    <p:animEffect transition="in" filter="fade">
                                      <p:cBhvr>
                                        <p:cTn id="27" dur="500"/>
                                        <p:tgtEl>
                                          <p:spTgt spid="4813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2A7B1BB9-5FD5-EF78-C6ED-EDE9B2D3F866}"/>
              </a:ext>
            </a:extLst>
          </p:cNvPr>
          <p:cNvSpPr>
            <a:spLocks noGrp="1" noChangeArrowheads="1"/>
          </p:cNvSpPr>
          <p:nvPr>
            <p:ph type="title"/>
          </p:nvPr>
        </p:nvSpPr>
        <p:spPr/>
        <p:txBody>
          <a:bodyPr/>
          <a:lstStyle/>
          <a:p>
            <a:pPr eaLnBrk="1" hangingPunct="1"/>
            <a:r>
              <a:rPr lang="en-US" altLang="zh-CN" sz="3600" dirty="0" err="1">
                <a:solidFill>
                  <a:srgbClr val="515223"/>
                </a:solidFill>
                <a:latin typeface="+mn-lt"/>
                <a:ea typeface="+mn-ea"/>
                <a:cs typeface="+mn-ea"/>
                <a:sym typeface="+mn-lt"/>
              </a:rPr>
              <a:t>基于模型的反</a:t>
            </a:r>
            <a:r>
              <a:rPr lang="zh-CN" altLang="en-US" sz="3600" dirty="0">
                <a:solidFill>
                  <a:srgbClr val="515223"/>
                </a:solidFill>
                <a:latin typeface="+mn-lt"/>
                <a:ea typeface="+mn-ea"/>
                <a:cs typeface="+mn-ea"/>
                <a:sym typeface="+mn-lt"/>
              </a:rPr>
              <a:t>应</a:t>
            </a:r>
            <a:r>
              <a:rPr lang="en-US" altLang="zh-CN" sz="3600" dirty="0" err="1">
                <a:solidFill>
                  <a:srgbClr val="515223"/>
                </a:solidFill>
                <a:latin typeface="+mn-lt"/>
                <a:ea typeface="+mn-ea"/>
                <a:cs typeface="+mn-ea"/>
                <a:sym typeface="+mn-lt"/>
              </a:rPr>
              <a:t>智能体</a:t>
            </a:r>
            <a:endParaRPr lang="en-US" altLang="zh-CN" dirty="0">
              <a:solidFill>
                <a:srgbClr val="515223"/>
              </a:solidFill>
              <a:latin typeface="+mn-lt"/>
              <a:ea typeface="+mn-ea"/>
              <a:cs typeface="+mn-ea"/>
              <a:sym typeface="+mn-lt"/>
            </a:endParaRPr>
          </a:p>
        </p:txBody>
      </p:sp>
      <p:sp>
        <p:nvSpPr>
          <p:cNvPr id="50178" name="Footer Placeholder 4">
            <a:extLst>
              <a:ext uri="{FF2B5EF4-FFF2-40B4-BE49-F238E27FC236}">
                <a16:creationId xmlns:a16="http://schemas.microsoft.com/office/drawing/2014/main" id="{A73B7436-2EF4-3859-D42F-2623A93BA9F1}"/>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50180" name="Picture 4" descr="reflex+state-agent">
            <a:extLst>
              <a:ext uri="{FF2B5EF4-FFF2-40B4-BE49-F238E27FC236}">
                <a16:creationId xmlns:a16="http://schemas.microsoft.com/office/drawing/2014/main" id="{AA10CBC1-0F80-2154-744C-0040ABCCB18D}"/>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1295400" y="1254918"/>
            <a:ext cx="4495800" cy="2862263"/>
          </a:xfrm>
        </p:spPr>
      </p:pic>
      <p:pic>
        <p:nvPicPr>
          <p:cNvPr id="50182" name="Picture 7">
            <a:extLst>
              <a:ext uri="{FF2B5EF4-FFF2-40B4-BE49-F238E27FC236}">
                <a16:creationId xmlns:a16="http://schemas.microsoft.com/office/drawing/2014/main" id="{0E845BE1-3885-8FA5-D517-8E1E1B3800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17" b="2860"/>
          <a:stretch/>
        </p:blipFill>
        <p:spPr bwMode="auto">
          <a:xfrm>
            <a:off x="2472462" y="4227793"/>
            <a:ext cx="7247076" cy="2239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2">
            <a:extLst>
              <a:ext uri="{FF2B5EF4-FFF2-40B4-BE49-F238E27FC236}">
                <a16:creationId xmlns:a16="http://schemas.microsoft.com/office/drawing/2014/main" id="{BCCF870D-3932-4770-85EC-B46F5F9EA191}"/>
              </a:ext>
            </a:extLst>
          </p:cNvPr>
          <p:cNvSpPr txBox="1">
            <a:spLocks noChangeArrowheads="1"/>
          </p:cNvSpPr>
          <p:nvPr/>
        </p:nvSpPr>
        <p:spPr bwMode="auto">
          <a:xfrm>
            <a:off x="6400801" y="1254917"/>
            <a:ext cx="4616243"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a:solidFill>
                  <a:schemeClr val="tx1"/>
                </a:solidFill>
                <a:latin typeface="Arial" panose="020B0604020202020204" pitchFamily="34" charset="0"/>
                <a:cs typeface="Arial" panose="020B0604020202020204" pitchFamily="34" charset="0"/>
              </a:defRPr>
            </a:lvl1pPr>
            <a:lvl2pPr marL="547688" indent="-273050">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spcBef>
                <a:spcPct val="20000"/>
              </a:spcBef>
              <a:buClr>
                <a:schemeClr val="accent1"/>
              </a:buClr>
              <a:buSzPct val="85000"/>
              <a:buFont typeface="Wingdings 2" panose="05020102010507070707" pitchFamily="18" charset="2"/>
              <a:buChar char=""/>
            </a:pPr>
            <a:r>
              <a:rPr lang="en-US" altLang="zh-CN" sz="2000" dirty="0">
                <a:latin typeface="+mn-lt"/>
                <a:cs typeface="+mn-ea"/>
                <a:sym typeface="+mn-lt"/>
              </a:rPr>
              <a:t>了解世界如何演变</a:t>
            </a:r>
          </a:p>
          <a:p>
            <a:pPr lvl="1">
              <a:spcBef>
                <a:spcPct val="20000"/>
              </a:spcBef>
              <a:buClr>
                <a:schemeClr val="accent2"/>
              </a:buClr>
              <a:buSzPct val="70000"/>
              <a:buFont typeface="Wingdings" panose="05000000000000000000" pitchFamily="2" charset="2"/>
              <a:buChar char=""/>
            </a:pPr>
            <a:r>
              <a:rPr lang="en-US" altLang="zh-CN" sz="1800" dirty="0">
                <a:solidFill>
                  <a:schemeClr val="tx2"/>
                </a:solidFill>
                <a:latin typeface="+mn-lt"/>
                <a:cs typeface="+mn-ea"/>
                <a:sym typeface="+mn-lt"/>
              </a:rPr>
              <a:t>超车的汽车从后方逐渐靠近。</a:t>
            </a:r>
          </a:p>
          <a:p>
            <a:pPr>
              <a:spcBef>
                <a:spcPct val="20000"/>
              </a:spcBef>
              <a:buClr>
                <a:schemeClr val="accent1"/>
              </a:buClr>
              <a:buSzPct val="85000"/>
              <a:buFont typeface="Wingdings 2" panose="05020102010507070707" pitchFamily="18" charset="2"/>
              <a:buChar char=""/>
            </a:pPr>
            <a:r>
              <a:rPr lang="zh-CN" altLang="en-US" sz="2000" dirty="0">
                <a:latin typeface="+mn-lt"/>
                <a:cs typeface="+mn-ea"/>
                <a:sym typeface="+mn-lt"/>
              </a:rPr>
              <a:t>智能体</a:t>
            </a:r>
            <a:r>
              <a:rPr lang="en-US" altLang="zh-CN" sz="2000" dirty="0" err="1">
                <a:latin typeface="+mn-lt"/>
                <a:cs typeface="+mn-ea"/>
                <a:sym typeface="+mn-lt"/>
              </a:rPr>
              <a:t>行为如何影响世界</a:t>
            </a:r>
            <a:endParaRPr lang="en-US" altLang="zh-CN" sz="2000" dirty="0">
              <a:latin typeface="+mn-lt"/>
              <a:cs typeface="+mn-ea"/>
              <a:sym typeface="+mn-lt"/>
            </a:endParaRPr>
          </a:p>
          <a:p>
            <a:pPr lvl="1">
              <a:spcBef>
                <a:spcPct val="20000"/>
              </a:spcBef>
              <a:buClr>
                <a:schemeClr val="accent2"/>
              </a:buClr>
              <a:buSzPct val="70000"/>
              <a:buFont typeface="Wingdings" panose="05000000000000000000" pitchFamily="2" charset="2"/>
              <a:buChar char=""/>
            </a:pPr>
            <a:r>
              <a:rPr lang="en-US" altLang="zh-CN" sz="1800" dirty="0">
                <a:solidFill>
                  <a:schemeClr val="tx2"/>
                </a:solidFill>
                <a:latin typeface="+mn-lt"/>
                <a:cs typeface="+mn-ea"/>
                <a:sym typeface="+mn-lt"/>
              </a:rPr>
              <a:t>顺时针转动轮子，带你向右。</a:t>
            </a:r>
          </a:p>
          <a:p>
            <a:pPr lvl="1">
              <a:spcBef>
                <a:spcPct val="20000"/>
              </a:spcBef>
              <a:buClr>
                <a:schemeClr val="accent2"/>
              </a:buClr>
              <a:buSzPct val="70000"/>
              <a:buFont typeface="Wingdings" panose="05000000000000000000" pitchFamily="2" charset="2"/>
              <a:buChar char=""/>
            </a:pPr>
            <a:endParaRPr lang="en-US" altLang="zh-CN" dirty="0">
              <a:solidFill>
                <a:schemeClr val="tx2"/>
              </a:solidFill>
              <a:latin typeface="+mn-lt"/>
              <a:cs typeface="+mn-ea"/>
              <a:sym typeface="+mn-lt"/>
            </a:endParaRPr>
          </a:p>
          <a:p>
            <a:pPr>
              <a:spcBef>
                <a:spcPct val="20000"/>
              </a:spcBef>
              <a:buClr>
                <a:schemeClr val="accent1"/>
              </a:buClr>
              <a:buSzPct val="85000"/>
              <a:buFont typeface="Wingdings 2" panose="05020102010507070707" pitchFamily="18" charset="2"/>
              <a:buChar char=""/>
            </a:pPr>
            <a:r>
              <a:rPr lang="en-US" altLang="zh-CN" sz="2000" dirty="0">
                <a:latin typeface="+mn-lt"/>
                <a:cs typeface="+mn-ea"/>
                <a:sym typeface="+mn-lt"/>
              </a:rPr>
              <a:t>模型基础智能体更新其状态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500"/>
                                        <p:tgtEl>
                                          <p:spTgt spid="7">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500"/>
                                        <p:tgtEl>
                                          <p:spTgt spid="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500"/>
                                        <p:tgtEl>
                                          <p:spTgt spid="7">
                                            <p:txEl>
                                              <p:pRg st="2" end="2"/>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5B1CAFAF-C26F-FA95-DF21-B14A111BE546}"/>
              </a:ext>
            </a:extLst>
          </p:cNvPr>
          <p:cNvSpPr>
            <a:spLocks noGrp="1" noChangeArrowheads="1"/>
          </p:cNvSpPr>
          <p:nvPr>
            <p:ph type="title"/>
          </p:nvPr>
        </p:nvSpPr>
        <p:spPr/>
        <p:txBody>
          <a:bodyPr/>
          <a:lstStyle/>
          <a:p>
            <a:pPr eaLnBrk="1" hangingPunct="1"/>
            <a:r>
              <a:rPr lang="en-US" altLang="zh-CN" sz="3600" dirty="0">
                <a:solidFill>
                  <a:srgbClr val="515223"/>
                </a:solidFill>
                <a:latin typeface="+mn-lt"/>
                <a:ea typeface="+mn-ea"/>
                <a:cs typeface="+mn-ea"/>
                <a:sym typeface="+mn-lt"/>
              </a:rPr>
              <a:t>基于目标的智能体</a:t>
            </a:r>
          </a:p>
        </p:txBody>
      </p:sp>
      <p:sp>
        <p:nvSpPr>
          <p:cNvPr id="51202" name="Footer Placeholder 4">
            <a:extLst>
              <a:ext uri="{FF2B5EF4-FFF2-40B4-BE49-F238E27FC236}">
                <a16:creationId xmlns:a16="http://schemas.microsoft.com/office/drawing/2014/main" id="{613F0E53-1162-308D-F1A8-CC3361BC5DDE}"/>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3" name="Content Placeholder 2">
            <a:extLst>
              <a:ext uri="{FF2B5EF4-FFF2-40B4-BE49-F238E27FC236}">
                <a16:creationId xmlns:a16="http://schemas.microsoft.com/office/drawing/2014/main" id="{D88BCB6F-FFA0-2791-7A18-14CB3346A581}"/>
              </a:ext>
            </a:extLst>
          </p:cNvPr>
          <p:cNvSpPr>
            <a:spLocks noGrp="1" noChangeArrowheads="1"/>
          </p:cNvSpPr>
          <p:nvPr>
            <p:ph sz="quarter" idx="4294967295"/>
          </p:nvPr>
        </p:nvSpPr>
        <p:spPr>
          <a:xfrm>
            <a:off x="1091254" y="1541924"/>
            <a:ext cx="9734061" cy="4572000"/>
          </a:xfrm>
        </p:spPr>
        <p:txBody>
          <a:bodyPr/>
          <a:lstStyle/>
          <a:p>
            <a:pPr eaLnBrk="1" hangingPunct="1">
              <a:buFont typeface="Arial" panose="020B0604020202020204" pitchFamily="34" charset="0"/>
              <a:buChar char="•"/>
            </a:pPr>
            <a:r>
              <a:rPr lang="en-US" altLang="zh-CN" sz="2800" dirty="0">
                <a:latin typeface="+mn-lt"/>
                <a:cs typeface="+mn-ea"/>
                <a:sym typeface="+mn-lt"/>
              </a:rPr>
              <a:t>了解状态与环境？够了吗？</a:t>
            </a:r>
          </a:p>
          <a:p>
            <a:pPr lvl="1" eaLnBrk="1" hangingPunct="1">
              <a:buFont typeface="Arial" panose="020B0604020202020204" pitchFamily="34" charset="0"/>
              <a:buChar char="–"/>
            </a:pPr>
            <a:r>
              <a:rPr lang="en-US" altLang="zh-CN" sz="2400" dirty="0">
                <a:solidFill>
                  <a:srgbClr val="0070C0"/>
                </a:solidFill>
                <a:latin typeface="+mn-lt"/>
                <a:cs typeface="+mn-ea"/>
                <a:sym typeface="+mn-lt"/>
              </a:rPr>
              <a:t>出租车可以左转、右转、直行。</a:t>
            </a:r>
          </a:p>
          <a:p>
            <a:pPr eaLnBrk="1" hangingPunct="1">
              <a:buFont typeface="Arial" panose="020B0604020202020204" pitchFamily="34" charset="0"/>
              <a:buChar char="•"/>
            </a:pPr>
            <a:r>
              <a:rPr lang="en-US" altLang="zh-CN" sz="2800" dirty="0">
                <a:latin typeface="+mn-lt"/>
                <a:cs typeface="+mn-ea"/>
                <a:sym typeface="+mn-lt"/>
              </a:rPr>
              <a:t>设定一个目标</a:t>
            </a:r>
          </a:p>
          <a:p>
            <a:pPr lvl="1" eaLnBrk="1" hangingPunct="1"/>
            <a:r>
              <a:rPr lang="en-US" altLang="zh-CN" sz="2400" dirty="0">
                <a:solidFill>
                  <a:srgbClr val="0070C0"/>
                </a:solidFill>
                <a:latin typeface="+mn-lt"/>
                <a:cs typeface="+mn-ea"/>
                <a:sym typeface="+mn-lt"/>
              </a:rPr>
              <a:t>一个值得前往的目的地</a:t>
            </a:r>
          </a:p>
          <a:p>
            <a:pPr eaLnBrk="1" hangingPunct="1"/>
            <a:r>
              <a:rPr lang="en-GB" altLang="zh-CN" sz="2900" dirty="0">
                <a:latin typeface="+mn-lt"/>
                <a:cs typeface="+mn-ea"/>
                <a:sym typeface="+mn-lt"/>
              </a:rPr>
              <a:t>利用关于目标的知识来指导其行动。</a:t>
            </a:r>
          </a:p>
          <a:p>
            <a:pPr lvl="1" eaLnBrk="1" hangingPunct="1"/>
            <a:r>
              <a:rPr lang="en-GB" altLang="zh-CN" sz="2400" dirty="0">
                <a:solidFill>
                  <a:srgbClr val="0070C0"/>
                </a:solidFill>
                <a:latin typeface="+mn-lt"/>
                <a:cs typeface="+mn-ea"/>
                <a:sym typeface="+mn-lt"/>
              </a:rPr>
              <a:t>例如，搜索、规划</a:t>
            </a:r>
          </a:p>
          <a:p>
            <a:pPr lvl="1" eaLnBrk="1" hangingPunct="1">
              <a:buFont typeface="Arial" panose="020B0604020202020204" pitchFamily="34" charset="0"/>
              <a:buChar char="–"/>
            </a:pPr>
            <a:endParaRPr lang="en-US" altLang="zh-CN" dirty="0">
              <a:latin typeface="+mn-lt"/>
              <a:cs typeface="+mn-ea"/>
              <a:sym typeface="+mn-lt"/>
            </a:endParaRPr>
          </a:p>
          <a:p>
            <a:pPr lvl="1" eaLnBrk="1" hangingPunct="1">
              <a:buFont typeface="Arial" panose="020B0604020202020204" pitchFamily="34" charset="0"/>
              <a:buChar char="–"/>
            </a:pPr>
            <a:endParaRPr lang="en-US" altLang="zh-CN" dirty="0">
              <a:latin typeface="+mn-lt"/>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E79F94B1-E6EE-C8EC-98D9-37DFC8C36B08}"/>
              </a:ext>
            </a:extLst>
          </p:cNvPr>
          <p:cNvSpPr>
            <a:spLocks noGrp="1" noChangeArrowheads="1"/>
          </p:cNvSpPr>
          <p:nvPr>
            <p:ph type="title"/>
          </p:nvPr>
        </p:nvSpPr>
        <p:spPr/>
        <p:txBody>
          <a:bodyPr/>
          <a:lstStyle/>
          <a:p>
            <a:pPr eaLnBrk="1" hangingPunct="1"/>
            <a:r>
              <a:rPr lang="en-US" altLang="zh-CN" sz="3600" dirty="0" err="1">
                <a:solidFill>
                  <a:srgbClr val="515223"/>
                </a:solidFill>
                <a:latin typeface="+mn-lt"/>
                <a:ea typeface="+mn-ea"/>
                <a:cs typeface="+mn-ea"/>
                <a:sym typeface="+mn-lt"/>
              </a:rPr>
              <a:t>基于目标的智能体</a:t>
            </a:r>
            <a:endParaRPr lang="en-US" altLang="zh-CN" dirty="0">
              <a:solidFill>
                <a:srgbClr val="515223"/>
              </a:solidFill>
              <a:latin typeface="+mn-lt"/>
              <a:ea typeface="+mn-ea"/>
              <a:cs typeface="+mn-ea"/>
              <a:sym typeface="+mn-lt"/>
            </a:endParaRPr>
          </a:p>
        </p:txBody>
      </p:sp>
      <p:sp>
        <p:nvSpPr>
          <p:cNvPr id="52226" name="Footer Placeholder 6">
            <a:extLst>
              <a:ext uri="{FF2B5EF4-FFF2-40B4-BE49-F238E27FC236}">
                <a16:creationId xmlns:a16="http://schemas.microsoft.com/office/drawing/2014/main" id="{7A93D1D1-D1DC-AF67-6DEB-5F9AB80CE1D6}"/>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52228" name="Picture 5" descr="goal-based-agent">
            <a:extLst>
              <a:ext uri="{FF2B5EF4-FFF2-40B4-BE49-F238E27FC236}">
                <a16:creationId xmlns:a16="http://schemas.microsoft.com/office/drawing/2014/main" id="{F1FED957-F731-0428-B816-E34970E031C2}"/>
              </a:ext>
            </a:extLst>
          </p:cNvPr>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3443202" y="1256375"/>
            <a:ext cx="5487365" cy="3492605"/>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962F7B86-1C2A-A8F7-27F8-FF347C757152}"/>
              </a:ext>
            </a:extLst>
          </p:cNvPr>
          <p:cNvSpPr>
            <a:spLocks noGrp="1" noChangeArrowheads="1"/>
          </p:cNvSpPr>
          <p:nvPr>
            <p:ph type="title"/>
          </p:nvPr>
        </p:nvSpPr>
        <p:spPr/>
        <p:txBody>
          <a:bodyPr/>
          <a:lstStyle/>
          <a:p>
            <a:pPr eaLnBrk="1" hangingPunct="1"/>
            <a:r>
              <a:rPr lang="en-US" altLang="zh-CN" sz="3600" dirty="0">
                <a:solidFill>
                  <a:srgbClr val="515223"/>
                </a:solidFill>
                <a:latin typeface="+mn-lt"/>
                <a:ea typeface="+mn-ea"/>
                <a:cs typeface="+mn-ea"/>
                <a:sym typeface="+mn-lt"/>
              </a:rPr>
              <a:t>基于效用的智能体</a:t>
            </a:r>
          </a:p>
        </p:txBody>
      </p:sp>
      <p:sp>
        <p:nvSpPr>
          <p:cNvPr id="53250" name="Footer Placeholder 4">
            <a:extLst>
              <a:ext uri="{FF2B5EF4-FFF2-40B4-BE49-F238E27FC236}">
                <a16:creationId xmlns:a16="http://schemas.microsoft.com/office/drawing/2014/main" id="{AF2574DC-D542-1FA0-1AEE-8890CE5B6D49}"/>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FFFFFF"/>
                </a:solidFill>
                <a:effectLst/>
                <a:uLnTx/>
                <a:uFillTx/>
                <a:latin typeface="Arial" panose="020B0604020202020204"/>
                <a:ea typeface="微软雅黑"/>
                <a:cs typeface="+mn-ea"/>
                <a:sym typeface="+mn-lt"/>
              </a:rPr>
              <a:t>人工智能：一种现代方法</a:t>
            </a:r>
          </a:p>
        </p:txBody>
      </p:sp>
      <p:sp>
        <p:nvSpPr>
          <p:cNvPr id="53252" name="Content Placeholder 2">
            <a:extLst>
              <a:ext uri="{FF2B5EF4-FFF2-40B4-BE49-F238E27FC236}">
                <a16:creationId xmlns:a16="http://schemas.microsoft.com/office/drawing/2014/main" id="{B1E68CAD-AAFC-C7F0-8B4D-1F1E4451627F}"/>
              </a:ext>
            </a:extLst>
          </p:cNvPr>
          <p:cNvSpPr>
            <a:spLocks noGrp="1" noChangeArrowheads="1"/>
          </p:cNvSpPr>
          <p:nvPr>
            <p:ph sz="quarter" idx="4294967295"/>
          </p:nvPr>
        </p:nvSpPr>
        <p:spPr>
          <a:xfrm>
            <a:off x="1091254" y="1527175"/>
            <a:ext cx="10582093" cy="4572000"/>
          </a:xfrm>
        </p:spPr>
        <p:txBody>
          <a:bodyPr/>
          <a:lstStyle/>
          <a:p>
            <a:pPr eaLnBrk="1" hangingPunct="1"/>
            <a:r>
              <a:rPr lang="en-US" altLang="zh-CN" sz="2800" dirty="0">
                <a:latin typeface="+mn-lt"/>
                <a:cs typeface="+mn-ea"/>
                <a:sym typeface="+mn-lt"/>
              </a:rPr>
              <a:t>目标并不总是足够的。</a:t>
            </a:r>
          </a:p>
          <a:p>
            <a:pPr lvl="1" eaLnBrk="1" hangingPunct="1"/>
            <a:r>
              <a:rPr lang="en-US" altLang="zh-CN" sz="2400" dirty="0">
                <a:solidFill>
                  <a:srgbClr val="0070C0"/>
                </a:solidFill>
                <a:latin typeface="+mn-lt"/>
                <a:cs typeface="+mn-ea"/>
                <a:sym typeface="+mn-lt"/>
              </a:rPr>
              <a:t>不仅到目的地</a:t>
            </a:r>
          </a:p>
          <a:p>
            <a:pPr lvl="1" eaLnBrk="1" hangingPunct="1"/>
            <a:r>
              <a:rPr lang="en-US" altLang="zh-CN" sz="2400" dirty="0">
                <a:solidFill>
                  <a:srgbClr val="0070C0"/>
                </a:solidFill>
                <a:latin typeface="+mn-lt"/>
                <a:cs typeface="+mn-ea"/>
                <a:sym typeface="+mn-lt"/>
              </a:rPr>
              <a:t>考虑其他因素。速度如何，安全性如何……</a:t>
            </a:r>
          </a:p>
          <a:p>
            <a:pPr eaLnBrk="1" hangingPunct="1"/>
            <a:r>
              <a:rPr lang="en-US" altLang="zh-CN" sz="2800" dirty="0">
                <a:latin typeface="+mn-lt"/>
                <a:cs typeface="+mn-ea"/>
                <a:sym typeface="+mn-lt"/>
              </a:rPr>
              <a:t>效用函数将一种状态映射到一个实数，该实数描述了与之相关的“幸福”、“美好”或“成功”的程度。</a:t>
            </a:r>
          </a:p>
          <a:p>
            <a:pPr eaLnBrk="1" hangingPunct="1"/>
            <a:r>
              <a:rPr lang="en-US" altLang="zh-CN" sz="2800" dirty="0">
                <a:latin typeface="+mn-lt"/>
                <a:cs typeface="+mn-ea"/>
                <a:sym typeface="+mn-lt"/>
              </a:rPr>
              <a:t>效用度量源自何处？</a:t>
            </a:r>
          </a:p>
          <a:p>
            <a:pPr lvl="1" eaLnBrk="1" hangingPunct="1"/>
            <a:r>
              <a:rPr lang="en-US" altLang="zh-CN" sz="2400" dirty="0">
                <a:solidFill>
                  <a:srgbClr val="0070C0"/>
                </a:solidFill>
                <a:latin typeface="+mn-lt"/>
                <a:cs typeface="+mn-ea"/>
                <a:sym typeface="+mn-lt"/>
              </a:rPr>
              <a:t>经济学：金钱。</a:t>
            </a:r>
          </a:p>
          <a:p>
            <a:pPr lvl="1" eaLnBrk="1" hangingPunct="1"/>
            <a:r>
              <a:rPr lang="en-US" altLang="zh-CN" sz="2400" dirty="0">
                <a:solidFill>
                  <a:srgbClr val="0070C0"/>
                </a:solidFill>
                <a:latin typeface="+mn-lt"/>
                <a:cs typeface="+mn-ea"/>
                <a:sym typeface="+mn-lt"/>
              </a:rPr>
              <a:t>生物学：后代数量。</a:t>
            </a:r>
          </a:p>
          <a:p>
            <a:pPr lvl="1" eaLnBrk="1" hangingPunct="1"/>
            <a:r>
              <a:rPr lang="en-US" altLang="zh-CN" sz="2400" dirty="0">
                <a:solidFill>
                  <a:srgbClr val="0070C0"/>
                </a:solidFill>
                <a:latin typeface="+mn-lt"/>
                <a:cs typeface="+mn-ea"/>
                <a:sym typeface="+mn-lt"/>
              </a:rPr>
              <a:t>你的生活？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252">
                                            <p:txEl>
                                              <p:pRg st="0" end="0"/>
                                            </p:txEl>
                                          </p:spTgt>
                                        </p:tgtEl>
                                        <p:attrNameLst>
                                          <p:attrName>style.visibility</p:attrName>
                                        </p:attrNameLst>
                                      </p:cBhvr>
                                      <p:to>
                                        <p:strVal val="visible"/>
                                      </p:to>
                                    </p:set>
                                    <p:animEffect transition="in" filter="fade">
                                      <p:cBhvr>
                                        <p:cTn id="7" dur="500"/>
                                        <p:tgtEl>
                                          <p:spTgt spid="5325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3252">
                                            <p:txEl>
                                              <p:pRg st="1" end="1"/>
                                            </p:txEl>
                                          </p:spTgt>
                                        </p:tgtEl>
                                        <p:attrNameLst>
                                          <p:attrName>style.visibility</p:attrName>
                                        </p:attrNameLst>
                                      </p:cBhvr>
                                      <p:to>
                                        <p:strVal val="visible"/>
                                      </p:to>
                                    </p:set>
                                    <p:animEffect transition="in" filter="fade">
                                      <p:cBhvr>
                                        <p:cTn id="10" dur="500"/>
                                        <p:tgtEl>
                                          <p:spTgt spid="5325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3252">
                                            <p:txEl>
                                              <p:pRg st="2" end="2"/>
                                            </p:txEl>
                                          </p:spTgt>
                                        </p:tgtEl>
                                        <p:attrNameLst>
                                          <p:attrName>style.visibility</p:attrName>
                                        </p:attrNameLst>
                                      </p:cBhvr>
                                      <p:to>
                                        <p:strVal val="visible"/>
                                      </p:to>
                                    </p:set>
                                    <p:animEffect transition="in" filter="fade">
                                      <p:cBhvr>
                                        <p:cTn id="13" dur="500"/>
                                        <p:tgtEl>
                                          <p:spTgt spid="5325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3252">
                                            <p:txEl>
                                              <p:pRg st="3" end="3"/>
                                            </p:txEl>
                                          </p:spTgt>
                                        </p:tgtEl>
                                        <p:attrNameLst>
                                          <p:attrName>style.visibility</p:attrName>
                                        </p:attrNameLst>
                                      </p:cBhvr>
                                      <p:to>
                                        <p:strVal val="visible"/>
                                      </p:to>
                                    </p:set>
                                    <p:animEffect transition="in" filter="fade">
                                      <p:cBhvr>
                                        <p:cTn id="18" dur="500"/>
                                        <p:tgtEl>
                                          <p:spTgt spid="5325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3252">
                                            <p:txEl>
                                              <p:pRg st="4" end="4"/>
                                            </p:txEl>
                                          </p:spTgt>
                                        </p:tgtEl>
                                        <p:attrNameLst>
                                          <p:attrName>style.visibility</p:attrName>
                                        </p:attrNameLst>
                                      </p:cBhvr>
                                      <p:to>
                                        <p:strVal val="visible"/>
                                      </p:to>
                                    </p:set>
                                    <p:animEffect transition="in" filter="fade">
                                      <p:cBhvr>
                                        <p:cTn id="23" dur="500"/>
                                        <p:tgtEl>
                                          <p:spTgt spid="53252">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3252">
                                            <p:txEl>
                                              <p:pRg st="5" end="5"/>
                                            </p:txEl>
                                          </p:spTgt>
                                        </p:tgtEl>
                                        <p:attrNameLst>
                                          <p:attrName>style.visibility</p:attrName>
                                        </p:attrNameLst>
                                      </p:cBhvr>
                                      <p:to>
                                        <p:strVal val="visible"/>
                                      </p:to>
                                    </p:set>
                                    <p:animEffect transition="in" filter="fade">
                                      <p:cBhvr>
                                        <p:cTn id="26" dur="500"/>
                                        <p:tgtEl>
                                          <p:spTgt spid="53252">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3252">
                                            <p:txEl>
                                              <p:pRg st="6" end="6"/>
                                            </p:txEl>
                                          </p:spTgt>
                                        </p:tgtEl>
                                        <p:attrNameLst>
                                          <p:attrName>style.visibility</p:attrName>
                                        </p:attrNameLst>
                                      </p:cBhvr>
                                      <p:to>
                                        <p:strVal val="visible"/>
                                      </p:to>
                                    </p:set>
                                    <p:animEffect transition="in" filter="fade">
                                      <p:cBhvr>
                                        <p:cTn id="29" dur="500"/>
                                        <p:tgtEl>
                                          <p:spTgt spid="53252">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3252">
                                            <p:txEl>
                                              <p:pRg st="7" end="7"/>
                                            </p:txEl>
                                          </p:spTgt>
                                        </p:tgtEl>
                                        <p:attrNameLst>
                                          <p:attrName>style.visibility</p:attrName>
                                        </p:attrNameLst>
                                      </p:cBhvr>
                                      <p:to>
                                        <p:strVal val="visible"/>
                                      </p:to>
                                    </p:set>
                                    <p:animEffect transition="in" filter="fade">
                                      <p:cBhvr>
                                        <p:cTn id="32" dur="500"/>
                                        <p:tgtEl>
                                          <p:spTgt spid="5325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4FE95778-249C-7251-CA4B-40FE266789CB}"/>
              </a:ext>
            </a:extLst>
          </p:cNvPr>
          <p:cNvSpPr>
            <a:spLocks noGrp="1" noChangeArrowheads="1"/>
          </p:cNvSpPr>
          <p:nvPr>
            <p:ph type="title"/>
          </p:nvPr>
        </p:nvSpPr>
        <p:spPr/>
        <p:txBody>
          <a:bodyPr/>
          <a:lstStyle/>
          <a:p>
            <a:pPr eaLnBrk="1" hangingPunct="1"/>
            <a:r>
              <a:rPr lang="en-US" altLang="zh-CN" sz="3600" dirty="0" err="1">
                <a:solidFill>
                  <a:srgbClr val="515223"/>
                </a:solidFill>
                <a:latin typeface="+mn-lt"/>
                <a:ea typeface="+mn-ea"/>
                <a:cs typeface="+mn-ea"/>
                <a:sym typeface="+mn-lt"/>
              </a:rPr>
              <a:t>基于效用的智能体</a:t>
            </a:r>
            <a:endParaRPr lang="en-US" altLang="zh-CN" dirty="0">
              <a:solidFill>
                <a:srgbClr val="515223"/>
              </a:solidFill>
              <a:latin typeface="+mn-lt"/>
              <a:ea typeface="+mn-ea"/>
              <a:cs typeface="+mn-ea"/>
              <a:sym typeface="+mn-lt"/>
            </a:endParaRPr>
          </a:p>
        </p:txBody>
      </p:sp>
      <p:sp>
        <p:nvSpPr>
          <p:cNvPr id="55298" name="Footer Placeholder 4">
            <a:extLst>
              <a:ext uri="{FF2B5EF4-FFF2-40B4-BE49-F238E27FC236}">
                <a16:creationId xmlns:a16="http://schemas.microsoft.com/office/drawing/2014/main" id="{4C77C922-A249-5B82-1781-3B3C511DD626}"/>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55300" name="Picture 5" descr="utility-based-agent">
            <a:extLst>
              <a:ext uri="{FF2B5EF4-FFF2-40B4-BE49-F238E27FC236}">
                <a16:creationId xmlns:a16="http://schemas.microsoft.com/office/drawing/2014/main" id="{E69F32EB-0D73-059B-720E-D8C3C74F591E}"/>
              </a:ext>
            </a:extLst>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2891041" y="1388806"/>
            <a:ext cx="6409918" cy="4080388"/>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A1552CD7-E46A-7CB9-4736-E06063821F11}"/>
              </a:ext>
            </a:extLst>
          </p:cNvPr>
          <p:cNvSpPr>
            <a:spLocks noGrp="1" noChangeArrowheads="1"/>
          </p:cNvSpPr>
          <p:nvPr>
            <p:ph type="title"/>
          </p:nvPr>
        </p:nvSpPr>
        <p:spPr/>
        <p:txBody>
          <a:bodyPr/>
          <a:lstStyle/>
          <a:p>
            <a:pPr eaLnBrk="1" hangingPunct="1"/>
            <a:r>
              <a:rPr lang="zh-CN" altLang="en-US" sz="3600" dirty="0">
                <a:solidFill>
                  <a:srgbClr val="515223"/>
                </a:solidFill>
                <a:latin typeface="+mn-lt"/>
                <a:ea typeface="+mn-ea"/>
                <a:cs typeface="+mn-ea"/>
                <a:sym typeface="+mn-lt"/>
              </a:rPr>
              <a:t>可</a:t>
            </a:r>
            <a:r>
              <a:rPr lang="en-US" altLang="zh-CN" sz="3600" dirty="0" err="1">
                <a:solidFill>
                  <a:srgbClr val="515223"/>
                </a:solidFill>
                <a:latin typeface="+mn-lt"/>
                <a:ea typeface="+mn-ea"/>
                <a:cs typeface="+mn-ea"/>
                <a:sym typeface="+mn-lt"/>
              </a:rPr>
              <a:t>学习智能体</a:t>
            </a:r>
            <a:endParaRPr lang="en-US" altLang="zh-CN" dirty="0">
              <a:solidFill>
                <a:srgbClr val="515223"/>
              </a:solidFill>
              <a:latin typeface="+mn-lt"/>
              <a:ea typeface="+mn-ea"/>
              <a:cs typeface="+mn-ea"/>
              <a:sym typeface="+mn-lt"/>
            </a:endParaRPr>
          </a:p>
        </p:txBody>
      </p:sp>
      <p:sp>
        <p:nvSpPr>
          <p:cNvPr id="56322" name="Footer Placeholder 4">
            <a:extLst>
              <a:ext uri="{FF2B5EF4-FFF2-40B4-BE49-F238E27FC236}">
                <a16:creationId xmlns:a16="http://schemas.microsoft.com/office/drawing/2014/main" id="{A47FCF34-7EF2-7C4F-CF92-51C9CBE1DB04}"/>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56324" name="Picture 9" descr="learning-agent">
            <a:extLst>
              <a:ext uri="{FF2B5EF4-FFF2-40B4-BE49-F238E27FC236}">
                <a16:creationId xmlns:a16="http://schemas.microsoft.com/office/drawing/2014/main" id="{16795C2F-FA12-15A7-CD11-16374C3854E3}"/>
              </a:ext>
            </a:extLst>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907024" y="1637070"/>
            <a:ext cx="5101379" cy="3583859"/>
          </a:xfrm>
        </p:spPr>
      </p:pic>
      <p:sp>
        <p:nvSpPr>
          <p:cNvPr id="6" name="Content Placeholder 2">
            <a:extLst>
              <a:ext uri="{FF2B5EF4-FFF2-40B4-BE49-F238E27FC236}">
                <a16:creationId xmlns:a16="http://schemas.microsoft.com/office/drawing/2014/main" id="{A79F2F34-9C36-40B6-B3CC-8F795A46C0F7}"/>
              </a:ext>
            </a:extLst>
          </p:cNvPr>
          <p:cNvSpPr txBox="1">
            <a:spLocks noChangeArrowheads="1"/>
          </p:cNvSpPr>
          <p:nvPr/>
        </p:nvSpPr>
        <p:spPr bwMode="auto">
          <a:xfrm>
            <a:off x="6408173" y="1755057"/>
            <a:ext cx="5220929" cy="358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a:solidFill>
                  <a:schemeClr val="tx1"/>
                </a:solidFill>
                <a:latin typeface="Arial" panose="020B0604020202020204" pitchFamily="34" charset="0"/>
                <a:cs typeface="Arial" panose="020B0604020202020204" pitchFamily="34" charset="0"/>
              </a:defRPr>
            </a:lvl1pPr>
            <a:lvl2pPr marL="730250" indent="-273050">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spcBef>
                <a:spcPct val="20000"/>
              </a:spcBef>
              <a:buClr>
                <a:schemeClr val="accent1"/>
              </a:buClr>
              <a:buSzPct val="85000"/>
              <a:buFont typeface="Wingdings 2" panose="05020102010507070707" pitchFamily="18" charset="2"/>
              <a:buChar char=""/>
            </a:pPr>
            <a:r>
              <a:rPr lang="en-US" altLang="zh-CN" sz="2800" dirty="0">
                <a:latin typeface="+mn-lt"/>
                <a:cs typeface="+mn-ea"/>
                <a:sym typeface="+mn-lt"/>
              </a:rPr>
              <a:t>性能要素就是以前整个代理所代表的内容。</a:t>
            </a:r>
          </a:p>
          <a:p>
            <a:pPr lvl="1">
              <a:spcBef>
                <a:spcPct val="20000"/>
              </a:spcBef>
              <a:buClr>
                <a:schemeClr val="accent1"/>
              </a:buClr>
              <a:buSzPct val="85000"/>
              <a:buFont typeface="Wingdings 2" panose="05020102010507070707" pitchFamily="18" charset="2"/>
              <a:buChar char=""/>
            </a:pPr>
            <a:r>
              <a:rPr lang="en-US" altLang="zh-CN" sz="2800" dirty="0">
                <a:latin typeface="+mn-lt"/>
                <a:cs typeface="+mn-ea"/>
                <a:sym typeface="+mn-lt"/>
              </a:rPr>
              <a:t>输入传感器</a:t>
            </a:r>
          </a:p>
          <a:p>
            <a:pPr lvl="1">
              <a:spcBef>
                <a:spcPct val="20000"/>
              </a:spcBef>
              <a:buClr>
                <a:schemeClr val="accent1"/>
              </a:buClr>
              <a:buSzPct val="85000"/>
              <a:buFont typeface="Wingdings 2" panose="05020102010507070707" pitchFamily="18" charset="2"/>
              <a:buChar char=""/>
            </a:pPr>
            <a:r>
              <a:rPr lang="en-US" altLang="zh-CN" sz="2800" dirty="0">
                <a:latin typeface="+mn-lt"/>
                <a:cs typeface="+mn-ea"/>
                <a:sym typeface="+mn-lt"/>
              </a:rPr>
              <a:t>输出操作</a:t>
            </a:r>
          </a:p>
          <a:p>
            <a:pPr>
              <a:spcBef>
                <a:spcPct val="20000"/>
              </a:spcBef>
              <a:buClr>
                <a:schemeClr val="accent1"/>
              </a:buClr>
              <a:buSzPct val="85000"/>
              <a:buFont typeface="Wingdings 2" panose="05020102010507070707" pitchFamily="18" charset="2"/>
              <a:buChar char=""/>
            </a:pPr>
            <a:r>
              <a:rPr lang="en-US" altLang="zh-CN" sz="2800" dirty="0">
                <a:latin typeface="+mn-lt"/>
                <a:cs typeface="+mn-ea"/>
                <a:sym typeface="+mn-lt"/>
              </a:rPr>
              <a:t>学习元素</a:t>
            </a:r>
          </a:p>
          <a:p>
            <a:pPr lvl="1">
              <a:spcBef>
                <a:spcPct val="20000"/>
              </a:spcBef>
              <a:buClr>
                <a:schemeClr val="accent1"/>
              </a:buClr>
              <a:buSzPct val="85000"/>
              <a:buFont typeface="Wingdings 2" panose="05020102010507070707" pitchFamily="18" charset="2"/>
              <a:buChar char=""/>
            </a:pPr>
            <a:r>
              <a:rPr lang="zh-CN" altLang="en-US" sz="2400" dirty="0">
                <a:latin typeface="+mn-lt"/>
                <a:cs typeface="+mn-ea"/>
                <a:sym typeface="+mn-lt"/>
              </a:rPr>
              <a:t>提升性能的</a:t>
            </a:r>
            <a:r>
              <a:rPr lang="en-US" altLang="zh-CN" sz="2400" dirty="0" err="1">
                <a:latin typeface="+mn-lt"/>
                <a:cs typeface="+mn-ea"/>
                <a:sym typeface="+mn-lt"/>
              </a:rPr>
              <a:t>要素</a:t>
            </a:r>
            <a:r>
              <a:rPr lang="en-US" altLang="zh-CN" sz="2300" dirty="0">
                <a:latin typeface="+mn-lt"/>
                <a:cs typeface="+mn-ea"/>
                <a:sym typeface="+mn-lt"/>
              </a:rPr>
              <a:t>.</a:t>
            </a:r>
            <a:endParaRPr lang="en-US" altLang="zh-CN" sz="2400" dirty="0">
              <a:latin typeface="+mn-lt"/>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fade">
                                      <p:cBhvr>
                                        <p:cTn id="18" dur="500"/>
                                        <p:tgtEl>
                                          <p:spTgt spid="6">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fade">
                                      <p:cBhvr>
                                        <p:cTn id="21"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A1552CD7-E46A-7CB9-4736-E06063821F11}"/>
              </a:ext>
            </a:extLst>
          </p:cNvPr>
          <p:cNvSpPr>
            <a:spLocks noGrp="1" noChangeArrowheads="1"/>
          </p:cNvSpPr>
          <p:nvPr>
            <p:ph type="title"/>
          </p:nvPr>
        </p:nvSpPr>
        <p:spPr/>
        <p:txBody>
          <a:bodyPr/>
          <a:lstStyle/>
          <a:p>
            <a:pPr eaLnBrk="1" hangingPunct="1"/>
            <a:r>
              <a:rPr lang="zh-CN" altLang="en-US" sz="3600" dirty="0">
                <a:solidFill>
                  <a:srgbClr val="515223"/>
                </a:solidFill>
                <a:latin typeface="+mn-lt"/>
                <a:ea typeface="+mn-ea"/>
                <a:cs typeface="+mn-ea"/>
                <a:sym typeface="+mn-lt"/>
              </a:rPr>
              <a:t>可</a:t>
            </a:r>
            <a:r>
              <a:rPr lang="en-US" altLang="zh-CN" sz="3600" dirty="0" err="1">
                <a:solidFill>
                  <a:srgbClr val="515223"/>
                </a:solidFill>
                <a:latin typeface="+mn-lt"/>
                <a:ea typeface="+mn-ea"/>
                <a:cs typeface="+mn-ea"/>
                <a:sym typeface="+mn-lt"/>
              </a:rPr>
              <a:t>学习智能体</a:t>
            </a:r>
            <a:endParaRPr lang="en-US" altLang="zh-CN" dirty="0">
              <a:solidFill>
                <a:srgbClr val="515223"/>
              </a:solidFill>
              <a:latin typeface="+mn-lt"/>
              <a:ea typeface="+mn-ea"/>
              <a:cs typeface="+mn-ea"/>
              <a:sym typeface="+mn-lt"/>
            </a:endParaRPr>
          </a:p>
        </p:txBody>
      </p:sp>
      <p:sp>
        <p:nvSpPr>
          <p:cNvPr id="56322" name="Footer Placeholder 4">
            <a:extLst>
              <a:ext uri="{FF2B5EF4-FFF2-40B4-BE49-F238E27FC236}">
                <a16:creationId xmlns:a16="http://schemas.microsoft.com/office/drawing/2014/main" id="{A47FCF34-7EF2-7C4F-CF92-51C9CBE1DB04}"/>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56324" name="Picture 9" descr="learning-agent">
            <a:extLst>
              <a:ext uri="{FF2B5EF4-FFF2-40B4-BE49-F238E27FC236}">
                <a16:creationId xmlns:a16="http://schemas.microsoft.com/office/drawing/2014/main" id="{16795C2F-FA12-15A7-CD11-16374C3854E3}"/>
              </a:ext>
            </a:extLst>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907024" y="1637070"/>
            <a:ext cx="5101379" cy="3583859"/>
          </a:xfrm>
        </p:spPr>
      </p:pic>
      <p:sp>
        <p:nvSpPr>
          <p:cNvPr id="6" name="Content Placeholder 2">
            <a:extLst>
              <a:ext uri="{FF2B5EF4-FFF2-40B4-BE49-F238E27FC236}">
                <a16:creationId xmlns:a16="http://schemas.microsoft.com/office/drawing/2014/main" id="{24A4449B-8280-415E-B822-A1A143261967}"/>
              </a:ext>
            </a:extLst>
          </p:cNvPr>
          <p:cNvSpPr txBox="1">
            <a:spLocks noChangeArrowheads="1"/>
          </p:cNvSpPr>
          <p:nvPr/>
        </p:nvSpPr>
        <p:spPr bwMode="auto">
          <a:xfrm>
            <a:off x="6408172" y="1900594"/>
            <a:ext cx="5464279" cy="3583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a:solidFill>
                  <a:schemeClr val="tx1"/>
                </a:solidFill>
                <a:latin typeface="Arial" panose="020B0604020202020204" pitchFamily="34" charset="0"/>
                <a:cs typeface="Arial" panose="020B0604020202020204" pitchFamily="34" charset="0"/>
              </a:defRPr>
            </a:lvl1pPr>
            <a:lvl2pPr marL="730250" indent="-273050">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a:spcBef>
                <a:spcPct val="20000"/>
              </a:spcBef>
              <a:buClr>
                <a:schemeClr val="accent1"/>
              </a:buClr>
              <a:buSzPct val="85000"/>
              <a:buFont typeface="Wingdings 2" panose="05020102010507070707" pitchFamily="18" charset="2"/>
              <a:buChar char=""/>
            </a:pPr>
            <a:r>
              <a:rPr lang="zh-CN" altLang="en-US" sz="2800" dirty="0">
                <a:latin typeface="+mn-lt"/>
                <a:cs typeface="+mn-ea"/>
                <a:sym typeface="+mn-lt"/>
              </a:rPr>
              <a:t>批评器</a:t>
            </a:r>
            <a:r>
              <a:rPr lang="en-US" altLang="zh-CN" sz="2800" dirty="0">
                <a:latin typeface="+mn-lt"/>
                <a:cs typeface="+mn-ea"/>
                <a:sym typeface="+mn-lt"/>
              </a:rPr>
              <a:t>：</a:t>
            </a:r>
            <a:r>
              <a:rPr lang="zh-CN" altLang="en-US" sz="2800" dirty="0">
                <a:latin typeface="+mn-lt"/>
                <a:cs typeface="+mn-ea"/>
                <a:sym typeface="+mn-lt"/>
              </a:rPr>
              <a:t>智能体</a:t>
            </a:r>
            <a:r>
              <a:rPr lang="en-US" altLang="zh-CN" sz="2800" dirty="0" err="1">
                <a:latin typeface="+mn-lt"/>
                <a:cs typeface="+mn-ea"/>
                <a:sym typeface="+mn-lt"/>
              </a:rPr>
              <a:t>目前表现如何</a:t>
            </a:r>
            <a:endParaRPr lang="en-US" altLang="zh-CN" sz="2800" dirty="0">
              <a:latin typeface="+mn-lt"/>
              <a:cs typeface="+mn-ea"/>
              <a:sym typeface="+mn-lt"/>
            </a:endParaRPr>
          </a:p>
          <a:p>
            <a:pPr>
              <a:spcBef>
                <a:spcPct val="20000"/>
              </a:spcBef>
              <a:buClr>
                <a:schemeClr val="accent1"/>
              </a:buClr>
              <a:buSzPct val="85000"/>
              <a:buFont typeface="Wingdings 2" panose="05020102010507070707" pitchFamily="18" charset="2"/>
              <a:buChar char=""/>
            </a:pPr>
            <a:endParaRPr lang="en-US" altLang="zh-CN" sz="2400" dirty="0">
              <a:latin typeface="+mn-lt"/>
              <a:cs typeface="+mn-ea"/>
              <a:sym typeface="+mn-lt"/>
            </a:endParaRPr>
          </a:p>
          <a:p>
            <a:pPr>
              <a:spcBef>
                <a:spcPct val="20000"/>
              </a:spcBef>
              <a:buClr>
                <a:schemeClr val="accent1"/>
              </a:buClr>
              <a:buSzPct val="85000"/>
              <a:buFont typeface="Wingdings 2" panose="05020102010507070707" pitchFamily="18" charset="2"/>
              <a:buChar char=""/>
            </a:pPr>
            <a:r>
              <a:rPr lang="en-US" altLang="zh-CN" sz="2400" dirty="0">
                <a:latin typeface="+mn-lt"/>
                <a:cs typeface="+mn-ea"/>
                <a:sym typeface="+mn-lt"/>
              </a:rPr>
              <a:t>问题生成器</a:t>
            </a:r>
          </a:p>
          <a:p>
            <a:pPr lvl="1">
              <a:spcBef>
                <a:spcPct val="20000"/>
              </a:spcBef>
              <a:buClr>
                <a:schemeClr val="accent1"/>
              </a:buClr>
              <a:buSzPct val="85000"/>
              <a:buFont typeface="Wingdings 2" panose="05020102010507070707" pitchFamily="18" charset="2"/>
              <a:buChar char=""/>
            </a:pPr>
            <a:r>
              <a:rPr lang="en-US" altLang="zh-CN" sz="2400" dirty="0">
                <a:latin typeface="+mn-lt"/>
                <a:cs typeface="+mn-ea"/>
                <a:sym typeface="+mn-lt"/>
              </a:rPr>
              <a:t>试图解决问题。</a:t>
            </a:r>
          </a:p>
          <a:p>
            <a:pPr lvl="1">
              <a:spcBef>
                <a:spcPct val="20000"/>
              </a:spcBef>
              <a:buClr>
                <a:schemeClr val="accent1"/>
              </a:buClr>
              <a:buSzPct val="85000"/>
              <a:buFont typeface="Wingdings 2" panose="05020102010507070707" pitchFamily="18" charset="2"/>
              <a:buChar char=""/>
            </a:pPr>
            <a:r>
              <a:rPr lang="en-US" altLang="zh-CN" sz="2400" dirty="0">
                <a:latin typeface="+mn-lt"/>
                <a:cs typeface="+mn-ea"/>
                <a:sym typeface="+mn-lt"/>
              </a:rPr>
              <a:t>建议</a:t>
            </a:r>
            <a:r>
              <a:rPr lang="en-US" altLang="zh-CN" sz="2400" b="1" dirty="0">
                <a:latin typeface="+mn-lt"/>
                <a:cs typeface="+mn-ea"/>
                <a:sym typeface="+mn-lt"/>
              </a:rPr>
              <a:t>探索</a:t>
            </a:r>
            <a:r>
              <a:rPr lang="en-US" altLang="zh-CN" sz="2400" dirty="0">
                <a:latin typeface="+mn-lt"/>
                <a:cs typeface="+mn-ea"/>
                <a:sym typeface="+mn-lt"/>
              </a:rPr>
              <a:t>新行动 -&gt; 新问题。</a:t>
            </a:r>
          </a:p>
          <a:p>
            <a:pPr marL="457200" lvl="1" indent="0">
              <a:spcBef>
                <a:spcPct val="20000"/>
              </a:spcBef>
              <a:buClr>
                <a:schemeClr val="accent1"/>
              </a:buClr>
              <a:buSzPct val="85000"/>
            </a:pPr>
            <a:endParaRPr lang="en-US" altLang="zh-CN" sz="2400" dirty="0">
              <a:latin typeface="+mn-lt"/>
              <a:cs typeface="+mn-ea"/>
              <a:sym typeface="+mn-lt"/>
            </a:endParaRPr>
          </a:p>
        </p:txBody>
      </p:sp>
    </p:spTree>
    <p:extLst>
      <p:ext uri="{BB962C8B-B14F-4D97-AF65-F5344CB8AC3E}">
        <p14:creationId xmlns:p14="http://schemas.microsoft.com/office/powerpoint/2010/main" val="248832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fade">
                                      <p:cBhvr>
                                        <p:cTn id="15" dur="500"/>
                                        <p:tgtEl>
                                          <p:spTgt spid="6">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fade">
                                      <p:cBhvr>
                                        <p:cTn id="18"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BD8DA417-CED1-5877-0494-42CDD2B7A626}"/>
              </a:ext>
            </a:extLst>
          </p:cNvPr>
          <p:cNvSpPr>
            <a:spLocks noGrp="1" noChangeArrowheads="1"/>
          </p:cNvSpPr>
          <p:nvPr>
            <p:ph type="title"/>
          </p:nvPr>
        </p:nvSpPr>
        <p:spPr/>
        <p:txBody>
          <a:bodyPr/>
          <a:lstStyle/>
          <a:p>
            <a:pPr eaLnBrk="1" hangingPunct="1"/>
            <a:r>
              <a:rPr lang="zh-CN" altLang="en-US" sz="3600" dirty="0">
                <a:solidFill>
                  <a:srgbClr val="515223"/>
                </a:solidFill>
                <a:latin typeface="+mn-lt"/>
                <a:ea typeface="+mn-ea"/>
                <a:cs typeface="+mn-ea"/>
                <a:sym typeface="+mn-lt"/>
              </a:rPr>
              <a:t>可</a:t>
            </a:r>
            <a:r>
              <a:rPr lang="en-US" altLang="zh-CN" sz="3600" dirty="0" err="1">
                <a:solidFill>
                  <a:srgbClr val="515223"/>
                </a:solidFill>
                <a:latin typeface="+mn-lt"/>
                <a:ea typeface="+mn-ea"/>
                <a:cs typeface="+mn-ea"/>
                <a:sym typeface="+mn-lt"/>
              </a:rPr>
              <a:t>学习智能体（出租车司机</a:t>
            </a:r>
            <a:r>
              <a:rPr lang="en-US" altLang="zh-CN" sz="3600" dirty="0">
                <a:solidFill>
                  <a:srgbClr val="515223"/>
                </a:solidFill>
                <a:latin typeface="+mn-lt"/>
                <a:ea typeface="+mn-ea"/>
                <a:cs typeface="+mn-ea"/>
                <a:sym typeface="+mn-lt"/>
              </a:rPr>
              <a:t>）</a:t>
            </a:r>
            <a:endParaRPr lang="en-US" altLang="zh-CN" dirty="0">
              <a:solidFill>
                <a:srgbClr val="515223"/>
              </a:solidFill>
              <a:latin typeface="+mn-lt"/>
              <a:ea typeface="+mn-ea"/>
              <a:cs typeface="+mn-ea"/>
              <a:sym typeface="+mn-lt"/>
            </a:endParaRPr>
          </a:p>
        </p:txBody>
      </p:sp>
      <p:sp>
        <p:nvSpPr>
          <p:cNvPr id="60419" name="Footer Placeholder 3">
            <a:extLst>
              <a:ext uri="{FF2B5EF4-FFF2-40B4-BE49-F238E27FC236}">
                <a16:creationId xmlns:a16="http://schemas.microsoft.com/office/drawing/2014/main" id="{8ED93296-E15C-FC59-F414-01B0B3A71F4A}"/>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5" name="Content Placeholder 2">
            <a:extLst>
              <a:ext uri="{FF2B5EF4-FFF2-40B4-BE49-F238E27FC236}">
                <a16:creationId xmlns:a16="http://schemas.microsoft.com/office/drawing/2014/main" id="{9E533B97-98BB-4100-BE86-EB6F2D9E0B7C}"/>
              </a:ext>
            </a:extLst>
          </p:cNvPr>
          <p:cNvSpPr txBox="1">
            <a:spLocks noChangeArrowheads="1"/>
          </p:cNvSpPr>
          <p:nvPr/>
        </p:nvSpPr>
        <p:spPr>
          <a:xfrm>
            <a:off x="1091255" y="1558924"/>
            <a:ext cx="10213384" cy="47974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zh-CN" dirty="0" err="1">
                <a:solidFill>
                  <a:srgbClr val="0070C0"/>
                </a:solidFill>
                <a:latin typeface="+mn-lt"/>
                <a:cs typeface="+mn-ea"/>
                <a:sym typeface="+mn-lt"/>
              </a:rPr>
              <a:t>性能要素</a:t>
            </a:r>
            <a:endParaRPr lang="en-US" altLang="zh-CN" dirty="0">
              <a:solidFill>
                <a:srgbClr val="0070C0"/>
              </a:solidFill>
              <a:latin typeface="+mn-lt"/>
              <a:cs typeface="+mn-ea"/>
              <a:sym typeface="+mn-lt"/>
            </a:endParaRPr>
          </a:p>
          <a:p>
            <a:pPr lvl="2"/>
            <a:r>
              <a:rPr lang="en-US" altLang="zh-CN" dirty="0" err="1">
                <a:latin typeface="+mn-lt"/>
                <a:cs typeface="+mn-ea"/>
                <a:sym typeface="+mn-lt"/>
              </a:rPr>
              <a:t>它目前的驱动方式</a:t>
            </a:r>
            <a:endParaRPr lang="en-US" altLang="zh-CN" dirty="0">
              <a:latin typeface="+mn-lt"/>
              <a:cs typeface="+mn-ea"/>
              <a:sym typeface="+mn-lt"/>
            </a:endParaRPr>
          </a:p>
          <a:p>
            <a:pPr lvl="1"/>
            <a:r>
              <a:rPr lang="en-US" altLang="zh-CN" dirty="0" err="1">
                <a:solidFill>
                  <a:srgbClr val="0070C0"/>
                </a:solidFill>
                <a:latin typeface="+mn-lt"/>
                <a:cs typeface="+mn-ea"/>
                <a:sym typeface="+mn-lt"/>
              </a:rPr>
              <a:t>出租车司机在三个车道之间迅速向左转弯</a:t>
            </a:r>
            <a:r>
              <a:rPr lang="en-US" altLang="zh-CN" dirty="0">
                <a:solidFill>
                  <a:srgbClr val="0070C0"/>
                </a:solidFill>
                <a:latin typeface="+mn-lt"/>
                <a:cs typeface="+mn-ea"/>
                <a:sym typeface="+mn-lt"/>
              </a:rPr>
              <a:t>。</a:t>
            </a:r>
          </a:p>
          <a:p>
            <a:pPr lvl="2"/>
            <a:r>
              <a:rPr lang="zh-CN" altLang="en-US" dirty="0">
                <a:latin typeface="+mn-lt"/>
                <a:cs typeface="+mn-ea"/>
                <a:sym typeface="+mn-lt"/>
              </a:rPr>
              <a:t>批评器</a:t>
            </a:r>
            <a:r>
              <a:rPr lang="en-US" altLang="zh-CN" dirty="0" err="1">
                <a:latin typeface="+mn-lt"/>
                <a:cs typeface="+mn-ea"/>
                <a:sym typeface="+mn-lt"/>
              </a:rPr>
              <a:t>注意到乘客及其他司机使用了震惊的言辞，并</a:t>
            </a:r>
            <a:r>
              <a:rPr lang="zh-CN" altLang="en-US" dirty="0">
                <a:latin typeface="+mn-lt"/>
                <a:cs typeface="+mn-ea"/>
                <a:sym typeface="+mn-lt"/>
              </a:rPr>
              <a:t>指出这是</a:t>
            </a:r>
            <a:r>
              <a:rPr lang="en-US" altLang="zh-CN" dirty="0" err="1">
                <a:latin typeface="+mn-lt"/>
                <a:cs typeface="+mn-ea"/>
                <a:sym typeface="+mn-lt"/>
              </a:rPr>
              <a:t>不良行为</a:t>
            </a:r>
            <a:r>
              <a:rPr lang="en-US" altLang="zh-CN" dirty="0">
                <a:latin typeface="+mn-lt"/>
                <a:cs typeface="+mn-ea"/>
                <a:sym typeface="+mn-lt"/>
              </a:rPr>
              <a:t>。</a:t>
            </a:r>
          </a:p>
          <a:p>
            <a:pPr lvl="2"/>
            <a:r>
              <a:rPr lang="en-US" altLang="zh-CN" dirty="0" err="1">
                <a:latin typeface="+mn-lt"/>
                <a:cs typeface="+mn-ea"/>
                <a:sym typeface="+mn-lt"/>
              </a:rPr>
              <a:t>学习要素修改未来的表现要素</a:t>
            </a:r>
            <a:r>
              <a:rPr lang="en-US" altLang="zh-CN" dirty="0">
                <a:latin typeface="+mn-lt"/>
                <a:cs typeface="+mn-ea"/>
                <a:sym typeface="+mn-lt"/>
              </a:rPr>
              <a:t>。</a:t>
            </a:r>
          </a:p>
          <a:p>
            <a:pPr lvl="2"/>
            <a:r>
              <a:rPr lang="en-US" altLang="zh-CN" dirty="0" err="1">
                <a:latin typeface="+mn-lt"/>
                <a:cs typeface="+mn-ea"/>
                <a:sym typeface="+mn-lt"/>
              </a:rPr>
              <a:t>问题生成器建议在不同路况下进行一项名为“刹车”的实验</a:t>
            </a:r>
            <a:r>
              <a:rPr lang="en-US" altLang="zh-CN" dirty="0">
                <a:latin typeface="+mn-lt"/>
                <a:cs typeface="+mn-ea"/>
                <a:sym typeface="+mn-lt"/>
              </a:rPr>
              <a:t>。</a:t>
            </a:r>
          </a:p>
          <a:p>
            <a:pPr lvl="1"/>
            <a:r>
              <a:rPr lang="en-US" altLang="zh-CN" dirty="0">
                <a:latin typeface="+mn-lt"/>
                <a:cs typeface="+mn-ea"/>
                <a:sym typeface="+mn-lt"/>
              </a:rPr>
              <a:t> </a:t>
            </a:r>
            <a:r>
              <a:rPr lang="en-US" altLang="zh-CN" dirty="0" err="1">
                <a:solidFill>
                  <a:srgbClr val="0070C0"/>
                </a:solidFill>
                <a:latin typeface="+mn-lt"/>
                <a:cs typeface="+mn-ea"/>
                <a:sym typeface="+mn-lt"/>
              </a:rPr>
              <a:t>探索与开发</a:t>
            </a:r>
            <a:endParaRPr lang="en-US" altLang="zh-CN" dirty="0">
              <a:solidFill>
                <a:srgbClr val="0070C0"/>
              </a:solidFill>
              <a:latin typeface="+mn-lt"/>
              <a:cs typeface="+mn-ea"/>
              <a:sym typeface="+mn-lt"/>
            </a:endParaRPr>
          </a:p>
          <a:p>
            <a:pPr lvl="2"/>
            <a:r>
              <a:rPr lang="en-US" altLang="zh-CN" dirty="0" err="1">
                <a:latin typeface="+mn-lt"/>
                <a:cs typeface="+mn-ea"/>
                <a:sym typeface="+mn-lt"/>
              </a:rPr>
              <a:t>学习体验短期内可能代价高昂</a:t>
            </a:r>
            <a:r>
              <a:rPr lang="en-US" altLang="zh-CN" dirty="0">
                <a:latin typeface="+mn-lt"/>
                <a:cs typeface="+mn-ea"/>
                <a:sym typeface="+mn-lt"/>
              </a:rPr>
              <a:t>。</a:t>
            </a:r>
          </a:p>
          <a:p>
            <a:pPr lvl="2"/>
            <a:r>
              <a:rPr lang="en-US" altLang="zh-CN" dirty="0" err="1">
                <a:latin typeface="+mn-lt"/>
                <a:cs typeface="+mn-ea"/>
                <a:sym typeface="+mn-lt"/>
              </a:rPr>
              <a:t>其他司机的</a:t>
            </a:r>
            <a:r>
              <a:rPr lang="zh-CN" altLang="en-US" dirty="0">
                <a:latin typeface="+mn-lt"/>
                <a:cs typeface="+mn-ea"/>
                <a:sym typeface="+mn-lt"/>
              </a:rPr>
              <a:t>言论的影响</a:t>
            </a:r>
            <a:endParaRPr lang="en-US" altLang="zh-CN" dirty="0">
              <a:latin typeface="+mn-lt"/>
              <a:cs typeface="+mn-ea"/>
              <a:sym typeface="+mn-lt"/>
            </a:endParaRPr>
          </a:p>
          <a:p>
            <a:pPr lvl="2"/>
            <a:r>
              <a:rPr lang="en-US" altLang="zh-CN" dirty="0" err="1">
                <a:latin typeface="+mn-lt"/>
                <a:cs typeface="+mn-ea"/>
                <a:sym typeface="+mn-lt"/>
              </a:rPr>
              <a:t>乘客更少</a:t>
            </a:r>
            <a:endParaRPr lang="en-US" altLang="zh-CN" dirty="0">
              <a:latin typeface="+mn-lt"/>
              <a:cs typeface="+mn-ea"/>
              <a:sym typeface="+mn-lt"/>
            </a:endParaRPr>
          </a:p>
          <a:p>
            <a:pPr lvl="1"/>
            <a:endParaRPr lang="en-US" altLang="zh-CN" dirty="0">
              <a:latin typeface="+mn-lt"/>
              <a:cs typeface="+mn-ea"/>
              <a:sym typeface="+mn-lt"/>
            </a:endParaRPr>
          </a:p>
          <a:p>
            <a:pPr lvl="2"/>
            <a:endParaRPr lang="en-US" altLang="zh-CN" dirty="0">
              <a:latin typeface="+mn-lt"/>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500"/>
                                        <p:tgtEl>
                                          <p:spTgt spid="5">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500"/>
                                        <p:tgtEl>
                                          <p:spTgt spid="5">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5">
                                            <p:txEl>
                                              <p:pRg st="9" end="9"/>
                                            </p:txEl>
                                          </p:spTgt>
                                        </p:tgtEl>
                                        <p:attrNameLst>
                                          <p:attrName>style.visibility</p:attrName>
                                        </p:attrNameLst>
                                      </p:cBhvr>
                                      <p:to>
                                        <p:strVal val="visible"/>
                                      </p:to>
                                    </p:set>
                                    <p:animEffect transition="in" filter="fade">
                                      <p:cBhvr>
                                        <p:cTn id="38"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C213AEB7-A3D2-B2B4-426F-CDD9122BA692}"/>
              </a:ext>
            </a:extLst>
          </p:cNvPr>
          <p:cNvSpPr>
            <a:spLocks noGrp="1" noChangeArrowheads="1"/>
          </p:cNvSpPr>
          <p:nvPr>
            <p:ph type="title"/>
          </p:nvPr>
        </p:nvSpPr>
        <p:spPr/>
        <p:txBody>
          <a:bodyPr>
            <a:normAutofit/>
          </a:bodyPr>
          <a:lstStyle/>
          <a:p>
            <a:r>
              <a:rPr lang="en-US" altLang="zh-CN" sz="3240" dirty="0">
                <a:solidFill>
                  <a:srgbClr val="515223"/>
                </a:solidFill>
                <a:latin typeface="+mn-lt"/>
                <a:ea typeface="+mn-ea"/>
                <a:cs typeface="+mn-ea"/>
                <a:sym typeface="+mn-lt"/>
              </a:rPr>
              <a:t>大局观：面向基于模型的智能体的AI</a:t>
            </a:r>
          </a:p>
        </p:txBody>
      </p:sp>
      <p:sp>
        <p:nvSpPr>
          <p:cNvPr id="61442" name="Footer Placeholder 3">
            <a:extLst>
              <a:ext uri="{FF2B5EF4-FFF2-40B4-BE49-F238E27FC236}">
                <a16:creationId xmlns:a16="http://schemas.microsoft.com/office/drawing/2014/main" id="{5121ABF3-9164-60E2-917E-45C574C54E9C}"/>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61444" name="Content Placeholder 2">
            <a:extLst>
              <a:ext uri="{FF2B5EF4-FFF2-40B4-BE49-F238E27FC236}">
                <a16:creationId xmlns:a16="http://schemas.microsoft.com/office/drawing/2014/main" id="{994D12A9-0052-0D2B-132F-899BA10EF0E2}"/>
              </a:ext>
            </a:extLst>
          </p:cNvPr>
          <p:cNvSpPr>
            <a:spLocks noGrp="1" noChangeArrowheads="1"/>
          </p:cNvSpPr>
          <p:nvPr>
            <p:ph sz="quarter" idx="4294967295"/>
          </p:nvPr>
        </p:nvSpPr>
        <p:spPr>
          <a:xfrm>
            <a:off x="5330312" y="1879780"/>
            <a:ext cx="1295400" cy="489155"/>
          </a:xfrm>
          <a:ln>
            <a:solidFill>
              <a:schemeClr val="tx1"/>
            </a:solidFill>
            <a:miter lim="800000"/>
            <a:headEnd/>
            <a:tailEnd/>
          </a:ln>
        </p:spPr>
        <p:txBody>
          <a:bodyPr/>
          <a:lstStyle/>
          <a:p>
            <a:pPr algn="ctr" eaLnBrk="1" hangingPunct="1">
              <a:buFont typeface="Wingdings 2" panose="05020102010507070707" pitchFamily="18" charset="2"/>
              <a:buNone/>
            </a:pPr>
            <a:r>
              <a:rPr lang="en-US" altLang="zh-CN" sz="2800" dirty="0">
                <a:latin typeface="+mn-lt"/>
                <a:cs typeface="+mn-ea"/>
                <a:sym typeface="+mn-lt"/>
              </a:rPr>
              <a:t>行动</a:t>
            </a:r>
          </a:p>
        </p:txBody>
      </p:sp>
      <p:sp>
        <p:nvSpPr>
          <p:cNvPr id="61445" name="Content Placeholder 2">
            <a:extLst>
              <a:ext uri="{FF2B5EF4-FFF2-40B4-BE49-F238E27FC236}">
                <a16:creationId xmlns:a16="http://schemas.microsoft.com/office/drawing/2014/main" id="{41AE5148-E8AF-420A-7B04-E06DA04453AF}"/>
              </a:ext>
            </a:extLst>
          </p:cNvPr>
          <p:cNvSpPr txBox="1">
            <a:spLocks noChangeArrowheads="1"/>
          </p:cNvSpPr>
          <p:nvPr/>
        </p:nvSpPr>
        <p:spPr bwMode="auto">
          <a:xfrm>
            <a:off x="7825248" y="3579813"/>
            <a:ext cx="1570703" cy="5318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273050" indent="-273050">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7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学习</a:t>
            </a:r>
          </a:p>
        </p:txBody>
      </p:sp>
      <p:sp>
        <p:nvSpPr>
          <p:cNvPr id="61446" name="Content Placeholder 2">
            <a:extLst>
              <a:ext uri="{FF2B5EF4-FFF2-40B4-BE49-F238E27FC236}">
                <a16:creationId xmlns:a16="http://schemas.microsoft.com/office/drawing/2014/main" id="{A18077B8-BE9B-9F6D-1CF5-C57AB40648CA}"/>
              </a:ext>
            </a:extLst>
          </p:cNvPr>
          <p:cNvSpPr txBox="1">
            <a:spLocks noChangeArrowheads="1"/>
          </p:cNvSpPr>
          <p:nvPr/>
        </p:nvSpPr>
        <p:spPr bwMode="auto">
          <a:xfrm>
            <a:off x="2438400" y="3582987"/>
            <a:ext cx="2057400" cy="5318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273050" indent="-273050">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7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知识</a:t>
            </a:r>
          </a:p>
        </p:txBody>
      </p:sp>
      <p:sp>
        <p:nvSpPr>
          <p:cNvPr id="61447" name="Content Placeholder 2">
            <a:extLst>
              <a:ext uri="{FF2B5EF4-FFF2-40B4-BE49-F238E27FC236}">
                <a16:creationId xmlns:a16="http://schemas.microsoft.com/office/drawing/2014/main" id="{043FDEC5-0F94-E39D-10BB-9231DC7E2D98}"/>
              </a:ext>
            </a:extLst>
          </p:cNvPr>
          <p:cNvSpPr txBox="1">
            <a:spLocks noChangeArrowheads="1"/>
          </p:cNvSpPr>
          <p:nvPr/>
        </p:nvSpPr>
        <p:spPr bwMode="auto">
          <a:xfrm>
            <a:off x="2438400" y="4266559"/>
            <a:ext cx="17526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逻辑</a:t>
            </a:r>
          </a:p>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概率</a:t>
            </a:r>
          </a:p>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启发式方法</a:t>
            </a:r>
          </a:p>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推理</a:t>
            </a:r>
          </a:p>
        </p:txBody>
      </p:sp>
      <p:cxnSp>
        <p:nvCxnSpPr>
          <p:cNvPr id="61448" name="Straight Arrow Connector 11">
            <a:extLst>
              <a:ext uri="{FF2B5EF4-FFF2-40B4-BE49-F238E27FC236}">
                <a16:creationId xmlns:a16="http://schemas.microsoft.com/office/drawing/2014/main" id="{279AE0EF-CAC9-8194-4F22-30680A2F6500}"/>
              </a:ext>
            </a:extLst>
          </p:cNvPr>
          <p:cNvCxnSpPr>
            <a:cxnSpLocks noChangeShapeType="1"/>
            <a:stCxn id="61446" idx="0"/>
            <a:endCxn id="61444" idx="2"/>
          </p:cNvCxnSpPr>
          <p:nvPr/>
        </p:nvCxnSpPr>
        <p:spPr bwMode="auto">
          <a:xfrm flipV="1">
            <a:off x="3467100" y="2368935"/>
            <a:ext cx="2510912" cy="1214052"/>
          </a:xfrm>
          <a:prstGeom prst="straightConnector1">
            <a:avLst/>
          </a:prstGeom>
          <a:noFill/>
          <a:ln w="28575">
            <a:solidFill>
              <a:schemeClr val="accent1"/>
            </a:solidFill>
            <a:prstDash val="sysDash"/>
            <a:round/>
            <a:headEnd/>
            <a:tailEnd type="arrow" w="med" len="med"/>
          </a:ln>
          <a:effectLst>
            <a:outerShdw dist="25400" dir="5400000" rotWithShape="0">
              <a:srgbClr val="808080">
                <a:alpha val="34999"/>
              </a:srgbClr>
            </a:outerShdw>
          </a:effectLst>
          <a:extLst>
            <a:ext uri="{909E8E84-426E-40DD-AFC4-6F175D3DCCD1}">
              <a14:hiddenFill xmlns:a14="http://schemas.microsoft.com/office/drawing/2010/main">
                <a:noFill/>
              </a14:hiddenFill>
            </a:ext>
          </a:extLst>
        </p:spPr>
      </p:cxnSp>
      <p:sp>
        <p:nvSpPr>
          <p:cNvPr id="61449" name="Content Placeholder 2">
            <a:extLst>
              <a:ext uri="{FF2B5EF4-FFF2-40B4-BE49-F238E27FC236}">
                <a16:creationId xmlns:a16="http://schemas.microsoft.com/office/drawing/2014/main" id="{957F2F41-0281-E95B-6187-72F6F3D4DEE1}"/>
              </a:ext>
            </a:extLst>
          </p:cNvPr>
          <p:cNvSpPr txBox="1">
            <a:spLocks noChangeArrowheads="1"/>
          </p:cNvSpPr>
          <p:nvPr/>
        </p:nvSpPr>
        <p:spPr bwMode="auto">
          <a:xfrm>
            <a:off x="2416275" y="1807292"/>
            <a:ext cx="2590800" cy="1399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规划</a:t>
            </a:r>
          </a:p>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决策理论</a:t>
            </a:r>
          </a:p>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博弈论</a:t>
            </a:r>
          </a:p>
        </p:txBody>
      </p:sp>
      <p:cxnSp>
        <p:nvCxnSpPr>
          <p:cNvPr id="61450" name="Straight Arrow Connector 15">
            <a:extLst>
              <a:ext uri="{FF2B5EF4-FFF2-40B4-BE49-F238E27FC236}">
                <a16:creationId xmlns:a16="http://schemas.microsoft.com/office/drawing/2014/main" id="{38F36E8B-574E-E5E4-DE20-10D9061031E4}"/>
              </a:ext>
            </a:extLst>
          </p:cNvPr>
          <p:cNvCxnSpPr>
            <a:cxnSpLocks noChangeShapeType="1"/>
            <a:stCxn id="61444" idx="2"/>
            <a:endCxn id="61444" idx="2"/>
          </p:cNvCxnSpPr>
          <p:nvPr/>
        </p:nvCxnSpPr>
        <p:spPr bwMode="auto">
          <a:xfrm>
            <a:off x="5978012" y="2368935"/>
            <a:ext cx="0" cy="0"/>
          </a:xfrm>
          <a:prstGeom prst="straightConnector1">
            <a:avLst/>
          </a:prstGeom>
          <a:noFill/>
          <a:ln w="11429">
            <a:solidFill>
              <a:schemeClr val="accent1"/>
            </a:solidFill>
            <a:prstDash val="sysDash"/>
            <a:round/>
            <a:headEnd/>
            <a:tailEnd type="arrow" w="med" len="med"/>
          </a:ln>
          <a:effectLst>
            <a:outerShdw dist="25400" dir="5400000" rotWithShape="0">
              <a:srgbClr val="808080">
                <a:alpha val="34999"/>
              </a:srgbClr>
            </a:outerShdw>
          </a:effectLst>
          <a:extLst>
            <a:ext uri="{909E8E84-426E-40DD-AFC4-6F175D3DCCD1}">
              <a14:hiddenFill xmlns:a14="http://schemas.microsoft.com/office/drawing/2010/main">
                <a:noFill/>
              </a14:hiddenFill>
            </a:ext>
          </a:extLst>
        </p:spPr>
      </p:cxnSp>
      <p:sp>
        <p:nvSpPr>
          <p:cNvPr id="61451" name="Content Placeholder 2">
            <a:extLst>
              <a:ext uri="{FF2B5EF4-FFF2-40B4-BE49-F238E27FC236}">
                <a16:creationId xmlns:a16="http://schemas.microsoft.com/office/drawing/2014/main" id="{E9422A57-863D-A482-EDE6-BC4415DD162D}"/>
              </a:ext>
            </a:extLst>
          </p:cNvPr>
          <p:cNvSpPr txBox="1">
            <a:spLocks noChangeArrowheads="1"/>
          </p:cNvSpPr>
          <p:nvPr/>
        </p:nvSpPr>
        <p:spPr bwMode="auto">
          <a:xfrm>
            <a:off x="6837106" y="2054994"/>
            <a:ext cx="2590800" cy="904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强化</a:t>
            </a:r>
          </a:p>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学习</a:t>
            </a:r>
          </a:p>
        </p:txBody>
      </p:sp>
      <p:cxnSp>
        <p:nvCxnSpPr>
          <p:cNvPr id="61452" name="Straight Arrow Connector 19">
            <a:extLst>
              <a:ext uri="{FF2B5EF4-FFF2-40B4-BE49-F238E27FC236}">
                <a16:creationId xmlns:a16="http://schemas.microsoft.com/office/drawing/2014/main" id="{3B443D8F-7335-EAF0-E652-2D96645378EE}"/>
              </a:ext>
            </a:extLst>
          </p:cNvPr>
          <p:cNvCxnSpPr>
            <a:cxnSpLocks noChangeShapeType="1"/>
            <a:stCxn id="61445" idx="1"/>
            <a:endCxn id="61446" idx="3"/>
          </p:cNvCxnSpPr>
          <p:nvPr/>
        </p:nvCxnSpPr>
        <p:spPr bwMode="auto">
          <a:xfrm flipH="1">
            <a:off x="4495800" y="3845720"/>
            <a:ext cx="3329448" cy="3174"/>
          </a:xfrm>
          <a:prstGeom prst="straightConnector1">
            <a:avLst/>
          </a:prstGeom>
          <a:noFill/>
          <a:ln w="28575">
            <a:solidFill>
              <a:schemeClr val="accent1"/>
            </a:solidFill>
            <a:prstDash val="sysDash"/>
            <a:round/>
            <a:headEnd type="none" w="med" len="med"/>
            <a:tailEnd type="arrow" w="med" len="med"/>
          </a:ln>
          <a:effectLst>
            <a:outerShdw dist="25400" dir="5400000" rotWithShape="0">
              <a:srgbClr val="808080">
                <a:alpha val="34999"/>
              </a:srgbClr>
            </a:outerShdw>
          </a:effectLst>
          <a:extLst>
            <a:ext uri="{909E8E84-426E-40DD-AFC4-6F175D3DCCD1}">
              <a14:hiddenFill xmlns:a14="http://schemas.microsoft.com/office/drawing/2010/main">
                <a:noFill/>
              </a14:hiddenFill>
            </a:ext>
          </a:extLst>
        </p:spPr>
      </p:cxnSp>
      <p:sp>
        <p:nvSpPr>
          <p:cNvPr id="61453" name="Content Placeholder 2">
            <a:extLst>
              <a:ext uri="{FF2B5EF4-FFF2-40B4-BE49-F238E27FC236}">
                <a16:creationId xmlns:a16="http://schemas.microsoft.com/office/drawing/2014/main" id="{9CB1D25C-6F8D-4408-EC73-E715103F4613}"/>
              </a:ext>
            </a:extLst>
          </p:cNvPr>
          <p:cNvSpPr txBox="1">
            <a:spLocks noChangeArrowheads="1"/>
          </p:cNvSpPr>
          <p:nvPr/>
        </p:nvSpPr>
        <p:spPr bwMode="auto">
          <a:xfrm>
            <a:off x="4674624" y="4022365"/>
            <a:ext cx="2971800" cy="11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机器学习</a:t>
            </a:r>
          </a:p>
          <a:p>
            <a:pPr marL="273050" marR="0" lvl="0" indent="-273050" algn="ctr" defTabSz="914400" rtl="0" eaLnBrk="1" fontAlgn="auto" latinLnBrk="0" hangingPunct="1">
              <a:lnSpc>
                <a:spcPct val="100000"/>
              </a:lnSpc>
              <a:spcBef>
                <a:spcPct val="20000"/>
              </a:spcBef>
              <a:spcAft>
                <a:spcPts val="0"/>
              </a:spcAft>
              <a:buClr>
                <a:srgbClr val="505122"/>
              </a:buClr>
              <a:buSzPct val="85000"/>
              <a:buFont typeface="Wingdings 2" panose="05020102010507070707" pitchFamily="18" charset="2"/>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统计学</a:t>
            </a:r>
          </a:p>
        </p:txBody>
      </p:sp>
      <p:cxnSp>
        <p:nvCxnSpPr>
          <p:cNvPr id="24" name="Straight Arrow Connector 11">
            <a:extLst>
              <a:ext uri="{FF2B5EF4-FFF2-40B4-BE49-F238E27FC236}">
                <a16:creationId xmlns:a16="http://schemas.microsoft.com/office/drawing/2014/main" id="{6C39B274-2E56-8E04-1A2B-33DB2482F0CD}"/>
              </a:ext>
            </a:extLst>
          </p:cNvPr>
          <p:cNvCxnSpPr>
            <a:cxnSpLocks noChangeShapeType="1"/>
            <a:stCxn id="61444" idx="2"/>
            <a:endCxn id="61445" idx="0"/>
          </p:cNvCxnSpPr>
          <p:nvPr/>
        </p:nvCxnSpPr>
        <p:spPr bwMode="auto">
          <a:xfrm>
            <a:off x="5978012" y="2368935"/>
            <a:ext cx="2632588" cy="1210878"/>
          </a:xfrm>
          <a:prstGeom prst="straightConnector1">
            <a:avLst/>
          </a:prstGeom>
          <a:noFill/>
          <a:ln w="28575">
            <a:solidFill>
              <a:schemeClr val="accent1"/>
            </a:solidFill>
            <a:prstDash val="sysDash"/>
            <a:round/>
            <a:headEnd type="none" w="med" len="med"/>
            <a:tailEnd type="arrow" w="med" len="med"/>
          </a:ln>
          <a:effectLst>
            <a:outerShdw dist="25400" dir="5400000" rotWithShape="0">
              <a:srgbClr val="808080">
                <a:alpha val="34999"/>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7FBA01EE-6620-5897-E31D-51EA3D6DBFE4}"/>
              </a:ext>
            </a:extLst>
          </p:cNvPr>
          <p:cNvSpPr>
            <a:spLocks noGrp="1" noChangeArrowheads="1"/>
          </p:cNvSpPr>
          <p:nvPr>
            <p:ph type="title"/>
          </p:nvPr>
        </p:nvSpPr>
        <p:spPr/>
        <p:txBody>
          <a:bodyPr/>
          <a:lstStyle/>
          <a:p>
            <a:r>
              <a:rPr lang="zh-CN" altLang="en-US" sz="3600" dirty="0">
                <a:solidFill>
                  <a:srgbClr val="515223"/>
                </a:solidFill>
                <a:latin typeface="+mn-lt"/>
                <a:ea typeface="+mn-ea"/>
                <a:cs typeface="+mn-ea"/>
                <a:sym typeface="+mn-lt"/>
              </a:rPr>
              <a:t>总结</a:t>
            </a:r>
            <a:endParaRPr lang="en-US" altLang="zh-CN" sz="3600" dirty="0">
              <a:solidFill>
                <a:srgbClr val="515223"/>
              </a:solidFill>
              <a:latin typeface="+mn-lt"/>
              <a:ea typeface="+mn-ea"/>
              <a:cs typeface="+mn-ea"/>
              <a:sym typeface="+mn-lt"/>
            </a:endParaRPr>
          </a:p>
        </p:txBody>
      </p:sp>
      <p:sp>
        <p:nvSpPr>
          <p:cNvPr id="62467" name="Footer Placeholder 3">
            <a:extLst>
              <a:ext uri="{FF2B5EF4-FFF2-40B4-BE49-F238E27FC236}">
                <a16:creationId xmlns:a16="http://schemas.microsoft.com/office/drawing/2014/main" id="{0E17004A-1B6D-3B90-6AB1-A261FE7CFC4C}"/>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62466" name="Content Placeholder 2">
            <a:extLst>
              <a:ext uri="{FF2B5EF4-FFF2-40B4-BE49-F238E27FC236}">
                <a16:creationId xmlns:a16="http://schemas.microsoft.com/office/drawing/2014/main" id="{B8A5796F-4CC0-AF9F-42B0-2223A5972341}"/>
              </a:ext>
            </a:extLst>
          </p:cNvPr>
          <p:cNvSpPr>
            <a:spLocks noGrp="1" noChangeArrowheads="1"/>
          </p:cNvSpPr>
          <p:nvPr>
            <p:ph sz="quarter" idx="4294967295"/>
          </p:nvPr>
        </p:nvSpPr>
        <p:spPr>
          <a:xfrm>
            <a:off x="1091254" y="1578794"/>
            <a:ext cx="10574719" cy="4572000"/>
          </a:xfrm>
        </p:spPr>
        <p:txBody>
          <a:bodyPr/>
          <a:lstStyle/>
          <a:p>
            <a:pPr>
              <a:lnSpc>
                <a:spcPct val="100000"/>
              </a:lnSpc>
            </a:pPr>
            <a:r>
              <a:rPr lang="en-US" altLang="zh-CN" sz="2400" dirty="0">
                <a:latin typeface="+mn-lt"/>
                <a:cs typeface="+mn-ea"/>
                <a:sym typeface="+mn-lt"/>
              </a:rPr>
              <a:t>智能体可以用PEAS来描述。</a:t>
            </a:r>
          </a:p>
          <a:p>
            <a:pPr>
              <a:lnSpc>
                <a:spcPct val="100000"/>
              </a:lnSpc>
            </a:pPr>
            <a:r>
              <a:rPr lang="en-US" altLang="zh-CN" sz="2400" dirty="0">
                <a:latin typeface="+mn-lt"/>
                <a:cs typeface="+mn-ea"/>
                <a:sym typeface="+mn-lt"/>
              </a:rPr>
              <a:t>环境可由若干关键属性描述：64种环境类型。</a:t>
            </a:r>
          </a:p>
          <a:p>
            <a:pPr>
              <a:lnSpc>
                <a:spcPct val="100000"/>
              </a:lnSpc>
            </a:pPr>
            <a:r>
              <a:rPr lang="en-US" altLang="zh-CN" sz="2400" dirty="0">
                <a:latin typeface="+mn-lt"/>
                <a:cs typeface="+mn-ea"/>
                <a:sym typeface="+mn-lt"/>
              </a:rPr>
              <a:t>一个理性智能体最大化其PEAS的性能指标。</a:t>
            </a:r>
          </a:p>
          <a:p>
            <a:pPr>
              <a:lnSpc>
                <a:spcPct val="100000"/>
              </a:lnSpc>
            </a:pPr>
            <a:r>
              <a:rPr lang="zh-CN" altLang="en-US" sz="2400" dirty="0">
                <a:latin typeface="+mn-lt"/>
                <a:cs typeface="+mn-ea"/>
                <a:sym typeface="+mn-lt"/>
              </a:rPr>
              <a:t>性能</a:t>
            </a:r>
            <a:r>
              <a:rPr lang="en-US" altLang="zh-CN" sz="2400" dirty="0" err="1">
                <a:latin typeface="+mn-lt"/>
                <a:cs typeface="+mn-ea"/>
                <a:sym typeface="+mn-lt"/>
              </a:rPr>
              <a:t>指标取决于</a:t>
            </a:r>
            <a:r>
              <a:rPr lang="zh-CN" altLang="en-US" sz="2400" b="1" dirty="0">
                <a:latin typeface="+mn-lt"/>
                <a:cs typeface="+mn-ea"/>
                <a:sym typeface="+mn-lt"/>
              </a:rPr>
              <a:t>智能体</a:t>
            </a:r>
            <a:r>
              <a:rPr lang="en-US" altLang="zh-CN" sz="2400" b="1" dirty="0" err="1">
                <a:latin typeface="+mn-lt"/>
                <a:cs typeface="+mn-ea"/>
                <a:sym typeface="+mn-lt"/>
              </a:rPr>
              <a:t>功能</a:t>
            </a:r>
            <a:r>
              <a:rPr lang="en-US" altLang="zh-CN" sz="2400" dirty="0">
                <a:latin typeface="+mn-lt"/>
                <a:cs typeface="+mn-ea"/>
                <a:sym typeface="+mn-lt"/>
              </a:rPr>
              <a:t>.</a:t>
            </a:r>
          </a:p>
          <a:p>
            <a:pPr>
              <a:lnSpc>
                <a:spcPct val="100000"/>
              </a:lnSpc>
            </a:pPr>
            <a:r>
              <a:rPr lang="zh-CN" altLang="en-US" sz="2400" b="1" dirty="0">
                <a:latin typeface="+mn-lt"/>
                <a:cs typeface="+mn-ea"/>
                <a:sym typeface="+mn-lt"/>
              </a:rPr>
              <a:t>智能体</a:t>
            </a:r>
            <a:r>
              <a:rPr lang="en-US" altLang="zh-CN" sz="2400" b="1" dirty="0" err="1">
                <a:latin typeface="+mn-lt"/>
                <a:cs typeface="+mn-ea"/>
                <a:sym typeface="+mn-lt"/>
              </a:rPr>
              <a:t>程序实施</a:t>
            </a:r>
            <a:r>
              <a:rPr lang="zh-CN" altLang="en-US" sz="2400" dirty="0">
                <a:latin typeface="+mn-lt"/>
                <a:cs typeface="+mn-ea"/>
                <a:sym typeface="+mn-lt"/>
              </a:rPr>
              <a:t>智能体</a:t>
            </a:r>
            <a:r>
              <a:rPr lang="en-US" altLang="zh-CN" sz="2400" dirty="0" err="1">
                <a:latin typeface="+mn-lt"/>
                <a:cs typeface="+mn-ea"/>
                <a:sym typeface="+mn-lt"/>
              </a:rPr>
              <a:t>功能</a:t>
            </a:r>
            <a:r>
              <a:rPr lang="en-US" altLang="zh-CN" sz="2400" dirty="0">
                <a:latin typeface="+mn-lt"/>
                <a:cs typeface="+mn-ea"/>
                <a:sym typeface="+mn-lt"/>
              </a:rPr>
              <a:t>。</a:t>
            </a:r>
          </a:p>
          <a:p>
            <a:pPr>
              <a:lnSpc>
                <a:spcPct val="100000"/>
              </a:lnSpc>
            </a:pPr>
            <a:r>
              <a:rPr lang="en-US" altLang="zh-CN" sz="2400" dirty="0">
                <a:latin typeface="+mn-lt"/>
                <a:cs typeface="+mn-ea"/>
                <a:sym typeface="+mn-lt"/>
              </a:rPr>
              <a:t>3 </a:t>
            </a:r>
            <a:r>
              <a:rPr lang="en-US" altLang="zh-CN" sz="2400" dirty="0" err="1">
                <a:latin typeface="+mn-lt"/>
                <a:cs typeface="+mn-ea"/>
                <a:sym typeface="+mn-lt"/>
              </a:rPr>
              <a:t>主要</a:t>
            </a:r>
            <a:r>
              <a:rPr lang="en-US" altLang="zh-CN" sz="2400" b="1" dirty="0" err="1">
                <a:latin typeface="+mn-lt"/>
                <a:cs typeface="+mn-ea"/>
                <a:sym typeface="+mn-lt"/>
              </a:rPr>
              <a:t>架构</a:t>
            </a:r>
            <a:r>
              <a:rPr lang="en-US" altLang="zh-CN" sz="2400" dirty="0">
                <a:latin typeface="+mn-lt"/>
                <a:cs typeface="+mn-ea"/>
                <a:sym typeface="+mn-lt"/>
              </a:rPr>
              <a:t> </a:t>
            </a:r>
            <a:r>
              <a:rPr lang="en-US" altLang="zh-CN" sz="2400" dirty="0" err="1">
                <a:latin typeface="+mn-lt"/>
                <a:cs typeface="+mn-ea"/>
                <a:sym typeface="+mn-lt"/>
              </a:rPr>
              <a:t>适用于</a:t>
            </a:r>
            <a:r>
              <a:rPr lang="zh-CN" altLang="en-US" sz="2400" dirty="0">
                <a:latin typeface="+mn-lt"/>
                <a:cs typeface="+mn-ea"/>
                <a:sym typeface="+mn-lt"/>
              </a:rPr>
              <a:t>智能体</a:t>
            </a:r>
            <a:r>
              <a:rPr lang="en-US" altLang="zh-CN" sz="2400" dirty="0" err="1">
                <a:latin typeface="+mn-lt"/>
                <a:cs typeface="+mn-ea"/>
                <a:sym typeface="+mn-lt"/>
              </a:rPr>
              <a:t>程序</a:t>
            </a:r>
            <a:r>
              <a:rPr lang="en-US" altLang="zh-CN" sz="2400" dirty="0">
                <a:latin typeface="+mn-lt"/>
                <a:cs typeface="+mn-ea"/>
                <a:sym typeface="+mn-lt"/>
              </a:rPr>
              <a:t>。</a:t>
            </a:r>
          </a:p>
          <a:p>
            <a:pPr>
              <a:lnSpc>
                <a:spcPct val="100000"/>
              </a:lnSpc>
            </a:pPr>
            <a:r>
              <a:rPr lang="en-US" altLang="zh-CN" sz="2400" dirty="0">
                <a:latin typeface="+mn-lt"/>
                <a:cs typeface="+mn-ea"/>
                <a:sym typeface="+mn-lt"/>
              </a:rPr>
              <a:t> 在本课程中，我们将探讨一些常见且实用的环境/智能体架构组合。</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a:extLst>
              <a:ext uri="{FF2B5EF4-FFF2-40B4-BE49-F238E27FC236}">
                <a16:creationId xmlns:a16="http://schemas.microsoft.com/office/drawing/2014/main" id="{3CCF343B-4E0B-4154-8946-89391E5C2A8C}"/>
              </a:ext>
            </a:extLst>
          </p:cNvPr>
          <p:cNvSpPr>
            <a:spLocks noGrp="1"/>
          </p:cNvSpPr>
          <p:nvPr>
            <p:ph type="body" sz="quarter" idx="10"/>
          </p:nvPr>
        </p:nvSpPr>
        <p:spPr>
          <a:xfrm>
            <a:off x="3540868" y="2606037"/>
            <a:ext cx="7978032" cy="914400"/>
          </a:xfrm>
        </p:spPr>
        <p:txBody>
          <a:bodyPr>
            <a:normAutofit/>
          </a:bodyPr>
          <a:lstStyle/>
          <a:p>
            <a:pPr algn="r"/>
            <a:r>
              <a:rPr lang="zh-CN" altLang="en-US" dirty="0">
                <a:latin typeface="+mn-lt"/>
                <a:cs typeface="+mn-ea"/>
                <a:sym typeface="+mn-lt"/>
              </a:rPr>
              <a:t>感谢听讲！</a:t>
            </a:r>
          </a:p>
        </p:txBody>
      </p:sp>
      <p:sp>
        <p:nvSpPr>
          <p:cNvPr id="24" name="矩形 23">
            <a:extLst>
              <a:ext uri="{FF2B5EF4-FFF2-40B4-BE49-F238E27FC236}">
                <a16:creationId xmlns:a16="http://schemas.microsoft.com/office/drawing/2014/main" id="{F0177348-87C4-D14A-BF21-D2D4AA7D72F8}"/>
              </a:ext>
            </a:extLst>
          </p:cNvPr>
          <p:cNvSpPr/>
          <p:nvPr/>
        </p:nvSpPr>
        <p:spPr>
          <a:xfrm>
            <a:off x="8043723" y="4972130"/>
            <a:ext cx="3003067" cy="611514"/>
          </a:xfrm>
          <a:prstGeom prst="rect">
            <a:avLst/>
          </a:prstGeom>
        </p:spPr>
        <p:txBody>
          <a:bodyPr wrap="square" lIns="0" rIns="0">
            <a:spAutoFit/>
          </a:bodyPr>
          <a:lstStyle/>
          <a:p>
            <a:pPr algn="r">
              <a:lnSpc>
                <a:spcPct val="130000"/>
              </a:lnSpc>
            </a:pPr>
            <a:fld id="{BD616F6D-DDB6-4B4D-AE32-D7DF8DC7BBEA}" type="datetime1">
              <a:rPr lang="zh-CN" altLang="en-US" sz="2800" smtClean="0">
                <a:solidFill>
                  <a:schemeClr val="accent1"/>
                </a:solidFill>
                <a:cs typeface="+mn-ea"/>
                <a:sym typeface="+mn-lt"/>
              </a:rPr>
              <a:t>2026/3/9</a:t>
            </a:fld>
            <a:endParaRPr lang="zh-CN" altLang="en-US" sz="2800" dirty="0">
              <a:solidFill>
                <a:schemeClr val="accent1"/>
              </a:solidFill>
              <a:cs typeface="+mn-ea"/>
              <a:sym typeface="+mn-lt"/>
            </a:endParaRPr>
          </a:p>
        </p:txBody>
      </p:sp>
      <p:cxnSp>
        <p:nvCxnSpPr>
          <p:cNvPr id="27" name="直接连接符 2">
            <a:extLst>
              <a:ext uri="{FF2B5EF4-FFF2-40B4-BE49-F238E27FC236}">
                <a16:creationId xmlns:a16="http://schemas.microsoft.com/office/drawing/2014/main" id="{9E6BA09A-7C02-5045-83C7-33B2F2774BE1}"/>
              </a:ext>
            </a:extLst>
          </p:cNvPr>
          <p:cNvCxnSpPr/>
          <p:nvPr/>
        </p:nvCxnSpPr>
        <p:spPr>
          <a:xfrm>
            <a:off x="11226555" y="4069080"/>
            <a:ext cx="0" cy="1404000"/>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9564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f41cmiqp">
      <a:majorFont>
        <a:latin typeface="Arial" panose="020B06040202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41cmiqp">
      <a:majorFont>
        <a:latin typeface="Arial" panose="020B0604020202020204"/>
        <a:ea typeface="微软雅黑"/>
        <a:cs typeface=""/>
      </a:majorFont>
      <a:minorFont>
        <a:latin typeface="Arial" panose="020B0604020202020204"/>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ist41p2b">
      <a:majorFont>
        <a:latin typeface="Arial" panose="020B06040202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124519</TotalTime>
  <Words>1428</Words>
  <Application>Microsoft Office PowerPoint</Application>
  <PresentationFormat>宽屏</PresentationFormat>
  <Paragraphs>345</Paragraphs>
  <Slides>32</Slides>
  <Notes>22</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32</vt:i4>
      </vt:variant>
    </vt:vector>
  </HeadingPairs>
  <TitlesOfParts>
    <vt:vector size="43" baseType="lpstr">
      <vt:lpstr>Helvetica Regular</vt:lpstr>
      <vt:lpstr>等线</vt:lpstr>
      <vt:lpstr>微软雅黑</vt:lpstr>
      <vt:lpstr>Arial</vt:lpstr>
      <vt:lpstr>Calibri</vt:lpstr>
      <vt:lpstr>Helvetica</vt:lpstr>
      <vt:lpstr>Wingdings</vt:lpstr>
      <vt:lpstr>Wingdings 2</vt:lpstr>
      <vt:lpstr>Office 主题​​</vt:lpstr>
      <vt:lpstr>1_OfficePLUS</vt:lpstr>
      <vt:lpstr>1_Office 主题​​</vt:lpstr>
      <vt:lpstr>PowerPoint 演示文稿</vt:lpstr>
      <vt:lpstr>PowerPoint 演示文稿</vt:lpstr>
      <vt:lpstr>智能体</vt:lpstr>
      <vt:lpstr>智能体和环境</vt:lpstr>
      <vt:lpstr>吸尘器世界</vt:lpstr>
      <vt:lpstr>理性智能体</vt:lpstr>
      <vt:lpstr>理性</vt:lpstr>
      <vt:lpstr>智能体的自主性</vt:lpstr>
      <vt:lpstr>智能体设计: PEAS</vt:lpstr>
      <vt:lpstr>PEAS</vt:lpstr>
      <vt:lpstr>环境类型</vt:lpstr>
      <vt:lpstr>完全可观察的 (与部分可观察性）</vt:lpstr>
      <vt:lpstr>确定性 (与随机性）</vt:lpstr>
      <vt:lpstr>分段性 (与顺序性)</vt:lpstr>
      <vt:lpstr>静态(与动态）</vt:lpstr>
      <vt:lpstr>离散 (与连续）</vt:lpstr>
      <vt:lpstr>单智能体 (与多智能体）</vt:lpstr>
      <vt:lpstr>智能体类型</vt:lpstr>
      <vt:lpstr>PowerPoint 演示文稿</vt:lpstr>
      <vt:lpstr>简单反应智能体</vt:lpstr>
      <vt:lpstr>状态</vt:lpstr>
      <vt:lpstr>基于模型的反应智能体</vt:lpstr>
      <vt:lpstr>基于目标的智能体</vt:lpstr>
      <vt:lpstr>基于目标的智能体</vt:lpstr>
      <vt:lpstr>基于效用的智能体</vt:lpstr>
      <vt:lpstr>基于效用的智能体</vt:lpstr>
      <vt:lpstr>可学习智能体</vt:lpstr>
      <vt:lpstr>可学习智能体</vt:lpstr>
      <vt:lpstr>可学习智能体（出租车司机）</vt:lpstr>
      <vt:lpstr>大局观：面向基于模型的智能体的AI</vt:lpstr>
      <vt:lpstr>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叶 丁</dc:creator>
  <cp:lastModifiedBy>Administrator</cp:lastModifiedBy>
  <cp:revision>3326</cp:revision>
  <dcterms:created xsi:type="dcterms:W3CDTF">2018-12-16T05:38:48Z</dcterms:created>
  <dcterms:modified xsi:type="dcterms:W3CDTF">2026-03-09T01:07:01Z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2019-04-13T06:32:31.4153976Z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d5228a63-67d4-4fd6-959f-d3cab9a76c24</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