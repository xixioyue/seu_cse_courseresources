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7" r:id="rId2"/>
    <p:sldMasterId id="2147483679" r:id="rId3"/>
  </p:sldMasterIdLst>
  <p:notesMasterIdLst>
    <p:notesMasterId r:id="rId58"/>
  </p:notesMasterIdLst>
  <p:handoutMasterIdLst>
    <p:handoutMasterId r:id="rId59"/>
  </p:handoutMasterIdLst>
  <p:sldIdLst>
    <p:sldId id="523" r:id="rId4"/>
    <p:sldId id="258" r:id="rId5"/>
    <p:sldId id="259" r:id="rId6"/>
    <p:sldId id="630" r:id="rId7"/>
    <p:sldId id="631" r:id="rId8"/>
    <p:sldId id="632" r:id="rId9"/>
    <p:sldId id="633" r:id="rId10"/>
    <p:sldId id="577" r:id="rId11"/>
    <p:sldId id="635" r:id="rId12"/>
    <p:sldId id="636" r:id="rId13"/>
    <p:sldId id="637" r:id="rId14"/>
    <p:sldId id="638" r:id="rId15"/>
    <p:sldId id="639" r:id="rId16"/>
    <p:sldId id="640" r:id="rId17"/>
    <p:sldId id="641" r:id="rId18"/>
    <p:sldId id="642" r:id="rId19"/>
    <p:sldId id="586" r:id="rId20"/>
    <p:sldId id="643" r:id="rId21"/>
    <p:sldId id="644" r:id="rId22"/>
    <p:sldId id="645" r:id="rId23"/>
    <p:sldId id="646" r:id="rId24"/>
    <p:sldId id="263" r:id="rId25"/>
    <p:sldId id="590" r:id="rId26"/>
    <p:sldId id="647" r:id="rId27"/>
    <p:sldId id="648" r:id="rId28"/>
    <p:sldId id="649" r:id="rId29"/>
    <p:sldId id="650" r:id="rId30"/>
    <p:sldId id="651" r:id="rId31"/>
    <p:sldId id="652" r:id="rId32"/>
    <p:sldId id="653" r:id="rId33"/>
    <p:sldId id="654" r:id="rId34"/>
    <p:sldId id="655" r:id="rId35"/>
    <p:sldId id="656" r:id="rId36"/>
    <p:sldId id="657" r:id="rId37"/>
    <p:sldId id="658" r:id="rId38"/>
    <p:sldId id="659" r:id="rId39"/>
    <p:sldId id="267" r:id="rId40"/>
    <p:sldId id="602" r:id="rId41"/>
    <p:sldId id="660" r:id="rId42"/>
    <p:sldId id="661" r:id="rId43"/>
    <p:sldId id="662" r:id="rId44"/>
    <p:sldId id="663" r:id="rId45"/>
    <p:sldId id="605" r:id="rId46"/>
    <p:sldId id="606" r:id="rId47"/>
    <p:sldId id="607" r:id="rId48"/>
    <p:sldId id="608" r:id="rId49"/>
    <p:sldId id="609" r:id="rId50"/>
    <p:sldId id="610" r:id="rId51"/>
    <p:sldId id="664" r:id="rId52"/>
    <p:sldId id="665" r:id="rId53"/>
    <p:sldId id="629" r:id="rId54"/>
    <p:sldId id="282" r:id="rId55"/>
    <p:sldId id="614" r:id="rId56"/>
    <p:sldId id="527" r:id="rId57"/>
  </p:sldIdLst>
  <p:sldSz cx="12192000" cy="6858000"/>
  <p:notesSz cx="6858000" cy="9144000"/>
  <p:custDataLst>
    <p:tags r:id="rId6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73" userDrawn="1">
          <p15:clr>
            <a:srgbClr val="A4A3A4"/>
          </p15:clr>
        </p15:guide>
        <p15:guide id="2" pos="3840" userDrawn="1">
          <p15:clr>
            <a:srgbClr val="A4A3A4"/>
          </p15:clr>
        </p15:guide>
        <p15:guide id="3" pos="1050" userDrawn="1">
          <p15:clr>
            <a:srgbClr val="A4A3A4"/>
          </p15:clr>
        </p15:guide>
        <p15:guide id="4" pos="6630" userDrawn="1">
          <p15:clr>
            <a:srgbClr val="A4A3A4"/>
          </p15:clr>
        </p15:guide>
        <p15:guide id="5" orient="horz" pos="648" userDrawn="1">
          <p15:clr>
            <a:srgbClr val="A4A3A4"/>
          </p15:clr>
        </p15:guide>
        <p15:guide id="6" orient="horz" pos="731" userDrawn="1">
          <p15:clr>
            <a:srgbClr val="A4A3A4"/>
          </p15:clr>
        </p15:guide>
        <p15:guide id="7" orient="horz" pos="3952" userDrawn="1">
          <p15:clr>
            <a:srgbClr val="A4A3A4"/>
          </p15:clr>
        </p15:guide>
        <p15:guide id="8" orient="horz" pos="383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叶 丁" initials="叶" lastIdx="2" clrIdx="0">
    <p:extLst>
      <p:ext uri="{19B8F6BF-5375-455C-9EA6-DF929625EA0E}">
        <p15:presenceInfo xmlns:p15="http://schemas.microsoft.com/office/powerpoint/2012/main" userId="7525c676c6ae861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5223"/>
    <a:srgbClr val="141213"/>
    <a:srgbClr val="EAB908"/>
    <a:srgbClr val="EAB905"/>
    <a:srgbClr val="FECD54"/>
    <a:srgbClr val="817222"/>
    <a:srgbClr val="4B7D2B"/>
    <a:srgbClr val="9A8B3D"/>
    <a:srgbClr val="D3D1D2"/>
    <a:srgbClr val="5656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27" autoAdjust="0"/>
    <p:restoredTop sz="80520" autoAdjust="0"/>
  </p:normalViewPr>
  <p:slideViewPr>
    <p:cSldViewPr snapToGrid="0" showGuides="1">
      <p:cViewPr varScale="1">
        <p:scale>
          <a:sx n="131" d="100"/>
          <a:sy n="131" d="100"/>
        </p:scale>
        <p:origin x="1020" y="92"/>
      </p:cViewPr>
      <p:guideLst>
        <p:guide orient="horz" pos="2273"/>
        <p:guide pos="3840"/>
        <p:guide pos="1050"/>
        <p:guide pos="6630"/>
        <p:guide orient="horz" pos="648"/>
        <p:guide orient="horz" pos="731"/>
        <p:guide orient="horz" pos="3952"/>
        <p:guide orient="horz" pos="3838"/>
      </p:guideLst>
    </p:cSldViewPr>
  </p:slideViewPr>
  <p:outlineViewPr>
    <p:cViewPr>
      <p:scale>
        <a:sx n="33" d="100"/>
        <a:sy n="33" d="100"/>
      </p:scale>
      <p:origin x="0" y="0"/>
    </p:cViewPr>
  </p:outlineViewPr>
  <p:notesTextViewPr>
    <p:cViewPr>
      <p:scale>
        <a:sx n="1" d="1"/>
        <a:sy n="1" d="1"/>
      </p:scale>
      <p:origin x="0" y="0"/>
    </p:cViewPr>
  </p:notesTextViewPr>
  <p:sorterViewPr>
    <p:cViewPr>
      <p:scale>
        <a:sx n="122" d="100"/>
        <a:sy n="122" d="100"/>
      </p:scale>
      <p:origin x="0" y="-1392"/>
    </p:cViewPr>
  </p:sorterViewPr>
  <p:notesViewPr>
    <p:cSldViewPr snapToGrid="0" showGuides="1">
      <p:cViewPr varScale="1">
        <p:scale>
          <a:sx n="83" d="100"/>
          <a:sy n="83" d="100"/>
        </p:scale>
        <p:origin x="3992" y="208"/>
      </p:cViewPr>
      <p:guideLst/>
    </p:cSldViewPr>
  </p:notesViewPr>
  <p:gridSpacing cx="46800" cy="468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61" Type="http://schemas.openxmlformats.org/officeDocument/2006/relationships/commentAuthors" Target="commentAuthors.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handoutMaster" Target="handoutMasters/handoutMaster1.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tags" Target="tags/tag1.xml"/><Relationship Id="rId65"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8C176BC-2537-496C-92BE-280C92B96ED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232F750-D334-4736-B10E-00351582692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201325C-51CE-41A1-8630-1A52C13085BB}" type="datetimeFigureOut">
              <a:rPr lang="zh-CN" altLang="en-US" smtClean="0"/>
              <a:t>2026/3/30</a:t>
            </a:fld>
            <a:endParaRPr lang="zh-CN" altLang="en-US"/>
          </a:p>
        </p:txBody>
      </p:sp>
      <p:sp>
        <p:nvSpPr>
          <p:cNvPr id="4" name="页脚占位符 3">
            <a:extLst>
              <a:ext uri="{FF2B5EF4-FFF2-40B4-BE49-F238E27FC236}">
                <a16:creationId xmlns:a16="http://schemas.microsoft.com/office/drawing/2014/main" id="{329A2961-3AD5-4B21-AA67-7500903979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389F27F7-0D80-46EC-B423-14DAAD04B55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7E3C29-C726-4695-AB77-50247DBF3DA6}" type="slidenum">
              <a:rPr lang="zh-CN" altLang="en-US" smtClean="0"/>
              <a:t>‹#›</a:t>
            </a:fld>
            <a:endParaRPr lang="zh-CN" altLang="en-US"/>
          </a:p>
        </p:txBody>
      </p:sp>
    </p:spTree>
    <p:extLst>
      <p:ext uri="{BB962C8B-B14F-4D97-AF65-F5344CB8AC3E}">
        <p14:creationId xmlns:p14="http://schemas.microsoft.com/office/powerpoint/2010/main" val="22602408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3B8505-E7BC-4327-812D-12C5E82484FC}" type="datetimeFigureOut">
              <a:rPr lang="zh-CN" altLang="en-US" smtClean="0"/>
              <a:t>2026/3/30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71B729-817F-448C-AF52-5327A9569471}" type="slidenum">
              <a:rPr lang="zh-CN" altLang="en-US" smtClean="0"/>
              <a:t>‹#›</a:t>
            </a:fld>
            <a:endParaRPr lang="zh-CN" altLang="en-US"/>
          </a:p>
        </p:txBody>
      </p:sp>
    </p:spTree>
    <p:extLst>
      <p:ext uri="{BB962C8B-B14F-4D97-AF65-F5344CB8AC3E}">
        <p14:creationId xmlns:p14="http://schemas.microsoft.com/office/powerpoint/2010/main" val="3172665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lnSpc>
                <a:spcPct val="150000"/>
              </a:lnSpc>
              <a:buFont typeface="Arial" panose="020B0604020202020204" pitchFamily="34" charset="0"/>
              <a:buChar char="•"/>
            </a:pPr>
            <a:endParaRPr kumimoji="1" lang="zh-CN" altLang="en-US" dirty="0">
              <a:latin typeface="+mn-ea"/>
              <a:cs typeface="Arial" panose="020B0604020202020204" pitchFamily="34" charset="0"/>
            </a:endParaRPr>
          </a:p>
        </p:txBody>
      </p:sp>
      <p:sp>
        <p:nvSpPr>
          <p:cNvPr id="4" name="灯片编号占位符 3"/>
          <p:cNvSpPr>
            <a:spLocks noGrp="1"/>
          </p:cNvSpPr>
          <p:nvPr>
            <p:ph type="sldNum" sz="quarter" idx="5"/>
          </p:nvPr>
        </p:nvSpPr>
        <p:spPr/>
        <p:txBody>
          <a:bodyPr/>
          <a:lstStyle/>
          <a:p>
            <a:fld id="{6371B729-817F-448C-AF52-5327A9569471}" type="slidenum">
              <a:rPr lang="zh-CN" altLang="en-US" smtClean="0"/>
              <a:t>1</a:t>
            </a:fld>
            <a:endParaRPr lang="zh-CN" altLang="en-US"/>
          </a:p>
        </p:txBody>
      </p:sp>
    </p:spTree>
    <p:extLst>
      <p:ext uri="{BB962C8B-B14F-4D97-AF65-F5344CB8AC3E}">
        <p14:creationId xmlns:p14="http://schemas.microsoft.com/office/powerpoint/2010/main" val="3254090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latin typeface="Arial" panose="020B0604020202090204" pitchFamily="34" charset="0"/>
                <a:cs typeface="+mn-cs"/>
              </a:rPr>
              <a:t>约束满足问题：当每个变量都有自己的赋值同时满足所有关于变量的约束时，问题就得到了解决。</a:t>
            </a:r>
            <a:endParaRPr lang="en-US" altLang="zh-CN" sz="1200" dirty="0">
              <a:latin typeface="Arial" panose="020B0604020202090204" pitchFamily="34" charset="0"/>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sz="1200" dirty="0">
              <a:latin typeface="Arial" panose="020B0604020202090204" pitchFamily="34" charset="0"/>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dirty="0">
                <a:latin typeface="Arial" panose="020B0604020202090204" pitchFamily="34" charset="0"/>
                <a:cs typeface="+mn-cs"/>
              </a:rPr>
              <a:t>主要思想是通过识别违反约束的变量</a:t>
            </a:r>
            <a:r>
              <a:rPr lang="en-US" altLang="zh-CN" sz="1200" dirty="0">
                <a:latin typeface="Arial" panose="020B0604020202090204" pitchFamily="34" charset="0"/>
                <a:cs typeface="+mn-cs"/>
              </a:rPr>
              <a:t>/</a:t>
            </a:r>
            <a:r>
              <a:rPr lang="zh-CN" altLang="en-US" sz="1200" dirty="0">
                <a:latin typeface="Arial" panose="020B0604020202090204" pitchFamily="34" charset="0"/>
                <a:cs typeface="+mn-cs"/>
              </a:rPr>
              <a:t>值的组合迅速消除大规模的搜索空间。</a:t>
            </a:r>
            <a:endParaRPr lang="en-US" altLang="zh-CN" sz="1200" dirty="0">
              <a:latin typeface="Calibri"/>
              <a:cs typeface="Calibri"/>
            </a:endParaRPr>
          </a:p>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2</a:t>
            </a:fld>
            <a:endParaRPr lang="zh-CN" altLang="en-US"/>
          </a:p>
        </p:txBody>
      </p:sp>
    </p:spTree>
    <p:extLst>
      <p:ext uri="{BB962C8B-B14F-4D97-AF65-F5344CB8AC3E}">
        <p14:creationId xmlns:p14="http://schemas.microsoft.com/office/powerpoint/2010/main" val="3090893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05757988-8435-BAFE-010F-4D54BC7B040E}"/>
              </a:ext>
            </a:extLst>
          </p:cNvPr>
          <p:cNvSpPr>
            <a:spLocks noGrp="1" noRot="1" noChangeAspect="1" noChangeArrowheads="1" noTextEdit="1"/>
          </p:cNvSpPr>
          <p:nvPr>
            <p:ph type="sldImg" idx="4294967295"/>
          </p:nvPr>
        </p:nvSpPr>
        <p:spPr>
          <a:ln>
            <a:miter lim="800000"/>
          </a:ln>
        </p:spPr>
      </p:sp>
      <p:sp>
        <p:nvSpPr>
          <p:cNvPr id="18434" name="Notes Placeholder 2">
            <a:extLst>
              <a:ext uri="{FF2B5EF4-FFF2-40B4-BE49-F238E27FC236}">
                <a16:creationId xmlns:a16="http://schemas.microsoft.com/office/drawing/2014/main" id="{E3A6A118-E93A-E0CC-16C9-DA068C6AF1AA}"/>
              </a:ext>
            </a:extLst>
          </p:cNvPr>
          <p:cNvSpPr>
            <a:spLocks noGrp="1" noChangeArrowheads="1"/>
          </p:cNvSpPr>
          <p:nvPr>
            <p:ph type="body" idx="4294967295"/>
          </p:nvPr>
        </p:nvSpPr>
        <p:spPr>
          <a:ln/>
        </p:spPr>
        <p:txBody>
          <a:bodyPr/>
          <a:lstStyle/>
          <a:p>
            <a:r>
              <a:rPr lang="zh-CN" altLang="en-US" dirty="0">
                <a:latin typeface="Arial" panose="020B0604020202090204" pitchFamily="34" charset="0"/>
              </a:rPr>
              <a:t>定义约束满足问题；</a:t>
            </a:r>
            <a:endParaRPr lang="en-US" altLang="zh-CN" dirty="0">
              <a:latin typeface="Arial" panose="020B0604020202090204" pitchFamily="34" charset="0"/>
            </a:endParaRPr>
          </a:p>
          <a:p>
            <a:r>
              <a:rPr lang="zh-CN" altLang="en-US" dirty="0">
                <a:latin typeface="Arial" panose="020B0604020202090204" pitchFamily="34" charset="0"/>
              </a:rPr>
              <a:t>约束传播：</a:t>
            </a:r>
            <a:r>
              <a:rPr lang="en-US" altLang="zh-CN" dirty="0" err="1">
                <a:latin typeface="Arial" panose="020B0604020202090204" pitchFamily="34" charset="0"/>
              </a:rPr>
              <a:t>csp</a:t>
            </a:r>
            <a:r>
              <a:rPr lang="zh-CN" altLang="en-US" dirty="0">
                <a:latin typeface="Arial" panose="020B0604020202090204" pitchFamily="34" charset="0"/>
              </a:rPr>
              <a:t>中的推理；</a:t>
            </a:r>
            <a:endParaRPr lang="en-US" altLang="zh-CN" dirty="0">
              <a:latin typeface="Arial" panose="020B0604020202090204" pitchFamily="34" charset="0"/>
            </a:endParaRPr>
          </a:p>
          <a:p>
            <a:r>
              <a:rPr lang="en-US" altLang="zh-CN" dirty="0" err="1">
                <a:latin typeface="Arial" panose="020B0604020202090204" pitchFamily="34" charset="0"/>
              </a:rPr>
              <a:t>Csp</a:t>
            </a:r>
            <a:r>
              <a:rPr lang="zh-CN" altLang="en-US" dirty="0">
                <a:latin typeface="Arial" panose="020B0604020202090204" pitchFamily="34" charset="0"/>
              </a:rPr>
              <a:t>的回溯搜索；</a:t>
            </a:r>
            <a:endParaRPr lang="en-US" altLang="zh-CN" dirty="0">
              <a:latin typeface="Arial" panose="020B0604020202090204" pitchFamily="34" charset="0"/>
            </a:endParaRPr>
          </a:p>
          <a:p>
            <a:r>
              <a:rPr lang="en-US" altLang="zh-CN" dirty="0" err="1">
                <a:latin typeface="Arial" panose="020B0604020202090204" pitchFamily="34" charset="0"/>
              </a:rPr>
              <a:t>Csp</a:t>
            </a:r>
            <a:r>
              <a:rPr lang="zh-CN" altLang="en-US" dirty="0">
                <a:latin typeface="Arial" panose="020B0604020202090204" pitchFamily="34" charset="0"/>
              </a:rPr>
              <a:t>的局部搜索；</a:t>
            </a:r>
            <a:endParaRPr lang="en-US" altLang="zh-CN" dirty="0">
              <a:latin typeface="Arial" panose="020B0604020202090204" pitchFamily="34" charset="0"/>
            </a:endParaRPr>
          </a:p>
          <a:p>
            <a:r>
              <a:rPr lang="zh-CN" altLang="en-US" dirty="0">
                <a:latin typeface="Arial" panose="020B0604020202090204" pitchFamily="34" charset="0"/>
              </a:rPr>
              <a:t>问题的结构。</a:t>
            </a:r>
            <a:endParaRPr lang="en-US" altLang="zh-CN" dirty="0">
              <a:latin typeface="Arial" panose="020B0604020202090204" pitchFamily="34" charset="0"/>
            </a:endParaRPr>
          </a:p>
          <a:p>
            <a:pPr eaLnBrk="1" hangingPunct="1">
              <a:spcBef>
                <a:spcPct val="0"/>
              </a:spcBef>
            </a:pPr>
            <a:endParaRPr lang="zh-CN" altLang="zh-CN" dirty="0">
              <a:ea typeface="MS PGothic" panose="020B0600070205080204" pitchFamily="34" charset="-128"/>
            </a:endParaRPr>
          </a:p>
        </p:txBody>
      </p:sp>
      <p:sp>
        <p:nvSpPr>
          <p:cNvPr id="18435" name="Slide Number Placeholder 3">
            <a:extLst>
              <a:ext uri="{FF2B5EF4-FFF2-40B4-BE49-F238E27FC236}">
                <a16:creationId xmlns:a16="http://schemas.microsoft.com/office/drawing/2014/main" id="{2A2F7808-A7E7-4D70-50B1-1C2464C972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05757988-8435-BAFE-010F-4D54BC7B040E}"/>
              </a:ext>
            </a:extLst>
          </p:cNvPr>
          <p:cNvSpPr>
            <a:spLocks noGrp="1" noRot="1" noChangeAspect="1" noChangeArrowheads="1" noTextEdit="1"/>
          </p:cNvSpPr>
          <p:nvPr>
            <p:ph type="sldImg" idx="4294967295"/>
          </p:nvPr>
        </p:nvSpPr>
        <p:spPr>
          <a:ln>
            <a:miter lim="800000"/>
          </a:ln>
        </p:spPr>
      </p:sp>
      <p:sp>
        <p:nvSpPr>
          <p:cNvPr id="18434" name="Notes Placeholder 2">
            <a:extLst>
              <a:ext uri="{FF2B5EF4-FFF2-40B4-BE49-F238E27FC236}">
                <a16:creationId xmlns:a16="http://schemas.microsoft.com/office/drawing/2014/main" id="{E3A6A118-E93A-E0CC-16C9-DA068C6AF1AA}"/>
              </a:ext>
            </a:extLst>
          </p:cNvPr>
          <p:cNvSpPr>
            <a:spLocks noGrp="1" noChangeArrowheads="1"/>
          </p:cNvSpPr>
          <p:nvPr>
            <p:ph type="body" idx="4294967295"/>
          </p:nvPr>
        </p:nvSpPr>
        <p:spPr>
          <a:ln/>
        </p:spPr>
        <p:txBody>
          <a:bodyPr/>
          <a:lstStyle/>
          <a:p>
            <a:r>
              <a:rPr lang="zh-CN" altLang="en-US" dirty="0">
                <a:latin typeface="Arial" panose="020B0604020202090204" pitchFamily="34" charset="0"/>
              </a:rPr>
              <a:t>定义约束满足问题；</a:t>
            </a:r>
            <a:endParaRPr lang="en-US" altLang="zh-CN" dirty="0">
              <a:latin typeface="Arial" panose="020B0604020202090204" pitchFamily="34" charset="0"/>
            </a:endParaRPr>
          </a:p>
          <a:p>
            <a:r>
              <a:rPr lang="zh-CN" altLang="en-US" dirty="0">
                <a:latin typeface="Arial" panose="020B0604020202090204" pitchFamily="34" charset="0"/>
              </a:rPr>
              <a:t>约束传播：</a:t>
            </a:r>
            <a:r>
              <a:rPr lang="en-US" altLang="zh-CN" dirty="0" err="1">
                <a:latin typeface="Arial" panose="020B0604020202090204" pitchFamily="34" charset="0"/>
              </a:rPr>
              <a:t>csp</a:t>
            </a:r>
            <a:r>
              <a:rPr lang="zh-CN" altLang="en-US" dirty="0">
                <a:latin typeface="Arial" panose="020B0604020202090204" pitchFamily="34" charset="0"/>
              </a:rPr>
              <a:t>中的推理；</a:t>
            </a:r>
            <a:endParaRPr lang="en-US" altLang="zh-CN" dirty="0">
              <a:latin typeface="Arial" panose="020B0604020202090204" pitchFamily="34" charset="0"/>
            </a:endParaRPr>
          </a:p>
          <a:p>
            <a:r>
              <a:rPr lang="en-US" altLang="zh-CN" dirty="0" err="1">
                <a:latin typeface="Arial" panose="020B0604020202090204" pitchFamily="34" charset="0"/>
              </a:rPr>
              <a:t>Csp</a:t>
            </a:r>
            <a:r>
              <a:rPr lang="zh-CN" altLang="en-US" dirty="0">
                <a:latin typeface="Arial" panose="020B0604020202090204" pitchFamily="34" charset="0"/>
              </a:rPr>
              <a:t>的回溯搜索；</a:t>
            </a:r>
            <a:endParaRPr lang="en-US" altLang="zh-CN" dirty="0">
              <a:latin typeface="Arial" panose="020B0604020202090204" pitchFamily="34" charset="0"/>
            </a:endParaRPr>
          </a:p>
          <a:p>
            <a:r>
              <a:rPr lang="en-US" altLang="zh-CN" dirty="0" err="1">
                <a:latin typeface="Arial" panose="020B0604020202090204" pitchFamily="34" charset="0"/>
              </a:rPr>
              <a:t>Csp</a:t>
            </a:r>
            <a:r>
              <a:rPr lang="zh-CN" altLang="en-US" dirty="0">
                <a:latin typeface="Arial" panose="020B0604020202090204" pitchFamily="34" charset="0"/>
              </a:rPr>
              <a:t>的局部搜索；</a:t>
            </a:r>
            <a:endParaRPr lang="en-US" altLang="zh-CN" dirty="0">
              <a:latin typeface="Arial" panose="020B0604020202090204" pitchFamily="34" charset="0"/>
            </a:endParaRPr>
          </a:p>
          <a:p>
            <a:r>
              <a:rPr lang="zh-CN" altLang="en-US" dirty="0">
                <a:latin typeface="Arial" panose="020B0604020202090204" pitchFamily="34" charset="0"/>
              </a:rPr>
              <a:t>问题的结构。</a:t>
            </a:r>
            <a:endParaRPr lang="en-US" altLang="zh-CN" dirty="0">
              <a:latin typeface="Arial" panose="020B0604020202090204" pitchFamily="34" charset="0"/>
            </a:endParaRPr>
          </a:p>
          <a:p>
            <a:pPr eaLnBrk="1" hangingPunct="1">
              <a:spcBef>
                <a:spcPct val="0"/>
              </a:spcBef>
            </a:pPr>
            <a:endParaRPr lang="zh-CN" altLang="zh-CN" dirty="0">
              <a:ea typeface="MS PGothic" panose="020B0600070205080204" pitchFamily="34" charset="-128"/>
            </a:endParaRPr>
          </a:p>
        </p:txBody>
      </p:sp>
      <p:sp>
        <p:nvSpPr>
          <p:cNvPr id="18435" name="Slide Number Placeholder 3">
            <a:extLst>
              <a:ext uri="{FF2B5EF4-FFF2-40B4-BE49-F238E27FC236}">
                <a16:creationId xmlns:a16="http://schemas.microsoft.com/office/drawing/2014/main" id="{2A2F7808-A7E7-4D70-50B1-1C2464C972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Arial" panose="020B0604020202020204" pitchFamily="34" charset="0"/>
              </a:rPr>
              <a:t>*</a:t>
            </a:r>
          </a:p>
        </p:txBody>
      </p:sp>
    </p:spTree>
    <p:extLst>
      <p:ext uri="{BB962C8B-B14F-4D97-AF65-F5344CB8AC3E}">
        <p14:creationId xmlns:p14="http://schemas.microsoft.com/office/powerpoint/2010/main" val="3818747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05757988-8435-BAFE-010F-4D54BC7B040E}"/>
              </a:ext>
            </a:extLst>
          </p:cNvPr>
          <p:cNvSpPr>
            <a:spLocks noGrp="1" noRot="1" noChangeAspect="1" noChangeArrowheads="1" noTextEdit="1"/>
          </p:cNvSpPr>
          <p:nvPr>
            <p:ph type="sldImg" idx="4294967295"/>
          </p:nvPr>
        </p:nvSpPr>
        <p:spPr>
          <a:ln>
            <a:miter lim="800000"/>
          </a:ln>
        </p:spPr>
      </p:sp>
      <p:sp>
        <p:nvSpPr>
          <p:cNvPr id="18434" name="Notes Placeholder 2">
            <a:extLst>
              <a:ext uri="{FF2B5EF4-FFF2-40B4-BE49-F238E27FC236}">
                <a16:creationId xmlns:a16="http://schemas.microsoft.com/office/drawing/2014/main" id="{E3A6A118-E93A-E0CC-16C9-DA068C6AF1AA}"/>
              </a:ext>
            </a:extLst>
          </p:cNvPr>
          <p:cNvSpPr>
            <a:spLocks noGrp="1" noChangeArrowheads="1"/>
          </p:cNvSpPr>
          <p:nvPr>
            <p:ph type="body" idx="4294967295"/>
          </p:nvPr>
        </p:nvSpPr>
        <p:spPr>
          <a:ln/>
        </p:spPr>
        <p:txBody>
          <a:bodyPr/>
          <a:lstStyle/>
          <a:p>
            <a:r>
              <a:rPr lang="en-US" altLang="zh-CN" dirty="0"/>
              <a:t>Variables</a:t>
            </a:r>
            <a:r>
              <a:rPr lang="zh-CN" altLang="en-US" dirty="0"/>
              <a:t>变量</a:t>
            </a:r>
            <a:endParaRPr lang="en-US" altLang="zh-CN" dirty="0"/>
          </a:p>
          <a:p>
            <a:r>
              <a:rPr lang="en-US" altLang="zh-CN" dirty="0"/>
              <a:t>Domains</a:t>
            </a:r>
            <a:r>
              <a:rPr lang="zh-CN" altLang="en-US" dirty="0"/>
              <a:t>值域</a:t>
            </a:r>
            <a:endParaRPr lang="en-US" altLang="zh-CN" dirty="0"/>
          </a:p>
          <a:p>
            <a:r>
              <a:rPr lang="en-US" altLang="zh-CN" dirty="0"/>
              <a:t>C </a:t>
            </a:r>
            <a:r>
              <a:rPr lang="zh-CN" altLang="en-US" dirty="0"/>
              <a:t>是描述变量取值的约束集合，</a:t>
            </a:r>
            <a:r>
              <a:rPr lang="en-US" altLang="zh-CN" dirty="0"/>
              <a:t>Scope</a:t>
            </a:r>
            <a:r>
              <a:rPr lang="zh-CN" altLang="en-US" dirty="0"/>
              <a:t>是变量组，</a:t>
            </a:r>
            <a:r>
              <a:rPr lang="en-US" altLang="zh-CN" dirty="0" err="1"/>
              <a:t>rel</a:t>
            </a:r>
            <a:r>
              <a:rPr lang="zh-CN" altLang="en-US" dirty="0"/>
              <a:t>定义了这些变量应满足的关系。</a:t>
            </a:r>
            <a:endParaRPr lang="en-US" altLang="zh-CN" dirty="0"/>
          </a:p>
          <a:p>
            <a:r>
              <a:rPr lang="zh-CN" altLang="en-US" dirty="0"/>
              <a:t>板书说明</a:t>
            </a:r>
            <a:r>
              <a:rPr lang="en-US" altLang="zh-CN" dirty="0"/>
              <a:t>C</a:t>
            </a:r>
            <a:r>
              <a:rPr lang="zh-CN" altLang="en-US" dirty="0"/>
              <a:t>：如果</a:t>
            </a:r>
            <a:r>
              <a:rPr lang="en-US" altLang="zh-CN" dirty="0"/>
              <a:t>x1</a:t>
            </a:r>
            <a:r>
              <a:rPr lang="zh-CN" altLang="en-US" dirty="0"/>
              <a:t>，</a:t>
            </a:r>
            <a:r>
              <a:rPr lang="en-US" altLang="zh-CN" dirty="0"/>
              <a:t>x2</a:t>
            </a:r>
            <a:r>
              <a:rPr lang="zh-CN" altLang="en-US" dirty="0"/>
              <a:t>值域均为</a:t>
            </a:r>
            <a:r>
              <a:rPr lang="en-US" altLang="zh-CN" dirty="0"/>
              <a:t>{A,B}</a:t>
            </a:r>
            <a:r>
              <a:rPr lang="zh-CN" altLang="en-US" dirty="0"/>
              <a:t>，约束是二者不能取相同值，他们的关系可以描述成</a:t>
            </a:r>
            <a:r>
              <a:rPr lang="en-US" altLang="zh-CN" dirty="0"/>
              <a:t>&lt;(X1,X2),x1</a:t>
            </a:r>
            <a:r>
              <a:rPr lang="zh-CN" altLang="en-US" dirty="0"/>
              <a:t>不等于</a:t>
            </a:r>
            <a:r>
              <a:rPr lang="en-US" altLang="zh-CN" dirty="0"/>
              <a:t>x2&gt;</a:t>
            </a:r>
          </a:p>
          <a:p>
            <a:endParaRPr lang="en-US" altLang="zh-CN" dirty="0"/>
          </a:p>
          <a:p>
            <a:r>
              <a:rPr lang="zh-CN" altLang="en-US" b="1" dirty="0"/>
              <a:t>相容赋值或者合法的赋值（</a:t>
            </a:r>
            <a:r>
              <a:rPr lang="en-US" altLang="zh-CN" b="1" dirty="0"/>
              <a:t>Consistent</a:t>
            </a:r>
            <a:r>
              <a:rPr lang="zh-CN" altLang="en-US" b="1" dirty="0"/>
              <a:t>）：不违反任何条件的赋值</a:t>
            </a:r>
            <a:endParaRPr lang="en-US" altLang="zh-CN" b="1" dirty="0"/>
          </a:p>
          <a:p>
            <a:r>
              <a:rPr lang="zh-CN" altLang="en-US" b="1" dirty="0"/>
              <a:t>完整赋值</a:t>
            </a:r>
            <a:r>
              <a:rPr lang="en-US" altLang="zh-CN" b="1" dirty="0"/>
              <a:t>Complete</a:t>
            </a:r>
            <a:r>
              <a:rPr lang="zh-CN" altLang="en-US" b="1" dirty="0"/>
              <a:t>：每个变量都已赋值</a:t>
            </a:r>
            <a:endParaRPr lang="en-US" altLang="zh-CN" b="1" dirty="0"/>
          </a:p>
          <a:p>
            <a:r>
              <a:rPr lang="zh-CN" altLang="en-US" b="1" dirty="0"/>
              <a:t>部分赋值：只有部分变量被赋值</a:t>
            </a:r>
            <a:endParaRPr lang="en-US" altLang="zh-CN" dirty="0"/>
          </a:p>
          <a:p>
            <a:pPr eaLnBrk="1" hangingPunct="1">
              <a:spcBef>
                <a:spcPct val="0"/>
              </a:spcBef>
            </a:pPr>
            <a:endParaRPr lang="zh-CN" altLang="zh-CN" dirty="0">
              <a:ea typeface="MS PGothic" panose="020B0600070205080204" pitchFamily="34" charset="-128"/>
            </a:endParaRPr>
          </a:p>
        </p:txBody>
      </p:sp>
      <p:sp>
        <p:nvSpPr>
          <p:cNvPr id="18435" name="Slide Number Placeholder 3">
            <a:extLst>
              <a:ext uri="{FF2B5EF4-FFF2-40B4-BE49-F238E27FC236}">
                <a16:creationId xmlns:a16="http://schemas.microsoft.com/office/drawing/2014/main" id="{2A2F7808-A7E7-4D70-50B1-1C2464C9727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Arial" panose="020B0604020202020204" pitchFamily="34" charset="0"/>
              </a:rPr>
              <a:t>*</a:t>
            </a:r>
          </a:p>
        </p:txBody>
      </p:sp>
    </p:spTree>
    <p:extLst>
      <p:ext uri="{BB962C8B-B14F-4D97-AF65-F5344CB8AC3E}">
        <p14:creationId xmlns:p14="http://schemas.microsoft.com/office/powerpoint/2010/main" val="3380172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C78FC0E3-4007-0CDC-544F-81B1C667545D}"/>
              </a:ext>
            </a:extLst>
          </p:cNvPr>
          <p:cNvSpPr>
            <a:spLocks noGrp="1" noRot="1" noChangeAspect="1" noChangeArrowheads="1"/>
          </p:cNvSpPr>
          <p:nvPr>
            <p:ph type="sldImg" idx="4294967295"/>
          </p:nvPr>
        </p:nvSpPr>
        <p:spPr>
          <a:ln>
            <a:miter lim="800000"/>
          </a:ln>
        </p:spPr>
      </p:sp>
      <p:sp>
        <p:nvSpPr>
          <p:cNvPr id="20482" name="Notes Placeholder 2">
            <a:extLst>
              <a:ext uri="{FF2B5EF4-FFF2-40B4-BE49-F238E27FC236}">
                <a16:creationId xmlns:a16="http://schemas.microsoft.com/office/drawing/2014/main" id="{1629BF66-9260-7F09-3939-453576CFE4E6}"/>
              </a:ext>
            </a:extLst>
          </p:cNvPr>
          <p:cNvSpPr>
            <a:spLocks noGrp="1" noChangeArrowheads="1"/>
          </p:cNvSpPr>
          <p:nvPr>
            <p:ph type="body" idx="4294967295"/>
          </p:nvPr>
        </p:nvSpPr>
        <p:spPr>
          <a:ln/>
        </p:spPr>
        <p:txBody>
          <a:bodyPr/>
          <a:lstStyle/>
          <a:p>
            <a:r>
              <a:rPr lang="zh-CN" altLang="en-US" dirty="0"/>
              <a:t>地图着色问题</a:t>
            </a:r>
            <a:endParaRPr lang="en-US" altLang="zh-CN" dirty="0"/>
          </a:p>
          <a:p>
            <a:endParaRPr lang="en-US" altLang="zh-CN" dirty="0"/>
          </a:p>
          <a:p>
            <a:r>
              <a:rPr lang="zh-CN" altLang="en-US" dirty="0"/>
              <a:t>任务是每个区域涂上红色、绿色、蓝色，要求是相邻的区域颜色不能相同。</a:t>
            </a:r>
            <a:endParaRPr lang="en-US" altLang="zh-CN" dirty="0"/>
          </a:p>
          <a:p>
            <a:r>
              <a:rPr lang="zh-CN" altLang="en-US" dirty="0"/>
              <a:t>此任务形式化为</a:t>
            </a:r>
            <a:r>
              <a:rPr lang="en-US" altLang="zh-CN" dirty="0" err="1"/>
              <a:t>csp</a:t>
            </a:r>
            <a:r>
              <a:rPr lang="zh-CN" altLang="en-US" dirty="0"/>
              <a:t>：</a:t>
            </a:r>
            <a:endParaRPr lang="en-US" altLang="zh-CN" dirty="0"/>
          </a:p>
          <a:p>
            <a:r>
              <a:rPr lang="en-US" altLang="zh-CN" dirty="0"/>
              <a:t>X={WA, NT, Q, NSW, V, SA, T}</a:t>
            </a:r>
          </a:p>
          <a:p>
            <a:endParaRPr lang="en-US" altLang="zh-CN" dirty="0"/>
          </a:p>
          <a:p>
            <a:r>
              <a:rPr lang="zh-CN" altLang="en-US" dirty="0"/>
              <a:t>每个变量的值域是集合</a:t>
            </a:r>
            <a:endParaRPr lang="en-US" altLang="zh-CN" dirty="0"/>
          </a:p>
          <a:p>
            <a:r>
              <a:rPr lang="en-US" altLang="zh-CN" dirty="0"/>
              <a:t>Di={red, green, blue},</a:t>
            </a:r>
          </a:p>
          <a:p>
            <a:endParaRPr lang="en-US" altLang="zh-CN" sz="1200" b="0" i="0" u="none" strike="noStrike" kern="1200" baseline="0" dirty="0">
              <a:solidFill>
                <a:schemeClr val="tx1"/>
              </a:solidFill>
              <a:latin typeface="Arial" panose="020B0604020202090204" pitchFamily="34" charset="0"/>
              <a:ea typeface="+mn-ea"/>
              <a:cs typeface="+mn-cs"/>
            </a:endParaRPr>
          </a:p>
          <a:p>
            <a:r>
              <a:rPr lang="en-US" altLang="zh-CN" sz="1200" b="0" i="0" u="none" strike="noStrike" kern="1200" baseline="0" dirty="0">
                <a:solidFill>
                  <a:schemeClr val="tx1"/>
                </a:solidFill>
                <a:latin typeface="Arial" panose="020B0604020202090204" pitchFamily="34" charset="0"/>
                <a:ea typeface="+mn-ea"/>
                <a:cs typeface="+mn-cs"/>
              </a:rPr>
              <a:t>C = {SA != WA, SA != NT, SA != Q, SA != NSW,  SA != V,</a:t>
            </a:r>
          </a:p>
          <a:p>
            <a:r>
              <a:rPr lang="en-US" altLang="zh-CN" sz="1200" b="0" i="0" u="none" strike="noStrike" kern="1200" baseline="0" dirty="0">
                <a:solidFill>
                  <a:schemeClr val="tx1"/>
                </a:solidFill>
                <a:latin typeface="Arial" panose="020B0604020202090204" pitchFamily="34" charset="0"/>
                <a:ea typeface="+mn-ea"/>
                <a:cs typeface="+mn-cs"/>
              </a:rPr>
              <a:t>WA != NT, NT != Q, Q != NSW, NSW != V } .</a:t>
            </a:r>
            <a:endParaRPr lang="en-US" altLang="zh-CN" dirty="0"/>
          </a:p>
          <a:p>
            <a:endParaRPr lang="en-US" altLang="zh-CN" dirty="0"/>
          </a:p>
          <a:p>
            <a:endParaRPr lang="en-US" altLang="zh-CN" dirty="0"/>
          </a:p>
          <a:p>
            <a:r>
              <a:rPr lang="zh-CN" altLang="en-US" dirty="0"/>
              <a:t>约束图，结点为问题对应的变量，变量间的连线表示两者之间有约束。</a:t>
            </a:r>
          </a:p>
          <a:p>
            <a:endParaRPr lang="zh-CN" altLang="en-US" dirty="0"/>
          </a:p>
          <a:p>
            <a:endParaRPr lang="en-US" altLang="zh-CN" dirty="0">
              <a:ea typeface="MS PGothic" panose="020B0600070205080204" pitchFamily="34" charset="-128"/>
            </a:endParaRPr>
          </a:p>
        </p:txBody>
      </p:sp>
      <p:sp>
        <p:nvSpPr>
          <p:cNvPr id="20483" name="Slide Number Placeholder 3">
            <a:extLst>
              <a:ext uri="{FF2B5EF4-FFF2-40B4-BE49-F238E27FC236}">
                <a16:creationId xmlns:a16="http://schemas.microsoft.com/office/drawing/2014/main" id="{EAA72ABA-6859-D855-AC59-1A7A14A2F55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Arial" panose="020B0604020202020204" pitchFamily="34" charset="0"/>
              </a:rP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anose="020B0604020202090204" pitchFamily="34" charset="0"/>
                <a:ea typeface="+mn-ea"/>
                <a:cs typeface="+mn-cs"/>
              </a:rPr>
              <a:t>if you already have a CSP-solving system, it is often easier to solve a problem using it than to design a custom solution using another search technique.</a:t>
            </a:r>
          </a:p>
          <a:p>
            <a:endParaRPr lang="en-US" altLang="zh-CN" sz="1200" b="0" i="0" u="none" strike="noStrike" kern="1200" baseline="0" dirty="0">
              <a:solidFill>
                <a:schemeClr val="tx1"/>
              </a:solidFill>
              <a:latin typeface="Arial" panose="020B0604020202090204" pitchFamily="34" charset="0"/>
              <a:ea typeface="+mn-ea"/>
              <a:cs typeface="+mn-cs"/>
            </a:endParaRPr>
          </a:p>
          <a:p>
            <a:r>
              <a:rPr lang="en-US" altLang="zh-CN" dirty="0"/>
              <a:t>CSP solvers can be faster than state-space searchers because the CSP solver can quickly eliminate large swatches of the search space</a:t>
            </a:r>
          </a:p>
          <a:p>
            <a:endParaRPr lang="en-US" altLang="zh-CN" dirty="0"/>
          </a:p>
          <a:p>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Without taking advantage of constraint propagation, a search procedure would have to consider 3</a:t>
            </a:r>
            <a:r>
              <a:rPr lang="en-US" altLang="zh-CN" sz="1000" dirty="0"/>
              <a:t>5 </a:t>
            </a:r>
            <a:r>
              <a:rPr lang="en-US" altLang="zh-CN" dirty="0"/>
              <a:t>=243 assignments for the five neighboring variables; with constraint propagation we never have to consider blue as a value, so we have only 2</a:t>
            </a:r>
            <a:r>
              <a:rPr lang="en-US" altLang="zh-CN" sz="1000" dirty="0"/>
              <a:t>5 </a:t>
            </a:r>
            <a:r>
              <a:rPr lang="en-US" altLang="zh-CN" dirty="0"/>
              <a:t>=32 assignments to look at, a reduction of 87%.</a:t>
            </a:r>
            <a:endParaRPr lang="zh-CN" altLang="en-US" dirty="0"/>
          </a:p>
          <a:p>
            <a:endParaRPr lang="en-US" altLang="zh-CN" dirty="0"/>
          </a:p>
          <a:p>
            <a:r>
              <a:rPr lang="zh-CN" altLang="en-US" dirty="0"/>
              <a:t>在常规的状态空间搜索中我们只能问：这个状态是目标吗？不是？那是这个吗？</a:t>
            </a:r>
            <a:endParaRPr lang="en-US" altLang="zh-CN" dirty="0"/>
          </a:p>
          <a:p>
            <a:r>
              <a:rPr lang="zh-CN" altLang="en-US" dirty="0"/>
              <a:t>有了</a:t>
            </a:r>
            <a:r>
              <a:rPr lang="en-US" altLang="zh-CN" dirty="0" err="1"/>
              <a:t>csp</a:t>
            </a:r>
            <a:r>
              <a:rPr lang="zh-CN" altLang="en-US" dirty="0"/>
              <a:t>，一旦发现某部分赋值不会是解，可立刻丢弃不会再做进一步求解。更进一步，可以看出某赋值不是解，可以看出是哪个变量违反了约束。</a:t>
            </a:r>
            <a:endParaRPr lang="en-US" altLang="zh-CN" dirty="0"/>
          </a:p>
          <a:p>
            <a:r>
              <a:rPr lang="zh-CN" altLang="en-US" dirty="0"/>
              <a:t>所以，许多不能用常规状态空间搜索求解的问题可以很快用</a:t>
            </a:r>
            <a:r>
              <a:rPr lang="en-US" altLang="zh-CN" dirty="0" err="1"/>
              <a:t>csp</a:t>
            </a:r>
            <a:r>
              <a:rPr lang="zh-CN" altLang="en-US" dirty="0"/>
              <a:t>解决。</a:t>
            </a:r>
          </a:p>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8</a:t>
            </a:fld>
            <a:endParaRPr lang="zh-CN" altLang="en-US"/>
          </a:p>
        </p:txBody>
      </p:sp>
    </p:spTree>
    <p:extLst>
      <p:ext uri="{BB962C8B-B14F-4D97-AF65-F5344CB8AC3E}">
        <p14:creationId xmlns:p14="http://schemas.microsoft.com/office/powerpoint/2010/main" val="20462817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Variations on the CSP formalism</a:t>
            </a:r>
            <a:r>
              <a:rPr lang="zh-CN" altLang="en-US" dirty="0"/>
              <a:t>：</a:t>
            </a:r>
            <a:r>
              <a:rPr lang="en-US" altLang="zh-CN" dirty="0" err="1"/>
              <a:t>Csp</a:t>
            </a:r>
            <a:r>
              <a:rPr lang="zh-CN" altLang="en-US" dirty="0"/>
              <a:t>的形式化</a:t>
            </a:r>
            <a:endParaRPr lang="en-US" altLang="zh-CN" dirty="0"/>
          </a:p>
          <a:p>
            <a:r>
              <a:rPr lang="zh-CN" altLang="en-US" dirty="0"/>
              <a:t>最简单的</a:t>
            </a:r>
            <a:r>
              <a:rPr lang="en-US" altLang="zh-CN" dirty="0" err="1"/>
              <a:t>csp</a:t>
            </a:r>
            <a:r>
              <a:rPr lang="zh-CN" altLang="en-US" dirty="0"/>
              <a:t>是变量是离散的有限值域的</a:t>
            </a:r>
            <a:endParaRPr lang="en-US" altLang="zh-CN" dirty="0"/>
          </a:p>
          <a:p>
            <a:endParaRPr lang="en-US" altLang="zh-CN" dirty="0"/>
          </a:p>
          <a:p>
            <a:r>
              <a:rPr lang="zh-CN" altLang="en-US" dirty="0"/>
              <a:t>一元约束，只限制了单个变量的取值，比如，地图着色问题中，南澳洲人不喜欢绿色，</a:t>
            </a:r>
            <a:r>
              <a:rPr lang="en-US" altLang="zh-CN" dirty="0"/>
              <a:t>&lt;(</a:t>
            </a:r>
            <a:r>
              <a:rPr lang="en-US" altLang="zh-CN" dirty="0" err="1"/>
              <a:t>sa</a:t>
            </a:r>
            <a:r>
              <a:rPr lang="en-US" altLang="zh-CN" dirty="0"/>
              <a:t>), </a:t>
            </a:r>
            <a:r>
              <a:rPr lang="en-US" altLang="zh-CN" dirty="0" err="1"/>
              <a:t>sa</a:t>
            </a:r>
            <a:r>
              <a:rPr lang="en-US" altLang="zh-CN" dirty="0"/>
              <a:t>!=green&gt;</a:t>
            </a:r>
          </a:p>
          <a:p>
            <a:r>
              <a:rPr lang="zh-CN" altLang="en-US" sz="1200" b="0" i="0" u="none" strike="noStrike" kern="1200" baseline="0" dirty="0">
                <a:solidFill>
                  <a:schemeClr val="tx1"/>
                </a:solidFill>
                <a:latin typeface="Arial" panose="020B0604020202090204" pitchFamily="34" charset="0"/>
                <a:ea typeface="+mn-ea"/>
                <a:cs typeface="+mn-cs"/>
              </a:rPr>
              <a:t>二元约束与两个变量有关，</a:t>
            </a:r>
            <a:r>
              <a:rPr lang="en-US" altLang="zh-CN" sz="1200" b="0" i="0" u="none" strike="noStrike" kern="1200" baseline="0" dirty="0">
                <a:solidFill>
                  <a:schemeClr val="tx1"/>
                </a:solidFill>
                <a:latin typeface="Arial" panose="020B0604020202090204" pitchFamily="34" charset="0"/>
                <a:ea typeface="+mn-ea"/>
                <a:cs typeface="+mn-cs"/>
              </a:rPr>
              <a:t>SA </a:t>
            </a:r>
            <a:r>
              <a:rPr lang="zh-CN" altLang="en-US" sz="1200" b="0" i="0" u="none" strike="noStrike" kern="1200" baseline="0" dirty="0">
                <a:solidFill>
                  <a:schemeClr val="tx1"/>
                </a:solidFill>
                <a:latin typeface="Arial" panose="020B0604020202090204" pitchFamily="34" charset="0"/>
                <a:ea typeface="+mn-ea"/>
                <a:cs typeface="+mn-cs"/>
              </a:rPr>
              <a:t>！</a:t>
            </a:r>
            <a:r>
              <a:rPr lang="en-US" altLang="zh-CN" sz="1200" b="0" i="0" u="none" strike="noStrike" kern="1200" baseline="0" dirty="0">
                <a:solidFill>
                  <a:schemeClr val="tx1"/>
                </a:solidFill>
                <a:latin typeface="Arial" panose="020B0604020202090204" pitchFamily="34" charset="0"/>
                <a:ea typeface="+mn-ea"/>
                <a:cs typeface="+mn-cs"/>
              </a:rPr>
              <a:t>= NSW </a:t>
            </a:r>
            <a:r>
              <a:rPr lang="zh-CN" altLang="en-US" sz="1200" b="0" i="0" u="none" strike="noStrike" kern="1200" baseline="0" dirty="0">
                <a:solidFill>
                  <a:schemeClr val="tx1"/>
                </a:solidFill>
                <a:latin typeface="Arial" panose="020B0604020202090204" pitchFamily="34" charset="0"/>
                <a:ea typeface="+mn-ea"/>
                <a:cs typeface="+mn-cs"/>
              </a:rPr>
              <a:t>是个二元约束</a:t>
            </a:r>
            <a:r>
              <a:rPr lang="en-US" altLang="zh-CN" sz="1200" b="0" i="0" u="none" strike="noStrike" kern="1200" baseline="0" dirty="0">
                <a:solidFill>
                  <a:schemeClr val="tx1"/>
                </a:solidFill>
                <a:latin typeface="Arial" panose="020B0604020202090204" pitchFamily="34" charset="0"/>
                <a:ea typeface="+mn-ea"/>
                <a:cs typeface="+mn-cs"/>
              </a:rPr>
              <a:t>.</a:t>
            </a:r>
          </a:p>
          <a:p>
            <a:r>
              <a:rPr lang="zh-CN" altLang="en-US" sz="1200" b="0" i="0" u="none" strike="noStrike" kern="1200" baseline="0" dirty="0">
                <a:solidFill>
                  <a:schemeClr val="tx1"/>
                </a:solidFill>
                <a:latin typeface="Arial" panose="020B0604020202090204" pitchFamily="34" charset="0"/>
                <a:ea typeface="+mn-ea"/>
                <a:cs typeface="+mn-cs"/>
              </a:rPr>
              <a:t>二元</a:t>
            </a:r>
            <a:r>
              <a:rPr lang="en-US" altLang="zh-CN" sz="1200" b="0" i="0" u="none" strike="noStrike" kern="1200" baseline="0" dirty="0" err="1">
                <a:solidFill>
                  <a:schemeClr val="tx1"/>
                </a:solidFill>
                <a:latin typeface="Arial" panose="020B0604020202090204" pitchFamily="34" charset="0"/>
                <a:ea typeface="+mn-ea"/>
                <a:cs typeface="+mn-cs"/>
              </a:rPr>
              <a:t>csp</a:t>
            </a:r>
            <a:r>
              <a:rPr lang="zh-CN" altLang="en-US" sz="1200" b="0" i="0" u="none" strike="noStrike" kern="1200" baseline="0" dirty="0">
                <a:solidFill>
                  <a:schemeClr val="tx1"/>
                </a:solidFill>
                <a:latin typeface="Arial" panose="020B0604020202090204" pitchFamily="34" charset="0"/>
                <a:ea typeface="+mn-ea"/>
                <a:cs typeface="+mn-cs"/>
              </a:rPr>
              <a:t>只包含二元约束</a:t>
            </a:r>
            <a:endParaRPr lang="en-US" altLang="zh-CN" sz="1200" b="0" i="0" u="none" strike="noStrike" kern="1200" baseline="0" dirty="0">
              <a:solidFill>
                <a:schemeClr val="tx1"/>
              </a:solidFill>
              <a:latin typeface="Arial" panose="020B0604020202090204" pitchFamily="34" charset="0"/>
              <a:ea typeface="+mn-ea"/>
              <a:cs typeface="+mn-cs"/>
            </a:endParaRPr>
          </a:p>
          <a:p>
            <a:endParaRPr lang="en-US" altLang="zh-CN" sz="1200" b="0" i="0" u="none" strike="noStrike" kern="1200" baseline="0" dirty="0">
              <a:solidFill>
                <a:schemeClr val="tx1"/>
              </a:solidFill>
              <a:latin typeface="Arial" panose="020B0604020202090204" pitchFamily="34" charset="0"/>
              <a:ea typeface="+mn-ea"/>
              <a:cs typeface="+mn-cs"/>
            </a:endParaRPr>
          </a:p>
          <a:p>
            <a:r>
              <a:rPr lang="zh-CN" altLang="en-US" sz="1200" b="0" i="0" u="none" strike="noStrike" kern="1200" baseline="0" dirty="0">
                <a:solidFill>
                  <a:schemeClr val="tx1"/>
                </a:solidFill>
                <a:latin typeface="Arial" panose="020B0604020202090204" pitchFamily="34" charset="0"/>
                <a:ea typeface="+mn-ea"/>
                <a:cs typeface="+mn-cs"/>
              </a:rPr>
              <a:t>最常见得全局约束是</a:t>
            </a:r>
            <a:r>
              <a:rPr lang="en-US" altLang="zh-CN" sz="1200" b="0" i="0" u="none" strike="noStrike" kern="1200" baseline="0" dirty="0" err="1">
                <a:solidFill>
                  <a:schemeClr val="tx1"/>
                </a:solidFill>
                <a:latin typeface="Arial" panose="020B0604020202090204" pitchFamily="34" charset="0"/>
                <a:ea typeface="+mn-ea"/>
                <a:cs typeface="+mn-cs"/>
              </a:rPr>
              <a:t>Alldiff</a:t>
            </a:r>
            <a:r>
              <a:rPr lang="en-US" altLang="zh-CN" sz="1200" b="0" i="0" u="none" strike="noStrike" kern="1200" baseline="0" dirty="0">
                <a:solidFill>
                  <a:schemeClr val="tx1"/>
                </a:solidFill>
                <a:latin typeface="Arial" panose="020B0604020202090204" pitchFamily="34" charset="0"/>
                <a:ea typeface="+mn-ea"/>
                <a:cs typeface="+mn-cs"/>
              </a:rPr>
              <a:t>(A,B,C,D), </a:t>
            </a:r>
            <a:r>
              <a:rPr lang="zh-CN" altLang="en-US" sz="1200" b="0" i="0" u="none" strike="noStrike" kern="1200" baseline="0" dirty="0">
                <a:solidFill>
                  <a:schemeClr val="tx1"/>
                </a:solidFill>
                <a:latin typeface="Arial" panose="020B0604020202090204" pitchFamily="34" charset="0"/>
                <a:ea typeface="+mn-ea"/>
                <a:cs typeface="+mn-cs"/>
              </a:rPr>
              <a:t>指的是约束中的所有变量必须取不同的值</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116869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latin typeface="Arial" panose="020B0604020202090204" pitchFamily="34" charset="0"/>
              </a:rPr>
              <a:t>约束满足问题</a:t>
            </a:r>
            <a:r>
              <a:rPr lang="en-US" altLang="zh-CN" b="1" dirty="0">
                <a:latin typeface="Arial" panose="020B0604020202090204" pitchFamily="34" charset="0"/>
              </a:rPr>
              <a:t>:</a:t>
            </a:r>
            <a:endParaRPr lang="en-US" altLang="zh-CN" b="1" dirty="0"/>
          </a:p>
          <a:p>
            <a:r>
              <a:rPr lang="zh-CN" altLang="en-US" b="1" dirty="0"/>
              <a:t>相容赋值或者合法的赋值（</a:t>
            </a:r>
            <a:r>
              <a:rPr lang="en-US" altLang="zh-CN" b="1" dirty="0"/>
              <a:t>Consistent</a:t>
            </a:r>
            <a:r>
              <a:rPr lang="zh-CN" altLang="en-US" b="1" dirty="0"/>
              <a:t>）：不违反任何条件的赋值</a:t>
            </a:r>
            <a:endParaRPr lang="en-US" altLang="zh-CN" b="1" dirty="0"/>
          </a:p>
          <a:p>
            <a:r>
              <a:rPr lang="zh-CN" altLang="en-US" b="1" dirty="0"/>
              <a:t>完整赋值</a:t>
            </a:r>
            <a:r>
              <a:rPr lang="en-US" altLang="zh-CN" b="1" dirty="0"/>
              <a:t>Complete</a:t>
            </a:r>
            <a:r>
              <a:rPr lang="zh-CN" altLang="en-US" b="1" dirty="0"/>
              <a:t>：每个变量都已赋值</a:t>
            </a:r>
            <a:endParaRPr lang="en-US" altLang="zh-CN" b="1"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997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latin typeface="Arial" panose="020B0604020202090204" pitchFamily="34" charset="0"/>
              </a:rPr>
              <a:t>定义约束满足问题；</a:t>
            </a:r>
            <a:endParaRPr lang="en-US" altLang="zh-CN" dirty="0">
              <a:latin typeface="Arial" panose="020B0604020202090204" pitchFamily="34" charset="0"/>
            </a:endParaRPr>
          </a:p>
          <a:p>
            <a:r>
              <a:rPr lang="zh-CN" altLang="en-US" dirty="0">
                <a:latin typeface="Arial" panose="020B0604020202090204" pitchFamily="34" charset="0"/>
              </a:rPr>
              <a:t>约束传播：</a:t>
            </a:r>
            <a:r>
              <a:rPr lang="en-US" altLang="zh-CN" dirty="0" err="1">
                <a:latin typeface="Arial" panose="020B0604020202090204" pitchFamily="34" charset="0"/>
              </a:rPr>
              <a:t>csp</a:t>
            </a:r>
            <a:r>
              <a:rPr lang="zh-CN" altLang="en-US" dirty="0">
                <a:latin typeface="Arial" panose="020B0604020202090204" pitchFamily="34" charset="0"/>
              </a:rPr>
              <a:t>中的推理；</a:t>
            </a:r>
            <a:endParaRPr lang="en-US" altLang="zh-CN" dirty="0">
              <a:latin typeface="Arial" panose="020B0604020202090204" pitchFamily="34" charset="0"/>
            </a:endParaRPr>
          </a:p>
          <a:p>
            <a:r>
              <a:rPr lang="en-US" altLang="zh-CN" dirty="0" err="1">
                <a:latin typeface="Arial" panose="020B0604020202090204" pitchFamily="34" charset="0"/>
              </a:rPr>
              <a:t>Csp</a:t>
            </a:r>
            <a:r>
              <a:rPr lang="zh-CN" altLang="en-US" dirty="0">
                <a:latin typeface="Arial" panose="020B0604020202090204" pitchFamily="34" charset="0"/>
              </a:rPr>
              <a:t>的回溯搜索；</a:t>
            </a:r>
            <a:endParaRPr lang="en-US" altLang="zh-CN" dirty="0">
              <a:latin typeface="Arial" panose="020B0604020202090204" pitchFamily="34" charset="0"/>
            </a:endParaRPr>
          </a:p>
          <a:p>
            <a:r>
              <a:rPr lang="en-US" altLang="zh-CN" dirty="0" err="1">
                <a:latin typeface="Arial" panose="020B0604020202090204" pitchFamily="34" charset="0"/>
              </a:rPr>
              <a:t>Csp</a:t>
            </a:r>
            <a:r>
              <a:rPr lang="zh-CN" altLang="en-US" dirty="0">
                <a:latin typeface="Arial" panose="020B0604020202090204" pitchFamily="34" charset="0"/>
              </a:rPr>
              <a:t>的局部搜索；</a:t>
            </a:r>
            <a:endParaRPr lang="en-US" altLang="zh-CN" dirty="0">
              <a:latin typeface="Arial" panose="020B0604020202090204" pitchFamily="34" charset="0"/>
            </a:endParaRPr>
          </a:p>
          <a:p>
            <a:r>
              <a:rPr lang="zh-CN" altLang="en-US" dirty="0">
                <a:latin typeface="Arial" panose="020B0604020202090204" pitchFamily="34" charset="0"/>
              </a:rPr>
              <a:t>问题的结构。</a:t>
            </a:r>
            <a:endParaRPr lang="en-US" altLang="zh-CN" dirty="0">
              <a:latin typeface="Arial" panose="020B0604020202090204" pitchFamily="34"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35945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约束传播。约束，有联系，才能传播。不同的约束，传播的效果不一样。</a:t>
            </a:r>
            <a:endParaRPr lang="en-US" altLang="zh-CN" dirty="0"/>
          </a:p>
          <a:p>
            <a:endParaRPr lang="en-US" altLang="zh-CN" dirty="0"/>
          </a:p>
          <a:p>
            <a:r>
              <a:rPr lang="zh-CN" altLang="en-US" dirty="0"/>
              <a:t>在常规的状态空间搜索中，算法只能做一件事：搜索。</a:t>
            </a:r>
            <a:endParaRPr lang="en-US" altLang="zh-CN" dirty="0"/>
          </a:p>
          <a:p>
            <a:r>
              <a:rPr lang="zh-CN" altLang="en-US" dirty="0"/>
              <a:t>在</a:t>
            </a:r>
            <a:r>
              <a:rPr lang="en-US" altLang="zh-CN" dirty="0" err="1"/>
              <a:t>csp</a:t>
            </a:r>
            <a:r>
              <a:rPr lang="zh-CN" altLang="en-US" dirty="0"/>
              <a:t>中则有了选择：算法可以搜索，也可以做一种称为约束传播的推理。</a:t>
            </a:r>
            <a:endParaRPr lang="en-US" altLang="zh-CN" dirty="0"/>
          </a:p>
          <a:p>
            <a:r>
              <a:rPr lang="zh-CN" altLang="en-US" dirty="0"/>
              <a:t>使用约束来减小一个变量的合法取值范围，从而影响到跟此变量有约束关系的另一变量的取值。</a:t>
            </a:r>
            <a:endParaRPr lang="en-US" altLang="zh-CN" dirty="0"/>
          </a:p>
          <a:p>
            <a:endParaRPr lang="en-US" altLang="zh-CN" dirty="0"/>
          </a:p>
          <a:p>
            <a:r>
              <a:rPr lang="zh-CN" altLang="en-US" dirty="0"/>
              <a:t>核心思想是局部相容性：可以理解成局部的一些变量满足约束条件。具体可分为：结点相容，弧相容，路径相容，</a:t>
            </a:r>
            <a:r>
              <a:rPr lang="en-US" altLang="zh-CN" dirty="0"/>
              <a:t>k</a:t>
            </a:r>
            <a:r>
              <a:rPr lang="zh-CN" altLang="en-US" dirty="0"/>
              <a:t>相容</a:t>
            </a:r>
            <a:endParaRPr lang="en-US" altLang="zh-CN" dirty="0"/>
          </a:p>
          <a:p>
            <a:pPr algn="l"/>
            <a:r>
              <a:rPr lang="en-US" altLang="zh-CN" sz="1200" b="0" i="0" u="none" strike="noStrike" baseline="0" dirty="0">
                <a:solidFill>
                  <a:srgbClr val="000000"/>
                </a:solidFill>
                <a:latin typeface="NimbusRomNo9L-Regu"/>
              </a:rPr>
              <a:t>The key idea is </a:t>
            </a:r>
            <a:r>
              <a:rPr lang="en-US" altLang="zh-CN" sz="1200" b="0" i="0" u="none" strike="noStrike" baseline="0" dirty="0">
                <a:solidFill>
                  <a:srgbClr val="000000"/>
                </a:solidFill>
                <a:latin typeface="NimbusRomNo9L-Medi"/>
              </a:rPr>
              <a:t>local consistency</a:t>
            </a:r>
            <a:r>
              <a:rPr lang="en-US" altLang="zh-CN" sz="1200" b="0" i="0" u="none" strike="noStrike" baseline="0" dirty="0">
                <a:solidFill>
                  <a:srgbClr val="000000"/>
                </a:solidFill>
                <a:latin typeface="NimbusRomNo9L-Regu"/>
              </a:rPr>
              <a:t>. If we treat each variable as a node in a graph (see</a:t>
            </a:r>
          </a:p>
          <a:p>
            <a:pPr algn="l"/>
            <a:r>
              <a:rPr lang="en-US" altLang="zh-CN" sz="1200" b="0" i="0" u="none" strike="noStrike" baseline="0" dirty="0">
                <a:solidFill>
                  <a:srgbClr val="000000"/>
                </a:solidFill>
                <a:latin typeface="NimbusRomNo9L-Regu"/>
              </a:rPr>
              <a:t>Figure 5.1(b)) and each binary constraint as an edge, then the process of enforcing local</a:t>
            </a:r>
          </a:p>
          <a:p>
            <a:pPr algn="l"/>
            <a:r>
              <a:rPr lang="en-US" altLang="zh-CN" sz="1200" b="0" i="0" u="none" strike="noStrike" baseline="0" dirty="0">
                <a:solidFill>
                  <a:srgbClr val="000000"/>
                </a:solidFill>
                <a:latin typeface="NimbusRomNo9L-Regu"/>
              </a:rPr>
              <a:t>consistency in each part of the graph causes inconsistent values to be eliminated throughout</a:t>
            </a:r>
          </a:p>
          <a:p>
            <a:pPr algn="l"/>
            <a:r>
              <a:rPr lang="en-US" altLang="zh-CN" sz="1200" b="0" i="0" u="none" strike="noStrike" baseline="0" dirty="0">
                <a:solidFill>
                  <a:srgbClr val="000000"/>
                </a:solidFill>
                <a:latin typeface="NimbusRomNo9L-Regu"/>
              </a:rPr>
              <a:t>the graph. There are different types of local consistency, which we now cover in turn.</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34769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结点相容：单个变量值域中的所有取值满足它的一元约束，称为是结点相容的。</a:t>
            </a:r>
            <a:endParaRPr lang="en-US" altLang="zh-CN" dirty="0"/>
          </a:p>
          <a:p>
            <a:endParaRPr lang="en-US" altLang="zh-CN" dirty="0"/>
          </a:p>
          <a:p>
            <a:r>
              <a:rPr lang="zh-CN" altLang="en-US" dirty="0"/>
              <a:t>通过运行结点相容总能消除</a:t>
            </a:r>
            <a:r>
              <a:rPr lang="en-US" altLang="zh-CN" dirty="0" err="1"/>
              <a:t>csp</a:t>
            </a:r>
            <a:r>
              <a:rPr lang="zh-CN" altLang="en-US" dirty="0"/>
              <a:t>中的所有一元约束。</a:t>
            </a:r>
            <a:endParaRPr lang="en-US" altLang="zh-CN" dirty="0"/>
          </a:p>
          <a:p>
            <a:endParaRPr lang="en-US" altLang="zh-CN" dirty="0"/>
          </a:p>
          <a:p>
            <a:r>
              <a:rPr lang="zh-CN" altLang="en-US" dirty="0"/>
              <a:t>板书：例如，地图着色问题中，南澳人不喜欢绿色，</a:t>
            </a:r>
            <a:r>
              <a:rPr lang="en-US" altLang="zh-CN" dirty="0"/>
              <a:t>SA</a:t>
            </a:r>
            <a:r>
              <a:rPr lang="zh-CN" altLang="en-US" dirty="0"/>
              <a:t>原来值域是</a:t>
            </a:r>
            <a:r>
              <a:rPr lang="en-US" altLang="zh-CN" dirty="0"/>
              <a:t>{</a:t>
            </a:r>
            <a:r>
              <a:rPr lang="en-US" altLang="zh-CN" dirty="0" err="1"/>
              <a:t>red,green,blue</a:t>
            </a:r>
            <a:r>
              <a:rPr lang="en-US" altLang="zh-CN" dirty="0"/>
              <a:t>}</a:t>
            </a:r>
            <a:r>
              <a:rPr lang="zh-CN" altLang="en-US" dirty="0"/>
              <a:t>，运行结点相容，此时的值域空间为</a:t>
            </a:r>
            <a:r>
              <a:rPr lang="en-US" altLang="zh-CN" dirty="0"/>
              <a:t>{red, blue}</a:t>
            </a:r>
          </a:p>
          <a:p>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96556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弧相容</a:t>
                </a:r>
                <a:endParaRPr lang="en-US" altLang="zh-CN" dirty="0"/>
              </a:p>
              <a:p>
                <a:endParaRPr lang="en-US" altLang="zh-CN" dirty="0"/>
              </a:p>
              <a:p>
                <a:r>
                  <a:rPr lang="zh-CN" altLang="en-US" dirty="0"/>
                  <a:t>对</a:t>
                </a:r>
                <a14:m>
                  <m:oMath xmlns:m="http://schemas.openxmlformats.org/officeDocument/2006/math">
                    <m:r>
                      <a:rPr lang="en-US" altLang="zh-CN" i="1" dirty="0" smtClean="0">
                        <a:latin typeface="Cambria Math" panose="02040503050406030204" pitchFamily="18" charset="0"/>
                      </a:rPr>
                      <m:t>𝐷</m:t>
                    </m:r>
                    <m:r>
                      <a:rPr lang="en-US" altLang="zh-CN" sz="1200" i="1" dirty="0">
                        <a:latin typeface="Cambria Math" panose="02040503050406030204" pitchFamily="18" charset="0"/>
                      </a:rPr>
                      <m:t>𝑖</m:t>
                    </m:r>
                  </m:oMath>
                </a14:m>
                <a:r>
                  <a:rPr lang="en-US" altLang="zh-CN" sz="1200" dirty="0"/>
                  <a:t> </a:t>
                </a:r>
                <a:r>
                  <a:rPr lang="zh-CN" altLang="en-US" sz="1200" dirty="0"/>
                  <a:t>中的每一个值，都存在一些数值满足二元约束。</a:t>
                </a:r>
                <a:endParaRPr lang="en-US" altLang="zh-CN" sz="1200" dirty="0"/>
              </a:p>
              <a:p>
                <a:r>
                  <a:rPr lang="en-US" altLang="zh-CN" sz="1200" dirty="0"/>
                  <a:t>Y=x^2; &lt;(</a:t>
                </a:r>
                <a:r>
                  <a:rPr lang="en-US" altLang="zh-CN" sz="1200" dirty="0" err="1"/>
                  <a:t>x,y</a:t>
                </a:r>
                <a:r>
                  <a:rPr lang="en-US" altLang="zh-CN" sz="1200" dirty="0"/>
                  <a:t>),{(0,0),(1,1),(2,4),(3,9)}&gt;, </a:t>
                </a:r>
                <a:r>
                  <a:rPr lang="en-US" altLang="zh-CN" sz="1200" dirty="0" err="1"/>
                  <a:t>Dx</a:t>
                </a:r>
                <a:r>
                  <a:rPr lang="en-US" altLang="zh-CN" sz="1200" dirty="0"/>
                  <a:t>={0,1,2,3},</a:t>
                </a:r>
                <a:r>
                  <a:rPr lang="en-US" altLang="zh-CN" sz="1200" dirty="0" err="1"/>
                  <a:t>Dy</a:t>
                </a:r>
                <a:r>
                  <a:rPr lang="en-US" altLang="zh-CN" sz="1200" dirty="0"/>
                  <a:t>={0,1,4,9}</a:t>
                </a:r>
                <a:endParaRPr lang="en-US" altLang="zh-CN" dirty="0"/>
              </a:p>
              <a:p>
                <a:endParaRPr lang="en-US" altLang="zh-CN" dirty="0"/>
              </a:p>
              <a:p>
                <a:r>
                  <a:rPr lang="en-US" altLang="zh-CN" dirty="0"/>
                  <a:t>AC-3</a:t>
                </a:r>
                <a:r>
                  <a:rPr lang="zh-CN" altLang="en-US" dirty="0"/>
                  <a:t>的发明人，</a:t>
                </a:r>
                <a:r>
                  <a:rPr lang="en-US" altLang="zh-CN" dirty="0" err="1"/>
                  <a:t>Mackworth</a:t>
                </a:r>
                <a:r>
                  <a:rPr lang="zh-CN" altLang="en-US" dirty="0"/>
                  <a:t>，</a:t>
                </a:r>
                <a:r>
                  <a:rPr lang="en-US" altLang="zh-CN" dirty="0"/>
                  <a:t>1977</a:t>
                </a:r>
                <a:r>
                  <a:rPr lang="zh-CN" altLang="en-US" dirty="0"/>
                  <a:t>，提出了三个版本，在其论文里第三个版本，被命名为</a:t>
                </a:r>
                <a:r>
                  <a:rPr lang="en-US" altLang="zh-CN" dirty="0"/>
                  <a:t>AC3</a:t>
                </a:r>
              </a:p>
              <a:p>
                <a:endParaRPr lang="zh-CN" altLang="en-US" dirty="0"/>
              </a:p>
            </p:txBody>
          </p:sp>
        </mc:Choice>
        <mc:Fallback xmlns="">
          <p:sp>
            <p:nvSpPr>
              <p:cNvPr id="3" name="备注占位符 2"/>
              <p:cNvSpPr>
                <a:spLocks noGrp="1"/>
              </p:cNvSpPr>
              <p:nvPr>
                <p:ph type="body" idx="1"/>
              </p:nvPr>
            </p:nvSpPr>
            <p:spPr/>
            <p:txBody>
              <a:bodyPr/>
              <a:lstStyle/>
              <a:p>
                <a:r>
                  <a:rPr lang="zh-CN" altLang="en-US" dirty="0"/>
                  <a:t>弧相容</a:t>
                </a:r>
                <a:endParaRPr lang="en-US" altLang="zh-CN" dirty="0"/>
              </a:p>
              <a:p>
                <a:endParaRPr lang="en-US" altLang="zh-CN" dirty="0"/>
              </a:p>
              <a:p>
                <a:r>
                  <a:rPr lang="zh-CN" altLang="en-US" dirty="0"/>
                  <a:t>对</a:t>
                </a:r>
                <a:r>
                  <a:rPr lang="en-US" altLang="zh-CN" i="0" dirty="0">
                    <a:latin typeface="Cambria Math" panose="02040503050406030204" pitchFamily="18" charset="0"/>
                  </a:rPr>
                  <a:t>𝐷</a:t>
                </a:r>
                <a:r>
                  <a:rPr lang="en-US" altLang="zh-CN" sz="1200" i="0" dirty="0">
                    <a:latin typeface="Cambria Math" panose="02040503050406030204" pitchFamily="18" charset="0"/>
                  </a:rPr>
                  <a:t>𝑖</a:t>
                </a:r>
                <a:r>
                  <a:rPr lang="en-US" altLang="zh-CN" sz="1200" dirty="0"/>
                  <a:t> </a:t>
                </a:r>
                <a:r>
                  <a:rPr lang="zh-CN" altLang="en-US" sz="1200" dirty="0"/>
                  <a:t>中的每一个值，都存在一些数值满足二元约束。</a:t>
                </a:r>
                <a:endParaRPr lang="en-US" altLang="zh-CN" sz="1200" dirty="0"/>
              </a:p>
              <a:p>
                <a:r>
                  <a:rPr lang="en-US" altLang="zh-CN" sz="1200" dirty="0"/>
                  <a:t>Y=x^2; &lt;(</a:t>
                </a:r>
                <a:r>
                  <a:rPr lang="en-US" altLang="zh-CN" sz="1200" dirty="0" err="1"/>
                  <a:t>x,y</a:t>
                </a:r>
                <a:r>
                  <a:rPr lang="en-US" altLang="zh-CN" sz="1200" dirty="0"/>
                  <a:t>),{(0,0),(1,1),(2,4),(3,9)}&gt;, </a:t>
                </a:r>
                <a:r>
                  <a:rPr lang="en-US" altLang="zh-CN" sz="1200" dirty="0" err="1"/>
                  <a:t>Dx</a:t>
                </a:r>
                <a:r>
                  <a:rPr lang="en-US" altLang="zh-CN" sz="1200" dirty="0"/>
                  <a:t>={0,1,2,3},</a:t>
                </a:r>
                <a:r>
                  <a:rPr lang="en-US" altLang="zh-CN" sz="1200" dirty="0" err="1"/>
                  <a:t>Dy</a:t>
                </a:r>
                <a:r>
                  <a:rPr lang="en-US" altLang="zh-CN" sz="1200" dirty="0"/>
                  <a:t>={0,1,4,9}</a:t>
                </a:r>
                <a:endParaRPr lang="en-US" altLang="zh-CN" dirty="0"/>
              </a:p>
              <a:p>
                <a:endParaRPr lang="en-US" altLang="zh-CN" dirty="0"/>
              </a:p>
              <a:p>
                <a:r>
                  <a:rPr lang="en-US" altLang="zh-CN" dirty="0"/>
                  <a:t>AC-3</a:t>
                </a:r>
                <a:r>
                  <a:rPr lang="zh-CN" altLang="en-US" dirty="0"/>
                  <a:t>的发明人，</a:t>
                </a:r>
                <a:r>
                  <a:rPr lang="en-US" altLang="zh-CN" dirty="0" err="1"/>
                  <a:t>Mackworth</a:t>
                </a:r>
                <a:r>
                  <a:rPr lang="zh-CN" altLang="en-US" dirty="0"/>
                  <a:t>，</a:t>
                </a:r>
                <a:r>
                  <a:rPr lang="en-US" altLang="zh-CN" dirty="0"/>
                  <a:t>1977</a:t>
                </a:r>
                <a:r>
                  <a:rPr lang="zh-CN" altLang="en-US" dirty="0"/>
                  <a:t>，提出了三个版本，在其论文里第三个版本，被命名为</a:t>
                </a:r>
                <a:r>
                  <a:rPr lang="en-US" altLang="zh-CN" dirty="0"/>
                  <a:t>AC3</a:t>
                </a: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96623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lvl="1"/>
                <a:r>
                  <a:rPr lang="en-US" altLang="zh-CN" dirty="0"/>
                  <a:t>If revise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oMath>
                </a14:m>
                <a:r>
                  <a:rPr lang="en-US" altLang="zh-CN" sz="1400" dirty="0"/>
                  <a:t>, </a:t>
                </a:r>
                <a:r>
                  <a:rPr lang="en-US" altLang="zh-CN" dirty="0"/>
                  <a:t>we add all arcs </a:t>
                </a:r>
                <a14:m>
                  <m:oMath xmlns:m="http://schemas.openxmlformats.org/officeDocument/2006/math">
                    <m:d>
                      <m:dPr>
                        <m:ctrlPr>
                          <a:rPr lang="en-US" altLang="zh-CN" i="1" dirty="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r>
                          <a:rPr lang="en-US" altLang="zh-CN" i="1" dirty="0" smtClean="0">
                            <a:latin typeface="Cambria Math" panose="02040503050406030204" pitchFamily="18" charset="0"/>
                          </a:rPr>
                          <m:t> </m:t>
                        </m:r>
                      </m:e>
                    </m:d>
                  </m:oMath>
                </a14:m>
                <a:r>
                  <a:rPr lang="en-US" altLang="zh-CN" dirty="0"/>
                  <a:t> where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𝑘</m:t>
                        </m:r>
                      </m:sub>
                    </m:sSub>
                  </m:oMath>
                </a14:m>
                <a:r>
                  <a:rPr lang="en-US" altLang="zh-CN" sz="1400" dirty="0"/>
                  <a:t> </a:t>
                </a:r>
                <a:r>
                  <a:rPr lang="en-US" altLang="zh-CN" dirty="0"/>
                  <a:t>is a neighbor of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r>
                      <a:rPr lang="en-US" altLang="zh-CN" i="1" dirty="0">
                        <a:latin typeface="Cambria Math" panose="02040503050406030204" pitchFamily="18" charset="0"/>
                      </a:rPr>
                      <m:t> </m:t>
                    </m:r>
                  </m:oMath>
                </a14:m>
                <a:endParaRPr lang="en-US" altLang="zh-CN" dirty="0"/>
              </a:p>
              <a:p>
                <a:pPr lvl="1"/>
                <a:r>
                  <a:rPr lang="en-US" altLang="zh-CN" dirty="0"/>
                  <a:t>We need to do that because the change in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oMath>
                </a14:m>
                <a:r>
                  <a:rPr lang="en-US" altLang="zh-CN" sz="1400" dirty="0"/>
                  <a:t> </a:t>
                </a:r>
                <a:r>
                  <a:rPr lang="en-US" altLang="zh-CN" dirty="0"/>
                  <a:t>might enable further reductions in the domains of </a:t>
                </a:r>
                <a14:m>
                  <m:oMath xmlns:m="http://schemas.openxmlformats.org/officeDocument/2006/math">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𝐷</m:t>
                        </m:r>
                      </m:e>
                      <m:sub>
                        <m:r>
                          <a:rPr lang="en-US" altLang="zh-CN" b="0" i="1" dirty="0" smtClean="0">
                            <a:latin typeface="Cambria Math" panose="02040503050406030204" pitchFamily="18" charset="0"/>
                          </a:rPr>
                          <m:t>𝑘</m:t>
                        </m:r>
                      </m:sub>
                    </m:sSub>
                  </m:oMath>
                </a14:m>
                <a:endParaRPr lang="en-US" altLang="zh-CN" b="0" dirty="0"/>
              </a:p>
              <a:p>
                <a:pPr lvl="1"/>
                <a:r>
                  <a:rPr lang="zh-CN" altLang="en-US" dirty="0"/>
                  <a:t>如果</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oMath>
                </a14:m>
                <a:r>
                  <a:rPr lang="zh-CN" altLang="en-US" dirty="0"/>
                  <a:t>发生变化（变小），那么每个指向</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oMath>
                </a14:m>
                <a:r>
                  <a:rPr lang="zh-CN" altLang="en-US" dirty="0"/>
                  <a:t>的弧都必须重新插入队列中检验。</a:t>
                </a:r>
              </a:p>
              <a:p>
                <a:endParaRPr lang="en-US" altLang="zh-CN" dirty="0"/>
              </a:p>
              <a:p>
                <a:r>
                  <a:rPr lang="en-US" altLang="zh-CN" dirty="0"/>
                  <a:t>1</a:t>
                </a:r>
                <a:r>
                  <a:rPr lang="zh-CN" altLang="en-US" dirty="0"/>
                  <a:t>，初始，用队列包含所有弧</a:t>
                </a:r>
                <a:endParaRPr lang="en-US" altLang="zh-CN" dirty="0"/>
              </a:p>
              <a:p>
                <a:r>
                  <a:rPr lang="en-US" altLang="zh-CN" dirty="0"/>
                  <a:t>2</a:t>
                </a:r>
                <a:r>
                  <a:rPr lang="zh-CN" altLang="en-US" dirty="0"/>
                  <a:t>，从队列中弹出</a:t>
                </a:r>
                <a14:m>
                  <m:oMath xmlns:m="http://schemas.openxmlformats.org/officeDocument/2006/math">
                    <m:d>
                      <m:dPr>
                        <m:ctrlPr>
                          <a:rPr lang="en-US" altLang="zh-CN" i="1" dirty="0" smtClean="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𝑗</m:t>
                            </m:r>
                          </m:sub>
                        </m:sSub>
                      </m:e>
                    </m:d>
                  </m:oMath>
                </a14:m>
                <a:r>
                  <a:rPr lang="zh-CN" altLang="en-US" dirty="0"/>
                  <a:t>，确认</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oMath>
                </a14:m>
                <a:r>
                  <a:rPr lang="zh-CN" altLang="en-US" dirty="0"/>
                  <a:t>和</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𝑗</m:t>
                        </m:r>
                      </m:sub>
                    </m:sSub>
                  </m:oMath>
                </a14:m>
                <a:r>
                  <a:rPr lang="zh-CN" altLang="en-US" dirty="0"/>
                  <a:t>弧相容</a:t>
                </a:r>
                <a:endParaRPr lang="en-US" altLang="zh-CN" dirty="0"/>
              </a:p>
              <a:p>
                <a:r>
                  <a:rPr lang="en-US" altLang="zh-CN" dirty="0"/>
                  <a:t>3</a:t>
                </a:r>
                <a:r>
                  <a:rPr lang="zh-CN" altLang="en-US" dirty="0"/>
                  <a:t>，如果</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 </m:t>
                        </m:r>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zh-CN" altLang="en-US" i="1" dirty="0" smtClean="0">
                        <a:latin typeface="Cambria Math" panose="02040503050406030204" pitchFamily="18" charset="0"/>
                      </a:rPr>
                      <m:t>没变</m:t>
                    </m:r>
                  </m:oMath>
                </a14:m>
                <a:r>
                  <a:rPr lang="zh-CN" altLang="en-US" dirty="0"/>
                  <a:t>，则处理下一条弧</a:t>
                </a:r>
                <a:endParaRPr lang="en-US" altLang="zh-CN" dirty="0"/>
              </a:p>
              <a:p>
                <a:r>
                  <a:rPr lang="en-US" altLang="zh-CN" dirty="0"/>
                  <a:t>4</a:t>
                </a:r>
                <a:r>
                  <a:rPr lang="zh-CN" altLang="en-US" dirty="0"/>
                  <a:t>，如果</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 </m:t>
                        </m:r>
                        <m:r>
                          <a:rPr lang="en-US" altLang="zh-CN" i="1" dirty="0">
                            <a:latin typeface="Cambria Math" panose="02040503050406030204" pitchFamily="18" charset="0"/>
                          </a:rPr>
                          <m:t>𝐷</m:t>
                        </m:r>
                      </m:e>
                      <m:sub>
                        <m:r>
                          <a:rPr lang="en-US" altLang="zh-CN" i="1" dirty="0">
                            <a:latin typeface="Cambria Math" panose="02040503050406030204" pitchFamily="18" charset="0"/>
                          </a:rPr>
                          <m:t>𝑖</m:t>
                        </m:r>
                      </m:sub>
                    </m:sSub>
                    <m:r>
                      <a:rPr lang="zh-CN" altLang="en-US" i="1" dirty="0" smtClean="0">
                        <a:latin typeface="Cambria Math" panose="02040503050406030204" pitchFamily="18" charset="0"/>
                      </a:rPr>
                      <m:t>改变</m:t>
                    </m:r>
                  </m:oMath>
                </a14:m>
                <a:r>
                  <a:rPr lang="zh-CN" altLang="en-US" dirty="0"/>
                  <a:t>，则将所有指向</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oMath>
                </a14:m>
                <a:r>
                  <a:rPr lang="zh-CN" altLang="en-US" dirty="0"/>
                  <a:t>的弧进队列，这里的改变是指删除一个值</a:t>
                </a:r>
                <a:endParaRPr lang="en-US" altLang="zh-CN" dirty="0"/>
              </a:p>
              <a:p>
                <a:r>
                  <a:rPr lang="en-US" altLang="zh-CN" dirty="0"/>
                  <a:t>5</a:t>
                </a:r>
                <a:r>
                  <a:rPr lang="zh-CN" altLang="en-US" dirty="0"/>
                  <a:t>，。</a:t>
                </a:r>
              </a:p>
            </p:txBody>
          </p:sp>
        </mc:Choice>
        <mc:Fallback xmlns="">
          <p:sp>
            <p:nvSpPr>
              <p:cNvPr id="3" name="备注占位符 2"/>
              <p:cNvSpPr>
                <a:spLocks noGrp="1"/>
              </p:cNvSpPr>
              <p:nvPr>
                <p:ph type="body" idx="1"/>
              </p:nvPr>
            </p:nvSpPr>
            <p:spPr/>
            <p:txBody>
              <a:bodyPr/>
              <a:lstStyle/>
              <a:p>
                <a:pPr lvl="1"/>
                <a:r>
                  <a:rPr lang="en-US" altLang="zh-CN" dirty="0"/>
                  <a:t>If revise </a:t>
                </a:r>
                <a:r>
                  <a:rPr lang="en-US" altLang="zh-CN" i="0" dirty="0">
                    <a:latin typeface="Cambria Math" panose="02040503050406030204" pitchFamily="18" charset="0"/>
                  </a:rPr>
                  <a:t>𝐷_𝑖</a:t>
                </a:r>
                <a:r>
                  <a:rPr lang="en-US" altLang="zh-CN" sz="1400" dirty="0"/>
                  <a:t>, </a:t>
                </a:r>
                <a:r>
                  <a:rPr lang="en-US" altLang="zh-CN" dirty="0"/>
                  <a:t>we add all arcs </a:t>
                </a:r>
                <a:r>
                  <a:rPr lang="en-US" altLang="zh-CN" i="0" dirty="0">
                    <a:latin typeface="Cambria Math" panose="02040503050406030204" pitchFamily="18" charset="0"/>
                  </a:rPr>
                  <a:t>(𝑋_</a:t>
                </a:r>
                <a:r>
                  <a:rPr lang="en-US" altLang="zh-CN" b="0" i="0" dirty="0">
                    <a:latin typeface="Cambria Math" panose="02040503050406030204" pitchFamily="18" charset="0"/>
                  </a:rPr>
                  <a:t>𝑘,</a:t>
                </a:r>
                <a:r>
                  <a:rPr lang="en-US" altLang="zh-CN" i="0" dirty="0">
                    <a:latin typeface="Cambria Math" panose="02040503050406030204" pitchFamily="18" charset="0"/>
                  </a:rPr>
                  <a:t>𝑋_𝑖  )</a:t>
                </a:r>
                <a:r>
                  <a:rPr lang="en-US" altLang="zh-CN" dirty="0"/>
                  <a:t> where </a:t>
                </a:r>
                <a:r>
                  <a:rPr lang="en-US" altLang="zh-CN" i="0" dirty="0">
                    <a:latin typeface="Cambria Math" panose="02040503050406030204" pitchFamily="18" charset="0"/>
                  </a:rPr>
                  <a:t>𝑋_𝑘</a:t>
                </a:r>
                <a:r>
                  <a:rPr lang="en-US" altLang="zh-CN" sz="1400" dirty="0"/>
                  <a:t> </a:t>
                </a:r>
                <a:r>
                  <a:rPr lang="en-US" altLang="zh-CN" dirty="0"/>
                  <a:t>is a neighbor of </a:t>
                </a:r>
                <a:r>
                  <a:rPr lang="en-US" altLang="zh-CN" i="0" dirty="0">
                    <a:latin typeface="Cambria Math" panose="02040503050406030204" pitchFamily="18" charset="0"/>
                  </a:rPr>
                  <a:t>𝑋_𝑖  </a:t>
                </a:r>
                <a:endParaRPr lang="en-US" altLang="zh-CN" dirty="0"/>
              </a:p>
              <a:p>
                <a:pPr lvl="1"/>
                <a:r>
                  <a:rPr lang="en-US" altLang="zh-CN" dirty="0"/>
                  <a:t>We need to do that because the change in </a:t>
                </a:r>
                <a:r>
                  <a:rPr lang="en-US" altLang="zh-CN" i="0" dirty="0">
                    <a:latin typeface="Cambria Math" panose="02040503050406030204" pitchFamily="18" charset="0"/>
                  </a:rPr>
                  <a:t>𝐷_𝑖</a:t>
                </a:r>
                <a:r>
                  <a:rPr lang="en-US" altLang="zh-CN" sz="1400" dirty="0"/>
                  <a:t> </a:t>
                </a:r>
                <a:r>
                  <a:rPr lang="en-US" altLang="zh-CN" dirty="0"/>
                  <a:t>might enable further reductions in the domains of </a:t>
                </a:r>
                <a:r>
                  <a:rPr lang="en-US" altLang="zh-CN" i="0" dirty="0">
                    <a:latin typeface="Cambria Math" panose="02040503050406030204" pitchFamily="18" charset="0"/>
                  </a:rPr>
                  <a:t>𝐷_</a:t>
                </a:r>
                <a:r>
                  <a:rPr lang="en-US" altLang="zh-CN" b="0" i="0" dirty="0">
                    <a:latin typeface="Cambria Math" panose="02040503050406030204" pitchFamily="18" charset="0"/>
                  </a:rPr>
                  <a:t>𝑘</a:t>
                </a:r>
                <a:endParaRPr lang="en-US" altLang="zh-CN" b="0" dirty="0"/>
              </a:p>
              <a:p>
                <a:pPr lvl="1"/>
                <a:r>
                  <a:rPr lang="zh-CN" altLang="en-US" dirty="0"/>
                  <a:t>如果</a:t>
                </a:r>
                <a:r>
                  <a:rPr lang="en-US" altLang="zh-CN" i="0" dirty="0">
                    <a:latin typeface="Cambria Math" panose="02040503050406030204" pitchFamily="18" charset="0"/>
                  </a:rPr>
                  <a:t>𝐷_𝑖</a:t>
                </a:r>
                <a:r>
                  <a:rPr lang="zh-CN" altLang="en-US" dirty="0"/>
                  <a:t>发生变化（变小），那么每个指向</a:t>
                </a:r>
                <a:r>
                  <a:rPr lang="en-US" altLang="zh-CN" i="0" dirty="0">
                    <a:latin typeface="Cambria Math" panose="02040503050406030204" pitchFamily="18" charset="0"/>
                  </a:rPr>
                  <a:t>𝑋_𝑖</a:t>
                </a:r>
                <a:r>
                  <a:rPr lang="zh-CN" altLang="en-US" dirty="0"/>
                  <a:t>的弧都必须重新插入队列中检验。</a:t>
                </a:r>
              </a:p>
              <a:p>
                <a:endParaRPr lang="en-US" altLang="zh-CN" dirty="0"/>
              </a:p>
              <a:p>
                <a:r>
                  <a:rPr lang="en-US" altLang="zh-CN" dirty="0"/>
                  <a:t>1</a:t>
                </a:r>
                <a:r>
                  <a:rPr lang="zh-CN" altLang="en-US" dirty="0"/>
                  <a:t>，初始，用队列包含所有弧</a:t>
                </a:r>
                <a:endParaRPr lang="en-US" altLang="zh-CN" dirty="0"/>
              </a:p>
              <a:p>
                <a:r>
                  <a:rPr lang="en-US" altLang="zh-CN" dirty="0"/>
                  <a:t>2</a:t>
                </a:r>
                <a:r>
                  <a:rPr lang="zh-CN" altLang="en-US" dirty="0"/>
                  <a:t>，从队列中弹出</a:t>
                </a:r>
                <a:r>
                  <a:rPr lang="en-US" altLang="zh-CN" i="0" dirty="0">
                    <a:latin typeface="Cambria Math" panose="02040503050406030204" pitchFamily="18" charset="0"/>
                  </a:rPr>
                  <a:t>(𝑋_𝑖</a:t>
                </a:r>
                <a:r>
                  <a:rPr lang="en-US" altLang="zh-CN" i="0" dirty="0" err="1">
                    <a:latin typeface="Cambria Math" panose="02040503050406030204" pitchFamily="18" charset="0"/>
                  </a:rPr>
                  <a:t>,</a:t>
                </a:r>
                <a:r>
                  <a:rPr lang="en-US" altLang="zh-CN" i="0" dirty="0">
                    <a:latin typeface="Cambria Math" panose="02040503050406030204" pitchFamily="18" charset="0"/>
                  </a:rPr>
                  <a:t>𝑋_𝑗 )</a:t>
                </a:r>
                <a:r>
                  <a:rPr lang="zh-CN" altLang="en-US" dirty="0"/>
                  <a:t>，确认</a:t>
                </a:r>
                <a:r>
                  <a:rPr lang="en-US" altLang="zh-CN" i="0" dirty="0">
                    <a:latin typeface="Cambria Math" panose="02040503050406030204" pitchFamily="18" charset="0"/>
                  </a:rPr>
                  <a:t>𝑋_𝑖</a:t>
                </a:r>
                <a:r>
                  <a:rPr lang="zh-CN" altLang="en-US" dirty="0"/>
                  <a:t>和</a:t>
                </a:r>
                <a:r>
                  <a:rPr lang="en-US" altLang="zh-CN" i="0" dirty="0">
                    <a:latin typeface="Cambria Math" panose="02040503050406030204" pitchFamily="18" charset="0"/>
                  </a:rPr>
                  <a:t>𝑋_𝑗</a:t>
                </a:r>
                <a:r>
                  <a:rPr lang="zh-CN" altLang="en-US" dirty="0"/>
                  <a:t>弧相容</a:t>
                </a:r>
                <a:endParaRPr lang="en-US" altLang="zh-CN" dirty="0"/>
              </a:p>
              <a:p>
                <a:r>
                  <a:rPr lang="en-US" altLang="zh-CN" dirty="0"/>
                  <a:t>3</a:t>
                </a:r>
                <a:r>
                  <a:rPr lang="zh-CN" altLang="en-US" dirty="0"/>
                  <a:t>，如果</a:t>
                </a:r>
                <a:r>
                  <a:rPr lang="en-US" altLang="zh-CN" i="0" dirty="0">
                    <a:latin typeface="Cambria Math" panose="02040503050406030204" pitchFamily="18" charset="0"/>
                  </a:rPr>
                  <a:t>〖 𝐷〗_𝑖</a:t>
                </a:r>
                <a:r>
                  <a:rPr lang="zh-CN" altLang="en-US" i="0" dirty="0">
                    <a:latin typeface="Cambria Math" panose="02040503050406030204" pitchFamily="18" charset="0"/>
                  </a:rPr>
                  <a:t> 没变</a:t>
                </a:r>
                <a:r>
                  <a:rPr lang="zh-CN" altLang="en-US" dirty="0"/>
                  <a:t>，则处理下一条弧</a:t>
                </a:r>
                <a:endParaRPr lang="en-US" altLang="zh-CN" dirty="0"/>
              </a:p>
              <a:p>
                <a:r>
                  <a:rPr lang="en-US" altLang="zh-CN" dirty="0"/>
                  <a:t>4</a:t>
                </a:r>
                <a:r>
                  <a:rPr lang="zh-CN" altLang="en-US" dirty="0"/>
                  <a:t>，如果</a:t>
                </a:r>
                <a:r>
                  <a:rPr lang="en-US" altLang="zh-CN" i="0" dirty="0">
                    <a:latin typeface="Cambria Math" panose="02040503050406030204" pitchFamily="18" charset="0"/>
                  </a:rPr>
                  <a:t>〖 𝐷〗_𝑖</a:t>
                </a:r>
                <a:r>
                  <a:rPr lang="zh-CN" altLang="en-US" i="0" dirty="0">
                    <a:latin typeface="Cambria Math" panose="02040503050406030204" pitchFamily="18" charset="0"/>
                  </a:rPr>
                  <a:t> 改变</a:t>
                </a:r>
                <a:r>
                  <a:rPr lang="zh-CN" altLang="en-US" dirty="0"/>
                  <a:t>，则将所有指向</a:t>
                </a:r>
                <a:r>
                  <a:rPr lang="en-US" altLang="zh-CN" i="0" dirty="0">
                    <a:latin typeface="Cambria Math" panose="02040503050406030204" pitchFamily="18" charset="0"/>
                  </a:rPr>
                  <a:t>𝑋_𝑖</a:t>
                </a:r>
                <a:r>
                  <a:rPr lang="zh-CN" altLang="en-US" dirty="0"/>
                  <a:t>的弧进队列，这里的改变是指删除一个值</a:t>
                </a:r>
                <a:endParaRPr lang="en-US" altLang="zh-CN" dirty="0"/>
              </a:p>
              <a:p>
                <a:r>
                  <a:rPr lang="en-US" altLang="zh-CN" dirty="0"/>
                  <a:t>5</a:t>
                </a:r>
                <a:r>
                  <a:rPr lang="zh-CN" altLang="en-US" dirty="0"/>
                  <a:t>，如果</a:t>
                </a:r>
                <a:r>
                  <a:rPr lang="en-US" altLang="zh-CN" i="0" dirty="0">
                    <a:latin typeface="Cambria Math" panose="02040503050406030204" pitchFamily="18" charset="0"/>
                  </a:rPr>
                  <a:t>𝐷_𝑖</a:t>
                </a:r>
                <a:r>
                  <a:rPr lang="zh-CN" altLang="en-US" dirty="0"/>
                  <a:t>为空，则失败。</a:t>
                </a:r>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211359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Xi.neighbors</a:t>
            </a:r>
            <a:r>
              <a:rPr lang="en-US" altLang="zh-CN" dirty="0"/>
              <a:t>-{</a:t>
            </a:r>
            <a:r>
              <a:rPr lang="en-US" altLang="zh-CN" dirty="0" err="1"/>
              <a:t>Xj</a:t>
            </a:r>
            <a:r>
              <a:rPr lang="en-US" altLang="zh-CN" dirty="0"/>
              <a:t>} </a:t>
            </a:r>
            <a:r>
              <a:rPr lang="zh-CN" altLang="en-US" dirty="0"/>
              <a:t>除了变量</a:t>
            </a:r>
            <a:r>
              <a:rPr lang="en-US" altLang="zh-CN" dirty="0" err="1"/>
              <a:t>Xj</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616155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Xi.neighbors</a:t>
            </a:r>
            <a:r>
              <a:rPr lang="en-US" altLang="zh-CN" dirty="0"/>
              <a:t>-{</a:t>
            </a:r>
            <a:r>
              <a:rPr lang="en-US" altLang="zh-CN" dirty="0" err="1"/>
              <a:t>Xj</a:t>
            </a:r>
            <a:r>
              <a:rPr lang="en-US" altLang="zh-CN" dirty="0"/>
              <a:t>} </a:t>
            </a:r>
            <a:r>
              <a:rPr lang="zh-CN" altLang="en-US" dirty="0"/>
              <a:t>除了变量</a:t>
            </a:r>
            <a:r>
              <a:rPr lang="en-US" altLang="zh-CN" dirty="0" err="1"/>
              <a:t>Xj</a:t>
            </a:r>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17</a:t>
            </a:fld>
            <a:endParaRPr lang="zh-CN" altLang="en-US"/>
          </a:p>
        </p:txBody>
      </p:sp>
    </p:spTree>
    <p:extLst>
      <p:ext uri="{BB962C8B-B14F-4D97-AF65-F5344CB8AC3E}">
        <p14:creationId xmlns:p14="http://schemas.microsoft.com/office/powerpoint/2010/main" val="39717594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anose="020B0604020202090204" pitchFamily="34" charset="0"/>
                    <a:ea typeface="+mn-ea"/>
                    <a:cs typeface="+mn-cs"/>
                  </a:rPr>
                  <a:t>Each arc (</a:t>
                </a:r>
                <a:r>
                  <a:rPr lang="en-US" altLang="zh-CN" sz="1200" b="0" i="0" u="none" strike="noStrike" kern="1200" baseline="0" dirty="0" err="1">
                    <a:solidFill>
                      <a:schemeClr val="tx1"/>
                    </a:solidFill>
                    <a:latin typeface="Arial" panose="020B0604020202090204" pitchFamily="34" charset="0"/>
                    <a:ea typeface="+mn-ea"/>
                    <a:cs typeface="+mn-cs"/>
                  </a:rPr>
                  <a:t>Xk,Xi</a:t>
                </a:r>
                <a:r>
                  <a:rPr lang="en-US" altLang="zh-CN" sz="1200" b="0" i="0" u="none" strike="noStrike" kern="1200" baseline="0" dirty="0">
                    <a:solidFill>
                      <a:schemeClr val="tx1"/>
                    </a:solidFill>
                    <a:latin typeface="Arial" panose="020B0604020202090204" pitchFamily="34" charset="0"/>
                    <a:ea typeface="+mn-ea"/>
                    <a:cs typeface="+mn-cs"/>
                  </a:rPr>
                  <a:t>) can be inserted in the queue only d times because Xi has at most d values to delete.</a:t>
                </a:r>
              </a:p>
              <a:p>
                <a:endParaRPr lang="en-US" altLang="zh-CN" sz="1200" b="0" i="0" u="none" strike="noStrike" kern="1200" baseline="0" dirty="0">
                  <a:solidFill>
                    <a:schemeClr val="tx1"/>
                  </a:solidFill>
                  <a:latin typeface="Arial" panose="020B0604020202090204" pitchFamily="34" charset="0"/>
                  <a:ea typeface="+mn-ea"/>
                  <a:cs typeface="+mn-cs"/>
                </a:endParaRPr>
              </a:p>
              <a:p>
                <a:r>
                  <a:rPr lang="zh-CN" altLang="en-US" sz="1200" b="0" i="0" u="none" strike="noStrike" kern="1200" baseline="0" dirty="0">
                    <a:solidFill>
                      <a:schemeClr val="tx1"/>
                    </a:solidFill>
                    <a:latin typeface="Arial" panose="020B0604020202090204" pitchFamily="34" charset="0"/>
                    <a:ea typeface="+mn-ea"/>
                    <a:cs typeface="+mn-cs"/>
                  </a:rPr>
                  <a:t>复杂度：</a:t>
                </a:r>
                <a:endParaRPr lang="en-US" altLang="zh-CN" sz="1200" b="0" i="0" u="none" strike="noStrike" kern="1200" baseline="0" dirty="0">
                  <a:solidFill>
                    <a:schemeClr val="tx1"/>
                  </a:solidFill>
                  <a:latin typeface="Arial" panose="020B0604020202090204" pitchFamily="34" charset="0"/>
                  <a:ea typeface="+mn-ea"/>
                  <a:cs typeface="+mn-cs"/>
                </a:endParaRPr>
              </a:p>
              <a:p>
                <a:r>
                  <a:rPr lang="zh-CN" altLang="en-US" sz="1200" b="0" i="0" u="none" strike="noStrike" kern="1200" baseline="0" dirty="0">
                    <a:solidFill>
                      <a:schemeClr val="tx1"/>
                    </a:solidFill>
                    <a:latin typeface="Arial" panose="020B0604020202090204" pitchFamily="34" charset="0"/>
                    <a:ea typeface="+mn-ea"/>
                    <a:cs typeface="+mn-cs"/>
                  </a:rPr>
                  <a:t>每条弧</a:t>
                </a:r>
                <a14:m>
                  <m:oMath xmlns:m="http://schemas.openxmlformats.org/officeDocument/2006/math">
                    <m:d>
                      <m:dPr>
                        <m:ctrlPr>
                          <a:rPr lang="en-US" altLang="zh-CN" i="1" dirty="0" smtClean="0">
                            <a:latin typeface="Cambria Math" panose="02040503050406030204" pitchFamily="18" charset="0"/>
                          </a:rPr>
                        </m:ctrlPr>
                      </m:dPr>
                      <m:e>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b="0" i="1" dirty="0" smtClean="0">
                                <a:latin typeface="Cambria Math" panose="02040503050406030204" pitchFamily="18" charset="0"/>
                              </a:rPr>
                              <m:t>𝑘</m:t>
                            </m:r>
                          </m:sub>
                        </m:sSub>
                        <m:r>
                          <a:rPr lang="en-US" altLang="zh-CN" b="0" i="1" dirty="0" smtClean="0">
                            <a:latin typeface="Cambria Math" panose="02040503050406030204" pitchFamily="18" charset="0"/>
                          </a:rPr>
                          <m:t>,</m:t>
                        </m:r>
                        <m:sSub>
                          <m:sSubPr>
                            <m:ctrlPr>
                              <a:rPr lang="en-US" altLang="zh-CN" i="1" dirty="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r>
                          <a:rPr lang="en-US" altLang="zh-CN" i="1" dirty="0" smtClean="0">
                            <a:latin typeface="Cambria Math" panose="02040503050406030204" pitchFamily="18" charset="0"/>
                          </a:rPr>
                          <m:t> </m:t>
                        </m:r>
                      </m:e>
                    </m:d>
                  </m:oMath>
                </a14:m>
                <a:r>
                  <a:rPr lang="zh-CN" altLang="en-US" sz="1200" b="0" i="0" u="none" strike="noStrike" kern="1200" baseline="0" dirty="0">
                    <a:solidFill>
                      <a:schemeClr val="tx1"/>
                    </a:solidFill>
                    <a:latin typeface="Arial" panose="020B0604020202090204" pitchFamily="34" charset="0"/>
                    <a:ea typeface="+mn-ea"/>
                    <a:cs typeface="+mn-cs"/>
                  </a:rPr>
                  <a:t>最多只能进队列</a:t>
                </a:r>
                <a:r>
                  <a:rPr lang="en-US" altLang="zh-CN" sz="1200" b="0" i="0" u="none" strike="noStrike" kern="1200" baseline="0" dirty="0">
                    <a:solidFill>
                      <a:schemeClr val="tx1"/>
                    </a:solidFill>
                    <a:latin typeface="Arial" panose="020B0604020202090204" pitchFamily="34" charset="0"/>
                    <a:ea typeface="+mn-ea"/>
                    <a:cs typeface="+mn-cs"/>
                  </a:rPr>
                  <a:t>d</a:t>
                </a:r>
                <a:r>
                  <a:rPr lang="zh-CN" altLang="en-US" sz="1200" b="0" i="0" u="none" strike="noStrike" kern="1200" baseline="0" dirty="0">
                    <a:solidFill>
                      <a:schemeClr val="tx1"/>
                    </a:solidFill>
                    <a:latin typeface="Arial" panose="020B0604020202090204" pitchFamily="34" charset="0"/>
                    <a:ea typeface="+mn-ea"/>
                    <a:cs typeface="+mn-cs"/>
                  </a:rPr>
                  <a:t>次，因为</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a:latin typeface="Cambria Math" panose="02040503050406030204" pitchFamily="18" charset="0"/>
                          </a:rPr>
                          <m:t>𝑋</m:t>
                        </m:r>
                      </m:e>
                      <m:sub>
                        <m:r>
                          <a:rPr lang="en-US" altLang="zh-CN" i="1" dirty="0">
                            <a:latin typeface="Cambria Math" panose="02040503050406030204" pitchFamily="18" charset="0"/>
                          </a:rPr>
                          <m:t>𝑖</m:t>
                        </m:r>
                      </m:sub>
                    </m:sSub>
                  </m:oMath>
                </a14:m>
                <a:r>
                  <a:rPr lang="zh-CN" altLang="en-US" sz="1200" b="0" i="0" u="none" strike="noStrike" kern="1200" baseline="0" dirty="0">
                    <a:solidFill>
                      <a:schemeClr val="tx1"/>
                    </a:solidFill>
                    <a:latin typeface="Arial" panose="020B0604020202090204" pitchFamily="34" charset="0"/>
                    <a:ea typeface="+mn-ea"/>
                    <a:cs typeface="+mn-cs"/>
                  </a:rPr>
                  <a:t>最多只能有</a:t>
                </a:r>
                <a:r>
                  <a:rPr lang="en-US" altLang="zh-CN" sz="1200" b="0" i="0" u="none" strike="noStrike" kern="1200" baseline="0" dirty="0">
                    <a:solidFill>
                      <a:schemeClr val="tx1"/>
                    </a:solidFill>
                    <a:latin typeface="Arial" panose="020B0604020202090204" pitchFamily="34" charset="0"/>
                    <a:ea typeface="+mn-ea"/>
                    <a:cs typeface="+mn-cs"/>
                  </a:rPr>
                  <a:t>d</a:t>
                </a:r>
                <a:r>
                  <a:rPr lang="zh-CN" altLang="en-US" sz="1200" b="0" i="0" u="none" strike="noStrike" kern="1200" baseline="0" dirty="0">
                    <a:solidFill>
                      <a:schemeClr val="tx1"/>
                    </a:solidFill>
                    <a:latin typeface="Arial" panose="020B0604020202090204" pitchFamily="34" charset="0"/>
                    <a:ea typeface="+mn-ea"/>
                    <a:cs typeface="+mn-cs"/>
                  </a:rPr>
                  <a:t>个值可删除。</a:t>
                </a:r>
                <a:endParaRPr lang="en-US" altLang="zh-CN" sz="1200" b="0" i="0" u="none" strike="noStrike" kern="1200" baseline="0" dirty="0">
                  <a:solidFill>
                    <a:schemeClr val="tx1"/>
                  </a:solidFill>
                  <a:latin typeface="Arial" panose="020B0604020202090204" pitchFamily="34" charset="0"/>
                  <a:ea typeface="+mn-ea"/>
                  <a:cs typeface="+mn-cs"/>
                </a:endParaRPr>
              </a:p>
              <a:p>
                <a:endParaRPr lang="en-US" altLang="zh-CN" sz="1200" b="0" i="0" u="none" strike="noStrike" kern="1200" baseline="0" dirty="0">
                  <a:solidFill>
                    <a:schemeClr val="tx1"/>
                  </a:solidFill>
                  <a:latin typeface="Arial" panose="020B060402020209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u="none" strike="noStrike" kern="1200" baseline="0" dirty="0">
                    <a:solidFill>
                      <a:schemeClr val="tx1"/>
                    </a:solidFill>
                    <a:latin typeface="Arial" panose="020B0604020202090204" pitchFamily="34" charset="0"/>
                    <a:ea typeface="+mn-ea"/>
                    <a:cs typeface="+mn-cs"/>
                  </a:rPr>
                  <a:t>检验一条弧的相容性可以在</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𝑑</m:t>
                        </m:r>
                      </m:e>
                      <m:sup>
                        <m:r>
                          <a:rPr lang="en-US" altLang="zh-CN" b="0" i="1" dirty="0" smtClean="0">
                            <a:latin typeface="Cambria Math" panose="02040503050406030204" pitchFamily="18" charset="0"/>
                          </a:rPr>
                          <m:t>2</m:t>
                        </m:r>
                      </m:sup>
                    </m:sSup>
                    <m:r>
                      <a:rPr lang="en-US" altLang="zh-CN" i="1" dirty="0">
                        <a:latin typeface="Cambria Math" panose="02040503050406030204" pitchFamily="18" charset="0"/>
                      </a:rPr>
                      <m:t>)</m:t>
                    </m:r>
                  </m:oMath>
                </a14:m>
                <a:r>
                  <a:rPr lang="en-US" altLang="zh-CN" dirty="0"/>
                  <a:t> </a:t>
                </a:r>
                <a:r>
                  <a:rPr lang="zh-CN" altLang="en-US" dirty="0"/>
                  <a:t>内完成，最坏情况下复杂度为</a:t>
                </a:r>
                <a14:m>
                  <m:oMath xmlns:m="http://schemas.openxmlformats.org/officeDocument/2006/math">
                    <m:r>
                      <a:rPr lang="en-US" altLang="zh-CN" i="1" dirty="0" smtClean="0">
                        <a:latin typeface="Cambria Math" panose="02040503050406030204" pitchFamily="18" charset="0"/>
                      </a:rPr>
                      <m:t>𝑂</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𝑐</m:t>
                    </m:r>
                    <m:sSup>
                      <m:sSupPr>
                        <m:ctrlPr>
                          <a:rPr lang="en-US" altLang="zh-CN" i="1" dirty="0">
                            <a:latin typeface="Cambria Math" panose="02040503050406030204" pitchFamily="18" charset="0"/>
                          </a:rPr>
                        </m:ctrlPr>
                      </m:sSupPr>
                      <m:e>
                        <m:r>
                          <a:rPr lang="en-US" altLang="zh-CN" i="1" dirty="0">
                            <a:latin typeface="Cambria Math" panose="02040503050406030204" pitchFamily="18" charset="0"/>
                          </a:rPr>
                          <m:t>𝑑</m:t>
                        </m:r>
                      </m:e>
                      <m:sup>
                        <m:r>
                          <a:rPr lang="en-US" altLang="zh-CN" i="1" dirty="0">
                            <a:latin typeface="Cambria Math" panose="02040503050406030204" pitchFamily="18" charset="0"/>
                          </a:rPr>
                          <m:t>3</m:t>
                        </m:r>
                      </m:sup>
                    </m:sSup>
                    <m:r>
                      <a:rPr lang="en-US" altLang="zh-CN" i="1" dirty="0">
                        <a:latin typeface="Cambria Math" panose="02040503050406030204" pitchFamily="18" charset="0"/>
                      </a:rPr>
                      <m:t>)</m:t>
                    </m:r>
                  </m:oMath>
                </a14:m>
                <a:r>
                  <a:rPr lang="en-US" altLang="zh-CN" dirty="0"/>
                  <a:t> </a:t>
                </a: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总共有</a:t>
                </a:r>
                <a:r>
                  <a:rPr lang="en-US" altLang="zh-CN" dirty="0"/>
                  <a:t>c</a:t>
                </a:r>
                <a:r>
                  <a:rPr lang="zh-CN" altLang="en-US" dirty="0"/>
                  <a:t>条</a:t>
                </a:r>
                <a:r>
                  <a:rPr lang="en-US" altLang="zh-CN" dirty="0"/>
                  <a:t>arc</a:t>
                </a:r>
                <a:r>
                  <a:rPr lang="zh-CN" altLang="en-US" dirty="0"/>
                  <a:t>，对于每一个</a:t>
                </a:r>
                <a:r>
                  <a:rPr lang="en-US" altLang="zh-CN" dirty="0"/>
                  <a:t>arc</a:t>
                </a:r>
                <a:r>
                  <a:rPr lang="zh-CN" altLang="en-US" dirty="0"/>
                  <a:t>，其连接两个</a:t>
                </a:r>
                <a:r>
                  <a:rPr lang="en-US" altLang="zh-CN" dirty="0"/>
                  <a:t>node xi xk</a:t>
                </a:r>
                <a:r>
                  <a:rPr lang="zh-CN" altLang="en-US" dirty="0"/>
                  <a:t>，那么对于</a:t>
                </a:r>
                <a:r>
                  <a:rPr lang="en-US" altLang="zh-CN" dirty="0"/>
                  <a:t>xi,</a:t>
                </a:r>
                <a:r>
                  <a:rPr lang="zh-CN" altLang="en-US" dirty="0"/>
                  <a:t>其最多有</a:t>
                </a:r>
                <a:r>
                  <a:rPr lang="en-US" altLang="zh-CN" dirty="0"/>
                  <a:t>d</a:t>
                </a:r>
                <a:r>
                  <a:rPr lang="zh-CN" altLang="en-US" dirty="0"/>
                  <a:t>个值可以选，所以其最多进入</a:t>
                </a:r>
                <a:r>
                  <a:rPr lang="en-US" altLang="zh-CN" dirty="0"/>
                  <a:t>d</a:t>
                </a:r>
                <a:r>
                  <a:rPr lang="zh-CN" altLang="en-US" dirty="0"/>
                  <a:t>次，或者说最多被删除</a:t>
                </a:r>
                <a:r>
                  <a:rPr lang="en-US" altLang="zh-CN" dirty="0"/>
                  <a:t>d</a:t>
                </a:r>
                <a:r>
                  <a:rPr lang="zh-CN" altLang="en-US" dirty="0"/>
                  <a:t>次，然后对于每个</a:t>
                </a:r>
                <a:r>
                  <a:rPr lang="en-US" altLang="zh-CN" dirty="0"/>
                  <a:t>arc</a:t>
                </a:r>
                <a:r>
                  <a:rPr lang="zh-CN" altLang="en-US" dirty="0"/>
                  <a:t>，因为</a:t>
                </a:r>
                <a:r>
                  <a:rPr lang="en-US" altLang="zh-CN" dirty="0"/>
                  <a:t>x_i x_k</a:t>
                </a:r>
                <a:r>
                  <a:rPr lang="zh-CN" altLang="en-US" dirty="0"/>
                  <a:t>都最多有</a:t>
                </a:r>
                <a:r>
                  <a:rPr lang="en-US" altLang="zh-CN" dirty="0"/>
                  <a:t>d</a:t>
                </a:r>
                <a:r>
                  <a:rPr lang="zh-CN" altLang="en-US" dirty="0"/>
                  <a:t>个值，那么检查完所有的可能就要</a:t>
                </a:r>
                <a:r>
                  <a:rPr lang="en-US" altLang="zh-CN" dirty="0"/>
                  <a:t>d^2</a:t>
                </a:r>
                <a:r>
                  <a:rPr lang="zh-CN" altLang="en-US" dirty="0"/>
                  <a:t>次，乘起来就要</a:t>
                </a:r>
                <a:r>
                  <a:rPr lang="en-US" altLang="zh-CN" dirty="0"/>
                  <a:t>cd^3</a:t>
                </a:r>
                <a:r>
                  <a:rPr lang="zh-CN" altLang="en-US" dirty="0"/>
                  <a:t>次</a:t>
                </a:r>
                <a:endParaRPr lang="en-US" altLang="zh-CN" sz="1200" b="0" i="0" u="none" strike="noStrike" kern="1200" baseline="0" dirty="0">
                  <a:solidFill>
                    <a:schemeClr val="tx1"/>
                  </a:solidFill>
                  <a:latin typeface="Arial" panose="020B0604020202090204" pitchFamily="34" charset="0"/>
                  <a:ea typeface="+mn-ea"/>
                  <a:cs typeface="+mn-cs"/>
                </a:endParaRPr>
              </a:p>
              <a:p>
                <a:endParaRPr lang="en-US" altLang="zh-CN" sz="1200" b="0" i="0" u="none" strike="noStrike" kern="1200" baseline="0" dirty="0">
                  <a:solidFill>
                    <a:schemeClr val="tx1"/>
                  </a:solidFill>
                  <a:latin typeface="Arial" panose="020B0604020202090204" pitchFamily="34" charset="0"/>
                  <a:ea typeface="+mn-ea"/>
                  <a:cs typeface="+mn-cs"/>
                </a:endParaRPr>
              </a:p>
              <a:p>
                <a:endParaRPr lang="zh-CN" altLang="en-US" dirty="0"/>
              </a:p>
            </p:txBody>
          </p:sp>
        </mc:Choice>
        <mc:Fallback xmlns="">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anose="020B0604020202090204" pitchFamily="34" charset="0"/>
                    <a:ea typeface="+mn-ea"/>
                    <a:cs typeface="+mn-cs"/>
                  </a:rPr>
                  <a:t>Each arc (</a:t>
                </a:r>
                <a:r>
                  <a:rPr lang="en-US" altLang="zh-CN" sz="1200" b="0" i="0" u="none" strike="noStrike" kern="1200" baseline="0" dirty="0" err="1">
                    <a:solidFill>
                      <a:schemeClr val="tx1"/>
                    </a:solidFill>
                    <a:latin typeface="Arial" panose="020B0604020202090204" pitchFamily="34" charset="0"/>
                    <a:ea typeface="+mn-ea"/>
                    <a:cs typeface="+mn-cs"/>
                  </a:rPr>
                  <a:t>Xk,Xi</a:t>
                </a:r>
                <a:r>
                  <a:rPr lang="en-US" altLang="zh-CN" sz="1200" b="0" i="0" u="none" strike="noStrike" kern="1200" baseline="0" dirty="0">
                    <a:solidFill>
                      <a:schemeClr val="tx1"/>
                    </a:solidFill>
                    <a:latin typeface="Arial" panose="020B0604020202090204" pitchFamily="34" charset="0"/>
                    <a:ea typeface="+mn-ea"/>
                    <a:cs typeface="+mn-cs"/>
                  </a:rPr>
                  <a:t>) can be inserted in the queue only d times because Xi has at most d values to delete.</a:t>
                </a:r>
              </a:p>
              <a:p>
                <a:endParaRPr lang="en-US" altLang="zh-CN" sz="1200" b="0" i="0" u="none" strike="noStrike" kern="1200" baseline="0" dirty="0">
                  <a:solidFill>
                    <a:schemeClr val="tx1"/>
                  </a:solidFill>
                  <a:latin typeface="Arial" panose="020B0604020202090204" pitchFamily="34" charset="0"/>
                  <a:ea typeface="+mn-ea"/>
                  <a:cs typeface="+mn-cs"/>
                </a:endParaRPr>
              </a:p>
              <a:p>
                <a:r>
                  <a:rPr lang="zh-CN" altLang="en-US" sz="1200" b="0" i="0" u="none" strike="noStrike" kern="1200" baseline="0" dirty="0">
                    <a:solidFill>
                      <a:schemeClr val="tx1"/>
                    </a:solidFill>
                    <a:latin typeface="Arial" panose="020B0604020202090204" pitchFamily="34" charset="0"/>
                    <a:ea typeface="+mn-ea"/>
                    <a:cs typeface="+mn-cs"/>
                  </a:rPr>
                  <a:t>复杂度：</a:t>
                </a:r>
                <a:endParaRPr lang="en-US" altLang="zh-CN" sz="1200" b="0" i="0" u="none" strike="noStrike" kern="1200" baseline="0" dirty="0">
                  <a:solidFill>
                    <a:schemeClr val="tx1"/>
                  </a:solidFill>
                  <a:latin typeface="Arial" panose="020B0604020202090204" pitchFamily="34" charset="0"/>
                  <a:ea typeface="+mn-ea"/>
                  <a:cs typeface="+mn-cs"/>
                </a:endParaRPr>
              </a:p>
              <a:p>
                <a:r>
                  <a:rPr lang="zh-CN" altLang="en-US" sz="1200" b="0" i="0" u="none" strike="noStrike" kern="1200" baseline="0" dirty="0">
                    <a:solidFill>
                      <a:schemeClr val="tx1"/>
                    </a:solidFill>
                    <a:latin typeface="Arial" panose="020B0604020202090204" pitchFamily="34" charset="0"/>
                    <a:ea typeface="+mn-ea"/>
                    <a:cs typeface="+mn-cs"/>
                  </a:rPr>
                  <a:t>每条弧</a:t>
                </a:r>
                <a:r>
                  <a:rPr lang="en-US" altLang="zh-CN" i="0" dirty="0">
                    <a:latin typeface="Cambria Math" panose="02040503050406030204" pitchFamily="18" charset="0"/>
                  </a:rPr>
                  <a:t>(𝑋_</a:t>
                </a:r>
                <a:r>
                  <a:rPr lang="en-US" altLang="zh-CN" b="0" i="0" dirty="0">
                    <a:latin typeface="Cambria Math" panose="02040503050406030204" pitchFamily="18" charset="0"/>
                  </a:rPr>
                  <a:t>𝑘,</a:t>
                </a:r>
                <a:r>
                  <a:rPr lang="en-US" altLang="zh-CN" i="0" dirty="0">
                    <a:latin typeface="Cambria Math" panose="02040503050406030204" pitchFamily="18" charset="0"/>
                  </a:rPr>
                  <a:t>𝑋_𝑖  )</a:t>
                </a:r>
                <a:r>
                  <a:rPr lang="zh-CN" altLang="en-US" sz="1200" b="0" i="0" u="none" strike="noStrike" kern="1200" baseline="0" dirty="0">
                    <a:solidFill>
                      <a:schemeClr val="tx1"/>
                    </a:solidFill>
                    <a:latin typeface="Arial" panose="020B0604020202090204" pitchFamily="34" charset="0"/>
                    <a:ea typeface="+mn-ea"/>
                    <a:cs typeface="+mn-cs"/>
                  </a:rPr>
                  <a:t>最多只能进队列</a:t>
                </a:r>
                <a:r>
                  <a:rPr lang="en-US" altLang="zh-CN" sz="1200" b="0" i="0" u="none" strike="noStrike" kern="1200" baseline="0" dirty="0">
                    <a:solidFill>
                      <a:schemeClr val="tx1"/>
                    </a:solidFill>
                    <a:latin typeface="Arial" panose="020B0604020202090204" pitchFamily="34" charset="0"/>
                    <a:ea typeface="+mn-ea"/>
                    <a:cs typeface="+mn-cs"/>
                  </a:rPr>
                  <a:t>d</a:t>
                </a:r>
                <a:r>
                  <a:rPr lang="zh-CN" altLang="en-US" sz="1200" b="0" i="0" u="none" strike="noStrike" kern="1200" baseline="0" dirty="0">
                    <a:solidFill>
                      <a:schemeClr val="tx1"/>
                    </a:solidFill>
                    <a:latin typeface="Arial" panose="020B0604020202090204" pitchFamily="34" charset="0"/>
                    <a:ea typeface="+mn-ea"/>
                    <a:cs typeface="+mn-cs"/>
                  </a:rPr>
                  <a:t>次，因为</a:t>
                </a:r>
                <a:r>
                  <a:rPr lang="en-US" altLang="zh-CN" i="0" dirty="0">
                    <a:latin typeface="Cambria Math" panose="02040503050406030204" pitchFamily="18" charset="0"/>
                  </a:rPr>
                  <a:t>𝑋_𝑖</a:t>
                </a:r>
                <a:r>
                  <a:rPr lang="zh-CN" altLang="en-US" sz="1200" b="0" i="0" u="none" strike="noStrike" kern="1200" baseline="0" dirty="0">
                    <a:solidFill>
                      <a:schemeClr val="tx1"/>
                    </a:solidFill>
                    <a:latin typeface="Arial" panose="020B0604020202090204" pitchFamily="34" charset="0"/>
                    <a:ea typeface="+mn-ea"/>
                    <a:cs typeface="+mn-cs"/>
                  </a:rPr>
                  <a:t>最多只能有</a:t>
                </a:r>
                <a:r>
                  <a:rPr lang="en-US" altLang="zh-CN" sz="1200" b="0" i="0" u="none" strike="noStrike" kern="1200" baseline="0" dirty="0">
                    <a:solidFill>
                      <a:schemeClr val="tx1"/>
                    </a:solidFill>
                    <a:latin typeface="Arial" panose="020B0604020202090204" pitchFamily="34" charset="0"/>
                    <a:ea typeface="+mn-ea"/>
                    <a:cs typeface="+mn-cs"/>
                  </a:rPr>
                  <a:t>d</a:t>
                </a:r>
                <a:r>
                  <a:rPr lang="zh-CN" altLang="en-US" sz="1200" b="0" i="0" u="none" strike="noStrike" kern="1200" baseline="0" dirty="0">
                    <a:solidFill>
                      <a:schemeClr val="tx1"/>
                    </a:solidFill>
                    <a:latin typeface="Arial" panose="020B0604020202090204" pitchFamily="34" charset="0"/>
                    <a:ea typeface="+mn-ea"/>
                    <a:cs typeface="+mn-cs"/>
                  </a:rPr>
                  <a:t>个值可删除。</a:t>
                </a:r>
                <a:endParaRPr lang="en-US" altLang="zh-CN" sz="1200" b="0" i="0" u="none" strike="noStrike" kern="1200" baseline="0" dirty="0">
                  <a:solidFill>
                    <a:schemeClr val="tx1"/>
                  </a:solidFill>
                  <a:latin typeface="Arial" panose="020B0604020202090204" pitchFamily="34" charset="0"/>
                  <a:ea typeface="+mn-ea"/>
                  <a:cs typeface="+mn-cs"/>
                </a:endParaRPr>
              </a:p>
              <a:p>
                <a:endParaRPr lang="en-US" altLang="zh-CN" sz="1200" b="0" i="0" u="none" strike="noStrike" kern="1200" baseline="0" dirty="0">
                  <a:solidFill>
                    <a:schemeClr val="tx1"/>
                  </a:solidFill>
                  <a:latin typeface="Arial" panose="020B0604020202090204" pitchFamily="34"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sz="1200" b="0" i="0" u="none" strike="noStrike" kern="1200" baseline="0" dirty="0">
                    <a:solidFill>
                      <a:schemeClr val="tx1"/>
                    </a:solidFill>
                    <a:latin typeface="Arial" panose="020B0604020202090204" pitchFamily="34" charset="0"/>
                    <a:ea typeface="+mn-ea"/>
                    <a:cs typeface="+mn-cs"/>
                  </a:rPr>
                  <a:t>检验一条弧的相容性可以在</a:t>
                </a:r>
                <a:r>
                  <a:rPr lang="en-US" altLang="zh-CN" i="0" dirty="0">
                    <a:latin typeface="Cambria Math" panose="02040503050406030204" pitchFamily="18" charset="0"/>
                  </a:rPr>
                  <a:t>𝑂(𝑑^</a:t>
                </a:r>
                <a:r>
                  <a:rPr lang="en-US" altLang="zh-CN" b="0" i="0" dirty="0">
                    <a:latin typeface="Cambria Math" panose="02040503050406030204" pitchFamily="18" charset="0"/>
                  </a:rPr>
                  <a:t>2</a:t>
                </a:r>
                <a:r>
                  <a:rPr lang="en-US" altLang="zh-CN" i="0" dirty="0">
                    <a:latin typeface="Cambria Math" panose="02040503050406030204" pitchFamily="18" charset="0"/>
                  </a:rPr>
                  <a:t>)</a:t>
                </a:r>
                <a:r>
                  <a:rPr lang="en-US" altLang="zh-CN" dirty="0"/>
                  <a:t> </a:t>
                </a:r>
                <a:r>
                  <a:rPr lang="zh-CN" altLang="en-US" dirty="0"/>
                  <a:t>内完成，最坏情况下复杂度为</a:t>
                </a:r>
                <a:r>
                  <a:rPr lang="en-US" altLang="zh-CN" i="0" dirty="0">
                    <a:latin typeface="Cambria Math" panose="02040503050406030204" pitchFamily="18" charset="0"/>
                  </a:rPr>
                  <a:t>𝑂(𝑐𝑑^3)</a:t>
                </a:r>
                <a:r>
                  <a:rPr lang="en-US" altLang="zh-CN" dirty="0"/>
                  <a:t> </a:t>
                </a: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总共有</a:t>
                </a:r>
                <a:r>
                  <a:rPr lang="en-US" altLang="zh-CN" dirty="0"/>
                  <a:t>c</a:t>
                </a:r>
                <a:r>
                  <a:rPr lang="zh-CN" altLang="en-US" dirty="0"/>
                  <a:t>条</a:t>
                </a:r>
                <a:r>
                  <a:rPr lang="en-US" altLang="zh-CN" dirty="0"/>
                  <a:t>arc</a:t>
                </a:r>
                <a:r>
                  <a:rPr lang="zh-CN" altLang="en-US" dirty="0"/>
                  <a:t>，对于每一个</a:t>
                </a:r>
                <a:r>
                  <a:rPr lang="en-US" altLang="zh-CN" dirty="0"/>
                  <a:t>arc</a:t>
                </a:r>
                <a:r>
                  <a:rPr lang="zh-CN" altLang="en-US" dirty="0"/>
                  <a:t>，其连接两个</a:t>
                </a:r>
                <a:r>
                  <a:rPr lang="en-US" altLang="zh-CN" dirty="0"/>
                  <a:t>node xi xk</a:t>
                </a:r>
                <a:r>
                  <a:rPr lang="zh-CN" altLang="en-US" dirty="0"/>
                  <a:t>，那么对于</a:t>
                </a:r>
                <a:r>
                  <a:rPr lang="en-US" altLang="zh-CN" dirty="0"/>
                  <a:t>xi,</a:t>
                </a:r>
                <a:r>
                  <a:rPr lang="zh-CN" altLang="en-US" dirty="0"/>
                  <a:t>其最多有</a:t>
                </a:r>
                <a:r>
                  <a:rPr lang="en-US" altLang="zh-CN" dirty="0"/>
                  <a:t>d</a:t>
                </a:r>
                <a:r>
                  <a:rPr lang="zh-CN" altLang="en-US" dirty="0"/>
                  <a:t>个值可以选，所以其最多进入</a:t>
                </a:r>
                <a:r>
                  <a:rPr lang="en-US" altLang="zh-CN" dirty="0"/>
                  <a:t>d</a:t>
                </a:r>
                <a:r>
                  <a:rPr lang="zh-CN" altLang="en-US" dirty="0"/>
                  <a:t>次，或者说最多被删除</a:t>
                </a:r>
                <a:r>
                  <a:rPr lang="en-US" altLang="zh-CN" dirty="0"/>
                  <a:t>d</a:t>
                </a:r>
                <a:r>
                  <a:rPr lang="zh-CN" altLang="en-US" dirty="0"/>
                  <a:t>次，然后对于每个</a:t>
                </a:r>
                <a:r>
                  <a:rPr lang="en-US" altLang="zh-CN" dirty="0"/>
                  <a:t>arc</a:t>
                </a:r>
                <a:r>
                  <a:rPr lang="zh-CN" altLang="en-US" dirty="0"/>
                  <a:t>，因为</a:t>
                </a:r>
                <a:r>
                  <a:rPr lang="en-US" altLang="zh-CN" dirty="0"/>
                  <a:t>x_i x_k</a:t>
                </a:r>
                <a:r>
                  <a:rPr lang="zh-CN" altLang="en-US" dirty="0"/>
                  <a:t>都最多有</a:t>
                </a:r>
                <a:r>
                  <a:rPr lang="en-US" altLang="zh-CN" dirty="0"/>
                  <a:t>d</a:t>
                </a:r>
                <a:r>
                  <a:rPr lang="zh-CN" altLang="en-US" dirty="0"/>
                  <a:t>个值，那么检查完所有的可能就要</a:t>
                </a:r>
                <a:r>
                  <a:rPr lang="en-US" altLang="zh-CN" dirty="0"/>
                  <a:t>d^2</a:t>
                </a:r>
                <a:r>
                  <a:rPr lang="zh-CN" altLang="en-US" dirty="0"/>
                  <a:t>次，乘起来就要</a:t>
                </a:r>
                <a:r>
                  <a:rPr lang="en-US" altLang="zh-CN" dirty="0"/>
                  <a:t>cd^3</a:t>
                </a:r>
                <a:r>
                  <a:rPr lang="zh-CN" altLang="en-US" dirty="0"/>
                  <a:t>次</a:t>
                </a:r>
                <a:endParaRPr lang="en-US" altLang="zh-CN" sz="1200" b="0" i="0" u="none" strike="noStrike" kern="1200" baseline="0" dirty="0">
                  <a:solidFill>
                    <a:schemeClr val="tx1"/>
                  </a:solidFill>
                  <a:latin typeface="Arial" panose="020B0604020202090204" pitchFamily="34" charset="0"/>
                  <a:ea typeface="+mn-ea"/>
                  <a:cs typeface="+mn-cs"/>
                </a:endParaRPr>
              </a:p>
              <a:p>
                <a:endParaRPr lang="en-US" altLang="zh-CN" sz="1200" b="0" i="0" u="none" strike="noStrike" kern="1200" baseline="0" dirty="0">
                  <a:solidFill>
                    <a:schemeClr val="tx1"/>
                  </a:solidFill>
                  <a:latin typeface="Arial" panose="020B0604020202090204" pitchFamily="34" charset="0"/>
                  <a:ea typeface="+mn-ea"/>
                  <a:cs typeface="+mn-cs"/>
                </a:endParaRPr>
              </a:p>
              <a:p>
                <a:endParaRPr lang="zh-CN" altLang="en-US" dirty="0"/>
              </a:p>
            </p:txBody>
          </p:sp>
        </mc:Fallback>
      </mc:AlternateContent>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18485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路径相容通过观察变量得到隐式约束并以此来加强二元约束。</a:t>
            </a:r>
            <a:endParaRPr lang="en-US" altLang="zh-CN" dirty="0"/>
          </a:p>
          <a:p>
            <a:endParaRPr lang="en-US" altLang="zh-CN" dirty="0"/>
          </a:p>
          <a:p>
            <a:r>
              <a:rPr lang="zh-CN" altLang="en-US" dirty="0"/>
              <a:t>举例说明</a:t>
            </a:r>
            <a:r>
              <a:rPr lang="zh-CN" altLang="en-US" b="1" dirty="0">
                <a:solidFill>
                  <a:srgbClr val="FF0000"/>
                </a:solidFill>
              </a:rPr>
              <a:t>两色</a:t>
            </a:r>
            <a:r>
              <a:rPr lang="zh-CN" altLang="en-US" dirty="0"/>
              <a:t>的澳大利亚地图着色问题，</a:t>
            </a:r>
            <a:r>
              <a:rPr lang="en-US" altLang="zh-CN" dirty="0"/>
              <a:t>{WA</a:t>
            </a:r>
            <a:r>
              <a:rPr lang="zh-CN" altLang="en-US" dirty="0"/>
              <a:t>，</a:t>
            </a:r>
            <a:r>
              <a:rPr lang="en-US" altLang="zh-CN" dirty="0"/>
              <a:t>SA}</a:t>
            </a:r>
            <a:r>
              <a:rPr lang="zh-CN" altLang="en-US" dirty="0"/>
              <a:t>对</a:t>
            </a:r>
            <a:r>
              <a:rPr lang="en-US" altLang="zh-CN" dirty="0"/>
              <a:t>NT</a:t>
            </a:r>
            <a:r>
              <a:rPr lang="zh-CN" altLang="en-US" dirty="0"/>
              <a:t>路径相容，</a:t>
            </a:r>
            <a:r>
              <a:rPr lang="en-US" altLang="zh-CN" dirty="0"/>
              <a:t>{WA=red</a:t>
            </a:r>
            <a:r>
              <a:rPr lang="zh-CN" altLang="en-US" dirty="0"/>
              <a:t>，</a:t>
            </a:r>
            <a:r>
              <a:rPr lang="en-US" altLang="zh-CN" dirty="0"/>
              <a:t>SA=blue}</a:t>
            </a:r>
            <a:r>
              <a:rPr lang="zh-CN" altLang="en-US" dirty="0"/>
              <a:t>，</a:t>
            </a:r>
            <a:r>
              <a:rPr lang="en-US" altLang="zh-CN" dirty="0"/>
              <a:t>{WA=blue</a:t>
            </a:r>
            <a:r>
              <a:rPr lang="zh-CN" altLang="en-US" dirty="0"/>
              <a:t>，</a:t>
            </a:r>
            <a:r>
              <a:rPr lang="en-US" altLang="zh-CN" dirty="0"/>
              <a:t>SA=red}</a:t>
            </a:r>
            <a:r>
              <a:rPr lang="zh-CN" altLang="en-US" dirty="0"/>
              <a:t>，可以看出</a:t>
            </a:r>
            <a:r>
              <a:rPr lang="en-US" altLang="zh-CN" dirty="0"/>
              <a:t>NT</a:t>
            </a:r>
            <a:r>
              <a:rPr lang="zh-CN" altLang="en-US" dirty="0"/>
              <a:t>不能是</a:t>
            </a:r>
            <a:r>
              <a:rPr lang="en-US" altLang="zh-CN" dirty="0"/>
              <a:t>red</a:t>
            </a:r>
            <a:r>
              <a:rPr lang="zh-CN" altLang="en-US" dirty="0"/>
              <a:t>和</a:t>
            </a:r>
            <a:r>
              <a:rPr lang="en-US" altLang="zh-CN" dirty="0"/>
              <a:t>blue</a:t>
            </a:r>
            <a:r>
              <a:rPr lang="zh-CN" altLang="en-US" dirty="0"/>
              <a:t>，因此此题无解。</a:t>
            </a:r>
          </a:p>
          <a:p>
            <a:r>
              <a:rPr lang="zh-CN" altLang="en-US" dirty="0"/>
              <a:t>直观的理解就是看有无三个</a:t>
            </a:r>
            <a:r>
              <a:rPr lang="en-US" altLang="zh-CN" dirty="0"/>
              <a:t>nodes</a:t>
            </a:r>
            <a:r>
              <a:rPr lang="zh-CN" altLang="en-US" dirty="0"/>
              <a:t>都连在一起，然后看看这三个</a:t>
            </a:r>
            <a:r>
              <a:rPr lang="en-US" altLang="zh-CN" dirty="0"/>
              <a:t>node</a:t>
            </a:r>
            <a:r>
              <a:rPr lang="zh-CN" altLang="en-US" dirty="0"/>
              <a:t>连在一起之后是否相容。</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044145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K</a:t>
            </a:r>
            <a:r>
              <a:rPr lang="zh-CN" altLang="en-US" dirty="0"/>
              <a:t>相容：如果对于任何</a:t>
            </a:r>
            <a:r>
              <a:rPr lang="en-US" altLang="zh-CN" dirty="0"/>
              <a:t>k-1</a:t>
            </a:r>
            <a:r>
              <a:rPr lang="zh-CN" altLang="en-US" dirty="0"/>
              <a:t>个变量的相容赋值，第</a:t>
            </a:r>
            <a:r>
              <a:rPr lang="en-US" altLang="zh-CN" dirty="0"/>
              <a:t>k</a:t>
            </a:r>
            <a:r>
              <a:rPr lang="zh-CN" altLang="en-US" dirty="0"/>
              <a:t>个变量总能被赋予一个和前</a:t>
            </a:r>
            <a:r>
              <a:rPr lang="en-US" altLang="zh-CN" dirty="0"/>
              <a:t>k-1</a:t>
            </a:r>
            <a:r>
              <a:rPr lang="zh-CN" altLang="en-US" dirty="0"/>
              <a:t>个变量相容的值，那么这个</a:t>
            </a:r>
            <a:r>
              <a:rPr lang="en-US" altLang="zh-CN" dirty="0" err="1"/>
              <a:t>csp</a:t>
            </a:r>
            <a:r>
              <a:rPr lang="zh-CN" altLang="en-US" dirty="0"/>
              <a:t>就是</a:t>
            </a:r>
            <a:r>
              <a:rPr lang="en-US" altLang="zh-CN" dirty="0"/>
              <a:t>k</a:t>
            </a:r>
            <a:r>
              <a:rPr lang="zh-CN" altLang="en-US" dirty="0"/>
              <a:t>相容的。</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077150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全局约束可能涉及任意个约束变量，全局约束可用专用算法处理。</a:t>
            </a:r>
          </a:p>
          <a:p>
            <a:r>
              <a:rPr lang="zh-CN" altLang="en-US" dirty="0"/>
              <a:t>One simple form of inconsistency detection for Alldiff constraints works as follows:</a:t>
            </a:r>
          </a:p>
          <a:p>
            <a:r>
              <a:rPr lang="zh-CN" altLang="en-US" dirty="0"/>
              <a:t>if m variables are involved in the constraint, and if they have n possible distinct values altogether,</a:t>
            </a:r>
          </a:p>
          <a:p>
            <a:r>
              <a:rPr lang="zh-CN" altLang="en-US" dirty="0"/>
              <a:t>and m &gt; n, then the constraint cannot be satisfied.</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531624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22</a:t>
            </a:fld>
            <a:endParaRPr lang="zh-CN" altLang="en-US"/>
          </a:p>
        </p:txBody>
      </p:sp>
    </p:spTree>
    <p:extLst>
      <p:ext uri="{BB962C8B-B14F-4D97-AF65-F5344CB8AC3E}">
        <p14:creationId xmlns:p14="http://schemas.microsoft.com/office/powerpoint/2010/main" val="15656181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对于数独问题，我们可以用</a:t>
            </a:r>
            <a:r>
              <a:rPr lang="en-US" altLang="zh-CN" dirty="0" err="1"/>
              <a:t>alldiff</a:t>
            </a:r>
            <a:r>
              <a:rPr lang="en-US" altLang="zh-CN" dirty="0"/>
              <a:t> constraint</a:t>
            </a:r>
            <a:r>
              <a:rPr lang="zh-CN" altLang="en-US" dirty="0"/>
              <a:t>来</a:t>
            </a:r>
            <a:r>
              <a:rPr lang="en-US" altLang="zh-CN" dirty="0"/>
              <a:t>form</a:t>
            </a:r>
            <a:r>
              <a:rPr lang="zh-CN" altLang="en-US" dirty="0"/>
              <a:t>这个问题</a:t>
            </a:r>
          </a:p>
          <a:p>
            <a:r>
              <a:rPr lang="zh-CN" altLang="en-US" dirty="0"/>
              <a:t>然后放到对应的算法里去求解</a:t>
            </a:r>
          </a:p>
          <a:p>
            <a:endParaRPr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23</a:t>
            </a:fld>
            <a:endParaRPr lang="zh-CN" altLang="en-US"/>
          </a:p>
        </p:txBody>
      </p:sp>
    </p:spTree>
    <p:extLst>
      <p:ext uri="{BB962C8B-B14F-4D97-AF65-F5344CB8AC3E}">
        <p14:creationId xmlns:p14="http://schemas.microsoft.com/office/powerpoint/2010/main" val="496245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a:extLst>
              <a:ext uri="{FF2B5EF4-FFF2-40B4-BE49-F238E27FC236}">
                <a16:creationId xmlns:a16="http://schemas.microsoft.com/office/drawing/2014/main" id="{4816C9DE-F291-88BC-FC07-3125CB5BB9BE}"/>
              </a:ext>
            </a:extLst>
          </p:cNvPr>
          <p:cNvSpPr>
            <a:spLocks noGrp="1" noRot="1" noChangeAspect="1" noChangeArrowheads="1"/>
          </p:cNvSpPr>
          <p:nvPr>
            <p:ph type="sldImg" idx="4294967295"/>
          </p:nvPr>
        </p:nvSpPr>
        <p:spPr>
          <a:ln>
            <a:miter lim="800000"/>
          </a:ln>
        </p:spPr>
      </p:sp>
      <p:sp>
        <p:nvSpPr>
          <p:cNvPr id="27650" name="文本占位符 2">
            <a:extLst>
              <a:ext uri="{FF2B5EF4-FFF2-40B4-BE49-F238E27FC236}">
                <a16:creationId xmlns:a16="http://schemas.microsoft.com/office/drawing/2014/main" id="{44D6F1CE-6A94-F764-155E-6946E934A352}"/>
              </a:ext>
            </a:extLst>
          </p:cNvPr>
          <p:cNvSpPr>
            <a:spLocks noGrp="1" noChangeArrowheads="1"/>
          </p:cNvSpPr>
          <p:nvPr>
            <p:ph type="body" idx="4294967295"/>
          </p:nvPr>
        </p:nvSpPr>
        <p:spPr/>
        <p:txBody>
          <a:bodyPr/>
          <a:lstStyle/>
          <a:p>
            <a:r>
              <a:rPr lang="en-US" altLang="zh-CN" dirty="0" err="1">
                <a:latin typeface="Arial" panose="020B0604020202090204" pitchFamily="34" charset="0"/>
              </a:rPr>
              <a:t>Csp</a:t>
            </a:r>
            <a:r>
              <a:rPr lang="zh-CN" altLang="en-US" dirty="0">
                <a:latin typeface="Arial" panose="020B0604020202090204" pitchFamily="34" charset="0"/>
              </a:rPr>
              <a:t>的回溯搜索；</a:t>
            </a:r>
            <a:endParaRPr lang="en-US" altLang="zh-CN" dirty="0">
              <a:latin typeface="Arial" panose="020B060402020209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b="0" i="0" u="none" strike="noStrike" kern="1200" baseline="0" dirty="0">
              <a:solidFill>
                <a:schemeClr val="tx1"/>
              </a:solidFill>
              <a:latin typeface="Arial" panose="020B0604020202090204" pitchFamily="34" charset="0"/>
              <a:ea typeface="+mn-ea"/>
              <a:cs typeface="+mn-cs"/>
            </a:endParaRPr>
          </a:p>
          <a:p>
            <a:endParaRPr lang="en-US" altLang="zh-CN" sz="1200" b="0" i="0" u="none" strike="noStrike" kern="1200" baseline="0" dirty="0">
              <a:solidFill>
                <a:schemeClr val="tx1"/>
              </a:solidFill>
              <a:latin typeface="Arial" panose="020B0604020202090204" pitchFamily="34" charset="0"/>
              <a:ea typeface="+mn-ea"/>
              <a:cs typeface="+mn-cs"/>
            </a:endParaRPr>
          </a:p>
          <a:p>
            <a:r>
              <a:rPr lang="en-US" altLang="zh-CN" sz="1200" b="0" i="0" u="none" strike="noStrike" kern="1200" baseline="0" dirty="0">
                <a:solidFill>
                  <a:schemeClr val="tx1"/>
                </a:solidFill>
                <a:latin typeface="Arial" panose="020B0604020202090204" pitchFamily="34" charset="0"/>
                <a:ea typeface="+mn-ea"/>
                <a:cs typeface="+mn-cs"/>
              </a:rPr>
              <a:t>Sudoku problems are designed to be solved by inference over constraints. But many other</a:t>
            </a:r>
          </a:p>
          <a:p>
            <a:r>
              <a:rPr lang="en-US" altLang="zh-CN" sz="1200" b="0" i="0" u="none" strike="noStrike" kern="1200" baseline="0" dirty="0">
                <a:solidFill>
                  <a:schemeClr val="tx1"/>
                </a:solidFill>
                <a:latin typeface="Arial" panose="020B0604020202090204" pitchFamily="34" charset="0"/>
                <a:ea typeface="+mn-ea"/>
                <a:cs typeface="+mn-cs"/>
              </a:rPr>
              <a:t>CSPs cannot be solved by inference alone</a:t>
            </a:r>
          </a:p>
          <a:p>
            <a:endParaRPr lang="en-US" altLang="zh-CN" sz="1200" b="0" i="0" u="none" strike="noStrike" kern="1200" baseline="0" dirty="0">
              <a:solidFill>
                <a:schemeClr val="tx1"/>
              </a:solidFill>
              <a:latin typeface="Arial" panose="020B0604020202090204" pitchFamily="34" charset="0"/>
              <a:ea typeface="+mn-ea"/>
              <a:cs typeface="+mn-cs"/>
            </a:endParaRPr>
          </a:p>
          <a:p>
            <a:r>
              <a:rPr lang="zh-CN" altLang="en-US" sz="1200" b="0" i="0" u="none" strike="noStrike" kern="1200" baseline="0" dirty="0">
                <a:solidFill>
                  <a:schemeClr val="tx1"/>
                </a:solidFill>
                <a:latin typeface="Arial" panose="020B0604020202090204" pitchFamily="34" charset="0"/>
                <a:ea typeface="+mn-ea"/>
                <a:cs typeface="+mn-cs"/>
              </a:rPr>
              <a:t>很多</a:t>
            </a:r>
            <a:r>
              <a:rPr lang="en-US" altLang="zh-CN" sz="1200" b="0" i="0" u="none" strike="noStrike" kern="1200" baseline="0" dirty="0" err="1">
                <a:solidFill>
                  <a:schemeClr val="tx1"/>
                </a:solidFill>
                <a:latin typeface="Arial" panose="020B0604020202090204" pitchFamily="34" charset="0"/>
                <a:ea typeface="+mn-ea"/>
                <a:cs typeface="+mn-cs"/>
              </a:rPr>
              <a:t>csp</a:t>
            </a:r>
            <a:r>
              <a:rPr lang="zh-CN" altLang="en-US" sz="1200" b="0" i="0" u="none" strike="noStrike" kern="1200" baseline="0" dirty="0">
                <a:solidFill>
                  <a:schemeClr val="tx1"/>
                </a:solidFill>
                <a:latin typeface="Arial" panose="020B0604020202090204" pitchFamily="34" charset="0"/>
                <a:ea typeface="+mn-ea"/>
                <a:cs typeface="+mn-cs"/>
              </a:rPr>
              <a:t>问题之用推理时不能求解的，这时我们必须通过搜索来求解。</a:t>
            </a:r>
            <a:endParaRPr lang="en-US" altLang="zh-CN" sz="1200" b="0" i="0" u="none" strike="noStrike" kern="1200" baseline="0" dirty="0">
              <a:solidFill>
                <a:schemeClr val="tx1"/>
              </a:solidFill>
              <a:latin typeface="Arial" panose="020B0604020202090204" pitchFamily="34" charset="0"/>
              <a:ea typeface="+mn-ea"/>
              <a:cs typeface="+mn-cs"/>
            </a:endParaRPr>
          </a:p>
          <a:p>
            <a:r>
              <a:rPr lang="zh-CN" altLang="en-US" sz="1200" b="0" i="0" u="none" strike="noStrike" kern="1200" baseline="0" dirty="0">
                <a:solidFill>
                  <a:schemeClr val="tx1"/>
                </a:solidFill>
                <a:latin typeface="Arial" panose="020B0604020202090204" pitchFamily="34" charset="0"/>
                <a:ea typeface="+mn-ea"/>
                <a:cs typeface="+mn-cs"/>
              </a:rPr>
              <a:t>先讨论部分赋值的回溯搜索算法，下节讨论完整赋值的局部搜索算法。</a:t>
            </a:r>
            <a:endParaRPr lang="en-US" altLang="zh-CN" sz="1200" b="0" i="0" u="none" strike="noStrike" kern="1200" baseline="0" dirty="0">
              <a:solidFill>
                <a:schemeClr val="tx1"/>
              </a:solidFill>
              <a:latin typeface="Arial" panose="020B0604020202090204" pitchFamily="34" charset="0"/>
              <a:ea typeface="+mn-ea"/>
              <a:cs typeface="+mn-cs"/>
            </a:endParaRPr>
          </a:p>
          <a:p>
            <a:endParaRPr lang="en-US" altLang="zh-CN" sz="1200" b="0" i="0" u="none" strike="noStrike" kern="1200" baseline="0" dirty="0">
              <a:solidFill>
                <a:schemeClr val="tx1"/>
              </a:solidFill>
              <a:latin typeface="Arial" panose="020B0604020202090204" pitchFamily="34" charset="0"/>
              <a:ea typeface="+mn-ea"/>
              <a:cs typeface="+mn-cs"/>
            </a:endParaRPr>
          </a:p>
          <a:p>
            <a:r>
              <a:rPr lang="zh-CN" altLang="en-US" sz="1200" b="0" i="0" u="none" strike="noStrike" kern="1200" baseline="0" dirty="0">
                <a:solidFill>
                  <a:schemeClr val="tx1"/>
                </a:solidFill>
                <a:latin typeface="Arial" panose="020B0604020202090204" pitchFamily="34" charset="0"/>
                <a:ea typeface="+mn-ea"/>
                <a:cs typeface="+mn-cs"/>
              </a:rPr>
              <a:t>我们考虑深度优先搜索，状态是部分赋值，行动是将新的变量加入到赋值种。</a:t>
            </a:r>
            <a:endParaRPr lang="en-US" altLang="zh-CN" sz="1200" b="0" i="0" u="none" strike="noStrike" kern="1200" baseline="0" dirty="0">
              <a:solidFill>
                <a:schemeClr val="tx1"/>
              </a:solidFill>
              <a:latin typeface="Arial" panose="020B0604020202090204" pitchFamily="34" charset="0"/>
              <a:ea typeface="+mn-ea"/>
              <a:cs typeface="+mn-cs"/>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856852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按照</a:t>
            </a:r>
            <a:r>
              <a:rPr lang="en-US" altLang="zh-CN" dirty="0"/>
              <a:t>WA</a:t>
            </a:r>
            <a:r>
              <a:rPr lang="zh-CN" altLang="en-US" dirty="0"/>
              <a:t>，</a:t>
            </a:r>
            <a:r>
              <a:rPr lang="en-US" altLang="zh-CN" dirty="0"/>
              <a:t>NT</a:t>
            </a:r>
            <a:r>
              <a:rPr lang="zh-CN" altLang="en-US" dirty="0"/>
              <a:t>，</a:t>
            </a:r>
            <a:r>
              <a:rPr lang="en-US" altLang="zh-CN" dirty="0"/>
              <a:t>Q</a:t>
            </a:r>
            <a:r>
              <a:rPr lang="zh-CN" altLang="en-US" dirty="0"/>
              <a:t>。。。。。。。的顺序来给变量赋值</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154063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所有</a:t>
            </a:r>
            <a:r>
              <a:rPr lang="en-US" altLang="zh-CN" dirty="0"/>
              <a:t>CSP</a:t>
            </a:r>
            <a:r>
              <a:rPr lang="zh-CN" altLang="en-US" dirty="0"/>
              <a:t>具有</a:t>
            </a:r>
            <a:r>
              <a:rPr lang="zh-CN" altLang="en-US" b="1" dirty="0"/>
              <a:t>可交换性</a:t>
            </a:r>
            <a:r>
              <a:rPr lang="zh-CN" altLang="en-US" dirty="0"/>
              <a:t>。如果行动的先后顺序对结果没有影响，那么问题是可交换的。</a:t>
            </a:r>
            <a:endParaRPr lang="en-US" altLang="zh-CN" dirty="0"/>
          </a:p>
          <a:p>
            <a:endParaRPr lang="en-US" altLang="zh-CN" dirty="0"/>
          </a:p>
          <a:p>
            <a:r>
              <a:rPr lang="zh-CN" altLang="en-US" dirty="0"/>
              <a:t>例如：在澳大利亚地图着色问题中，我们只要在</a:t>
            </a:r>
            <a:r>
              <a:rPr lang="en-US" altLang="zh-CN" dirty="0"/>
              <a:t>SA=red, SA=green, SA=blue</a:t>
            </a:r>
            <a:r>
              <a:rPr lang="zh-CN" altLang="en-US" dirty="0"/>
              <a:t>之间选择，但永远不需要在</a:t>
            </a:r>
            <a:r>
              <a:rPr lang="en-US" altLang="zh-CN" dirty="0" err="1"/>
              <a:t>sa</a:t>
            </a:r>
            <a:r>
              <a:rPr lang="en-US" altLang="zh-CN" dirty="0"/>
              <a:t>=red</a:t>
            </a:r>
            <a:r>
              <a:rPr lang="zh-CN" altLang="en-US" dirty="0"/>
              <a:t>和</a:t>
            </a:r>
            <a:r>
              <a:rPr lang="en-US" altLang="zh-CN" dirty="0" err="1"/>
              <a:t>wa</a:t>
            </a:r>
            <a:r>
              <a:rPr lang="en-US" altLang="zh-CN" dirty="0"/>
              <a:t>=blue</a:t>
            </a:r>
            <a:r>
              <a:rPr lang="zh-CN" altLang="en-US" dirty="0"/>
              <a:t>之间选择</a:t>
            </a:r>
            <a:endParaRPr lang="en-US" altLang="zh-CN" dirty="0"/>
          </a:p>
          <a:p>
            <a:r>
              <a:rPr lang="zh-CN" altLang="en-US" dirty="0"/>
              <a:t>大大减少了搜索范围</a:t>
            </a:r>
            <a:endParaRPr lang="en-US" altLang="zh-CN" dirty="0"/>
          </a:p>
          <a:p>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50081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回溯搜索，应用在深度优先搜索中，每次为一变量选择一个赋值，当没有合法的值可以赋值就回溯。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1</a:t>
            </a:r>
            <a:r>
              <a:rPr lang="zh-CN" altLang="en-US" dirty="0"/>
              <a:t>、每次为一变量选择一个赋值</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2</a:t>
            </a:r>
            <a:r>
              <a:rPr lang="zh-CN" altLang="en-US" dirty="0"/>
              <a:t>、当没有合法的值可以赋给某变量时就回溯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3</a:t>
            </a:r>
            <a:r>
              <a:rPr lang="zh-CN" altLang="en-US" dirty="0"/>
              <a:t>、不断选择未赋值变量，轮流尝试变量值域中的每一个值</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4</a:t>
            </a:r>
            <a:r>
              <a:rPr lang="zh-CN" altLang="en-US" dirty="0"/>
              <a:t>、一旦检测到不相容，回溯失败，返回上次调用尝试另一个值。</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291049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回溯搜索，应用在深度优先搜索中，每次为一变量选择一个赋值，当没有合法的值可以赋值就回溯。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1</a:t>
            </a:r>
            <a:r>
              <a:rPr lang="zh-CN" altLang="en-US" dirty="0"/>
              <a:t>、每次为一变量选择一个赋值</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2</a:t>
            </a:r>
            <a:r>
              <a:rPr lang="zh-CN" altLang="en-US" dirty="0"/>
              <a:t>、当没有合法的值可以赋给某变量时就回溯</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3</a:t>
            </a:r>
            <a:r>
              <a:rPr lang="zh-CN" altLang="en-US" dirty="0"/>
              <a:t>、不断选择未赋值变量，轮流尝试变量值域中的每一个值</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4</a:t>
            </a:r>
            <a:r>
              <a:rPr lang="zh-CN" altLang="en-US" dirty="0"/>
              <a:t>、一旦检测到不相容，回溯失败，返回上次调用尝试另一个值。</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256010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按照</a:t>
            </a:r>
            <a:r>
              <a:rPr lang="en-US" altLang="zh-CN" dirty="0"/>
              <a:t>WA</a:t>
            </a:r>
            <a:r>
              <a:rPr lang="zh-CN" altLang="en-US" dirty="0"/>
              <a:t>，</a:t>
            </a:r>
            <a:r>
              <a:rPr lang="en-US" altLang="zh-CN" dirty="0"/>
              <a:t>NT</a:t>
            </a:r>
            <a:r>
              <a:rPr lang="zh-CN" altLang="en-US" dirty="0"/>
              <a:t>，</a:t>
            </a:r>
            <a:r>
              <a:rPr lang="en-US" altLang="zh-CN" dirty="0"/>
              <a:t>Q</a:t>
            </a:r>
            <a:r>
              <a:rPr lang="zh-CN" altLang="en-US" dirty="0"/>
              <a:t>。。。。。。。的顺序来给变量赋值</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342811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zh-CN" dirty="0"/>
              <a:t>Which variable should be assigned next (SELECT-UNASSIGNED-VARIABLE), and in what order should its values be tried (ORDER-DOMAIN-VALUES)?</a:t>
            </a:r>
          </a:p>
          <a:p>
            <a:pPr lvl="1"/>
            <a:r>
              <a:rPr lang="en-US" altLang="zh-CN" dirty="0"/>
              <a:t>What inferences should be performed at each step in the search (INFERENCE)?</a:t>
            </a:r>
          </a:p>
          <a:p>
            <a:pPr lvl="1"/>
            <a:r>
              <a:rPr lang="en-US" altLang="zh-CN" dirty="0"/>
              <a:t>When the search arrives at an assignment that violates a constraint, can the search avoid repeating this failure?</a:t>
            </a:r>
            <a:endParaRPr lang="zh-CN" altLang="en-US" dirty="0"/>
          </a:p>
          <a:p>
            <a:endParaRPr lang="en-US" altLang="zh-CN" dirty="0"/>
          </a:p>
          <a:p>
            <a:r>
              <a:rPr lang="en-US" altLang="zh-CN" dirty="0"/>
              <a:t>1</a:t>
            </a:r>
            <a:r>
              <a:rPr lang="zh-CN" altLang="en-US" dirty="0"/>
              <a:t>、下一步该给哪个变量赋值，按什么顺序来尝试他的值</a:t>
            </a:r>
            <a:endParaRPr lang="en-US" altLang="zh-CN" dirty="0"/>
          </a:p>
          <a:p>
            <a:r>
              <a:rPr lang="en-US" altLang="zh-CN" dirty="0"/>
              <a:t>2</a:t>
            </a:r>
            <a:r>
              <a:rPr lang="zh-CN" altLang="en-US" dirty="0"/>
              <a:t>、每步搜索应做怎么样的推理</a:t>
            </a:r>
            <a:endParaRPr lang="en-US" altLang="zh-CN" dirty="0"/>
          </a:p>
          <a:p>
            <a:r>
              <a:rPr lang="en-US" altLang="zh-CN" dirty="0"/>
              <a:t>3</a:t>
            </a:r>
            <a:r>
              <a:rPr lang="zh-CN" altLang="en-US" dirty="0"/>
              <a:t>、搜索本身能避免重复的失败吗？</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208778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zh-CN" dirty="0"/>
              <a:t>Which variable should be assigned next (SELECT-UNASSIGNED-VARIABLE), and in what order should its values be tried (ORDER-DOMAIN-VALUES)?</a:t>
            </a:r>
          </a:p>
          <a:p>
            <a:pPr lvl="1"/>
            <a:r>
              <a:rPr lang="en-US" altLang="zh-CN" dirty="0"/>
              <a:t>What inferences should be performed at each step in the search (INFERENCE)?</a:t>
            </a:r>
          </a:p>
          <a:p>
            <a:pPr lvl="1"/>
            <a:r>
              <a:rPr lang="en-US" altLang="zh-CN" dirty="0"/>
              <a:t>When the search arrives at an assignment that violates a constraint, can the search avoid repeating this failure?</a:t>
            </a:r>
            <a:endParaRPr lang="zh-CN" altLang="en-US" dirty="0"/>
          </a:p>
          <a:p>
            <a:endParaRPr lang="en-US" altLang="zh-CN" dirty="0"/>
          </a:p>
          <a:p>
            <a:r>
              <a:rPr lang="en-US" altLang="zh-CN" dirty="0"/>
              <a:t>1</a:t>
            </a:r>
            <a:r>
              <a:rPr lang="zh-CN" altLang="en-US" dirty="0"/>
              <a:t>、下一步该给哪个变量赋值，按什么顺序来尝试他的值</a:t>
            </a:r>
            <a:endParaRPr lang="en-US" altLang="zh-CN" dirty="0"/>
          </a:p>
          <a:p>
            <a:r>
              <a:rPr lang="en-US" altLang="zh-CN" dirty="0"/>
              <a:t>2</a:t>
            </a:r>
            <a:r>
              <a:rPr lang="zh-CN" altLang="en-US" dirty="0"/>
              <a:t>、每步搜索应做怎么样的推理</a:t>
            </a:r>
            <a:endParaRPr lang="en-US" altLang="zh-CN" dirty="0"/>
          </a:p>
          <a:p>
            <a:r>
              <a:rPr lang="en-US" altLang="zh-CN" dirty="0"/>
              <a:t>3</a:t>
            </a:r>
            <a:r>
              <a:rPr lang="zh-CN" altLang="en-US" dirty="0"/>
              <a:t>、搜索本身能避免重复的失败吗？</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8547131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MRV:</a:t>
            </a:r>
            <a:r>
              <a:rPr lang="en-US" altLang="zh-CN" baseline="0" dirty="0"/>
              <a:t> </a:t>
            </a:r>
            <a:r>
              <a:rPr lang="zh-CN" altLang="en-US" baseline="0" dirty="0"/>
              <a:t>最少剩余值启发式，</a:t>
            </a:r>
            <a:endParaRPr lang="en-US" altLang="zh-CN" baseline="0" dirty="0"/>
          </a:p>
          <a:p>
            <a:endParaRPr lang="en-US" altLang="zh-CN" baseline="0" dirty="0"/>
          </a:p>
          <a:p>
            <a:r>
              <a:rPr lang="zh-CN" altLang="en-US" baseline="0" dirty="0"/>
              <a:t>选择合法取值最少的变量。</a:t>
            </a:r>
            <a:endParaRPr lang="en-US" altLang="zh-CN" baseline="0" dirty="0"/>
          </a:p>
          <a:p>
            <a:endParaRPr lang="en-US" altLang="zh-CN" baseline="0"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it makes sense to assign </a:t>
            </a:r>
            <a:r>
              <a:rPr lang="en-US" altLang="zh-CN" b="1" dirty="0"/>
              <a:t>SA=blue</a:t>
            </a:r>
            <a:r>
              <a:rPr lang="en-US" altLang="zh-CN" dirty="0"/>
              <a:t> next rather than assigning Q</a:t>
            </a:r>
          </a:p>
          <a:p>
            <a:r>
              <a:rPr lang="zh-CN" altLang="en-US" b="1" dirty="0">
                <a:latin typeface="Times New Roman" panose="02020603050405020304" pitchFamily="18" charset="0"/>
                <a:cs typeface="Times New Roman" panose="02020603050405020304" pitchFamily="18" charset="0"/>
                <a:sym typeface="+mn-ea"/>
              </a:rPr>
              <a:t>这种直观的想法，选择“合法”取值最少的变量</a:t>
            </a:r>
            <a:r>
              <a:rPr lang="en-US" altLang="zh-CN" b="1" dirty="0">
                <a:latin typeface="Times New Roman" panose="02020603050405020304" pitchFamily="18" charset="0"/>
                <a:cs typeface="Times New Roman" panose="02020603050405020304" pitchFamily="18" charset="0"/>
                <a:sym typeface="+mn-ea"/>
              </a:rPr>
              <a:t>——</a:t>
            </a:r>
            <a:r>
              <a:rPr lang="zh-CN" altLang="en-US" b="1" dirty="0">
                <a:latin typeface="Times New Roman" panose="02020603050405020304" pitchFamily="18" charset="0"/>
                <a:cs typeface="Times New Roman" panose="02020603050405020304" pitchFamily="18" charset="0"/>
                <a:sym typeface="+mn-ea"/>
              </a:rPr>
              <a:t>称为</a:t>
            </a:r>
            <a:r>
              <a:rPr lang="zh-CN" altLang="en-US" b="1" dirty="0">
                <a:solidFill>
                  <a:srgbClr val="002060"/>
                </a:solidFill>
                <a:latin typeface="Times New Roman" panose="02020603050405020304" pitchFamily="18" charset="0"/>
                <a:cs typeface="Times New Roman" panose="02020603050405020304" pitchFamily="18" charset="0"/>
                <a:sym typeface="+mn-ea"/>
              </a:rPr>
              <a:t>最小剩余值（</a:t>
            </a:r>
            <a:r>
              <a:rPr lang="en-US" altLang="zh-CN" b="1" dirty="0">
                <a:solidFill>
                  <a:srgbClr val="002060"/>
                </a:solidFill>
                <a:latin typeface="Times New Roman" panose="02020603050405020304" pitchFamily="18" charset="0"/>
                <a:cs typeface="Times New Roman" panose="02020603050405020304" pitchFamily="18" charset="0"/>
                <a:sym typeface="+mn-ea"/>
              </a:rPr>
              <a:t>MRV, Minimum Remaining Value</a:t>
            </a:r>
            <a:r>
              <a:rPr lang="zh-CN" altLang="en-US" b="1" dirty="0">
                <a:solidFill>
                  <a:srgbClr val="002060"/>
                </a:solidFill>
                <a:latin typeface="Times New Roman" panose="02020603050405020304" pitchFamily="18" charset="0"/>
                <a:cs typeface="Times New Roman" panose="02020603050405020304" pitchFamily="18" charset="0"/>
                <a:sym typeface="+mn-ea"/>
              </a:rPr>
              <a:t>）</a:t>
            </a:r>
            <a:r>
              <a:rPr lang="zh-CN" altLang="en-US" b="1" dirty="0">
                <a:latin typeface="Times New Roman" panose="02020603050405020304" pitchFamily="18" charset="0"/>
                <a:cs typeface="Times New Roman" panose="02020603050405020304" pitchFamily="18" charset="0"/>
                <a:sym typeface="+mn-ea"/>
              </a:rPr>
              <a:t>启发式。也称为</a:t>
            </a:r>
            <a:r>
              <a:rPr lang="zh-CN" altLang="en-US" b="1" dirty="0">
                <a:solidFill>
                  <a:srgbClr val="002060"/>
                </a:solidFill>
                <a:latin typeface="Times New Roman" panose="02020603050405020304" pitchFamily="18" charset="0"/>
                <a:cs typeface="Times New Roman" panose="02020603050405020304" pitchFamily="18" charset="0"/>
                <a:sym typeface="+mn-ea"/>
              </a:rPr>
              <a:t>最受约束变量</a:t>
            </a:r>
            <a:r>
              <a:rPr lang="zh-CN" altLang="en-US" b="1" dirty="0">
                <a:latin typeface="Times New Roman" panose="02020603050405020304" pitchFamily="18" charset="0"/>
                <a:cs typeface="Times New Roman" panose="02020603050405020304" pitchFamily="18" charset="0"/>
                <a:sym typeface="+mn-ea"/>
              </a:rPr>
              <a:t>、</a:t>
            </a:r>
            <a:r>
              <a:rPr lang="zh-CN" altLang="en-US" b="1" dirty="0">
                <a:solidFill>
                  <a:srgbClr val="002060"/>
                </a:solidFill>
                <a:latin typeface="Times New Roman" panose="02020603050405020304" pitchFamily="18" charset="0"/>
                <a:cs typeface="Times New Roman" panose="02020603050405020304" pitchFamily="18" charset="0"/>
                <a:sym typeface="+mn-ea"/>
              </a:rPr>
              <a:t>失败优先</a:t>
            </a:r>
            <a:r>
              <a:rPr lang="zh-CN" altLang="en-US" b="1" dirty="0">
                <a:latin typeface="Times New Roman" panose="02020603050405020304" pitchFamily="18" charset="0"/>
                <a:cs typeface="Times New Roman" panose="02020603050405020304" pitchFamily="18" charset="0"/>
                <a:sym typeface="+mn-ea"/>
              </a:rPr>
              <a:t>启发式。后者的叫法是因为它选择了最可能很快导致失败的变量，从而对搜索树剪枝。</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sym typeface="+mn-ea"/>
              </a:rPr>
              <a:t>如果有一个变量</a:t>
            </a:r>
            <a:r>
              <a:rPr lang="en-US" altLang="zh-CN" b="1" dirty="0">
                <a:latin typeface="Times New Roman" panose="02020603050405020304" pitchFamily="18" charset="0"/>
                <a:cs typeface="Times New Roman" panose="02020603050405020304" pitchFamily="18" charset="0"/>
                <a:sym typeface="+mn-ea"/>
              </a:rPr>
              <a:t>X</a:t>
            </a:r>
            <a:r>
              <a:rPr lang="zh-CN" altLang="en-US" b="1" dirty="0">
                <a:latin typeface="Times New Roman" panose="02020603050405020304" pitchFamily="18" charset="0"/>
                <a:cs typeface="Times New Roman" panose="02020603050405020304" pitchFamily="18" charset="0"/>
                <a:sym typeface="+mn-ea"/>
              </a:rPr>
              <a:t>没有剩余可选的合法值，那么</a:t>
            </a:r>
            <a:r>
              <a:rPr lang="en-US" altLang="zh-CN" b="1" dirty="0">
                <a:latin typeface="Times New Roman" panose="02020603050405020304" pitchFamily="18" charset="0"/>
                <a:cs typeface="Times New Roman" panose="02020603050405020304" pitchFamily="18" charset="0"/>
                <a:sym typeface="+mn-ea"/>
              </a:rPr>
              <a:t>MRV</a:t>
            </a:r>
            <a:r>
              <a:rPr lang="zh-CN" altLang="en-US" b="1" dirty="0">
                <a:latin typeface="Times New Roman" panose="02020603050405020304" pitchFamily="18" charset="0"/>
                <a:cs typeface="Times New Roman" panose="02020603050405020304" pitchFamily="18" charset="0"/>
                <a:sym typeface="+mn-ea"/>
              </a:rPr>
              <a:t>启发式将选择</a:t>
            </a:r>
            <a:r>
              <a:rPr lang="en-US" altLang="zh-CN" b="1" dirty="0">
                <a:latin typeface="Times New Roman" panose="02020603050405020304" pitchFamily="18" charset="0"/>
                <a:cs typeface="Times New Roman" panose="02020603050405020304" pitchFamily="18" charset="0"/>
                <a:sym typeface="+mn-ea"/>
              </a:rPr>
              <a:t>X</a:t>
            </a:r>
            <a:r>
              <a:rPr lang="zh-CN" altLang="en-US" b="1" dirty="0">
                <a:latin typeface="Times New Roman" panose="02020603050405020304" pitchFamily="18" charset="0"/>
                <a:cs typeface="Times New Roman" panose="02020603050405020304" pitchFamily="18" charset="0"/>
                <a:sym typeface="+mn-ea"/>
              </a:rPr>
              <a:t>并马上检测到失败。避免其它最终也会选择</a:t>
            </a:r>
            <a:r>
              <a:rPr lang="en-US" altLang="zh-CN" b="1" dirty="0">
                <a:latin typeface="Times New Roman" panose="02020603050405020304" pitchFamily="18" charset="0"/>
                <a:cs typeface="Times New Roman" panose="02020603050405020304" pitchFamily="18" charset="0"/>
                <a:sym typeface="+mn-ea"/>
              </a:rPr>
              <a:t>X</a:t>
            </a:r>
            <a:r>
              <a:rPr lang="zh-CN" altLang="en-US" b="1" dirty="0">
                <a:latin typeface="Times New Roman" panose="02020603050405020304" pitchFamily="18" charset="0"/>
                <a:cs typeface="Times New Roman" panose="02020603050405020304" pitchFamily="18" charset="0"/>
                <a:sym typeface="+mn-ea"/>
              </a:rPr>
              <a:t>的无意义的搜索再进行下去。</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sym typeface="+mn-ea"/>
              </a:rPr>
              <a:t>图</a:t>
            </a:r>
            <a:r>
              <a:rPr lang="en-US" altLang="zh-CN" b="1" dirty="0">
                <a:latin typeface="Times New Roman" panose="02020603050405020304" pitchFamily="18" charset="0"/>
                <a:cs typeface="Times New Roman" panose="02020603050405020304" pitchFamily="18" charset="0"/>
                <a:sym typeface="+mn-ea"/>
              </a:rPr>
              <a:t>5.5</a:t>
            </a:r>
            <a:r>
              <a:rPr lang="zh-CN" altLang="en-US" b="1" dirty="0">
                <a:latin typeface="Times New Roman" panose="02020603050405020304" pitchFamily="18" charset="0"/>
                <a:cs typeface="Times New Roman" panose="02020603050405020304" pitchFamily="18" charset="0"/>
                <a:sym typeface="+mn-ea"/>
              </a:rPr>
              <a:t>的第二列给出</a:t>
            </a:r>
            <a:r>
              <a:rPr lang="en-US" altLang="zh-CN" b="1" dirty="0">
                <a:latin typeface="Times New Roman" panose="02020603050405020304" pitchFamily="18" charset="0"/>
                <a:cs typeface="Times New Roman" panose="02020603050405020304" pitchFamily="18" charset="0"/>
                <a:sym typeface="+mn-ea"/>
              </a:rPr>
              <a:t>BT+MRV</a:t>
            </a:r>
            <a:r>
              <a:rPr lang="zh-CN" altLang="en-US" b="1" dirty="0">
                <a:latin typeface="Times New Roman" panose="02020603050405020304" pitchFamily="18" charset="0"/>
                <a:cs typeface="Times New Roman" panose="02020603050405020304" pitchFamily="18" charset="0"/>
                <a:sym typeface="+mn-ea"/>
              </a:rPr>
              <a:t>，显示了这种启发式的性能。取决于不同的问题，它的性能比简单的回溯算法好</a:t>
            </a:r>
            <a:r>
              <a:rPr lang="en-US" altLang="zh-CN" b="1" dirty="0">
                <a:latin typeface="Times New Roman" panose="02020603050405020304" pitchFamily="18" charset="0"/>
                <a:cs typeface="Times New Roman" panose="02020603050405020304" pitchFamily="18" charset="0"/>
                <a:sym typeface="+mn-ea"/>
              </a:rPr>
              <a:t>3</a:t>
            </a:r>
            <a:r>
              <a:rPr lang="zh-CN" altLang="en-US" b="1" dirty="0">
                <a:latin typeface="Times New Roman" panose="02020603050405020304" pitchFamily="18" charset="0"/>
                <a:cs typeface="Times New Roman" panose="02020603050405020304" pitchFamily="18" charset="0"/>
                <a:sym typeface="+mn-ea"/>
              </a:rPr>
              <a:t>到</a:t>
            </a:r>
            <a:r>
              <a:rPr lang="en-US" altLang="zh-CN" b="1" dirty="0">
                <a:latin typeface="Times New Roman" panose="02020603050405020304" pitchFamily="18" charset="0"/>
                <a:cs typeface="Times New Roman" panose="02020603050405020304" pitchFamily="18" charset="0"/>
                <a:sym typeface="+mn-ea"/>
              </a:rPr>
              <a:t>3000</a:t>
            </a:r>
            <a:r>
              <a:rPr lang="zh-CN" altLang="en-US" b="1" dirty="0">
                <a:latin typeface="Times New Roman" panose="02020603050405020304" pitchFamily="18" charset="0"/>
                <a:cs typeface="Times New Roman" panose="02020603050405020304" pitchFamily="18" charset="0"/>
                <a:sym typeface="+mn-ea"/>
              </a:rPr>
              <a:t>倍。</a:t>
            </a:r>
            <a:r>
              <a:rPr lang="zh-CN" altLang="en-US" b="1" dirty="0">
                <a:solidFill>
                  <a:srgbClr val="002060"/>
                </a:solidFill>
                <a:latin typeface="Times New Roman" panose="02020603050405020304" pitchFamily="18" charset="0"/>
                <a:cs typeface="Times New Roman" panose="02020603050405020304" pitchFamily="18" charset="0"/>
                <a:sym typeface="+mn-ea"/>
              </a:rPr>
              <a:t>性能评价忽略了计算启发式值的额外开销</a:t>
            </a:r>
            <a:r>
              <a:rPr lang="zh-CN" altLang="en-US" b="1" dirty="0">
                <a:latin typeface="Times New Roman" panose="02020603050405020304" pitchFamily="18" charset="0"/>
                <a:cs typeface="Times New Roman" panose="02020603050405020304" pitchFamily="18" charset="0"/>
                <a:sym typeface="+mn-ea"/>
              </a:rPr>
              <a:t>。</a:t>
            </a:r>
            <a:endParaRPr lang="zh-CN" altLang="en-US" b="1" dirty="0">
              <a:latin typeface="Times New Roman" panose="02020603050405020304" pitchFamily="18" charset="0"/>
              <a:cs typeface="Times New Roman" panose="02020603050405020304" pitchFamily="18" charset="0"/>
            </a:endParaRPr>
          </a:p>
          <a:p>
            <a:endParaRPr lang="en-US" altLang="zh-CN" baseline="0" dirty="0"/>
          </a:p>
          <a:p>
            <a:endParaRPr lang="en-US" altLang="zh-CN" baseline="0"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983582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度启发式</a:t>
            </a:r>
            <a:r>
              <a:rPr lang="en-US" altLang="zh-CN" b="1" dirty="0"/>
              <a:t>Degree heuristic</a:t>
            </a:r>
            <a:r>
              <a:rPr lang="zh-CN" altLang="en-US" b="1" dirty="0"/>
              <a:t>：通过选择与其他未赋值变量约束最多的变量来</a:t>
            </a:r>
            <a:endParaRPr lang="en-US" altLang="zh-CN" baseline="0" dirty="0"/>
          </a:p>
          <a:p>
            <a:endParaRPr lang="en-US" altLang="zh-CN" baseline="0" dirty="0"/>
          </a:p>
          <a:p>
            <a:r>
              <a:rPr lang="en-US" altLang="zh-CN" b="1" dirty="0">
                <a:latin typeface="Times New Roman" panose="02020603050405020304" pitchFamily="18" charset="0"/>
                <a:cs typeface="Times New Roman" panose="02020603050405020304" pitchFamily="18" charset="0"/>
                <a:sym typeface="+mn-ea"/>
              </a:rPr>
              <a:t>MRV</a:t>
            </a:r>
            <a:r>
              <a:rPr lang="zh-CN" altLang="en-US" b="1" dirty="0">
                <a:latin typeface="Times New Roman" panose="02020603050405020304" pitchFamily="18" charset="0"/>
                <a:cs typeface="Times New Roman" panose="02020603050405020304" pitchFamily="18" charset="0"/>
                <a:sym typeface="+mn-ea"/>
              </a:rPr>
              <a:t>启发式在澳大利亚着色问题中对选择第一个染色区域没有帮助。因为初始的时候每个区域都有三种合法的颜色。</a:t>
            </a:r>
            <a:endParaRPr lang="en-US" altLang="zh-CN" b="1" dirty="0">
              <a:latin typeface="Times New Roman" panose="02020603050405020304" pitchFamily="18" charset="0"/>
              <a:cs typeface="Times New Roman" panose="02020603050405020304" pitchFamily="18" charset="0"/>
            </a:endParaRPr>
          </a:p>
          <a:p>
            <a:r>
              <a:rPr lang="zh-CN" altLang="en-US" b="1" dirty="0">
                <a:solidFill>
                  <a:srgbClr val="002060"/>
                </a:solidFill>
                <a:latin typeface="Times New Roman" panose="02020603050405020304" pitchFamily="18" charset="0"/>
                <a:cs typeface="Times New Roman" panose="02020603050405020304" pitchFamily="18" charset="0"/>
                <a:sym typeface="+mn-ea"/>
              </a:rPr>
              <a:t>度启发式</a:t>
            </a:r>
            <a:r>
              <a:rPr lang="zh-CN" altLang="en-US" b="1" dirty="0">
                <a:latin typeface="Times New Roman" panose="02020603050405020304" pitchFamily="18" charset="0"/>
                <a:cs typeface="Times New Roman" panose="02020603050405020304" pitchFamily="18" charset="0"/>
                <a:sym typeface="+mn-ea"/>
              </a:rPr>
              <a:t>通过选择涉及对其它未赋值变量的约束数最大的变量来降低未来选择的分支因子。在图</a:t>
            </a:r>
            <a:r>
              <a:rPr lang="en-US" altLang="zh-CN" b="1" dirty="0">
                <a:latin typeface="Times New Roman" panose="02020603050405020304" pitchFamily="18" charset="0"/>
                <a:cs typeface="Times New Roman" panose="02020603050405020304" pitchFamily="18" charset="0"/>
                <a:sym typeface="+mn-ea"/>
              </a:rPr>
              <a:t>5.1</a:t>
            </a:r>
            <a:r>
              <a:rPr lang="zh-CN" altLang="en-US" b="1" dirty="0">
                <a:latin typeface="Times New Roman" panose="02020603050405020304" pitchFamily="18" charset="0"/>
                <a:cs typeface="Times New Roman" panose="02020603050405020304" pitchFamily="18" charset="0"/>
                <a:sym typeface="+mn-ea"/>
              </a:rPr>
              <a:t>中，</a:t>
            </a:r>
            <a:r>
              <a:rPr lang="en-US" altLang="zh-CN" b="1" dirty="0">
                <a:latin typeface="Times New Roman" panose="02020603050405020304" pitchFamily="18" charset="0"/>
                <a:cs typeface="Times New Roman" panose="02020603050405020304" pitchFamily="18" charset="0"/>
                <a:sym typeface="+mn-ea"/>
              </a:rPr>
              <a:t>SA</a:t>
            </a:r>
            <a:r>
              <a:rPr lang="zh-CN" altLang="en-US" b="1" dirty="0">
                <a:latin typeface="Times New Roman" panose="02020603050405020304" pitchFamily="18" charset="0"/>
                <a:cs typeface="Times New Roman" panose="02020603050405020304" pitchFamily="18" charset="0"/>
                <a:sym typeface="+mn-ea"/>
              </a:rPr>
              <a:t>具有最高的度，为</a:t>
            </a:r>
            <a:r>
              <a:rPr lang="en-US" altLang="zh-CN" b="1" dirty="0">
                <a:latin typeface="Times New Roman" panose="02020603050405020304" pitchFamily="18" charset="0"/>
                <a:cs typeface="Times New Roman" panose="02020603050405020304" pitchFamily="18" charset="0"/>
                <a:sym typeface="+mn-ea"/>
              </a:rPr>
              <a:t>5</a:t>
            </a:r>
            <a:r>
              <a:rPr lang="zh-CN" altLang="en-US" b="1" dirty="0">
                <a:latin typeface="Times New Roman" panose="02020603050405020304" pitchFamily="18" charset="0"/>
                <a:cs typeface="Times New Roman" panose="02020603050405020304" pitchFamily="18" charset="0"/>
                <a:sym typeface="+mn-ea"/>
              </a:rPr>
              <a:t>。其它的为</a:t>
            </a:r>
            <a:r>
              <a:rPr lang="en-US" altLang="zh-CN" b="1" dirty="0">
                <a:latin typeface="Times New Roman" panose="02020603050405020304" pitchFamily="18" charset="0"/>
                <a:cs typeface="Times New Roman" panose="02020603050405020304" pitchFamily="18" charset="0"/>
                <a:sym typeface="+mn-ea"/>
              </a:rPr>
              <a:t>2</a:t>
            </a:r>
            <a:r>
              <a:rPr lang="zh-CN" altLang="en-US" b="1" dirty="0">
                <a:latin typeface="Times New Roman" panose="02020603050405020304" pitchFamily="18" charset="0"/>
                <a:cs typeface="Times New Roman" panose="02020603050405020304" pitchFamily="18" charset="0"/>
                <a:sym typeface="+mn-ea"/>
              </a:rPr>
              <a:t>或者</a:t>
            </a:r>
            <a:r>
              <a:rPr lang="en-US" altLang="zh-CN" b="1" dirty="0">
                <a:latin typeface="Times New Roman" panose="02020603050405020304" pitchFamily="18" charset="0"/>
                <a:cs typeface="Times New Roman" panose="02020603050405020304" pitchFamily="18" charset="0"/>
                <a:sym typeface="+mn-ea"/>
              </a:rPr>
              <a:t>3</a:t>
            </a:r>
            <a:r>
              <a:rPr lang="zh-CN" altLang="en-US" b="1" dirty="0">
                <a:latin typeface="Times New Roman" panose="02020603050405020304" pitchFamily="18" charset="0"/>
                <a:cs typeface="Times New Roman" panose="02020603050405020304" pitchFamily="18" charset="0"/>
                <a:sym typeface="+mn-ea"/>
              </a:rPr>
              <a:t>，</a:t>
            </a:r>
            <a:r>
              <a:rPr lang="en-US" altLang="zh-CN" b="1" dirty="0">
                <a:latin typeface="Times New Roman" panose="02020603050405020304" pitchFamily="18" charset="0"/>
                <a:cs typeface="Times New Roman" panose="02020603050405020304" pitchFamily="18" charset="0"/>
                <a:sym typeface="+mn-ea"/>
              </a:rPr>
              <a:t>T</a:t>
            </a:r>
            <a:r>
              <a:rPr lang="zh-CN" altLang="en-US" b="1" dirty="0">
                <a:latin typeface="Times New Roman" panose="02020603050405020304" pitchFamily="18" charset="0"/>
                <a:cs typeface="Times New Roman" panose="02020603050405020304" pitchFamily="18" charset="0"/>
                <a:sym typeface="+mn-ea"/>
              </a:rPr>
              <a:t>的度为</a:t>
            </a:r>
            <a:r>
              <a:rPr lang="en-US" altLang="zh-CN" b="1" dirty="0">
                <a:latin typeface="Times New Roman" panose="02020603050405020304" pitchFamily="18" charset="0"/>
                <a:cs typeface="Times New Roman" panose="02020603050405020304" pitchFamily="18" charset="0"/>
                <a:sym typeface="+mn-ea"/>
              </a:rPr>
              <a:t>0</a:t>
            </a:r>
            <a:r>
              <a:rPr lang="zh-CN" altLang="en-US" b="1" dirty="0">
                <a:latin typeface="Times New Roman" panose="02020603050405020304" pitchFamily="18" charset="0"/>
                <a:cs typeface="Times New Roman" panose="02020603050405020304" pitchFamily="18" charset="0"/>
                <a:sym typeface="+mn-ea"/>
              </a:rPr>
              <a:t>。</a:t>
            </a:r>
            <a:endParaRPr lang="en-US" altLang="zh-CN" b="1" dirty="0">
              <a:solidFill>
                <a:schemeClr val="tx1"/>
              </a:solidFill>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sym typeface="+mn-ea"/>
              </a:rPr>
              <a:t>一旦选择了</a:t>
            </a:r>
            <a:r>
              <a:rPr lang="en-US" altLang="zh-CN" b="1" dirty="0">
                <a:latin typeface="Times New Roman" panose="02020603050405020304" pitchFamily="18" charset="0"/>
                <a:cs typeface="Times New Roman" panose="02020603050405020304" pitchFamily="18" charset="0"/>
                <a:sym typeface="+mn-ea"/>
              </a:rPr>
              <a:t>SA</a:t>
            </a:r>
            <a:r>
              <a:rPr lang="zh-CN" altLang="en-US" b="1" dirty="0">
                <a:latin typeface="Times New Roman" panose="02020603050405020304" pitchFamily="18" charset="0"/>
                <a:cs typeface="Times New Roman" panose="02020603050405020304" pitchFamily="18" charset="0"/>
                <a:sym typeface="+mn-ea"/>
              </a:rPr>
              <a:t>，应用度启发式求解问题可以不走错任何一步。可以在每个选择点上选择相容的颜色，可以不回溯就找到解。</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sym typeface="+mn-ea"/>
              </a:rPr>
              <a:t>因此，</a:t>
            </a:r>
            <a:r>
              <a:rPr lang="zh-CN" altLang="en-US" b="1" dirty="0">
                <a:solidFill>
                  <a:srgbClr val="002060"/>
                </a:solidFill>
                <a:latin typeface="Times New Roman" panose="02020603050405020304" pitchFamily="18" charset="0"/>
                <a:cs typeface="Times New Roman" panose="02020603050405020304" pitchFamily="18" charset="0"/>
                <a:sym typeface="+mn-ea"/>
              </a:rPr>
              <a:t>最少剩余值（</a:t>
            </a:r>
            <a:r>
              <a:rPr lang="en-US" altLang="zh-CN" b="1" dirty="0">
                <a:solidFill>
                  <a:srgbClr val="002060"/>
                </a:solidFill>
                <a:latin typeface="Times New Roman" panose="02020603050405020304" pitchFamily="18" charset="0"/>
                <a:cs typeface="Times New Roman" panose="02020603050405020304" pitchFamily="18" charset="0"/>
                <a:sym typeface="+mn-ea"/>
              </a:rPr>
              <a:t>MRV</a:t>
            </a:r>
            <a:r>
              <a:rPr lang="zh-CN" altLang="en-US" b="1" dirty="0">
                <a:solidFill>
                  <a:srgbClr val="002060"/>
                </a:solidFill>
                <a:latin typeface="Times New Roman" panose="02020603050405020304" pitchFamily="18" charset="0"/>
                <a:cs typeface="Times New Roman" panose="02020603050405020304" pitchFamily="18" charset="0"/>
                <a:sym typeface="+mn-ea"/>
              </a:rPr>
              <a:t>）启发式是一个更强的指导，而度启发式（</a:t>
            </a:r>
            <a:r>
              <a:rPr lang="en-US" altLang="zh-CN" b="1" dirty="0">
                <a:solidFill>
                  <a:srgbClr val="002060"/>
                </a:solidFill>
                <a:latin typeface="Times New Roman" panose="02020603050405020304" pitchFamily="18" charset="0"/>
                <a:cs typeface="Times New Roman" panose="02020603050405020304" pitchFamily="18" charset="0"/>
                <a:sym typeface="+mn-ea"/>
              </a:rPr>
              <a:t>degree heuristic</a:t>
            </a:r>
            <a:r>
              <a:rPr lang="zh-CN" altLang="en-US" b="1" dirty="0">
                <a:solidFill>
                  <a:srgbClr val="002060"/>
                </a:solidFill>
                <a:latin typeface="Times New Roman" panose="02020603050405020304" pitchFamily="18" charset="0"/>
                <a:cs typeface="Times New Roman" panose="02020603050405020304" pitchFamily="18" charset="0"/>
                <a:sym typeface="+mn-ea"/>
              </a:rPr>
              <a:t>）可以打破僵局</a:t>
            </a:r>
            <a:r>
              <a:rPr lang="zh-CN" altLang="en-US" b="1" dirty="0">
                <a:latin typeface="Times New Roman" panose="02020603050405020304" pitchFamily="18" charset="0"/>
                <a:cs typeface="Times New Roman" panose="02020603050405020304" pitchFamily="18" charset="0"/>
                <a:sym typeface="+mn-ea"/>
              </a:rPr>
              <a:t>。</a:t>
            </a:r>
            <a:endParaRPr lang="en-US" altLang="zh-CN"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260443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u="none" strike="noStrike" kern="1200" baseline="0" dirty="0">
                <a:solidFill>
                  <a:schemeClr val="tx1"/>
                </a:solidFill>
                <a:latin typeface="Arial" panose="020B0604020202090204" pitchFamily="34" charset="0"/>
                <a:ea typeface="+mn-ea"/>
                <a:cs typeface="+mn-cs"/>
              </a:rPr>
              <a:t>一旦一个变量被选定，算法需要决定检验他的取值顺序。</a:t>
            </a:r>
            <a:endParaRPr lang="en-US" altLang="zh-CN" sz="1200" b="1" i="0" u="none" strike="noStrike" kern="1200" baseline="0" dirty="0">
              <a:solidFill>
                <a:schemeClr val="tx1"/>
              </a:solidFill>
              <a:latin typeface="Arial" panose="020B0604020202090204" pitchFamily="34" charset="0"/>
              <a:ea typeface="+mn-ea"/>
              <a:cs typeface="+mn-cs"/>
            </a:endParaRPr>
          </a:p>
          <a:p>
            <a:r>
              <a:rPr lang="en-US" altLang="zh-CN" sz="1200" b="1" i="0" u="none" strike="noStrike" kern="1200" baseline="0" dirty="0">
                <a:solidFill>
                  <a:schemeClr val="tx1"/>
                </a:solidFill>
                <a:latin typeface="Arial" panose="020B0604020202090204" pitchFamily="34" charset="0"/>
                <a:ea typeface="+mn-ea"/>
                <a:cs typeface="+mn-cs"/>
              </a:rPr>
              <a:t>least-constraining-value:</a:t>
            </a:r>
            <a:r>
              <a:rPr lang="zh-CN" altLang="en-US" sz="1200" b="1" i="0" u="none" strike="noStrike" kern="1200" baseline="0" dirty="0">
                <a:solidFill>
                  <a:schemeClr val="tx1"/>
                </a:solidFill>
                <a:latin typeface="Arial" panose="020B0604020202090204" pitchFamily="34" charset="0"/>
                <a:ea typeface="+mn-ea"/>
                <a:cs typeface="+mn-cs"/>
              </a:rPr>
              <a:t>最少约束值，他优先选择的值是给邻居变量留下更多的选择。</a:t>
            </a:r>
            <a:endParaRPr lang="en-US" altLang="zh-CN" baseline="0" dirty="0"/>
          </a:p>
          <a:p>
            <a:endParaRPr lang="en-US" altLang="zh-CN" baseline="0" dirty="0"/>
          </a:p>
          <a:p>
            <a:r>
              <a:rPr lang="zh-CN" altLang="en-US" b="1" dirty="0">
                <a:latin typeface="Times New Roman" panose="02020603050405020304" pitchFamily="18" charset="0"/>
                <a:cs typeface="Times New Roman" panose="02020603050405020304" pitchFamily="18" charset="0"/>
                <a:sym typeface="+mn-ea"/>
              </a:rPr>
              <a:t>选定变量后，就要决定取值的次序。</a:t>
            </a:r>
            <a:r>
              <a:rPr lang="zh-CN" altLang="en-US" b="1" dirty="0">
                <a:solidFill>
                  <a:srgbClr val="002060"/>
                </a:solidFill>
                <a:latin typeface="Times New Roman" panose="02020603050405020304" pitchFamily="18" charset="0"/>
                <a:cs typeface="Times New Roman" panose="02020603050405020304" pitchFamily="18" charset="0"/>
                <a:sym typeface="+mn-ea"/>
              </a:rPr>
              <a:t>最小约束值启发式</a:t>
            </a:r>
            <a:r>
              <a:rPr lang="zh-CN" altLang="en-US" b="1" dirty="0">
                <a:latin typeface="Times New Roman" panose="02020603050405020304" pitchFamily="18" charset="0"/>
                <a:cs typeface="Times New Roman" panose="02020603050405020304" pitchFamily="18" charset="0"/>
                <a:sym typeface="+mn-ea"/>
              </a:rPr>
              <a:t>（</a:t>
            </a:r>
            <a:r>
              <a:rPr lang="en-US" altLang="zh-CN" b="1" dirty="0">
                <a:solidFill>
                  <a:srgbClr val="002060"/>
                </a:solidFill>
                <a:latin typeface="Times New Roman" panose="02020603050405020304" pitchFamily="18" charset="0"/>
                <a:cs typeface="Times New Roman" panose="02020603050405020304" pitchFamily="18" charset="0"/>
                <a:sym typeface="+mn-ea"/>
              </a:rPr>
              <a:t>lease constraining value</a:t>
            </a:r>
            <a:r>
              <a:rPr lang="zh-CN" altLang="en-US" b="1" dirty="0">
                <a:latin typeface="Times New Roman" panose="02020603050405020304" pitchFamily="18" charset="0"/>
                <a:cs typeface="Times New Roman" panose="02020603050405020304" pitchFamily="18" charset="0"/>
                <a:sym typeface="+mn-ea"/>
              </a:rPr>
              <a:t>）优先选择的值：</a:t>
            </a:r>
            <a:r>
              <a:rPr lang="zh-CN" altLang="en-US" b="1" dirty="0">
                <a:solidFill>
                  <a:srgbClr val="002060"/>
                </a:solidFill>
                <a:latin typeface="Times New Roman" panose="02020603050405020304" pitchFamily="18" charset="0"/>
                <a:cs typeface="Times New Roman" panose="02020603050405020304" pitchFamily="18" charset="0"/>
                <a:sym typeface="+mn-ea"/>
              </a:rPr>
              <a:t>在约束图中排除邻居变量的可选值最少</a:t>
            </a:r>
            <a:r>
              <a:rPr lang="zh-CN" altLang="en-US" b="1" dirty="0">
                <a:latin typeface="Times New Roman" panose="02020603050405020304" pitchFamily="18" charset="0"/>
                <a:cs typeface="Times New Roman" panose="02020603050405020304" pitchFamily="18" charset="0"/>
                <a:sym typeface="+mn-ea"/>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sym typeface="+mn-ea"/>
              </a:rPr>
              <a:t>在图</a:t>
            </a:r>
            <a:r>
              <a:rPr lang="en-US" altLang="zh-CN" b="1" dirty="0">
                <a:latin typeface="Times New Roman" panose="02020603050405020304" pitchFamily="18" charset="0"/>
                <a:cs typeface="Times New Roman" panose="02020603050405020304" pitchFamily="18" charset="0"/>
                <a:sym typeface="+mn-ea"/>
              </a:rPr>
              <a:t>5.1</a:t>
            </a:r>
            <a:r>
              <a:rPr lang="zh-CN" altLang="en-US" b="1" dirty="0">
                <a:latin typeface="Times New Roman" panose="02020603050405020304" pitchFamily="18" charset="0"/>
                <a:cs typeface="Times New Roman" panose="02020603050405020304" pitchFamily="18" charset="0"/>
                <a:sym typeface="+mn-ea"/>
              </a:rPr>
              <a:t>中，已经赋值</a:t>
            </a:r>
            <a:r>
              <a:rPr lang="en-US" altLang="zh-CN" b="1" dirty="0">
                <a:latin typeface="Times New Roman" panose="02020603050405020304" pitchFamily="18" charset="0"/>
                <a:cs typeface="Times New Roman" panose="02020603050405020304" pitchFamily="18" charset="0"/>
                <a:sym typeface="+mn-ea"/>
              </a:rPr>
              <a:t>WA=red, NT=green, </a:t>
            </a:r>
            <a:r>
              <a:rPr lang="zh-CN" altLang="en-US" b="1" dirty="0">
                <a:latin typeface="Times New Roman" panose="02020603050405020304" pitchFamily="18" charset="0"/>
                <a:cs typeface="Times New Roman" panose="02020603050405020304" pitchFamily="18" charset="0"/>
                <a:sym typeface="+mn-ea"/>
              </a:rPr>
              <a:t>下一步为</a:t>
            </a:r>
            <a:r>
              <a:rPr lang="en-US" altLang="zh-CN" b="1" dirty="0">
                <a:latin typeface="Times New Roman" panose="02020603050405020304" pitchFamily="18" charset="0"/>
                <a:cs typeface="Times New Roman" panose="02020603050405020304" pitchFamily="18" charset="0"/>
                <a:sym typeface="+mn-ea"/>
              </a:rPr>
              <a:t>Q</a:t>
            </a:r>
            <a:r>
              <a:rPr lang="zh-CN" altLang="en-US" b="1" dirty="0">
                <a:latin typeface="Times New Roman" panose="02020603050405020304" pitchFamily="18" charset="0"/>
                <a:cs typeface="Times New Roman" panose="02020603050405020304" pitchFamily="18" charset="0"/>
                <a:sym typeface="+mn-ea"/>
              </a:rPr>
              <a:t>选择值。</a:t>
            </a:r>
            <a:r>
              <a:rPr lang="en-US" altLang="zh-CN" b="1" dirty="0">
                <a:latin typeface="Times New Roman" panose="02020603050405020304" pitchFamily="18" charset="0"/>
                <a:cs typeface="Times New Roman" panose="02020603050405020304" pitchFamily="18" charset="0"/>
                <a:sym typeface="+mn-ea"/>
              </a:rPr>
              <a:t>Blue</a:t>
            </a:r>
            <a:r>
              <a:rPr lang="zh-CN" altLang="en-US" b="1" dirty="0">
                <a:latin typeface="Times New Roman" panose="02020603050405020304" pitchFamily="18" charset="0"/>
                <a:cs typeface="Times New Roman" panose="02020603050405020304" pitchFamily="18" charset="0"/>
                <a:sym typeface="+mn-ea"/>
              </a:rPr>
              <a:t>不是一个好的选择，因为它消除了</a:t>
            </a:r>
            <a:r>
              <a:rPr lang="en-US" altLang="zh-CN" b="1" dirty="0">
                <a:latin typeface="Times New Roman" panose="02020603050405020304" pitchFamily="18" charset="0"/>
                <a:cs typeface="Times New Roman" panose="02020603050405020304" pitchFamily="18" charset="0"/>
                <a:sym typeface="+mn-ea"/>
              </a:rPr>
              <a:t>Q</a:t>
            </a:r>
            <a:r>
              <a:rPr lang="zh-CN" altLang="en-US" b="1" dirty="0">
                <a:latin typeface="Times New Roman" panose="02020603050405020304" pitchFamily="18" charset="0"/>
                <a:cs typeface="Times New Roman" panose="02020603050405020304" pitchFamily="18" charset="0"/>
                <a:sym typeface="+mn-ea"/>
              </a:rPr>
              <a:t>的邻居</a:t>
            </a:r>
            <a:r>
              <a:rPr lang="en-US" altLang="zh-CN" b="1" dirty="0">
                <a:latin typeface="Times New Roman" panose="02020603050405020304" pitchFamily="18" charset="0"/>
                <a:cs typeface="Times New Roman" panose="02020603050405020304" pitchFamily="18" charset="0"/>
                <a:sym typeface="+mn-ea"/>
              </a:rPr>
              <a:t>SA</a:t>
            </a:r>
            <a:r>
              <a:rPr lang="zh-CN" altLang="en-US" b="1" dirty="0">
                <a:latin typeface="Times New Roman" panose="02020603050405020304" pitchFamily="18" charset="0"/>
                <a:cs typeface="Times New Roman" panose="02020603050405020304" pitchFamily="18" charset="0"/>
                <a:sym typeface="+mn-ea"/>
              </a:rPr>
              <a:t>的最后一个可选合法值。根据最少约束值启发式应该选择</a:t>
            </a:r>
            <a:r>
              <a:rPr lang="en-US" altLang="zh-CN" b="1" dirty="0">
                <a:latin typeface="Times New Roman" panose="02020603050405020304" pitchFamily="18" charset="0"/>
                <a:cs typeface="Times New Roman" panose="02020603050405020304" pitchFamily="18" charset="0"/>
                <a:sym typeface="+mn-ea"/>
              </a:rPr>
              <a:t>red</a:t>
            </a:r>
            <a:r>
              <a:rPr lang="zh-CN" altLang="en-US" b="1" dirty="0">
                <a:latin typeface="Times New Roman" panose="02020603050405020304" pitchFamily="18" charset="0"/>
                <a:cs typeface="Times New Roman" panose="02020603050405020304" pitchFamily="18" charset="0"/>
                <a:sym typeface="+mn-ea"/>
              </a:rPr>
              <a:t>。</a:t>
            </a:r>
            <a:r>
              <a:rPr lang="zh-CN" altLang="en-US" b="1" dirty="0">
                <a:solidFill>
                  <a:srgbClr val="002060"/>
                </a:solidFill>
                <a:latin typeface="Times New Roman" panose="02020603050405020304" pitchFamily="18" charset="0"/>
                <a:cs typeface="Times New Roman" panose="02020603050405020304" pitchFamily="18" charset="0"/>
                <a:sym typeface="+mn-ea"/>
              </a:rPr>
              <a:t>启发式应该给剩下的变量赋值留下最大的灵活性。如果试图找到所有解，而不是一个解，则排序就无所谓了。</a:t>
            </a:r>
            <a:endParaRPr lang="en-US" altLang="zh-CN" b="1" dirty="0">
              <a:solidFill>
                <a:srgbClr val="002060"/>
              </a:solidFill>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sym typeface="+mn-ea"/>
              </a:rPr>
              <a:t>（</a:t>
            </a:r>
            <a:r>
              <a:rPr lang="zh-CN" altLang="en-US" b="1" dirty="0">
                <a:solidFill>
                  <a:srgbClr val="C00000"/>
                </a:solidFill>
                <a:latin typeface="Times New Roman" panose="02020603050405020304" pitchFamily="18" charset="0"/>
                <a:cs typeface="Times New Roman" panose="02020603050405020304" pitchFamily="18" charset="0"/>
                <a:sym typeface="+mn-ea"/>
              </a:rPr>
              <a:t>评价：目前有三种启发式：最受约束变量启发式、度启发式、最小约束值启发式</a:t>
            </a:r>
            <a:r>
              <a:rPr lang="zh-CN" altLang="en-US" b="1" dirty="0">
                <a:latin typeface="Times New Roman" panose="02020603050405020304" pitchFamily="18" charset="0"/>
                <a:cs typeface="Times New Roman" panose="02020603050405020304" pitchFamily="18" charset="0"/>
                <a:sym typeface="+mn-ea"/>
              </a:rPr>
              <a:t>）</a:t>
            </a:r>
            <a:endParaRPr lang="zh-CN" altLang="en-US" b="1" dirty="0">
              <a:latin typeface="Times New Roman" panose="02020603050405020304" pitchFamily="18" charset="0"/>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6807884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zh-CN" dirty="0"/>
              <a:t>Which variable should be assigned next (SELECT-UNASSIGNED-VARIABLE), and in what order should its values be tried (ORDER-DOMAIN-VALUES)?</a:t>
            </a:r>
          </a:p>
          <a:p>
            <a:pPr lvl="1"/>
            <a:r>
              <a:rPr lang="en-US" altLang="zh-CN" dirty="0"/>
              <a:t>What inferences should be performed at each step in the search (INFERENCE)?</a:t>
            </a:r>
          </a:p>
          <a:p>
            <a:pPr lvl="1"/>
            <a:r>
              <a:rPr lang="en-US" altLang="zh-CN" dirty="0"/>
              <a:t>When the search arrives at an assignment that violates a constraint, can the search avoid repeating this failure?</a:t>
            </a:r>
            <a:endParaRPr lang="zh-CN" altLang="en-US" dirty="0"/>
          </a:p>
          <a:p>
            <a:endParaRPr lang="en-US" altLang="zh-CN" dirty="0"/>
          </a:p>
          <a:p>
            <a:r>
              <a:rPr lang="en-US" altLang="zh-CN" dirty="0"/>
              <a:t>1</a:t>
            </a:r>
            <a:r>
              <a:rPr lang="zh-CN" altLang="en-US" dirty="0"/>
              <a:t>、下一步该给哪个变量赋值，按什么顺序来尝试他的值</a:t>
            </a:r>
            <a:endParaRPr lang="en-US" altLang="zh-CN" dirty="0"/>
          </a:p>
          <a:p>
            <a:r>
              <a:rPr lang="en-US" altLang="zh-CN" dirty="0"/>
              <a:t>2</a:t>
            </a:r>
            <a:r>
              <a:rPr lang="zh-CN" altLang="en-US" dirty="0"/>
              <a:t>、每步搜索应做怎么样的推理</a:t>
            </a:r>
            <a:endParaRPr lang="en-US" altLang="zh-CN" dirty="0"/>
          </a:p>
          <a:p>
            <a:r>
              <a:rPr lang="en-US" altLang="zh-CN" dirty="0"/>
              <a:t>3</a:t>
            </a:r>
            <a:r>
              <a:rPr lang="zh-CN" altLang="en-US" dirty="0"/>
              <a:t>、搜索本身能避免重复的失败吗？</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3699572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搜索与推理交错并行</a:t>
            </a:r>
            <a:endParaRPr lang="en-US" altLang="zh-CN" dirty="0"/>
          </a:p>
          <a:p>
            <a:endParaRPr lang="en-US" altLang="zh-CN" dirty="0"/>
          </a:p>
          <a:p>
            <a:r>
              <a:rPr lang="zh-CN" altLang="en-US" dirty="0"/>
              <a:t>每次我们决定给某个变量某个值时，都有机会推理其邻接变量的值域空间。</a:t>
            </a:r>
            <a:endParaRPr lang="en-US" altLang="zh-CN" dirty="0"/>
          </a:p>
          <a:p>
            <a:r>
              <a:rPr lang="zh-CN" altLang="en-US" dirty="0"/>
              <a:t>最简单的推理形式是前向检验。只要变量</a:t>
            </a:r>
            <a:r>
              <a:rPr lang="en-US" altLang="zh-CN" dirty="0"/>
              <a:t>X</a:t>
            </a:r>
            <a:r>
              <a:rPr lang="zh-CN" altLang="en-US" dirty="0"/>
              <a:t>被赋值了，前向检验过程对它进行弧相容检查。</a:t>
            </a:r>
            <a:endParaRPr lang="en-US" altLang="zh-CN" dirty="0"/>
          </a:p>
          <a:p>
            <a:endParaRPr lang="en-US" altLang="zh-CN" dirty="0"/>
          </a:p>
          <a:p>
            <a:r>
              <a:rPr lang="en-US" altLang="zh-CN" dirty="0"/>
              <a:t>1</a:t>
            </a:r>
            <a:r>
              <a:rPr lang="zh-CN" altLang="en-US" dirty="0"/>
              <a:t>、第四行，当</a:t>
            </a:r>
            <a:r>
              <a:rPr lang="en-US" altLang="zh-CN" dirty="0" err="1"/>
              <a:t>wa</a:t>
            </a:r>
            <a:r>
              <a:rPr lang="zh-CN" altLang="en-US" dirty="0"/>
              <a:t>，</a:t>
            </a:r>
            <a:r>
              <a:rPr lang="en-US" altLang="zh-CN" dirty="0"/>
              <a:t>q</a:t>
            </a:r>
            <a:r>
              <a:rPr lang="zh-CN" altLang="en-US" dirty="0"/>
              <a:t>，</a:t>
            </a:r>
            <a:r>
              <a:rPr lang="en-US" altLang="zh-CN" dirty="0"/>
              <a:t>v</a:t>
            </a:r>
            <a:r>
              <a:rPr lang="zh-CN" altLang="en-US" dirty="0"/>
              <a:t>按图中赋值后，发现</a:t>
            </a:r>
            <a:r>
              <a:rPr lang="en-US" altLang="zh-CN" dirty="0" err="1"/>
              <a:t>sa</a:t>
            </a:r>
            <a:r>
              <a:rPr lang="zh-CN" altLang="en-US" dirty="0"/>
              <a:t>值域为空，前向检测（推理）失败。</a:t>
            </a:r>
            <a:endParaRPr lang="en-US" altLang="zh-CN" dirty="0"/>
          </a:p>
          <a:p>
            <a:r>
              <a:rPr lang="en-US" altLang="zh-CN" dirty="0"/>
              <a:t>2</a:t>
            </a:r>
            <a:r>
              <a:rPr lang="zh-CN" altLang="en-US" dirty="0"/>
              <a:t>、第三行，当</a:t>
            </a:r>
            <a:r>
              <a:rPr lang="en-US" altLang="zh-CN" dirty="0" err="1"/>
              <a:t>wa</a:t>
            </a:r>
            <a:r>
              <a:rPr lang="en-US" altLang="zh-CN" dirty="0"/>
              <a:t>=red</a:t>
            </a:r>
            <a:r>
              <a:rPr lang="zh-CN" altLang="en-US" dirty="0"/>
              <a:t>，</a:t>
            </a:r>
            <a:r>
              <a:rPr lang="en-US" altLang="zh-CN" dirty="0"/>
              <a:t>q=green, NT</a:t>
            </a:r>
            <a:r>
              <a:rPr lang="zh-CN" altLang="en-US" dirty="0"/>
              <a:t>和</a:t>
            </a:r>
            <a:r>
              <a:rPr lang="en-US" altLang="zh-CN" dirty="0" err="1"/>
              <a:t>sa</a:t>
            </a:r>
            <a:r>
              <a:rPr lang="zh-CN" altLang="en-US" dirty="0"/>
              <a:t>都只能是蓝色了。前向检测看的不够远。</a:t>
            </a:r>
            <a:endParaRPr lang="en-US" altLang="zh-CN" dirty="0"/>
          </a:p>
          <a:p>
            <a:r>
              <a:rPr lang="zh-CN" altLang="en-US" dirty="0"/>
              <a:t>尽管前向检验能够检测出很多不相容，它无法检测出所有不相容。问题是它使当前变量弧相容，但他不向前看使得其他变量弧相容。比如第三行当</a:t>
            </a:r>
            <a:r>
              <a:rPr lang="en-US" altLang="zh-CN" dirty="0" err="1">
                <a:sym typeface="+mn-ea"/>
              </a:rPr>
              <a:t>wa</a:t>
            </a:r>
            <a:r>
              <a:rPr lang="en-US" altLang="zh-CN" dirty="0">
                <a:sym typeface="+mn-ea"/>
              </a:rPr>
              <a:t>=red</a:t>
            </a:r>
            <a:r>
              <a:rPr lang="zh-CN" altLang="en-US" dirty="0">
                <a:sym typeface="+mn-ea"/>
              </a:rPr>
              <a:t>，</a:t>
            </a:r>
            <a:r>
              <a:rPr lang="en-US" altLang="zh-CN" dirty="0">
                <a:sym typeface="+mn-ea"/>
              </a:rPr>
              <a:t>q=green, NT</a:t>
            </a:r>
            <a:r>
              <a:rPr lang="zh-CN" altLang="en-US" dirty="0">
                <a:sym typeface="+mn-ea"/>
              </a:rPr>
              <a:t>和</a:t>
            </a:r>
            <a:r>
              <a:rPr lang="en-US" altLang="zh-CN" dirty="0" err="1">
                <a:sym typeface="+mn-ea"/>
              </a:rPr>
              <a:t>sa</a:t>
            </a:r>
            <a:r>
              <a:rPr lang="zh-CN" altLang="en-US" dirty="0">
                <a:sym typeface="+mn-ea"/>
              </a:rPr>
              <a:t>都只能是蓝色了，而</a:t>
            </a:r>
            <a:r>
              <a:rPr lang="en-US" altLang="zh-CN" dirty="0">
                <a:sym typeface="+mn-ea"/>
              </a:rPr>
              <a:t>forward checking</a:t>
            </a:r>
            <a:r>
              <a:rPr lang="zh-CN" altLang="en-US" dirty="0">
                <a:sym typeface="+mn-ea"/>
              </a:rPr>
              <a:t>看不到这么远。</a:t>
            </a:r>
          </a:p>
        </p:txBody>
      </p:sp>
      <p:sp>
        <p:nvSpPr>
          <p:cNvPr id="4" name="灯片编号占位符 3"/>
          <p:cNvSpPr>
            <a:spLocks noGrp="1"/>
          </p:cNvSpPr>
          <p:nvPr>
            <p:ph type="sldNum" sz="quarter" idx="5"/>
          </p:nvPr>
        </p:nvSpPr>
        <p:spPr/>
        <p:txBody>
          <a:bodyPr/>
          <a:lstStyle/>
          <a:p>
            <a:fld id="{6371B729-817F-448C-AF52-5327A9569471}" type="slidenum">
              <a:rPr lang="zh-CN" altLang="en-US" smtClean="0"/>
              <a:t>37</a:t>
            </a:fld>
            <a:endParaRPr lang="zh-CN" altLang="en-US"/>
          </a:p>
        </p:txBody>
      </p:sp>
    </p:spTree>
    <p:extLst>
      <p:ext uri="{BB962C8B-B14F-4D97-AF65-F5344CB8AC3E}">
        <p14:creationId xmlns:p14="http://schemas.microsoft.com/office/powerpoint/2010/main" val="8155249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Forward checking cannot check all inconsistencies, it does not </a:t>
            </a:r>
            <a:r>
              <a:rPr lang="en-US" altLang="zh-CN" b="1" dirty="0"/>
              <a:t>look far enough ahead</a:t>
            </a:r>
          </a:p>
          <a:p>
            <a:endParaRPr lang="en-US" altLang="zh-CN" dirty="0"/>
          </a:p>
          <a:p>
            <a:endParaRPr lang="en-US" altLang="zh-CN" dirty="0"/>
          </a:p>
          <a:p>
            <a:r>
              <a:rPr lang="en-US" altLang="zh-CN" dirty="0"/>
              <a:t>MAC </a:t>
            </a:r>
            <a:r>
              <a:rPr lang="zh-CN" altLang="en-US" b="1" dirty="0"/>
              <a:t>维护弧相容</a:t>
            </a:r>
            <a:r>
              <a:rPr lang="zh-CN" altLang="en-US" dirty="0"/>
              <a:t>算法，能够检测出这类不相容</a:t>
            </a:r>
            <a:endParaRPr lang="en-US" altLang="zh-CN" dirty="0"/>
          </a:p>
          <a:p>
            <a:endParaRPr lang="en-US" altLang="zh-CN" dirty="0"/>
          </a:p>
          <a:p>
            <a:r>
              <a:rPr lang="en-US" altLang="zh-CN" dirty="0"/>
              <a:t>1</a:t>
            </a:r>
            <a:r>
              <a:rPr lang="zh-CN" altLang="en-US" dirty="0"/>
              <a:t>、当变量</a:t>
            </a:r>
            <a:r>
              <a:rPr lang="en-US" altLang="zh-CN" dirty="0"/>
              <a:t>Xi</a:t>
            </a:r>
            <a:r>
              <a:rPr lang="zh-CN" altLang="en-US" dirty="0"/>
              <a:t>赋值以后，</a:t>
            </a:r>
            <a:r>
              <a:rPr lang="en-US" altLang="zh-CN" dirty="0"/>
              <a:t>INFERENCE</a:t>
            </a:r>
            <a:r>
              <a:rPr lang="zh-CN" altLang="en-US" dirty="0"/>
              <a:t>调用</a:t>
            </a:r>
            <a:r>
              <a:rPr lang="en-US" altLang="zh-CN" dirty="0"/>
              <a:t>AC-3</a:t>
            </a:r>
          </a:p>
          <a:p>
            <a:r>
              <a:rPr lang="en-US" altLang="zh-CN" dirty="0"/>
              <a:t>2</a:t>
            </a:r>
            <a:r>
              <a:rPr lang="zh-CN" altLang="en-US" dirty="0"/>
              <a:t>、</a:t>
            </a:r>
            <a:r>
              <a:rPr lang="zh-CN" altLang="en-US" b="1" dirty="0">
                <a:latin typeface="Arial Bold" panose="020B0604020202090204" charset="0"/>
                <a:cs typeface="Arial Bold" panose="020B0604020202090204" charset="0"/>
              </a:rPr>
              <a:t>（并非考虑</a:t>
            </a:r>
            <a:r>
              <a:rPr lang="en-US" altLang="zh-CN" b="1" dirty="0" err="1">
                <a:latin typeface="Arial Bold" panose="020B0604020202090204" charset="0"/>
                <a:cs typeface="Arial Bold" panose="020B0604020202090204" charset="0"/>
              </a:rPr>
              <a:t>csp</a:t>
            </a:r>
            <a:r>
              <a:rPr lang="zh-CN" altLang="en-US" b="1" dirty="0">
                <a:latin typeface="Arial Bold" panose="020B0604020202090204" charset="0"/>
                <a:cs typeface="Arial Bold" panose="020B0604020202090204" charset="0"/>
              </a:rPr>
              <a:t>中所有弧）检查与</a:t>
            </a:r>
            <a:r>
              <a:rPr lang="en-US" altLang="zh-CN" b="1" dirty="0">
                <a:latin typeface="Arial Bold" panose="020B0604020202090204" charset="0"/>
                <a:cs typeface="Arial Bold" panose="020B0604020202090204" charset="0"/>
              </a:rPr>
              <a:t>Xi</a:t>
            </a:r>
            <a:r>
              <a:rPr lang="zh-CN" altLang="en-US" b="1" dirty="0">
                <a:latin typeface="Arial Bold" panose="020B0604020202090204" charset="0"/>
                <a:cs typeface="Arial Bold" panose="020B0604020202090204" charset="0"/>
              </a:rPr>
              <a:t>邻接的弧中所有未赋值变量</a:t>
            </a:r>
            <a:endParaRPr lang="en-US" altLang="zh-CN" dirty="0"/>
          </a:p>
          <a:p>
            <a:r>
              <a:rPr lang="en-US" altLang="zh-CN" dirty="0"/>
              <a:t>3</a:t>
            </a:r>
            <a:r>
              <a:rPr lang="zh-CN" altLang="en-US" dirty="0"/>
              <a:t>、一旦某变量的值域变为空，则</a:t>
            </a:r>
            <a:r>
              <a:rPr lang="en-US" altLang="zh-CN" dirty="0"/>
              <a:t>AC-3</a:t>
            </a:r>
            <a:r>
              <a:rPr lang="zh-CN" altLang="en-US" dirty="0"/>
              <a:t>调用失败并立即回溯。</a:t>
            </a:r>
            <a:endParaRPr lang="en-US" altLang="zh-CN" dirty="0"/>
          </a:p>
          <a:p>
            <a:endParaRPr lang="en-US" altLang="zh-CN" dirty="0"/>
          </a:p>
          <a:p>
            <a:endParaRPr lang="en-US" altLang="zh-CN" dirty="0"/>
          </a:p>
          <a:p>
            <a:r>
              <a:rPr lang="zh-CN" altLang="en-US" dirty="0"/>
              <a:t>前向检验在检查第一步与</a:t>
            </a:r>
            <a:r>
              <a:rPr lang="en-US" altLang="zh-CN" dirty="0"/>
              <a:t>MAC</a:t>
            </a:r>
            <a:r>
              <a:rPr lang="zh-CN" altLang="en-US" dirty="0"/>
              <a:t>相同；与</a:t>
            </a:r>
            <a:r>
              <a:rPr lang="en-US" altLang="zh-CN" dirty="0"/>
              <a:t>MAC</a:t>
            </a:r>
            <a:r>
              <a:rPr lang="zh-CN" altLang="en-US" dirty="0"/>
              <a:t>不同的是，前向检验在变量值域发生变化时并不递归传播约束。</a:t>
            </a:r>
          </a:p>
        </p:txBody>
      </p:sp>
      <p:sp>
        <p:nvSpPr>
          <p:cNvPr id="4" name="灯片编号占位符 3"/>
          <p:cNvSpPr>
            <a:spLocks noGrp="1"/>
          </p:cNvSpPr>
          <p:nvPr>
            <p:ph type="sldNum" sz="quarter" idx="5"/>
          </p:nvPr>
        </p:nvSpPr>
        <p:spPr/>
        <p:txBody>
          <a:bodyPr/>
          <a:lstStyle/>
          <a:p>
            <a:fld id="{6371B729-817F-448C-AF52-5327A9569471}" type="slidenum">
              <a:rPr lang="zh-CN" altLang="en-US" smtClean="0"/>
              <a:t>38</a:t>
            </a:fld>
            <a:endParaRPr lang="zh-CN" altLang="en-US"/>
          </a:p>
        </p:txBody>
      </p:sp>
    </p:spTree>
    <p:extLst>
      <p:ext uri="{BB962C8B-B14F-4D97-AF65-F5344CB8AC3E}">
        <p14:creationId xmlns:p14="http://schemas.microsoft.com/office/powerpoint/2010/main" val="101679545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latin typeface="Calibri" pitchFamily="34" charset="0"/>
                <a:sym typeface="+mn-ea"/>
              </a:rPr>
              <a:t>propagate constraints</a:t>
            </a:r>
            <a:r>
              <a:rPr lang="zh-CN" altLang="en-US" dirty="0">
                <a:latin typeface="Calibri" pitchFamily="34" charset="0"/>
                <a:sym typeface="+mn-ea"/>
              </a:rPr>
              <a:t>就是指会把一些</a:t>
            </a:r>
            <a:r>
              <a:rPr lang="en-US" altLang="zh-CN" dirty="0">
                <a:latin typeface="Calibri" pitchFamily="34" charset="0"/>
                <a:sym typeface="+mn-ea"/>
              </a:rPr>
              <a:t>constraints</a:t>
            </a:r>
            <a:r>
              <a:rPr lang="zh-CN" altLang="en-US" dirty="0">
                <a:latin typeface="Calibri" pitchFamily="34" charset="0"/>
                <a:sym typeface="+mn-ea"/>
              </a:rPr>
              <a:t>向后传播，让这些</a:t>
            </a:r>
            <a:r>
              <a:rPr lang="en-US" altLang="zh-CN" dirty="0">
                <a:latin typeface="Calibri" pitchFamily="34" charset="0"/>
                <a:sym typeface="+mn-ea"/>
              </a:rPr>
              <a:t>constraint</a:t>
            </a:r>
            <a:r>
              <a:rPr lang="zh-CN" altLang="en-US" dirty="0">
                <a:latin typeface="Calibri" pitchFamily="34" charset="0"/>
                <a:sym typeface="+mn-ea"/>
              </a:rPr>
              <a:t>传播的更远，而</a:t>
            </a:r>
            <a:r>
              <a:rPr lang="en-US" altLang="zh-CN" dirty="0">
                <a:latin typeface="Calibri" pitchFamily="34" charset="0"/>
                <a:sym typeface="+mn-ea"/>
              </a:rPr>
              <a:t>forward checking</a:t>
            </a:r>
            <a:r>
              <a:rPr lang="zh-CN" altLang="en-US" dirty="0">
                <a:latin typeface="Calibri" pitchFamily="34" charset="0"/>
                <a:sym typeface="+mn-ea"/>
              </a:rPr>
              <a:t>不行</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4100021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r>
              <a:rPr lang="en-US" altLang="zh-CN" dirty="0"/>
              <a:t>Which variable should be assigned next (SELECT-UNASSIGNED-VARIABLE), and in what order should its values be tried (ORDER-DOMAIN-VALUES)?</a:t>
            </a:r>
          </a:p>
          <a:p>
            <a:pPr lvl="1"/>
            <a:r>
              <a:rPr lang="en-US" altLang="zh-CN" dirty="0"/>
              <a:t>What inferences should be performed at each step in the search (INFERENCE)?</a:t>
            </a:r>
          </a:p>
          <a:p>
            <a:pPr lvl="1"/>
            <a:r>
              <a:rPr lang="en-US" altLang="zh-CN" dirty="0"/>
              <a:t>When the search arrives at an assignment that violates a constraint, can the search avoid repeating this failure?</a:t>
            </a:r>
            <a:endParaRPr lang="zh-CN" altLang="en-US" dirty="0"/>
          </a:p>
          <a:p>
            <a:endParaRPr lang="en-US" altLang="zh-CN" dirty="0"/>
          </a:p>
          <a:p>
            <a:r>
              <a:rPr lang="en-US" altLang="zh-CN" dirty="0"/>
              <a:t>1</a:t>
            </a:r>
            <a:r>
              <a:rPr lang="zh-CN" altLang="en-US" dirty="0"/>
              <a:t>、下一步该给哪个变量赋值，按什么顺序来尝试他的值</a:t>
            </a:r>
            <a:endParaRPr lang="en-US" altLang="zh-CN" dirty="0"/>
          </a:p>
          <a:p>
            <a:r>
              <a:rPr lang="en-US" altLang="zh-CN" dirty="0"/>
              <a:t>2</a:t>
            </a:r>
            <a:r>
              <a:rPr lang="zh-CN" altLang="en-US" dirty="0"/>
              <a:t>、每步搜索应做怎么样的推理</a:t>
            </a:r>
            <a:endParaRPr lang="en-US" altLang="zh-CN" dirty="0"/>
          </a:p>
          <a:p>
            <a:r>
              <a:rPr lang="en-US" altLang="zh-CN" dirty="0"/>
              <a:t>3</a:t>
            </a:r>
            <a:r>
              <a:rPr lang="zh-CN" altLang="en-US" dirty="0"/>
              <a:t>、搜索本身能避免重复的失败吗？</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371B729-817F-448C-AF52-5327A956947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350085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r>
              <a:rPr lang="zh-CN" altLang="en-US" dirty="0"/>
              <a:t>智能回溯，向后看</a:t>
            </a:r>
            <a:endParaRPr lang="en-US" altLang="zh-CN" dirty="0"/>
          </a:p>
          <a:p>
            <a:endParaRPr lang="en-US" altLang="zh-CN" dirty="0"/>
          </a:p>
          <a:p>
            <a:r>
              <a:rPr lang="en-US" altLang="zh-CN" dirty="0"/>
              <a:t>Chronological backtracking</a:t>
            </a:r>
            <a:r>
              <a:rPr lang="zh-CN" altLang="en-US" dirty="0"/>
              <a:t>时序回溯</a:t>
            </a:r>
            <a:r>
              <a:rPr lang="en-US" altLang="zh-CN" dirty="0"/>
              <a:t>,</a:t>
            </a:r>
            <a:r>
              <a:rPr lang="zh-CN" altLang="en-US" dirty="0"/>
              <a:t>退回前一个变量，尝试另外一个值。重新访问的时间最近的决策点。</a:t>
            </a:r>
            <a:endParaRPr lang="en-US" altLang="zh-CN" dirty="0"/>
          </a:p>
          <a:p>
            <a:endParaRPr lang="en-US" altLang="zh-CN" dirty="0"/>
          </a:p>
          <a:p>
            <a:r>
              <a:rPr lang="zh-CN" altLang="en-US" dirty="0"/>
              <a:t>在处理</a:t>
            </a:r>
            <a:r>
              <a:rPr lang="en-US" altLang="zh-CN" dirty="0"/>
              <a:t>SA</a:t>
            </a:r>
            <a:r>
              <a:rPr lang="zh-CN" altLang="en-US" dirty="0"/>
              <a:t>时，发现任何数值都违反约束条件，退回到</a:t>
            </a:r>
            <a:r>
              <a:rPr lang="en-US" altLang="zh-CN" dirty="0"/>
              <a:t>T</a:t>
            </a:r>
            <a:r>
              <a:rPr lang="zh-CN" altLang="en-US" dirty="0"/>
              <a:t>，尝试赋一个新的值，但是是愚蠢的。</a:t>
            </a:r>
            <a:endParaRPr lang="en-US" altLang="zh-CN" dirty="0"/>
          </a:p>
          <a:p>
            <a:endParaRPr lang="en-US" altLang="zh-CN" dirty="0"/>
          </a:p>
          <a:p>
            <a:endParaRPr lang="zh-CN" altLang="en-US" dirty="0"/>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Arial" panose="020B0604020202020204" pitchFamily="34" charset="0"/>
              </a:rPr>
              <a:t>*</a:t>
            </a:r>
          </a:p>
        </p:txBody>
      </p:sp>
    </p:spTree>
    <p:extLst>
      <p:ext uri="{BB962C8B-B14F-4D97-AF65-F5344CB8AC3E}">
        <p14:creationId xmlns:p14="http://schemas.microsoft.com/office/powerpoint/2010/main" val="28079362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A variable that was responsible for making one of the possible values of SA impossible.</a:t>
            </a:r>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退回到可能解决这个问题的变量，即导致</a:t>
            </a:r>
            <a:r>
              <a:rPr lang="en-US" altLang="zh-CN" dirty="0" err="1"/>
              <a:t>sa</a:t>
            </a:r>
            <a:r>
              <a:rPr lang="zh-CN" altLang="en-US" dirty="0"/>
              <a:t>赋值失败的变量集合中的变量。</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要做到这一点，需要跟踪与</a:t>
            </a:r>
            <a:r>
              <a:rPr lang="en-US" altLang="zh-CN" dirty="0" err="1"/>
              <a:t>sa</a:t>
            </a:r>
            <a:r>
              <a:rPr lang="zh-CN" altLang="en-US" dirty="0"/>
              <a:t>的某些赋值冲突的一组赋值。定义为</a:t>
            </a:r>
            <a:r>
              <a:rPr lang="en-US" altLang="zh-CN" dirty="0" err="1"/>
              <a:t>sa</a:t>
            </a:r>
            <a:r>
              <a:rPr lang="zh-CN" altLang="en-US" dirty="0"/>
              <a:t>的</a:t>
            </a:r>
            <a:r>
              <a:rPr lang="zh-CN" altLang="en-US" b="1" dirty="0"/>
              <a:t>冲突集</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b="1" dirty="0" err="1"/>
              <a:t>Backjumping</a:t>
            </a:r>
            <a:r>
              <a:rPr lang="zh-CN" altLang="en-US" b="0" dirty="0"/>
              <a:t>回</a:t>
            </a:r>
            <a:r>
              <a:rPr lang="zh-CN" altLang="en-US" dirty="0"/>
              <a:t>跳方法回溯到冲突集种时间最近的赋值；在这种情况下，回跳将跳过</a:t>
            </a:r>
            <a:r>
              <a:rPr lang="en-US" altLang="zh-CN" dirty="0"/>
              <a:t>T</a:t>
            </a:r>
            <a:r>
              <a:rPr lang="zh-CN" altLang="en-US" dirty="0"/>
              <a:t>而尝试</a:t>
            </a:r>
            <a:r>
              <a:rPr lang="en-US" altLang="zh-CN" dirty="0"/>
              <a:t>V</a:t>
            </a:r>
            <a:r>
              <a:rPr lang="zh-CN" altLang="en-US" dirty="0"/>
              <a:t>的新值</a:t>
            </a:r>
          </a:p>
          <a:p>
            <a:endParaRPr lang="zh-CN" altLang="en-US" dirty="0"/>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Arial" panose="020B0604020202020204" pitchFamily="34" charset="0"/>
              </a:rPr>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r>
              <a:rPr lang="zh-CN" altLang="en-US" baseline="0" dirty="0"/>
              <a:t>假设尝试</a:t>
            </a:r>
            <a:r>
              <a:rPr lang="en-US" altLang="zh-CN" baseline="0" dirty="0"/>
              <a:t>T=red</a:t>
            </a:r>
            <a:r>
              <a:rPr lang="zh-CN" altLang="en-US" baseline="0" dirty="0"/>
              <a:t>，然后给</a:t>
            </a:r>
            <a:r>
              <a:rPr lang="en-US" altLang="zh-CN" baseline="0" dirty="0"/>
              <a:t>NT</a:t>
            </a:r>
            <a:r>
              <a:rPr lang="zh-CN" altLang="en-US" baseline="0" dirty="0"/>
              <a:t>、</a:t>
            </a:r>
            <a:r>
              <a:rPr lang="en-US" altLang="zh-CN" baseline="0" dirty="0"/>
              <a:t>Q</a:t>
            </a:r>
            <a:r>
              <a:rPr lang="zh-CN" altLang="en-US" baseline="0" dirty="0"/>
              <a:t>、</a:t>
            </a:r>
            <a:r>
              <a:rPr lang="en-US" altLang="zh-CN" baseline="0" dirty="0"/>
              <a:t>V</a:t>
            </a:r>
            <a:r>
              <a:rPr lang="zh-CN" altLang="en-US" baseline="0" dirty="0"/>
              <a:t>、</a:t>
            </a:r>
            <a:r>
              <a:rPr lang="en-US" altLang="zh-CN" baseline="0" dirty="0"/>
              <a:t>SA</a:t>
            </a:r>
            <a:r>
              <a:rPr lang="zh-CN" altLang="en-US" baseline="0" dirty="0"/>
              <a:t>赋值。</a:t>
            </a:r>
            <a:endParaRPr lang="en-US" altLang="zh-CN" baseline="0" dirty="0"/>
          </a:p>
          <a:p>
            <a:endParaRPr lang="en-US" altLang="zh-CN" baseline="0" dirty="0"/>
          </a:p>
          <a:p>
            <a:r>
              <a:rPr lang="zh-CN" altLang="en-US" baseline="0" dirty="0"/>
              <a:t>知道对最后四个变量没有可能的赋值，最终用完了</a:t>
            </a:r>
            <a:r>
              <a:rPr lang="en-US" altLang="zh-CN" baseline="0" dirty="0"/>
              <a:t>NT</a:t>
            </a:r>
            <a:r>
              <a:rPr lang="zh-CN" altLang="en-US" baseline="0" dirty="0"/>
              <a:t>的所有可能值。</a:t>
            </a:r>
            <a:endParaRPr lang="en-US" altLang="zh-CN" baseline="0" dirty="0"/>
          </a:p>
          <a:p>
            <a:endParaRPr lang="en-US" altLang="zh-CN" baseline="0" dirty="0"/>
          </a:p>
          <a:p>
            <a:r>
              <a:rPr lang="zh-CN" altLang="en-US" baseline="0" dirty="0"/>
              <a:t>回跳是行不通的，因为</a:t>
            </a:r>
            <a:r>
              <a:rPr lang="en-US" altLang="zh-CN" baseline="0" dirty="0"/>
              <a:t>NT</a:t>
            </a:r>
            <a:r>
              <a:rPr lang="zh-CN" altLang="en-US" baseline="0" dirty="0"/>
              <a:t>有和前面赋值相容的值。</a:t>
            </a:r>
            <a:endParaRPr lang="en-US" altLang="zh-CN" baseline="0" dirty="0"/>
          </a:p>
          <a:p>
            <a:endParaRPr lang="en-US" altLang="zh-CN" baseline="0" dirty="0"/>
          </a:p>
          <a:p>
            <a:r>
              <a:rPr lang="zh-CN" altLang="en-US" dirty="0"/>
              <a:t>Backjumping notices failure when a variable’s domain becomes empty, but in many cases a branch is doomed long before this occurs. </a:t>
            </a:r>
          </a:p>
          <a:p>
            <a:r>
              <a:rPr lang="zh-CN" altLang="en-US" dirty="0"/>
              <a:t>Consider again the partial assignment fWA=red;NSW=redg (which, from our</a:t>
            </a:r>
          </a:p>
          <a:p>
            <a:r>
              <a:rPr lang="zh-CN" altLang="en-US" dirty="0"/>
              <a:t>earlier discussion, is inconsistent). Suppose we try T =red next and then assign NT, Q, V,</a:t>
            </a:r>
          </a:p>
          <a:p>
            <a:r>
              <a:rPr lang="zh-CN" altLang="en-US" dirty="0"/>
              <a:t>SA. We know that no assignment can work for these last four variables, so eventually we run</a:t>
            </a:r>
          </a:p>
          <a:p>
            <a:r>
              <a:rPr lang="zh-CN" altLang="en-US" dirty="0"/>
              <a:t>out of values to try at NT. Now, the question is, where to backtrack? Backjumping cannot</a:t>
            </a:r>
          </a:p>
          <a:p>
            <a:r>
              <a:rPr lang="zh-CN" altLang="en-US" dirty="0"/>
              <a:t>work, because NT does have values consistent with the preceding assigned variables—NT</a:t>
            </a:r>
          </a:p>
          <a:p>
            <a:r>
              <a:rPr lang="zh-CN" altLang="en-US" dirty="0"/>
              <a:t>doesn’t have a complete conflict set of preceding variables that caused it to fail. We know,</a:t>
            </a:r>
          </a:p>
          <a:p>
            <a:r>
              <a:rPr lang="zh-CN" altLang="en-US" dirty="0"/>
              <a:t>however, that the four variables NT, Q, V, and SA, taken together, failed because of a set of</a:t>
            </a:r>
          </a:p>
          <a:p>
            <a:r>
              <a:rPr lang="zh-CN" altLang="en-US" dirty="0"/>
              <a:t>preceding variables, which must be those variables that directly conflict with the four.</a:t>
            </a:r>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34944130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例子：例如</a:t>
            </a:r>
            <a:r>
              <a:rPr lang="en-US" altLang="zh-CN" dirty="0" err="1"/>
              <a:t>sa</a:t>
            </a:r>
            <a:r>
              <a:rPr lang="zh-CN" altLang="en-US" dirty="0"/>
              <a:t>失败了，他的冲突集是</a:t>
            </a:r>
            <a:r>
              <a:rPr lang="en-US" altLang="zh-CN" dirty="0"/>
              <a:t>{</a:t>
            </a:r>
            <a:r>
              <a:rPr lang="en-US" altLang="zh-CN" dirty="0" err="1"/>
              <a:t>wa,nt,q</a:t>
            </a:r>
            <a:r>
              <a:rPr lang="en-US" altLang="zh-CN" dirty="0"/>
              <a:t>}</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跳回到</a:t>
            </a:r>
            <a:r>
              <a:rPr lang="en-US" altLang="zh-CN" dirty="0"/>
              <a:t>q</a:t>
            </a:r>
            <a:r>
              <a:rPr lang="zh-CN" altLang="en-US" dirty="0"/>
              <a:t>，</a:t>
            </a:r>
            <a:r>
              <a:rPr lang="en-US" altLang="zh-CN" dirty="0"/>
              <a:t>q</a:t>
            </a:r>
            <a:r>
              <a:rPr lang="zh-CN" altLang="en-US" dirty="0"/>
              <a:t>将</a:t>
            </a:r>
            <a:r>
              <a:rPr lang="en-US" altLang="zh-CN" dirty="0" err="1"/>
              <a:t>sa</a:t>
            </a:r>
            <a:r>
              <a:rPr lang="zh-CN" altLang="en-US" dirty="0"/>
              <a:t>的冲突集吸收到自己的冲突集里，</a:t>
            </a:r>
            <a:r>
              <a:rPr lang="en-US" altLang="zh-CN" dirty="0"/>
              <a:t>{</a:t>
            </a:r>
            <a:r>
              <a:rPr lang="en-US" altLang="zh-CN" dirty="0" err="1"/>
              <a:t>nt,nsw</a:t>
            </a:r>
            <a:r>
              <a:rPr lang="en-US" altLang="zh-CN" dirty="0"/>
              <a:t>}; </a:t>
            </a:r>
            <a:r>
              <a:rPr lang="zh-CN" altLang="en-US" dirty="0"/>
              <a:t>新的冲突集取并集，是</a:t>
            </a:r>
            <a:r>
              <a:rPr lang="en-US" altLang="zh-CN" dirty="0"/>
              <a:t>{</a:t>
            </a:r>
            <a:r>
              <a:rPr lang="en-US" altLang="zh-CN" dirty="0" err="1"/>
              <a:t>wa</a:t>
            </a:r>
            <a:r>
              <a:rPr lang="en-US" altLang="zh-CN" dirty="0"/>
              <a:t>, </a:t>
            </a:r>
            <a:r>
              <a:rPr lang="en-US" altLang="zh-CN" dirty="0" err="1"/>
              <a:t>nt</a:t>
            </a:r>
            <a:r>
              <a:rPr lang="en-US" altLang="zh-CN" dirty="0"/>
              <a:t>, </a:t>
            </a:r>
            <a:r>
              <a:rPr lang="en-US" altLang="zh-CN" dirty="0" err="1"/>
              <a:t>nsw</a:t>
            </a:r>
            <a:r>
              <a:rPr lang="en-US" altLang="zh-CN" dirty="0"/>
              <a:t>}</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表示在给定了</a:t>
            </a:r>
            <a:r>
              <a:rPr lang="en-US" altLang="zh-CN" dirty="0"/>
              <a:t>{</a:t>
            </a:r>
            <a:r>
              <a:rPr lang="en-US" altLang="zh-CN" dirty="0" err="1"/>
              <a:t>wa</a:t>
            </a:r>
            <a:r>
              <a:rPr lang="en-US" altLang="zh-CN" dirty="0"/>
              <a:t>, </a:t>
            </a:r>
            <a:r>
              <a:rPr lang="en-US" altLang="zh-CN" dirty="0" err="1"/>
              <a:t>nt</a:t>
            </a:r>
            <a:r>
              <a:rPr lang="en-US" altLang="zh-CN" dirty="0"/>
              <a:t>, </a:t>
            </a:r>
            <a:r>
              <a:rPr lang="en-US" altLang="zh-CN" dirty="0" err="1"/>
              <a:t>nsw</a:t>
            </a:r>
            <a:r>
              <a:rPr lang="en-US" altLang="zh-CN" dirty="0"/>
              <a:t>}</a:t>
            </a:r>
            <a:r>
              <a:rPr lang="zh-CN" altLang="en-US" dirty="0"/>
              <a:t>后，从</a:t>
            </a:r>
            <a:r>
              <a:rPr lang="en-US" altLang="zh-CN" dirty="0"/>
              <a:t>q</a:t>
            </a:r>
            <a:r>
              <a:rPr lang="zh-CN" altLang="en-US" dirty="0"/>
              <a:t>向前是无解的。因此回溯到</a:t>
            </a:r>
            <a:r>
              <a:rPr lang="en-US" altLang="zh-CN" dirty="0" err="1"/>
              <a:t>nt</a:t>
            </a:r>
            <a:r>
              <a:rPr lang="zh-CN" altLang="en-US" dirty="0"/>
              <a:t>，集合中最近的一个。</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err="1"/>
              <a:t>Nt</a:t>
            </a:r>
            <a:r>
              <a:rPr lang="zh-CN" altLang="en-US" dirty="0"/>
              <a:t>吸收</a:t>
            </a:r>
            <a:r>
              <a:rPr lang="en-US" altLang="zh-CN" dirty="0"/>
              <a:t>{</a:t>
            </a:r>
            <a:r>
              <a:rPr lang="en-US" altLang="zh-CN" dirty="0" err="1"/>
              <a:t>wa</a:t>
            </a:r>
            <a:r>
              <a:rPr lang="en-US" altLang="zh-CN" dirty="0"/>
              <a:t>, </a:t>
            </a:r>
            <a:r>
              <a:rPr lang="en-US" altLang="zh-CN" dirty="0" err="1"/>
              <a:t>nt</a:t>
            </a:r>
            <a:r>
              <a:rPr lang="en-US" altLang="zh-CN" dirty="0"/>
              <a:t>, </a:t>
            </a:r>
            <a:r>
              <a:rPr lang="en-US" altLang="zh-CN" dirty="0" err="1"/>
              <a:t>nsw</a:t>
            </a:r>
            <a:r>
              <a:rPr lang="en-US" altLang="zh-CN" dirty="0"/>
              <a:t>}-{</a:t>
            </a:r>
            <a:r>
              <a:rPr lang="en-US" altLang="zh-CN" dirty="0" err="1"/>
              <a:t>nt</a:t>
            </a:r>
            <a:r>
              <a:rPr lang="en-US" altLang="zh-CN" dirty="0"/>
              <a:t>}</a:t>
            </a:r>
            <a:r>
              <a:rPr lang="zh-CN" altLang="en-US" dirty="0"/>
              <a:t>到自己的直接冲突集</a:t>
            </a:r>
            <a:r>
              <a:rPr lang="en-US" altLang="zh-CN" dirty="0"/>
              <a:t>{</a:t>
            </a:r>
            <a:r>
              <a:rPr lang="en-US" altLang="zh-CN" dirty="0" err="1"/>
              <a:t>wa</a:t>
            </a:r>
            <a:r>
              <a:rPr lang="en-US" altLang="zh-CN" dirty="0"/>
              <a:t>}</a:t>
            </a:r>
            <a:r>
              <a:rPr lang="zh-CN" altLang="en-US" dirty="0"/>
              <a:t>里，得到</a:t>
            </a:r>
            <a:r>
              <a:rPr lang="en-US" altLang="zh-CN" dirty="0"/>
              <a:t>{</a:t>
            </a:r>
            <a:r>
              <a:rPr lang="en-US" altLang="zh-CN" dirty="0" err="1"/>
              <a:t>wa</a:t>
            </a:r>
            <a:r>
              <a:rPr lang="zh-CN" altLang="en-US" dirty="0"/>
              <a:t>，</a:t>
            </a:r>
            <a:r>
              <a:rPr lang="en-US" altLang="zh-CN" dirty="0" err="1"/>
              <a:t>nsw</a:t>
            </a:r>
            <a:r>
              <a:rPr lang="en-US" altLang="zh-CN" dirty="0"/>
              <a:t>}</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算法跳到</a:t>
            </a:r>
            <a:r>
              <a:rPr lang="en-US" altLang="zh-CN" dirty="0" err="1"/>
              <a:t>nsw</a:t>
            </a:r>
            <a:r>
              <a:rPr lang="en-US" altLang="zh-CN" dirty="0"/>
              <a:t>.</a:t>
            </a:r>
          </a:p>
          <a:p>
            <a:endParaRPr lang="zh-CN" altLang="en-US" dirty="0"/>
          </a:p>
          <a:p>
            <a:r>
              <a:rPr lang="zh-CN" altLang="en-US" dirty="0"/>
              <a:t>This leads to a different–and deeper–notion of the conflict set for a variable such as NT:</a:t>
            </a:r>
          </a:p>
          <a:p>
            <a:r>
              <a:rPr lang="zh-CN" altLang="en-US" dirty="0"/>
              <a:t>it is that set of preceding variables that caused NT, together with any subsequent variables,</a:t>
            </a:r>
          </a:p>
          <a:p>
            <a:r>
              <a:rPr lang="zh-CN" altLang="en-US" dirty="0"/>
              <a:t>to have no consistent solution.</a:t>
            </a:r>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17428803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考虑部分赋值</a:t>
            </a:r>
            <a:r>
              <a:rPr lang="en-US" altLang="zh-CN" dirty="0"/>
              <a:t>{WA=red, NSW=red}</a:t>
            </a:r>
            <a:r>
              <a:rPr lang="zh-CN" altLang="en-US" dirty="0"/>
              <a:t>，假设尝试</a:t>
            </a:r>
            <a:r>
              <a:rPr lang="en-US" altLang="zh-CN" dirty="0"/>
              <a:t>T=red</a:t>
            </a:r>
            <a:r>
              <a:rPr lang="zh-CN" altLang="en-US" dirty="0"/>
              <a:t>，然后给</a:t>
            </a:r>
            <a:r>
              <a:rPr lang="en-US" altLang="zh-CN" dirty="0"/>
              <a:t>NT, Q, V, SA</a:t>
            </a:r>
            <a:r>
              <a:rPr lang="zh-CN" altLang="en-US" dirty="0"/>
              <a:t>赋值。知道对这最后的四个变量没有可能的赋值，因此最终用完了</a:t>
            </a:r>
            <a:r>
              <a:rPr lang="en-US" altLang="zh-CN" dirty="0"/>
              <a:t>NT</a:t>
            </a:r>
            <a:r>
              <a:rPr lang="zh-CN" altLang="en-US" dirty="0"/>
              <a:t>的所有可能取值。</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问题出在哪？</a:t>
            </a:r>
            <a:r>
              <a:rPr lang="en-US" altLang="zh-CN" dirty="0"/>
              <a:t>NT</a:t>
            </a:r>
            <a:r>
              <a:rPr lang="zh-CN" altLang="en-US" dirty="0"/>
              <a:t>并没有导致失败的完全冲突集。这四个变量会失败，是因为前面的赋值</a:t>
            </a:r>
            <a:r>
              <a:rPr lang="en-US" altLang="zh-CN" dirty="0"/>
              <a:t>{WA=red, NSW=red}</a:t>
            </a:r>
            <a:r>
              <a:rPr lang="zh-CN" altLang="en-US" dirty="0"/>
              <a:t>。</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例子，例如</a:t>
            </a:r>
            <a:r>
              <a:rPr lang="en-US" altLang="zh-CN" dirty="0" err="1"/>
              <a:t>sa</a:t>
            </a:r>
            <a:r>
              <a:rPr lang="zh-CN" altLang="en-US" dirty="0"/>
              <a:t>失败了，他的冲突集</a:t>
            </a:r>
            <a:r>
              <a:rPr lang="en-US" altLang="zh-CN" dirty="0"/>
              <a:t>(</a:t>
            </a:r>
            <a:r>
              <a:rPr lang="zh-CN" altLang="en-US" dirty="0"/>
              <a:t>说</a:t>
            </a:r>
            <a:r>
              <a:rPr lang="en-US" altLang="zh-CN" dirty="0"/>
              <a:t>)</a:t>
            </a:r>
            <a:r>
              <a:rPr lang="zh-CN" altLang="en-US" dirty="0"/>
              <a:t>是</a:t>
            </a:r>
            <a:r>
              <a:rPr lang="en-US" altLang="zh-CN" dirty="0"/>
              <a:t>{</a:t>
            </a:r>
            <a:r>
              <a:rPr lang="en-US" altLang="zh-CN" dirty="0" err="1"/>
              <a:t>wa,nt,q</a:t>
            </a:r>
            <a:r>
              <a:rPr lang="en-US" altLang="zh-CN" dirty="0"/>
              <a:t>}</a:t>
            </a:r>
            <a:r>
              <a:rPr lang="zh-CN" altLang="en-US" dirty="0"/>
              <a:t>。</a:t>
            </a:r>
          </a:p>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这个</a:t>
            </a:r>
            <a:r>
              <a:rPr lang="en-US" altLang="zh-CN" dirty="0"/>
              <a:t>say</a:t>
            </a:r>
            <a:r>
              <a:rPr lang="zh-CN" altLang="en-US" dirty="0"/>
              <a:t>应该是指在某种分配情况下，就是给</a:t>
            </a:r>
            <a:r>
              <a:rPr lang="en-US" altLang="zh-CN" dirty="0" err="1"/>
              <a:t>nt</a:t>
            </a:r>
            <a:r>
              <a:rPr lang="en-US" altLang="zh-CN" dirty="0"/>
              <a:t> q </a:t>
            </a:r>
            <a:r>
              <a:rPr lang="en-US" altLang="zh-CN" dirty="0" err="1"/>
              <a:t>wa</a:t>
            </a:r>
            <a:r>
              <a:rPr lang="en-US" altLang="zh-CN" dirty="0"/>
              <a:t> </a:t>
            </a:r>
            <a:r>
              <a:rPr lang="en-US" altLang="zh-CN" dirty="0" err="1"/>
              <a:t>nsw</a:t>
            </a:r>
            <a:r>
              <a:rPr lang="zh-CN" altLang="en-US" dirty="0"/>
              <a:t>都分配了值的时候，使得</a:t>
            </a:r>
            <a:r>
              <a:rPr lang="en-US" altLang="zh-CN" dirty="0" err="1"/>
              <a:t>sa</a:t>
            </a:r>
            <a:r>
              <a:rPr lang="zh-CN" altLang="en-US" dirty="0"/>
              <a:t>的</a:t>
            </a:r>
            <a:r>
              <a:rPr lang="en-US" altLang="zh-CN" dirty="0"/>
              <a:t>conflict</a:t>
            </a:r>
            <a:r>
              <a:rPr lang="zh-CN" altLang="en-US" dirty="0"/>
              <a:t>为</a:t>
            </a:r>
            <a:r>
              <a:rPr lang="en-US" altLang="zh-CN" dirty="0" err="1"/>
              <a:t>wa</a:t>
            </a:r>
            <a:r>
              <a:rPr lang="en-US" altLang="zh-CN" dirty="0"/>
              <a:t> </a:t>
            </a:r>
            <a:r>
              <a:rPr lang="en-US" altLang="zh-CN" dirty="0" err="1"/>
              <a:t>nt</a:t>
            </a:r>
            <a:r>
              <a:rPr lang="en-US" altLang="zh-CN" dirty="0"/>
              <a:t> q </a:t>
            </a:r>
            <a:r>
              <a:rPr lang="en-US" altLang="zh-CN" dirty="0" err="1"/>
              <a:t>nsw</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（这里书里应该错了，</a:t>
            </a:r>
            <a:r>
              <a:rPr lang="en-US" altLang="zh-CN" dirty="0" err="1"/>
              <a:t>sa</a:t>
            </a:r>
            <a:r>
              <a:rPr lang="zh-CN" altLang="en-US" dirty="0"/>
              <a:t>的</a:t>
            </a:r>
            <a:r>
              <a:rPr lang="en-US" altLang="zh-CN" dirty="0"/>
              <a:t>conflict set</a:t>
            </a:r>
            <a:r>
              <a:rPr lang="zh-CN" altLang="en-US" dirty="0"/>
              <a:t>应该包含</a:t>
            </a:r>
            <a:r>
              <a:rPr lang="en-US" altLang="zh-CN" dirty="0" err="1"/>
              <a:t>nsw</a:t>
            </a:r>
            <a:r>
              <a:rPr lang="zh-CN" altLang="en-US" dirty="0"/>
              <a:t>的）</a:t>
            </a:r>
          </a:p>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标数字的表示这个</a:t>
            </a:r>
            <a:r>
              <a:rPr lang="en-US" altLang="zh-CN" dirty="0"/>
              <a:t>node</a:t>
            </a:r>
            <a:r>
              <a:rPr lang="zh-CN" altLang="en-US" dirty="0"/>
              <a:t>已经有值了</a:t>
            </a:r>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5121330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表示在给定了</a:t>
            </a:r>
            <a:r>
              <a:rPr lang="en-US" altLang="zh-CN" dirty="0"/>
              <a:t>{</a:t>
            </a:r>
            <a:r>
              <a:rPr lang="en-US" altLang="zh-CN" dirty="0" err="1"/>
              <a:t>wa</a:t>
            </a:r>
            <a:r>
              <a:rPr lang="en-US" altLang="zh-CN" dirty="0"/>
              <a:t>, </a:t>
            </a:r>
            <a:r>
              <a:rPr lang="en-US" altLang="zh-CN" dirty="0" err="1"/>
              <a:t>nt</a:t>
            </a:r>
            <a:r>
              <a:rPr lang="en-US" altLang="zh-CN" dirty="0"/>
              <a:t>, </a:t>
            </a:r>
            <a:r>
              <a:rPr lang="en-US" altLang="zh-CN" dirty="0" err="1"/>
              <a:t>nsw</a:t>
            </a:r>
            <a:r>
              <a:rPr lang="en-US" altLang="zh-CN" dirty="0"/>
              <a:t>}</a:t>
            </a:r>
            <a:r>
              <a:rPr lang="zh-CN" altLang="en-US" dirty="0"/>
              <a:t>后，从</a:t>
            </a:r>
            <a:r>
              <a:rPr lang="en-US" altLang="zh-CN" dirty="0"/>
              <a:t>q</a:t>
            </a:r>
            <a:r>
              <a:rPr lang="zh-CN" altLang="en-US" dirty="0"/>
              <a:t>向前是无解的。因此回溯到</a:t>
            </a:r>
            <a:r>
              <a:rPr lang="en-US" altLang="zh-CN" dirty="0" err="1"/>
              <a:t>nt</a:t>
            </a:r>
            <a:r>
              <a:rPr lang="zh-CN" altLang="en-US" dirty="0"/>
              <a:t>，集合中最近的一个。</a:t>
            </a:r>
            <a:endParaRPr lang="en-US" altLang="zh-CN" dirty="0"/>
          </a:p>
          <a:p>
            <a:endParaRPr lang="zh-CN" altLang="en-US" dirty="0"/>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34522089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err="1"/>
              <a:t>Nt</a:t>
            </a:r>
            <a:r>
              <a:rPr lang="zh-CN" altLang="en-US" dirty="0"/>
              <a:t>吸收</a:t>
            </a:r>
            <a:r>
              <a:rPr lang="en-US" altLang="zh-CN" dirty="0"/>
              <a:t>{</a:t>
            </a:r>
            <a:r>
              <a:rPr lang="en-US" altLang="zh-CN" dirty="0" err="1"/>
              <a:t>wa</a:t>
            </a:r>
            <a:r>
              <a:rPr lang="en-US" altLang="zh-CN" dirty="0"/>
              <a:t>, </a:t>
            </a:r>
            <a:r>
              <a:rPr lang="en-US" altLang="zh-CN" dirty="0" err="1"/>
              <a:t>nt</a:t>
            </a:r>
            <a:r>
              <a:rPr lang="en-US" altLang="zh-CN" dirty="0"/>
              <a:t>, </a:t>
            </a:r>
            <a:r>
              <a:rPr lang="en-US" altLang="zh-CN" dirty="0" err="1"/>
              <a:t>nsw</a:t>
            </a:r>
            <a:r>
              <a:rPr lang="en-US" altLang="zh-CN" dirty="0"/>
              <a:t>}-{</a:t>
            </a:r>
            <a:r>
              <a:rPr lang="en-US" altLang="zh-CN" dirty="0" err="1"/>
              <a:t>nt</a:t>
            </a:r>
            <a:r>
              <a:rPr lang="en-US" altLang="zh-CN" dirty="0"/>
              <a:t>}</a:t>
            </a:r>
            <a:r>
              <a:rPr lang="zh-CN" altLang="en-US" dirty="0"/>
              <a:t>到自己的直接冲突集</a:t>
            </a:r>
            <a:r>
              <a:rPr lang="en-US" altLang="zh-CN" dirty="0"/>
              <a:t>{</a:t>
            </a:r>
            <a:r>
              <a:rPr lang="en-US" altLang="zh-CN" dirty="0" err="1"/>
              <a:t>wa</a:t>
            </a:r>
            <a:r>
              <a:rPr lang="en-US" altLang="zh-CN" dirty="0"/>
              <a:t>}</a:t>
            </a:r>
            <a:r>
              <a:rPr lang="zh-CN" altLang="en-US" dirty="0"/>
              <a:t>里，得到</a:t>
            </a:r>
            <a:r>
              <a:rPr lang="en-US" altLang="zh-CN" dirty="0"/>
              <a:t>{</a:t>
            </a:r>
            <a:r>
              <a:rPr lang="en-US" altLang="zh-CN" dirty="0" err="1"/>
              <a:t>wa</a:t>
            </a:r>
            <a:r>
              <a:rPr lang="zh-CN" altLang="en-US" dirty="0"/>
              <a:t>，</a:t>
            </a:r>
            <a:r>
              <a:rPr lang="en-US" altLang="zh-CN" dirty="0" err="1"/>
              <a:t>nsw</a:t>
            </a:r>
            <a:r>
              <a:rPr lang="en-US" altLang="zh-CN" dirty="0"/>
              <a:t>}</a:t>
            </a:r>
            <a:r>
              <a:rPr lang="zh-CN" altLang="en-US" dirty="0"/>
              <a:t>。</a:t>
            </a:r>
            <a:endParaRPr lang="en-US" altLang="zh-CN" dirty="0"/>
          </a:p>
          <a:p>
            <a:endParaRPr lang="zh-CN" altLang="en-US" dirty="0"/>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19782286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zh-CN" altLang="en-US" dirty="0"/>
              <a:t>算法跳到</a:t>
            </a:r>
            <a:r>
              <a:rPr lang="en-US" altLang="zh-CN" dirty="0" err="1"/>
              <a:t>nsw</a:t>
            </a:r>
            <a:r>
              <a:rPr lang="en-US" altLang="zh-CN" dirty="0"/>
              <a:t>.</a:t>
            </a:r>
          </a:p>
          <a:p>
            <a:endParaRPr lang="zh-CN" altLang="en-US" dirty="0"/>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167604939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r>
              <a:rPr lang="en-US" altLang="zh-CN" dirty="0" err="1">
                <a:latin typeface="Arial" panose="020B0604020202090204" pitchFamily="34" charset="0"/>
              </a:rPr>
              <a:t>Csp</a:t>
            </a:r>
            <a:r>
              <a:rPr lang="zh-CN" altLang="en-US" dirty="0">
                <a:latin typeface="Arial" panose="020B0604020202090204" pitchFamily="34" charset="0"/>
              </a:rPr>
              <a:t>的回溯搜索；</a:t>
            </a:r>
            <a:endParaRPr lang="en-US" altLang="zh-CN" dirty="0">
              <a:latin typeface="Arial" panose="020B0604020202090204" pitchFamily="34" charset="0"/>
            </a:endParaRPr>
          </a:p>
          <a:p>
            <a:endParaRPr lang="zh-CN" altLang="en-US" dirty="0"/>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Arial" panose="020B0604020202020204" pitchFamily="34" charset="0"/>
              </a:rPr>
              <a:t>*</a:t>
            </a:r>
          </a:p>
        </p:txBody>
      </p:sp>
    </p:spTree>
    <p:extLst>
      <p:ext uri="{BB962C8B-B14F-4D97-AF65-F5344CB8AC3E}">
        <p14:creationId xmlns:p14="http://schemas.microsoft.com/office/powerpoint/2010/main" val="24452619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r>
              <a:rPr lang="en-US" altLang="zh-CN" b="1" dirty="0"/>
              <a:t>Min-conflicts  </a:t>
            </a:r>
            <a:r>
              <a:rPr lang="zh-CN" altLang="en-US" b="1" dirty="0"/>
              <a:t>最少冲突启发式：在为变量选择新值的时候，最明显的启发式是选择与其他变量冲突最少的值。</a:t>
            </a:r>
            <a:endParaRPr lang="en-US" altLang="zh-CN" b="1" dirty="0"/>
          </a:p>
          <a:p>
            <a:endParaRPr lang="en-US" altLang="zh-CN" b="1" dirty="0"/>
          </a:p>
          <a:p>
            <a:pPr lvl="1"/>
            <a:r>
              <a:rPr lang="en-US" altLang="zh-CN" dirty="0"/>
              <a:t>Typically, the initial guess violates several constraints. </a:t>
            </a:r>
          </a:p>
          <a:p>
            <a:pPr lvl="1"/>
            <a:r>
              <a:rPr lang="en-US" altLang="zh-CN" dirty="0"/>
              <a:t>The point of local search is to eliminate the violated constraints.</a:t>
            </a:r>
          </a:p>
          <a:p>
            <a:endParaRPr lang="en-US" altLang="zh-CN" dirty="0"/>
          </a:p>
          <a:p>
            <a:endParaRPr lang="zh-CN" altLang="en-US" dirty="0"/>
          </a:p>
          <a:p>
            <a:endParaRPr lang="zh-CN" altLang="en-US" dirty="0"/>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32125386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281BD4C0-0327-BD3A-02E4-F55FA138F7A4}"/>
              </a:ext>
            </a:extLst>
          </p:cNvPr>
          <p:cNvSpPr>
            <a:spLocks noGrp="1" noRot="1" noChangeAspect="1" noChangeArrowheads="1"/>
          </p:cNvSpPr>
          <p:nvPr>
            <p:ph type="sldImg" idx="4294967295"/>
          </p:nvPr>
        </p:nvSpPr>
        <p:spPr>
          <a:ln>
            <a:miter lim="800000"/>
          </a:ln>
        </p:spPr>
      </p:sp>
      <p:sp>
        <p:nvSpPr>
          <p:cNvPr id="31746" name="Notes Placeholder 2">
            <a:extLst>
              <a:ext uri="{FF2B5EF4-FFF2-40B4-BE49-F238E27FC236}">
                <a16:creationId xmlns:a16="http://schemas.microsoft.com/office/drawing/2014/main" id="{04219CEB-FE9D-34E0-F146-55E0E8AF7E59}"/>
              </a:ext>
            </a:extLst>
          </p:cNvPr>
          <p:cNvSpPr>
            <a:spLocks noGrp="1" noChangeArrowheads="1"/>
          </p:cNvSpPr>
          <p:nvPr>
            <p:ph type="body" idx="4294967295"/>
          </p:nvPr>
        </p:nvSpPr>
        <p:spPr>
          <a:ln/>
        </p:spPr>
        <p:txBody>
          <a:bodyPr/>
          <a:lstStyle/>
          <a:p>
            <a:r>
              <a:rPr lang="en-US" altLang="zh-CN" b="1" dirty="0"/>
              <a:t>Min-conflicts  </a:t>
            </a:r>
            <a:r>
              <a:rPr lang="zh-CN" altLang="en-US" b="1" dirty="0"/>
              <a:t>最少冲突启发式：在为变量选择新值的时候，最明显的启发式是选择与其他变量冲突最少的值。</a:t>
            </a:r>
            <a:endParaRPr lang="en-US" altLang="zh-CN" b="1" dirty="0"/>
          </a:p>
          <a:p>
            <a:endParaRPr lang="en-US" altLang="zh-CN" b="1" dirty="0"/>
          </a:p>
          <a:p>
            <a:pPr lvl="1"/>
            <a:r>
              <a:rPr lang="en-US" altLang="zh-CN" dirty="0"/>
              <a:t>Typically, the initial guess violates several constraints. </a:t>
            </a:r>
          </a:p>
          <a:p>
            <a:pPr lvl="1"/>
            <a:r>
              <a:rPr lang="en-US" altLang="zh-CN" dirty="0"/>
              <a:t>The point of local search is to eliminate the violated constraints.</a:t>
            </a:r>
          </a:p>
          <a:p>
            <a:endParaRPr lang="en-US" altLang="zh-CN" dirty="0"/>
          </a:p>
          <a:p>
            <a:endParaRPr lang="zh-CN" altLang="en-US" dirty="0"/>
          </a:p>
          <a:p>
            <a:endParaRPr lang="zh-CN" altLang="en-US" dirty="0"/>
          </a:p>
        </p:txBody>
      </p:sp>
      <p:sp>
        <p:nvSpPr>
          <p:cNvPr id="31747" name="Slide Number Placeholder 3">
            <a:extLst>
              <a:ext uri="{FF2B5EF4-FFF2-40B4-BE49-F238E27FC236}">
                <a16:creationId xmlns:a16="http://schemas.microsoft.com/office/drawing/2014/main" id="{883327F5-7DE9-D6FF-B136-4F0C4859CE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279802244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4B9714C5-38D5-C4A6-8412-68EFFF4420C8}"/>
              </a:ext>
            </a:extLst>
          </p:cNvPr>
          <p:cNvSpPr>
            <a:spLocks noGrp="1" noRot="1" noChangeAspect="1" noChangeArrowheads="1"/>
          </p:cNvSpPr>
          <p:nvPr>
            <p:ph type="sldImg" idx="4294967295"/>
          </p:nvPr>
        </p:nvSpPr>
        <p:spPr>
          <a:ln>
            <a:miter lim="800000"/>
          </a:ln>
        </p:spPr>
      </p:sp>
      <p:sp>
        <p:nvSpPr>
          <p:cNvPr id="33794" name="Notes Placeholder 2">
            <a:extLst>
              <a:ext uri="{FF2B5EF4-FFF2-40B4-BE49-F238E27FC236}">
                <a16:creationId xmlns:a16="http://schemas.microsoft.com/office/drawing/2014/main" id="{CC5554BE-AADB-80CA-3C93-6A0775FF611C}"/>
              </a:ext>
            </a:extLst>
          </p:cNvPr>
          <p:cNvSpPr>
            <a:spLocks noGrp="1" noChangeArrowheads="1"/>
          </p:cNvSpPr>
          <p:nvPr>
            <p:ph type="body" idx="4294967295"/>
          </p:nvPr>
        </p:nvSpPr>
        <p:spPr>
          <a:ln/>
        </p:spPr>
        <p:txBody>
          <a:bodyPr/>
          <a:lstStyle/>
          <a:p>
            <a:r>
              <a:rPr lang="zh-CN" altLang="en-US" dirty="0"/>
              <a:t>初始状态是皇后的随机布局。</a:t>
            </a:r>
            <a:endParaRPr lang="en-US" altLang="zh-CN" dirty="0"/>
          </a:p>
          <a:p>
            <a:r>
              <a:rPr lang="zh-CN" altLang="en-US" dirty="0"/>
              <a:t>每一步选择一个皇后，在他所在列重新分配位置。方格中的数字表示冲突的个数（能攻击到的皇后的个数）。算法将皇后移到最小冲突的方格里，随机打乱平衡。</a:t>
            </a:r>
          </a:p>
          <a:p>
            <a:endParaRPr lang="zh-CN" altLang="zh-CN" dirty="0">
              <a:ea typeface="MS PGothic" panose="020B0600070205080204" pitchFamily="34" charset="-128"/>
            </a:endParaRPr>
          </a:p>
        </p:txBody>
      </p:sp>
      <p:sp>
        <p:nvSpPr>
          <p:cNvPr id="33795" name="Slide Number Placeholder 3">
            <a:extLst>
              <a:ext uri="{FF2B5EF4-FFF2-40B4-BE49-F238E27FC236}">
                <a16:creationId xmlns:a16="http://schemas.microsoft.com/office/drawing/2014/main" id="{60BC5B99-D9DE-9441-D46D-3ACDBFD9DCD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4B9714C5-38D5-C4A6-8412-68EFFF4420C8}"/>
              </a:ext>
            </a:extLst>
          </p:cNvPr>
          <p:cNvSpPr>
            <a:spLocks noGrp="1" noRot="1" noChangeAspect="1" noChangeArrowheads="1"/>
          </p:cNvSpPr>
          <p:nvPr>
            <p:ph type="sldImg" idx="4294967295"/>
          </p:nvPr>
        </p:nvSpPr>
        <p:spPr>
          <a:ln>
            <a:miter lim="800000"/>
          </a:ln>
        </p:spPr>
      </p:sp>
      <p:sp>
        <p:nvSpPr>
          <p:cNvPr id="33794" name="Notes Placeholder 2">
            <a:extLst>
              <a:ext uri="{FF2B5EF4-FFF2-40B4-BE49-F238E27FC236}">
                <a16:creationId xmlns:a16="http://schemas.microsoft.com/office/drawing/2014/main" id="{CC5554BE-AADB-80CA-3C93-6A0775FF611C}"/>
              </a:ext>
            </a:extLst>
          </p:cNvPr>
          <p:cNvSpPr>
            <a:spLocks noGrp="1" noChangeArrowheads="1"/>
          </p:cNvSpPr>
          <p:nvPr>
            <p:ph type="body" idx="4294967295"/>
          </p:nvPr>
        </p:nvSpPr>
        <p:spPr>
          <a:ln/>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It has been used to schedule observations for the Hubble Space Telescope, reducing the time taken to schedule a week of observations from three weeks (!) to around 10 minutes.</a:t>
            </a:r>
          </a:p>
          <a:p>
            <a:endParaRPr lang="en-US" altLang="zh-CN" dirty="0"/>
          </a:p>
          <a:p>
            <a:r>
              <a:rPr lang="zh-CN" altLang="en-US" dirty="0"/>
              <a:t>最少冲突算法用于哈珀太空望远镜的观察日程安排，安排一周的观察日程花费的时间从原来三周减少到</a:t>
            </a:r>
            <a:r>
              <a:rPr lang="en-US" altLang="zh-CN" dirty="0"/>
              <a:t>10</a:t>
            </a:r>
            <a:r>
              <a:rPr lang="zh-CN" altLang="en-US" dirty="0"/>
              <a:t>分钟。</a:t>
            </a:r>
          </a:p>
          <a:p>
            <a:endParaRPr lang="zh-CN" altLang="en-US" dirty="0"/>
          </a:p>
          <a:p>
            <a:r>
              <a:rPr lang="zh-CN" altLang="en-US" b="1" dirty="0">
                <a:latin typeface="Times New Roman" panose="02020603050405020304" pitchFamily="18" charset="0"/>
                <a:cs typeface="Times New Roman" panose="02020603050405020304" pitchFamily="18" charset="0"/>
                <a:sym typeface="+mn-ea"/>
              </a:rPr>
              <a:t>局部搜索的另一个优势是当问题改变时可以用于</a:t>
            </a:r>
            <a:r>
              <a:rPr lang="zh-CN" altLang="en-US" b="1" dirty="0">
                <a:solidFill>
                  <a:srgbClr val="002060"/>
                </a:solidFill>
                <a:latin typeface="Times New Roman" panose="02020603050405020304" pitchFamily="18" charset="0"/>
                <a:cs typeface="Times New Roman" panose="02020603050405020304" pitchFamily="18" charset="0"/>
                <a:sym typeface="+mn-ea"/>
              </a:rPr>
              <a:t>在线设置，</a:t>
            </a:r>
            <a:r>
              <a:rPr lang="zh-CN" altLang="en-US" b="1" dirty="0">
                <a:latin typeface="Times New Roman" panose="02020603050405020304" pitchFamily="18" charset="0"/>
                <a:cs typeface="Times New Roman" panose="02020603050405020304" pitchFamily="18" charset="0"/>
                <a:sym typeface="+mn-ea"/>
              </a:rPr>
              <a:t>这在调度问题中尤其重要。</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sym typeface="+mn-ea"/>
              </a:rPr>
              <a:t>一周的航班日程表可能涉及上千次航班和上万人次的分配，但是一个机场的恶劣天气可能就会打乱原来的日程安排。希望以最小的改动来修改日程。</a:t>
            </a:r>
            <a:r>
              <a:rPr lang="zh-CN" altLang="en-US" b="1" dirty="0">
                <a:solidFill>
                  <a:srgbClr val="002060"/>
                </a:solidFill>
                <a:latin typeface="Times New Roman" panose="02020603050405020304" pitchFamily="18" charset="0"/>
                <a:cs typeface="Times New Roman" panose="02020603050405020304" pitchFamily="18" charset="0"/>
                <a:sym typeface="+mn-ea"/>
              </a:rPr>
              <a:t>这可以用当前日程开始的局部搜索算法很容易地完成</a:t>
            </a:r>
            <a:r>
              <a:rPr lang="zh-CN" altLang="en-US" b="1" dirty="0">
                <a:latin typeface="Times New Roman" panose="02020603050405020304" pitchFamily="18" charset="0"/>
                <a:cs typeface="Times New Roman" panose="02020603050405020304" pitchFamily="18" charset="0"/>
                <a:sym typeface="+mn-ea"/>
              </a:rPr>
              <a:t>。</a:t>
            </a:r>
            <a:endParaRPr lang="en-US" altLang="zh-CN" b="1" dirty="0">
              <a:latin typeface="Times New Roman" panose="02020603050405020304" pitchFamily="18" charset="0"/>
              <a:cs typeface="Times New Roman" panose="02020603050405020304" pitchFamily="18" charset="0"/>
            </a:endParaRPr>
          </a:p>
          <a:p>
            <a:r>
              <a:rPr lang="zh-CN" altLang="en-US" b="1" dirty="0">
                <a:latin typeface="Times New Roman" panose="02020603050405020304" pitchFamily="18" charset="0"/>
                <a:cs typeface="Times New Roman" panose="02020603050405020304" pitchFamily="18" charset="0"/>
                <a:sym typeface="+mn-ea"/>
              </a:rPr>
              <a:t>一个使用新约束集的回溯搜索通常需要更多的时间，并且找到的解有可能要对当前日程进行很多改动。</a:t>
            </a:r>
            <a:endParaRPr lang="zh-CN" altLang="en-US" dirty="0"/>
          </a:p>
          <a:p>
            <a:endParaRPr lang="zh-CN" altLang="en-US" dirty="0"/>
          </a:p>
          <a:p>
            <a:endParaRPr lang="zh-CN" altLang="zh-CN" dirty="0">
              <a:ea typeface="MS PGothic" panose="020B0600070205080204" pitchFamily="34" charset="-128"/>
            </a:endParaRPr>
          </a:p>
        </p:txBody>
      </p:sp>
      <p:sp>
        <p:nvSpPr>
          <p:cNvPr id="33795" name="Slide Number Placeholder 3">
            <a:extLst>
              <a:ext uri="{FF2B5EF4-FFF2-40B4-BE49-F238E27FC236}">
                <a16:creationId xmlns:a16="http://schemas.microsoft.com/office/drawing/2014/main" id="{60BC5B99-D9DE-9441-D46D-3ACDBFD9DCD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latin typeface="Calibri" panose="020F0502020204030204" pitchFamily="34" charset="0"/>
                <a:ea typeface="宋体" panose="02010600030101010101" pitchFamily="2" charset="-122"/>
              </a:rPr>
              <a:t>*</a:t>
            </a:r>
          </a:p>
        </p:txBody>
      </p:sp>
    </p:spTree>
    <p:extLst>
      <p:ext uri="{BB962C8B-B14F-4D97-AF65-F5344CB8AC3E}">
        <p14:creationId xmlns:p14="http://schemas.microsoft.com/office/powerpoint/2010/main" val="30141130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371B729-817F-448C-AF52-5327A9569471}" type="slidenum">
              <a:rPr lang="zh-CN" altLang="en-US" smtClean="0"/>
              <a:t>54</a:t>
            </a:fld>
            <a:endParaRPr lang="zh-CN" altLang="en-US"/>
          </a:p>
        </p:txBody>
      </p:sp>
    </p:spTree>
    <p:extLst>
      <p:ext uri="{BB962C8B-B14F-4D97-AF65-F5344CB8AC3E}">
        <p14:creationId xmlns:p14="http://schemas.microsoft.com/office/powerpoint/2010/main" val="611652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a:extLst>
              <a:ext uri="{FF2B5EF4-FFF2-40B4-BE49-F238E27FC236}">
                <a16:creationId xmlns:a16="http://schemas.microsoft.com/office/drawing/2014/main" id="{8EAB9554-0968-7F4C-B17C-055427BAAC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extLst>
      <p:ext uri="{BB962C8B-B14F-4D97-AF65-F5344CB8AC3E}">
        <p14:creationId xmlns:p14="http://schemas.microsoft.com/office/powerpoint/2010/main" val="4020554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a:extLst>
              <a:ext uri="{FF2B5EF4-FFF2-40B4-BE49-F238E27FC236}">
                <a16:creationId xmlns:a16="http://schemas.microsoft.com/office/drawing/2014/main" id="{1B478B4D-326B-4F22-B792-98AB7E9C8268}"/>
              </a:ext>
            </a:extLst>
          </p:cNvPr>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a:extLst>
              <a:ext uri="{FF2B5EF4-FFF2-40B4-BE49-F238E27FC236}">
                <a16:creationId xmlns:a16="http://schemas.microsoft.com/office/drawing/2014/main" id="{2742BE2E-64C4-45DC-B5F2-9CE85916052B}"/>
              </a:ext>
            </a:extLst>
          </p:cNvPr>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a:extLst>
              <a:ext uri="{FF2B5EF4-FFF2-40B4-BE49-F238E27FC236}">
                <a16:creationId xmlns:a16="http://schemas.microsoft.com/office/drawing/2014/main" id="{BEB662E1-75A1-469F-B2C5-6EC6E8255C44}"/>
              </a:ext>
            </a:extLst>
          </p:cNvPr>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a:extLst>
              <a:ext uri="{FF2B5EF4-FFF2-40B4-BE49-F238E27FC236}">
                <a16:creationId xmlns:a16="http://schemas.microsoft.com/office/drawing/2014/main" id="{CF32DCCF-D109-144D-93EF-7A463349CB65}"/>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a:extLst>
              <a:ext uri="{FF2B5EF4-FFF2-40B4-BE49-F238E27FC236}">
                <a16:creationId xmlns:a16="http://schemas.microsoft.com/office/drawing/2014/main" id="{D607238F-89BF-434F-A2F2-C5D1BB90B631}"/>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extLst>
      <p:ext uri="{BB962C8B-B14F-4D97-AF65-F5344CB8AC3E}">
        <p14:creationId xmlns:p14="http://schemas.microsoft.com/office/powerpoint/2010/main" val="1540706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7CB78A0-538A-4F4C-97AC-5D6B9B36EAE3}"/>
              </a:ext>
            </a:extLst>
          </p:cNvPr>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a:extLst>
              <a:ext uri="{FF2B5EF4-FFF2-40B4-BE49-F238E27FC236}">
                <a16:creationId xmlns:a16="http://schemas.microsoft.com/office/drawing/2014/main" id="{DCD3F2D1-9FCF-4792-8D92-8CA0C104ED79}"/>
              </a:ext>
            </a:extLst>
          </p:cNvPr>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E1FBCD60-E317-434E-9948-6517EE806648}"/>
              </a:ext>
            </a:extLst>
          </p:cNvPr>
          <p:cNvCxnSpPr>
            <a:cxnSpLocks/>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F972F-6C72-4EB1-91BD-22FC6A6BFE55}"/>
              </a:ext>
            </a:extLst>
          </p:cNvPr>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a:extLst>
              <a:ext uri="{FF2B5EF4-FFF2-40B4-BE49-F238E27FC236}">
                <a16:creationId xmlns:a16="http://schemas.microsoft.com/office/drawing/2014/main" id="{6ED22ADE-3337-4765-824B-2BCE393B3BC8}"/>
              </a:ext>
            </a:extLst>
          </p:cNvPr>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a:extLst>
              <a:ext uri="{FF2B5EF4-FFF2-40B4-BE49-F238E27FC236}">
                <a16:creationId xmlns:a16="http://schemas.microsoft.com/office/drawing/2014/main" id="{77F0E457-CBAE-48A1-9FDD-0AD48E16BB0E}"/>
              </a:ext>
            </a:extLst>
          </p:cNvPr>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a:extLst>
              <a:ext uri="{FF2B5EF4-FFF2-40B4-BE49-F238E27FC236}">
                <a16:creationId xmlns:a16="http://schemas.microsoft.com/office/drawing/2014/main" id="{BF5B61E3-C874-41BD-9977-575DE377EF7C}"/>
              </a:ext>
            </a:extLst>
          </p:cNvPr>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a:extLst>
              <a:ext uri="{FF2B5EF4-FFF2-40B4-BE49-F238E27FC236}">
                <a16:creationId xmlns:a16="http://schemas.microsoft.com/office/drawing/2014/main" id="{E79C958C-4261-4C02-847F-E854178B5EDF}"/>
              </a:ext>
            </a:extLst>
          </p:cNvPr>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a:extLst>
              <a:ext uri="{FF2B5EF4-FFF2-40B4-BE49-F238E27FC236}">
                <a16:creationId xmlns:a16="http://schemas.microsoft.com/office/drawing/2014/main" id="{50FB6E99-D418-4444-914B-2306780544C7}"/>
              </a:ext>
            </a:extLst>
          </p:cNvPr>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94547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a:extLst>
              <a:ext uri="{FF2B5EF4-FFF2-40B4-BE49-F238E27FC236}">
                <a16:creationId xmlns:a16="http://schemas.microsoft.com/office/drawing/2014/main" id="{5FB16484-E5F7-4B77-B7A5-FDAB1703AF52}"/>
              </a:ext>
            </a:extLst>
          </p:cNvPr>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B6FD6F57-F8D0-494A-A461-A05057362E3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0F3C94DC-BC3D-4914-BCEA-9BADE3C91715}"/>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D3B89C71-934D-411D-A2EA-05C70F77FCCA}"/>
              </a:ext>
            </a:extLst>
          </p:cNvPr>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a:extLst>
              <a:ext uri="{FF2B5EF4-FFF2-40B4-BE49-F238E27FC236}">
                <a16:creationId xmlns:a16="http://schemas.microsoft.com/office/drawing/2014/main" id="{A837D7F3-A47E-4687-B46E-2D3048C16002}"/>
              </a:ext>
            </a:extLst>
          </p:cNvPr>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a:extLst>
              <a:ext uri="{FF2B5EF4-FFF2-40B4-BE49-F238E27FC236}">
                <a16:creationId xmlns:a16="http://schemas.microsoft.com/office/drawing/2014/main" id="{FE10A76B-7B22-4776-AAF9-D0EEE0D973D2}"/>
              </a:ext>
            </a:extLst>
          </p:cNvPr>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a:extLst>
              <a:ext uri="{FF2B5EF4-FFF2-40B4-BE49-F238E27FC236}">
                <a16:creationId xmlns:a16="http://schemas.microsoft.com/office/drawing/2014/main" id="{80425897-AA01-4101-B050-A034992317B0}"/>
              </a:ext>
            </a:extLst>
          </p:cNvPr>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a:extLst>
              <a:ext uri="{FF2B5EF4-FFF2-40B4-BE49-F238E27FC236}">
                <a16:creationId xmlns:a16="http://schemas.microsoft.com/office/drawing/2014/main" id="{1DC1ADFB-E837-4D7F-B9F3-657D2F4ACAB6}"/>
              </a:ext>
            </a:extLst>
          </p:cNvPr>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a:extLst>
              <a:ext uri="{FF2B5EF4-FFF2-40B4-BE49-F238E27FC236}">
                <a16:creationId xmlns:a16="http://schemas.microsoft.com/office/drawing/2014/main" id="{034BB7AD-2674-4436-98EF-FC7061F0982B}"/>
              </a:ext>
            </a:extLst>
          </p:cNvPr>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extLst>
      <p:ext uri="{BB962C8B-B14F-4D97-AF65-F5344CB8AC3E}">
        <p14:creationId xmlns:p14="http://schemas.microsoft.com/office/powerpoint/2010/main" val="1585464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E3D9E87-D3B4-4F53-99F3-7438B7E4D4AB}"/>
              </a:ext>
            </a:extLst>
          </p:cNvPr>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a:extLst>
              <a:ext uri="{FF2B5EF4-FFF2-40B4-BE49-F238E27FC236}">
                <a16:creationId xmlns:a16="http://schemas.microsoft.com/office/drawing/2014/main" id="{6CD21FE1-F1E4-4E14-BF8F-A4D4ED823FBC}"/>
              </a:ext>
            </a:extLst>
          </p:cNvPr>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B76C3FD-32D6-4E41-B7F5-97F8A47A3D0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8DD83EE6-28E8-42E1-9D1D-CEA16A3EF647}"/>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2CCFA9F-ED6D-4706-AB87-12B0B7099A55}"/>
              </a:ext>
            </a:extLst>
          </p:cNvPr>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a:extLst>
              <a:ext uri="{FF2B5EF4-FFF2-40B4-BE49-F238E27FC236}">
                <a16:creationId xmlns:a16="http://schemas.microsoft.com/office/drawing/2014/main" id="{2F53FD0E-8CED-473A-8132-8C32D5EB7E41}"/>
              </a:ext>
            </a:extLst>
          </p:cNvPr>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a:extLst>
              <a:ext uri="{FF2B5EF4-FFF2-40B4-BE49-F238E27FC236}">
                <a16:creationId xmlns:a16="http://schemas.microsoft.com/office/drawing/2014/main" id="{686A2882-5AAA-4796-ACBF-11DE20417AB5}"/>
              </a:ext>
            </a:extLst>
          </p:cNvPr>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a:extLst>
              <a:ext uri="{FF2B5EF4-FFF2-40B4-BE49-F238E27FC236}">
                <a16:creationId xmlns:a16="http://schemas.microsoft.com/office/drawing/2014/main" id="{965BF0DA-9E98-46CA-BC5A-2F733F99C372}"/>
              </a:ext>
            </a:extLst>
          </p:cNvPr>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44B3714-021E-44F1-A9C0-8DB23D7B89EA}"/>
              </a:ext>
            </a:extLst>
          </p:cNvPr>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extLst>
      <p:ext uri="{BB962C8B-B14F-4D97-AF65-F5344CB8AC3E}">
        <p14:creationId xmlns:p14="http://schemas.microsoft.com/office/powerpoint/2010/main" val="1321017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a:extLst>
              <a:ext uri="{FF2B5EF4-FFF2-40B4-BE49-F238E27FC236}">
                <a16:creationId xmlns:a16="http://schemas.microsoft.com/office/drawing/2014/main" id="{F4B8A56B-7F99-43EE-87F0-42D96BE6E0C1}"/>
              </a:ext>
            </a:extLst>
          </p:cNvPr>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AD7A4933-BE2B-4B78-BB0B-EFF272C4458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A73394E7-E5C6-4B02-8A31-9C03D9C6FA0B}"/>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a:extLst>
              <a:ext uri="{FF2B5EF4-FFF2-40B4-BE49-F238E27FC236}">
                <a16:creationId xmlns:a16="http://schemas.microsoft.com/office/drawing/2014/main" id="{9FDAE5AE-1C3F-4A93-B305-B77CDC3F4BE2}"/>
              </a:ext>
            </a:extLst>
          </p:cNvPr>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a:extLst>
              <a:ext uri="{FF2B5EF4-FFF2-40B4-BE49-F238E27FC236}">
                <a16:creationId xmlns:a16="http://schemas.microsoft.com/office/drawing/2014/main" id="{8B831D4E-CDC6-4513-9163-9BB77DDB0516}"/>
              </a:ext>
            </a:extLst>
          </p:cNvPr>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a:extLst>
              <a:ext uri="{FF2B5EF4-FFF2-40B4-BE49-F238E27FC236}">
                <a16:creationId xmlns:a16="http://schemas.microsoft.com/office/drawing/2014/main" id="{25618009-D285-438D-BF60-F87BDBE0685A}"/>
              </a:ext>
            </a:extLst>
          </p:cNvPr>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a:extLst>
              <a:ext uri="{FF2B5EF4-FFF2-40B4-BE49-F238E27FC236}">
                <a16:creationId xmlns:a16="http://schemas.microsoft.com/office/drawing/2014/main" id="{4A10CB81-B3E3-411C-90C9-3480A10EDB9B}"/>
              </a:ext>
            </a:extLst>
          </p:cNvPr>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a:extLst>
              <a:ext uri="{FF2B5EF4-FFF2-40B4-BE49-F238E27FC236}">
                <a16:creationId xmlns:a16="http://schemas.microsoft.com/office/drawing/2014/main" id="{D251409D-FDB9-430B-A00F-D4A65811924B}"/>
              </a:ext>
            </a:extLst>
          </p:cNvPr>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63A1AFEA-57CF-4E71-AF6C-91E549CCF7E6}"/>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934243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a:extLst>
              <a:ext uri="{FF2B5EF4-FFF2-40B4-BE49-F238E27FC236}">
                <a16:creationId xmlns:a16="http://schemas.microsoft.com/office/drawing/2014/main" id="{03B97F61-153E-4B6E-8D40-C8B9A7E64D60}"/>
              </a:ext>
            </a:extLst>
          </p:cNvPr>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7B2B8D9-D400-4BD8-9CF6-DCEAAC82BDD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F285F31B-D145-4BD9-A54B-96E8E681B170}"/>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a:extLst>
              <a:ext uri="{FF2B5EF4-FFF2-40B4-BE49-F238E27FC236}">
                <a16:creationId xmlns:a16="http://schemas.microsoft.com/office/drawing/2014/main" id="{883EB526-2712-4265-9BF4-5874AAB98515}"/>
              </a:ext>
            </a:extLst>
          </p:cNvPr>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a:extLst>
              <a:ext uri="{FF2B5EF4-FFF2-40B4-BE49-F238E27FC236}">
                <a16:creationId xmlns:a16="http://schemas.microsoft.com/office/drawing/2014/main" id="{C7D4DE0F-D1AF-4276-ADBB-A15A5BFE8CB9}"/>
              </a:ext>
            </a:extLst>
          </p:cNvPr>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a:extLst>
              <a:ext uri="{FF2B5EF4-FFF2-40B4-BE49-F238E27FC236}">
                <a16:creationId xmlns:a16="http://schemas.microsoft.com/office/drawing/2014/main" id="{DFA316F4-7F98-4275-AAEF-578596A20622}"/>
              </a:ext>
            </a:extLst>
          </p:cNvPr>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a:extLst>
              <a:ext uri="{FF2B5EF4-FFF2-40B4-BE49-F238E27FC236}">
                <a16:creationId xmlns:a16="http://schemas.microsoft.com/office/drawing/2014/main" id="{219BA2AF-DF75-4C32-85E3-CB62BA8F7564}"/>
              </a:ext>
            </a:extLst>
          </p:cNvPr>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a:extLst>
              <a:ext uri="{FF2B5EF4-FFF2-40B4-BE49-F238E27FC236}">
                <a16:creationId xmlns:a16="http://schemas.microsoft.com/office/drawing/2014/main" id="{A86D27D2-3D87-4A30-89B6-7FAFD15E7EA4}"/>
              </a:ext>
            </a:extLst>
          </p:cNvPr>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BD5DBA0-D1E0-4B8B-AF12-F77A29B64E62}"/>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233385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a:extLst>
              <a:ext uri="{FF2B5EF4-FFF2-40B4-BE49-F238E27FC236}">
                <a16:creationId xmlns:a16="http://schemas.microsoft.com/office/drawing/2014/main" id="{60753701-EC64-455B-B060-1320051E3FE3}"/>
              </a:ext>
            </a:extLst>
          </p:cNvPr>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F5CBE861-C433-4078-A9A5-2C401EE3B270}"/>
              </a:ext>
            </a:extLst>
          </p:cNvPr>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23DD6575-0576-4AFA-9BC4-891ADAB845BD}"/>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a:extLst>
              <a:ext uri="{FF2B5EF4-FFF2-40B4-BE49-F238E27FC236}">
                <a16:creationId xmlns:a16="http://schemas.microsoft.com/office/drawing/2014/main" id="{C48532B4-0A1B-49CC-99AA-FE75395721EF}"/>
              </a:ext>
            </a:extLst>
          </p:cNvPr>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a:extLst>
              <a:ext uri="{FF2B5EF4-FFF2-40B4-BE49-F238E27FC236}">
                <a16:creationId xmlns:a16="http://schemas.microsoft.com/office/drawing/2014/main" id="{32356412-5283-4799-9197-98AEACE613AC}"/>
              </a:ext>
            </a:extLst>
          </p:cNvPr>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a:extLst>
              <a:ext uri="{FF2B5EF4-FFF2-40B4-BE49-F238E27FC236}">
                <a16:creationId xmlns:a16="http://schemas.microsoft.com/office/drawing/2014/main" id="{4E421018-60A0-4F10-A9A6-A6EE3BBD8BF9}"/>
              </a:ext>
            </a:extLst>
          </p:cNvPr>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a:extLst>
              <a:ext uri="{FF2B5EF4-FFF2-40B4-BE49-F238E27FC236}">
                <a16:creationId xmlns:a16="http://schemas.microsoft.com/office/drawing/2014/main" id="{9B17F2FA-61E0-4197-AD3A-2DE5104FF5C1}"/>
              </a:ext>
            </a:extLst>
          </p:cNvPr>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a:extLst>
              <a:ext uri="{FF2B5EF4-FFF2-40B4-BE49-F238E27FC236}">
                <a16:creationId xmlns:a16="http://schemas.microsoft.com/office/drawing/2014/main" id="{1C86E54A-170E-4CA4-BE8B-1118DA74B7C4}"/>
              </a:ext>
            </a:extLst>
          </p:cNvPr>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A5976A4D-F088-4D08-ABB4-FDF23F9CA863}"/>
              </a:ext>
            </a:extLst>
          </p:cNvPr>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4050161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a:extLst>
              <a:ext uri="{FF2B5EF4-FFF2-40B4-BE49-F238E27FC236}">
                <a16:creationId xmlns:a16="http://schemas.microsoft.com/office/drawing/2014/main" id="{82CF8FAE-6DBB-42F8-A821-12D15C788E8C}"/>
              </a:ext>
            </a:extLst>
          </p:cNvPr>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a:extLst>
              <a:ext uri="{FF2B5EF4-FFF2-40B4-BE49-F238E27FC236}">
                <a16:creationId xmlns:a16="http://schemas.microsoft.com/office/drawing/2014/main" id="{B958D3BC-E7F4-4914-8CAC-14D6BF0FFFB3}"/>
              </a:ext>
            </a:extLst>
          </p:cNvPr>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a:extLst>
              <a:ext uri="{FF2B5EF4-FFF2-40B4-BE49-F238E27FC236}">
                <a16:creationId xmlns:a16="http://schemas.microsoft.com/office/drawing/2014/main" id="{2453FC77-9263-4C53-8F22-D64EBC3880B1}"/>
              </a:ext>
            </a:extLst>
          </p:cNvPr>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a:extLst>
              <a:ext uri="{FF2B5EF4-FFF2-40B4-BE49-F238E27FC236}">
                <a16:creationId xmlns:a16="http://schemas.microsoft.com/office/drawing/2014/main" id="{9B3BEEB7-FA72-410F-B92D-7D208F847B83}"/>
              </a:ext>
            </a:extLst>
          </p:cNvPr>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a:extLst>
              <a:ext uri="{FF2B5EF4-FFF2-40B4-BE49-F238E27FC236}">
                <a16:creationId xmlns:a16="http://schemas.microsoft.com/office/drawing/2014/main" id="{C02326B7-0E5A-F24B-8BE7-D58545042AA0}"/>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5563913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a:extLst>
              <a:ext uri="{FF2B5EF4-FFF2-40B4-BE49-F238E27FC236}">
                <a16:creationId xmlns:a16="http://schemas.microsoft.com/office/drawing/2014/main" id="{EF621E98-351F-489A-ADCE-3FC79FDE6DDD}"/>
              </a:ext>
            </a:extLst>
          </p:cNvPr>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a:extLst>
              <a:ext uri="{FF2B5EF4-FFF2-40B4-BE49-F238E27FC236}">
                <a16:creationId xmlns:a16="http://schemas.microsoft.com/office/drawing/2014/main" id="{C25A5A92-C8E6-4CA8-AB93-8B885C5EA989}"/>
              </a:ext>
            </a:extLst>
          </p:cNvPr>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a:extLst>
              <a:ext uri="{FF2B5EF4-FFF2-40B4-BE49-F238E27FC236}">
                <a16:creationId xmlns:a16="http://schemas.microsoft.com/office/drawing/2014/main" id="{0B284135-360D-47CC-8BC2-5C03015968F7}"/>
              </a:ext>
            </a:extLst>
          </p:cNvPr>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a:extLst>
              <a:ext uri="{FF2B5EF4-FFF2-40B4-BE49-F238E27FC236}">
                <a16:creationId xmlns:a16="http://schemas.microsoft.com/office/drawing/2014/main" id="{D0824BE2-0B1A-47B1-BAAF-7C29E1879AE7}"/>
              </a:ext>
            </a:extLst>
          </p:cNvPr>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3019191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3728291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B0862E3-9A13-49FB-8057-D6463602E7B6}"/>
              </a:ext>
            </a:extLst>
          </p:cNvPr>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33B73963-4941-42F0-9B00-7431FEF61A6C}"/>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9C71AABC-C91A-43D0-9AF8-0B6162EDCDD1}"/>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A32A9019-0CBC-4C4A-90F0-2676ED9FCD3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1D06DB6D-BC70-544C-8EA4-3A3874C968F6}"/>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3718132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80DB1628-9D3D-4F59-B275-C695A900F19A}"/>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F01A7288-9F85-304B-887D-2D1E13D7A25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DE14FD2D-7810-B34E-8AFB-9A17BDEA7011}"/>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9405930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a:extLst>
              <a:ext uri="{FF2B5EF4-FFF2-40B4-BE49-F238E27FC236}">
                <a16:creationId xmlns:a16="http://schemas.microsoft.com/office/drawing/2014/main" id="{F03BE017-E7F3-4A34-ABC3-ECA964258175}"/>
              </a:ext>
            </a:extLst>
          </p:cNvPr>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a:extLst>
              <a:ext uri="{FF2B5EF4-FFF2-40B4-BE49-F238E27FC236}">
                <a16:creationId xmlns:a16="http://schemas.microsoft.com/office/drawing/2014/main" id="{D3B0A0DB-185C-4430-9224-1C0A227377F5}"/>
              </a:ext>
            </a:extLst>
          </p:cNvPr>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a:extLst>
              <a:ext uri="{FF2B5EF4-FFF2-40B4-BE49-F238E27FC236}">
                <a16:creationId xmlns:a16="http://schemas.microsoft.com/office/drawing/2014/main" id="{E3FA308D-84A8-4382-ADA4-2CD6EA62223C}"/>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68876A75-1BD3-9D4E-9D34-C6453E6DC7DB}"/>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48222E54-5ACA-6D4B-9A58-9B51C83B622D}"/>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941146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a:extLst>
              <a:ext uri="{FF2B5EF4-FFF2-40B4-BE49-F238E27FC236}">
                <a16:creationId xmlns:a16="http://schemas.microsoft.com/office/drawing/2014/main" id="{260C43B2-4304-44E2-A6F0-062D59008B9B}"/>
              </a:ext>
            </a:extLst>
          </p:cNvPr>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a:extLst>
              <a:ext uri="{FF2B5EF4-FFF2-40B4-BE49-F238E27FC236}">
                <a16:creationId xmlns:a16="http://schemas.microsoft.com/office/drawing/2014/main" id="{11D8ADCD-C58A-41B8-80C4-2341BB348593}"/>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a:extLst>
              <a:ext uri="{FF2B5EF4-FFF2-40B4-BE49-F238E27FC236}">
                <a16:creationId xmlns:a16="http://schemas.microsoft.com/office/drawing/2014/main" id="{841EB5B4-0657-4AE7-A427-642106D598D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EC81340F-C45F-6B4F-9864-73BF32BA909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31D45924-509B-5D4C-A99D-FF1FB6F34BEF}"/>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954094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D88D36A-B7BF-4F3A-AA10-0BECE80A557F}"/>
              </a:ext>
            </a:extLst>
          </p:cNvPr>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a:extLst>
              <a:ext uri="{FF2B5EF4-FFF2-40B4-BE49-F238E27FC236}">
                <a16:creationId xmlns:a16="http://schemas.microsoft.com/office/drawing/2014/main" id="{DEC9F75E-9249-4FFE-AF96-E92B201A183F}"/>
              </a:ext>
            </a:extLst>
          </p:cNvPr>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a:extLst>
              <a:ext uri="{FF2B5EF4-FFF2-40B4-BE49-F238E27FC236}">
                <a16:creationId xmlns:a16="http://schemas.microsoft.com/office/drawing/2014/main" id="{E7782F2A-850E-4B5F-8330-CF50AC9EFA7B}"/>
              </a:ext>
            </a:extLst>
          </p:cNvPr>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a:extLst>
              <a:ext uri="{FF2B5EF4-FFF2-40B4-BE49-F238E27FC236}">
                <a16:creationId xmlns:a16="http://schemas.microsoft.com/office/drawing/2014/main" id="{25096E3E-9433-4D85-BA39-301B214A355E}"/>
              </a:ext>
            </a:extLst>
          </p:cNvPr>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DF883148-B063-4C5A-9CC7-CE69774A8C94}"/>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B8A4FF80-ED1E-4D1D-9434-215EB5FB872B}"/>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B3A067A2-39E8-0940-8B54-688BC270D1DC}"/>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7D982EDC-1B4A-034E-9CE9-9172DBAF4898}"/>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164266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6196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5F00C798-F4CB-49E3-81E0-4CD12D5AEAD6}"/>
              </a:ext>
            </a:extLst>
          </p:cNvPr>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5713267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B2DFB5F-1361-46F4-B3DF-471ECD4DCA18}"/>
              </a:ext>
            </a:extLst>
          </p:cNvPr>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a:extLst>
              <a:ext uri="{FF2B5EF4-FFF2-40B4-BE49-F238E27FC236}">
                <a16:creationId xmlns:a16="http://schemas.microsoft.com/office/drawing/2014/main" id="{385D4CE6-0BBF-450D-B3AB-7C163A40E793}"/>
              </a:ext>
            </a:extLst>
          </p:cNvPr>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extLst>
      <p:ext uri="{BB962C8B-B14F-4D97-AF65-F5344CB8AC3E}">
        <p14:creationId xmlns:p14="http://schemas.microsoft.com/office/powerpoint/2010/main" val="3236818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bg bwMode="auto">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noProof="1"/>
              <a:t>Click to edit Master title style</a:t>
            </a:r>
          </a:p>
        </p:txBody>
      </p:sp>
      <p:sp>
        <p:nvSpPr>
          <p:cNvPr id="8" name="Content Placeholder 7"/>
          <p:cNvSpPr>
            <a:spLocks noGrp="1"/>
          </p:cNvSpPr>
          <p:nvPr>
            <p:ph sz="quarter" idx="1"/>
          </p:nvPr>
        </p:nvSpPr>
        <p:spPr>
          <a:xfrm>
            <a:off x="402336" y="1527048"/>
            <a:ext cx="11338560" cy="45720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3" name="Date Placeholder 3">
            <a:extLst>
              <a:ext uri="{FF2B5EF4-FFF2-40B4-BE49-F238E27FC236}">
                <a16:creationId xmlns:a16="http://schemas.microsoft.com/office/drawing/2014/main" id="{ECD9281A-630A-D647-F925-722D8BECBC47}"/>
              </a:ext>
            </a:extLst>
          </p:cNvPr>
          <p:cNvSpPr>
            <a:spLocks noGrp="1"/>
          </p:cNvSpPr>
          <p:nvPr>
            <p:ph type="dt" sz="half" idx="10"/>
          </p:nvPr>
        </p:nvSpPr>
        <p:spPr/>
        <p:txBody>
          <a:bodyPr/>
          <a:lstStyle>
            <a:lvl1pPr>
              <a:defRPr/>
            </a:lvl1pPr>
          </a:lstStyle>
          <a:p>
            <a:endParaRPr lang="en-US"/>
          </a:p>
        </p:txBody>
      </p:sp>
      <p:sp>
        <p:nvSpPr>
          <p:cNvPr id="4" name="Footer Placeholder 4">
            <a:extLst>
              <a:ext uri="{FF2B5EF4-FFF2-40B4-BE49-F238E27FC236}">
                <a16:creationId xmlns:a16="http://schemas.microsoft.com/office/drawing/2014/main" id="{31B596E2-AA30-6792-684A-C4CF18756D2F}"/>
              </a:ext>
            </a:extLst>
          </p:cNvPr>
          <p:cNvSpPr>
            <a:spLocks noGrp="1"/>
          </p:cNvSpPr>
          <p:nvPr>
            <p:ph type="ftr" sz="quarter" idx="11"/>
          </p:nvPr>
        </p:nvSpPr>
        <p:spPr/>
        <p:txBody>
          <a:bodyPr/>
          <a:lstStyle>
            <a:lvl1pPr>
              <a:defRPr/>
            </a:lvl1pPr>
          </a:lstStyle>
          <a:p>
            <a:r>
              <a:rPr lang="en-US" altLang="zh-CN"/>
              <a:t>Artificial Intelligence a modern approach</a:t>
            </a:r>
          </a:p>
        </p:txBody>
      </p:sp>
      <p:sp>
        <p:nvSpPr>
          <p:cNvPr id="5" name="Slide Number Placeholder 5">
            <a:extLst>
              <a:ext uri="{FF2B5EF4-FFF2-40B4-BE49-F238E27FC236}">
                <a16:creationId xmlns:a16="http://schemas.microsoft.com/office/drawing/2014/main" id="{DF14ED86-3759-CE59-E80F-0BE6032FEE8C}"/>
              </a:ext>
            </a:extLst>
          </p:cNvPr>
          <p:cNvSpPr>
            <a:spLocks noGrp="1"/>
          </p:cNvSpPr>
          <p:nvPr>
            <p:ph type="sldNum" sz="quarter" idx="12"/>
          </p:nvPr>
        </p:nvSpPr>
        <p:spPr>
          <a:xfrm>
            <a:off x="5816600" y="1027114"/>
            <a:ext cx="609600" cy="441325"/>
          </a:xfrm>
        </p:spPr>
        <p:txBody>
          <a:bodyPr/>
          <a:lstStyle>
            <a:lvl1pPr>
              <a:defRPr/>
            </a:lvl1pPr>
          </a:lstStyle>
          <a:p>
            <a:fld id="{5D839138-5554-4A72-89BF-BBFB0D949EB2}" type="slidenum">
              <a:rPr lang="en-US"/>
              <a:pPr/>
              <a:t>‹#›</a:t>
            </a:fld>
            <a:endParaRPr lang="en-US"/>
          </a:p>
        </p:txBody>
      </p:sp>
    </p:spTree>
    <p:extLst>
      <p:ext uri="{BB962C8B-B14F-4D97-AF65-F5344CB8AC3E}">
        <p14:creationId xmlns:p14="http://schemas.microsoft.com/office/powerpoint/2010/main" val="3864750098"/>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封面幻灯片1">
    <p:bg>
      <p:bgPr>
        <a:solidFill>
          <a:schemeClr val="bg1"/>
        </a:solidFill>
        <a:effectLst/>
      </p:bgPr>
    </p:bg>
    <p:spTree>
      <p:nvGrpSpPr>
        <p:cNvPr id="1" name=""/>
        <p:cNvGrpSpPr/>
        <p:nvPr/>
      </p:nvGrpSpPr>
      <p:grpSpPr>
        <a:xfrm>
          <a:off x="0" y="0"/>
          <a:ext cx="0" cy="0"/>
          <a:chOff x="0" y="0"/>
          <a:chExt cx="0" cy="0"/>
        </a:xfrm>
      </p:grpSpPr>
      <p:sp>
        <p:nvSpPr>
          <p:cNvPr id="47" name="箭头: 五边形 46">
            <a:extLst>
              <a:ext uri="{FF2B5EF4-FFF2-40B4-BE49-F238E27FC236}">
                <a16:creationId xmlns:a16="http://schemas.microsoft.com/office/drawing/2014/main" id="{E27F0E8A-FBE3-41B6-A56B-7A14F7AAA7BA}"/>
              </a:ext>
            </a:extLst>
          </p:cNvPr>
          <p:cNvSpPr/>
          <p:nvPr userDrawn="1"/>
        </p:nvSpPr>
        <p:spPr>
          <a:xfrm rot="5400000">
            <a:off x="-1070579" y="2025798"/>
            <a:ext cx="6858002" cy="2806406"/>
          </a:xfrm>
          <a:prstGeom prst="homePlate">
            <a:avLst>
              <a:gd name="adj" fmla="val 32231"/>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solidFill>
                <a:schemeClr val="accent6"/>
              </a:solidFill>
              <a:latin typeface="Helvetica Regular" pitchFamily="2" charset="0"/>
            </a:endParaRPr>
          </a:p>
        </p:txBody>
      </p:sp>
      <p:pic>
        <p:nvPicPr>
          <p:cNvPr id="4" name="图片 3">
            <a:extLst>
              <a:ext uri="{FF2B5EF4-FFF2-40B4-BE49-F238E27FC236}">
                <a16:creationId xmlns:a16="http://schemas.microsoft.com/office/drawing/2014/main" id="{8EAB9554-0968-7F4C-B17C-055427BAAC4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3142" y="2263721"/>
            <a:ext cx="2330560" cy="2330560"/>
          </a:xfrm>
          <a:prstGeom prst="rect">
            <a:avLst/>
          </a:prstGeom>
        </p:spPr>
      </p:pic>
    </p:spTree>
    <p:extLst>
      <p:ext uri="{BB962C8B-B14F-4D97-AF65-F5344CB8AC3E}">
        <p14:creationId xmlns:p14="http://schemas.microsoft.com/office/powerpoint/2010/main" val="30496220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目录页版式">
    <p:bg>
      <p:bgPr>
        <a:solidFill>
          <a:schemeClr val="bg1"/>
        </a:solidFill>
        <a:effectLst/>
      </p:bgPr>
    </p:bg>
    <p:spTree>
      <p:nvGrpSpPr>
        <p:cNvPr id="1" name=""/>
        <p:cNvGrpSpPr/>
        <p:nvPr/>
      </p:nvGrpSpPr>
      <p:grpSpPr>
        <a:xfrm>
          <a:off x="0" y="0"/>
          <a:ext cx="0" cy="0"/>
          <a:chOff x="0" y="0"/>
          <a:chExt cx="0" cy="0"/>
        </a:xfrm>
      </p:grpSpPr>
      <p:sp>
        <p:nvSpPr>
          <p:cNvPr id="85" name="任意多边形: 形状 84">
            <a:extLst>
              <a:ext uri="{FF2B5EF4-FFF2-40B4-BE49-F238E27FC236}">
                <a16:creationId xmlns:a16="http://schemas.microsoft.com/office/drawing/2014/main" id="{1B478B4D-326B-4F22-B792-98AB7E9C8268}"/>
              </a:ext>
            </a:extLst>
          </p:cNvPr>
          <p:cNvSpPr/>
          <p:nvPr userDrawn="1"/>
        </p:nvSpPr>
        <p:spPr bwMode="auto">
          <a:xfrm rot="5400000">
            <a:off x="4539448" y="-380490"/>
            <a:ext cx="3113105" cy="2609911"/>
          </a:xfrm>
          <a:custGeom>
            <a:avLst/>
            <a:gdLst>
              <a:gd name="connsiteX0" fmla="*/ 0 w 3113105"/>
              <a:gd name="connsiteY0" fmla="*/ 2609911 h 2609911"/>
              <a:gd name="connsiteX1" fmla="*/ 0 w 3113105"/>
              <a:gd name="connsiteY1" fmla="*/ 0 h 2609911"/>
              <a:gd name="connsiteX2" fmla="*/ 2301594 w 3113105"/>
              <a:gd name="connsiteY2" fmla="*/ 0 h 2609911"/>
              <a:gd name="connsiteX3" fmla="*/ 3113105 w 3113105"/>
              <a:gd name="connsiteY3" fmla="*/ 1304956 h 2609911"/>
              <a:gd name="connsiteX4" fmla="*/ 2301594 w 3113105"/>
              <a:gd name="connsiteY4" fmla="*/ 2609910 h 2609911"/>
              <a:gd name="connsiteX5" fmla="*/ 2301594 w 3113105"/>
              <a:gd name="connsiteY5" fmla="*/ 2609911 h 2609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13105" h="2609911">
                <a:moveTo>
                  <a:pt x="0" y="2609911"/>
                </a:moveTo>
                <a:lnTo>
                  <a:pt x="0" y="0"/>
                </a:lnTo>
                <a:lnTo>
                  <a:pt x="2301594" y="0"/>
                </a:lnTo>
                <a:lnTo>
                  <a:pt x="3113105" y="1304956"/>
                </a:lnTo>
                <a:lnTo>
                  <a:pt x="2301594" y="2609910"/>
                </a:lnTo>
                <a:lnTo>
                  <a:pt x="2301594" y="2609911"/>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sp>
        <p:nvSpPr>
          <p:cNvPr id="86" name="文本框 85">
            <a:extLst>
              <a:ext uri="{FF2B5EF4-FFF2-40B4-BE49-F238E27FC236}">
                <a16:creationId xmlns:a16="http://schemas.microsoft.com/office/drawing/2014/main" id="{2742BE2E-64C4-45DC-B5F2-9CE85916052B}"/>
              </a:ext>
            </a:extLst>
          </p:cNvPr>
          <p:cNvSpPr txBox="1"/>
          <p:nvPr userDrawn="1"/>
        </p:nvSpPr>
        <p:spPr>
          <a:xfrm>
            <a:off x="4781377" y="483991"/>
            <a:ext cx="2629246" cy="908262"/>
          </a:xfrm>
          <a:prstGeom prst="rect">
            <a:avLst/>
          </a:prstGeom>
          <a:noFill/>
        </p:spPr>
        <p:txBody>
          <a:bodyPr wrap="none" rtlCol="0">
            <a:spAutoFit/>
          </a:bodyPr>
          <a:lstStyle/>
          <a:p>
            <a:pPr>
              <a:lnSpc>
                <a:spcPct val="130000"/>
              </a:lnSpc>
            </a:pPr>
            <a:r>
              <a:rPr lang="en-US" altLang="zh-CN" sz="4400" b="1" i="0" dirty="0">
                <a:solidFill>
                  <a:schemeClr val="bg1"/>
                </a:solidFill>
                <a:latin typeface="Helvetica" pitchFamily="2" charset="0"/>
                <a:cs typeface="Arial" panose="020B0604020202020204" pitchFamily="34" charset="0"/>
                <a:sym typeface="+mn-lt"/>
              </a:rPr>
              <a:t>Contents</a:t>
            </a:r>
            <a:endParaRPr lang="zh-CN" altLang="en-US" sz="4400" b="1" i="0" dirty="0">
              <a:solidFill>
                <a:schemeClr val="bg1"/>
              </a:solidFill>
              <a:latin typeface="Helvetica" pitchFamily="2" charset="0"/>
              <a:cs typeface="Arial" panose="020B0604020202020204" pitchFamily="34" charset="0"/>
              <a:sym typeface="+mn-lt"/>
            </a:endParaRPr>
          </a:p>
        </p:txBody>
      </p:sp>
      <p:sp>
        <p:nvSpPr>
          <p:cNvPr id="87" name="任意多边形: 形状 86">
            <a:extLst>
              <a:ext uri="{FF2B5EF4-FFF2-40B4-BE49-F238E27FC236}">
                <a16:creationId xmlns:a16="http://schemas.microsoft.com/office/drawing/2014/main" id="{BEB662E1-75A1-469F-B2C5-6EC6E8255C44}"/>
              </a:ext>
            </a:extLst>
          </p:cNvPr>
          <p:cNvSpPr/>
          <p:nvPr userDrawn="1"/>
        </p:nvSpPr>
        <p:spPr bwMode="auto">
          <a:xfrm rot="5400000">
            <a:off x="4384812" y="-485285"/>
            <a:ext cx="3422377" cy="3128773"/>
          </a:xfrm>
          <a:custGeom>
            <a:avLst/>
            <a:gdLst>
              <a:gd name="connsiteX0" fmla="*/ 0 w 3422377"/>
              <a:gd name="connsiteY0" fmla="*/ 3128773 h 3128773"/>
              <a:gd name="connsiteX1" fmla="*/ 0 w 3422377"/>
              <a:gd name="connsiteY1" fmla="*/ 0 h 3128773"/>
              <a:gd name="connsiteX2" fmla="*/ 2449535 w 3422377"/>
              <a:gd name="connsiteY2" fmla="*/ 0 h 3128773"/>
              <a:gd name="connsiteX3" fmla="*/ 3422377 w 3422377"/>
              <a:gd name="connsiteY3" fmla="*/ 1564387 h 3128773"/>
              <a:gd name="connsiteX4" fmla="*/ 2449535 w 3422377"/>
              <a:gd name="connsiteY4" fmla="*/ 3128772 h 3128773"/>
              <a:gd name="connsiteX5" fmla="*/ 2449535 w 3422377"/>
              <a:gd name="connsiteY5" fmla="*/ 3128773 h 3128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2377" h="3128773">
                <a:moveTo>
                  <a:pt x="0" y="3128773"/>
                </a:moveTo>
                <a:lnTo>
                  <a:pt x="0" y="0"/>
                </a:lnTo>
                <a:lnTo>
                  <a:pt x="2449535" y="0"/>
                </a:lnTo>
                <a:lnTo>
                  <a:pt x="3422377" y="1564387"/>
                </a:lnTo>
                <a:lnTo>
                  <a:pt x="2449535" y="3128772"/>
                </a:lnTo>
                <a:lnTo>
                  <a:pt x="2449535" y="3128773"/>
                </a:lnTo>
                <a:close/>
              </a:path>
            </a:pathLst>
          </a:custGeom>
          <a:noFill/>
          <a:ln w="12700">
            <a:solidFill>
              <a:schemeClr val="accent1"/>
            </a:solidFill>
            <a:prstDash val="lgDash"/>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bg1"/>
              </a:solidFill>
              <a:latin typeface="Helvetica Regular" pitchFamily="2" charset="0"/>
              <a:cs typeface="+mn-ea"/>
              <a:sym typeface="+mn-lt"/>
            </a:endParaRPr>
          </a:p>
        </p:txBody>
      </p:sp>
      <p:pic>
        <p:nvPicPr>
          <p:cNvPr id="89" name="图片 88">
            <a:extLst>
              <a:ext uri="{FF2B5EF4-FFF2-40B4-BE49-F238E27FC236}">
                <a16:creationId xmlns:a16="http://schemas.microsoft.com/office/drawing/2014/main" id="{CF32DCCF-D109-144D-93EF-7A463349CB65}"/>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3428999" y="0"/>
            <a:ext cx="6858000" cy="6858000"/>
          </a:xfrm>
          <a:prstGeom prst="rect">
            <a:avLst/>
          </a:prstGeom>
        </p:spPr>
      </p:pic>
      <p:pic>
        <p:nvPicPr>
          <p:cNvPr id="90" name="图片 89">
            <a:extLst>
              <a:ext uri="{FF2B5EF4-FFF2-40B4-BE49-F238E27FC236}">
                <a16:creationId xmlns:a16="http://schemas.microsoft.com/office/drawing/2014/main" id="{D607238F-89BF-434F-A2F2-C5D1BB90B631}"/>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8763000" y="0"/>
            <a:ext cx="6858000" cy="6858000"/>
          </a:xfrm>
          <a:prstGeom prst="rect">
            <a:avLst/>
          </a:prstGeom>
        </p:spPr>
      </p:pic>
    </p:spTree>
    <p:extLst>
      <p:ext uri="{BB962C8B-B14F-4D97-AF65-F5344CB8AC3E}">
        <p14:creationId xmlns:p14="http://schemas.microsoft.com/office/powerpoint/2010/main" val="30672738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转场-短标题1">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7CB78A0-538A-4F4C-97AC-5D6B9B36EAE3}"/>
              </a:ext>
            </a:extLst>
          </p:cNvPr>
          <p:cNvSpPr/>
          <p:nvPr userDrawn="1"/>
        </p:nvSpPr>
        <p:spPr>
          <a:xfrm>
            <a:off x="3997387" y="1330387"/>
            <a:ext cx="4197226" cy="419722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7" name="文本框 6">
            <a:extLst>
              <a:ext uri="{FF2B5EF4-FFF2-40B4-BE49-F238E27FC236}">
                <a16:creationId xmlns:a16="http://schemas.microsoft.com/office/drawing/2014/main" id="{DCD3F2D1-9FCF-4792-8D92-8CA0C104ED79}"/>
              </a:ext>
            </a:extLst>
          </p:cNvPr>
          <p:cNvSpPr txBox="1"/>
          <p:nvPr userDrawn="1"/>
        </p:nvSpPr>
        <p:spPr>
          <a:xfrm>
            <a:off x="5093161" y="3044279"/>
            <a:ext cx="2068195" cy="769441"/>
          </a:xfrm>
          <a:prstGeom prst="rect">
            <a:avLst/>
          </a:prstGeom>
          <a:noFill/>
        </p:spPr>
        <p:txBody>
          <a:bodyPr wrap="none" rtlCol="0">
            <a:spAutoFit/>
          </a:bodyPr>
          <a:lstStyle/>
          <a:p>
            <a:pPr algn="ctr"/>
            <a:r>
              <a:rPr lang="en-US" altLang="zh-CN" sz="4400" b="1" i="0" dirty="0">
                <a:solidFill>
                  <a:schemeClr val="bg1"/>
                </a:solidFill>
                <a:latin typeface="Helvetica" pitchFamily="2" charset="0"/>
                <a:cs typeface="Arial" panose="020B0604020202020204" pitchFamily="34" charset="0"/>
              </a:rPr>
              <a:t>Part 01</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E1FBCD60-E317-434E-9948-6517EE806648}"/>
              </a:ext>
            </a:extLst>
          </p:cNvPr>
          <p:cNvCxnSpPr>
            <a:cxnSpLocks/>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椭圆 9">
            <a:extLst>
              <a:ext uri="{FF2B5EF4-FFF2-40B4-BE49-F238E27FC236}">
                <a16:creationId xmlns:a16="http://schemas.microsoft.com/office/drawing/2014/main" id="{E5FF972F-6C72-4EB1-91BD-22FC6A6BFE55}"/>
              </a:ext>
            </a:extLst>
          </p:cNvPr>
          <p:cNvSpPr/>
          <p:nvPr userDrawn="1"/>
        </p:nvSpPr>
        <p:spPr>
          <a:xfrm>
            <a:off x="3775702" y="1108702"/>
            <a:ext cx="4640596" cy="4640596"/>
          </a:xfrm>
          <a:prstGeom prst="ellipse">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1" name="椭圆 10">
            <a:extLst>
              <a:ext uri="{FF2B5EF4-FFF2-40B4-BE49-F238E27FC236}">
                <a16:creationId xmlns:a16="http://schemas.microsoft.com/office/drawing/2014/main" id="{6ED22ADE-3337-4765-824B-2BCE393B3BC8}"/>
              </a:ext>
            </a:extLst>
          </p:cNvPr>
          <p:cNvSpPr/>
          <p:nvPr userDrawn="1"/>
        </p:nvSpPr>
        <p:spPr>
          <a:xfrm>
            <a:off x="9613900" y="5273613"/>
            <a:ext cx="764381" cy="76438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2" name="椭圆 11">
            <a:extLst>
              <a:ext uri="{FF2B5EF4-FFF2-40B4-BE49-F238E27FC236}">
                <a16:creationId xmlns:a16="http://schemas.microsoft.com/office/drawing/2014/main" id="{77F0E457-CBAE-48A1-9FDD-0AD48E16BB0E}"/>
              </a:ext>
            </a:extLst>
          </p:cNvPr>
          <p:cNvSpPr/>
          <p:nvPr userDrawn="1"/>
        </p:nvSpPr>
        <p:spPr>
          <a:xfrm>
            <a:off x="2209800" y="6134100"/>
            <a:ext cx="1130300" cy="11303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3" name="椭圆 12">
            <a:extLst>
              <a:ext uri="{FF2B5EF4-FFF2-40B4-BE49-F238E27FC236}">
                <a16:creationId xmlns:a16="http://schemas.microsoft.com/office/drawing/2014/main" id="{BF5B61E3-C874-41BD-9977-575DE377EF7C}"/>
              </a:ext>
            </a:extLst>
          </p:cNvPr>
          <p:cNvSpPr/>
          <p:nvPr userDrawn="1"/>
        </p:nvSpPr>
        <p:spPr>
          <a:xfrm>
            <a:off x="10818188" y="-911691"/>
            <a:ext cx="2092326" cy="2092326"/>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4" name="椭圆 13">
            <a:extLst>
              <a:ext uri="{FF2B5EF4-FFF2-40B4-BE49-F238E27FC236}">
                <a16:creationId xmlns:a16="http://schemas.microsoft.com/office/drawing/2014/main" id="{E79C958C-4261-4C02-847F-E854178B5EDF}"/>
              </a:ext>
            </a:extLst>
          </p:cNvPr>
          <p:cNvSpPr/>
          <p:nvPr userDrawn="1"/>
        </p:nvSpPr>
        <p:spPr>
          <a:xfrm>
            <a:off x="-1048048" y="-250249"/>
            <a:ext cx="2861767" cy="2861767"/>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17" name="文本占位符 16">
            <a:extLst>
              <a:ext uri="{FF2B5EF4-FFF2-40B4-BE49-F238E27FC236}">
                <a16:creationId xmlns:a16="http://schemas.microsoft.com/office/drawing/2014/main" id="{50FB6E99-D418-4444-914B-2306780544C7}"/>
              </a:ext>
            </a:extLst>
          </p:cNvPr>
          <p:cNvSpPr>
            <a:spLocks noGrp="1"/>
          </p:cNvSpPr>
          <p:nvPr>
            <p:ph type="body" sz="quarter" idx="10" hasCustomPrompt="1"/>
          </p:nvPr>
        </p:nvSpPr>
        <p:spPr>
          <a:xfrm>
            <a:off x="4098000" y="3951320"/>
            <a:ext cx="3996000" cy="914400"/>
          </a:xfrm>
        </p:spPr>
        <p:txBody>
          <a:bodyPr anchor="ctr" anchorCtr="0">
            <a:normAutofit/>
          </a:bodyPr>
          <a:lstStyle>
            <a:lvl1pPr marL="0" indent="0" algn="ctr">
              <a:buNone/>
              <a:defRPr sz="3200"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29265893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转场-短标题2">
    <p:spTree>
      <p:nvGrpSpPr>
        <p:cNvPr id="1" name=""/>
        <p:cNvGrpSpPr/>
        <p:nvPr/>
      </p:nvGrpSpPr>
      <p:grpSpPr>
        <a:xfrm>
          <a:off x="0" y="0"/>
          <a:ext cx="0" cy="0"/>
          <a:chOff x="0" y="0"/>
          <a:chExt cx="0" cy="0"/>
        </a:xfrm>
      </p:grpSpPr>
      <p:sp>
        <p:nvSpPr>
          <p:cNvPr id="6" name="等腰三角形 5">
            <a:extLst>
              <a:ext uri="{FF2B5EF4-FFF2-40B4-BE49-F238E27FC236}">
                <a16:creationId xmlns:a16="http://schemas.microsoft.com/office/drawing/2014/main" id="{5FB16484-E5F7-4B77-B7A5-FDAB1703AF52}"/>
              </a:ext>
            </a:extLst>
          </p:cNvPr>
          <p:cNvSpPr/>
          <p:nvPr userDrawn="1"/>
        </p:nvSpPr>
        <p:spPr>
          <a:xfrm>
            <a:off x="4000500" y="1050677"/>
            <a:ext cx="4191000" cy="409786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B6FD6F57-F8D0-494A-A461-A05057362E3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02</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0F3C94DC-BC3D-4914-BCEA-9BADE3C91715}"/>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等腰三角形 8">
            <a:extLst>
              <a:ext uri="{FF2B5EF4-FFF2-40B4-BE49-F238E27FC236}">
                <a16:creationId xmlns:a16="http://schemas.microsoft.com/office/drawing/2014/main" id="{D3B89C71-934D-411D-A2EA-05C70F77FCCA}"/>
              </a:ext>
            </a:extLst>
          </p:cNvPr>
          <p:cNvSpPr/>
          <p:nvPr userDrawn="1"/>
        </p:nvSpPr>
        <p:spPr>
          <a:xfrm>
            <a:off x="3564087" y="505131"/>
            <a:ext cx="5063826" cy="4951296"/>
          </a:xfrm>
          <a:prstGeom prst="triangle">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等腰三角形 9">
            <a:extLst>
              <a:ext uri="{FF2B5EF4-FFF2-40B4-BE49-F238E27FC236}">
                <a16:creationId xmlns:a16="http://schemas.microsoft.com/office/drawing/2014/main" id="{A837D7F3-A47E-4687-B46E-2D3048C16002}"/>
              </a:ext>
            </a:extLst>
          </p:cNvPr>
          <p:cNvSpPr/>
          <p:nvPr userDrawn="1"/>
        </p:nvSpPr>
        <p:spPr>
          <a:xfrm rot="10800000">
            <a:off x="1390650" y="6496115"/>
            <a:ext cx="1493560" cy="146037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等腰三角形 10">
            <a:extLst>
              <a:ext uri="{FF2B5EF4-FFF2-40B4-BE49-F238E27FC236}">
                <a16:creationId xmlns:a16="http://schemas.microsoft.com/office/drawing/2014/main" id="{FE10A76B-7B22-4776-AAF9-D0EEE0D973D2}"/>
              </a:ext>
            </a:extLst>
          </p:cNvPr>
          <p:cNvSpPr/>
          <p:nvPr userDrawn="1"/>
        </p:nvSpPr>
        <p:spPr>
          <a:xfrm>
            <a:off x="11153775" y="1013971"/>
            <a:ext cx="2076450" cy="2030307"/>
          </a:xfrm>
          <a:prstGeom prst="triangl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等腰三角形 11">
            <a:extLst>
              <a:ext uri="{FF2B5EF4-FFF2-40B4-BE49-F238E27FC236}">
                <a16:creationId xmlns:a16="http://schemas.microsoft.com/office/drawing/2014/main" id="{80425897-AA01-4101-B050-A034992317B0}"/>
              </a:ext>
            </a:extLst>
          </p:cNvPr>
          <p:cNvSpPr/>
          <p:nvPr userDrawn="1"/>
        </p:nvSpPr>
        <p:spPr>
          <a:xfrm rot="10800000">
            <a:off x="-414337" y="-187450"/>
            <a:ext cx="2386788" cy="2333749"/>
          </a:xfrm>
          <a:prstGeom prst="triangl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等腰三角形 12">
            <a:extLst>
              <a:ext uri="{FF2B5EF4-FFF2-40B4-BE49-F238E27FC236}">
                <a16:creationId xmlns:a16="http://schemas.microsoft.com/office/drawing/2014/main" id="{1DC1ADFB-E837-4D7F-B9F3-657D2F4ACAB6}"/>
              </a:ext>
            </a:extLst>
          </p:cNvPr>
          <p:cNvSpPr/>
          <p:nvPr userDrawn="1"/>
        </p:nvSpPr>
        <p:spPr>
          <a:xfrm rot="5400000">
            <a:off x="9449232" y="5270665"/>
            <a:ext cx="883117" cy="863492"/>
          </a:xfrm>
          <a:prstGeom prst="triangl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8" name="文本占位符 17">
            <a:extLst>
              <a:ext uri="{FF2B5EF4-FFF2-40B4-BE49-F238E27FC236}">
                <a16:creationId xmlns:a16="http://schemas.microsoft.com/office/drawing/2014/main" id="{034BB7AD-2674-4436-98EF-FC7061F0982B}"/>
              </a:ext>
            </a:extLst>
          </p:cNvPr>
          <p:cNvSpPr>
            <a:spLocks noGrp="1"/>
          </p:cNvSpPr>
          <p:nvPr>
            <p:ph type="body" sz="quarter" idx="11" hasCustomPrompt="1"/>
          </p:nvPr>
        </p:nvSpPr>
        <p:spPr>
          <a:xfrm>
            <a:off x="4098000" y="3959372"/>
            <a:ext cx="3996000" cy="914400"/>
          </a:xfrm>
        </p:spPr>
        <p:txBody>
          <a:bodyPr anchor="ctr" anchorCtr="0"/>
          <a:lstStyle>
            <a:lvl1pPr marL="0" indent="0" algn="ctr">
              <a:buNone/>
              <a:defRPr b="1">
                <a:solidFill>
                  <a:schemeClr val="bg1"/>
                </a:solidFill>
                <a:latin typeface="Helvetica" pitchFamily="2" charset="0"/>
              </a:defRPr>
            </a:lvl1pPr>
            <a:lvl3pPr marL="914400" indent="0">
              <a:buNone/>
              <a:defRPr/>
            </a:lvl3pPr>
          </a:lstStyle>
          <a:p>
            <a:pPr lvl="0"/>
            <a:r>
              <a:rPr lang="en-US" altLang="zh-CN" dirty="0"/>
              <a:t>Edit Here</a:t>
            </a:r>
            <a:endParaRPr lang="zh-CN" altLang="en-US" dirty="0"/>
          </a:p>
        </p:txBody>
      </p:sp>
    </p:spTree>
    <p:extLst>
      <p:ext uri="{BB962C8B-B14F-4D97-AF65-F5344CB8AC3E}">
        <p14:creationId xmlns:p14="http://schemas.microsoft.com/office/powerpoint/2010/main" val="12897994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转场-短标题3">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AE3D9E87-D3B4-4F53-99F3-7438B7E4D4AB}"/>
              </a:ext>
            </a:extLst>
          </p:cNvPr>
          <p:cNvSpPr/>
          <p:nvPr userDrawn="1"/>
        </p:nvSpPr>
        <p:spPr>
          <a:xfrm rot="18893364">
            <a:off x="4380710" y="1706822"/>
            <a:ext cx="3444573" cy="34445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矩形 6">
            <a:extLst>
              <a:ext uri="{FF2B5EF4-FFF2-40B4-BE49-F238E27FC236}">
                <a16:creationId xmlns:a16="http://schemas.microsoft.com/office/drawing/2014/main" id="{6CD21FE1-F1E4-4E14-BF8F-A4D4ED823FBC}"/>
              </a:ext>
            </a:extLst>
          </p:cNvPr>
          <p:cNvSpPr/>
          <p:nvPr userDrawn="1"/>
        </p:nvSpPr>
        <p:spPr>
          <a:xfrm rot="18893364">
            <a:off x="4161891" y="1495013"/>
            <a:ext cx="3868219" cy="3868219"/>
          </a:xfrm>
          <a:prstGeom prst="rect">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B76C3FD-32D6-4E41-B7F5-97F8A47A3D0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03</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8DD83EE6-28E8-42E1-9D1D-CEA16A3EF647}"/>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D2CCFA9F-ED6D-4706-AB87-12B0B7099A55}"/>
              </a:ext>
            </a:extLst>
          </p:cNvPr>
          <p:cNvSpPr/>
          <p:nvPr userDrawn="1"/>
        </p:nvSpPr>
        <p:spPr>
          <a:xfrm rot="18893364">
            <a:off x="-897505" y="-513190"/>
            <a:ext cx="2663805" cy="2663805"/>
          </a:xfrm>
          <a:prstGeom prst="rect">
            <a:avLst/>
          </a:prstGeom>
          <a:solidFill>
            <a:srgbClr val="A4A8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矩形 10">
            <a:extLst>
              <a:ext uri="{FF2B5EF4-FFF2-40B4-BE49-F238E27FC236}">
                <a16:creationId xmlns:a16="http://schemas.microsoft.com/office/drawing/2014/main" id="{2F53FD0E-8CED-473A-8132-8C32D5EB7E41}"/>
              </a:ext>
            </a:extLst>
          </p:cNvPr>
          <p:cNvSpPr/>
          <p:nvPr userDrawn="1"/>
        </p:nvSpPr>
        <p:spPr>
          <a:xfrm rot="18893364">
            <a:off x="725976" y="6497388"/>
            <a:ext cx="1300124" cy="1300124"/>
          </a:xfrm>
          <a:prstGeom prst="rect">
            <a:avLst/>
          </a:prstGeom>
          <a:solidFill>
            <a:srgbClr val="C3C7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矩形 11">
            <a:extLst>
              <a:ext uri="{FF2B5EF4-FFF2-40B4-BE49-F238E27FC236}">
                <a16:creationId xmlns:a16="http://schemas.microsoft.com/office/drawing/2014/main" id="{686A2882-5AAA-4796-ACBF-11DE20417AB5}"/>
              </a:ext>
            </a:extLst>
          </p:cNvPr>
          <p:cNvSpPr/>
          <p:nvPr userDrawn="1"/>
        </p:nvSpPr>
        <p:spPr>
          <a:xfrm rot="18893364">
            <a:off x="11407699" y="1261300"/>
            <a:ext cx="1568601" cy="1568601"/>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矩形 12">
            <a:extLst>
              <a:ext uri="{FF2B5EF4-FFF2-40B4-BE49-F238E27FC236}">
                <a16:creationId xmlns:a16="http://schemas.microsoft.com/office/drawing/2014/main" id="{965BF0DA-9E98-46CA-BC5A-2F733F99C372}"/>
              </a:ext>
            </a:extLst>
          </p:cNvPr>
          <p:cNvSpPr/>
          <p:nvPr userDrawn="1"/>
        </p:nvSpPr>
        <p:spPr>
          <a:xfrm rot="18893364">
            <a:off x="9270159" y="5188596"/>
            <a:ext cx="861175" cy="861175"/>
          </a:xfrm>
          <a:prstGeom prst="rect">
            <a:avLst/>
          </a:prstGeom>
          <a:solidFill>
            <a:srgbClr val="8589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44B3714-021E-44F1-A9C0-8DB23D7B89EA}"/>
              </a:ext>
            </a:extLst>
          </p:cNvPr>
          <p:cNvSpPr>
            <a:spLocks noGrp="1"/>
          </p:cNvSpPr>
          <p:nvPr userDrawn="1">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vl2pPr marL="457200" indent="0">
              <a:buNone/>
              <a:defRPr/>
            </a:lvl2pPr>
          </a:lstStyle>
          <a:p>
            <a:pPr lvl="0"/>
            <a:r>
              <a:rPr lang="en-US" altLang="zh-CN" dirty="0"/>
              <a:t>Edit Here</a:t>
            </a:r>
            <a:endParaRPr lang="zh-CN" altLang="en-US" dirty="0"/>
          </a:p>
        </p:txBody>
      </p:sp>
    </p:spTree>
    <p:extLst>
      <p:ext uri="{BB962C8B-B14F-4D97-AF65-F5344CB8AC3E}">
        <p14:creationId xmlns:p14="http://schemas.microsoft.com/office/powerpoint/2010/main" val="21440289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转场-短标题4">
    <p:spTree>
      <p:nvGrpSpPr>
        <p:cNvPr id="1" name=""/>
        <p:cNvGrpSpPr/>
        <p:nvPr/>
      </p:nvGrpSpPr>
      <p:grpSpPr>
        <a:xfrm>
          <a:off x="0" y="0"/>
          <a:ext cx="0" cy="0"/>
          <a:chOff x="0" y="0"/>
          <a:chExt cx="0" cy="0"/>
        </a:xfrm>
      </p:grpSpPr>
      <p:sp>
        <p:nvSpPr>
          <p:cNvPr id="6" name="五边形 5">
            <a:extLst>
              <a:ext uri="{FF2B5EF4-FFF2-40B4-BE49-F238E27FC236}">
                <a16:creationId xmlns:a16="http://schemas.microsoft.com/office/drawing/2014/main" id="{F4B8A56B-7F99-43EE-87F0-42D96BE6E0C1}"/>
              </a:ext>
            </a:extLst>
          </p:cNvPr>
          <p:cNvSpPr>
            <a:spLocks noChangeAspect="1"/>
          </p:cNvSpPr>
          <p:nvPr userDrawn="1"/>
        </p:nvSpPr>
        <p:spPr>
          <a:xfrm>
            <a:off x="3870642" y="1106412"/>
            <a:ext cx="4450715" cy="4238776"/>
          </a:xfrm>
          <a:prstGeom prst="pen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7" name="文本框 6">
            <a:extLst>
              <a:ext uri="{FF2B5EF4-FFF2-40B4-BE49-F238E27FC236}">
                <a16:creationId xmlns:a16="http://schemas.microsoft.com/office/drawing/2014/main" id="{AD7A4933-BE2B-4B78-BB0B-EFF272C44588}"/>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04</a:t>
            </a:r>
            <a:endParaRPr lang="zh-CN" altLang="en-US" sz="4400" b="1" i="0" dirty="0">
              <a:solidFill>
                <a:schemeClr val="bg1"/>
              </a:solidFill>
              <a:latin typeface="Helvetica" pitchFamily="2" charset="0"/>
              <a:cs typeface="Arial" panose="020B0604020202020204" pitchFamily="34" charset="0"/>
            </a:endParaRPr>
          </a:p>
        </p:txBody>
      </p:sp>
      <p:cxnSp>
        <p:nvCxnSpPr>
          <p:cNvPr id="8" name="直接连接符 7">
            <a:extLst>
              <a:ext uri="{FF2B5EF4-FFF2-40B4-BE49-F238E27FC236}">
                <a16:creationId xmlns:a16="http://schemas.microsoft.com/office/drawing/2014/main" id="{A73394E7-E5C6-4B02-8A31-9C03D9C6FA0B}"/>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五边形 8">
            <a:extLst>
              <a:ext uri="{FF2B5EF4-FFF2-40B4-BE49-F238E27FC236}">
                <a16:creationId xmlns:a16="http://schemas.microsoft.com/office/drawing/2014/main" id="{9FDAE5AE-1C3F-4A93-B305-B77CDC3F4BE2}"/>
              </a:ext>
            </a:extLst>
          </p:cNvPr>
          <p:cNvSpPr>
            <a:spLocks noChangeAspect="1"/>
          </p:cNvSpPr>
          <p:nvPr userDrawn="1"/>
        </p:nvSpPr>
        <p:spPr>
          <a:xfrm>
            <a:off x="3575685" y="806045"/>
            <a:ext cx="5040628" cy="4800598"/>
          </a:xfrm>
          <a:prstGeom prst="pentagon">
            <a:avLst/>
          </a:prstGeom>
          <a:noFill/>
          <a:ln>
            <a:solidFill>
              <a:schemeClr val="accent1">
                <a:shade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0" name="五边形 9">
            <a:extLst>
              <a:ext uri="{FF2B5EF4-FFF2-40B4-BE49-F238E27FC236}">
                <a16:creationId xmlns:a16="http://schemas.microsoft.com/office/drawing/2014/main" id="{8B831D4E-CDC6-4513-9163-9BB77DDB0516}"/>
              </a:ext>
            </a:extLst>
          </p:cNvPr>
          <p:cNvSpPr>
            <a:spLocks noChangeAspect="1"/>
          </p:cNvSpPr>
          <p:nvPr userDrawn="1"/>
        </p:nvSpPr>
        <p:spPr>
          <a:xfrm rot="18978551">
            <a:off x="1199607" y="5189314"/>
            <a:ext cx="1114961" cy="1061868"/>
          </a:xfrm>
          <a:prstGeom prst="pentagon">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五边形 10">
            <a:extLst>
              <a:ext uri="{FF2B5EF4-FFF2-40B4-BE49-F238E27FC236}">
                <a16:creationId xmlns:a16="http://schemas.microsoft.com/office/drawing/2014/main" id="{25618009-D285-438D-BF60-F87BDBE0685A}"/>
              </a:ext>
            </a:extLst>
          </p:cNvPr>
          <p:cNvSpPr>
            <a:spLocks noChangeAspect="1"/>
          </p:cNvSpPr>
          <p:nvPr userDrawn="1"/>
        </p:nvSpPr>
        <p:spPr>
          <a:xfrm>
            <a:off x="-1122630" y="516786"/>
            <a:ext cx="2245259" cy="2138343"/>
          </a:xfrm>
          <a:prstGeom prst="pentagon">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五边形 11">
            <a:extLst>
              <a:ext uri="{FF2B5EF4-FFF2-40B4-BE49-F238E27FC236}">
                <a16:creationId xmlns:a16="http://schemas.microsoft.com/office/drawing/2014/main" id="{4A10CB81-B3E3-411C-90C9-3480A10EDB9B}"/>
              </a:ext>
            </a:extLst>
          </p:cNvPr>
          <p:cNvSpPr>
            <a:spLocks noChangeAspect="1"/>
          </p:cNvSpPr>
          <p:nvPr userDrawn="1"/>
        </p:nvSpPr>
        <p:spPr>
          <a:xfrm rot="6589711">
            <a:off x="10153440" y="4944146"/>
            <a:ext cx="2774574" cy="2642453"/>
          </a:xfrm>
          <a:prstGeom prst="pentagon">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五边形 12">
            <a:extLst>
              <a:ext uri="{FF2B5EF4-FFF2-40B4-BE49-F238E27FC236}">
                <a16:creationId xmlns:a16="http://schemas.microsoft.com/office/drawing/2014/main" id="{D251409D-FDB9-430B-A00F-D4A65811924B}"/>
              </a:ext>
            </a:extLst>
          </p:cNvPr>
          <p:cNvSpPr>
            <a:spLocks noChangeAspect="1"/>
          </p:cNvSpPr>
          <p:nvPr userDrawn="1"/>
        </p:nvSpPr>
        <p:spPr>
          <a:xfrm rot="10800000">
            <a:off x="9654125" y="-530934"/>
            <a:ext cx="1114961" cy="1061868"/>
          </a:xfrm>
          <a:prstGeom prst="pentag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63A1AFEA-57CF-4E71-AF6C-91E549CCF7E6}"/>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5197761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转场-短标题5">
    <p:spTree>
      <p:nvGrpSpPr>
        <p:cNvPr id="1" name=""/>
        <p:cNvGrpSpPr/>
        <p:nvPr/>
      </p:nvGrpSpPr>
      <p:grpSpPr>
        <a:xfrm>
          <a:off x="0" y="0"/>
          <a:ext cx="0" cy="0"/>
          <a:chOff x="0" y="0"/>
          <a:chExt cx="0" cy="0"/>
        </a:xfrm>
      </p:grpSpPr>
      <p:sp>
        <p:nvSpPr>
          <p:cNvPr id="6" name="六边形 5">
            <a:extLst>
              <a:ext uri="{FF2B5EF4-FFF2-40B4-BE49-F238E27FC236}">
                <a16:creationId xmlns:a16="http://schemas.microsoft.com/office/drawing/2014/main" id="{03B97F61-153E-4B6E-8D40-C8B9A7E64D60}"/>
              </a:ext>
            </a:extLst>
          </p:cNvPr>
          <p:cNvSpPr>
            <a:spLocks noChangeAspect="1"/>
          </p:cNvSpPr>
          <p:nvPr userDrawn="1"/>
        </p:nvSpPr>
        <p:spPr>
          <a:xfrm rot="16200000">
            <a:off x="3978962" y="1603967"/>
            <a:ext cx="4234076" cy="3650066"/>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97B2B8D9-D400-4BD8-9CF6-DCEAAC82BDD5}"/>
              </a:ext>
            </a:extLst>
          </p:cNvPr>
          <p:cNvSpPr txBox="1"/>
          <p:nvPr userDrawn="1"/>
        </p:nvSpPr>
        <p:spPr>
          <a:xfrm>
            <a:off x="5093162"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05</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F285F31B-D145-4BD9-A54B-96E8E681B170}"/>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六边形 9">
            <a:extLst>
              <a:ext uri="{FF2B5EF4-FFF2-40B4-BE49-F238E27FC236}">
                <a16:creationId xmlns:a16="http://schemas.microsoft.com/office/drawing/2014/main" id="{883EB526-2712-4265-9BF4-5874AAB98515}"/>
              </a:ext>
            </a:extLst>
          </p:cNvPr>
          <p:cNvSpPr/>
          <p:nvPr userDrawn="1"/>
        </p:nvSpPr>
        <p:spPr>
          <a:xfrm rot="16200000">
            <a:off x="3695701" y="1359776"/>
            <a:ext cx="4800598" cy="4138446"/>
          </a:xfrm>
          <a:prstGeom prst="hex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六边形 10">
            <a:extLst>
              <a:ext uri="{FF2B5EF4-FFF2-40B4-BE49-F238E27FC236}">
                <a16:creationId xmlns:a16="http://schemas.microsoft.com/office/drawing/2014/main" id="{C7D4DE0F-D1AF-4276-ADBB-A15A5BFE8CB9}"/>
              </a:ext>
            </a:extLst>
          </p:cNvPr>
          <p:cNvSpPr>
            <a:spLocks noChangeAspect="1"/>
          </p:cNvSpPr>
          <p:nvPr userDrawn="1"/>
        </p:nvSpPr>
        <p:spPr>
          <a:xfrm rot="16200000">
            <a:off x="-687663" y="4872077"/>
            <a:ext cx="2798353" cy="2412373"/>
          </a:xfrm>
          <a:prstGeom prst="hexagon">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六边形 11">
            <a:extLst>
              <a:ext uri="{FF2B5EF4-FFF2-40B4-BE49-F238E27FC236}">
                <a16:creationId xmlns:a16="http://schemas.microsoft.com/office/drawing/2014/main" id="{DFA316F4-7F98-4275-AAEF-578596A20622}"/>
              </a:ext>
            </a:extLst>
          </p:cNvPr>
          <p:cNvSpPr>
            <a:spLocks noChangeAspect="1"/>
          </p:cNvSpPr>
          <p:nvPr userDrawn="1"/>
        </p:nvSpPr>
        <p:spPr>
          <a:xfrm rot="16200000">
            <a:off x="9480973" y="5159003"/>
            <a:ext cx="1015781" cy="875673"/>
          </a:xfrm>
          <a:prstGeom prst="hexagon">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六边形 12">
            <a:extLst>
              <a:ext uri="{FF2B5EF4-FFF2-40B4-BE49-F238E27FC236}">
                <a16:creationId xmlns:a16="http://schemas.microsoft.com/office/drawing/2014/main" id="{219BA2AF-DF75-4C32-85E3-CB62BA8F7564}"/>
              </a:ext>
            </a:extLst>
          </p:cNvPr>
          <p:cNvSpPr>
            <a:spLocks noChangeAspect="1"/>
          </p:cNvSpPr>
          <p:nvPr userDrawn="1"/>
        </p:nvSpPr>
        <p:spPr>
          <a:xfrm rot="16200000">
            <a:off x="11493500" y="210644"/>
            <a:ext cx="1397000" cy="1204310"/>
          </a:xfrm>
          <a:prstGeom prst="hexagon">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六边形 13">
            <a:extLst>
              <a:ext uri="{FF2B5EF4-FFF2-40B4-BE49-F238E27FC236}">
                <a16:creationId xmlns:a16="http://schemas.microsoft.com/office/drawing/2014/main" id="{A86D27D2-3D87-4A30-89B6-7FAFD15E7EA4}"/>
              </a:ext>
            </a:extLst>
          </p:cNvPr>
          <p:cNvSpPr>
            <a:spLocks noChangeAspect="1"/>
          </p:cNvSpPr>
          <p:nvPr userDrawn="1"/>
        </p:nvSpPr>
        <p:spPr>
          <a:xfrm rot="16200000">
            <a:off x="641459" y="-437837"/>
            <a:ext cx="1015781" cy="875673"/>
          </a:xfrm>
          <a:prstGeom prst="hexag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2BD5DBA0-D1E0-4B8B-AF12-F77A29B64E62}"/>
              </a:ext>
            </a:extLst>
          </p:cNvPr>
          <p:cNvSpPr>
            <a:spLocks noGrp="1"/>
          </p:cNvSpPr>
          <p:nvPr>
            <p:ph type="body" sz="quarter" idx="10" hasCustomPrompt="1"/>
          </p:nvPr>
        </p:nvSpPr>
        <p:spPr>
          <a:xfrm>
            <a:off x="4098000" y="3947897"/>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23968714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转场-短标题6">
    <p:spTree>
      <p:nvGrpSpPr>
        <p:cNvPr id="1" name=""/>
        <p:cNvGrpSpPr/>
        <p:nvPr/>
      </p:nvGrpSpPr>
      <p:grpSpPr>
        <a:xfrm>
          <a:off x="0" y="0"/>
          <a:ext cx="0" cy="0"/>
          <a:chOff x="0" y="0"/>
          <a:chExt cx="0" cy="0"/>
        </a:xfrm>
      </p:grpSpPr>
      <p:sp>
        <p:nvSpPr>
          <p:cNvPr id="6" name="七边形 5">
            <a:extLst>
              <a:ext uri="{FF2B5EF4-FFF2-40B4-BE49-F238E27FC236}">
                <a16:creationId xmlns:a16="http://schemas.microsoft.com/office/drawing/2014/main" id="{60753701-EC64-455B-B060-1320051E3FE3}"/>
              </a:ext>
            </a:extLst>
          </p:cNvPr>
          <p:cNvSpPr>
            <a:spLocks noChangeAspect="1"/>
          </p:cNvSpPr>
          <p:nvPr userDrawn="1"/>
        </p:nvSpPr>
        <p:spPr>
          <a:xfrm>
            <a:off x="3972000" y="1047224"/>
            <a:ext cx="4248000" cy="4248000"/>
          </a:xfrm>
          <a:prstGeom prst="hept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8" name="文本框 7">
            <a:extLst>
              <a:ext uri="{FF2B5EF4-FFF2-40B4-BE49-F238E27FC236}">
                <a16:creationId xmlns:a16="http://schemas.microsoft.com/office/drawing/2014/main" id="{F5CBE861-C433-4078-A9A5-2C401EE3B270}"/>
              </a:ext>
            </a:extLst>
          </p:cNvPr>
          <p:cNvSpPr txBox="1"/>
          <p:nvPr userDrawn="1"/>
        </p:nvSpPr>
        <p:spPr>
          <a:xfrm>
            <a:off x="5093161" y="3044279"/>
            <a:ext cx="2068195" cy="769441"/>
          </a:xfrm>
          <a:prstGeom prst="rect">
            <a:avLst/>
          </a:prstGeom>
          <a:noFill/>
        </p:spPr>
        <p:txBody>
          <a:bodyPr wrap="none" rtlCol="0">
            <a:spAutoFit/>
          </a:bodyPr>
          <a:lstStyle/>
          <a:p>
            <a:r>
              <a:rPr lang="en-US" altLang="zh-CN" sz="4400" b="1" i="0" dirty="0">
                <a:solidFill>
                  <a:schemeClr val="bg1"/>
                </a:solidFill>
                <a:latin typeface="Helvetica" pitchFamily="2" charset="0"/>
                <a:cs typeface="Arial" panose="020B0604020202020204" pitchFamily="34" charset="0"/>
              </a:rPr>
              <a:t>Part 06</a:t>
            </a:r>
            <a:endParaRPr lang="zh-CN" altLang="en-US" sz="4400" b="1" i="0" dirty="0">
              <a:solidFill>
                <a:schemeClr val="bg1"/>
              </a:solidFill>
              <a:latin typeface="Helvetica" pitchFamily="2" charset="0"/>
              <a:cs typeface="Arial" panose="020B0604020202020204" pitchFamily="34" charset="0"/>
            </a:endParaRPr>
          </a:p>
        </p:txBody>
      </p:sp>
      <p:cxnSp>
        <p:nvCxnSpPr>
          <p:cNvPr id="9" name="直接连接符 8">
            <a:extLst>
              <a:ext uri="{FF2B5EF4-FFF2-40B4-BE49-F238E27FC236}">
                <a16:creationId xmlns:a16="http://schemas.microsoft.com/office/drawing/2014/main" id="{23DD6575-0576-4AFA-9BC4-891ADAB845BD}"/>
              </a:ext>
            </a:extLst>
          </p:cNvPr>
          <p:cNvCxnSpPr/>
          <p:nvPr userDrawn="1"/>
        </p:nvCxnSpPr>
        <p:spPr>
          <a:xfrm>
            <a:off x="4908550" y="3851820"/>
            <a:ext cx="2374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七边形 9">
            <a:extLst>
              <a:ext uri="{FF2B5EF4-FFF2-40B4-BE49-F238E27FC236}">
                <a16:creationId xmlns:a16="http://schemas.microsoft.com/office/drawing/2014/main" id="{C48532B4-0A1B-49CC-99AA-FE75395721EF}"/>
              </a:ext>
            </a:extLst>
          </p:cNvPr>
          <p:cNvSpPr/>
          <p:nvPr userDrawn="1"/>
        </p:nvSpPr>
        <p:spPr>
          <a:xfrm rot="1563509">
            <a:off x="10682028" y="-776191"/>
            <a:ext cx="3268663" cy="3268663"/>
          </a:xfrm>
          <a:prstGeom prst="heptagon">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1" name="七边形 10">
            <a:extLst>
              <a:ext uri="{FF2B5EF4-FFF2-40B4-BE49-F238E27FC236}">
                <a16:creationId xmlns:a16="http://schemas.microsoft.com/office/drawing/2014/main" id="{32356412-5283-4799-9197-98AEACE613AC}"/>
              </a:ext>
            </a:extLst>
          </p:cNvPr>
          <p:cNvSpPr/>
          <p:nvPr userDrawn="1"/>
        </p:nvSpPr>
        <p:spPr>
          <a:xfrm>
            <a:off x="1384129" y="5078241"/>
            <a:ext cx="1047921" cy="1047921"/>
          </a:xfrm>
          <a:prstGeom prst="heptagon">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2" name="七边形 11">
            <a:extLst>
              <a:ext uri="{FF2B5EF4-FFF2-40B4-BE49-F238E27FC236}">
                <a16:creationId xmlns:a16="http://schemas.microsoft.com/office/drawing/2014/main" id="{4E421018-60A0-4F10-A9A6-A6EE3BBD8BF9}"/>
              </a:ext>
            </a:extLst>
          </p:cNvPr>
          <p:cNvSpPr/>
          <p:nvPr userDrawn="1"/>
        </p:nvSpPr>
        <p:spPr>
          <a:xfrm rot="20151602">
            <a:off x="-1111336" y="360448"/>
            <a:ext cx="2222671" cy="2222671"/>
          </a:xfrm>
          <a:prstGeom prst="heptagon">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3" name="七边形 12">
            <a:extLst>
              <a:ext uri="{FF2B5EF4-FFF2-40B4-BE49-F238E27FC236}">
                <a16:creationId xmlns:a16="http://schemas.microsoft.com/office/drawing/2014/main" id="{9B17F2FA-61E0-4197-AD3A-2DE5104FF5C1}"/>
              </a:ext>
            </a:extLst>
          </p:cNvPr>
          <p:cNvSpPr/>
          <p:nvPr userDrawn="1"/>
        </p:nvSpPr>
        <p:spPr>
          <a:xfrm rot="20592885">
            <a:off x="8879510" y="6235700"/>
            <a:ext cx="2222671" cy="2222671"/>
          </a:xfrm>
          <a:prstGeom prst="heptagon">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4" name="七边形 13">
            <a:extLst>
              <a:ext uri="{FF2B5EF4-FFF2-40B4-BE49-F238E27FC236}">
                <a16:creationId xmlns:a16="http://schemas.microsoft.com/office/drawing/2014/main" id="{1C86E54A-170E-4CA4-BE8B-1118DA74B7C4}"/>
              </a:ext>
            </a:extLst>
          </p:cNvPr>
          <p:cNvSpPr>
            <a:spLocks noChangeAspect="1"/>
          </p:cNvSpPr>
          <p:nvPr userDrawn="1"/>
        </p:nvSpPr>
        <p:spPr>
          <a:xfrm>
            <a:off x="3683000" y="774700"/>
            <a:ext cx="4826000" cy="4826000"/>
          </a:xfrm>
          <a:prstGeom prst="heptagon">
            <a:avLst/>
          </a:prstGeom>
          <a:noFill/>
          <a:ln>
            <a:solidFill>
              <a:srgbClr val="183883"/>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Helvetica" pitchFamily="2" charset="0"/>
            </a:endParaRPr>
          </a:p>
        </p:txBody>
      </p:sp>
      <p:sp>
        <p:nvSpPr>
          <p:cNvPr id="17" name="文本占位符 16">
            <a:extLst>
              <a:ext uri="{FF2B5EF4-FFF2-40B4-BE49-F238E27FC236}">
                <a16:creationId xmlns:a16="http://schemas.microsoft.com/office/drawing/2014/main" id="{A5976A4D-F088-4D08-ABB4-FDF23F9CA863}"/>
              </a:ext>
            </a:extLst>
          </p:cNvPr>
          <p:cNvSpPr>
            <a:spLocks noGrp="1"/>
          </p:cNvSpPr>
          <p:nvPr>
            <p:ph type="body" sz="quarter" idx="10" hasCustomPrompt="1"/>
          </p:nvPr>
        </p:nvSpPr>
        <p:spPr>
          <a:xfrm>
            <a:off x="4098000" y="3966909"/>
            <a:ext cx="3996000" cy="914400"/>
          </a:xfrm>
        </p:spPr>
        <p:txBody>
          <a:bodyPr anchor="ctr" anchorCtr="0"/>
          <a:lstStyle>
            <a:lvl1pPr marL="0" indent="0" algn="ctr">
              <a:buNone/>
              <a:defRPr b="1">
                <a:solidFill>
                  <a:schemeClr val="bg1"/>
                </a:solidFill>
                <a:latin typeface="Helvetica" pitchFamily="2" charset="0"/>
              </a:defRPr>
            </a:lvl1pPr>
          </a:lstStyle>
          <a:p>
            <a:pPr lvl="0"/>
            <a:r>
              <a:rPr lang="en-US" altLang="zh-CN" dirty="0"/>
              <a:t>Edit Here</a:t>
            </a:r>
            <a:endParaRPr lang="zh-CN" altLang="en-US" dirty="0"/>
          </a:p>
        </p:txBody>
      </p:sp>
    </p:spTree>
    <p:extLst>
      <p:ext uri="{BB962C8B-B14F-4D97-AF65-F5344CB8AC3E}">
        <p14:creationId xmlns:p14="http://schemas.microsoft.com/office/powerpoint/2010/main" val="13114819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目录页-长标题">
    <p:bg>
      <p:bgPr>
        <a:solidFill>
          <a:schemeClr val="bg1"/>
        </a:solidFill>
        <a:effectLst/>
      </p:bgPr>
    </p:bg>
    <p:spTree>
      <p:nvGrpSpPr>
        <p:cNvPr id="1" name=""/>
        <p:cNvGrpSpPr/>
        <p:nvPr/>
      </p:nvGrpSpPr>
      <p:grpSpPr>
        <a:xfrm>
          <a:off x="0" y="0"/>
          <a:ext cx="0" cy="0"/>
          <a:chOff x="0" y="0"/>
          <a:chExt cx="0" cy="0"/>
        </a:xfrm>
      </p:grpSpPr>
      <p:sp>
        <p:nvSpPr>
          <p:cNvPr id="6" name="箭头: 五边形 5">
            <a:extLst>
              <a:ext uri="{FF2B5EF4-FFF2-40B4-BE49-F238E27FC236}">
                <a16:creationId xmlns:a16="http://schemas.microsoft.com/office/drawing/2014/main" id="{82CF8FAE-6DBB-42F8-A821-12D15C788E8C}"/>
              </a:ext>
            </a:extLst>
          </p:cNvPr>
          <p:cNvSpPr/>
          <p:nvPr userDrawn="1"/>
        </p:nvSpPr>
        <p:spPr>
          <a:xfrm>
            <a:off x="2" y="0"/>
            <a:ext cx="2835871" cy="6858000"/>
          </a:xfrm>
          <a:prstGeom prst="homePlate">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Helvetica" pitchFamily="2" charset="0"/>
            </a:endParaRPr>
          </a:p>
        </p:txBody>
      </p:sp>
      <p:sp>
        <p:nvSpPr>
          <p:cNvPr id="54" name="矩形 53">
            <a:extLst>
              <a:ext uri="{FF2B5EF4-FFF2-40B4-BE49-F238E27FC236}">
                <a16:creationId xmlns:a16="http://schemas.microsoft.com/office/drawing/2014/main" id="{B958D3BC-E7F4-4914-8CAC-14D6BF0FFFB3}"/>
              </a:ext>
            </a:extLst>
          </p:cNvPr>
          <p:cNvSpPr/>
          <p:nvPr/>
        </p:nvSpPr>
        <p:spPr>
          <a:xfrm>
            <a:off x="140677" y="3106616"/>
            <a:ext cx="2520462" cy="1066800"/>
          </a:xfrm>
          <a:prstGeom prst="rect">
            <a:avLst/>
          </a:prstGeom>
          <a:no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latin typeface="Helvetica" pitchFamily="2" charset="0"/>
            </a:endParaRPr>
          </a:p>
        </p:txBody>
      </p:sp>
      <p:sp>
        <p:nvSpPr>
          <p:cNvPr id="2" name="矩形 1">
            <a:extLst>
              <a:ext uri="{FF2B5EF4-FFF2-40B4-BE49-F238E27FC236}">
                <a16:creationId xmlns:a16="http://schemas.microsoft.com/office/drawing/2014/main" id="{2453FC77-9263-4C53-8F22-D64EBC3880B1}"/>
              </a:ext>
            </a:extLst>
          </p:cNvPr>
          <p:cNvSpPr/>
          <p:nvPr userDrawn="1"/>
        </p:nvSpPr>
        <p:spPr>
          <a:xfrm>
            <a:off x="2782511" y="612708"/>
            <a:ext cx="8695230" cy="5632585"/>
          </a:xfrm>
          <a:prstGeom prst="rect">
            <a:avLst/>
          </a:prstGeom>
          <a:noFill/>
          <a:ln w="19050">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elvetica" pitchFamily="2" charset="0"/>
            </a:endParaRPr>
          </a:p>
        </p:txBody>
      </p:sp>
      <p:sp>
        <p:nvSpPr>
          <p:cNvPr id="50" name="文本框 49">
            <a:extLst>
              <a:ext uri="{FF2B5EF4-FFF2-40B4-BE49-F238E27FC236}">
                <a16:creationId xmlns:a16="http://schemas.microsoft.com/office/drawing/2014/main" id="{9B3BEEB7-FA72-410F-B92D-7D208F847B83}"/>
              </a:ext>
            </a:extLst>
          </p:cNvPr>
          <p:cNvSpPr txBox="1"/>
          <p:nvPr/>
        </p:nvSpPr>
        <p:spPr>
          <a:xfrm>
            <a:off x="23448" y="2848709"/>
            <a:ext cx="2782509" cy="1574934"/>
          </a:xfrm>
          <a:prstGeom prst="rect">
            <a:avLst/>
          </a:prstGeom>
          <a:noFill/>
        </p:spPr>
        <p:txBody>
          <a:bodyPr wrap="square" lIns="0" tIns="0" rIns="0" bIns="0" rtlCol="0" anchor="ctr" anchorCtr="0">
            <a:normAutofit/>
          </a:bodyPr>
          <a:lstStyle/>
          <a:p>
            <a:pPr algn="ctr"/>
            <a:r>
              <a:rPr lang="en-US" altLang="zh-CN" sz="4400" b="1" i="0" dirty="0">
                <a:solidFill>
                  <a:schemeClr val="bg1"/>
                </a:solidFill>
                <a:latin typeface="Helvetica" pitchFamily="2" charset="0"/>
                <a:ea typeface="+mj-ea"/>
                <a:cs typeface="Arial" panose="020B0604020202020204" pitchFamily="34" charset="0"/>
              </a:rPr>
              <a:t>Contents</a:t>
            </a:r>
            <a:endParaRPr lang="zh-CN" altLang="en-US" sz="4000" b="1" i="0" dirty="0">
              <a:solidFill>
                <a:schemeClr val="bg1"/>
              </a:solidFill>
              <a:latin typeface="Helvetica" pitchFamily="2" charset="0"/>
              <a:ea typeface="+mj-ea"/>
              <a:cs typeface="Arial" panose="020B0604020202020204" pitchFamily="34" charset="0"/>
            </a:endParaRPr>
          </a:p>
        </p:txBody>
      </p:sp>
      <p:pic>
        <p:nvPicPr>
          <p:cNvPr id="47" name="图片 46">
            <a:extLst>
              <a:ext uri="{FF2B5EF4-FFF2-40B4-BE49-F238E27FC236}">
                <a16:creationId xmlns:a16="http://schemas.microsoft.com/office/drawing/2014/main" id="{C02326B7-0E5A-F24B-8BE7-D58545042AA0}"/>
              </a:ext>
            </a:extLst>
          </p:cNvPr>
          <p:cNvPicPr>
            <a:picLocks noChangeAspect="1"/>
          </p:cNvPicPr>
          <p:nvPr userDrawn="1"/>
        </p:nvPicPr>
        <p:blipFill>
          <a:blip r:embed="rId2">
            <a:alphaModFix amt="2000"/>
            <a:extLst>
              <a:ext uri="{28A0092B-C50C-407E-A947-70E740481C1C}">
                <a14:useLocalDpi xmlns:a14="http://schemas.microsoft.com/office/drawing/2010/main" val="0"/>
              </a:ext>
            </a:extLst>
          </a:blip>
          <a:stretch>
            <a:fillRect/>
          </a:stretch>
        </p:blipFill>
        <p:spPr>
          <a:xfrm>
            <a:off x="5334000" y="0"/>
            <a:ext cx="6858000" cy="6858000"/>
          </a:xfrm>
          <a:prstGeom prst="rect">
            <a:avLst/>
          </a:prstGeom>
        </p:spPr>
      </p:pic>
    </p:spTree>
    <p:extLst>
      <p:ext uri="{BB962C8B-B14F-4D97-AF65-F5344CB8AC3E}">
        <p14:creationId xmlns:p14="http://schemas.microsoft.com/office/powerpoint/2010/main" val="23175458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转场-长标题">
    <p:spTree>
      <p:nvGrpSpPr>
        <p:cNvPr id="1" name=""/>
        <p:cNvGrpSpPr/>
        <p:nvPr/>
      </p:nvGrpSpPr>
      <p:grpSpPr>
        <a:xfrm>
          <a:off x="0" y="0"/>
          <a:ext cx="0" cy="0"/>
          <a:chOff x="0" y="0"/>
          <a:chExt cx="0" cy="0"/>
        </a:xfrm>
      </p:grpSpPr>
      <p:sp>
        <p:nvSpPr>
          <p:cNvPr id="7" name="箭头: 五边形 6">
            <a:extLst>
              <a:ext uri="{FF2B5EF4-FFF2-40B4-BE49-F238E27FC236}">
                <a16:creationId xmlns:a16="http://schemas.microsoft.com/office/drawing/2014/main" id="{EF621E98-351F-489A-ADCE-3FC79FDE6DDD}"/>
              </a:ext>
            </a:extLst>
          </p:cNvPr>
          <p:cNvSpPr/>
          <p:nvPr userDrawn="1"/>
        </p:nvSpPr>
        <p:spPr>
          <a:xfrm rot="19659736">
            <a:off x="-59387" y="6355211"/>
            <a:ext cx="1593667" cy="240022"/>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5" name="箭头: 五边形 24">
            <a:extLst>
              <a:ext uri="{FF2B5EF4-FFF2-40B4-BE49-F238E27FC236}">
                <a16:creationId xmlns:a16="http://schemas.microsoft.com/office/drawing/2014/main" id="{C25A5A92-C8E6-4CA8-AB93-8B885C5EA989}"/>
              </a:ext>
            </a:extLst>
          </p:cNvPr>
          <p:cNvSpPr/>
          <p:nvPr userDrawn="1"/>
        </p:nvSpPr>
        <p:spPr>
          <a:xfrm rot="19659736">
            <a:off x="501875" y="5626509"/>
            <a:ext cx="1198809" cy="202681"/>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6" name="箭头: 五边形 25">
            <a:extLst>
              <a:ext uri="{FF2B5EF4-FFF2-40B4-BE49-F238E27FC236}">
                <a16:creationId xmlns:a16="http://schemas.microsoft.com/office/drawing/2014/main" id="{0B284135-360D-47CC-8BC2-5C03015968F7}"/>
              </a:ext>
            </a:extLst>
          </p:cNvPr>
          <p:cNvSpPr/>
          <p:nvPr userDrawn="1"/>
        </p:nvSpPr>
        <p:spPr>
          <a:xfrm rot="19659736">
            <a:off x="11343042" y="442070"/>
            <a:ext cx="869215" cy="124045"/>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27" name="箭头: 五边形 26">
            <a:extLst>
              <a:ext uri="{FF2B5EF4-FFF2-40B4-BE49-F238E27FC236}">
                <a16:creationId xmlns:a16="http://schemas.microsoft.com/office/drawing/2014/main" id="{D0824BE2-0B1A-47B1-BAAF-7C29E1879AE7}"/>
              </a:ext>
            </a:extLst>
          </p:cNvPr>
          <p:cNvSpPr/>
          <p:nvPr userDrawn="1"/>
        </p:nvSpPr>
        <p:spPr>
          <a:xfrm rot="19659736">
            <a:off x="10829985" y="427917"/>
            <a:ext cx="542830" cy="99029"/>
          </a:xfrm>
          <a:prstGeom prst="homePlate">
            <a:avLst>
              <a:gd name="adj" fmla="val 62948"/>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41655168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12" name="任意多边形: 形状 11">
            <a:extLst>
              <a:ext uri="{FF2B5EF4-FFF2-40B4-BE49-F238E27FC236}">
                <a16:creationId xmlns:a16="http://schemas.microsoft.com/office/drawing/2014/main" id="{053D6D2E-F110-4473-8442-17B28C05A741}"/>
              </a:ext>
            </a:extLst>
          </p:cNvPr>
          <p:cNvSpPr/>
          <p:nvPr/>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pic>
        <p:nvPicPr>
          <p:cNvPr id="6" name="图片 5">
            <a:extLst>
              <a:ext uri="{FF2B5EF4-FFF2-40B4-BE49-F238E27FC236}">
                <a16:creationId xmlns:a16="http://schemas.microsoft.com/office/drawing/2014/main" id="{E6BEB427-D252-4942-9F34-301C642191A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11" name="图片 10">
            <a:extLst>
              <a:ext uri="{FF2B5EF4-FFF2-40B4-BE49-F238E27FC236}">
                <a16:creationId xmlns:a16="http://schemas.microsoft.com/office/drawing/2014/main" id="{17358D7B-1DA9-9E4B-AFF1-9A13B20D43F0}"/>
              </a:ext>
            </a:extLst>
          </p:cNvPr>
          <p:cNvPicPr>
            <a:picLocks noChangeAspect="1"/>
          </p:cNvPicPr>
          <p:nvPr userDrawn="1"/>
        </p:nvPicPr>
        <p:blipFill>
          <a:blip r:embed="rId3"/>
          <a:stretch>
            <a:fillRect/>
          </a:stretch>
        </p:blipFill>
        <p:spPr>
          <a:xfrm>
            <a:off x="9966201" y="381027"/>
            <a:ext cx="1552699" cy="494974"/>
          </a:xfrm>
          <a:prstGeom prst="rect">
            <a:avLst/>
          </a:prstGeom>
        </p:spPr>
      </p:pic>
      <p:sp>
        <p:nvSpPr>
          <p:cNvPr id="8" name="标题 1">
            <a:extLst>
              <a:ext uri="{FF2B5EF4-FFF2-40B4-BE49-F238E27FC236}">
                <a16:creationId xmlns:a16="http://schemas.microsoft.com/office/drawing/2014/main" id="{ACA3C166-80E6-1B4A-AD5B-C8D47456872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i="0">
                <a:solidFill>
                  <a:schemeClr val="accent1"/>
                </a:solidFill>
                <a:latin typeface="Helvetica" pitchFamily="2" charset="0"/>
                <a:cs typeface="Arial" panose="020B0604020202020204" pitchFamily="34"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13" name="日期占位符 12">
            <a:extLst>
              <a:ext uri="{FF2B5EF4-FFF2-40B4-BE49-F238E27FC236}">
                <a16:creationId xmlns:a16="http://schemas.microsoft.com/office/drawing/2014/main" id="{4B77A5BA-0111-5844-9F86-5926B121D3FB}"/>
              </a:ext>
            </a:extLst>
          </p:cNvPr>
          <p:cNvSpPr>
            <a:spLocks noGrp="1"/>
          </p:cNvSpPr>
          <p:nvPr>
            <p:ph type="dt" sz="half" idx="10"/>
          </p:nvPr>
        </p:nvSpPr>
        <p:spPr/>
        <p:txBody>
          <a:bodyPr/>
          <a:lstStyle/>
          <a:p>
            <a:endParaRPr lang="zh-CN" altLang="en-US"/>
          </a:p>
        </p:txBody>
      </p:sp>
      <p:sp>
        <p:nvSpPr>
          <p:cNvPr id="14" name="页脚占位符 13">
            <a:extLst>
              <a:ext uri="{FF2B5EF4-FFF2-40B4-BE49-F238E27FC236}">
                <a16:creationId xmlns:a16="http://schemas.microsoft.com/office/drawing/2014/main" id="{44B829B2-7BD2-9948-8F21-7182730A06BA}"/>
              </a:ext>
            </a:extLst>
          </p:cNvPr>
          <p:cNvSpPr>
            <a:spLocks noGrp="1"/>
          </p:cNvSpPr>
          <p:nvPr>
            <p:ph type="ftr" sz="quarter" idx="11"/>
          </p:nvPr>
        </p:nvSpPr>
        <p:spPr/>
        <p:txBody>
          <a:bodyPr/>
          <a:lstStyle/>
          <a:p>
            <a:endParaRPr lang="zh-CN" altLang="en-US" dirty="0"/>
          </a:p>
        </p:txBody>
      </p:sp>
      <p:sp>
        <p:nvSpPr>
          <p:cNvPr id="15" name="灯片编号占位符 14">
            <a:extLst>
              <a:ext uri="{FF2B5EF4-FFF2-40B4-BE49-F238E27FC236}">
                <a16:creationId xmlns:a16="http://schemas.microsoft.com/office/drawing/2014/main" id="{6280651B-EA0A-1E41-B81D-87E3C43E66B9}"/>
              </a:ext>
            </a:extLst>
          </p:cNvPr>
          <p:cNvSpPr>
            <a:spLocks noGrp="1"/>
          </p:cNvSpPr>
          <p:nvPr>
            <p:ph type="sldNum" sz="quarter" idx="12"/>
          </p:nvPr>
        </p:nvSpPr>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Tree>
    <p:extLst>
      <p:ext uri="{BB962C8B-B14F-4D97-AF65-F5344CB8AC3E}">
        <p14:creationId xmlns:p14="http://schemas.microsoft.com/office/powerpoint/2010/main" val="239499903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横向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B0862E3-9A13-49FB-8057-D6463602E7B6}"/>
              </a:ext>
            </a:extLst>
          </p:cNvPr>
          <p:cNvSpPr>
            <a:spLocks noGrp="1" noChangeAspect="1"/>
          </p:cNvSpPr>
          <p:nvPr>
            <p:ph type="pic" sz="quarter" idx="13"/>
          </p:nvPr>
        </p:nvSpPr>
        <p:spPr>
          <a:xfrm>
            <a:off x="862171" y="1825888"/>
            <a:ext cx="4826535" cy="2736000"/>
          </a:xfrm>
          <a:custGeom>
            <a:avLst/>
            <a:gdLst>
              <a:gd name="connsiteX0" fmla="*/ 0 w 4241800"/>
              <a:gd name="connsiteY0" fmla="*/ 0 h 2404533"/>
              <a:gd name="connsiteX1" fmla="*/ 4241800 w 4241800"/>
              <a:gd name="connsiteY1" fmla="*/ 0 h 2404533"/>
              <a:gd name="connsiteX2" fmla="*/ 4241800 w 4241800"/>
              <a:gd name="connsiteY2" fmla="*/ 2404533 h 2404533"/>
              <a:gd name="connsiteX3" fmla="*/ 0 w 4241800"/>
              <a:gd name="connsiteY3" fmla="*/ 2404533 h 2404533"/>
            </a:gdLst>
            <a:ahLst/>
            <a:cxnLst>
              <a:cxn ang="0">
                <a:pos x="connsiteX0" y="connsiteY0"/>
              </a:cxn>
              <a:cxn ang="0">
                <a:pos x="connsiteX1" y="connsiteY1"/>
              </a:cxn>
              <a:cxn ang="0">
                <a:pos x="connsiteX2" y="connsiteY2"/>
              </a:cxn>
              <a:cxn ang="0">
                <a:pos x="connsiteX3" y="connsiteY3"/>
              </a:cxn>
            </a:cxnLst>
            <a:rect l="l" t="t" r="r" b="b"/>
            <a:pathLst>
              <a:path w="4241800" h="2404533">
                <a:moveTo>
                  <a:pt x="0" y="0"/>
                </a:moveTo>
                <a:lnTo>
                  <a:pt x="4241800" y="0"/>
                </a:lnTo>
                <a:lnTo>
                  <a:pt x="4241800" y="2404533"/>
                </a:lnTo>
                <a:lnTo>
                  <a:pt x="0" y="2404533"/>
                </a:lnTo>
                <a:close/>
              </a:path>
            </a:pathLst>
          </a:custGeom>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33B73963-4941-42F0-9B00-7431FEF61A6C}"/>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9C71AABC-C91A-43D0-9AF8-0B6162EDCDD1}"/>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A32A9019-0CBC-4C4A-90F0-2676ED9FCD3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1D06DB6D-BC70-544C-8EA4-3A3874C968F6}"/>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8173633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692274" y="1541374"/>
            <a:ext cx="3238088" cy="4320000"/>
          </a:xfrm>
        </p:spPr>
        <p:txBody>
          <a:bodyPr/>
          <a:lstStyle/>
          <a:p>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80DB1628-9D3D-4F59-B275-C695A900F19A}"/>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F01A7288-9F85-304B-887D-2D1E13D7A252}"/>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DE14FD2D-7810-B34E-8AFB-9A17BDEA7011}"/>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10986578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图片-圆形">
    <p:spTree>
      <p:nvGrpSpPr>
        <p:cNvPr id="1" name=""/>
        <p:cNvGrpSpPr/>
        <p:nvPr/>
      </p:nvGrpSpPr>
      <p:grpSpPr>
        <a:xfrm>
          <a:off x="0" y="0"/>
          <a:ext cx="0" cy="0"/>
          <a:chOff x="0" y="0"/>
          <a:chExt cx="0" cy="0"/>
        </a:xfrm>
      </p:grpSpPr>
      <p:sp>
        <p:nvSpPr>
          <p:cNvPr id="93" name="任意多边形: 形状 92">
            <a:extLst>
              <a:ext uri="{FF2B5EF4-FFF2-40B4-BE49-F238E27FC236}">
                <a16:creationId xmlns:a16="http://schemas.microsoft.com/office/drawing/2014/main" id="{F03BE017-E7F3-4A34-ABC3-ECA964258175}"/>
              </a:ext>
            </a:extLst>
          </p:cNvPr>
          <p:cNvSpPr/>
          <p:nvPr userDrawn="1"/>
        </p:nvSpPr>
        <p:spPr>
          <a:xfrm>
            <a:off x="660400" y="1531871"/>
            <a:ext cx="10858500" cy="4491875"/>
          </a:xfrm>
          <a:custGeom>
            <a:avLst/>
            <a:gdLst>
              <a:gd name="connsiteX0" fmla="*/ 2682382 w 10858500"/>
              <a:gd name="connsiteY0" fmla="*/ 0 h 4491875"/>
              <a:gd name="connsiteX1" fmla="*/ 4661514 w 10858500"/>
              <a:gd name="connsiteY1" fmla="*/ 1979131 h 4491875"/>
              <a:gd name="connsiteX2" fmla="*/ 4081840 w 10858500"/>
              <a:gd name="connsiteY2" fmla="*/ 3378588 h 4491875"/>
              <a:gd name="connsiteX3" fmla="*/ 3948253 w 10858500"/>
              <a:gd name="connsiteY3" fmla="*/ 3500000 h 4491875"/>
              <a:gd name="connsiteX4" fmla="*/ 10858500 w 10858500"/>
              <a:gd name="connsiteY4" fmla="*/ 3500000 h 4491875"/>
              <a:gd name="connsiteX5" fmla="*/ 10858500 w 10858500"/>
              <a:gd name="connsiteY5" fmla="*/ 4491875 h 4491875"/>
              <a:gd name="connsiteX6" fmla="*/ 0 w 10858500"/>
              <a:gd name="connsiteY6" fmla="*/ 4491875 h 4491875"/>
              <a:gd name="connsiteX7" fmla="*/ 0 w 10858500"/>
              <a:gd name="connsiteY7" fmla="*/ 3500000 h 4491875"/>
              <a:gd name="connsiteX8" fmla="*/ 1416512 w 10858500"/>
              <a:gd name="connsiteY8" fmla="*/ 3500000 h 4491875"/>
              <a:gd name="connsiteX9" fmla="*/ 1282925 w 10858500"/>
              <a:gd name="connsiteY9" fmla="*/ 3378588 h 4491875"/>
              <a:gd name="connsiteX10" fmla="*/ 703250 w 10858500"/>
              <a:gd name="connsiteY10" fmla="*/ 1979131 h 4491875"/>
              <a:gd name="connsiteX11" fmla="*/ 2682382 w 10858500"/>
              <a:gd name="connsiteY11" fmla="*/ 0 h 449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858500" h="4491875">
                <a:moveTo>
                  <a:pt x="2682382" y="0"/>
                </a:moveTo>
                <a:cubicBezTo>
                  <a:pt x="3775426" y="0"/>
                  <a:pt x="4661514" y="886087"/>
                  <a:pt x="4661514" y="1979131"/>
                </a:cubicBezTo>
                <a:cubicBezTo>
                  <a:pt x="4661514" y="2525653"/>
                  <a:pt x="4439992" y="3020436"/>
                  <a:pt x="4081840" y="3378588"/>
                </a:cubicBezTo>
                <a:lnTo>
                  <a:pt x="3948253" y="3500000"/>
                </a:lnTo>
                <a:lnTo>
                  <a:pt x="10858500" y="3500000"/>
                </a:lnTo>
                <a:lnTo>
                  <a:pt x="10858500" y="4491875"/>
                </a:lnTo>
                <a:lnTo>
                  <a:pt x="0" y="4491875"/>
                </a:lnTo>
                <a:lnTo>
                  <a:pt x="0" y="3500000"/>
                </a:lnTo>
                <a:lnTo>
                  <a:pt x="1416512" y="3500000"/>
                </a:lnTo>
                <a:lnTo>
                  <a:pt x="1282925" y="3378588"/>
                </a:lnTo>
                <a:cubicBezTo>
                  <a:pt x="924772" y="3020436"/>
                  <a:pt x="703250" y="2525653"/>
                  <a:pt x="703250" y="1979131"/>
                </a:cubicBezTo>
                <a:cubicBezTo>
                  <a:pt x="703250" y="886087"/>
                  <a:pt x="1589338" y="0"/>
                  <a:pt x="2682382" y="0"/>
                </a:cubicBezTo>
                <a:close/>
              </a:path>
            </a:pathLst>
          </a:custGeom>
          <a:solidFill>
            <a:schemeClr val="accent1"/>
          </a:solidFill>
          <a:ln w="19050">
            <a:noFill/>
          </a:ln>
          <a:effectLst>
            <a:outerShdw blurRad="127000" algn="c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b="0" i="0" dirty="0">
              <a:latin typeface="Helvetica Regular" pitchFamily="2" charset="0"/>
              <a:cs typeface="+mn-ea"/>
              <a:sym typeface="+mn-lt"/>
            </a:endParaRPr>
          </a:p>
        </p:txBody>
      </p:sp>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任意多边形: 形状 90">
            <a:extLst>
              <a:ext uri="{FF2B5EF4-FFF2-40B4-BE49-F238E27FC236}">
                <a16:creationId xmlns:a16="http://schemas.microsoft.com/office/drawing/2014/main" id="{1727DAFC-E61B-4F89-B5C2-9CC360B9928B}"/>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图片占位符 91">
            <a:extLst>
              <a:ext uri="{FF2B5EF4-FFF2-40B4-BE49-F238E27FC236}">
                <a16:creationId xmlns:a16="http://schemas.microsoft.com/office/drawing/2014/main" id="{D3B0A0DB-185C-4430-9224-1C0A227377F5}"/>
              </a:ext>
            </a:extLst>
          </p:cNvPr>
          <p:cNvSpPr>
            <a:spLocks noGrp="1" noChangeAspect="1"/>
          </p:cNvSpPr>
          <p:nvPr>
            <p:ph type="pic" sz="quarter" idx="13"/>
          </p:nvPr>
        </p:nvSpPr>
        <p:spPr>
          <a:xfrm>
            <a:off x="1451524" y="1608975"/>
            <a:ext cx="3780000" cy="3780000"/>
          </a:xfrm>
          <a:custGeom>
            <a:avLst/>
            <a:gdLst>
              <a:gd name="connsiteX0" fmla="*/ 1657350 w 3314700"/>
              <a:gd name="connsiteY0" fmla="*/ 0 h 3314700"/>
              <a:gd name="connsiteX1" fmla="*/ 3314700 w 3314700"/>
              <a:gd name="connsiteY1" fmla="*/ 1657350 h 3314700"/>
              <a:gd name="connsiteX2" fmla="*/ 1657350 w 3314700"/>
              <a:gd name="connsiteY2" fmla="*/ 3314700 h 3314700"/>
              <a:gd name="connsiteX3" fmla="*/ 0 w 3314700"/>
              <a:gd name="connsiteY3" fmla="*/ 1657350 h 3314700"/>
              <a:gd name="connsiteX4" fmla="*/ 1657350 w 3314700"/>
              <a:gd name="connsiteY4" fmla="*/ 0 h 3314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700" h="3314700">
                <a:moveTo>
                  <a:pt x="1657350" y="0"/>
                </a:moveTo>
                <a:cubicBezTo>
                  <a:pt x="2572679" y="0"/>
                  <a:pt x="3314700" y="742021"/>
                  <a:pt x="3314700" y="1657350"/>
                </a:cubicBezTo>
                <a:cubicBezTo>
                  <a:pt x="3314700" y="2572679"/>
                  <a:pt x="2572679" y="3314700"/>
                  <a:pt x="1657350" y="3314700"/>
                </a:cubicBezTo>
                <a:cubicBezTo>
                  <a:pt x="742021" y="3314700"/>
                  <a:pt x="0" y="2572679"/>
                  <a:pt x="0" y="1657350"/>
                </a:cubicBezTo>
                <a:cubicBezTo>
                  <a:pt x="0" y="742021"/>
                  <a:pt x="742021" y="0"/>
                  <a:pt x="1657350" y="0"/>
                </a:cubicBezTo>
                <a:close/>
              </a:path>
            </a:pathLst>
          </a:custGeom>
        </p:spPr>
        <p:txBody>
          <a:bodyPr wrap="square" anchor="ctr" anchorCtr="0">
            <a:noAutofit/>
          </a:bodyPr>
          <a:lstStyle/>
          <a:p>
            <a:endParaRPr lang="zh-CN" altLang="en-US" dirty="0"/>
          </a:p>
        </p:txBody>
      </p:sp>
      <p:sp>
        <p:nvSpPr>
          <p:cNvPr id="90" name="标题 1">
            <a:extLst>
              <a:ext uri="{FF2B5EF4-FFF2-40B4-BE49-F238E27FC236}">
                <a16:creationId xmlns:a16="http://schemas.microsoft.com/office/drawing/2014/main" id="{E3FA308D-84A8-4382-ADA4-2CD6EA62223C}"/>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68876A75-1BD3-9D4E-9D34-C6453E6DC7DB}"/>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48222E54-5ACA-6D4B-9A58-9B51C83B622D}"/>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2454461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0" name="图片占位符 6">
            <a:extLst>
              <a:ext uri="{FF2B5EF4-FFF2-40B4-BE49-F238E27FC236}">
                <a16:creationId xmlns:a16="http://schemas.microsoft.com/office/drawing/2014/main" id="{B49F2142-CAF1-4747-9CF9-CF77EE8A9159}"/>
              </a:ext>
            </a:extLst>
          </p:cNvPr>
          <p:cNvSpPr>
            <a:spLocks noGrp="1" noChangeAspect="1"/>
          </p:cNvSpPr>
          <p:nvPr>
            <p:ph type="pic" sz="quarter" idx="10"/>
          </p:nvPr>
        </p:nvSpPr>
        <p:spPr>
          <a:xfrm>
            <a:off x="1114722" y="1132945"/>
            <a:ext cx="1735608" cy="2315510"/>
          </a:xfrm>
        </p:spPr>
        <p:txBody>
          <a:bodyPr/>
          <a:lstStyle/>
          <a:p>
            <a:endParaRPr lang="zh-CN" altLang="en-US" dirty="0"/>
          </a:p>
        </p:txBody>
      </p:sp>
      <p:sp>
        <p:nvSpPr>
          <p:cNvPr id="91" name="图片占位符 6">
            <a:extLst>
              <a:ext uri="{FF2B5EF4-FFF2-40B4-BE49-F238E27FC236}">
                <a16:creationId xmlns:a16="http://schemas.microsoft.com/office/drawing/2014/main" id="{260C43B2-4304-44E2-A6F0-062D59008B9B}"/>
              </a:ext>
            </a:extLst>
          </p:cNvPr>
          <p:cNvSpPr>
            <a:spLocks noGrp="1" noChangeAspect="1"/>
          </p:cNvSpPr>
          <p:nvPr>
            <p:ph type="pic" sz="quarter" idx="13"/>
          </p:nvPr>
        </p:nvSpPr>
        <p:spPr>
          <a:xfrm>
            <a:off x="9351363" y="3674135"/>
            <a:ext cx="1755000" cy="2341381"/>
          </a:xfrm>
        </p:spPr>
        <p:txBody>
          <a:bodyPr/>
          <a:lstStyle/>
          <a:p>
            <a:endParaRPr lang="zh-CN" altLang="en-US" dirty="0"/>
          </a:p>
        </p:txBody>
      </p:sp>
      <p:sp>
        <p:nvSpPr>
          <p:cNvPr id="92" name="任意多边形: 形状 91">
            <a:extLst>
              <a:ext uri="{FF2B5EF4-FFF2-40B4-BE49-F238E27FC236}">
                <a16:creationId xmlns:a16="http://schemas.microsoft.com/office/drawing/2014/main" id="{11D8ADCD-C58A-41B8-80C4-2341BB348593}"/>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3" name="标题 1">
            <a:extLst>
              <a:ext uri="{FF2B5EF4-FFF2-40B4-BE49-F238E27FC236}">
                <a16:creationId xmlns:a16="http://schemas.microsoft.com/office/drawing/2014/main" id="{841EB5B4-0657-4AE7-A427-642106D598DF}"/>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4" name="图片 93">
            <a:extLst>
              <a:ext uri="{FF2B5EF4-FFF2-40B4-BE49-F238E27FC236}">
                <a16:creationId xmlns:a16="http://schemas.microsoft.com/office/drawing/2014/main" id="{EC81340F-C45F-6B4F-9864-73BF32BA909D}"/>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8" name="图片 97">
            <a:extLst>
              <a:ext uri="{FF2B5EF4-FFF2-40B4-BE49-F238E27FC236}">
                <a16:creationId xmlns:a16="http://schemas.microsoft.com/office/drawing/2014/main" id="{31D45924-509B-5D4C-A99D-FF1FB6F34BEF}"/>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30649390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图片">
    <p:spTree>
      <p:nvGrpSpPr>
        <p:cNvPr id="1" name=""/>
        <p:cNvGrpSpPr/>
        <p:nvPr/>
      </p:nvGrpSpPr>
      <p:grpSpPr>
        <a:xfrm>
          <a:off x="0" y="0"/>
          <a:ext cx="0" cy="0"/>
          <a:chOff x="0" y="0"/>
          <a:chExt cx="0" cy="0"/>
        </a:xfrm>
      </p:grpSpPr>
      <p:cxnSp>
        <p:nvCxnSpPr>
          <p:cNvPr id="5" name="直接连接符 4">
            <a:extLst>
              <a:ext uri="{FF2B5EF4-FFF2-40B4-BE49-F238E27FC236}">
                <a16:creationId xmlns:a16="http://schemas.microsoft.com/office/drawing/2014/main" id="{FEFA6140-51C5-4185-BAC6-C973BE6BC646}"/>
              </a:ext>
            </a:extLst>
          </p:cNvPr>
          <p:cNvCxnSpPr>
            <a:cxnSpLocks/>
          </p:cNvCxnSpPr>
          <p:nvPr userDrawn="1"/>
        </p:nvCxnSpPr>
        <p:spPr>
          <a:xfrm>
            <a:off x="660400" y="6238240"/>
            <a:ext cx="10858500" cy="0"/>
          </a:xfrm>
          <a:prstGeom prst="line">
            <a:avLst/>
          </a:prstGeom>
          <a:ln w="3175" cap="rnd">
            <a:solidFill>
              <a:schemeClr val="bg1">
                <a:lumMod val="75000"/>
                <a:alpha val="47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灯片编号占位符 6">
            <a:extLst>
              <a:ext uri="{FF2B5EF4-FFF2-40B4-BE49-F238E27FC236}">
                <a16:creationId xmlns:a16="http://schemas.microsoft.com/office/drawing/2014/main" id="{1432E0A4-1678-4295-A72D-EFF568FFBAD8}"/>
              </a:ext>
            </a:extLst>
          </p:cNvPr>
          <p:cNvSpPr>
            <a:spLocks noGrp="1"/>
          </p:cNvSpPr>
          <p:nvPr userDrawn="1">
            <p:ph type="sldNum" sz="quarter" idx="12"/>
          </p:nvPr>
        </p:nvSpPr>
        <p:spPr>
          <a:xfrm>
            <a:off x="8746825" y="6356349"/>
            <a:ext cx="2743200" cy="365125"/>
          </a:xfrm>
        </p:spPr>
        <p:txBody>
          <a:bodyPr/>
          <a:lstStyle>
            <a:lvl1pPr>
              <a:defRPr>
                <a:solidFill>
                  <a:schemeClr val="tx1"/>
                </a:solidFill>
              </a:defRPr>
            </a:lvl1pPr>
          </a:lstStyle>
          <a:p>
            <a:fld id="{2515AB8F-1C56-49E9-90C8-78D22B0C1B97}" type="slidenum">
              <a:rPr lang="zh-CN" altLang="en-US" smtClean="0"/>
              <a:pPr/>
              <a:t>‹#›</a:t>
            </a:fld>
            <a:endParaRPr lang="zh-CN" altLang="en-US" dirty="0"/>
          </a:p>
        </p:txBody>
      </p:sp>
      <p:sp>
        <p:nvSpPr>
          <p:cNvPr id="91" name="图片占位符 90">
            <a:extLst>
              <a:ext uri="{FF2B5EF4-FFF2-40B4-BE49-F238E27FC236}">
                <a16:creationId xmlns:a16="http://schemas.microsoft.com/office/drawing/2014/main" id="{1D88D36A-B7BF-4F3A-AA10-0BECE80A557F}"/>
              </a:ext>
            </a:extLst>
          </p:cNvPr>
          <p:cNvSpPr>
            <a:spLocks noGrp="1"/>
          </p:cNvSpPr>
          <p:nvPr>
            <p:ph type="pic" sz="quarter" idx="13"/>
          </p:nvPr>
        </p:nvSpPr>
        <p:spPr>
          <a:xfrm>
            <a:off x="1219984"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5" name="图片占位符 94">
            <a:extLst>
              <a:ext uri="{FF2B5EF4-FFF2-40B4-BE49-F238E27FC236}">
                <a16:creationId xmlns:a16="http://schemas.microsoft.com/office/drawing/2014/main" id="{DEC9F75E-9249-4FFE-AF96-E92B201A183F}"/>
              </a:ext>
            </a:extLst>
          </p:cNvPr>
          <p:cNvSpPr>
            <a:spLocks noGrp="1"/>
          </p:cNvSpPr>
          <p:nvPr>
            <p:ph type="pic" sz="quarter" idx="14"/>
          </p:nvPr>
        </p:nvSpPr>
        <p:spPr>
          <a:xfrm>
            <a:off x="9369946"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8" name="图片占位符 97">
            <a:extLst>
              <a:ext uri="{FF2B5EF4-FFF2-40B4-BE49-F238E27FC236}">
                <a16:creationId xmlns:a16="http://schemas.microsoft.com/office/drawing/2014/main" id="{E7782F2A-850E-4B5F-8330-CF50AC9EFA7B}"/>
              </a:ext>
            </a:extLst>
          </p:cNvPr>
          <p:cNvSpPr>
            <a:spLocks noGrp="1"/>
          </p:cNvSpPr>
          <p:nvPr>
            <p:ph type="pic" sz="quarter" idx="15"/>
          </p:nvPr>
        </p:nvSpPr>
        <p:spPr>
          <a:xfrm>
            <a:off x="3936638"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9" name="图片占位符 98">
            <a:extLst>
              <a:ext uri="{FF2B5EF4-FFF2-40B4-BE49-F238E27FC236}">
                <a16:creationId xmlns:a16="http://schemas.microsoft.com/office/drawing/2014/main" id="{25096E3E-9433-4D85-BA39-301B214A355E}"/>
              </a:ext>
            </a:extLst>
          </p:cNvPr>
          <p:cNvSpPr>
            <a:spLocks noGrp="1"/>
          </p:cNvSpPr>
          <p:nvPr>
            <p:ph type="pic" sz="quarter" idx="16"/>
          </p:nvPr>
        </p:nvSpPr>
        <p:spPr>
          <a:xfrm>
            <a:off x="6653292" y="1645829"/>
            <a:ext cx="1755000" cy="1755000"/>
          </a:xfrm>
          <a:custGeom>
            <a:avLst/>
            <a:gdLst>
              <a:gd name="connsiteX0" fmla="*/ 877500 w 1755000"/>
              <a:gd name="connsiteY0" fmla="*/ 0 h 1755000"/>
              <a:gd name="connsiteX1" fmla="*/ 1755000 w 1755000"/>
              <a:gd name="connsiteY1" fmla="*/ 877500 h 1755000"/>
              <a:gd name="connsiteX2" fmla="*/ 877500 w 1755000"/>
              <a:gd name="connsiteY2" fmla="*/ 1755000 h 1755000"/>
              <a:gd name="connsiteX3" fmla="*/ 0 w 1755000"/>
              <a:gd name="connsiteY3" fmla="*/ 877500 h 1755000"/>
              <a:gd name="connsiteX4" fmla="*/ 877500 w 1755000"/>
              <a:gd name="connsiteY4" fmla="*/ 0 h 175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5000" h="1755000">
                <a:moveTo>
                  <a:pt x="877500" y="0"/>
                </a:moveTo>
                <a:cubicBezTo>
                  <a:pt x="1362130" y="0"/>
                  <a:pt x="1755000" y="392870"/>
                  <a:pt x="1755000" y="877500"/>
                </a:cubicBezTo>
                <a:cubicBezTo>
                  <a:pt x="1755000" y="1362130"/>
                  <a:pt x="1362130" y="1755000"/>
                  <a:pt x="877500" y="1755000"/>
                </a:cubicBezTo>
                <a:cubicBezTo>
                  <a:pt x="392870" y="1755000"/>
                  <a:pt x="0" y="1362130"/>
                  <a:pt x="0" y="877500"/>
                </a:cubicBezTo>
                <a:cubicBezTo>
                  <a:pt x="0" y="392870"/>
                  <a:pt x="392870" y="0"/>
                  <a:pt x="877500" y="0"/>
                </a:cubicBezTo>
                <a:close/>
              </a:path>
            </a:pathLst>
          </a:custGeom>
          <a:ln w="47625">
            <a:gradFill flip="none" rotWithShape="1">
              <a:gsLst>
                <a:gs pos="0">
                  <a:schemeClr val="accent1">
                    <a:alpha val="0"/>
                  </a:schemeClr>
                </a:gs>
                <a:gs pos="100000">
                  <a:schemeClr val="accent1"/>
                </a:gs>
              </a:gsLst>
              <a:lin ang="2700000" scaled="1"/>
              <a:tileRect/>
            </a:gradFill>
          </a:ln>
        </p:spPr>
        <p:txBody>
          <a:bodyPr wrap="square">
            <a:noAutofit/>
          </a:bodyPr>
          <a:lstStyle/>
          <a:p>
            <a:endParaRPr lang="zh-CN" altLang="en-US"/>
          </a:p>
        </p:txBody>
      </p:sp>
      <p:sp>
        <p:nvSpPr>
          <p:cNvPr id="90" name="任意多边形: 形状 89">
            <a:extLst>
              <a:ext uri="{FF2B5EF4-FFF2-40B4-BE49-F238E27FC236}">
                <a16:creationId xmlns:a16="http://schemas.microsoft.com/office/drawing/2014/main" id="{DF883148-B063-4C5A-9CC7-CE69774A8C94}"/>
              </a:ext>
            </a:extLst>
          </p:cNvPr>
          <p:cNvSpPr/>
          <p:nvPr userDrawn="1"/>
        </p:nvSpPr>
        <p:spPr bwMode="auto">
          <a:xfrm rot="5400000">
            <a:off x="93484" y="218081"/>
            <a:ext cx="1133344" cy="494119"/>
          </a:xfrm>
          <a:custGeom>
            <a:avLst/>
            <a:gdLst>
              <a:gd name="connsiteX0" fmla="*/ 0 w 4641513"/>
              <a:gd name="connsiteY0" fmla="*/ 0 h 2088000"/>
              <a:gd name="connsiteX1" fmla="*/ 3814008 w 4641513"/>
              <a:gd name="connsiteY1" fmla="*/ 0 h 2088000"/>
              <a:gd name="connsiteX2" fmla="*/ 4641513 w 4641513"/>
              <a:gd name="connsiteY2" fmla="*/ 1044000 h 2088000"/>
              <a:gd name="connsiteX3" fmla="*/ 3814008 w 4641513"/>
              <a:gd name="connsiteY3" fmla="*/ 2087999 h 2088000"/>
              <a:gd name="connsiteX4" fmla="*/ 3814008 w 4641513"/>
              <a:gd name="connsiteY4" fmla="*/ 2088000 h 2088000"/>
              <a:gd name="connsiteX5" fmla="*/ 0 w 4641513"/>
              <a:gd name="connsiteY5" fmla="*/ 2088000 h 20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41513" h="2088000">
                <a:moveTo>
                  <a:pt x="0" y="0"/>
                </a:moveTo>
                <a:lnTo>
                  <a:pt x="3814008" y="0"/>
                </a:lnTo>
                <a:lnTo>
                  <a:pt x="4641513" y="1044000"/>
                </a:lnTo>
                <a:lnTo>
                  <a:pt x="3814008" y="2087999"/>
                </a:lnTo>
                <a:lnTo>
                  <a:pt x="3814008" y="2088000"/>
                </a:lnTo>
                <a:lnTo>
                  <a:pt x="0" y="2088000"/>
                </a:lnTo>
                <a:close/>
              </a:path>
            </a:pathLst>
          </a:custGeom>
          <a:solidFill>
            <a:schemeClr val="accent1"/>
          </a:solidFill>
          <a:ln>
            <a:noFill/>
          </a:ln>
          <a:effectLst/>
        </p:spPr>
        <p:txBody>
          <a:bodyPr vert="horz" wrap="square" lIns="91440" tIns="45720" rIns="91440" bIns="45720" numCol="1" anchor="ctr" anchorCtr="0" compatLnSpc="1">
            <a:prstTxWarp prst="textNoShape">
              <a:avLst/>
            </a:prstTxWarp>
            <a:noAutofit/>
          </a:bodyPr>
          <a:lstStyle/>
          <a:p>
            <a:pPr algn="ctr">
              <a:lnSpc>
                <a:spcPct val="130000"/>
              </a:lnSpc>
            </a:pPr>
            <a:endParaRPr lang="en-US" sz="4000" b="0" i="0" dirty="0">
              <a:solidFill>
                <a:schemeClr val="accent3"/>
              </a:solidFill>
              <a:latin typeface="Helvetica Regular" pitchFamily="2" charset="0"/>
              <a:cs typeface="+mn-ea"/>
              <a:sym typeface="+mn-lt"/>
            </a:endParaRPr>
          </a:p>
        </p:txBody>
      </p:sp>
      <p:sp>
        <p:nvSpPr>
          <p:cNvPr id="92" name="标题 1">
            <a:extLst>
              <a:ext uri="{FF2B5EF4-FFF2-40B4-BE49-F238E27FC236}">
                <a16:creationId xmlns:a16="http://schemas.microsoft.com/office/drawing/2014/main" id="{B8A4FF80-ED1E-4D1D-9434-215EB5FB872B}"/>
              </a:ext>
            </a:extLst>
          </p:cNvPr>
          <p:cNvSpPr>
            <a:spLocks noGrp="1"/>
          </p:cNvSpPr>
          <p:nvPr>
            <p:ph type="title" hasCustomPrompt="1"/>
          </p:nvPr>
        </p:nvSpPr>
        <p:spPr>
          <a:xfrm>
            <a:off x="1091255" y="237834"/>
            <a:ext cx="8168208" cy="790865"/>
          </a:xfrm>
        </p:spPr>
        <p:txBody>
          <a:bodyPr wrap="square" lIns="0" tIns="0" rIns="0" bIns="0">
            <a:normAutofit/>
          </a:bodyPr>
          <a:lstStyle>
            <a:lvl1pPr>
              <a:defRPr sz="3600" b="1">
                <a:solidFill>
                  <a:schemeClr val="accent1"/>
                </a:solidFill>
                <a:latin typeface="Helvetica" pitchFamily="2" charset="0"/>
              </a:defRPr>
            </a:lvl1pPr>
          </a:lstStyle>
          <a:p>
            <a:r>
              <a:rPr lang="en-US" altLang="zh-CN" dirty="0"/>
              <a:t>Here</a:t>
            </a:r>
            <a:r>
              <a:rPr lang="zh-CN" altLang="en-US" dirty="0"/>
              <a:t> </a:t>
            </a:r>
            <a:r>
              <a:rPr lang="en-US" altLang="zh-CN" dirty="0"/>
              <a:t>is</a:t>
            </a:r>
            <a:r>
              <a:rPr lang="zh-CN" altLang="en-US" dirty="0"/>
              <a:t> </a:t>
            </a:r>
            <a:r>
              <a:rPr lang="en-US" altLang="zh-CN" dirty="0"/>
              <a:t>title</a:t>
            </a:r>
            <a:r>
              <a:rPr lang="zh-CN" altLang="en-US" dirty="0"/>
              <a:t> </a:t>
            </a:r>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pic>
        <p:nvPicPr>
          <p:cNvPr id="93" name="图片 92">
            <a:extLst>
              <a:ext uri="{FF2B5EF4-FFF2-40B4-BE49-F238E27FC236}">
                <a16:creationId xmlns:a16="http://schemas.microsoft.com/office/drawing/2014/main" id="{B3A067A2-39E8-0940-8B54-688BC270D1DC}"/>
              </a:ext>
            </a:extLst>
          </p:cNvPr>
          <p:cNvPicPr>
            <a:picLocks noChangeAspect="1"/>
          </p:cNvPicPr>
          <p:nvPr userDrawn="1"/>
        </p:nvPicPr>
        <p:blipFill>
          <a:blip r:embed="rId2"/>
          <a:stretch>
            <a:fillRect/>
          </a:stretch>
        </p:blipFill>
        <p:spPr>
          <a:xfrm>
            <a:off x="744128" y="6420492"/>
            <a:ext cx="958362" cy="236837"/>
          </a:xfrm>
          <a:prstGeom prst="rect">
            <a:avLst/>
          </a:prstGeom>
        </p:spPr>
      </p:pic>
      <p:pic>
        <p:nvPicPr>
          <p:cNvPr id="97" name="图片 96">
            <a:extLst>
              <a:ext uri="{FF2B5EF4-FFF2-40B4-BE49-F238E27FC236}">
                <a16:creationId xmlns:a16="http://schemas.microsoft.com/office/drawing/2014/main" id="{7D982EDC-1B4A-034E-9CE9-9172DBAF4898}"/>
              </a:ext>
            </a:extLst>
          </p:cNvPr>
          <p:cNvPicPr>
            <a:picLocks noChangeAspect="1"/>
          </p:cNvPicPr>
          <p:nvPr userDrawn="1"/>
        </p:nvPicPr>
        <p:blipFill>
          <a:blip r:embed="rId3"/>
          <a:stretch>
            <a:fillRect/>
          </a:stretch>
        </p:blipFill>
        <p:spPr>
          <a:xfrm>
            <a:off x="9966201" y="381027"/>
            <a:ext cx="1552699" cy="494974"/>
          </a:xfrm>
          <a:prstGeom prst="rect">
            <a:avLst/>
          </a:prstGeom>
        </p:spPr>
      </p:pic>
    </p:spTree>
    <p:extLst>
      <p:ext uri="{BB962C8B-B14F-4D97-AF65-F5344CB8AC3E}">
        <p14:creationId xmlns:p14="http://schemas.microsoft.com/office/powerpoint/2010/main" val="40898308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空白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9291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结束页 幻灯片">
    <p:bg>
      <p:bgPr>
        <a:solidFill>
          <a:schemeClr val="bg1"/>
        </a:solidFill>
        <a:effectLst/>
      </p:bgPr>
    </p:bg>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5F00C798-F4CB-49E3-81E0-4CD12D5AEAD6}"/>
              </a:ext>
            </a:extLst>
          </p:cNvPr>
          <p:cNvSpPr>
            <a:spLocks noGrp="1"/>
          </p:cNvSpPr>
          <p:nvPr>
            <p:ph type="body" sz="quarter" idx="10" hasCustomPrompt="1"/>
          </p:nvPr>
        </p:nvSpPr>
        <p:spPr>
          <a:xfrm>
            <a:off x="3735420" y="2971800"/>
            <a:ext cx="7783479" cy="914400"/>
          </a:xfrm>
        </p:spPr>
        <p:txBody>
          <a:bodyPr anchor="ctr" anchorCtr="0">
            <a:normAutofit/>
          </a:bodyPr>
          <a:lstStyle>
            <a:lvl1pPr marL="0" indent="0" algn="ctr">
              <a:buNone/>
              <a:defRPr sz="5400" b="1">
                <a:solidFill>
                  <a:schemeClr val="accent1"/>
                </a:solidFill>
                <a:latin typeface="Helvetica" pitchFamily="2" charset="0"/>
              </a:defRPr>
            </a:lvl1pPr>
          </a:lstStyle>
          <a:p>
            <a:pPr lvl="0"/>
            <a:r>
              <a:rPr lang="en-US" altLang="zh-CN" dirty="0"/>
              <a:t>Here</a:t>
            </a:r>
            <a:r>
              <a:rPr lang="zh-CN" altLang="en-US" dirty="0"/>
              <a:t> </a:t>
            </a:r>
            <a:r>
              <a:rPr lang="en-US" altLang="zh-CN" dirty="0"/>
              <a:t>is</a:t>
            </a:r>
            <a:r>
              <a:rPr lang="zh-CN" altLang="en-US" dirty="0"/>
              <a:t> </a:t>
            </a:r>
            <a:r>
              <a:rPr lang="en-US" altLang="zh-CN" dirty="0"/>
              <a:t>text</a:t>
            </a:r>
            <a:r>
              <a:rPr lang="zh-CN" altLang="en-US" dirty="0"/>
              <a:t> </a:t>
            </a:r>
            <a:endParaRPr lang="en-US" altLang="zh-CN" dirty="0"/>
          </a:p>
          <a:p>
            <a:pPr lvl="0"/>
            <a:r>
              <a:rPr lang="en-US" altLang="zh-CN" dirty="0"/>
              <a:t>(Helvetica</a:t>
            </a:r>
            <a:r>
              <a:rPr lang="zh-CN" altLang="en-US" dirty="0"/>
              <a:t> </a:t>
            </a:r>
            <a:r>
              <a:rPr lang="en-US" altLang="zh-CN" dirty="0"/>
              <a:t>/</a:t>
            </a:r>
            <a:r>
              <a:rPr lang="zh-CN" altLang="en-US" dirty="0"/>
              <a:t> </a:t>
            </a:r>
            <a:r>
              <a:rPr lang="en-US" altLang="zh-CN" dirty="0"/>
              <a:t>Arial</a:t>
            </a:r>
            <a:r>
              <a:rPr lang="zh-CN" altLang="en-US" dirty="0"/>
              <a:t> </a:t>
            </a:r>
            <a:r>
              <a:rPr lang="en-US" altLang="zh-CN" dirty="0"/>
              <a:t>36Pt)</a:t>
            </a:r>
            <a:endParaRPr lang="zh-CN" altLang="en-US" dirty="0"/>
          </a:p>
        </p:txBody>
      </p:sp>
      <p:sp>
        <p:nvSpPr>
          <p:cNvPr id="6" name="箭头: 五边形 5">
            <a:extLst>
              <a:ext uri="{FF2B5EF4-FFF2-40B4-BE49-F238E27FC236}">
                <a16:creationId xmlns:a16="http://schemas.microsoft.com/office/drawing/2014/main" id="{8C1695A4-3593-4E25-8722-4214E3CC76B6}"/>
              </a:ext>
            </a:extLst>
          </p:cNvPr>
          <p:cNvSpPr/>
          <p:nvPr userDrawn="1"/>
        </p:nvSpPr>
        <p:spPr>
          <a:xfrm rot="16200000">
            <a:off x="10605854" y="5156200"/>
            <a:ext cx="2879387" cy="3403600"/>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箭头: 五边形 7">
            <a:extLst>
              <a:ext uri="{FF2B5EF4-FFF2-40B4-BE49-F238E27FC236}">
                <a16:creationId xmlns:a16="http://schemas.microsoft.com/office/drawing/2014/main" id="{A29C0276-5751-4797-BFA5-F68D05ACBB63}"/>
              </a:ext>
            </a:extLst>
          </p:cNvPr>
          <p:cNvSpPr/>
          <p:nvPr userDrawn="1"/>
        </p:nvSpPr>
        <p:spPr>
          <a:xfrm>
            <a:off x="-2680781" y="0"/>
            <a:ext cx="5753100" cy="9620654"/>
          </a:xfrm>
          <a:prstGeom prst="homePlate">
            <a:avLst>
              <a:gd name="adj" fmla="val 5086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5" name="箭头: 五边形 4">
            <a:extLst>
              <a:ext uri="{FF2B5EF4-FFF2-40B4-BE49-F238E27FC236}">
                <a16:creationId xmlns:a16="http://schemas.microsoft.com/office/drawing/2014/main" id="{D85E25CC-A5BC-44E2-9950-5BDC824D9AC1}"/>
              </a:ext>
            </a:extLst>
          </p:cNvPr>
          <p:cNvSpPr/>
          <p:nvPr userDrawn="1"/>
        </p:nvSpPr>
        <p:spPr>
          <a:xfrm rot="5400000">
            <a:off x="7310335" y="-1872573"/>
            <a:ext cx="2616740" cy="4241259"/>
          </a:xfrm>
          <a:prstGeom prst="homePlat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50627269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结束页2">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id="{EB2DFB5F-1361-46F4-B3DF-471ECD4DCA18}"/>
              </a:ext>
            </a:extLst>
          </p:cNvPr>
          <p:cNvSpPr/>
          <p:nvPr userDrawn="1"/>
        </p:nvSpPr>
        <p:spPr>
          <a:xfrm>
            <a:off x="-2319371" y="4211980"/>
            <a:ext cx="5113371" cy="511337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
        <p:nvSpPr>
          <p:cNvPr id="7" name="椭圆 6">
            <a:extLst>
              <a:ext uri="{FF2B5EF4-FFF2-40B4-BE49-F238E27FC236}">
                <a16:creationId xmlns:a16="http://schemas.microsoft.com/office/drawing/2014/main" id="{385D4CE6-0BBF-450D-B3AB-7C163A40E793}"/>
              </a:ext>
            </a:extLst>
          </p:cNvPr>
          <p:cNvSpPr/>
          <p:nvPr userDrawn="1"/>
        </p:nvSpPr>
        <p:spPr>
          <a:xfrm>
            <a:off x="10560051" y="-2647819"/>
            <a:ext cx="4418254" cy="441825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cs typeface="+mn-ea"/>
              <a:sym typeface="+mn-lt"/>
            </a:endParaRPr>
          </a:p>
        </p:txBody>
      </p:sp>
    </p:spTree>
    <p:extLst>
      <p:ext uri="{BB962C8B-B14F-4D97-AF65-F5344CB8AC3E}">
        <p14:creationId xmlns:p14="http://schemas.microsoft.com/office/powerpoint/2010/main" val="2318639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bg bwMode="auto">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lang="en-US" noProof="1"/>
              <a:t>Click to edit Master title style</a:t>
            </a:r>
          </a:p>
        </p:txBody>
      </p:sp>
      <p:sp>
        <p:nvSpPr>
          <p:cNvPr id="8" name="Content Placeholder 7"/>
          <p:cNvSpPr>
            <a:spLocks noGrp="1"/>
          </p:cNvSpPr>
          <p:nvPr>
            <p:ph sz="quarter" idx="1"/>
          </p:nvPr>
        </p:nvSpPr>
        <p:spPr>
          <a:xfrm>
            <a:off x="402336" y="1527048"/>
            <a:ext cx="11338560" cy="4572000"/>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3" name="Date Placeholder 3">
            <a:extLst>
              <a:ext uri="{FF2B5EF4-FFF2-40B4-BE49-F238E27FC236}">
                <a16:creationId xmlns:a16="http://schemas.microsoft.com/office/drawing/2014/main" id="{ECD9281A-630A-D647-F925-722D8BECBC47}"/>
              </a:ext>
            </a:extLst>
          </p:cNvPr>
          <p:cNvSpPr>
            <a:spLocks noGrp="1"/>
          </p:cNvSpPr>
          <p:nvPr>
            <p:ph type="dt" sz="half" idx="10"/>
          </p:nvPr>
        </p:nvSpPr>
        <p:spPr/>
        <p:txBody>
          <a:bodyPr/>
          <a:lstStyle>
            <a:lvl1pPr>
              <a:defRPr/>
            </a:lvl1pPr>
          </a:lstStyle>
          <a:p>
            <a:endParaRPr lang="en-US"/>
          </a:p>
        </p:txBody>
      </p:sp>
      <p:sp>
        <p:nvSpPr>
          <p:cNvPr id="4" name="Footer Placeholder 4">
            <a:extLst>
              <a:ext uri="{FF2B5EF4-FFF2-40B4-BE49-F238E27FC236}">
                <a16:creationId xmlns:a16="http://schemas.microsoft.com/office/drawing/2014/main" id="{31B596E2-AA30-6792-684A-C4CF18756D2F}"/>
              </a:ext>
            </a:extLst>
          </p:cNvPr>
          <p:cNvSpPr>
            <a:spLocks noGrp="1"/>
          </p:cNvSpPr>
          <p:nvPr>
            <p:ph type="ftr" sz="quarter" idx="11"/>
          </p:nvPr>
        </p:nvSpPr>
        <p:spPr/>
        <p:txBody>
          <a:bodyPr/>
          <a:lstStyle>
            <a:lvl1pPr>
              <a:defRPr/>
            </a:lvl1pPr>
          </a:lstStyle>
          <a:p>
            <a:r>
              <a:rPr lang="en-US" altLang="zh-CN"/>
              <a:t>Artificial Intelligence a modern approach</a:t>
            </a:r>
          </a:p>
        </p:txBody>
      </p:sp>
      <p:sp>
        <p:nvSpPr>
          <p:cNvPr id="5" name="Slide Number Placeholder 5">
            <a:extLst>
              <a:ext uri="{FF2B5EF4-FFF2-40B4-BE49-F238E27FC236}">
                <a16:creationId xmlns:a16="http://schemas.microsoft.com/office/drawing/2014/main" id="{DF14ED86-3759-CE59-E80F-0BE6032FEE8C}"/>
              </a:ext>
            </a:extLst>
          </p:cNvPr>
          <p:cNvSpPr>
            <a:spLocks noGrp="1"/>
          </p:cNvSpPr>
          <p:nvPr>
            <p:ph type="sldNum" sz="quarter" idx="12"/>
          </p:nvPr>
        </p:nvSpPr>
        <p:spPr>
          <a:xfrm>
            <a:off x="5816600" y="1027114"/>
            <a:ext cx="609600" cy="441325"/>
          </a:xfrm>
        </p:spPr>
        <p:txBody>
          <a:bodyPr/>
          <a:lstStyle>
            <a:lvl1pPr>
              <a:defRPr/>
            </a:lvl1pPr>
          </a:lstStyle>
          <a:p>
            <a:fld id="{5D839138-5554-4A72-89BF-BBFB0D949EB2}" type="slidenum">
              <a:rPr lang="en-US"/>
              <a:pPr/>
              <a:t>‹#›</a:t>
            </a:fld>
            <a:endParaRPr lang="en-US"/>
          </a:p>
        </p:txBody>
      </p:sp>
    </p:spTree>
    <p:extLst>
      <p:ext uri="{BB962C8B-B14F-4D97-AF65-F5344CB8AC3E}">
        <p14:creationId xmlns:p14="http://schemas.microsoft.com/office/powerpoint/2010/main" val="9789559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3B942-3F1B-403C-8E85-6382B2069353}"/>
              </a:ext>
            </a:extLst>
          </p:cNvPr>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DD93AE5-CDDD-4CA4-8BCF-44DD4A71403B}"/>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91383BD-F3E7-403E-84A3-6F01BCC23915}"/>
              </a:ext>
            </a:extLst>
          </p:cNvPr>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a:extLst>
              <a:ext uri="{FF2B5EF4-FFF2-40B4-BE49-F238E27FC236}">
                <a16:creationId xmlns:a16="http://schemas.microsoft.com/office/drawing/2014/main" id="{1B9A1635-4D35-4F49-9AAC-DA6F5F037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a:extLst>
              <a:ext uri="{FF2B5EF4-FFF2-40B4-BE49-F238E27FC236}">
                <a16:creationId xmlns:a16="http://schemas.microsoft.com/office/drawing/2014/main" id="{C16FD9E9-D991-439F-8738-F1CD489BA103}"/>
              </a:ext>
            </a:extLst>
          </p:cNvPr>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pPr/>
              <a:t>‹#›</a:t>
            </a:fld>
            <a:endParaRPr lang="zh-CN" altLang="en-US" dirty="0"/>
          </a:p>
        </p:txBody>
      </p:sp>
      <p:sp>
        <p:nvSpPr>
          <p:cNvPr id="7" name="椭圆 6">
            <a:extLst>
              <a:ext uri="{FF2B5EF4-FFF2-40B4-BE49-F238E27FC236}">
                <a16:creationId xmlns:a16="http://schemas.microsoft.com/office/drawing/2014/main" id="{9994C284-E105-48E5-B7ED-E6DDC39F64AA}"/>
              </a:ext>
            </a:extLst>
          </p:cNvPr>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a:extLst>
              <a:ext uri="{FF2B5EF4-FFF2-40B4-BE49-F238E27FC236}">
                <a16:creationId xmlns:a16="http://schemas.microsoft.com/office/drawing/2014/main" id="{8E9773E7-896B-4ABE-A918-DD345AEA7B33}"/>
              </a:ext>
            </a:extLst>
          </p:cNvPr>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322824675"/>
      </p:ext>
    </p:extLst>
  </p:cSld>
  <p:clrMap bg1="lt1" tx1="dk1" bg2="lt2" tx2="dk2" accent1="accent1" accent2="accent2" accent3="accent3" accent4="accent4" accent5="accent5" accent6="accent6" hlink="hlink" folHlink="folHlink"/>
  <p:sldLayoutIdLst>
    <p:sldLayoutId id="2147483649" r:id="rId1"/>
    <p:sldLayoutId id="2147483656" r:id="rId2"/>
    <p:sldLayoutId id="2147483662" r:id="rId3"/>
    <p:sldLayoutId id="2147483663" r:id="rId4"/>
    <p:sldLayoutId id="2147483664" r:id="rId5"/>
    <p:sldLayoutId id="2147483665" r:id="rId6"/>
    <p:sldLayoutId id="2147483666" r:id="rId7"/>
    <p:sldLayoutId id="2147483667" r:id="rId8"/>
    <p:sldLayoutId id="2147483661" r:id="rId9"/>
    <p:sldLayoutId id="2147483669" r:id="rId10"/>
    <p:sldLayoutId id="2147483671" r:id="rId11"/>
    <p:sldLayoutId id="2147483674" r:id="rId12"/>
    <p:sldLayoutId id="2147483654" r:id="rId13"/>
    <p:sldLayoutId id="2147483675" r:id="rId14"/>
    <p:sldLayoutId id="2147483672" r:id="rId15"/>
    <p:sldLayoutId id="2147483673" r:id="rId16"/>
    <p:sldLayoutId id="2147483659" r:id="rId17"/>
    <p:sldLayoutId id="2147483657" r:id="rId18"/>
    <p:sldLayoutId id="2147483676" r:id="rId19"/>
    <p:sldLayoutId id="2147483678" r:id="rId20"/>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020933"/>
      </p:ext>
    </p:extLst>
  </p:cSld>
  <p:clrMap bg1="lt1" tx1="dk1" bg2="lt2" tx2="dk2" accent1="accent1" accent2="accent2" accent3="accent3" accent4="accent4" accent5="accent5" accent6="accent6" hlink="hlink" folHlink="folHlink"/>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523B942-3F1B-403C-8E85-6382B2069353}"/>
              </a:ext>
            </a:extLst>
          </p:cNvPr>
          <p:cNvSpPr>
            <a:spLocks noGrp="1"/>
          </p:cNvSpPr>
          <p:nvPr>
            <p:ph type="title"/>
          </p:nvPr>
        </p:nvSpPr>
        <p:spPr>
          <a:xfrm>
            <a:off x="660400" y="217487"/>
            <a:ext cx="10858500" cy="811213"/>
          </a:xfrm>
          <a:prstGeom prst="rect">
            <a:avLst/>
          </a:prstGeom>
        </p:spPr>
        <p:txBody>
          <a:bodyPr vert="horz" lIns="0" tIns="0" rIns="0" bIns="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6DD93AE5-CDDD-4CA4-8BCF-44DD4A71403B}"/>
              </a:ext>
            </a:extLst>
          </p:cNvPr>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91383BD-F3E7-403E-84A3-6F01BCC23915}"/>
              </a:ext>
            </a:extLst>
          </p:cNvPr>
          <p:cNvSpPr>
            <a:spLocks noGrp="1"/>
          </p:cNvSpPr>
          <p:nvPr>
            <p:ph type="dt" sz="half" idx="2"/>
          </p:nvPr>
        </p:nvSpPr>
        <p:spPr>
          <a:xfrm>
            <a:off x="6604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Helvetica Regular" pitchFamily="2" charset="0"/>
              </a:defRPr>
            </a:lvl1pPr>
          </a:lstStyle>
          <a:p>
            <a:endParaRPr lang="zh-CN" altLang="en-US" dirty="0"/>
          </a:p>
        </p:txBody>
      </p:sp>
      <p:sp>
        <p:nvSpPr>
          <p:cNvPr id="5" name="页脚占位符 4">
            <a:extLst>
              <a:ext uri="{FF2B5EF4-FFF2-40B4-BE49-F238E27FC236}">
                <a16:creationId xmlns:a16="http://schemas.microsoft.com/office/drawing/2014/main" id="{1B9A1635-4D35-4F49-9AAC-DA6F5F0373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Helvetica Regular" pitchFamily="2" charset="0"/>
              </a:defRPr>
            </a:lvl1pPr>
          </a:lstStyle>
          <a:p>
            <a:endParaRPr lang="zh-CN" altLang="en-US" dirty="0"/>
          </a:p>
        </p:txBody>
      </p:sp>
      <p:sp>
        <p:nvSpPr>
          <p:cNvPr id="6" name="灯片编号占位符 5">
            <a:extLst>
              <a:ext uri="{FF2B5EF4-FFF2-40B4-BE49-F238E27FC236}">
                <a16:creationId xmlns:a16="http://schemas.microsoft.com/office/drawing/2014/main" id="{C16FD9E9-D991-439F-8738-F1CD489BA103}"/>
              </a:ext>
            </a:extLst>
          </p:cNvPr>
          <p:cNvSpPr>
            <a:spLocks noGrp="1"/>
          </p:cNvSpPr>
          <p:nvPr>
            <p:ph type="sldNum" sz="quarter" idx="4"/>
          </p:nvPr>
        </p:nvSpPr>
        <p:spPr>
          <a:xfrm>
            <a:off x="8775700" y="6356349"/>
            <a:ext cx="2743200" cy="365125"/>
          </a:xfrm>
          <a:prstGeom prst="rect">
            <a:avLst/>
          </a:prstGeom>
        </p:spPr>
        <p:txBody>
          <a:bodyPr vert="horz" lIns="91440" tIns="45720" rIns="91440" bIns="45720" rtlCol="0" anchor="ctr"/>
          <a:lstStyle>
            <a:lvl1pPr algn="r">
              <a:defRPr sz="1200" b="0" i="0">
                <a:solidFill>
                  <a:schemeClr val="tx1">
                    <a:tint val="75000"/>
                  </a:schemeClr>
                </a:solidFill>
                <a:latin typeface="Helvetica Regular" pitchFamily="2" charset="0"/>
              </a:defRPr>
            </a:lvl1pPr>
          </a:lstStyle>
          <a:p>
            <a:fld id="{2515AB8F-1C56-49E9-90C8-78D22B0C1B97}" type="slidenum">
              <a:rPr lang="zh-CN" altLang="en-US" smtClean="0"/>
              <a:pPr/>
              <a:t>‹#›</a:t>
            </a:fld>
            <a:endParaRPr lang="zh-CN" altLang="en-US" dirty="0"/>
          </a:p>
        </p:txBody>
      </p:sp>
      <p:sp>
        <p:nvSpPr>
          <p:cNvPr id="7" name="椭圆 6">
            <a:extLst>
              <a:ext uri="{FF2B5EF4-FFF2-40B4-BE49-F238E27FC236}">
                <a16:creationId xmlns:a16="http://schemas.microsoft.com/office/drawing/2014/main" id="{9994C284-E105-48E5-B7ED-E6DDC39F64AA}"/>
              </a:ext>
            </a:extLst>
          </p:cNvPr>
          <p:cNvSpPr/>
          <p:nvPr userDrawn="1"/>
        </p:nvSpPr>
        <p:spPr>
          <a:xfrm>
            <a:off x="4749800" y="-45720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
        <p:nvSpPr>
          <p:cNvPr id="8" name="椭圆 7">
            <a:extLst>
              <a:ext uri="{FF2B5EF4-FFF2-40B4-BE49-F238E27FC236}">
                <a16:creationId xmlns:a16="http://schemas.microsoft.com/office/drawing/2014/main" id="{8E9773E7-896B-4ABE-A918-DD345AEA7B33}"/>
              </a:ext>
            </a:extLst>
          </p:cNvPr>
          <p:cNvSpPr/>
          <p:nvPr userDrawn="1"/>
        </p:nvSpPr>
        <p:spPr>
          <a:xfrm>
            <a:off x="4572000" y="9093200"/>
            <a:ext cx="1168400" cy="81121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i="0" dirty="0">
              <a:latin typeface="Helvetica Regular" pitchFamily="2" charset="0"/>
            </a:endParaRPr>
          </a:p>
        </p:txBody>
      </p:sp>
    </p:spTree>
    <p:extLst>
      <p:ext uri="{BB962C8B-B14F-4D97-AF65-F5344CB8AC3E}">
        <p14:creationId xmlns:p14="http://schemas.microsoft.com/office/powerpoint/2010/main" val="1810832917"/>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 id="2147483699" r:id="rId20"/>
  </p:sldLayoutIdLst>
  <p:hf hdr="0" ftr="0" dt="0"/>
  <p:txStyles>
    <p:titleStyle>
      <a:lvl1pPr algn="l" defTabSz="914400" rtl="0" eaLnBrk="1" latinLnBrk="0" hangingPunct="1">
        <a:lnSpc>
          <a:spcPct val="90000"/>
        </a:lnSpc>
        <a:spcBef>
          <a:spcPct val="0"/>
        </a:spcBef>
        <a:buNone/>
        <a:defRPr sz="32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88">
          <p15:clr>
            <a:srgbClr val="F26B43"/>
          </p15:clr>
        </p15:guide>
        <p15:guide id="2" pos="3840">
          <p15:clr>
            <a:srgbClr val="F26B43"/>
          </p15:clr>
        </p15:guide>
        <p15:guide id="3" pos="416">
          <p15:clr>
            <a:srgbClr val="F26B43"/>
          </p15:clr>
        </p15:guide>
        <p15:guide id="4" pos="7256">
          <p15:clr>
            <a:srgbClr val="F26B43"/>
          </p15:clr>
        </p15:guide>
        <p15:guide id="5" orient="horz" pos="648">
          <p15:clr>
            <a:srgbClr val="F26B43"/>
          </p15:clr>
        </p15:guide>
        <p15:guide id="6" orient="horz" pos="712">
          <p15:clr>
            <a:srgbClr val="F26B43"/>
          </p15:clr>
        </p15:guide>
        <p15:guide id="7" orient="horz" pos="3928">
          <p15:clr>
            <a:srgbClr val="F26B43"/>
          </p15:clr>
        </p15:guide>
        <p15:guide id="8" orient="horz" pos="3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1.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4.xml"/><Relationship Id="rId7" Type="http://schemas.openxmlformats.org/officeDocument/2006/relationships/image" Target="../media/image7.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6.wmf"/><Relationship Id="rId5" Type="http://schemas.openxmlformats.org/officeDocument/2006/relationships/notesSlide" Target="../notesSlides/notesSlide6.xml"/><Relationship Id="rId10" Type="http://schemas.openxmlformats.org/officeDocument/2006/relationships/image" Target="../media/image10.png"/><Relationship Id="rId4" Type="http://schemas.openxmlformats.org/officeDocument/2006/relationships/slideLayout" Target="../slideLayouts/slideLayout31.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31.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1.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31.xml"/><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9.xml"/><Relationship Id="rId1" Type="http://schemas.openxmlformats.org/officeDocument/2006/relationships/slideLayout" Target="../slideLayouts/slideLayout31.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1.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31.xml"/></Relationships>
</file>

<file path=ppt/slides/_rels/slide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6.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7.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34.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占位符 1">
            <a:extLst>
              <a:ext uri="{FF2B5EF4-FFF2-40B4-BE49-F238E27FC236}">
                <a16:creationId xmlns:a16="http://schemas.microsoft.com/office/drawing/2014/main" id="{D5F3D8B8-541B-475D-AED2-11349A7D54F0}"/>
              </a:ext>
            </a:extLst>
          </p:cNvPr>
          <p:cNvSpPr txBox="1">
            <a:spLocks/>
          </p:cNvSpPr>
          <p:nvPr/>
        </p:nvSpPr>
        <p:spPr>
          <a:xfrm>
            <a:off x="4250993" y="2334102"/>
            <a:ext cx="7021811" cy="2189795"/>
          </a:xfrm>
          <a:prstGeom prst="rect">
            <a:avLst/>
          </a:prstGeom>
        </p:spPr>
        <p:txBody>
          <a:bodyPr lIns="0" rIns="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None/>
            </a:pPr>
            <a:r>
              <a:rPr lang="en-US" altLang="zh-CN" sz="4000" b="1" dirty="0">
                <a:solidFill>
                  <a:schemeClr val="accent1"/>
                </a:solidFill>
                <a:cs typeface="+mn-ea"/>
                <a:sym typeface="+mn-lt"/>
              </a:rPr>
              <a:t>Constraint Satisfaction Problem </a:t>
            </a:r>
          </a:p>
        </p:txBody>
      </p:sp>
      <p:sp>
        <p:nvSpPr>
          <p:cNvPr id="64" name="矩形 63">
            <a:extLst>
              <a:ext uri="{FF2B5EF4-FFF2-40B4-BE49-F238E27FC236}">
                <a16:creationId xmlns:a16="http://schemas.microsoft.com/office/drawing/2014/main" id="{3FDA94B7-63AB-4449-B259-ABBFB1BD1237}"/>
              </a:ext>
            </a:extLst>
          </p:cNvPr>
          <p:cNvSpPr/>
          <p:nvPr/>
        </p:nvSpPr>
        <p:spPr>
          <a:xfrm>
            <a:off x="8043723" y="4972130"/>
            <a:ext cx="3003067" cy="611578"/>
          </a:xfrm>
          <a:prstGeom prst="rect">
            <a:avLst/>
          </a:prstGeom>
        </p:spPr>
        <p:txBody>
          <a:bodyPr wrap="square" lIns="0" rIns="0">
            <a:spAutoFit/>
          </a:bodyPr>
          <a:lstStyle/>
          <a:p>
            <a:pPr algn="r">
              <a:lnSpc>
                <a:spcPct val="130000"/>
              </a:lnSpc>
            </a:pPr>
            <a:endParaRPr lang="zh-CN" altLang="en-US" sz="2800" dirty="0">
              <a:solidFill>
                <a:schemeClr val="accent1"/>
              </a:solidFill>
              <a:cs typeface="+mn-ea"/>
              <a:sym typeface="+mn-lt"/>
            </a:endParaRPr>
          </a:p>
        </p:txBody>
      </p:sp>
      <p:sp>
        <p:nvSpPr>
          <p:cNvPr id="67" name="矩形 66">
            <a:extLst>
              <a:ext uri="{FF2B5EF4-FFF2-40B4-BE49-F238E27FC236}">
                <a16:creationId xmlns:a16="http://schemas.microsoft.com/office/drawing/2014/main" id="{B696F87A-50D9-4A47-8F75-C4FC6260D652}"/>
              </a:ext>
            </a:extLst>
          </p:cNvPr>
          <p:cNvSpPr/>
          <p:nvPr/>
        </p:nvSpPr>
        <p:spPr>
          <a:xfrm>
            <a:off x="4295518" y="4861566"/>
            <a:ext cx="6751272" cy="611514"/>
          </a:xfrm>
          <a:prstGeom prst="rect">
            <a:avLst/>
          </a:prstGeom>
        </p:spPr>
        <p:txBody>
          <a:bodyPr wrap="square">
            <a:spAutoFit/>
          </a:bodyPr>
          <a:lstStyle/>
          <a:p>
            <a:pPr algn="r">
              <a:lnSpc>
                <a:spcPct val="130000"/>
              </a:lnSpc>
            </a:pPr>
            <a:r>
              <a:rPr lang="zh-CN" altLang="en-US" sz="2800" dirty="0">
                <a:solidFill>
                  <a:schemeClr val="accent1"/>
                </a:solidFill>
                <a:cs typeface="+mn-ea"/>
                <a:sym typeface="+mn-lt"/>
              </a:rPr>
              <a:t>杨旭</a:t>
            </a:r>
            <a:endParaRPr lang="en-US" altLang="zh-CN" sz="2800" dirty="0">
              <a:solidFill>
                <a:schemeClr val="accent1"/>
              </a:solidFill>
              <a:cs typeface="+mn-ea"/>
              <a:sym typeface="+mn-lt"/>
            </a:endParaRPr>
          </a:p>
        </p:txBody>
      </p:sp>
      <p:cxnSp>
        <p:nvCxnSpPr>
          <p:cNvPr id="3" name="直接连接符 2">
            <a:extLst>
              <a:ext uri="{FF2B5EF4-FFF2-40B4-BE49-F238E27FC236}">
                <a16:creationId xmlns:a16="http://schemas.microsoft.com/office/drawing/2014/main" id="{F12F855B-6482-4247-8DD0-5666489F33A1}"/>
              </a:ext>
            </a:extLst>
          </p:cNvPr>
          <p:cNvCxnSpPr/>
          <p:nvPr/>
        </p:nvCxnSpPr>
        <p:spPr>
          <a:xfrm>
            <a:off x="11226555" y="4069080"/>
            <a:ext cx="0" cy="1404000"/>
          </a:xfrm>
          <a:prstGeom prst="line">
            <a:avLst/>
          </a:prstGeom>
          <a:ln w="50800" cmpd="thickThi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6CC2094F-20DA-4E6E-8204-F3002E375AA5}"/>
              </a:ext>
            </a:extLst>
          </p:cNvPr>
          <p:cNvSpPr txBox="1"/>
          <p:nvPr/>
        </p:nvSpPr>
        <p:spPr>
          <a:xfrm>
            <a:off x="5257800" y="2047430"/>
            <a:ext cx="6096000" cy="769441"/>
          </a:xfrm>
          <a:prstGeom prst="rect">
            <a:avLst/>
          </a:prstGeom>
          <a:noFill/>
        </p:spPr>
        <p:txBody>
          <a:bodyPr wrap="square">
            <a:spAutoFit/>
          </a:bodyPr>
          <a:lstStyle/>
          <a:p>
            <a:pPr marL="0" indent="0" algn="r">
              <a:lnSpc>
                <a:spcPct val="100000"/>
              </a:lnSpc>
              <a:buNone/>
            </a:pPr>
            <a:r>
              <a:rPr lang="en-US" altLang="zh-CN" sz="4400" b="1" dirty="0" err="1">
                <a:solidFill>
                  <a:schemeClr val="accent1"/>
                </a:solidFill>
                <a:cs typeface="+mn-ea"/>
                <a:sym typeface="+mn-lt"/>
              </a:rPr>
              <a:t>约束满足问题</a:t>
            </a:r>
            <a:endParaRPr lang="en-US" altLang="zh-CN" sz="4400" b="1" dirty="0">
              <a:solidFill>
                <a:schemeClr val="accent1"/>
              </a:solidFill>
              <a:cs typeface="+mn-ea"/>
              <a:sym typeface="+mn-lt"/>
            </a:endParaRPr>
          </a:p>
        </p:txBody>
      </p:sp>
    </p:spTree>
    <p:extLst>
      <p:ext uri="{BB962C8B-B14F-4D97-AF65-F5344CB8AC3E}">
        <p14:creationId xmlns:p14="http://schemas.microsoft.com/office/powerpoint/2010/main" val="3529178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16E002FA-3F98-449E-A48F-5543321E9133}"/>
              </a:ext>
            </a:extLst>
          </p:cNvPr>
          <p:cNvSpPr>
            <a:spLocks noGrp="1" noChangeArrowheads="1"/>
          </p:cNvSpPr>
          <p:nvPr>
            <p:ph type="title"/>
          </p:nvPr>
        </p:nvSpPr>
        <p:spPr/>
        <p:txBody>
          <a:bodyPr/>
          <a:lstStyle/>
          <a:p>
            <a:pPr eaLnBrk="1" hangingPunct="1"/>
            <a:r>
              <a:rPr lang="en-US" altLang="zh-CN" sz="3600" dirty="0" err="1">
                <a:latin typeface="+mn-lt"/>
                <a:ea typeface="+mn-ea"/>
                <a:cs typeface="+mn-ea"/>
                <a:sym typeface="+mn-lt"/>
              </a:rPr>
              <a:t>约束满足问题</a:t>
            </a:r>
            <a:endParaRPr lang="en-US" altLang="zh-CN" dirty="0">
              <a:solidFill>
                <a:srgbClr val="515223"/>
              </a:solidFill>
              <a:latin typeface="+mn-lt"/>
              <a:ea typeface="+mn-ea"/>
              <a:cs typeface="+mn-ea"/>
              <a:sym typeface="+mn-lt"/>
            </a:endParaRPr>
          </a:p>
        </p:txBody>
      </p:sp>
      <p:sp>
        <p:nvSpPr>
          <p:cNvPr id="16386" name="Footer Placeholder 4">
            <a:extLst>
              <a:ext uri="{FF2B5EF4-FFF2-40B4-BE49-F238E27FC236}">
                <a16:creationId xmlns:a16="http://schemas.microsoft.com/office/drawing/2014/main" id="{0BBEA3B0-7731-B75C-566A-00CCDB04F534}"/>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5" name="图片 4">
            <a:extLst>
              <a:ext uri="{FF2B5EF4-FFF2-40B4-BE49-F238E27FC236}">
                <a16:creationId xmlns:a16="http://schemas.microsoft.com/office/drawing/2014/main" id="{EEAC8AFB-CC39-4A31-AB46-AC5F163134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2150" y="3438013"/>
            <a:ext cx="9546750" cy="3100899"/>
          </a:xfrm>
          <a:prstGeom prst="rect">
            <a:avLst/>
          </a:prstGeom>
        </p:spPr>
      </p:pic>
      <p:sp>
        <p:nvSpPr>
          <p:cNvPr id="6" name="Rectangle 3">
            <a:extLst>
              <a:ext uri="{FF2B5EF4-FFF2-40B4-BE49-F238E27FC236}">
                <a16:creationId xmlns:a16="http://schemas.microsoft.com/office/drawing/2014/main" id="{61DE4895-8F47-4421-B6C0-5F5DFAE45EB7}"/>
              </a:ext>
            </a:extLst>
          </p:cNvPr>
          <p:cNvSpPr txBox="1">
            <a:spLocks noChangeArrowheads="1"/>
          </p:cNvSpPr>
          <p:nvPr/>
        </p:nvSpPr>
        <p:spPr>
          <a:xfrm>
            <a:off x="1091255" y="1322388"/>
            <a:ext cx="10293374" cy="45720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80000"/>
              </a:lnSpc>
            </a:pPr>
            <a:r>
              <a:rPr lang="en-US" altLang="zh-CN" b="1" dirty="0" err="1">
                <a:solidFill>
                  <a:schemeClr val="accent3"/>
                </a:solidFill>
                <a:latin typeface="+mn-lt"/>
                <a:cs typeface="+mn-ea"/>
                <a:sym typeface="+mn-lt"/>
              </a:rPr>
              <a:t>约束满足问题（CSP</a:t>
            </a:r>
            <a:r>
              <a:rPr lang="en-US" altLang="zh-CN" b="1" dirty="0">
                <a:solidFill>
                  <a:schemeClr val="accent3"/>
                </a:solidFill>
                <a:latin typeface="+mn-lt"/>
                <a:cs typeface="+mn-ea"/>
                <a:sym typeface="+mn-lt"/>
              </a:rPr>
              <a:t>）：</a:t>
            </a:r>
          </a:p>
          <a:p>
            <a:pPr lvl="1"/>
            <a:r>
              <a:rPr lang="en-US" altLang="zh-CN" dirty="0" err="1">
                <a:latin typeface="+mn-lt"/>
                <a:cs typeface="+mn-ea"/>
                <a:sym typeface="+mn-lt"/>
              </a:rPr>
              <a:t>当每个变量都具有一个能够满足该变量所有约束条件的值时，问题即被解决</a:t>
            </a:r>
            <a:r>
              <a:rPr lang="en-US" altLang="zh-CN" dirty="0">
                <a:latin typeface="+mn-lt"/>
                <a:cs typeface="+mn-ea"/>
                <a:sym typeface="+mn-lt"/>
              </a:rPr>
              <a:t>。</a:t>
            </a:r>
          </a:p>
          <a:p>
            <a:pPr lvl="1"/>
            <a:endParaRPr lang="en-US" altLang="zh-CN" dirty="0">
              <a:latin typeface="+mn-lt"/>
              <a:cs typeface="+mn-ea"/>
              <a:sym typeface="+mn-lt"/>
            </a:endParaRPr>
          </a:p>
          <a:p>
            <a:pPr lvl="1"/>
            <a:r>
              <a:rPr lang="en-US" altLang="zh-CN" dirty="0" err="1">
                <a:latin typeface="+mn-lt"/>
                <a:cs typeface="+mn-ea"/>
                <a:sym typeface="+mn-lt"/>
              </a:rPr>
              <a:t>它消除了搜索空间的大部分区域。一下子通过识别违反约束的变量</a:t>
            </a:r>
            <a:r>
              <a:rPr lang="en-US" altLang="zh-CN" dirty="0">
                <a:latin typeface="+mn-lt"/>
                <a:cs typeface="+mn-ea"/>
                <a:sym typeface="+mn-lt"/>
              </a:rPr>
              <a:t>/</a:t>
            </a:r>
            <a:r>
              <a:rPr lang="en-US" altLang="zh-CN" dirty="0" err="1">
                <a:latin typeface="+mn-lt"/>
                <a:cs typeface="+mn-ea"/>
                <a:sym typeface="+mn-lt"/>
              </a:rPr>
              <a:t>值组合</a:t>
            </a:r>
            <a:r>
              <a:rPr lang="en-US" altLang="zh-CN" dirty="0">
                <a:latin typeface="+mn-lt"/>
                <a:cs typeface="+mn-ea"/>
                <a:sym typeface="+mn-lt"/>
              </a:rPr>
              <a:t>。</a:t>
            </a:r>
            <a:endParaRPr lang="zh-CN" altLang="en-US" dirty="0">
              <a:latin typeface="+mn-lt"/>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linds(horizont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blinds(horizontal)">
                                      <p:cBhvr>
                                        <p:cTn id="1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90E902EB-0355-4E7B-D8C7-F539BB123435}"/>
              </a:ext>
            </a:extLst>
          </p:cNvPr>
          <p:cNvSpPr>
            <a:spLocks noGrp="1" noChangeArrowheads="1"/>
          </p:cNvSpPr>
          <p:nvPr>
            <p:ph type="title"/>
          </p:nvPr>
        </p:nvSpPr>
        <p:spPr/>
        <p:txBody>
          <a:bodyPr/>
          <a:lstStyle/>
          <a:p>
            <a:r>
              <a:rPr lang="en-US" altLang="zh-CN" sz="3600" dirty="0" err="1">
                <a:latin typeface="+mn-lt"/>
                <a:ea typeface="+mn-ea"/>
                <a:cs typeface="+mn-ea"/>
                <a:sym typeface="+mn-lt"/>
              </a:rPr>
              <a:t>约束满足问题</a:t>
            </a:r>
            <a:endParaRPr lang="en-US" altLang="zh-CN" dirty="0">
              <a:solidFill>
                <a:srgbClr val="515223"/>
              </a:solidFill>
              <a:latin typeface="+mn-lt"/>
              <a:ea typeface="+mn-ea"/>
              <a:cs typeface="+mn-ea"/>
              <a:sym typeface="+mn-lt"/>
            </a:endParaRPr>
          </a:p>
        </p:txBody>
      </p:sp>
      <p:sp>
        <p:nvSpPr>
          <p:cNvPr id="17410" name="Footer Placeholder 5">
            <a:extLst>
              <a:ext uri="{FF2B5EF4-FFF2-40B4-BE49-F238E27FC236}">
                <a16:creationId xmlns:a16="http://schemas.microsoft.com/office/drawing/2014/main" id="{5DDF6FDA-813C-07D5-B26F-4B6820785D0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7" name="Rectangle 3">
            <a:extLst>
              <a:ext uri="{FF2B5EF4-FFF2-40B4-BE49-F238E27FC236}">
                <a16:creationId xmlns:a16="http://schemas.microsoft.com/office/drawing/2014/main" id="{8C32E1D6-DDB7-40E0-AE37-9A8AE1FB5CA3}"/>
              </a:ext>
            </a:extLst>
          </p:cNvPr>
          <p:cNvSpPr txBox="1">
            <a:spLocks noChangeArrowheads="1"/>
          </p:cNvSpPr>
          <p:nvPr/>
        </p:nvSpPr>
        <p:spPr>
          <a:xfrm>
            <a:off x="685800" y="1214436"/>
            <a:ext cx="106426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3600" dirty="0">
              <a:latin typeface="+mn-lt"/>
              <a:cs typeface="+mn-ea"/>
              <a:sym typeface="+mn-lt"/>
            </a:endParaRPr>
          </a:p>
          <a:p>
            <a:pPr lvl="1"/>
            <a:r>
              <a:rPr lang="en-US" altLang="zh-CN" sz="3200" dirty="0" err="1">
                <a:cs typeface="+mn-ea"/>
                <a:sym typeface="+mn-lt"/>
              </a:rPr>
              <a:t>定义约束满足问题</a:t>
            </a:r>
            <a:endParaRPr lang="en-US" altLang="zh-CN" sz="3200" dirty="0">
              <a:cs typeface="+mn-ea"/>
              <a:sym typeface="+mn-lt"/>
            </a:endParaRPr>
          </a:p>
          <a:p>
            <a:pPr lvl="1"/>
            <a:r>
              <a:rPr lang="en-US" altLang="zh-CN" sz="3200" dirty="0" err="1">
                <a:cs typeface="+mn-ea"/>
                <a:sym typeface="+mn-lt"/>
              </a:rPr>
              <a:t>约束传播：CSP中的推理</a:t>
            </a:r>
            <a:endParaRPr lang="en-US" altLang="zh-CN" sz="3200" dirty="0">
              <a:cs typeface="+mn-ea"/>
              <a:sym typeface="+mn-lt"/>
            </a:endParaRPr>
          </a:p>
          <a:p>
            <a:pPr lvl="1"/>
            <a:r>
              <a:rPr lang="en-US" altLang="zh-CN" sz="3200" dirty="0" err="1">
                <a:cs typeface="+mn-ea"/>
                <a:sym typeface="+mn-lt"/>
              </a:rPr>
              <a:t>约束满足问题的回溯搜索</a:t>
            </a:r>
            <a:endParaRPr lang="en-US" altLang="zh-CN" sz="3200" dirty="0">
              <a:cs typeface="+mn-ea"/>
              <a:sym typeface="+mn-lt"/>
            </a:endParaRPr>
          </a:p>
          <a:p>
            <a:pPr marL="914400" lvl="2" indent="0">
              <a:buFont typeface="Arial" panose="020B0604020202020204" pitchFamily="34" charset="0"/>
              <a:buNone/>
            </a:pPr>
            <a:endParaRPr lang="en-US" sz="2800" dirty="0">
              <a:latin typeface="+mn-lt"/>
              <a:cs typeface="+mn-ea"/>
              <a:sym typeface="+mn-lt"/>
            </a:endParaRPr>
          </a:p>
          <a:p>
            <a:pPr lvl="1"/>
            <a:endParaRPr lang="en-US" sz="3200" dirty="0">
              <a:latin typeface="+mn-lt"/>
              <a:cs typeface="+mn-ea"/>
              <a:sym typeface="+mn-lt"/>
            </a:endParaRPr>
          </a:p>
          <a:p>
            <a:endParaRPr lang="en-US" sz="3600" dirty="0">
              <a:latin typeface="+mn-lt"/>
              <a:cs typeface="+mn-ea"/>
              <a:sym typeface="+mn-lt"/>
            </a:endParaRPr>
          </a:p>
          <a:p>
            <a:endParaRPr lang="en-US" sz="3600" dirty="0">
              <a:latin typeface="+mn-lt"/>
              <a:cs typeface="+mn-ea"/>
              <a:sym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90E902EB-0355-4E7B-D8C7-F539BB123435}"/>
              </a:ext>
            </a:extLst>
          </p:cNvPr>
          <p:cNvSpPr>
            <a:spLocks noGrp="1" noChangeArrowheads="1"/>
          </p:cNvSpPr>
          <p:nvPr>
            <p:ph type="title"/>
          </p:nvPr>
        </p:nvSpPr>
        <p:spPr/>
        <p:txBody>
          <a:bodyPr/>
          <a:lstStyle/>
          <a:p>
            <a:r>
              <a:rPr lang="en-US" altLang="zh-CN" sz="3600" dirty="0">
                <a:latin typeface="+mn-lt"/>
                <a:ea typeface="+mn-ea"/>
                <a:cs typeface="+mn-ea"/>
                <a:sym typeface="+mn-lt"/>
              </a:rPr>
              <a:t>约束满足问题</a:t>
            </a:r>
            <a:endParaRPr lang="en-US" altLang="zh-CN" dirty="0">
              <a:solidFill>
                <a:srgbClr val="515223"/>
              </a:solidFill>
              <a:latin typeface="+mn-lt"/>
              <a:ea typeface="+mn-ea"/>
              <a:cs typeface="+mn-ea"/>
              <a:sym typeface="+mn-lt"/>
            </a:endParaRPr>
          </a:p>
        </p:txBody>
      </p:sp>
      <p:sp>
        <p:nvSpPr>
          <p:cNvPr id="17410" name="Footer Placeholder 5">
            <a:extLst>
              <a:ext uri="{FF2B5EF4-FFF2-40B4-BE49-F238E27FC236}">
                <a16:creationId xmlns:a16="http://schemas.microsoft.com/office/drawing/2014/main" id="{5DDF6FDA-813C-07D5-B26F-4B6820785D0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6" name="Rectangle 3">
            <a:extLst>
              <a:ext uri="{FF2B5EF4-FFF2-40B4-BE49-F238E27FC236}">
                <a16:creationId xmlns:a16="http://schemas.microsoft.com/office/drawing/2014/main" id="{130FF79D-7FFA-4099-80A8-CD59750C7D08}"/>
              </a:ext>
            </a:extLst>
          </p:cNvPr>
          <p:cNvSpPr txBox="1">
            <a:spLocks noChangeArrowheads="1"/>
          </p:cNvSpPr>
          <p:nvPr/>
        </p:nvSpPr>
        <p:spPr>
          <a:xfrm>
            <a:off x="685800" y="1214436"/>
            <a:ext cx="106426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32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定义约束满足问题</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32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ea"/>
                <a:sym typeface="+mn-lt"/>
              </a:rPr>
              <a:t>约束传播：CSP中的推理</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ea"/>
                <a:sym typeface="+mn-lt"/>
              </a:rPr>
              <a:t>约束满足问题的回溯搜索</a:t>
            </a:r>
          </a:p>
          <a:p>
            <a:pPr marL="914400" marR="0" lvl="2"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2573088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90E902EB-0355-4E7B-D8C7-F539BB123435}"/>
              </a:ext>
            </a:extLst>
          </p:cNvPr>
          <p:cNvSpPr>
            <a:spLocks noGrp="1" noChangeArrowheads="1"/>
          </p:cNvSpPr>
          <p:nvPr>
            <p:ph type="title"/>
          </p:nvPr>
        </p:nvSpPr>
        <p:spPr/>
        <p:txBody>
          <a:bodyPr>
            <a:normAutofit/>
          </a:bodyPr>
          <a:lstStyle/>
          <a:p>
            <a:r>
              <a:rPr lang="en-US" altLang="zh-CN" sz="3240" dirty="0">
                <a:latin typeface="+mn-lt"/>
                <a:ea typeface="+mn-ea"/>
                <a:cs typeface="+mn-ea"/>
                <a:sym typeface="+mn-lt"/>
              </a:rPr>
              <a:t>定义约束满足问题</a:t>
            </a:r>
            <a:endParaRPr lang="en-US" altLang="zh-CN" dirty="0">
              <a:solidFill>
                <a:srgbClr val="515223"/>
              </a:solidFill>
              <a:latin typeface="+mn-lt"/>
              <a:ea typeface="+mn-ea"/>
              <a:cs typeface="+mn-ea"/>
              <a:sym typeface="+mn-lt"/>
            </a:endParaRPr>
          </a:p>
        </p:txBody>
      </p:sp>
      <p:sp>
        <p:nvSpPr>
          <p:cNvPr id="17410" name="Footer Placeholder 5">
            <a:extLst>
              <a:ext uri="{FF2B5EF4-FFF2-40B4-BE49-F238E27FC236}">
                <a16:creationId xmlns:a16="http://schemas.microsoft.com/office/drawing/2014/main" id="{5DDF6FDA-813C-07D5-B26F-4B6820785D0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54EF6681-DDAD-4314-B795-7C4F794BBD1E}"/>
                  </a:ext>
                </a:extLst>
              </p:cNvPr>
              <p:cNvSpPr txBox="1">
                <a:spLocks/>
              </p:cNvSpPr>
              <p:nvPr/>
            </p:nvSpPr>
            <p:spPr>
              <a:xfrm>
                <a:off x="666045" y="1627186"/>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zh-CN" altLang="en-US" dirty="0">
                    <a:solidFill>
                      <a:srgbClr val="00529D"/>
                    </a:solidFill>
                    <a:latin typeface="Arial" panose="020B0604020202020204"/>
                    <a:cs typeface="+mn-ea"/>
                    <a:sym typeface="+mn-lt"/>
                  </a:rPr>
                  <a:t>约束满足问题包含三个组成部分</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t>
                </a:r>
              </a:p>
              <a:p>
                <a:pPr lvl="1"/>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oMath>
                </a14:m>
                <a:r>
                  <a:rPr lang="zh-CN" altLang="en-US" dirty="0">
                    <a:solidFill>
                      <a:srgbClr val="000000"/>
                    </a:solidFill>
                    <a:latin typeface="Arial" panose="020B0604020202020204"/>
                    <a:cs typeface="+mn-ea"/>
                    <a:sym typeface="+mn-lt"/>
                  </a:rPr>
                  <a:t>是一组变量</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1</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 . . ,</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𝑛</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oMath>
                </a14:m>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lvl="1"/>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𝐷</m:t>
                    </m:r>
                  </m:oMath>
                </a14:m>
                <a:r>
                  <a:rPr lang="zh-CN" altLang="en-US" dirty="0">
                    <a:solidFill>
                      <a:srgbClr val="000000"/>
                    </a:solidFill>
                    <a:latin typeface="Arial" panose="020B0604020202020204"/>
                    <a:cs typeface="+mn-ea"/>
                    <a:sym typeface="+mn-lt"/>
                  </a:rPr>
                  <a:t>是一组域</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𝐷</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1</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 . . ,</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𝐷</m:t>
                        </m:r>
                      </m:e>
                      <m:sub>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𝑚</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r>
                      <a:rPr lang="zh-CN" altLang="en-US" i="1" dirty="0">
                        <a:solidFill>
                          <a:srgbClr val="000000"/>
                        </a:solidFill>
                        <a:latin typeface="Cambria Math" panose="02040503050406030204" pitchFamily="18" charset="0"/>
                        <a:cs typeface="+mn-ea"/>
                        <a:sym typeface="+mn-lt"/>
                      </a:rPr>
                      <m:t>每个变量一个</m:t>
                    </m:r>
                    <m:r>
                      <a:rPr lang="zh-CN" altLang="en-US" i="1" dirty="0">
                        <a:solidFill>
                          <a:srgbClr val="000000"/>
                        </a:solidFill>
                        <a:latin typeface="Cambria Math" panose="02040503050406030204" pitchFamily="18" charset="0"/>
                        <a:cs typeface="+mn-ea"/>
                        <a:sym typeface="+mn-lt"/>
                      </a:rPr>
                      <m:t> </m:t>
                    </m:r>
                  </m:oMath>
                </a14:m>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lvl="1"/>
                <a14:m>
                  <m:oMath xmlns:m="http://schemas.openxmlformats.org/officeDocument/2006/math">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𝐶</m:t>
                    </m:r>
                  </m:oMath>
                </a14:m>
                <a:r>
                  <a:rPr lang="zh-CN" altLang="en-US" dirty="0">
                    <a:solidFill>
                      <a:srgbClr val="000000"/>
                    </a:solidFill>
                    <a:latin typeface="Arial" panose="020B0604020202020204"/>
                    <a:cs typeface="+mn-ea"/>
                    <a:sym typeface="+mn-lt"/>
                  </a:rPr>
                  <a:t>每个变量一个 是一组约束条件，用于指定允许的值的组合</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p>
              <a:p>
                <a:pPr lvl="1"/>
                <a14:m>
                  <m:oMath xmlns:m="http://schemas.openxmlformats.org/officeDocument/2006/math">
                    <m:sSub>
                      <m:sSubPr>
                        <m:ctrlP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ea"/>
                            <a:sym typeface="+mn-lt"/>
                          </a:rPr>
                          <m:t>𝐶</m:t>
                        </m:r>
                      </m:e>
                      <m:sub>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ea"/>
                            <a:sym typeface="+mn-lt"/>
                          </a:rPr>
                          <m:t>𝑖</m:t>
                        </m:r>
                      </m:sub>
                    </m:sSub>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ea"/>
                        <a:sym typeface="+mn-lt"/>
                      </a:rPr>
                      <m:t>=</m:t>
                    </m:r>
                  </m:oMath>
                </a14:m>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&lt;</a:t>
                </a:r>
                <a:r>
                  <a:rPr lang="zh-CN" altLang="en-US" dirty="0">
                    <a:solidFill>
                      <a:srgbClr val="000000"/>
                    </a:solidFill>
                    <a:latin typeface="Arial" panose="020B0604020202020204"/>
                    <a:cs typeface="+mn-ea"/>
                    <a:sym typeface="+mn-lt"/>
                  </a:rPr>
                  <a:t>范围，关系</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&gt;</a:t>
                </a:r>
              </a:p>
              <a:p>
                <a:pPr lvl="0"/>
                <a:r>
                  <a:rPr lang="zh-CN" altLang="en-US" dirty="0">
                    <a:solidFill>
                      <a:srgbClr val="00529D"/>
                    </a:solidFill>
                    <a:latin typeface="Arial" panose="020B0604020202020204"/>
                    <a:cs typeface="+mn-ea"/>
                    <a:sym typeface="+mn-lt"/>
                  </a:rPr>
                  <a:t>一个解决方案对</a:t>
                </a:r>
                <a:r>
                  <a:rPr lang="en-US" altLang="zh-CN" dirty="0">
                    <a:solidFill>
                      <a:srgbClr val="00529D"/>
                    </a:solidFill>
                    <a:latin typeface="Arial" panose="020B0604020202020204"/>
                    <a:cs typeface="+mn-ea"/>
                    <a:sym typeface="+mn-lt"/>
                  </a:rPr>
                  <a:t>CSP</a:t>
                </a:r>
                <a:r>
                  <a:rPr lang="zh-CN" altLang="en-US" dirty="0">
                    <a:solidFill>
                      <a:srgbClr val="00529D"/>
                    </a:solidFill>
                    <a:latin typeface="Arial" panose="020B0604020202020204"/>
                    <a:cs typeface="+mn-ea"/>
                    <a:sym typeface="+mn-lt"/>
                  </a:rPr>
                  <a:t>而言，这是一个一致且完整的赋值</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lvl="0"/>
                <a:r>
                  <a:rPr lang="zh-CN" altLang="en-US" dirty="0">
                    <a:solidFill>
                      <a:srgbClr val="00529D"/>
                    </a:solidFill>
                    <a:latin typeface="Arial" panose="020B0604020202020204"/>
                    <a:cs typeface="+mn-ea"/>
                    <a:sym typeface="+mn-lt"/>
                  </a:rPr>
                  <a:t>完整赋值</a:t>
                </a:r>
                <a:r>
                  <a:rPr lang="en-US" altLang="zh-CN" dirty="0">
                    <a:solidFill>
                      <a:srgbClr val="00529D"/>
                    </a:solidFill>
                    <a:latin typeface="Arial" panose="020B0604020202020204"/>
                    <a:cs typeface="+mn-ea"/>
                    <a:sym typeface="+mn-lt"/>
                  </a:rPr>
                  <a:t>Complete</a:t>
                </a:r>
                <a:r>
                  <a:rPr lang="zh-CN" altLang="en-US" dirty="0">
                    <a:solidFill>
                      <a:srgbClr val="00529D"/>
                    </a:solidFill>
                    <a:latin typeface="Arial" panose="020B0604020202020204"/>
                    <a:cs typeface="+mn-ea"/>
                    <a:sym typeface="+mn-lt"/>
                  </a:rPr>
                  <a:t>：每个变量都已赋值</a:t>
                </a:r>
                <a:endParaRPr kumimoji="0" lang="en-US" altLang="zh-CN" sz="280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lvl="0"/>
                <a:r>
                  <a:rPr lang="zh-CN" altLang="en-US" dirty="0">
                    <a:solidFill>
                      <a:srgbClr val="00529D"/>
                    </a:solidFill>
                    <a:latin typeface="Arial" panose="020B0604020202020204"/>
                    <a:cs typeface="+mn-ea"/>
                    <a:sym typeface="+mn-lt"/>
                  </a:rPr>
                  <a:t>一致赋值（</a:t>
                </a:r>
                <a:r>
                  <a:rPr lang="en-US" altLang="zh-CN" dirty="0">
                    <a:solidFill>
                      <a:srgbClr val="00529D"/>
                    </a:solidFill>
                    <a:latin typeface="Arial" panose="020B0604020202020204"/>
                    <a:cs typeface="+mn-ea"/>
                    <a:sym typeface="+mn-lt"/>
                  </a:rPr>
                  <a:t>Consistent</a:t>
                </a:r>
                <a:r>
                  <a:rPr lang="zh-CN" altLang="en-US" dirty="0">
                    <a:solidFill>
                      <a:srgbClr val="00529D"/>
                    </a:solidFill>
                    <a:latin typeface="Arial" panose="020B0604020202020204"/>
                    <a:cs typeface="+mn-ea"/>
                    <a:sym typeface="+mn-lt"/>
                  </a:rPr>
                  <a:t>）：不违反任何条件的赋值</a:t>
                </a: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mc:Choice>
        <mc:Fallback xmlns="">
          <p:sp>
            <p:nvSpPr>
              <p:cNvPr id="5" name="内容占位符 2">
                <a:extLst>
                  <a:ext uri="{FF2B5EF4-FFF2-40B4-BE49-F238E27FC236}">
                    <a16:creationId xmlns:a16="http://schemas.microsoft.com/office/drawing/2014/main" id="{54EF6681-DDAD-4314-B795-7C4F794BBD1E}"/>
                  </a:ext>
                </a:extLst>
              </p:cNvPr>
              <p:cNvSpPr txBox="1">
                <a:spLocks noRot="1" noChangeAspect="1" noMove="1" noResize="1" noEditPoints="1" noAdjustHandles="1" noChangeArrowheads="1" noChangeShapeType="1" noTextEdit="1"/>
              </p:cNvSpPr>
              <p:nvPr/>
            </p:nvSpPr>
            <p:spPr>
              <a:xfrm>
                <a:off x="666045" y="1627186"/>
                <a:ext cx="11379200" cy="4729164"/>
              </a:xfrm>
              <a:prstGeom prst="rect">
                <a:avLst/>
              </a:prstGeom>
              <a:blipFill>
                <a:blip r:embed="rId3"/>
                <a:stretch>
                  <a:fillRect l="-964" t="-244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782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blinds(horizontal)">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animEffect transition="in" filter="blinds(horizontal)">
                                      <p:cBhvr>
                                        <p:cTn id="32" dur="500"/>
                                        <p:tgtEl>
                                          <p:spTgt spid="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blinds(horizontal)">
                                      <p:cBhvr>
                                        <p:cTn id="37" dur="500"/>
                                        <p:tgtEl>
                                          <p:spTgt spid="5">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5">
                                            <p:txEl>
                                              <p:pRg st="7" end="7"/>
                                            </p:txEl>
                                          </p:spTgt>
                                        </p:tgtEl>
                                        <p:attrNameLst>
                                          <p:attrName>style.visibility</p:attrName>
                                        </p:attrNameLst>
                                      </p:cBhvr>
                                      <p:to>
                                        <p:strVal val="visible"/>
                                      </p:to>
                                    </p:set>
                                    <p:animEffect transition="in" filter="blinds(horizontal)">
                                      <p:cBhvr>
                                        <p:cTn id="42"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DA81A193-78D0-A503-CE45-FBC5FF6A9468}"/>
              </a:ext>
            </a:extLst>
          </p:cNvPr>
          <p:cNvSpPr>
            <a:spLocks noGrp="1" noChangeArrowheads="1"/>
          </p:cNvSpPr>
          <p:nvPr>
            <p:ph type="title"/>
          </p:nvPr>
        </p:nvSpPr>
        <p:spPr/>
        <p:txBody>
          <a:bodyPr/>
          <a:lstStyle/>
          <a:p>
            <a:r>
              <a:rPr lang="en-US" altLang="zh-CN" sz="3600" dirty="0">
                <a:latin typeface="+mn-lt"/>
                <a:ea typeface="+mn-ea"/>
                <a:cs typeface="+mn-ea"/>
                <a:sym typeface="+mn-lt"/>
              </a:rPr>
              <a:t>示例：地图着色</a:t>
            </a:r>
            <a:endParaRPr lang="en-US" altLang="zh-CN" dirty="0">
              <a:solidFill>
                <a:srgbClr val="515223"/>
              </a:solidFill>
              <a:latin typeface="+mn-lt"/>
              <a:ea typeface="+mn-ea"/>
              <a:cs typeface="+mn-ea"/>
              <a:sym typeface="+mn-lt"/>
            </a:endParaRPr>
          </a:p>
        </p:txBody>
      </p:sp>
      <p:sp>
        <p:nvSpPr>
          <p:cNvPr id="19458" name="Footer Placeholder 6">
            <a:extLst>
              <a:ext uri="{FF2B5EF4-FFF2-40B4-BE49-F238E27FC236}">
                <a16:creationId xmlns:a16="http://schemas.microsoft.com/office/drawing/2014/main" id="{F3829B51-CAF6-B614-D32F-00357B3182D0}"/>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8" name="Rectangle 3">
            <a:extLst>
              <a:ext uri="{FF2B5EF4-FFF2-40B4-BE49-F238E27FC236}">
                <a16:creationId xmlns:a16="http://schemas.microsoft.com/office/drawing/2014/main" id="{157864E7-F3A5-43A6-89F2-C2C9250814A4}"/>
              </a:ext>
            </a:extLst>
          </p:cNvPr>
          <p:cNvSpPr txBox="1">
            <a:spLocks noChangeArrowheads="1"/>
          </p:cNvSpPr>
          <p:nvPr/>
        </p:nvSpPr>
        <p:spPr>
          <a:xfrm>
            <a:off x="381000" y="1371600"/>
            <a:ext cx="6705600" cy="47244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变量：</a:t>
            </a: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域名：</a:t>
            </a: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约束：相邻区域必须使用不同颜色。</a:t>
            </a:r>
          </a:p>
          <a:p>
            <a:pPr marL="685800" marR="0" lvl="1" indent="-228600" algn="l" defTabSz="914400" rtl="0" eaLnBrk="1" fontAlgn="auto" latinLnBrk="0" hangingPunct="1">
              <a:lnSpc>
                <a:spcPct val="80000"/>
              </a:lnSpc>
              <a:spcBef>
                <a:spcPts val="5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80000"/>
              </a:lnSpc>
              <a:spcBef>
                <a:spcPts val="5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80000"/>
              </a:lnSpc>
              <a:spcBef>
                <a:spcPts val="5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80000"/>
              </a:lnSpc>
              <a:spcBef>
                <a:spcPts val="5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解是指满足所有约束条件的赋值，例如：</a:t>
            </a: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80000"/>
              </a:lnSpc>
              <a:spcBef>
                <a:spcPts val="1000"/>
              </a:spcBef>
              <a:spcAft>
                <a:spcPts val="0"/>
              </a:spcAft>
              <a:buClrTx/>
              <a:buSzTx/>
              <a:buFont typeface="Wingdings" panose="05000000000000000000" pitchFamily="2" charset="2"/>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p>
          <a:p>
            <a:pPr marL="228600" marR="0" lvl="0" indent="-228600" algn="l" defTabSz="914400" rtl="0" eaLnBrk="1" fontAlgn="auto" latinLnBrk="0" hangingPunct="1">
              <a:lnSpc>
                <a:spcPct val="8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
        <p:nvSpPr>
          <p:cNvPr id="11" name="TextBox 19">
            <a:extLst>
              <a:ext uri="{FF2B5EF4-FFF2-40B4-BE49-F238E27FC236}">
                <a16:creationId xmlns:a16="http://schemas.microsoft.com/office/drawing/2014/main" id="{0E82FE98-9A61-4D56-85D0-CBBBA7FE8D8B}"/>
              </a:ext>
            </a:extLst>
          </p:cNvPr>
          <p:cNvSpPr txBox="1">
            <a:spLocks noChangeArrowheads="1"/>
          </p:cNvSpPr>
          <p:nvPr/>
        </p:nvSpPr>
        <p:spPr bwMode="auto">
          <a:xfrm>
            <a:off x="762000" y="3702802"/>
            <a:ext cx="7154021" cy="1015659"/>
          </a:xfrm>
          <a:prstGeom prst="rect">
            <a:avLst/>
          </a:prstGeom>
          <a:noFill/>
          <a:ln w="9525">
            <a:noFill/>
            <a:miter lim="800000"/>
          </a:ln>
        </p:spPr>
        <p:txBody>
          <a:bodyPr wrap="square" lIns="91436" tIns="45718" rIns="91436" bIns="45718">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C = {SA ≠ WA, SA ≠ NT, SA ≠ Q, SA ≠ NSW, SA ≠ V,</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WA ≠ NT，NT ≠ Q，Q ≠ NSW，NSW ≠ V } 。</a:t>
            </a:r>
          </a:p>
        </p:txBody>
      </p:sp>
      <p:pic>
        <p:nvPicPr>
          <p:cNvPr id="16" name="Picture 4">
            <a:extLst>
              <a:ext uri="{FF2B5EF4-FFF2-40B4-BE49-F238E27FC236}">
                <a16:creationId xmlns:a16="http://schemas.microsoft.com/office/drawing/2014/main" id="{3EC40ADE-1D5D-4D89-9FF2-0AF7635C55E0}"/>
              </a:ext>
            </a:extLst>
          </p:cNvPr>
          <p:cNvPicPr>
            <a:picLocks noChangeAspect="1" noChangeArrowheads="1"/>
          </p:cNvPicPr>
          <p:nvPr/>
        </p:nvPicPr>
        <p:blipFill>
          <a:blip r:embed="rId6" cstate="print"/>
          <a:srcRect l="1140" t="1105"/>
          <a:stretch>
            <a:fillRect/>
          </a:stretch>
        </p:blipFill>
        <p:spPr bwMode="auto">
          <a:xfrm>
            <a:off x="8408893" y="1228165"/>
            <a:ext cx="3021107" cy="2505635"/>
          </a:xfrm>
          <a:prstGeom prst="rect">
            <a:avLst/>
          </a:prstGeom>
          <a:noFill/>
          <a:ln w="9525">
            <a:noFill/>
            <a:miter lim="800000"/>
            <a:headEnd/>
            <a:tailEnd/>
          </a:ln>
        </p:spPr>
      </p:pic>
      <p:pic>
        <p:nvPicPr>
          <p:cNvPr id="17" name="Picture 2">
            <a:extLst>
              <a:ext uri="{FF2B5EF4-FFF2-40B4-BE49-F238E27FC236}">
                <a16:creationId xmlns:a16="http://schemas.microsoft.com/office/drawing/2014/main" id="{E32676EB-4E01-4BB8-9B6B-AEA2FA377916}"/>
              </a:ext>
            </a:extLst>
          </p:cNvPr>
          <p:cNvPicPr>
            <a:picLocks noChangeAspect="1" noChangeArrowheads="1"/>
          </p:cNvPicPr>
          <p:nvPr/>
        </p:nvPicPr>
        <p:blipFill>
          <a:blip r:embed="rId7">
            <a:extLst>
              <a:ext uri="{28A0092B-C50C-407E-A947-70E740481C1C}">
                <a14:useLocalDpi xmlns:a14="http://schemas.microsoft.com/office/drawing/2010/main" val="0"/>
              </a:ext>
            </a:extLst>
          </a:blip>
          <a:stretch>
            <a:fillRect/>
          </a:stretch>
        </p:blipFill>
        <p:spPr bwMode="auto">
          <a:xfrm>
            <a:off x="7805019" y="4178525"/>
            <a:ext cx="3929781" cy="2069651"/>
          </a:xfrm>
          <a:prstGeom prst="rect">
            <a:avLst/>
          </a:prstGeom>
          <a:noFill/>
        </p:spPr>
      </p:pic>
      <p:pic>
        <p:nvPicPr>
          <p:cNvPr id="12" name="Picture 11" descr="txp_fig">
            <a:extLst>
              <a:ext uri="{FF2B5EF4-FFF2-40B4-BE49-F238E27FC236}">
                <a16:creationId xmlns:a16="http://schemas.microsoft.com/office/drawing/2014/main" id="{009E18F1-A7DD-4F00-8438-F9755FA80DEC}"/>
              </a:ext>
            </a:extLst>
          </p:cNvPr>
          <p:cNvPicPr>
            <a:picLocks noChangeAspect="1"/>
          </p:cNvPicPr>
          <p:nvPr>
            <p:custDataLst>
              <p:tags r:id="rId1"/>
            </p:custDataLst>
          </p:nvPr>
        </p:nvPicPr>
        <p:blipFill>
          <a:blip r:embed="rId8" cstate="print"/>
          <a:stretch>
            <a:fillRect/>
          </a:stretch>
        </p:blipFill>
        <p:spPr bwMode="auto">
          <a:xfrm>
            <a:off x="2213898" y="1440379"/>
            <a:ext cx="4281583" cy="258601"/>
          </a:xfrm>
          <a:prstGeom prst="rect">
            <a:avLst/>
          </a:prstGeom>
          <a:noFill/>
          <a:effectLst/>
        </p:spPr>
      </p:pic>
      <p:pic>
        <p:nvPicPr>
          <p:cNvPr id="13" name="Picture 13" descr="txp_fig">
            <a:extLst>
              <a:ext uri="{FF2B5EF4-FFF2-40B4-BE49-F238E27FC236}">
                <a16:creationId xmlns:a16="http://schemas.microsoft.com/office/drawing/2014/main" id="{34085EDE-6E38-4483-B6A5-00EDA6DA713E}"/>
              </a:ext>
            </a:extLst>
          </p:cNvPr>
          <p:cNvPicPr>
            <a:picLocks noChangeAspect="1"/>
          </p:cNvPicPr>
          <p:nvPr>
            <p:custDataLst>
              <p:tags r:id="rId2"/>
            </p:custDataLst>
          </p:nvPr>
        </p:nvPicPr>
        <p:blipFill>
          <a:blip r:embed="rId9" cstate="print"/>
          <a:stretch>
            <a:fillRect/>
          </a:stretch>
        </p:blipFill>
        <p:spPr bwMode="auto">
          <a:xfrm>
            <a:off x="2290726" y="2265908"/>
            <a:ext cx="3023521" cy="296673"/>
          </a:xfrm>
          <a:prstGeom prst="rect">
            <a:avLst/>
          </a:prstGeom>
          <a:noFill/>
          <a:effectLst/>
        </p:spPr>
      </p:pic>
      <p:pic>
        <p:nvPicPr>
          <p:cNvPr id="14" name="Picture 21" descr="txp_fig">
            <a:extLst>
              <a:ext uri="{FF2B5EF4-FFF2-40B4-BE49-F238E27FC236}">
                <a16:creationId xmlns:a16="http://schemas.microsoft.com/office/drawing/2014/main" id="{24578301-2F52-49C1-A986-19519CCCCA21}"/>
              </a:ext>
            </a:extLst>
          </p:cNvPr>
          <p:cNvPicPr>
            <a:picLocks noChangeAspect="1"/>
          </p:cNvPicPr>
          <p:nvPr>
            <p:custDataLst>
              <p:tags r:id="rId3"/>
            </p:custDataLst>
          </p:nvPr>
        </p:nvPicPr>
        <p:blipFill>
          <a:blip r:embed="rId10" cstate="print"/>
          <a:stretch>
            <a:fillRect/>
          </a:stretch>
        </p:blipFill>
        <p:spPr bwMode="auto">
          <a:xfrm>
            <a:off x="810748" y="5358174"/>
            <a:ext cx="5983475" cy="629393"/>
          </a:xfrm>
          <a:prstGeom prst="rect">
            <a:avLst/>
          </a:prstGeom>
          <a:noFill/>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CBCB435-963E-06E6-8C18-E9FE46D127DA}"/>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约束图</a:t>
            </a:r>
            <a:endParaRPr lang="en-US" altLang="zh-CN" dirty="0">
              <a:solidFill>
                <a:srgbClr val="515223"/>
              </a:solidFill>
              <a:latin typeface="+mn-lt"/>
              <a:ea typeface="+mn-ea"/>
              <a:cs typeface="+mn-ea"/>
              <a:sym typeface="+mn-lt"/>
            </a:endParaRPr>
          </a:p>
        </p:txBody>
      </p:sp>
      <p:sp>
        <p:nvSpPr>
          <p:cNvPr id="21506" name="Footer Placeholder 4">
            <a:extLst>
              <a:ext uri="{FF2B5EF4-FFF2-40B4-BE49-F238E27FC236}">
                <a16:creationId xmlns:a16="http://schemas.microsoft.com/office/drawing/2014/main" id="{D86961A7-2E54-A165-593B-D45A0EF497F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5" name="Rectangle 3">
            <a:extLst>
              <a:ext uri="{FF2B5EF4-FFF2-40B4-BE49-F238E27FC236}">
                <a16:creationId xmlns:a16="http://schemas.microsoft.com/office/drawing/2014/main" id="{D7FF91D9-FA45-450F-A978-D7750F4EFFE5}"/>
              </a:ext>
            </a:extLst>
          </p:cNvPr>
          <p:cNvSpPr txBox="1">
            <a:spLocks noChangeArrowheads="1"/>
          </p:cNvSpPr>
          <p:nvPr/>
        </p:nvSpPr>
        <p:spPr>
          <a:xfrm>
            <a:off x="457200" y="1295400"/>
            <a:ext cx="11125200" cy="452596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二元约束图：</a:t>
            </a:r>
            <a:r>
              <a:rPr kumimoji="0" lang="en-US" sz="20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节点是变量，</a:t>
            </a:r>
            <a:r>
              <a:rPr kumimoji="0" lang="zh-CN" altLang="en-US" sz="20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 </a:t>
            </a:r>
            <a:r>
              <a:rPr kumimoji="0" lang="en-US" sz="20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弧线显示约束条件</a:t>
            </a:r>
          </a:p>
        </p:txBody>
      </p:sp>
      <p:pic>
        <p:nvPicPr>
          <p:cNvPr id="7" name="图片 6">
            <a:extLst>
              <a:ext uri="{FF2B5EF4-FFF2-40B4-BE49-F238E27FC236}">
                <a16:creationId xmlns:a16="http://schemas.microsoft.com/office/drawing/2014/main" id="{A3A8B617-03D8-432D-9F45-839946DEDAC4}"/>
              </a:ext>
            </a:extLst>
          </p:cNvPr>
          <p:cNvPicPr>
            <a:picLocks noChangeAspect="1"/>
          </p:cNvPicPr>
          <p:nvPr/>
        </p:nvPicPr>
        <p:blipFill>
          <a:blip r:embed="rId2"/>
          <a:stretch>
            <a:fillRect/>
          </a:stretch>
        </p:blipFill>
        <p:spPr>
          <a:xfrm>
            <a:off x="1066799" y="1983846"/>
            <a:ext cx="9992181" cy="426455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CBCB435-963E-06E6-8C18-E9FE46D127DA}"/>
              </a:ext>
            </a:extLst>
          </p:cNvPr>
          <p:cNvSpPr>
            <a:spLocks noGrp="1" noChangeArrowheads="1"/>
          </p:cNvSpPr>
          <p:nvPr>
            <p:ph type="title"/>
          </p:nvPr>
        </p:nvSpPr>
        <p:spPr/>
        <p:txBody>
          <a:bodyPr>
            <a:normAutofit/>
          </a:bodyPr>
          <a:lstStyle/>
          <a:p>
            <a:pPr eaLnBrk="1" hangingPunct="1"/>
            <a:r>
              <a:rPr lang="en-US" altLang="zh-CN" sz="3600" dirty="0" err="1">
                <a:latin typeface="+mn-lt"/>
                <a:ea typeface="+mn-ea"/>
                <a:cs typeface="+mn-ea"/>
                <a:sym typeface="+mn-lt"/>
              </a:rPr>
              <a:t>定义约束满足问题</a:t>
            </a:r>
            <a:endParaRPr lang="en-US" altLang="zh-CN" dirty="0">
              <a:solidFill>
                <a:srgbClr val="515223"/>
              </a:solidFill>
              <a:latin typeface="+mn-lt"/>
              <a:ea typeface="+mn-ea"/>
              <a:cs typeface="+mn-ea"/>
              <a:sym typeface="+mn-lt"/>
            </a:endParaRPr>
          </a:p>
        </p:txBody>
      </p:sp>
      <p:sp>
        <p:nvSpPr>
          <p:cNvPr id="21506" name="Footer Placeholder 4">
            <a:extLst>
              <a:ext uri="{FF2B5EF4-FFF2-40B4-BE49-F238E27FC236}">
                <a16:creationId xmlns:a16="http://schemas.microsoft.com/office/drawing/2014/main" id="{D86961A7-2E54-A165-593B-D45A0EF497F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8" name="内容占位符 2">
            <a:extLst>
              <a:ext uri="{FF2B5EF4-FFF2-40B4-BE49-F238E27FC236}">
                <a16:creationId xmlns:a16="http://schemas.microsoft.com/office/drawing/2014/main" id="{7BC70FBA-C02A-4E6E-B3E6-BDC12C6A359B}"/>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3"/>
                </a:solidFill>
                <a:latin typeface="+mn-lt"/>
                <a:cs typeface="+mn-ea"/>
                <a:sym typeface="+mn-lt"/>
              </a:rPr>
              <a:t>为什么要将问题表述为</a:t>
            </a:r>
            <a:r>
              <a:rPr lang="en-US" altLang="zh-CN" dirty="0">
                <a:solidFill>
                  <a:schemeClr val="accent3"/>
                </a:solidFill>
                <a:latin typeface="+mn-lt"/>
                <a:cs typeface="+mn-ea"/>
                <a:sym typeface="+mn-lt"/>
              </a:rPr>
              <a:t>CSP</a:t>
            </a:r>
            <a:r>
              <a:rPr lang="zh-CN" altLang="en-US" dirty="0">
                <a:solidFill>
                  <a:schemeClr val="accent3"/>
                </a:solidFill>
                <a:latin typeface="+mn-lt"/>
                <a:cs typeface="+mn-ea"/>
                <a:sym typeface="+mn-lt"/>
              </a:rPr>
              <a:t>？</a:t>
            </a:r>
            <a:endParaRPr lang="en-US" altLang="zh-CN" dirty="0">
              <a:solidFill>
                <a:schemeClr val="accent3"/>
              </a:solidFill>
              <a:latin typeface="+mn-lt"/>
              <a:cs typeface="+mn-ea"/>
              <a:sym typeface="+mn-lt"/>
            </a:endParaRPr>
          </a:p>
          <a:p>
            <a:pPr lvl="1"/>
            <a:r>
              <a:rPr lang="en-US" altLang="zh-CN" dirty="0">
                <a:latin typeface="+mn-lt"/>
                <a:cs typeface="+mn-ea"/>
                <a:sym typeface="+mn-lt"/>
              </a:rPr>
              <a:t>CSP</a:t>
            </a:r>
            <a:r>
              <a:rPr lang="zh-CN" altLang="en-US" dirty="0">
                <a:latin typeface="+mn-lt"/>
                <a:cs typeface="+mn-ea"/>
                <a:sym typeface="+mn-lt"/>
              </a:rPr>
              <a:t>为各种各样的问题提供了一个自然的表示。</a:t>
            </a:r>
            <a:endParaRPr lang="en-US" altLang="zh-CN" dirty="0">
              <a:latin typeface="+mn-lt"/>
              <a:cs typeface="+mn-ea"/>
              <a:sym typeface="+mn-lt"/>
            </a:endParaRPr>
          </a:p>
          <a:p>
            <a:pPr lvl="1"/>
            <a:r>
              <a:rPr lang="en-US" altLang="zh-CN" dirty="0">
                <a:latin typeface="+mn-lt"/>
                <a:cs typeface="+mn-ea"/>
                <a:sym typeface="+mn-lt"/>
              </a:rPr>
              <a:t>CSP</a:t>
            </a:r>
            <a:r>
              <a:rPr lang="zh-CN" altLang="en-US" dirty="0">
                <a:latin typeface="+mn-lt"/>
                <a:cs typeface="+mn-ea"/>
                <a:sym typeface="+mn-lt"/>
              </a:rPr>
              <a:t>求解器可能比状态空间搜索器更快。</a:t>
            </a:r>
            <a:endParaRPr lang="en-US" altLang="zh-CN" dirty="0">
              <a:latin typeface="+mn-lt"/>
              <a:cs typeface="+mn-ea"/>
              <a:sym typeface="+mn-lt"/>
            </a:endParaRPr>
          </a:p>
          <a:p>
            <a:r>
              <a:rPr lang="en-US" altLang="zh-CN" dirty="0">
                <a:solidFill>
                  <a:schemeClr val="accent3"/>
                </a:solidFill>
                <a:latin typeface="+mn-lt"/>
                <a:cs typeface="+mn-ea"/>
                <a:sym typeface="+mn-lt"/>
              </a:rPr>
              <a:t>For example, </a:t>
            </a:r>
          </a:p>
          <a:p>
            <a:pPr lvl="1"/>
            <a:r>
              <a:rPr lang="zh-CN" altLang="en-US" dirty="0">
                <a:latin typeface="+mn-lt"/>
                <a:cs typeface="+mn-ea"/>
                <a:sym typeface="+mn-lt"/>
              </a:rPr>
              <a:t>在澳大利亚问题中，我们选择了</a:t>
            </a:r>
            <a:r>
              <a:rPr lang="en-US" altLang="zh-CN" dirty="0">
                <a:latin typeface="+mn-lt"/>
                <a:cs typeface="+mn-ea"/>
                <a:sym typeface="+mn-lt"/>
              </a:rPr>
              <a:t>{SA=</a:t>
            </a:r>
            <a:r>
              <a:rPr lang="zh-CN" altLang="en-US" dirty="0">
                <a:latin typeface="+mn-lt"/>
                <a:cs typeface="+mn-ea"/>
                <a:sym typeface="+mn-lt"/>
              </a:rPr>
              <a:t>蓝色</a:t>
            </a:r>
            <a:r>
              <a:rPr lang="en-US" altLang="zh-CN" dirty="0">
                <a:latin typeface="+mn-lt"/>
                <a:cs typeface="+mn-ea"/>
                <a:sym typeface="+mn-lt"/>
              </a:rPr>
              <a:t>}</a:t>
            </a:r>
            <a:r>
              <a:rPr lang="zh-CN" altLang="en-US" dirty="0">
                <a:latin typeface="+mn-lt"/>
                <a:cs typeface="+mn-ea"/>
                <a:sym typeface="+mn-lt"/>
              </a:rPr>
              <a:t>，</a:t>
            </a:r>
            <a:endParaRPr lang="en-US" altLang="zh-CN" dirty="0">
              <a:latin typeface="+mn-lt"/>
              <a:cs typeface="+mn-ea"/>
              <a:sym typeface="+mn-lt"/>
            </a:endParaRPr>
          </a:p>
          <a:p>
            <a:pPr lvl="1"/>
            <a:r>
              <a:rPr lang="zh-CN" altLang="en-US" dirty="0">
                <a:latin typeface="+mn-lt"/>
                <a:cs typeface="+mn-ea"/>
                <a:sym typeface="+mn-lt"/>
              </a:rPr>
              <a:t>无约束传播，</a:t>
            </a:r>
            <a:r>
              <a:rPr lang="en-US" altLang="zh-CN" dirty="0">
                <a:latin typeface="+mn-lt"/>
                <a:cs typeface="+mn-ea"/>
                <a:sym typeface="+mn-lt"/>
              </a:rPr>
              <a:t>3^5=243</a:t>
            </a:r>
            <a:r>
              <a:rPr lang="zh-CN" altLang="en-US" dirty="0">
                <a:latin typeface="+mn-lt"/>
                <a:cs typeface="+mn-ea"/>
                <a:sym typeface="+mn-lt"/>
              </a:rPr>
              <a:t>；有了约束传播，</a:t>
            </a:r>
            <a:r>
              <a:rPr lang="en-US" altLang="zh-CN" dirty="0">
                <a:latin typeface="+mn-lt"/>
                <a:cs typeface="+mn-ea"/>
                <a:sym typeface="+mn-lt"/>
              </a:rPr>
              <a:t>2^5=32</a:t>
            </a:r>
            <a:r>
              <a:rPr lang="zh-CN" altLang="en-US" dirty="0">
                <a:latin typeface="+mn-lt"/>
                <a:cs typeface="+mn-ea"/>
                <a:sym typeface="+mn-lt"/>
              </a:rPr>
              <a:t>，减少了</a:t>
            </a:r>
            <a:r>
              <a:rPr lang="en-US" altLang="zh-CN" dirty="0">
                <a:latin typeface="+mn-lt"/>
                <a:cs typeface="+mn-ea"/>
                <a:sym typeface="+mn-lt"/>
              </a:rPr>
              <a:t>87%</a:t>
            </a:r>
            <a:r>
              <a:rPr lang="zh-CN" altLang="en-US" dirty="0">
                <a:latin typeface="+mn-lt"/>
                <a:cs typeface="+mn-ea"/>
                <a:sym typeface="+mn-lt"/>
              </a:rPr>
              <a:t>。</a:t>
            </a:r>
          </a:p>
        </p:txBody>
      </p:sp>
      <p:pic>
        <p:nvPicPr>
          <p:cNvPr id="9" name="图片 8">
            <a:extLst>
              <a:ext uri="{FF2B5EF4-FFF2-40B4-BE49-F238E27FC236}">
                <a16:creationId xmlns:a16="http://schemas.microsoft.com/office/drawing/2014/main" id="{F91275C1-6225-4FB7-8FAE-FD77F6AECF9C}"/>
              </a:ext>
            </a:extLst>
          </p:cNvPr>
          <p:cNvPicPr>
            <a:picLocks noChangeAspect="1"/>
          </p:cNvPicPr>
          <p:nvPr/>
        </p:nvPicPr>
        <p:blipFill>
          <a:blip r:embed="rId3"/>
          <a:stretch>
            <a:fillRect/>
          </a:stretch>
        </p:blipFill>
        <p:spPr>
          <a:xfrm>
            <a:off x="6553200" y="4572000"/>
            <a:ext cx="3444657" cy="2286000"/>
          </a:xfrm>
          <a:prstGeom prst="rect">
            <a:avLst/>
          </a:prstGeom>
        </p:spPr>
      </p:pic>
    </p:spTree>
    <p:extLst>
      <p:ext uri="{BB962C8B-B14F-4D97-AF65-F5344CB8AC3E}">
        <p14:creationId xmlns:p14="http://schemas.microsoft.com/office/powerpoint/2010/main" val="1948772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blinds(horizontal)">
                                      <p:cBhvr>
                                        <p:cTn id="10" dur="500"/>
                                        <p:tgtEl>
                                          <p:spTgt spid="8">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blinds(horizontal)">
                                      <p:cBhvr>
                                        <p:cTn id="13" dur="500"/>
                                        <p:tgtEl>
                                          <p:spTgt spid="8">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nodeType="clickEffect">
                                  <p:stCondLst>
                                    <p:cond delay="0"/>
                                  </p:stCondLst>
                                  <p:childTnLst>
                                    <p:set>
                                      <p:cBhvr>
                                        <p:cTn id="17" dur="1" fill="hold">
                                          <p:stCondLst>
                                            <p:cond delay="0"/>
                                          </p:stCondLst>
                                        </p:cTn>
                                        <p:tgtEl>
                                          <p:spTgt spid="8">
                                            <p:txEl>
                                              <p:pRg st="3" end="3"/>
                                            </p:txEl>
                                          </p:spTgt>
                                        </p:tgtEl>
                                        <p:attrNameLst>
                                          <p:attrName>style.visibility</p:attrName>
                                        </p:attrNameLst>
                                      </p:cBhvr>
                                      <p:to>
                                        <p:strVal val="visible"/>
                                      </p:to>
                                    </p:set>
                                    <p:animEffect transition="in" filter="blinds(horizontal)">
                                      <p:cBhvr>
                                        <p:cTn id="18" dur="500"/>
                                        <p:tgtEl>
                                          <p:spTgt spid="8">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linds(horizontal)">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CBCB435-963E-06E6-8C18-E9FE46D127DA}"/>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约束图</a:t>
            </a:r>
            <a:endParaRPr lang="en-US" altLang="zh-CN" dirty="0">
              <a:solidFill>
                <a:srgbClr val="515223"/>
              </a:solidFill>
              <a:latin typeface="+mn-lt"/>
              <a:ea typeface="+mn-ea"/>
              <a:cs typeface="+mn-ea"/>
              <a:sym typeface="+mn-lt"/>
            </a:endParaRPr>
          </a:p>
        </p:txBody>
      </p:sp>
      <p:sp>
        <p:nvSpPr>
          <p:cNvPr id="21506" name="Footer Placeholder 4">
            <a:extLst>
              <a:ext uri="{FF2B5EF4-FFF2-40B4-BE49-F238E27FC236}">
                <a16:creationId xmlns:a16="http://schemas.microsoft.com/office/drawing/2014/main" id="{D86961A7-2E54-A165-593B-D45A0EF497F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err="1">
                <a:ln>
                  <a:noFill/>
                </a:ln>
                <a:solidFill>
                  <a:srgbClr val="FFFFFF"/>
                </a:solidFill>
                <a:effectLst/>
                <a:uLnTx/>
                <a:uFillTx/>
                <a:latin typeface="Arial" panose="020B0604020202020204"/>
                <a:ea typeface="微软雅黑"/>
                <a:cs typeface="+mn-ea"/>
                <a:sym typeface="+mn-lt"/>
              </a:rPr>
              <a:t>人工智能：一种现代方法</a:t>
            </a:r>
            <a:endParaRPr kumimoji="0" lang="en-US" altLang="zh-CN" sz="1200" b="0" i="0" u="none" strike="noStrike" kern="1200" cap="none" spc="0" normalizeH="0" baseline="0" noProof="0" dirty="0">
              <a:ln>
                <a:noFill/>
              </a:ln>
              <a:solidFill>
                <a:srgbClr val="FFFFFF"/>
              </a:solidFill>
              <a:effectLst/>
              <a:uLnTx/>
              <a:uFillTx/>
              <a:latin typeface="Arial" panose="020B0604020202020204"/>
              <a:ea typeface="微软雅黑"/>
              <a:cs typeface="+mn-ea"/>
              <a:sym typeface="+mn-lt"/>
            </a:endParaRPr>
          </a:p>
        </p:txBody>
      </p:sp>
      <p:sp>
        <p:nvSpPr>
          <p:cNvPr id="7" name="内容占位符 2">
            <a:extLst>
              <a:ext uri="{FF2B5EF4-FFF2-40B4-BE49-F238E27FC236}">
                <a16:creationId xmlns:a16="http://schemas.microsoft.com/office/drawing/2014/main" id="{09849DC5-BA0E-4B18-875E-560F8EA7B2BB}"/>
              </a:ext>
            </a:extLst>
          </p:cNvPr>
          <p:cNvSpPr txBox="1">
            <a:spLocks/>
          </p:cNvSpPr>
          <p:nvPr/>
        </p:nvSpPr>
        <p:spPr>
          <a:xfrm>
            <a:off x="406400" y="1371600"/>
            <a:ext cx="11379200" cy="5257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CSP形式化方法的变体</a:t>
            </a:r>
          </a:p>
          <a:p>
            <a:pPr marL="685800" marR="0" lvl="1"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变量的类型</a:t>
            </a:r>
          </a:p>
          <a:p>
            <a:pPr marL="1143000" marR="0" lvl="2"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变量有</a:t>
            </a:r>
            <a:r>
              <a:rPr kumimoji="0" lang="en-US" altLang="zh-CN" sz="20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离散的</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US" altLang="zh-CN" sz="20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有限域</a:t>
            </a:r>
          </a:p>
          <a:p>
            <a:pPr marL="1143000" marR="0" lvl="2"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离散域可以是</a:t>
            </a:r>
            <a:r>
              <a:rPr kumimoji="0" lang="en-US" altLang="zh-CN" sz="20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无限</a:t>
            </a:r>
          </a:p>
          <a:p>
            <a:pPr marL="1143000" marR="0" lvl="2"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带有CSP的</a:t>
            </a:r>
            <a:r>
              <a:rPr kumimoji="0" lang="en-US" altLang="zh-CN" sz="20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连续域</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在现实世界中很常见</a:t>
            </a:r>
          </a:p>
          <a:p>
            <a:pPr marL="1143000" marR="0" lvl="2"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线性约束 / 非线性约束</a:t>
            </a:r>
          </a:p>
          <a:p>
            <a:pPr marL="685800" marR="0" lvl="1"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约束类型</a:t>
            </a:r>
          </a:p>
          <a:p>
            <a:pPr marL="1143000" marR="0" lvl="2"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0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一元约束，</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限制单个变量的值</a:t>
            </a:r>
          </a:p>
          <a:p>
            <a:pPr marL="1143000" marR="0" lvl="2"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0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二元约束，</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关联两个变量</a:t>
            </a:r>
          </a:p>
          <a:p>
            <a:pPr marL="1143000" marR="0" lvl="2"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0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全局约束，</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任意数量的变量</a:t>
            </a:r>
          </a:p>
          <a:p>
            <a:pPr marL="1143000" marR="0" lvl="2"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一个二元约束满足问题</a:t>
            </a:r>
            <a:r>
              <a:rPr kumimoji="0" lang="en-US" altLang="zh-CN" sz="20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仅限</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具有二元约束</a:t>
            </a:r>
          </a:p>
        </p:txBody>
      </p:sp>
    </p:spTree>
    <p:extLst>
      <p:ext uri="{BB962C8B-B14F-4D97-AF65-F5344CB8AC3E}">
        <p14:creationId xmlns:p14="http://schemas.microsoft.com/office/powerpoint/2010/main" val="379047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blinds(horizontal)">
                                      <p:cBhvr>
                                        <p:cTn id="15" dur="500"/>
                                        <p:tgtEl>
                                          <p:spTgt spid="7">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blinds(horizontal)">
                                      <p:cBhvr>
                                        <p:cTn id="18" dur="500"/>
                                        <p:tgtEl>
                                          <p:spTgt spid="7">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
                                            <p:txEl>
                                              <p:pRg st="4" end="4"/>
                                            </p:txEl>
                                          </p:spTgt>
                                        </p:tgtEl>
                                        <p:attrNameLst>
                                          <p:attrName>style.visibility</p:attrName>
                                        </p:attrNameLst>
                                      </p:cBhvr>
                                      <p:to>
                                        <p:strVal val="visible"/>
                                      </p:to>
                                    </p:set>
                                    <p:animEffect transition="in" filter="blinds(horizontal)">
                                      <p:cBhvr>
                                        <p:cTn id="21" dur="500"/>
                                        <p:tgtEl>
                                          <p:spTgt spid="7">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
                                            <p:txEl>
                                              <p:pRg st="5" end="5"/>
                                            </p:txEl>
                                          </p:spTgt>
                                        </p:tgtEl>
                                        <p:attrNameLst>
                                          <p:attrName>style.visibility</p:attrName>
                                        </p:attrNameLst>
                                      </p:cBhvr>
                                      <p:to>
                                        <p:strVal val="visible"/>
                                      </p:to>
                                    </p:set>
                                    <p:animEffect transition="in" filter="blinds(horizontal)">
                                      <p:cBhvr>
                                        <p:cTn id="24" dur="500"/>
                                        <p:tgtEl>
                                          <p:spTgt spid="7">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7">
                                            <p:txEl>
                                              <p:pRg st="6" end="6"/>
                                            </p:txEl>
                                          </p:spTgt>
                                        </p:tgtEl>
                                        <p:attrNameLst>
                                          <p:attrName>style.visibility</p:attrName>
                                        </p:attrNameLst>
                                      </p:cBhvr>
                                      <p:to>
                                        <p:strVal val="visible"/>
                                      </p:to>
                                    </p:set>
                                    <p:animEffect transition="in" filter="blinds(horizontal)">
                                      <p:cBhvr>
                                        <p:cTn id="29" dur="500"/>
                                        <p:tgtEl>
                                          <p:spTgt spid="7">
                                            <p:txEl>
                                              <p:pRg st="6" end="6"/>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7">
                                            <p:txEl>
                                              <p:pRg st="7" end="7"/>
                                            </p:txEl>
                                          </p:spTgt>
                                        </p:tgtEl>
                                        <p:attrNameLst>
                                          <p:attrName>style.visibility</p:attrName>
                                        </p:attrNameLst>
                                      </p:cBhvr>
                                      <p:to>
                                        <p:strVal val="visible"/>
                                      </p:to>
                                    </p:set>
                                    <p:animEffect transition="in" filter="blinds(horizontal)">
                                      <p:cBhvr>
                                        <p:cTn id="32" dur="500"/>
                                        <p:tgtEl>
                                          <p:spTgt spid="7">
                                            <p:txEl>
                                              <p:pRg st="7" end="7"/>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animEffect transition="in" filter="blinds(horizontal)">
                                      <p:cBhvr>
                                        <p:cTn id="35" dur="500"/>
                                        <p:tgtEl>
                                          <p:spTgt spid="7">
                                            <p:txEl>
                                              <p:pRg st="8" end="8"/>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
                                            <p:txEl>
                                              <p:pRg st="9" end="9"/>
                                            </p:txEl>
                                          </p:spTgt>
                                        </p:tgtEl>
                                        <p:attrNameLst>
                                          <p:attrName>style.visibility</p:attrName>
                                        </p:attrNameLst>
                                      </p:cBhvr>
                                      <p:to>
                                        <p:strVal val="visible"/>
                                      </p:to>
                                    </p:set>
                                    <p:animEffect transition="in" filter="blinds(horizontal)">
                                      <p:cBhvr>
                                        <p:cTn id="38" dur="500"/>
                                        <p:tgtEl>
                                          <p:spTgt spid="7">
                                            <p:txEl>
                                              <p:pRg st="9" end="9"/>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7">
                                            <p:txEl>
                                              <p:pRg st="10" end="10"/>
                                            </p:txEl>
                                          </p:spTgt>
                                        </p:tgtEl>
                                        <p:attrNameLst>
                                          <p:attrName>style.visibility</p:attrName>
                                        </p:attrNameLst>
                                      </p:cBhvr>
                                      <p:to>
                                        <p:strVal val="visible"/>
                                      </p:to>
                                    </p:set>
                                    <p:animEffect transition="in" filter="blinds(horizontal)">
                                      <p:cBhvr>
                                        <p:cTn id="41"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CBCB435-963E-06E6-8C18-E9FE46D127DA}"/>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评论</a:t>
            </a:r>
            <a:endParaRPr lang="en-US" altLang="zh-CN" dirty="0">
              <a:solidFill>
                <a:srgbClr val="515223"/>
              </a:solidFill>
              <a:latin typeface="+mn-lt"/>
              <a:ea typeface="+mn-ea"/>
              <a:cs typeface="+mn-ea"/>
              <a:sym typeface="+mn-lt"/>
            </a:endParaRPr>
          </a:p>
        </p:txBody>
      </p:sp>
      <p:sp>
        <p:nvSpPr>
          <p:cNvPr id="21506" name="Footer Placeholder 4">
            <a:extLst>
              <a:ext uri="{FF2B5EF4-FFF2-40B4-BE49-F238E27FC236}">
                <a16:creationId xmlns:a16="http://schemas.microsoft.com/office/drawing/2014/main" id="{D86961A7-2E54-A165-593B-D45A0EF497F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04B99792-B2CF-4669-A8C1-700677831A39}"/>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zh-CN" altLang="en-US" dirty="0">
                    <a:solidFill>
                      <a:srgbClr val="00529D"/>
                    </a:solidFill>
                    <a:latin typeface="Arial" panose="020B0604020202020204"/>
                    <a:cs typeface="+mn-ea"/>
                    <a:sym typeface="+mn-lt"/>
                  </a:rPr>
                  <a:t>约束满足问题（</a:t>
                </a:r>
                <a:r>
                  <a:rPr lang="en-US" altLang="zh-CN" dirty="0">
                    <a:solidFill>
                      <a:srgbClr val="00529D"/>
                    </a:solidFill>
                    <a:latin typeface="Arial" panose="020B0604020202020204"/>
                    <a:cs typeface="+mn-ea"/>
                    <a:sym typeface="+mn-lt"/>
                  </a:rPr>
                  <a:t>CSP</a:t>
                </a:r>
                <a:r>
                  <a:rPr lang="zh-CN" altLang="en-US" dirty="0">
                    <a:solidFill>
                      <a:srgbClr val="00529D"/>
                    </a:solidFill>
                    <a:latin typeface="Arial" panose="020B0604020202020204"/>
                    <a:cs typeface="+mn-ea"/>
                    <a:sym typeface="+mn-lt"/>
                  </a:rPr>
                  <a:t>）有三个组成部分</a:t>
                </a:r>
                <a:r>
                  <a:rPr lang="en-US" altLang="zh-CN" dirty="0">
                    <a:solidFill>
                      <a:srgbClr val="00529D"/>
                    </a:solidFill>
                    <a:latin typeface="Arial" panose="020B0604020202020204"/>
                    <a:cs typeface="+mn-ea"/>
                    <a:sym typeface="+mn-lt"/>
                  </a:rPr>
                  <a:t>:</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oMath>
                </a14:m>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1</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 . . ,</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𝑛</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oMath>
                </a14:m>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𝐷</m:t>
                    </m:r>
                  </m:oMath>
                </a14:m>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𝐷</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1</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 . . ,</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𝐷</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𝑛</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oMath>
                </a14:m>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lvl="1"/>
                <a14:m>
                  <m:oMath xmlns:m="http://schemas.openxmlformats.org/officeDocument/2006/math">
                    <m:sSub>
                      <m:sSubPr>
                        <m:ctrlP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ea"/>
                            <a:sym typeface="+mn-lt"/>
                          </a:rPr>
                          <m:t>𝐶</m:t>
                        </m:r>
                      </m:e>
                      <m:sub>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ea"/>
                            <a:sym typeface="+mn-lt"/>
                          </a:rPr>
                          <m:t>𝑖</m:t>
                        </m:r>
                      </m:sub>
                    </m:sSub>
                    <m:r>
                      <a:rPr kumimoji="0" lang="en-US" altLang="zh-CN" sz="2400" b="0" i="1" u="none" strike="noStrike" kern="1200" cap="none" spc="0" normalizeH="0" baseline="0" noProof="0">
                        <a:ln>
                          <a:noFill/>
                        </a:ln>
                        <a:solidFill>
                          <a:srgbClr val="000000"/>
                        </a:solidFill>
                        <a:effectLst/>
                        <a:uLnTx/>
                        <a:uFillTx/>
                        <a:latin typeface="Cambria Math" panose="02040503050406030204" pitchFamily="18" charset="0"/>
                        <a:cs typeface="+mn-ea"/>
                        <a:sym typeface="+mn-lt"/>
                      </a:rPr>
                      <m:t>=</m:t>
                    </m:r>
                  </m:oMath>
                </a14:m>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&lt;</a:t>
                </a:r>
                <a:r>
                  <a:rPr lang="zh-CN" altLang="en-US" dirty="0">
                    <a:solidFill>
                      <a:srgbClr val="000000"/>
                    </a:solidFill>
                    <a:latin typeface="Arial" panose="020B0604020202020204"/>
                    <a:cs typeface="+mn-ea"/>
                    <a:sym typeface="+mn-lt"/>
                  </a:rPr>
                  <a:t>范围，关系</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&gt;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zh-CN" altLang="en-US" dirty="0">
                    <a:solidFill>
                      <a:srgbClr val="00529D"/>
                    </a:solidFill>
                    <a:latin typeface="Arial" panose="020B0604020202020204"/>
                    <a:ea typeface="微软雅黑"/>
                    <a:cs typeface="+mn-ea"/>
                    <a:sym typeface="+mn-lt"/>
                  </a:rPr>
                  <a:t>一致性</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完整</a:t>
                </a:r>
                <a:r>
                  <a:rPr lang="zh-CN" altLang="en-US" dirty="0">
                    <a:solidFill>
                      <a:srgbClr val="00529D"/>
                    </a:solidFill>
                    <a:latin typeface="Arial" panose="020B0604020202020204"/>
                    <a:ea typeface="微软雅黑"/>
                    <a:cs typeface="+mn-ea"/>
                    <a:sym typeface="+mn-lt"/>
                  </a:rPr>
                  <a:t>性</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lvl="0"/>
                <a:r>
                  <a:rPr lang="zh-CN" altLang="en-US" dirty="0">
                    <a:solidFill>
                      <a:srgbClr val="00529D"/>
                    </a:solidFill>
                    <a:latin typeface="Arial" panose="020B0604020202020204"/>
                    <a:cs typeface="+mn-ea"/>
                    <a:sym typeface="+mn-lt"/>
                  </a:rPr>
                  <a:t>约束图</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mc:Choice>
        <mc:Fallback xmlns="">
          <p:sp>
            <p:nvSpPr>
              <p:cNvPr id="8" name="内容占位符 2">
                <a:extLst>
                  <a:ext uri="{FF2B5EF4-FFF2-40B4-BE49-F238E27FC236}">
                    <a16:creationId xmlns:a16="http://schemas.microsoft.com/office/drawing/2014/main" id="{04B99792-B2CF-4669-A8C1-700677831A39}"/>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3"/>
                <a:stretch>
                  <a:fillRect l="-965" t="-2320"/>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958CCA1E-1B12-4252-A01D-B2DC81F1C782}"/>
              </a:ext>
            </a:extLst>
          </p:cNvPr>
          <p:cNvPicPr>
            <a:picLocks noChangeAspect="1"/>
          </p:cNvPicPr>
          <p:nvPr/>
        </p:nvPicPr>
        <p:blipFill>
          <a:blip r:embed="rId4"/>
          <a:stretch>
            <a:fillRect/>
          </a:stretch>
        </p:blipFill>
        <p:spPr>
          <a:xfrm>
            <a:off x="4314734" y="3079750"/>
            <a:ext cx="7677331" cy="3276600"/>
          </a:xfrm>
          <a:prstGeom prst="rect">
            <a:avLst/>
          </a:prstGeom>
        </p:spPr>
      </p:pic>
    </p:spTree>
    <p:extLst>
      <p:ext uri="{BB962C8B-B14F-4D97-AF65-F5344CB8AC3E}">
        <p14:creationId xmlns:p14="http://schemas.microsoft.com/office/powerpoint/2010/main" val="196729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blinds(horizontal)">
                                      <p:cBhvr>
                                        <p:cTn id="7" dur="500"/>
                                        <p:tgtEl>
                                          <p:spTgt spid="8">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blinds(horizontal)">
                                      <p:cBhvr>
                                        <p:cTn id="10" dur="500"/>
                                        <p:tgtEl>
                                          <p:spTgt spid="8">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blinds(horizontal)">
                                      <p:cBhvr>
                                        <p:cTn id="13" dur="500"/>
                                        <p:tgtEl>
                                          <p:spTgt spid="8">
                                            <p:txEl>
                                              <p:pRg st="2" end="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8">
                                            <p:txEl>
                                              <p:pRg st="3" end="3"/>
                                            </p:txEl>
                                          </p:spTgt>
                                        </p:tgtEl>
                                        <p:attrNameLst>
                                          <p:attrName>style.visibility</p:attrName>
                                        </p:attrNameLst>
                                      </p:cBhvr>
                                      <p:to>
                                        <p:strVal val="visible"/>
                                      </p:to>
                                    </p:set>
                                    <p:animEffect transition="in" filter="blinds(horizontal)">
                                      <p:cBhvr>
                                        <p:cTn id="16" dur="500"/>
                                        <p:tgtEl>
                                          <p:spTgt spid="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animEffect transition="in" filter="blinds(horizontal)">
                                      <p:cBhvr>
                                        <p:cTn id="21" dur="500"/>
                                        <p:tgtEl>
                                          <p:spTgt spid="8">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8">
                                            <p:txEl>
                                              <p:pRg st="5" end="5"/>
                                            </p:txEl>
                                          </p:spTgt>
                                        </p:tgtEl>
                                        <p:attrNameLst>
                                          <p:attrName>style.visibility</p:attrName>
                                        </p:attrNameLst>
                                      </p:cBhvr>
                                      <p:to>
                                        <p:strVal val="visible"/>
                                      </p:to>
                                    </p:set>
                                    <p:animEffect transition="in" filter="blinds(horizontal)">
                                      <p:cBhvr>
                                        <p:cTn id="26" dur="500"/>
                                        <p:tgtEl>
                                          <p:spTgt spid="8">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animEffect transition="in" filter="blinds(horizontal)">
                                      <p:cBhvr>
                                        <p:cTn id="31"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DCBCB435-963E-06E6-8C18-E9FE46D127DA}"/>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a:t>
            </a:r>
            <a:endParaRPr lang="en-US" altLang="zh-CN" dirty="0">
              <a:solidFill>
                <a:srgbClr val="515223"/>
              </a:solidFill>
              <a:latin typeface="+mn-lt"/>
              <a:ea typeface="+mn-ea"/>
              <a:cs typeface="+mn-ea"/>
              <a:sym typeface="+mn-lt"/>
            </a:endParaRPr>
          </a:p>
        </p:txBody>
      </p:sp>
      <p:sp>
        <p:nvSpPr>
          <p:cNvPr id="21506" name="Footer Placeholder 4">
            <a:extLst>
              <a:ext uri="{FF2B5EF4-FFF2-40B4-BE49-F238E27FC236}">
                <a16:creationId xmlns:a16="http://schemas.microsoft.com/office/drawing/2014/main" id="{D86961A7-2E54-A165-593B-D45A0EF497F7}"/>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7" name="Rectangle 3">
            <a:extLst>
              <a:ext uri="{FF2B5EF4-FFF2-40B4-BE49-F238E27FC236}">
                <a16:creationId xmlns:a16="http://schemas.microsoft.com/office/drawing/2014/main" id="{9491C5D7-C0BF-4578-90D5-177C932EA532}"/>
              </a:ext>
            </a:extLst>
          </p:cNvPr>
          <p:cNvSpPr txBox="1">
            <a:spLocks noChangeArrowheads="1"/>
          </p:cNvSpPr>
          <p:nvPr/>
        </p:nvSpPr>
        <p:spPr>
          <a:xfrm>
            <a:off x="685800" y="1214436"/>
            <a:ext cx="106426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3200" b="0" i="0" u="none" strike="noStrike" kern="1200" cap="none" spc="0" normalizeH="0" baseline="0" noProof="0" dirty="0">
                <a:ln>
                  <a:noFill/>
                </a:ln>
                <a:solidFill>
                  <a:srgbClr val="FFFFFF">
                    <a:lumMod val="65000"/>
                  </a:srgbClr>
                </a:solidFill>
                <a:effectLst/>
                <a:uLnTx/>
                <a:uFillTx/>
                <a:latin typeface="Arial" panose="020B0604020202020204"/>
                <a:ea typeface="微软雅黑"/>
                <a:cs typeface="+mn-ea"/>
                <a:sym typeface="+mn-lt"/>
              </a:rPr>
              <a:t>定义约束满足问题</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32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约束传播：CSP中的推理</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ea"/>
                <a:sym typeface="+mn-lt"/>
              </a:rPr>
              <a:t>约束满足问题的回溯搜索</a:t>
            </a:r>
            <a:endParaRPr kumimoji="0" lang="en-US" sz="32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2224666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881F89A-97EC-F1E7-D591-39E9B7647ADE}"/>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约束传播</a:t>
            </a:r>
            <a:endParaRPr lang="en-US" altLang="zh-CN" dirty="0">
              <a:solidFill>
                <a:srgbClr val="515223"/>
              </a:solidFill>
              <a:latin typeface="+mn-lt"/>
              <a:ea typeface="+mn-ea"/>
              <a:cs typeface="+mn-ea"/>
              <a:sym typeface="+mn-lt"/>
            </a:endParaRPr>
          </a:p>
        </p:txBody>
      </p:sp>
      <p:sp>
        <p:nvSpPr>
          <p:cNvPr id="23554" name="Footer Placeholder 4">
            <a:extLst>
              <a:ext uri="{FF2B5EF4-FFF2-40B4-BE49-F238E27FC236}">
                <a16:creationId xmlns:a16="http://schemas.microsoft.com/office/drawing/2014/main" id="{4536C200-443A-8523-16F4-CD80EB015D3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5" name="内容占位符 2">
            <a:extLst>
              <a:ext uri="{FF2B5EF4-FFF2-40B4-BE49-F238E27FC236}">
                <a16:creationId xmlns:a16="http://schemas.microsoft.com/office/drawing/2014/main" id="{BCBBE416-0842-4506-88F1-DE980F6BA816}"/>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约束传播</a:t>
            </a:r>
            <a:r>
              <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t>
            </a:r>
            <a:r>
              <a:rPr kumimoji="0" lang="en"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利用约束条件减少变量的合法取值数量，这反过来，可以降低另一个变量的</a:t>
            </a:r>
            <a:r>
              <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取值范围</a:t>
            </a:r>
            <a:r>
              <a:rPr kumimoji="0" lang="en"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关键思想是</a:t>
            </a: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局部一致性</a:t>
            </a:r>
            <a:r>
              <a:rPr kumimoji="0" lang="zh-CN" altLang="en-US"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t>
            </a:r>
            <a:r>
              <a:rPr kumimoji="0" lang="en"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如果我们把每个变量视为图中的一个节点，每个二元约束视为一条边，那么局部强制的过程——</a:t>
            </a:r>
            <a:r>
              <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图表各部分的一致性可消除全局范围内不一致的数值</a:t>
            </a:r>
            <a:r>
              <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节点一致性</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弧一致性</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路径一致性</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1"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K</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-一致性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blinds(horizontal)">
                                      <p:cBhvr>
                                        <p:cTn id="15" dur="500"/>
                                        <p:tgtEl>
                                          <p:spTgt spid="5">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blinds(horizontal)">
                                      <p:cBhvr>
                                        <p:cTn id="18" dur="500"/>
                                        <p:tgtEl>
                                          <p:spTgt spid="5">
                                            <p:txEl>
                                              <p:pRg st="3" end="3"/>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blinds(horizontal)">
                                      <p:cBhvr>
                                        <p:cTn id="21" dur="500"/>
                                        <p:tgtEl>
                                          <p:spTgt spid="5">
                                            <p:txEl>
                                              <p:pRg st="4" end="4"/>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blinds(horizontal)">
                                      <p:cBhvr>
                                        <p:cTn id="24"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881F89A-97EC-F1E7-D591-39E9B7647ADE}"/>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节点一致性</a:t>
            </a:r>
            <a:endParaRPr lang="en-US" altLang="zh-CN" dirty="0">
              <a:solidFill>
                <a:srgbClr val="515223"/>
              </a:solidFill>
              <a:latin typeface="+mn-lt"/>
              <a:ea typeface="+mn-ea"/>
              <a:cs typeface="+mn-ea"/>
              <a:sym typeface="+mn-lt"/>
            </a:endParaRPr>
          </a:p>
        </p:txBody>
      </p:sp>
      <p:sp>
        <p:nvSpPr>
          <p:cNvPr id="23554" name="Footer Placeholder 4">
            <a:extLst>
              <a:ext uri="{FF2B5EF4-FFF2-40B4-BE49-F238E27FC236}">
                <a16:creationId xmlns:a16="http://schemas.microsoft.com/office/drawing/2014/main" id="{4536C200-443A-8523-16F4-CD80EB015D3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6" name="内容占位符 2">
            <a:extLst>
              <a:ext uri="{FF2B5EF4-FFF2-40B4-BE49-F238E27FC236}">
                <a16:creationId xmlns:a16="http://schemas.microsoft.com/office/drawing/2014/main" id="{5EE52D24-42A4-4D1C-8849-04FA49F708A9}"/>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节点一致性</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变量域中的所有值均满足该变量的一元约束。</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一个网络是节点一致的。</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网络中的每个变量都节点一致。</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通过运行节点一致性，总是可以消除约束满足问题中的所有一元约束。</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南澳人不喜欢绿色：SA={红，蓝，</a:t>
            </a:r>
            <a:r>
              <a:rPr kumimoji="0" lang="en-US" altLang="zh-CN" sz="2400" b="0" i="0" u="none" strike="sngStrike" kern="1200" cap="none" spc="0" normalizeH="0" baseline="0" noProof="0" dirty="0">
                <a:ln>
                  <a:noFill/>
                </a:ln>
                <a:solidFill>
                  <a:srgbClr val="000000"/>
                </a:solidFill>
                <a:effectLst/>
                <a:uLnTx/>
                <a:uFillTx/>
                <a:latin typeface="Arial" panose="020B0604020202020204"/>
                <a:ea typeface="微软雅黑"/>
                <a:cs typeface="+mn-ea"/>
                <a:sym typeface="+mn-lt"/>
              </a:rPr>
              <a:t>绿色</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1121621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blinds(horizontal)">
                                      <p:cBhvr>
                                        <p:cTn id="15" dur="500"/>
                                        <p:tgtEl>
                                          <p:spTgt spid="6">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blinds(horizontal)">
                                      <p:cBhvr>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blinds(horizontal)">
                                      <p:cBhvr>
                                        <p:cTn id="23" dur="500"/>
                                        <p:tgtEl>
                                          <p:spTgt spid="6">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blinds(horizontal)">
                                      <p:cBhvr>
                                        <p:cTn id="26"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881F89A-97EC-F1E7-D591-39E9B7647ADE}"/>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弧一致性</a:t>
            </a:r>
            <a:endParaRPr lang="en-US" altLang="zh-CN" dirty="0">
              <a:solidFill>
                <a:srgbClr val="515223"/>
              </a:solidFill>
              <a:latin typeface="+mn-lt"/>
              <a:ea typeface="+mn-ea"/>
              <a:cs typeface="+mn-ea"/>
              <a:sym typeface="+mn-lt"/>
            </a:endParaRPr>
          </a:p>
        </p:txBody>
      </p:sp>
      <p:sp>
        <p:nvSpPr>
          <p:cNvPr id="23554" name="Footer Placeholder 4">
            <a:extLst>
              <a:ext uri="{FF2B5EF4-FFF2-40B4-BE49-F238E27FC236}">
                <a16:creationId xmlns:a16="http://schemas.microsoft.com/office/drawing/2014/main" id="{4536C200-443A-8523-16F4-CD80EB015D3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8ACFFB67-C011-4200-8027-F2FD4D3F0F9E}"/>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00000"/>
                  </a:lnSpc>
                </a:pPr>
                <a:r>
                  <a:rPr lang="zh-CN" altLang="en-US" dirty="0">
                    <a:solidFill>
                      <a:srgbClr val="00529D"/>
                    </a:solidFill>
                    <a:latin typeface="Arial" panose="020B0604020202020204"/>
                    <a:cs typeface="+mn-ea"/>
                    <a:sym typeface="+mn-lt"/>
                  </a:rPr>
                  <a:t>弧一致性</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lvl="1">
                  <a:lnSpc>
                    <a:spcPct val="100000"/>
                  </a:lnSpc>
                </a:pPr>
                <a:r>
                  <a:rPr lang="zh-CN" altLang="en-US" dirty="0">
                    <a:solidFill>
                      <a:srgbClr val="000000"/>
                    </a:solidFill>
                    <a:latin typeface="Arial" panose="020B0604020202020204"/>
                    <a:cs typeface="+mn-ea"/>
                    <a:sym typeface="+mn-lt"/>
                  </a:rPr>
                  <a:t>其定义域中的每个值都满足该变量的二进制约束条件</a:t>
                </a: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lvl="0">
                  <a:lnSpc>
                    <a:spcPct val="100000"/>
                  </a:lnSpc>
                </a:pPr>
                <a:r>
                  <a:rPr lang="zh-CN" altLang="en-US" dirty="0">
                    <a:solidFill>
                      <a:srgbClr val="00529D"/>
                    </a:solidFill>
                    <a:latin typeface="Arial" panose="020B0604020202020204"/>
                    <a:cs typeface="+mn-ea"/>
                    <a:sym typeface="+mn-lt"/>
                  </a:rPr>
                  <a:t>如果一个网络中每个变量都与每个其他变量满足弧一致性，则该网络就是弧一致的</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t>
                </a:r>
              </a:p>
              <a:p>
                <a:pPr lvl="1">
                  <a:lnSpc>
                    <a:spcPct val="100000"/>
                  </a:lnSpc>
                </a:pPr>
                <a14:m>
                  <m:oMath xmlns:m="http://schemas.openxmlformats.org/officeDocument/2006/math">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𝑖</m:t>
                        </m:r>
                      </m:sub>
                    </m:sSub>
                  </m:oMath>
                </a14:m>
                <a:r>
                  <a:rPr lang="zh-CN" altLang="en-US" dirty="0">
                    <a:solidFill>
                      <a:srgbClr val="000000"/>
                    </a:solidFill>
                    <a:latin typeface="Arial" panose="020B0604020202020204"/>
                    <a:cs typeface="+mn-ea"/>
                    <a:sym typeface="+mn-lt"/>
                  </a:rPr>
                  <a:t>是与</a:t>
                </a:r>
                <a14:m>
                  <m:oMath xmlns:m="http://schemas.openxmlformats.org/officeDocument/2006/math">
                    <m:sSub>
                      <m:sSubPr>
                        <m:ctrlPr>
                          <a:rPr lang="en-US" altLang="zh-CN" i="1" dirty="0">
                            <a:solidFill>
                              <a:srgbClr val="000000"/>
                            </a:solidFill>
                            <a:latin typeface="Cambria Math" panose="02040503050406030204" pitchFamily="18" charset="0"/>
                            <a:cs typeface="+mn-ea"/>
                            <a:sym typeface="+mn-lt"/>
                          </a:rPr>
                        </m:ctrlPr>
                      </m:sSubPr>
                      <m:e>
                        <m:r>
                          <a:rPr lang="en-US" altLang="zh-CN" i="1" dirty="0">
                            <a:solidFill>
                              <a:srgbClr val="000000"/>
                            </a:solidFill>
                            <a:latin typeface="Cambria Math" panose="02040503050406030204" pitchFamily="18" charset="0"/>
                            <a:cs typeface="+mn-ea"/>
                            <a:sym typeface="+mn-lt"/>
                          </a:rPr>
                          <m:t>𝑋</m:t>
                        </m:r>
                      </m:e>
                      <m:sub>
                        <m:r>
                          <a:rPr lang="en-US" altLang="zh-CN" i="1" dirty="0">
                            <a:solidFill>
                              <a:srgbClr val="000000"/>
                            </a:solidFill>
                            <a:latin typeface="Cambria Math" panose="02040503050406030204" pitchFamily="18" charset="0"/>
                            <a:cs typeface="+mn-ea"/>
                            <a:sym typeface="+mn-lt"/>
                          </a:rPr>
                          <m:t>𝑗</m:t>
                        </m:r>
                      </m:sub>
                    </m:sSub>
                  </m:oMath>
                </a14:m>
                <a:r>
                  <a:rPr lang="zh-CN" altLang="en-US" dirty="0">
                    <a:solidFill>
                      <a:srgbClr val="000000"/>
                    </a:solidFill>
                    <a:latin typeface="Arial" panose="020B0604020202020204"/>
                    <a:cs typeface="+mn-ea"/>
                    <a:sym typeface="+mn-lt"/>
                  </a:rPr>
                  <a:t>弧一致的</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对于每个价值在</a:t>
                </a:r>
                <a14:m>
                  <m:oMath xmlns:m="http://schemas.openxmlformats.org/officeDocument/2006/math">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 </m:t>
                        </m:r>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𝐷</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𝑖</m:t>
                        </m:r>
                      </m:sub>
                    </m:sSub>
                  </m:oMath>
                </a14:m>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中</a:t>
                </a:r>
                <a14:m>
                  <m:oMath xmlns:m="http://schemas.openxmlformats.org/officeDocument/2006/math">
                    <m:r>
                      <a:rPr lang="zh-CN" altLang="en-US" dirty="0">
                        <a:solidFill>
                          <a:srgbClr val="000000"/>
                        </a:solidFill>
                        <a:latin typeface="Cambria Math" panose="02040503050406030204" pitchFamily="18" charset="0"/>
                        <a:cs typeface="+mn-ea"/>
                        <a:sym typeface="+mn-lt"/>
                      </a:rPr>
                      <m:t>有</m:t>
                    </m:r>
                    <m:r>
                      <a:rPr lang="zh-CN" altLang="en-US" i="1" dirty="0" smtClean="0">
                        <a:solidFill>
                          <a:srgbClr val="000000"/>
                        </a:solidFill>
                        <a:latin typeface="Cambria Math" panose="02040503050406030204" pitchFamily="18" charset="0"/>
                        <a:cs typeface="+mn-ea"/>
                        <a:sym typeface="+mn-lt"/>
                      </a:rPr>
                      <m:t>价值</m:t>
                    </m:r>
                    <m:r>
                      <a:rPr lang="zh-CN" altLang="en-US" i="1" dirty="0">
                        <a:solidFill>
                          <a:srgbClr val="000000"/>
                        </a:solidFill>
                        <a:latin typeface="Cambria Math" panose="02040503050406030204" pitchFamily="18" charset="0"/>
                        <a:cs typeface="+mn-ea"/>
                        <a:sym typeface="+mn-lt"/>
                      </a:rPr>
                      <m:t>在</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𝐷</m:t>
                    </m:r>
                    <m:r>
                      <a:rPr kumimoji="0" lang="en-US" altLang="zh-CN" sz="16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𝑗</m:t>
                    </m:r>
                    <m:r>
                      <a:rPr kumimoji="0" lang="en-US" altLang="zh-CN" sz="16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m:t>
                    </m:r>
                  </m:oMath>
                </a14:m>
                <a:r>
                  <a:rPr lang="zh-CN" altLang="en-US" dirty="0">
                    <a:solidFill>
                      <a:srgbClr val="000000"/>
                    </a:solidFill>
                    <a:latin typeface="Arial" panose="020B0604020202020204"/>
                    <a:cs typeface="+mn-ea"/>
                    <a:sym typeface="+mn-lt"/>
                  </a:rPr>
                  <a:t>上满足弧上的二元约束条件</a:t>
                </a:r>
                <a14:m>
                  <m:oMath xmlns:m="http://schemas.openxmlformats.org/officeDocument/2006/math">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e>
                      <m:sub>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𝑖</m:t>
                        </m:r>
                      </m:sub>
                    </m:sSub>
                    <m:r>
                      <a:rPr kumimoji="0" lang="en-US" altLang="zh-CN" sz="24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m:t>
                    </m:r>
                    <m:sSub>
                      <m:sSubPr>
                        <m:ctrlP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e>
                      <m: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𝑗</m:t>
                        </m:r>
                      </m:sub>
                    </m:sSub>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m:t>
                    </m:r>
                  </m:oMath>
                </a14:m>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弧一致性</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AC-3</a:t>
                </a:r>
                <a:r>
                  <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算法</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lvl="1">
                  <a:lnSpc>
                    <a:spcPct val="100000"/>
                  </a:lnSpc>
                </a:pPr>
                <a:r>
                  <a:rPr lang="zh-CN" altLang="en-US" dirty="0">
                    <a:solidFill>
                      <a:srgbClr val="000000"/>
                    </a:solidFill>
                    <a:latin typeface="Arial" panose="020B0604020202020204"/>
                    <a:cs typeface="+mn-ea"/>
                    <a:sym typeface="+mn-lt"/>
                  </a:rPr>
                  <a:t>检查定义域中的每个值，以满足二元约束</a:t>
                </a:r>
              </a:p>
            </p:txBody>
          </p:sp>
        </mc:Choice>
        <mc:Fallback xmlns="">
          <p:sp>
            <p:nvSpPr>
              <p:cNvPr id="6" name="内容占位符 2">
                <a:extLst>
                  <a:ext uri="{FF2B5EF4-FFF2-40B4-BE49-F238E27FC236}">
                    <a16:creationId xmlns:a16="http://schemas.microsoft.com/office/drawing/2014/main" id="{8ACFFB67-C011-4200-8027-F2FD4D3F0F9E}"/>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3"/>
                <a:stretch>
                  <a:fillRect l="-965" t="-12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9940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blinds(horizontal)">
                                      <p:cBhvr>
                                        <p:cTn id="15" dur="500"/>
                                        <p:tgtEl>
                                          <p:spTgt spid="6">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blinds(horizontal)">
                                      <p:cBhvr>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blinds(horizontal)">
                                      <p:cBhvr>
                                        <p:cTn id="23" dur="500"/>
                                        <p:tgtEl>
                                          <p:spTgt spid="6">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blinds(horizontal)">
                                      <p:cBhvr>
                                        <p:cTn id="26"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881F89A-97EC-F1E7-D591-39E9B7647ADE}"/>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弧一致性</a:t>
            </a:r>
            <a:endParaRPr lang="en-US" altLang="zh-CN" dirty="0">
              <a:solidFill>
                <a:srgbClr val="515223"/>
              </a:solidFill>
              <a:latin typeface="+mn-lt"/>
              <a:ea typeface="+mn-ea"/>
              <a:cs typeface="+mn-ea"/>
              <a:sym typeface="+mn-lt"/>
            </a:endParaRPr>
          </a:p>
        </p:txBody>
      </p:sp>
      <p:sp>
        <p:nvSpPr>
          <p:cNvPr id="23554" name="Footer Placeholder 4">
            <a:extLst>
              <a:ext uri="{FF2B5EF4-FFF2-40B4-BE49-F238E27FC236}">
                <a16:creationId xmlns:a16="http://schemas.microsoft.com/office/drawing/2014/main" id="{4536C200-443A-8523-16F4-CD80EB015D3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5" name="内容占位符 2">
            <a:extLst>
              <a:ext uri="{FF2B5EF4-FFF2-40B4-BE49-F238E27FC236}">
                <a16:creationId xmlns:a16="http://schemas.microsoft.com/office/drawing/2014/main" id="{C6765220-AA28-47A4-A54A-B75A3B800E4C}"/>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AC-3</a:t>
            </a:r>
            <a:r>
              <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算法</a:t>
            </a:r>
          </a:p>
          <a:p>
            <a:pPr lvl="1">
              <a:lnSpc>
                <a:spcPct val="100000"/>
              </a:lnSpc>
            </a:pPr>
            <a:r>
              <a:rPr lang="zh-CN" altLang="en-US" dirty="0">
                <a:solidFill>
                  <a:srgbClr val="000000"/>
                </a:solidFill>
                <a:latin typeface="Arial" panose="020B0604020202020204"/>
                <a:cs typeface="+mn-ea"/>
                <a:sym typeface="+mn-lt"/>
              </a:rPr>
              <a:t>最初，队列中包含</a:t>
            </a:r>
            <a:r>
              <a:rPr lang="en-US" altLang="zh-CN" dirty="0">
                <a:solidFill>
                  <a:srgbClr val="000000"/>
                </a:solidFill>
                <a:latin typeface="Arial" panose="020B0604020202020204"/>
                <a:cs typeface="+mn-ea"/>
                <a:sym typeface="+mn-lt"/>
              </a:rPr>
              <a:t>CSP</a:t>
            </a:r>
            <a:r>
              <a:rPr lang="zh-CN" altLang="en-US" dirty="0">
                <a:solidFill>
                  <a:srgbClr val="000000"/>
                </a:solidFill>
                <a:latin typeface="Arial" panose="020B0604020202020204"/>
                <a:cs typeface="+mn-ea"/>
                <a:sym typeface="+mn-lt"/>
              </a:rPr>
              <a:t>中的所有弧。</a:t>
            </a:r>
            <a:endParaRPr lang="en-US" altLang="zh-CN" dirty="0">
              <a:solidFill>
                <a:srgbClr val="000000"/>
              </a:solidFill>
              <a:latin typeface="Arial" panose="020B0604020202020204"/>
              <a:cs typeface="+mn-ea"/>
              <a:sym typeface="+mn-lt"/>
            </a:endParaRPr>
          </a:p>
          <a:p>
            <a:pPr lvl="1">
              <a:lnSpc>
                <a:spcPct val="100000"/>
              </a:lnSpc>
            </a:pPr>
            <a:r>
              <a:rPr lang="zh-CN" altLang="en-US" dirty="0">
                <a:solidFill>
                  <a:srgbClr val="000000"/>
                </a:solidFill>
                <a:latin typeface="Arial" panose="020B0604020202020204"/>
                <a:cs typeface="+mn-ea"/>
                <a:sym typeface="+mn-lt"/>
              </a:rPr>
              <a:t>从队列中弹出</a:t>
            </a:r>
            <a:r>
              <a:rPr lang="en-US" altLang="zh-CN" dirty="0">
                <a:solidFill>
                  <a:srgbClr val="000000"/>
                </a:solidFill>
                <a:latin typeface="Arial" panose="020B0604020202020204"/>
                <a:cs typeface="+mn-ea"/>
                <a:sym typeface="+mn-lt"/>
              </a:rPr>
              <a:t>(</a:t>
            </a:r>
            <a:r>
              <a:rPr lang="zh-CN" altLang="en-US" dirty="0">
                <a:solidFill>
                  <a:srgbClr val="000000"/>
                </a:solidFill>
                <a:latin typeface="Arial" panose="020B0604020202020204"/>
                <a:cs typeface="+mn-ea"/>
                <a:sym typeface="+mn-lt"/>
              </a:rPr>
              <a:t>𝑋𝑖</a:t>
            </a:r>
            <a:r>
              <a:rPr lang="en-US" altLang="zh-CN" dirty="0">
                <a:solidFill>
                  <a:srgbClr val="000000"/>
                </a:solidFill>
                <a:latin typeface="Arial" panose="020B0604020202020204"/>
                <a:cs typeface="+mn-ea"/>
                <a:sym typeface="+mn-lt"/>
              </a:rPr>
              <a:t>,</a:t>
            </a:r>
            <a:r>
              <a:rPr lang="zh-CN" altLang="en-US" dirty="0">
                <a:solidFill>
                  <a:srgbClr val="000000"/>
                </a:solidFill>
                <a:latin typeface="Arial" panose="020B0604020202020204"/>
                <a:cs typeface="+mn-ea"/>
                <a:sym typeface="+mn-lt"/>
              </a:rPr>
              <a:t>𝑋𝑗 </a:t>
            </a:r>
            <a:r>
              <a:rPr lang="en-US" altLang="zh-CN" dirty="0">
                <a:solidFill>
                  <a:srgbClr val="000000"/>
                </a:solidFill>
                <a:latin typeface="Arial" panose="020B0604020202020204"/>
                <a:cs typeface="+mn-ea"/>
                <a:sym typeface="+mn-lt"/>
              </a:rPr>
              <a:t>)</a:t>
            </a:r>
            <a:r>
              <a:rPr lang="zh-CN" altLang="en-US" dirty="0">
                <a:solidFill>
                  <a:srgbClr val="000000"/>
                </a:solidFill>
                <a:latin typeface="Arial" panose="020B0604020202020204"/>
                <a:cs typeface="+mn-ea"/>
                <a:sym typeface="+mn-lt"/>
              </a:rPr>
              <a:t>，确认𝑋𝑖和𝑋𝑗弧相容</a:t>
            </a:r>
            <a:endParaRPr lang="en-US" altLang="zh-CN" dirty="0">
              <a:solidFill>
                <a:srgbClr val="000000"/>
              </a:solidFill>
              <a:latin typeface="Arial" panose="020B0604020202020204"/>
              <a:cs typeface="+mn-ea"/>
              <a:sym typeface="+mn-lt"/>
            </a:endParaRPr>
          </a:p>
          <a:p>
            <a:pPr lvl="1">
              <a:lnSpc>
                <a:spcPct val="100000"/>
              </a:lnSpc>
            </a:pPr>
            <a:r>
              <a:rPr lang="zh-CN" altLang="en-US" dirty="0">
                <a:solidFill>
                  <a:srgbClr val="000000"/>
                </a:solidFill>
                <a:latin typeface="Arial" panose="020B0604020202020204"/>
                <a:cs typeface="+mn-ea"/>
                <a:sym typeface="+mn-lt"/>
              </a:rPr>
              <a:t>如果𝐷𝑖 没变，则处理下一条弧</a:t>
            </a:r>
          </a:p>
          <a:p>
            <a:pPr lvl="1">
              <a:lnSpc>
                <a:spcPct val="100000"/>
              </a:lnSpc>
            </a:pPr>
            <a:r>
              <a:rPr lang="zh-CN" altLang="en-US" dirty="0">
                <a:solidFill>
                  <a:srgbClr val="000000"/>
                </a:solidFill>
                <a:latin typeface="Arial" panose="020B0604020202020204"/>
                <a:cs typeface="+mn-ea"/>
                <a:sym typeface="+mn-lt"/>
              </a:rPr>
              <a:t>如果𝐷𝑖 改变，则将所有指向𝑋𝑖的弧进队列</a:t>
            </a:r>
            <a:endParaRPr lang="en-US" altLang="zh-CN" dirty="0">
              <a:solidFill>
                <a:srgbClr val="000000"/>
              </a:solidFill>
              <a:latin typeface="Arial" panose="020B0604020202020204"/>
              <a:cs typeface="+mn-ea"/>
              <a:sym typeface="+mn-lt"/>
            </a:endParaRPr>
          </a:p>
          <a:p>
            <a:pPr lvl="1">
              <a:lnSpc>
                <a:spcPct val="100000"/>
              </a:lnSpc>
            </a:pPr>
            <a:r>
              <a:rPr lang="zh-CN" altLang="en-US" dirty="0">
                <a:solidFill>
                  <a:srgbClr val="000000"/>
                </a:solidFill>
                <a:latin typeface="Arial" panose="020B0604020202020204"/>
                <a:cs typeface="+mn-ea"/>
                <a:sym typeface="+mn-lt"/>
              </a:rPr>
              <a:t>如果𝐷𝑖为空，则失败</a:t>
            </a:r>
          </a:p>
        </p:txBody>
      </p:sp>
    </p:spTree>
    <p:extLst>
      <p:ext uri="{BB962C8B-B14F-4D97-AF65-F5344CB8AC3E}">
        <p14:creationId xmlns:p14="http://schemas.microsoft.com/office/powerpoint/2010/main" val="3925840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881F89A-97EC-F1E7-D591-39E9B7647ADE}"/>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弧一致性</a:t>
            </a:r>
            <a:endParaRPr lang="en-US" altLang="zh-CN" dirty="0">
              <a:solidFill>
                <a:srgbClr val="515223"/>
              </a:solidFill>
              <a:latin typeface="+mn-lt"/>
              <a:ea typeface="+mn-ea"/>
              <a:cs typeface="+mn-ea"/>
              <a:sym typeface="+mn-lt"/>
            </a:endParaRPr>
          </a:p>
        </p:txBody>
      </p:sp>
      <p:sp>
        <p:nvSpPr>
          <p:cNvPr id="23554" name="Footer Placeholder 4">
            <a:extLst>
              <a:ext uri="{FF2B5EF4-FFF2-40B4-BE49-F238E27FC236}">
                <a16:creationId xmlns:a16="http://schemas.microsoft.com/office/drawing/2014/main" id="{4536C200-443A-8523-16F4-CD80EB015D3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5" name="内容占位符 2">
            <a:extLst>
              <a:ext uri="{FF2B5EF4-FFF2-40B4-BE49-F238E27FC236}">
                <a16:creationId xmlns:a16="http://schemas.microsoft.com/office/drawing/2014/main" id="{C6765220-AA28-47A4-A54A-B75A3B800E4C}"/>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AC-3算法</a:t>
            </a:r>
            <a:endPar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pic>
        <p:nvPicPr>
          <p:cNvPr id="7" name="图片 6">
            <a:extLst>
              <a:ext uri="{FF2B5EF4-FFF2-40B4-BE49-F238E27FC236}">
                <a16:creationId xmlns:a16="http://schemas.microsoft.com/office/drawing/2014/main" id="{5607EE67-6981-4AEB-97EA-541AA7096150}"/>
              </a:ext>
            </a:extLst>
          </p:cNvPr>
          <p:cNvPicPr>
            <a:picLocks noChangeAspect="1"/>
          </p:cNvPicPr>
          <p:nvPr/>
        </p:nvPicPr>
        <p:blipFill>
          <a:blip r:embed="rId3"/>
          <a:stretch>
            <a:fillRect/>
          </a:stretch>
        </p:blipFill>
        <p:spPr>
          <a:xfrm>
            <a:off x="323301" y="1981200"/>
            <a:ext cx="11640099" cy="4419600"/>
          </a:xfrm>
          <a:prstGeom prst="rect">
            <a:avLst/>
          </a:prstGeom>
        </p:spPr>
      </p:pic>
    </p:spTree>
    <p:extLst>
      <p:ext uri="{BB962C8B-B14F-4D97-AF65-F5344CB8AC3E}">
        <p14:creationId xmlns:p14="http://schemas.microsoft.com/office/powerpoint/2010/main" val="1743289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881F89A-97EC-F1E7-D591-39E9B7647ADE}"/>
              </a:ext>
            </a:extLst>
          </p:cNvPr>
          <p:cNvSpPr>
            <a:spLocks noGrp="1" noChangeArrowheads="1"/>
          </p:cNvSpPr>
          <p:nvPr>
            <p:ph type="title"/>
          </p:nvPr>
        </p:nvSpPr>
        <p:spPr/>
        <p:txBody>
          <a:bodyPr/>
          <a:lstStyle/>
          <a:p>
            <a:pPr eaLnBrk="1" hangingPunct="1"/>
            <a:r>
              <a:rPr lang="en-US" altLang="zh-CN" sz="3600" dirty="0" err="1">
                <a:latin typeface="+mn-lt"/>
                <a:ea typeface="+mn-ea"/>
                <a:cs typeface="+mn-ea"/>
                <a:sym typeface="+mn-lt"/>
              </a:rPr>
              <a:t>弧一致性</a:t>
            </a:r>
            <a:endParaRPr lang="en-US" altLang="zh-CN" dirty="0">
              <a:solidFill>
                <a:srgbClr val="515223"/>
              </a:solidFill>
              <a:latin typeface="+mn-lt"/>
              <a:ea typeface="+mn-ea"/>
              <a:cs typeface="+mn-ea"/>
              <a:sym typeface="+mn-lt"/>
            </a:endParaRPr>
          </a:p>
        </p:txBody>
      </p:sp>
      <p:sp>
        <p:nvSpPr>
          <p:cNvPr id="23554" name="Footer Placeholder 4">
            <a:extLst>
              <a:ext uri="{FF2B5EF4-FFF2-40B4-BE49-F238E27FC236}">
                <a16:creationId xmlns:a16="http://schemas.microsoft.com/office/drawing/2014/main" id="{4536C200-443A-8523-16F4-CD80EB015D3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5" name="内容占位符 2">
            <a:extLst>
              <a:ext uri="{FF2B5EF4-FFF2-40B4-BE49-F238E27FC236}">
                <a16:creationId xmlns:a16="http://schemas.microsoft.com/office/drawing/2014/main" id="{C6765220-AA28-47A4-A54A-B75A3B800E4C}"/>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3"/>
                </a:solidFill>
                <a:latin typeface="+mn-lt"/>
                <a:cs typeface="+mn-ea"/>
                <a:sym typeface="+mn-lt"/>
              </a:rPr>
              <a:t>AC-3</a:t>
            </a:r>
            <a:r>
              <a:rPr lang="zh-CN" altLang="en-US" dirty="0">
                <a:solidFill>
                  <a:schemeClr val="accent3"/>
                </a:solidFill>
                <a:latin typeface="+mn-lt"/>
                <a:cs typeface="+mn-ea"/>
                <a:sym typeface="+mn-lt"/>
              </a:rPr>
              <a:t>算法</a:t>
            </a:r>
          </a:p>
          <a:p>
            <a:pPr marL="457200" lvl="1" indent="0">
              <a:buNone/>
            </a:pPr>
            <a:endParaRPr lang="zh-CN" altLang="en-US" dirty="0">
              <a:latin typeface="+mn-lt"/>
              <a:cs typeface="+mn-ea"/>
              <a:sym typeface="+mn-lt"/>
            </a:endParaRPr>
          </a:p>
        </p:txBody>
      </p:sp>
      <p:pic>
        <p:nvPicPr>
          <p:cNvPr id="7" name="图片 6">
            <a:extLst>
              <a:ext uri="{FF2B5EF4-FFF2-40B4-BE49-F238E27FC236}">
                <a16:creationId xmlns:a16="http://schemas.microsoft.com/office/drawing/2014/main" id="{7825E625-4E6A-454F-A428-CC2524F62095}"/>
              </a:ext>
            </a:extLst>
          </p:cNvPr>
          <p:cNvPicPr>
            <a:picLocks noChangeAspect="1"/>
          </p:cNvPicPr>
          <p:nvPr/>
        </p:nvPicPr>
        <p:blipFill>
          <a:blip r:embed="rId3"/>
          <a:stretch>
            <a:fillRect/>
          </a:stretch>
        </p:blipFill>
        <p:spPr>
          <a:xfrm>
            <a:off x="446313" y="2209800"/>
            <a:ext cx="11593287" cy="2895600"/>
          </a:xfrm>
          <a:prstGeom prst="rect">
            <a:avLst/>
          </a:prstGeom>
        </p:spPr>
      </p:pic>
    </p:spTree>
    <p:extLst>
      <p:ext uri="{BB962C8B-B14F-4D97-AF65-F5344CB8AC3E}">
        <p14:creationId xmlns:p14="http://schemas.microsoft.com/office/powerpoint/2010/main" val="162629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F881F89A-97EC-F1E7-D591-39E9B7647ADE}"/>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弧一致性</a:t>
            </a:r>
            <a:endParaRPr lang="en-US" altLang="zh-CN" dirty="0">
              <a:solidFill>
                <a:srgbClr val="515223"/>
              </a:solidFill>
              <a:latin typeface="+mn-lt"/>
              <a:ea typeface="+mn-ea"/>
              <a:cs typeface="+mn-ea"/>
              <a:sym typeface="+mn-lt"/>
            </a:endParaRPr>
          </a:p>
        </p:txBody>
      </p:sp>
      <p:sp>
        <p:nvSpPr>
          <p:cNvPr id="23554" name="Footer Placeholder 4">
            <a:extLst>
              <a:ext uri="{FF2B5EF4-FFF2-40B4-BE49-F238E27FC236}">
                <a16:creationId xmlns:a16="http://schemas.microsoft.com/office/drawing/2014/main" id="{4536C200-443A-8523-16F4-CD80EB015D3F}"/>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6" name="内容占位符 2">
            <a:extLst>
              <a:ext uri="{FF2B5EF4-FFF2-40B4-BE49-F238E27FC236}">
                <a16:creationId xmlns:a16="http://schemas.microsoft.com/office/drawing/2014/main" id="{58C2E260-9D7B-4CD5-B2EC-6CCBC5CCF966}"/>
              </a:ext>
            </a:extLst>
          </p:cNvPr>
          <p:cNvSpPr txBox="1">
            <a:spLocks/>
          </p:cNvSpPr>
          <p:nvPr/>
        </p:nvSpPr>
        <p:spPr>
          <a:xfrm>
            <a:off x="1091255" y="1404936"/>
            <a:ext cx="943387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应用AC-3</a:t>
            </a:r>
            <a:r>
              <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算法</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后</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每个弧都满足弧一致性，或</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某些变量的定义域为空，即CSP无法求解。</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292973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blinds(horizontal)">
                                      <p:cBhvr>
                                        <p:cTn id="10" dur="500"/>
                                        <p:tgtEl>
                                          <p:spTgt spid="6">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blinds(horizontal)">
                                      <p:cBhvr>
                                        <p:cTn id="13"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路径一致性</a:t>
            </a:r>
            <a:endParaRPr lang="en-GB" altLang="zh-CN" dirty="0">
              <a:solidFill>
                <a:srgbClr val="515223"/>
              </a:solidFill>
              <a:latin typeface="+mn-lt"/>
              <a:ea typeface="+mn-ea"/>
              <a:cs typeface="+mn-ea"/>
              <a:sym typeface="+mn-lt"/>
            </a:endParaRP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F62CA421-EEE3-47BE-B51C-28D03AA2FD34}"/>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zh-CN" altLang="en-US" dirty="0">
                    <a:solidFill>
                      <a:srgbClr val="00529D"/>
                    </a:solidFill>
                    <a:latin typeface="Arial" panose="020B0604020202020204"/>
                    <a:cs typeface="+mn-ea"/>
                    <a:sym typeface="+mn-lt"/>
                  </a:rPr>
                  <a:t>路径一致性</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 </a:t>
                </a:r>
              </a:p>
              <a:p>
                <a:pPr lvl="1"/>
                <a:r>
                  <a:rPr lang="zh-CN" altLang="en-US" dirty="0">
                    <a:solidFill>
                      <a:srgbClr val="000000"/>
                    </a:solidFill>
                    <a:latin typeface="Arial" panose="020B0604020202020204"/>
                    <a:cs typeface="+mn-ea"/>
                    <a:sym typeface="+mn-lt"/>
                  </a:rPr>
                  <a:t>通过使用通过查看三元组变量推断出的隐式约束来收紧二元约束。</a:t>
                </a:r>
                <a:endParaRPr lang="en-US" altLang="zh-CN" dirty="0">
                  <a:solidFill>
                    <a:srgbClr val="000000"/>
                  </a:solidFill>
                  <a:latin typeface="Arial" panose="020B0604020202020204"/>
                  <a:ea typeface="微软雅黑"/>
                  <a:cs typeface="+mn-ea"/>
                  <a:sym typeface="+mn-lt"/>
                </a:endParaRPr>
              </a:p>
              <a:p>
                <a:pPr lvl="1"/>
                <a:endPar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lvl="0"/>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t>
                </a:r>
                <a14:m>
                  <m:oMath xmlns:m="http://schemas.openxmlformats.org/officeDocument/2006/math">
                    <m:sSub>
                      <m:sSubPr>
                        <m:ctrlPr>
                          <a:rPr kumimoji="0" lang="en-US" altLang="zh-CN" sz="2800" b="0" i="1" u="none" strike="noStrike" kern="1200" cap="none" spc="0" normalizeH="0" baseline="0" noProof="0" dirty="0" smtClean="0">
                            <a:ln>
                              <a:noFill/>
                            </a:ln>
                            <a:solidFill>
                              <a:srgbClr val="00529D"/>
                            </a:solidFill>
                            <a:effectLst/>
                            <a:uLnTx/>
                            <a:uFillTx/>
                            <a:latin typeface="Cambria Math" panose="02040503050406030204" pitchFamily="18" charset="0"/>
                            <a:cs typeface="+mn-ea"/>
                            <a:sym typeface="+mn-lt"/>
                          </a:rPr>
                        </m:ctrlPr>
                      </m:sSubPr>
                      <m:e>
                        <m:r>
                          <a:rPr kumimoji="0" lang="en-US" altLang="zh-CN" sz="2800" b="0" i="1" u="none" strike="noStrike" kern="1200" cap="none" spc="0" normalizeH="0" baseline="0" noProof="0" dirty="0">
                            <a:ln>
                              <a:noFill/>
                            </a:ln>
                            <a:solidFill>
                              <a:srgbClr val="00529D"/>
                            </a:solidFill>
                            <a:effectLst/>
                            <a:uLnTx/>
                            <a:uFillTx/>
                            <a:latin typeface="Cambria Math" panose="02040503050406030204" pitchFamily="18" charset="0"/>
                            <a:cs typeface="+mn-ea"/>
                            <a:sym typeface="+mn-lt"/>
                          </a:rPr>
                          <m:t>𝑋</m:t>
                        </m:r>
                      </m:e>
                      <m:sub>
                        <m:r>
                          <a:rPr kumimoji="0" lang="en-US" altLang="zh-CN" sz="2800" b="0" i="1" u="none" strike="noStrike" kern="1200" cap="none" spc="0" normalizeH="0" baseline="0" noProof="0" dirty="0">
                            <a:ln>
                              <a:noFill/>
                            </a:ln>
                            <a:solidFill>
                              <a:srgbClr val="00529D"/>
                            </a:solidFill>
                            <a:effectLst/>
                            <a:uLnTx/>
                            <a:uFillTx/>
                            <a:latin typeface="Cambria Math" panose="02040503050406030204" pitchFamily="18" charset="0"/>
                            <a:cs typeface="+mn-ea"/>
                            <a:sym typeface="+mn-lt"/>
                          </a:rPr>
                          <m:t>𝑖</m:t>
                        </m:r>
                      </m:sub>
                    </m:sSub>
                  </m:oMath>
                </a14:m>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 </a:t>
                </a:r>
                <a14:m>
                  <m:oMath xmlns:m="http://schemas.openxmlformats.org/officeDocument/2006/math">
                    <m:sSub>
                      <m:sSubPr>
                        <m:ctrlPr>
                          <a:rPr kumimoji="0" lang="en-US" altLang="zh-CN" sz="2800" b="0" i="1" u="none" strike="noStrike" kern="1200" cap="none" spc="0" normalizeH="0" baseline="0" noProof="0" dirty="0">
                            <a:ln>
                              <a:noFill/>
                            </a:ln>
                            <a:solidFill>
                              <a:srgbClr val="00529D"/>
                            </a:solidFill>
                            <a:effectLst/>
                            <a:uLnTx/>
                            <a:uFillTx/>
                            <a:latin typeface="Cambria Math" panose="02040503050406030204" pitchFamily="18" charset="0"/>
                            <a:cs typeface="+mn-ea"/>
                            <a:sym typeface="+mn-lt"/>
                          </a:rPr>
                        </m:ctrlPr>
                      </m:sSubPr>
                      <m:e>
                        <m:r>
                          <a:rPr kumimoji="0" lang="en-US" altLang="zh-CN" sz="2800" b="0" i="1" u="none" strike="noStrike" kern="1200" cap="none" spc="0" normalizeH="0" baseline="0" noProof="0" dirty="0">
                            <a:ln>
                              <a:noFill/>
                            </a:ln>
                            <a:solidFill>
                              <a:srgbClr val="00529D"/>
                            </a:solidFill>
                            <a:effectLst/>
                            <a:uLnTx/>
                            <a:uFillTx/>
                            <a:latin typeface="Cambria Math" panose="02040503050406030204" pitchFamily="18" charset="0"/>
                            <a:cs typeface="+mn-ea"/>
                            <a:sym typeface="+mn-lt"/>
                          </a:rPr>
                          <m:t>𝑋</m:t>
                        </m:r>
                      </m:e>
                      <m:sub>
                        <m:r>
                          <a:rPr kumimoji="0" lang="en-US" altLang="zh-CN" sz="2800" b="0" i="1" u="none" strike="noStrike" kern="1200" cap="none" spc="0" normalizeH="0" baseline="0" noProof="0" dirty="0" smtClean="0">
                            <a:ln>
                              <a:noFill/>
                            </a:ln>
                            <a:solidFill>
                              <a:srgbClr val="00529D"/>
                            </a:solidFill>
                            <a:effectLst/>
                            <a:uLnTx/>
                            <a:uFillTx/>
                            <a:latin typeface="Cambria Math" panose="02040503050406030204" pitchFamily="18" charset="0"/>
                            <a:cs typeface="+mn-ea"/>
                            <a:sym typeface="+mn-lt"/>
                          </a:rPr>
                          <m:t>𝑗</m:t>
                        </m:r>
                      </m:sub>
                    </m:sSub>
                  </m:oMath>
                </a14:m>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t>
                </a:r>
                <a:r>
                  <a:rPr lang="zh-CN" altLang="en-US" dirty="0">
                    <a:solidFill>
                      <a:srgbClr val="00529D"/>
                    </a:solidFill>
                    <a:latin typeface="Arial" panose="020B0604020202020204"/>
                    <a:cs typeface="+mn-ea"/>
                    <a:sym typeface="+mn-lt"/>
                  </a:rPr>
                  <a:t>对于第三个变量</a:t>
                </a:r>
                <a14:m>
                  <m:oMath xmlns:m="http://schemas.openxmlformats.org/officeDocument/2006/math">
                    <m:sSub>
                      <m:sSubPr>
                        <m:ctrlPr>
                          <a:rPr lang="en-US" altLang="zh-CN" i="1" dirty="0">
                            <a:solidFill>
                              <a:srgbClr val="00529D"/>
                            </a:solidFill>
                            <a:latin typeface="Cambria Math" panose="02040503050406030204" pitchFamily="18" charset="0"/>
                            <a:cs typeface="+mn-ea"/>
                            <a:sym typeface="+mn-lt"/>
                          </a:rPr>
                        </m:ctrlPr>
                      </m:sSubPr>
                      <m:e>
                        <m:r>
                          <a:rPr lang="en-US" altLang="zh-CN" i="1" dirty="0">
                            <a:solidFill>
                              <a:srgbClr val="00529D"/>
                            </a:solidFill>
                            <a:latin typeface="Cambria Math" panose="02040503050406030204" pitchFamily="18" charset="0"/>
                            <a:cs typeface="+mn-ea"/>
                            <a:sym typeface="+mn-lt"/>
                          </a:rPr>
                          <m:t>𝑋</m:t>
                        </m:r>
                      </m:e>
                      <m:sub>
                        <m:r>
                          <a:rPr lang="en-US" altLang="zh-CN" i="1" dirty="0">
                            <a:solidFill>
                              <a:srgbClr val="00529D"/>
                            </a:solidFill>
                            <a:latin typeface="Cambria Math" panose="02040503050406030204" pitchFamily="18" charset="0"/>
                            <a:cs typeface="+mn-ea"/>
                            <a:sym typeface="+mn-lt"/>
                          </a:rPr>
                          <m:t>𝑚</m:t>
                        </m:r>
                        <m:r>
                          <m:rPr>
                            <m:nor/>
                          </m:rPr>
                          <a:rPr lang="en-US" altLang="zh-CN" b="1" dirty="0">
                            <a:solidFill>
                              <a:srgbClr val="00529D"/>
                            </a:solidFill>
                            <a:latin typeface="Arial" panose="020B0604020202020204"/>
                            <a:cs typeface="+mn-ea"/>
                            <a:sym typeface="+mn-lt"/>
                          </a:rPr>
                          <m:t> </m:t>
                        </m:r>
                      </m:sub>
                    </m:sSub>
                  </m:oMath>
                </a14:m>
                <a:r>
                  <a:rPr lang="zh-CN" altLang="en-US" dirty="0">
                    <a:solidFill>
                      <a:srgbClr val="00529D"/>
                    </a:solidFill>
                    <a:latin typeface="Arial" panose="020B0604020202020204"/>
                    <a:cs typeface="+mn-ea"/>
                    <a:sym typeface="+mn-lt"/>
                  </a:rPr>
                  <a:t>是路径一致的</a:t>
                </a:r>
                <a:endParaRPr kumimoji="0" lang="en-US" altLang="zh-CN" sz="28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lvl="1"/>
                <a:r>
                  <a:rPr lang="zh-CN" altLang="en-US" dirty="0">
                    <a:solidFill>
                      <a:srgbClr val="000000"/>
                    </a:solidFill>
                    <a:latin typeface="Arial" panose="020B0604020202020204"/>
                    <a:ea typeface="微软雅黑"/>
                    <a:cs typeface="+mn-ea"/>
                    <a:sym typeface="+mn-lt"/>
                  </a:rPr>
                  <a:t>为了</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14:m>
                  <m:oMath xmlns:m="http://schemas.openxmlformats.org/officeDocument/2006/math">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𝑋</m:t>
                    </m:r>
                    <m:r>
                      <a:rPr kumimoji="0" lang="en-US" altLang="zh-CN" sz="1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𝑖</m:t>
                    </m:r>
                    <m:r>
                      <a:rPr kumimoji="0" lang="en-US" altLang="zh-CN" sz="1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m:t>
                    </m:r>
                    <m:r>
                      <a:rPr kumimoji="0" lang="en-US" altLang="zh-CN" sz="24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𝑎</m:t>
                    </m:r>
                    <m:r>
                      <a:rPr kumimoji="0" lang="en-US" altLang="zh-CN" sz="24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m:t>
                    </m:r>
                    <m:r>
                      <a:rPr kumimoji="0" lang="en-US" altLang="zh-CN" sz="24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𝑋</m:t>
                    </m:r>
                    <m:r>
                      <a:rPr kumimoji="0" lang="en-US" altLang="zh-CN" sz="14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𝑗</m:t>
                    </m:r>
                    <m:r>
                      <a:rPr kumimoji="0" lang="en-US" altLang="zh-CN" sz="1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 </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𝑏</m:t>
                    </m:r>
                  </m:oMath>
                </a14:m>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一致</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r>
                  <a:rPr lang="zh-CN" altLang="en-US" dirty="0">
                    <a:solidFill>
                      <a:srgbClr val="000000"/>
                    </a:solidFill>
                    <a:latin typeface="Arial" panose="020B0604020202020204"/>
                    <a:cs typeface="+mn-ea"/>
                    <a:sym typeface="+mn-lt"/>
                  </a:rPr>
                  <a:t>存在一个赋值</a:t>
                </a:r>
                <a14:m>
                  <m:oMath xmlns:m="http://schemas.openxmlformats.org/officeDocument/2006/math">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𝑋</m:t>
                    </m:r>
                    <m:r>
                      <a:rPr kumimoji="0" lang="en-US" altLang="zh-CN" sz="18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𝑚</m:t>
                    </m:r>
                  </m:oMath>
                </a14:m>
                <a:r>
                  <a:rPr lang="zh-CN" altLang="en-US" dirty="0">
                    <a:solidFill>
                      <a:srgbClr val="000000"/>
                    </a:solidFill>
                    <a:latin typeface="Arial" panose="020B0604020202020204"/>
                    <a:cs typeface="+mn-ea"/>
                    <a:sym typeface="+mn-lt"/>
                  </a:rPr>
                  <a:t>满足约束条件</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14:m>
                  <m:oMath xmlns:m="http://schemas.openxmlformats.org/officeDocument/2006/math">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𝑋</m:t>
                    </m:r>
                    <m:r>
                      <a:rPr kumimoji="0" lang="en-US" altLang="zh-CN" sz="18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𝑖</m:t>
                    </m:r>
                    <m:r>
                      <a:rPr kumimoji="0" lang="en-US" altLang="zh-CN" sz="24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m:t>
                    </m:r>
                    <m:r>
                      <a:rPr kumimoji="0" lang="en-US" altLang="zh-CN" sz="2400" b="0" i="1" u="none" strike="noStrike" kern="1200" cap="none" spc="0" normalizeH="0" baseline="0" noProof="0" dirty="0">
                        <a:ln>
                          <a:noFill/>
                        </a:ln>
                        <a:solidFill>
                          <a:srgbClr val="000000"/>
                        </a:solidFill>
                        <a:effectLst/>
                        <a:uLnTx/>
                        <a:uFillTx/>
                        <a:latin typeface="Cambria Math" panose="02040503050406030204" pitchFamily="18" charset="0"/>
                        <a:cs typeface="+mn-ea"/>
                        <a:sym typeface="+mn-lt"/>
                      </a:rPr>
                      <m:t>𝑋</m:t>
                    </m:r>
                    <m:r>
                      <a:rPr kumimoji="0" lang="en-US" altLang="zh-CN" sz="16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𝑚</m:t>
                    </m:r>
                  </m:oMath>
                </a14:m>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lang="zh-CN" altLang="en-US" dirty="0">
                    <a:solidFill>
                      <a:srgbClr val="000000"/>
                    </a:solidFill>
                    <a:latin typeface="Arial" panose="020B0604020202020204"/>
                    <a:ea typeface="微软雅黑"/>
                    <a:cs typeface="+mn-ea"/>
                    <a:sym typeface="+mn-lt"/>
                  </a:rPr>
                  <a:t>和</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14:m>
                  <m:oMath xmlns:m="http://schemas.openxmlformats.org/officeDocument/2006/math">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𝑋</m:t>
                    </m:r>
                    <m:r>
                      <a:rPr kumimoji="0" lang="en-US" altLang="zh-CN" sz="18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𝑚</m:t>
                    </m:r>
                    <m:r>
                      <a:rPr kumimoji="0" lang="en-US" altLang="zh-CN" sz="2400" b="0" i="1" u="none" strike="noStrike" kern="1200" cap="none" spc="0" normalizeH="0" baseline="0" noProof="0" dirty="0" err="1">
                        <a:ln>
                          <a:noFill/>
                        </a:ln>
                        <a:solidFill>
                          <a:srgbClr val="000000"/>
                        </a:solidFill>
                        <a:effectLst/>
                        <a:uLnTx/>
                        <a:uFillTx/>
                        <a:latin typeface="Cambria Math" panose="02040503050406030204" pitchFamily="18" charset="0"/>
                        <a:cs typeface="+mn-ea"/>
                        <a:sym typeface="+mn-lt"/>
                      </a:rPr>
                      <m:t>,</m:t>
                    </m:r>
                    <m:sSub>
                      <m:sSubPr>
                        <m:ctrlP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ctrlPr>
                      </m:sSubPr>
                      <m:e>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𝑋</m:t>
                        </m:r>
                      </m:e>
                      <m:sub>
                        <m:r>
                          <a:rPr kumimoji="0" lang="en-US" altLang="zh-CN" sz="2400" b="0" i="1" u="none" strike="noStrike" kern="1200" cap="none" spc="0" normalizeH="0" baseline="0" noProof="0" dirty="0" smtClean="0">
                            <a:ln>
                              <a:noFill/>
                            </a:ln>
                            <a:solidFill>
                              <a:srgbClr val="000000"/>
                            </a:solidFill>
                            <a:effectLst/>
                            <a:uLnTx/>
                            <a:uFillTx/>
                            <a:latin typeface="Cambria Math" panose="02040503050406030204" pitchFamily="18" charset="0"/>
                            <a:cs typeface="+mn-ea"/>
                            <a:sym typeface="+mn-lt"/>
                          </a:rPr>
                          <m:t>𝑗</m:t>
                        </m:r>
                      </m:sub>
                    </m:sSub>
                  </m:oMath>
                </a14:m>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p>
            </p:txBody>
          </p:sp>
        </mc:Choice>
        <mc:Fallback xmlns="">
          <p:sp>
            <p:nvSpPr>
              <p:cNvPr id="5" name="内容占位符 2">
                <a:extLst>
                  <a:ext uri="{FF2B5EF4-FFF2-40B4-BE49-F238E27FC236}">
                    <a16:creationId xmlns:a16="http://schemas.microsoft.com/office/drawing/2014/main" id="{F62CA421-EEE3-47BE-B51C-28D03AA2FD34}"/>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3"/>
                <a:stretch>
                  <a:fillRect l="-965" t="-2191"/>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0CC381FE-8621-48BE-AB06-D0C171A36D8A}"/>
              </a:ext>
            </a:extLst>
          </p:cNvPr>
          <p:cNvPicPr>
            <a:picLocks noChangeAspect="1"/>
          </p:cNvPicPr>
          <p:nvPr/>
        </p:nvPicPr>
        <p:blipFill>
          <a:blip r:embed="rId4"/>
          <a:stretch>
            <a:fillRect/>
          </a:stretch>
        </p:blipFill>
        <p:spPr>
          <a:xfrm>
            <a:off x="8234424" y="4192064"/>
            <a:ext cx="3926532" cy="26057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blinds(horizontal)">
                                      <p:cBhvr>
                                        <p:cTn id="15" dur="500"/>
                                        <p:tgtEl>
                                          <p:spTgt spid="5">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blinds(horizontal)">
                                      <p:cBhvr>
                                        <p:cTn id="18"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i="1" dirty="0">
                <a:latin typeface="+mn-lt"/>
                <a:ea typeface="+mn-ea"/>
                <a:cs typeface="+mn-ea"/>
                <a:sym typeface="+mn-lt"/>
              </a:rPr>
              <a:t>K</a:t>
            </a:r>
            <a:r>
              <a:rPr lang="en-US" altLang="zh-CN" sz="3600" dirty="0">
                <a:latin typeface="+mn-lt"/>
                <a:ea typeface="+mn-ea"/>
                <a:cs typeface="+mn-ea"/>
                <a:sym typeface="+mn-lt"/>
              </a:rPr>
              <a:t>-一致性</a:t>
            </a:r>
            <a:endParaRPr lang="en-GB" altLang="zh-CN" dirty="0">
              <a:solidFill>
                <a:srgbClr val="515223"/>
              </a:solidFill>
              <a:latin typeface="+mn-lt"/>
              <a:ea typeface="+mn-ea"/>
              <a:cs typeface="+mn-ea"/>
              <a:sym typeface="+mn-lt"/>
            </a:endParaRPr>
          </a:p>
        </p:txBody>
      </p:sp>
      <p:sp>
        <p:nvSpPr>
          <p:cNvPr id="7" name="内容占位符 2">
            <a:extLst>
              <a:ext uri="{FF2B5EF4-FFF2-40B4-BE49-F238E27FC236}">
                <a16:creationId xmlns:a16="http://schemas.microsoft.com/office/drawing/2014/main" id="{A7EC3396-90EF-4A8A-9C45-45FD5DC7551E}"/>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1"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K</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-一致性</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对于任意k-1个变量的集合，以及对这些变量的任何一致赋值，总能为任意第k个变量分配一个一致的值。</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1-一致性：</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节点一致性</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2-一致性：</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弧一致性</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3-一致性：</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路径一致性</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一个CSP是</a:t>
            </a: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强烈地</a:t>
            </a:r>
            <a:r>
              <a:rPr kumimoji="0" lang="en-US" altLang="zh-CN" sz="2800" b="1" i="1"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k</a:t>
            </a: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-一致的</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如果它是k一致的，并且同时也是(k−1)一致的、(k−2)一致的……1一致的。</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158856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
                                            <p:txEl>
                                              <p:pRg st="1" end="1"/>
                                            </p:txEl>
                                          </p:spTgt>
                                        </p:tgtEl>
                                        <p:attrNameLst>
                                          <p:attrName>style.visibility</p:attrName>
                                        </p:attrNameLst>
                                      </p:cBhvr>
                                      <p:to>
                                        <p:strVal val="visible"/>
                                      </p:to>
                                    </p:set>
                                    <p:animEffect transition="in" filter="blinds(horizontal)">
                                      <p:cBhvr>
                                        <p:cTn id="10" dur="500"/>
                                        <p:tgtEl>
                                          <p:spTgt spid="7">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blinds(horizontal)">
                                      <p:cBhvr>
                                        <p:cTn id="15" dur="500"/>
                                        <p:tgtEl>
                                          <p:spTgt spid="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
                                            <p:txEl>
                                              <p:pRg st="3" end="3"/>
                                            </p:txEl>
                                          </p:spTgt>
                                        </p:tgtEl>
                                        <p:attrNameLst>
                                          <p:attrName>style.visibility</p:attrName>
                                        </p:attrNameLst>
                                      </p:cBhvr>
                                      <p:to>
                                        <p:strVal val="visible"/>
                                      </p:to>
                                    </p:set>
                                    <p:animEffect transition="in" filter="blinds(horizontal)">
                                      <p:cBhvr>
                                        <p:cTn id="20" dur="500"/>
                                        <p:tgtEl>
                                          <p:spTgt spid="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animEffect transition="in" filter="blinds(horizontal)">
                                      <p:cBhvr>
                                        <p:cTn id="25" dur="500"/>
                                        <p:tgtEl>
                                          <p:spTgt spid="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
                                            <p:txEl>
                                              <p:pRg st="5" end="5"/>
                                            </p:txEl>
                                          </p:spTgt>
                                        </p:tgtEl>
                                        <p:attrNameLst>
                                          <p:attrName>style.visibility</p:attrName>
                                        </p:attrNameLst>
                                      </p:cBhvr>
                                      <p:to>
                                        <p:strVal val="visible"/>
                                      </p:to>
                                    </p:set>
                                    <p:animEffect transition="in" filter="blinds(horizontal)">
                                      <p:cBhvr>
                                        <p:cTn id="30"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全局约束</a:t>
            </a:r>
            <a:endParaRPr lang="en-GB" altLang="zh-CN" dirty="0">
              <a:solidFill>
                <a:srgbClr val="515223"/>
              </a:solidFill>
              <a:latin typeface="+mn-lt"/>
              <a:ea typeface="+mn-ea"/>
              <a:cs typeface="+mn-ea"/>
              <a:sym typeface="+mn-lt"/>
            </a:endParaRPr>
          </a:p>
        </p:txBody>
      </p:sp>
      <p:sp>
        <p:nvSpPr>
          <p:cNvPr id="7" name="内容占位符 2">
            <a:extLst>
              <a:ext uri="{FF2B5EF4-FFF2-40B4-BE49-F238E27FC236}">
                <a16:creationId xmlns:a16="http://schemas.microsoft.com/office/drawing/2014/main" id="{69C74FED-BD5B-4C8B-9D7D-1D193D72DDC0}"/>
              </a:ext>
            </a:extLst>
          </p:cNvPr>
          <p:cNvSpPr txBox="1">
            <a:spLocks/>
          </p:cNvSpPr>
          <p:nvPr/>
        </p:nvSpPr>
        <p:spPr>
          <a:xfrm>
            <a:off x="406400" y="1397000"/>
            <a:ext cx="11379200" cy="523303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全局约束</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在实际问题中经常出现，可由专用算法处理。</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1" i="1" u="none" strike="noStrike" kern="1200" cap="none" spc="0" normalizeH="0" baseline="0" noProof="0" dirty="0" err="1">
                <a:ln>
                  <a:noFill/>
                </a:ln>
                <a:solidFill>
                  <a:srgbClr val="000000"/>
                </a:solidFill>
                <a:effectLst/>
                <a:uLnTx/>
                <a:uFillTx/>
                <a:latin typeface="Arial" panose="020B0604020202020204"/>
                <a:ea typeface="微软雅黑"/>
                <a:cs typeface="+mn-ea"/>
                <a:sym typeface="+mn-lt"/>
              </a:rPr>
              <a:t>全不同</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所有涉及的变量都必须具有不同的值。</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n个可能的不相同值，同时共有m个变量</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m&gt;n：该约束无法满足</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1" i="1" u="none" strike="noStrike" kern="1200" cap="none" spc="0" normalizeH="0" baseline="0" noProof="0" dirty="0" err="1">
                <a:ln>
                  <a:noFill/>
                </a:ln>
                <a:solidFill>
                  <a:srgbClr val="000000"/>
                </a:solidFill>
                <a:effectLst/>
                <a:uLnTx/>
                <a:uFillTx/>
                <a:latin typeface="Arial" panose="020B0604020202020204"/>
                <a:ea typeface="微软雅黑"/>
                <a:cs typeface="+mn-ea"/>
                <a:sym typeface="+mn-lt"/>
              </a:rPr>
              <a:t>最多</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资源约束</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最多(10；P1；P2；P3；P4) </a:t>
            </a: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P1、P2、P3、P4的人员配置不超过10人。</a:t>
            </a:r>
          </a:p>
          <a:p>
            <a:pPr marL="1143000" marR="0" lvl="2"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0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每个变量的取值范围为{2；3；4；5；6}，删除5和6（6+2+2+2&gt;10）</a:t>
            </a:r>
          </a:p>
        </p:txBody>
      </p:sp>
    </p:spTree>
    <p:extLst>
      <p:ext uri="{BB962C8B-B14F-4D97-AF65-F5344CB8AC3E}">
        <p14:creationId xmlns:p14="http://schemas.microsoft.com/office/powerpoint/2010/main" val="1944226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linds(horizontal)">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2" end="2"/>
                                            </p:txEl>
                                          </p:spTgt>
                                        </p:tgtEl>
                                        <p:attrNameLst>
                                          <p:attrName>style.visibility</p:attrName>
                                        </p:attrNameLst>
                                      </p:cBhvr>
                                      <p:to>
                                        <p:strVal val="visible"/>
                                      </p:to>
                                    </p:set>
                                    <p:animEffect transition="in" filter="blinds(horizontal)">
                                      <p:cBhvr>
                                        <p:cTn id="12" dur="500"/>
                                        <p:tgtEl>
                                          <p:spTgt spid="7">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animEffect transition="in" filter="blinds(horizontal)">
                                      <p:cBhvr>
                                        <p:cTn id="15" dur="500"/>
                                        <p:tgtEl>
                                          <p:spTgt spid="7">
                                            <p:txEl>
                                              <p:pRg st="3" end="3"/>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
                                            <p:txEl>
                                              <p:pRg st="4" end="4"/>
                                            </p:txEl>
                                          </p:spTgt>
                                        </p:tgtEl>
                                        <p:attrNameLst>
                                          <p:attrName>style.visibility</p:attrName>
                                        </p:attrNameLst>
                                      </p:cBhvr>
                                      <p:to>
                                        <p:strVal val="visible"/>
                                      </p:to>
                                    </p:set>
                                    <p:animEffect transition="in" filter="blinds(horizontal)">
                                      <p:cBhvr>
                                        <p:cTn id="18" dur="500"/>
                                        <p:tgtEl>
                                          <p:spTgt spid="7">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animEffect transition="in" filter="blinds(horizontal)">
                                      <p:cBhvr>
                                        <p:cTn id="23" dur="500"/>
                                        <p:tgtEl>
                                          <p:spTgt spid="7">
                                            <p:txEl>
                                              <p:pRg st="5" end="5"/>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7">
                                            <p:txEl>
                                              <p:pRg st="6" end="6"/>
                                            </p:txEl>
                                          </p:spTgt>
                                        </p:tgtEl>
                                        <p:attrNameLst>
                                          <p:attrName>style.visibility</p:attrName>
                                        </p:attrNameLst>
                                      </p:cBhvr>
                                      <p:to>
                                        <p:strVal val="visible"/>
                                      </p:to>
                                    </p:set>
                                    <p:animEffect transition="in" filter="blinds(horizontal)">
                                      <p:cBhvr>
                                        <p:cTn id="26" dur="500"/>
                                        <p:tgtEl>
                                          <p:spTgt spid="7">
                                            <p:txEl>
                                              <p:pRg st="6" end="6"/>
                                            </p:txEl>
                                          </p:spTgt>
                                        </p:tgtEl>
                                      </p:cBhvr>
                                    </p:animEffect>
                                  </p:childTnLst>
                                </p:cTn>
                              </p:par>
                              <p:par>
                                <p:cTn id="27" presetID="3" presetClass="entr" presetSubtype="10" fill="hold" nodeType="withEffect">
                                  <p:stCondLst>
                                    <p:cond delay="0"/>
                                  </p:stCondLst>
                                  <p:childTnLst>
                                    <p:set>
                                      <p:cBhvr>
                                        <p:cTn id="28" dur="1" fill="hold">
                                          <p:stCondLst>
                                            <p:cond delay="0"/>
                                          </p:stCondLst>
                                        </p:cTn>
                                        <p:tgtEl>
                                          <p:spTgt spid="7">
                                            <p:txEl>
                                              <p:pRg st="7" end="7"/>
                                            </p:txEl>
                                          </p:spTgt>
                                        </p:tgtEl>
                                        <p:attrNameLst>
                                          <p:attrName>style.visibility</p:attrName>
                                        </p:attrNameLst>
                                      </p:cBhvr>
                                      <p:to>
                                        <p:strVal val="visible"/>
                                      </p:to>
                                    </p:set>
                                    <p:animEffect transition="in" filter="blinds(horizontal)">
                                      <p:cBhvr>
                                        <p:cTn id="29" dur="500"/>
                                        <p:tgtEl>
                                          <p:spTgt spid="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D5012C5E-3075-CA74-BD28-E348A5440773}"/>
              </a:ext>
            </a:extLst>
          </p:cNvPr>
          <p:cNvSpPr>
            <a:spLocks noGrp="1" noChangeArrowheads="1"/>
          </p:cNvSpPr>
          <p:nvPr>
            <p:ph type="title"/>
          </p:nvPr>
        </p:nvSpPr>
        <p:spPr/>
        <p:txBody>
          <a:bodyPr/>
          <a:lstStyle/>
          <a:p>
            <a:pPr eaLnBrk="1" hangingPunct="1"/>
            <a:r>
              <a:rPr lang="en-US" altLang="zh-CN" sz="3600" dirty="0" err="1">
                <a:latin typeface="+mn-lt"/>
                <a:ea typeface="+mn-ea"/>
                <a:cs typeface="+mn-ea"/>
                <a:sym typeface="+mn-lt"/>
              </a:rPr>
              <a:t>数独示例</a:t>
            </a:r>
            <a:endParaRPr lang="en-US" altLang="zh-CN" dirty="0">
              <a:solidFill>
                <a:srgbClr val="515223"/>
              </a:solidFill>
              <a:latin typeface="+mn-lt"/>
              <a:ea typeface="+mn-ea"/>
              <a:cs typeface="+mn-ea"/>
              <a:sym typeface="+mn-lt"/>
            </a:endParaRPr>
          </a:p>
        </p:txBody>
      </p:sp>
      <p:sp>
        <p:nvSpPr>
          <p:cNvPr id="25602" name="Footer Placeholder 4">
            <a:extLst>
              <a:ext uri="{FF2B5EF4-FFF2-40B4-BE49-F238E27FC236}">
                <a16:creationId xmlns:a16="http://schemas.microsoft.com/office/drawing/2014/main" id="{EC6E2718-FED6-E9CB-56E9-972F61D272DC}"/>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5" name="图片 4">
            <a:extLst>
              <a:ext uri="{FF2B5EF4-FFF2-40B4-BE49-F238E27FC236}">
                <a16:creationId xmlns:a16="http://schemas.microsoft.com/office/drawing/2014/main" id="{09A4DE29-5EE6-4A91-87E4-02F8513623DB}"/>
              </a:ext>
            </a:extLst>
          </p:cNvPr>
          <p:cNvPicPr>
            <a:picLocks noChangeAspect="1"/>
          </p:cNvPicPr>
          <p:nvPr/>
        </p:nvPicPr>
        <p:blipFill>
          <a:blip r:embed="rId3"/>
          <a:stretch>
            <a:fillRect/>
          </a:stretch>
        </p:blipFill>
        <p:spPr>
          <a:xfrm>
            <a:off x="296000" y="1147297"/>
            <a:ext cx="11600000" cy="5228571"/>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D5012C5E-3075-CA74-BD28-E348A5440773}"/>
              </a:ext>
            </a:extLst>
          </p:cNvPr>
          <p:cNvSpPr>
            <a:spLocks noGrp="1" noChangeArrowheads="1"/>
          </p:cNvSpPr>
          <p:nvPr>
            <p:ph type="title"/>
          </p:nvPr>
        </p:nvSpPr>
        <p:spPr/>
        <p:txBody>
          <a:bodyPr/>
          <a:lstStyle/>
          <a:p>
            <a:pPr eaLnBrk="1" hangingPunct="1"/>
            <a:r>
              <a:rPr lang="en-US" altLang="zh-CN" sz="3600" dirty="0" err="1">
                <a:latin typeface="+mn-lt"/>
                <a:ea typeface="+mn-ea"/>
                <a:cs typeface="+mn-ea"/>
                <a:sym typeface="+mn-lt"/>
              </a:rPr>
              <a:t>数独示例</a:t>
            </a:r>
            <a:endParaRPr lang="en-US" altLang="zh-CN" dirty="0">
              <a:solidFill>
                <a:srgbClr val="515223"/>
              </a:solidFill>
              <a:latin typeface="+mn-lt"/>
              <a:ea typeface="+mn-ea"/>
              <a:cs typeface="+mn-ea"/>
              <a:sym typeface="+mn-lt"/>
            </a:endParaRPr>
          </a:p>
        </p:txBody>
      </p:sp>
      <p:sp>
        <p:nvSpPr>
          <p:cNvPr id="25602" name="Footer Placeholder 4">
            <a:extLst>
              <a:ext uri="{FF2B5EF4-FFF2-40B4-BE49-F238E27FC236}">
                <a16:creationId xmlns:a16="http://schemas.microsoft.com/office/drawing/2014/main" id="{EC6E2718-FED6-E9CB-56E9-972F61D272DC}"/>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6" name="内容占位符 2">
            <a:extLst>
              <a:ext uri="{FF2B5EF4-FFF2-40B4-BE49-F238E27FC236}">
                <a16:creationId xmlns:a16="http://schemas.microsoft.com/office/drawing/2014/main" id="{9A646D0D-6E0E-48D2-A821-2E46F79DF3D0}"/>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3"/>
                </a:solidFill>
                <a:latin typeface="+mn-lt"/>
                <a:cs typeface="+mn-ea"/>
                <a:sym typeface="+mn-lt"/>
              </a:rPr>
              <a:t>有</a:t>
            </a:r>
            <a:r>
              <a:rPr lang="en-US" altLang="zh-CN" dirty="0">
                <a:solidFill>
                  <a:schemeClr val="accent3"/>
                </a:solidFill>
                <a:latin typeface="+mn-lt"/>
                <a:cs typeface="+mn-ea"/>
                <a:sym typeface="+mn-lt"/>
              </a:rPr>
              <a:t>27</a:t>
            </a:r>
            <a:r>
              <a:rPr lang="zh-CN" altLang="en-US" dirty="0">
                <a:solidFill>
                  <a:schemeClr val="accent3"/>
                </a:solidFill>
                <a:latin typeface="+mn-lt"/>
                <a:cs typeface="+mn-ea"/>
                <a:sym typeface="+mn-lt"/>
              </a:rPr>
              <a:t>种不同的全不同 约束：每行、每列以及每个</a:t>
            </a:r>
            <a:r>
              <a:rPr lang="en-US" altLang="zh-CN" dirty="0">
                <a:solidFill>
                  <a:schemeClr val="accent3"/>
                </a:solidFill>
                <a:latin typeface="+mn-lt"/>
                <a:cs typeface="+mn-ea"/>
                <a:sym typeface="+mn-lt"/>
              </a:rPr>
              <a:t>9</a:t>
            </a:r>
            <a:r>
              <a:rPr lang="zh-CN" altLang="en-US" dirty="0">
                <a:solidFill>
                  <a:schemeClr val="accent3"/>
                </a:solidFill>
                <a:latin typeface="+mn-lt"/>
                <a:cs typeface="+mn-ea"/>
                <a:sym typeface="+mn-lt"/>
              </a:rPr>
              <a:t>格小方块各一个。</a:t>
            </a:r>
          </a:p>
        </p:txBody>
      </p:sp>
      <p:pic>
        <p:nvPicPr>
          <p:cNvPr id="7" name="图片 6">
            <a:extLst>
              <a:ext uri="{FF2B5EF4-FFF2-40B4-BE49-F238E27FC236}">
                <a16:creationId xmlns:a16="http://schemas.microsoft.com/office/drawing/2014/main" id="{09F408C8-9A5B-4EA1-9CC8-08FB46689B97}"/>
              </a:ext>
            </a:extLst>
          </p:cNvPr>
          <p:cNvPicPr>
            <a:picLocks noChangeAspect="1"/>
          </p:cNvPicPr>
          <p:nvPr/>
        </p:nvPicPr>
        <p:blipFill>
          <a:blip r:embed="rId3"/>
          <a:stretch>
            <a:fillRect/>
          </a:stretch>
        </p:blipFill>
        <p:spPr>
          <a:xfrm>
            <a:off x="762000" y="2667000"/>
            <a:ext cx="6656828" cy="3905616"/>
          </a:xfrm>
          <a:prstGeom prst="rect">
            <a:avLst/>
          </a:prstGeom>
        </p:spPr>
      </p:pic>
      <p:pic>
        <p:nvPicPr>
          <p:cNvPr id="8" name="图片 7">
            <a:extLst>
              <a:ext uri="{FF2B5EF4-FFF2-40B4-BE49-F238E27FC236}">
                <a16:creationId xmlns:a16="http://schemas.microsoft.com/office/drawing/2014/main" id="{3AC10A73-A3D3-45A8-BD67-EF5D004E0A1F}"/>
              </a:ext>
            </a:extLst>
          </p:cNvPr>
          <p:cNvPicPr>
            <a:picLocks noChangeAspect="1"/>
          </p:cNvPicPr>
          <p:nvPr/>
        </p:nvPicPr>
        <p:blipFill>
          <a:blip r:embed="rId4"/>
          <a:stretch>
            <a:fillRect/>
          </a:stretch>
        </p:blipFill>
        <p:spPr>
          <a:xfrm>
            <a:off x="7911519" y="2233505"/>
            <a:ext cx="4219048" cy="4228571"/>
          </a:xfrm>
          <a:prstGeom prst="rect">
            <a:avLst/>
          </a:prstGeom>
        </p:spPr>
      </p:pic>
    </p:spTree>
    <p:extLst>
      <p:ext uri="{BB962C8B-B14F-4D97-AF65-F5344CB8AC3E}">
        <p14:creationId xmlns:p14="http://schemas.microsoft.com/office/powerpoint/2010/main" val="1075887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6F6FA500-D565-0BA7-6874-6064E8EE538A}"/>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a:t>
            </a:r>
            <a:endParaRPr lang="en-US" altLang="zh-CN" dirty="0">
              <a:solidFill>
                <a:srgbClr val="515223"/>
              </a:solidFill>
              <a:latin typeface="+mn-lt"/>
              <a:ea typeface="+mn-ea"/>
              <a:cs typeface="+mn-ea"/>
              <a:sym typeface="+mn-lt"/>
            </a:endParaRPr>
          </a:p>
        </p:txBody>
      </p:sp>
      <p:sp>
        <p:nvSpPr>
          <p:cNvPr id="26626" name="Footer Placeholder 4">
            <a:extLst>
              <a:ext uri="{FF2B5EF4-FFF2-40B4-BE49-F238E27FC236}">
                <a16:creationId xmlns:a16="http://schemas.microsoft.com/office/drawing/2014/main" id="{E38FB3B5-3FFF-58EE-B64B-B07A12EA6CED}"/>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5" name="Rectangle 3">
            <a:extLst>
              <a:ext uri="{FF2B5EF4-FFF2-40B4-BE49-F238E27FC236}">
                <a16:creationId xmlns:a16="http://schemas.microsoft.com/office/drawing/2014/main" id="{2F11F2FA-D45C-4A95-B96B-511A9A7F3705}"/>
              </a:ext>
            </a:extLst>
          </p:cNvPr>
          <p:cNvSpPr txBox="1">
            <a:spLocks noChangeArrowheads="1"/>
          </p:cNvSpPr>
          <p:nvPr/>
        </p:nvSpPr>
        <p:spPr>
          <a:xfrm>
            <a:off x="685800" y="1214436"/>
            <a:ext cx="106426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3200" b="0" i="0" u="none" strike="noStrike" kern="1200" cap="none" spc="0" normalizeH="0" baseline="0" noProof="0" dirty="0">
                <a:ln>
                  <a:noFill/>
                </a:ln>
                <a:solidFill>
                  <a:srgbClr val="FFFFFF">
                    <a:lumMod val="65000"/>
                  </a:srgbClr>
                </a:solidFill>
                <a:effectLst/>
                <a:uLnTx/>
                <a:uFillTx/>
                <a:latin typeface="Arial" panose="020B0604020202020204"/>
                <a:ea typeface="微软雅黑"/>
                <a:cs typeface="+mn-ea"/>
                <a:sym typeface="+mn-lt"/>
              </a:rPr>
              <a:t>定义约束满足问题</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32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ea"/>
                <a:sym typeface="+mn-lt"/>
              </a:rPr>
              <a:t>约束传播：CSP中的推理</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44546A"/>
                </a:solidFill>
                <a:effectLst/>
                <a:uLnTx/>
                <a:uFillTx/>
                <a:latin typeface="Arial" panose="020B0604020202020204"/>
                <a:ea typeface="微软雅黑"/>
                <a:cs typeface="+mn-ea"/>
                <a:sym typeface="+mn-lt"/>
              </a:rPr>
              <a:t>约束满足问题的回溯搜索</a:t>
            </a:r>
          </a:p>
          <a:p>
            <a:pPr marL="914400" marR="0" lvl="2"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4" name="内容占位符 2">
            <a:extLst>
              <a:ext uri="{FF2B5EF4-FFF2-40B4-BE49-F238E27FC236}">
                <a16:creationId xmlns:a16="http://schemas.microsoft.com/office/drawing/2014/main" id="{F024F723-E9E7-44C7-B598-EF8EEE31C56A}"/>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寻找解决方案</a:t>
            </a:r>
            <a:r>
              <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有时我们可以完成约束。</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传播过程，且仍存在变量与</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多个可能的值。在这种情况下，我们必须寻找一个解决方案。</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部分赋值上的回溯搜索算法（本章）</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关于完整赋值的局部搜索算法（下一章）</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应用标准的深度优先搜索</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一个状态将是一个部分赋值。</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一项行动将延长该任务。</a:t>
            </a: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3412471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blinds(horizontal)">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blinds(horizontal)">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blinds(horizontal)">
                                      <p:cBhvr>
                                        <p:cTn id="3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5" name="内容占位符 2">
            <a:extLst>
              <a:ext uri="{FF2B5EF4-FFF2-40B4-BE49-F238E27FC236}">
                <a16:creationId xmlns:a16="http://schemas.microsoft.com/office/drawing/2014/main" id="{E1FD3262-2572-451E-B8F1-9D65935F394C}"/>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地图着色问题搜索树的一部分</a:t>
            </a:r>
            <a:endPar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p:txBody>
      </p:sp>
      <p:pic>
        <p:nvPicPr>
          <p:cNvPr id="2" name="图片 1">
            <a:extLst>
              <a:ext uri="{FF2B5EF4-FFF2-40B4-BE49-F238E27FC236}">
                <a16:creationId xmlns:a16="http://schemas.microsoft.com/office/drawing/2014/main" id="{08544D50-49ED-1B9F-8E2E-D665B196B151}"/>
              </a:ext>
            </a:extLst>
          </p:cNvPr>
          <p:cNvPicPr>
            <a:picLocks noChangeAspect="1"/>
          </p:cNvPicPr>
          <p:nvPr/>
        </p:nvPicPr>
        <p:blipFill>
          <a:blip r:embed="rId3"/>
          <a:stretch>
            <a:fillRect/>
          </a:stretch>
        </p:blipFill>
        <p:spPr>
          <a:xfrm>
            <a:off x="4353800" y="1952965"/>
            <a:ext cx="6624104" cy="4487830"/>
          </a:xfrm>
          <a:prstGeom prst="rect">
            <a:avLst/>
          </a:prstGeom>
        </p:spPr>
      </p:pic>
      <p:pic>
        <p:nvPicPr>
          <p:cNvPr id="6" name="图片 5">
            <a:extLst>
              <a:ext uri="{FF2B5EF4-FFF2-40B4-BE49-F238E27FC236}">
                <a16:creationId xmlns:a16="http://schemas.microsoft.com/office/drawing/2014/main" id="{358748EC-1967-4752-A9D4-4C68FA0BE6A2}"/>
              </a:ext>
            </a:extLst>
          </p:cNvPr>
          <p:cNvPicPr>
            <a:picLocks noChangeAspect="1"/>
          </p:cNvPicPr>
          <p:nvPr/>
        </p:nvPicPr>
        <p:blipFill>
          <a:blip r:embed="rId4"/>
          <a:stretch>
            <a:fillRect/>
          </a:stretch>
        </p:blipFill>
        <p:spPr>
          <a:xfrm>
            <a:off x="406400" y="2374439"/>
            <a:ext cx="3479800" cy="3086560"/>
          </a:xfrm>
          <a:prstGeom prst="rect">
            <a:avLst/>
          </a:prstGeom>
        </p:spPr>
      </p:pic>
    </p:spTree>
    <p:extLst>
      <p:ext uri="{BB962C8B-B14F-4D97-AF65-F5344CB8AC3E}">
        <p14:creationId xmlns:p14="http://schemas.microsoft.com/office/powerpoint/2010/main" val="353735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5" name="内容占位符 2">
            <a:extLst>
              <a:ext uri="{FF2B5EF4-FFF2-40B4-BE49-F238E27FC236}">
                <a16:creationId xmlns:a16="http://schemas.microsoft.com/office/drawing/2014/main" id="{B587DDF6-1942-453B-9984-5FF8A7FDC841}"/>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CSPs：</a:t>
            </a: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交换律</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如果一组给定动作的执行顺序对结果没有任何影响，</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我们只需考虑一个</a:t>
            </a:r>
            <a:r>
              <a:rPr kumimoji="0" lang="en-US" altLang="zh-CN" sz="2800" b="0" i="1"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单个</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搜索树中每个节点的变量。</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3139936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
                                            <p:txEl>
                                              <p:pRg st="1" end="1"/>
                                            </p:txEl>
                                          </p:spTgt>
                                        </p:tgtEl>
                                        <p:attrNameLst>
                                          <p:attrName>style.visibility</p:attrName>
                                        </p:attrNameLst>
                                      </p:cBhvr>
                                      <p:to>
                                        <p:strVal val="visible"/>
                                      </p:to>
                                    </p:set>
                                    <p:animEffect transition="in" filter="blinds(horizontal)">
                                      <p:cBhvr>
                                        <p:cTn id="10" dur="500"/>
                                        <p:tgtEl>
                                          <p:spTgt spid="5">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blinds(horizontal)">
                                      <p:cBhvr>
                                        <p:cTn id="15"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4" name="内容占位符 2">
            <a:extLst>
              <a:ext uri="{FF2B5EF4-FFF2-40B4-BE49-F238E27FC236}">
                <a16:creationId xmlns:a16="http://schemas.microsoft.com/office/drawing/2014/main" id="{23AA1399-75D5-46FA-9148-1DF2C85523AE}"/>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回溯搜索</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用于深度优先搜索</a:t>
            </a:r>
          </a:p>
          <a:p>
            <a:pPr lvl="1">
              <a:lnSpc>
                <a:spcPct val="100000"/>
              </a:lnSpc>
            </a:pPr>
            <a:r>
              <a:rPr lang="zh-CN" altLang="en-US" dirty="0">
                <a:solidFill>
                  <a:srgbClr val="000000"/>
                </a:solidFill>
                <a:latin typeface="Arial" panose="020B0604020202020204"/>
                <a:cs typeface="+mn-ea"/>
                <a:sym typeface="+mn-lt"/>
              </a:rPr>
              <a:t>每次为一变量选择一个赋值</a:t>
            </a:r>
            <a:endParaRPr lang="en-US" altLang="zh-CN" dirty="0">
              <a:solidFill>
                <a:srgbClr val="000000"/>
              </a:solidFill>
              <a:latin typeface="Arial" panose="020B0604020202020204"/>
              <a:cs typeface="+mn-ea"/>
              <a:sym typeface="+mn-lt"/>
            </a:endParaRPr>
          </a:p>
          <a:p>
            <a:pPr lvl="1">
              <a:lnSpc>
                <a:spcPct val="100000"/>
              </a:lnSpc>
            </a:pPr>
            <a:r>
              <a:rPr kumimoji="0" lang="en-US" altLang="zh-CN" sz="2400" b="0" i="0" u="none" strike="noStrike" kern="1200" cap="none" spc="0" normalizeH="0" baseline="0" noProof="0" dirty="0" err="1">
                <a:ln>
                  <a:noFill/>
                </a:ln>
                <a:solidFill>
                  <a:srgbClr val="000000"/>
                </a:solidFill>
                <a:effectLst/>
                <a:uLnTx/>
                <a:uFillTx/>
                <a:latin typeface="Arial" panose="020B0604020202020204"/>
                <a:ea typeface="微软雅黑"/>
                <a:cs typeface="+mn-ea"/>
                <a:sym typeface="+mn-lt"/>
              </a:rPr>
              <a:t>当变量没有合法值可分配时，回溯</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p>
          <a:p>
            <a:pPr marL="685800" marR="0" lvl="1" indent="-228600"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它会反复选择一个未分配的变量，然后依次尝试该变量定义域中的所有值，以寻找解决方案。</a:t>
            </a:r>
          </a:p>
          <a:p>
            <a:pPr lvl="1">
              <a:lnSpc>
                <a:spcPct val="100000"/>
              </a:lnSpc>
            </a:pPr>
            <a:r>
              <a:rPr lang="zh-CN" altLang="en-US" dirty="0">
                <a:solidFill>
                  <a:srgbClr val="000000"/>
                </a:solidFill>
                <a:latin typeface="Arial" panose="020B0604020202020204"/>
                <a:cs typeface="+mn-ea"/>
                <a:sym typeface="+mn-lt"/>
              </a:rPr>
              <a:t>一旦检测到不相容，回溯失败，返回上次调用尝试另一个值。</a:t>
            </a:r>
          </a:p>
          <a:p>
            <a:pPr marL="228600" marR="0" lvl="0" indent="-228600" algn="l" defTabSz="914400" rtl="0" eaLnBrk="1" fontAlgn="auto" latinLnBrk="0" hangingPunct="1">
              <a:lnSpc>
                <a:spcPct val="10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2838355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4" name="内容占位符 2">
            <a:extLst>
              <a:ext uri="{FF2B5EF4-FFF2-40B4-BE49-F238E27FC236}">
                <a16:creationId xmlns:a16="http://schemas.microsoft.com/office/drawing/2014/main" id="{23AA1399-75D5-46FA-9148-1DF2C85523AE}"/>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pic>
        <p:nvPicPr>
          <p:cNvPr id="5" name="图片 4">
            <a:extLst>
              <a:ext uri="{FF2B5EF4-FFF2-40B4-BE49-F238E27FC236}">
                <a16:creationId xmlns:a16="http://schemas.microsoft.com/office/drawing/2014/main" id="{5D04B36B-D6FC-4AF7-AE6D-537469FF8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6493" y="1105844"/>
            <a:ext cx="7746419" cy="5123836"/>
          </a:xfrm>
          <a:prstGeom prst="rect">
            <a:avLst/>
          </a:prstGeom>
        </p:spPr>
      </p:pic>
    </p:spTree>
    <p:extLst>
      <p:ext uri="{BB962C8B-B14F-4D97-AF65-F5344CB8AC3E}">
        <p14:creationId xmlns:p14="http://schemas.microsoft.com/office/powerpoint/2010/main" val="96281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5" name="内容占位符 2">
            <a:extLst>
              <a:ext uri="{FF2B5EF4-FFF2-40B4-BE49-F238E27FC236}">
                <a16:creationId xmlns:a16="http://schemas.microsoft.com/office/drawing/2014/main" id="{E1FD3262-2572-451E-B8F1-9D65935F394C}"/>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地图着色问题搜索树的一部分</a:t>
            </a:r>
            <a:endParaRPr kumimoji="0" lang="zh-CN" altLang="en-US"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p:txBody>
      </p:sp>
      <p:pic>
        <p:nvPicPr>
          <p:cNvPr id="2" name="图片 1">
            <a:extLst>
              <a:ext uri="{FF2B5EF4-FFF2-40B4-BE49-F238E27FC236}">
                <a16:creationId xmlns:a16="http://schemas.microsoft.com/office/drawing/2014/main" id="{08544D50-49ED-1B9F-8E2E-D665B196B151}"/>
              </a:ext>
            </a:extLst>
          </p:cNvPr>
          <p:cNvPicPr>
            <a:picLocks noChangeAspect="1"/>
          </p:cNvPicPr>
          <p:nvPr/>
        </p:nvPicPr>
        <p:blipFill>
          <a:blip r:embed="rId3"/>
          <a:stretch>
            <a:fillRect/>
          </a:stretch>
        </p:blipFill>
        <p:spPr>
          <a:xfrm>
            <a:off x="4353800" y="1952965"/>
            <a:ext cx="6624104" cy="4487830"/>
          </a:xfrm>
          <a:prstGeom prst="rect">
            <a:avLst/>
          </a:prstGeom>
        </p:spPr>
      </p:pic>
      <p:pic>
        <p:nvPicPr>
          <p:cNvPr id="6" name="图片 5">
            <a:extLst>
              <a:ext uri="{FF2B5EF4-FFF2-40B4-BE49-F238E27FC236}">
                <a16:creationId xmlns:a16="http://schemas.microsoft.com/office/drawing/2014/main" id="{358748EC-1967-4752-A9D4-4C68FA0BE6A2}"/>
              </a:ext>
            </a:extLst>
          </p:cNvPr>
          <p:cNvPicPr>
            <a:picLocks noChangeAspect="1"/>
          </p:cNvPicPr>
          <p:nvPr/>
        </p:nvPicPr>
        <p:blipFill>
          <a:blip r:embed="rId4"/>
          <a:stretch>
            <a:fillRect/>
          </a:stretch>
        </p:blipFill>
        <p:spPr>
          <a:xfrm>
            <a:off x="406400" y="2374439"/>
            <a:ext cx="3479800" cy="3086560"/>
          </a:xfrm>
          <a:prstGeom prst="rect">
            <a:avLst/>
          </a:prstGeom>
        </p:spPr>
      </p:pic>
    </p:spTree>
    <p:extLst>
      <p:ext uri="{BB962C8B-B14F-4D97-AF65-F5344CB8AC3E}">
        <p14:creationId xmlns:p14="http://schemas.microsoft.com/office/powerpoint/2010/main" val="1700103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4" name="内容占位符 2">
            <a:extLst>
              <a:ext uri="{FF2B5EF4-FFF2-40B4-BE49-F238E27FC236}">
                <a16:creationId xmlns:a16="http://schemas.microsoft.com/office/drawing/2014/main" id="{CB3C34BA-B319-4854-8EC2-015B5F8B93DF}"/>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回答以下问题</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变量与值的排序：</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接下来应分配哪个变量？</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推理：</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在搜索的每一步中应进行哪些推断？</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搜索能否避免重蹈覆辙？</a:t>
            </a: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343239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linds(horizontal)">
                                      <p:cBhvr>
                                        <p:cTn id="17"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4" name="内容占位符 2">
            <a:extLst>
              <a:ext uri="{FF2B5EF4-FFF2-40B4-BE49-F238E27FC236}">
                <a16:creationId xmlns:a16="http://schemas.microsoft.com/office/drawing/2014/main" id="{CB3C34BA-B319-4854-8EC2-015B5F8B93DF}"/>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回答以下问题</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变量与值的排序：</a:t>
            </a:r>
            <a:r>
              <a:rPr kumimoji="0" lang="en"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接下来应分配哪个变量？</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推理：</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在搜索的每一步中应进行哪些推断？</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搜索能否避免重蹈覆辙？</a:t>
            </a: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2036367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3544E734-58D8-4713-BFB4-B9975A5AF0ED}"/>
              </a:ext>
            </a:extLst>
          </p:cNvPr>
          <p:cNvPicPr>
            <a:picLocks noChangeAspect="1"/>
          </p:cNvPicPr>
          <p:nvPr/>
        </p:nvPicPr>
        <p:blipFill>
          <a:blip r:embed="rId3"/>
          <a:stretch>
            <a:fillRect/>
          </a:stretch>
        </p:blipFill>
        <p:spPr>
          <a:xfrm>
            <a:off x="7620000" y="3891569"/>
            <a:ext cx="4448701" cy="2952320"/>
          </a:xfrm>
          <a:prstGeom prst="rect">
            <a:avLst/>
          </a:prstGeom>
        </p:spPr>
      </p:pic>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normAutofit/>
          </a:bodyPr>
          <a:lstStyle/>
          <a:p>
            <a:pPr eaLnBrk="1" hangingPunct="1"/>
            <a:r>
              <a:rPr lang="en-US" altLang="zh-CN" sz="3240" dirty="0">
                <a:latin typeface="+mn-lt"/>
                <a:ea typeface="+mn-ea"/>
                <a:cs typeface="+mn-ea"/>
                <a:sym typeface="+mn-lt"/>
              </a:rPr>
              <a:t>问题1：变量与值的排序</a:t>
            </a:r>
            <a:endParaRPr lang="en-GB" altLang="zh-CN" dirty="0">
              <a:solidFill>
                <a:srgbClr val="515223"/>
              </a:solidFill>
              <a:latin typeface="+mn-lt"/>
              <a:ea typeface="+mn-ea"/>
              <a:cs typeface="+mn-ea"/>
              <a:sym typeface="+mn-lt"/>
            </a:endParaRPr>
          </a:p>
        </p:txBody>
      </p:sp>
      <p:sp>
        <p:nvSpPr>
          <p:cNvPr id="5" name="内容占位符 2">
            <a:extLst>
              <a:ext uri="{FF2B5EF4-FFF2-40B4-BE49-F238E27FC236}">
                <a16:creationId xmlns:a16="http://schemas.microsoft.com/office/drawing/2014/main" id="{00860302-B3B1-4E5E-9254-E005F253659D}"/>
              </a:ext>
            </a:extLst>
          </p:cNvPr>
          <p:cNvSpPr txBox="1">
            <a:spLocks/>
          </p:cNvSpPr>
          <p:nvPr/>
        </p:nvSpPr>
        <p:spPr>
          <a:xfrm>
            <a:off x="406400" y="1397001"/>
            <a:ext cx="113284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(1) 最小剩余值</a:t>
            </a: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(MRV)</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选择“合法”值最少的变量</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示例：当</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WA=红色</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和</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NT =绿色</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，分配SA还是Q？</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
        <p:nvSpPr>
          <p:cNvPr id="7" name="矩形 6">
            <a:extLst>
              <a:ext uri="{FF2B5EF4-FFF2-40B4-BE49-F238E27FC236}">
                <a16:creationId xmlns:a16="http://schemas.microsoft.com/office/drawing/2014/main" id="{C9D2F138-512D-4447-9B58-2D9E5DFEC13E}"/>
              </a:ext>
            </a:extLst>
          </p:cNvPr>
          <p:cNvSpPr/>
          <p:nvPr/>
        </p:nvSpPr>
        <p:spPr>
          <a:xfrm>
            <a:off x="8839200" y="3812245"/>
            <a:ext cx="78549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Arial" panose="020B0604020202020204"/>
                <a:ea typeface="微软雅黑"/>
                <a:cs typeface="+mn-ea"/>
                <a:sym typeface="+mn-lt"/>
              </a:rPr>
              <a:t>2g</a:t>
            </a:r>
            <a:endParaRPr kumimoji="0" lang="zh-CN" altLang="en-US" sz="2400" b="1" i="0" u="none" strike="noStrike" kern="1200" cap="none" spc="0" normalizeH="0" baseline="0" noProof="0" dirty="0">
              <a:ln>
                <a:noFill/>
              </a:ln>
              <a:solidFill>
                <a:srgbClr val="00B050"/>
              </a:solidFill>
              <a:effectLst/>
              <a:uLnTx/>
              <a:uFillTx/>
              <a:latin typeface="Arial" panose="020B0604020202020204"/>
              <a:ea typeface="微软雅黑"/>
              <a:cs typeface="+mn-ea"/>
              <a:sym typeface="+mn-lt"/>
            </a:endParaRPr>
          </a:p>
        </p:txBody>
      </p:sp>
      <p:sp>
        <p:nvSpPr>
          <p:cNvPr id="8" name="矩形 7">
            <a:extLst>
              <a:ext uri="{FF2B5EF4-FFF2-40B4-BE49-F238E27FC236}">
                <a16:creationId xmlns:a16="http://schemas.microsoft.com/office/drawing/2014/main" id="{D685A4ED-6799-42BC-A70A-5EAA71CD90BD}"/>
              </a:ext>
            </a:extLst>
          </p:cNvPr>
          <p:cNvSpPr/>
          <p:nvPr/>
        </p:nvSpPr>
        <p:spPr>
          <a:xfrm>
            <a:off x="7412995" y="5187319"/>
            <a:ext cx="511805"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rPr>
              <a:t>1r</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endParaRPr>
          </a:p>
        </p:txBody>
      </p:sp>
      <p:sp>
        <p:nvSpPr>
          <p:cNvPr id="9" name="矩形 8">
            <a:extLst>
              <a:ext uri="{FF2B5EF4-FFF2-40B4-BE49-F238E27FC236}">
                <a16:creationId xmlns:a16="http://schemas.microsoft.com/office/drawing/2014/main" id="{822E59A0-D8ED-4077-BF3C-76D85D559CE9}"/>
              </a:ext>
            </a:extLst>
          </p:cNvPr>
          <p:cNvSpPr/>
          <p:nvPr/>
        </p:nvSpPr>
        <p:spPr>
          <a:xfrm>
            <a:off x="8962950" y="5707135"/>
            <a:ext cx="681503"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F0"/>
                </a:solidFill>
                <a:effectLst/>
                <a:uLnTx/>
                <a:uFillTx/>
                <a:latin typeface="Arial" panose="020B0604020202020204"/>
                <a:ea typeface="微软雅黑"/>
                <a:cs typeface="+mn-ea"/>
                <a:sym typeface="+mn-lt"/>
              </a:rPr>
              <a:t>3b</a:t>
            </a:r>
            <a:endParaRPr kumimoji="0" lang="zh-CN" altLang="en-US" sz="2400" b="1" i="0" u="none" strike="noStrike" kern="1200" cap="none" spc="0" normalizeH="0" baseline="0" noProof="0" dirty="0">
              <a:ln>
                <a:noFill/>
              </a:ln>
              <a:solidFill>
                <a:srgbClr val="00B0F0"/>
              </a:solidFill>
              <a:effectLst/>
              <a:uLnTx/>
              <a:uFillTx/>
              <a:latin typeface="Arial" panose="020B0604020202020204"/>
              <a:ea typeface="微软雅黑"/>
              <a:cs typeface="+mn-ea"/>
              <a:sym typeface="+mn-lt"/>
            </a:endParaRPr>
          </a:p>
        </p:txBody>
      </p:sp>
      <p:sp>
        <p:nvSpPr>
          <p:cNvPr id="3" name="文本框 2">
            <a:extLst>
              <a:ext uri="{FF2B5EF4-FFF2-40B4-BE49-F238E27FC236}">
                <a16:creationId xmlns:a16="http://schemas.microsoft.com/office/drawing/2014/main" id="{863C5859-8CA5-92C2-21C2-8D13F102A89B}"/>
              </a:ext>
            </a:extLst>
          </p:cNvPr>
          <p:cNvSpPr txBox="1"/>
          <p:nvPr/>
        </p:nvSpPr>
        <p:spPr>
          <a:xfrm>
            <a:off x="591509" y="4346989"/>
            <a:ext cx="6955795"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在澳大利亚选择第一个要涂色的区域时，完全没帮助。</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因为最初每个地区都有三种法定颜色。</a:t>
            </a:r>
          </a:p>
        </p:txBody>
      </p:sp>
    </p:spTree>
    <p:extLst>
      <p:ext uri="{BB962C8B-B14F-4D97-AF65-F5344CB8AC3E}">
        <p14:creationId xmlns:p14="http://schemas.microsoft.com/office/powerpoint/2010/main" val="189940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blinds(horizontal)">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blinds(horizontal)">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normAutofit/>
          </a:bodyPr>
          <a:lstStyle/>
          <a:p>
            <a:pPr eaLnBrk="1" hangingPunct="1"/>
            <a:r>
              <a:rPr lang="en-US" altLang="zh-CN" sz="3240" dirty="0">
                <a:latin typeface="+mn-lt"/>
                <a:ea typeface="+mn-ea"/>
                <a:cs typeface="+mn-ea"/>
                <a:sym typeface="+mn-lt"/>
              </a:rPr>
              <a:t>问题1：变量与值的排序</a:t>
            </a:r>
            <a:endParaRPr lang="en-GB" altLang="zh-CN" dirty="0">
              <a:solidFill>
                <a:srgbClr val="515223"/>
              </a:solidFill>
              <a:latin typeface="+mn-lt"/>
              <a:ea typeface="+mn-ea"/>
              <a:cs typeface="+mn-ea"/>
              <a:sym typeface="+mn-lt"/>
            </a:endParaRPr>
          </a:p>
        </p:txBody>
      </p:sp>
      <p:sp>
        <p:nvSpPr>
          <p:cNvPr id="10" name="内容占位符 2">
            <a:extLst>
              <a:ext uri="{FF2B5EF4-FFF2-40B4-BE49-F238E27FC236}">
                <a16:creationId xmlns:a16="http://schemas.microsoft.com/office/drawing/2014/main" id="{8EBB1B75-6427-4E81-9997-84C1B104447C}"/>
              </a:ext>
            </a:extLst>
          </p:cNvPr>
          <p:cNvSpPr txBox="1">
            <a:spLocks/>
          </p:cNvSpPr>
          <p:nvPr/>
        </p:nvSpPr>
        <p:spPr>
          <a:xfrm>
            <a:off x="406400" y="1397001"/>
            <a:ext cx="113284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(2) </a:t>
            </a:r>
            <a:r>
              <a:rPr kumimoji="0" lang="zh-CN" altLang="en-US"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度</a:t>
            </a:r>
            <a:r>
              <a:rPr kumimoji="0" lang="en-US" altLang="zh-CN" sz="2800" b="1" i="0" u="none" strike="noStrike" kern="1200" cap="none" spc="0" normalizeH="0" baseline="0" noProof="0" dirty="0" err="1">
                <a:ln>
                  <a:noFill/>
                </a:ln>
                <a:solidFill>
                  <a:srgbClr val="00529D"/>
                </a:solidFill>
                <a:effectLst/>
                <a:uLnTx/>
                <a:uFillTx/>
                <a:latin typeface="Arial" panose="020B0604020202020204"/>
                <a:ea typeface="微软雅黑"/>
                <a:cs typeface="+mn-ea"/>
                <a:sym typeface="+mn-lt"/>
              </a:rPr>
              <a:t>启发式</a:t>
            </a:r>
            <a:endPar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选择对其他未赋值变量约束最多的变量。</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err="1">
                <a:ln>
                  <a:noFill/>
                </a:ln>
                <a:solidFill>
                  <a:srgbClr val="000000"/>
                </a:solidFill>
                <a:effectLst/>
                <a:uLnTx/>
                <a:uFillTx/>
                <a:latin typeface="Arial" panose="020B0604020202020204"/>
                <a:ea typeface="微软雅黑"/>
                <a:cs typeface="+mn-ea"/>
                <a:sym typeface="+mn-lt"/>
              </a:rPr>
              <a:t>示例：SA</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US" altLang="zh-CN" sz="2400" b="0" i="0" u="none" strike="noStrike" kern="1200" cap="none" spc="0" normalizeH="0" baseline="0" noProof="0" dirty="0" err="1">
                <a:ln>
                  <a:noFill/>
                </a:ln>
                <a:solidFill>
                  <a:srgbClr val="000000"/>
                </a:solidFill>
                <a:effectLst/>
                <a:uLnTx/>
                <a:uFillTx/>
                <a:latin typeface="Arial" panose="020B0604020202020204"/>
                <a:ea typeface="微软雅黑"/>
                <a:cs typeface="+mn-ea"/>
                <a:sym typeface="+mn-lt"/>
              </a:rPr>
              <a:t>是次数最高的</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度</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，为 5；其他变量的</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度</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为 2 或 3。</a:t>
            </a:r>
          </a:p>
        </p:txBody>
      </p:sp>
      <p:pic>
        <p:nvPicPr>
          <p:cNvPr id="5" name="图片 4">
            <a:extLst>
              <a:ext uri="{FF2B5EF4-FFF2-40B4-BE49-F238E27FC236}">
                <a16:creationId xmlns:a16="http://schemas.microsoft.com/office/drawing/2014/main" id="{3124E224-EBC5-4EDA-9C6A-36D12B982A83}"/>
              </a:ext>
            </a:extLst>
          </p:cNvPr>
          <p:cNvPicPr>
            <a:picLocks noChangeAspect="1"/>
          </p:cNvPicPr>
          <p:nvPr/>
        </p:nvPicPr>
        <p:blipFill>
          <a:blip r:embed="rId3"/>
          <a:stretch>
            <a:fillRect/>
          </a:stretch>
        </p:blipFill>
        <p:spPr>
          <a:xfrm>
            <a:off x="7620000" y="3891569"/>
            <a:ext cx="4448701" cy="2952320"/>
          </a:xfrm>
          <a:prstGeom prst="rect">
            <a:avLst/>
          </a:prstGeom>
        </p:spPr>
      </p:pic>
    </p:spTree>
    <p:extLst>
      <p:ext uri="{BB962C8B-B14F-4D97-AF65-F5344CB8AC3E}">
        <p14:creationId xmlns:p14="http://schemas.microsoft.com/office/powerpoint/2010/main" val="3316165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linds(horizontal)">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blinds(horizontal)">
                                      <p:cBhvr>
                                        <p:cTn id="12" dur="5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id="{056F1097-2BC1-4DC5-B0B4-9AFA0BCCF443}"/>
              </a:ext>
            </a:extLst>
          </p:cNvPr>
          <p:cNvPicPr>
            <a:picLocks noChangeAspect="1"/>
          </p:cNvPicPr>
          <p:nvPr/>
        </p:nvPicPr>
        <p:blipFill>
          <a:blip r:embed="rId3"/>
          <a:stretch>
            <a:fillRect/>
          </a:stretch>
        </p:blipFill>
        <p:spPr>
          <a:xfrm>
            <a:off x="7620000" y="3891569"/>
            <a:ext cx="4448701" cy="2952320"/>
          </a:xfrm>
          <a:prstGeom prst="rect">
            <a:avLst/>
          </a:prstGeom>
        </p:spPr>
      </p:pic>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normAutofit/>
          </a:bodyPr>
          <a:lstStyle/>
          <a:p>
            <a:pPr eaLnBrk="1" hangingPunct="1"/>
            <a:r>
              <a:rPr lang="en-US" altLang="zh-CN" sz="3240" dirty="0">
                <a:latin typeface="+mn-lt"/>
                <a:ea typeface="+mn-ea"/>
                <a:cs typeface="+mn-ea"/>
                <a:sym typeface="+mn-lt"/>
              </a:rPr>
              <a:t>问题1：变量与值的排序</a:t>
            </a:r>
            <a:endParaRPr lang="en-GB" altLang="zh-CN" dirty="0">
              <a:solidFill>
                <a:srgbClr val="515223"/>
              </a:solidFill>
              <a:latin typeface="+mn-lt"/>
              <a:ea typeface="+mn-ea"/>
              <a:cs typeface="+mn-ea"/>
              <a:sym typeface="+mn-lt"/>
            </a:endParaRPr>
          </a:p>
        </p:txBody>
      </p:sp>
      <p:sp>
        <p:nvSpPr>
          <p:cNvPr id="7" name="矩形 6">
            <a:extLst>
              <a:ext uri="{FF2B5EF4-FFF2-40B4-BE49-F238E27FC236}">
                <a16:creationId xmlns:a16="http://schemas.microsoft.com/office/drawing/2014/main" id="{C9D2F138-512D-4447-9B58-2D9E5DFEC13E}"/>
              </a:ext>
            </a:extLst>
          </p:cNvPr>
          <p:cNvSpPr/>
          <p:nvPr/>
        </p:nvSpPr>
        <p:spPr>
          <a:xfrm>
            <a:off x="8839200" y="3812245"/>
            <a:ext cx="78549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Arial" panose="020B0604020202020204"/>
                <a:ea typeface="微软雅黑"/>
                <a:cs typeface="+mn-ea"/>
                <a:sym typeface="+mn-lt"/>
              </a:rPr>
              <a:t>2g</a:t>
            </a:r>
            <a:endParaRPr kumimoji="0" lang="zh-CN" altLang="en-US" sz="2400" b="1" i="0" u="none" strike="noStrike" kern="1200" cap="none" spc="0" normalizeH="0" baseline="0" noProof="0" dirty="0">
              <a:ln>
                <a:noFill/>
              </a:ln>
              <a:solidFill>
                <a:srgbClr val="00B050"/>
              </a:solidFill>
              <a:effectLst/>
              <a:uLnTx/>
              <a:uFillTx/>
              <a:latin typeface="Arial" panose="020B0604020202020204"/>
              <a:ea typeface="微软雅黑"/>
              <a:cs typeface="+mn-ea"/>
              <a:sym typeface="+mn-lt"/>
            </a:endParaRPr>
          </a:p>
        </p:txBody>
      </p:sp>
      <p:sp>
        <p:nvSpPr>
          <p:cNvPr id="8" name="矩形 7">
            <a:extLst>
              <a:ext uri="{FF2B5EF4-FFF2-40B4-BE49-F238E27FC236}">
                <a16:creationId xmlns:a16="http://schemas.microsoft.com/office/drawing/2014/main" id="{D685A4ED-6799-42BC-A70A-5EAA71CD90BD}"/>
              </a:ext>
            </a:extLst>
          </p:cNvPr>
          <p:cNvSpPr/>
          <p:nvPr/>
        </p:nvSpPr>
        <p:spPr>
          <a:xfrm>
            <a:off x="7412995" y="5187319"/>
            <a:ext cx="511805"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rPr>
              <a:t>1r</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endParaRPr>
          </a:p>
        </p:txBody>
      </p:sp>
      <p:sp>
        <p:nvSpPr>
          <p:cNvPr id="10" name="内容占位符 2">
            <a:extLst>
              <a:ext uri="{FF2B5EF4-FFF2-40B4-BE49-F238E27FC236}">
                <a16:creationId xmlns:a16="http://schemas.microsoft.com/office/drawing/2014/main" id="{EA3C23A9-B074-4552-8BC4-CB8E0ED6709D}"/>
              </a:ext>
            </a:extLst>
          </p:cNvPr>
          <p:cNvSpPr txBox="1">
            <a:spLocks/>
          </p:cNvSpPr>
          <p:nvPr/>
        </p:nvSpPr>
        <p:spPr>
          <a:xfrm>
            <a:off x="406400" y="1397001"/>
            <a:ext cx="113284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(3) 最小约束值</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它更倾向于选择能为约束图中邻近变量排除最少取值的数值。</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示例：当</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WA=红色</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和</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NT =绿色</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下一个选项是用于</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Q</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什么是Q’颜色？</a:t>
            </a: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
        <p:nvSpPr>
          <p:cNvPr id="11" name="矩形 10">
            <a:extLst>
              <a:ext uri="{FF2B5EF4-FFF2-40B4-BE49-F238E27FC236}">
                <a16:creationId xmlns:a16="http://schemas.microsoft.com/office/drawing/2014/main" id="{E1F63802-ACD8-4B77-8905-D71D4FEC07C7}"/>
              </a:ext>
            </a:extLst>
          </p:cNvPr>
          <p:cNvSpPr/>
          <p:nvPr/>
        </p:nvSpPr>
        <p:spPr>
          <a:xfrm>
            <a:off x="10950679" y="3722072"/>
            <a:ext cx="511805"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3</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p>
        </p:txBody>
      </p:sp>
      <p:sp>
        <p:nvSpPr>
          <p:cNvPr id="12" name="矩形 11">
            <a:extLst>
              <a:ext uri="{FF2B5EF4-FFF2-40B4-BE49-F238E27FC236}">
                <a16:creationId xmlns:a16="http://schemas.microsoft.com/office/drawing/2014/main" id="{2C77AADE-D8A8-414D-ADDB-27ED7AC6DFDD}"/>
              </a:ext>
            </a:extLst>
          </p:cNvPr>
          <p:cNvSpPr/>
          <p:nvPr/>
        </p:nvSpPr>
        <p:spPr>
          <a:xfrm>
            <a:off x="11365318" y="3722072"/>
            <a:ext cx="511805"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rPr>
              <a:t>3r</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336443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animEffect transition="in" filter="blinds(horizontal)">
                                      <p:cBhvr>
                                        <p:cTn id="7" dur="500"/>
                                        <p:tgtEl>
                                          <p:spTgt spid="1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blinds(horizontal)">
                                      <p:cBhvr>
                                        <p:cTn id="12" dur="500"/>
                                        <p:tgtEl>
                                          <p:spTgt spid="10">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blinds(horizontal)">
                                      <p:cBhvr>
                                        <p:cTn id="15" dur="500"/>
                                        <p:tgtEl>
                                          <p:spTgt spid="10">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4" name="内容占位符 2">
            <a:extLst>
              <a:ext uri="{FF2B5EF4-FFF2-40B4-BE49-F238E27FC236}">
                <a16:creationId xmlns:a16="http://schemas.microsoft.com/office/drawing/2014/main" id="{CB3C34BA-B319-4854-8EC2-015B5F8B93DF}"/>
              </a:ext>
            </a:extLst>
          </p:cNvPr>
          <p:cNvSpPr txBox="1">
            <a:spLocks/>
          </p:cNvSpPr>
          <p:nvPr/>
        </p:nvSpPr>
        <p:spPr>
          <a:xfrm>
            <a:off x="151529" y="1397001"/>
            <a:ext cx="11871525"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回答以下问题</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变量与值的排序：</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接下来应分配哪个变量？</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推理：</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在搜索的每一步中应进行哪些推断？</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搜索能否避免重蹈覆辙？</a:t>
            </a: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41101484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4">
            <a:extLst>
              <a:ext uri="{FF2B5EF4-FFF2-40B4-BE49-F238E27FC236}">
                <a16:creationId xmlns:a16="http://schemas.microsoft.com/office/drawing/2014/main" id="{BD74BE65-4A75-68EC-2787-D97B96579A42}"/>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17" name="图片 16">
            <a:extLst>
              <a:ext uri="{FF2B5EF4-FFF2-40B4-BE49-F238E27FC236}">
                <a16:creationId xmlns:a16="http://schemas.microsoft.com/office/drawing/2014/main" id="{570EFAB4-F304-45D2-92DC-AFC777C3A037}"/>
              </a:ext>
            </a:extLst>
          </p:cNvPr>
          <p:cNvPicPr>
            <a:picLocks noChangeAspect="1"/>
          </p:cNvPicPr>
          <p:nvPr/>
        </p:nvPicPr>
        <p:blipFill>
          <a:blip r:embed="rId3"/>
          <a:stretch>
            <a:fillRect/>
          </a:stretch>
        </p:blipFill>
        <p:spPr>
          <a:xfrm>
            <a:off x="8669765" y="2501899"/>
            <a:ext cx="3522235" cy="3124200"/>
          </a:xfrm>
          <a:prstGeom prst="rect">
            <a:avLst/>
          </a:prstGeom>
        </p:spPr>
      </p:pic>
      <p:pic>
        <p:nvPicPr>
          <p:cNvPr id="18" name="图片 17">
            <a:extLst>
              <a:ext uri="{FF2B5EF4-FFF2-40B4-BE49-F238E27FC236}">
                <a16:creationId xmlns:a16="http://schemas.microsoft.com/office/drawing/2014/main" id="{C644C349-BEB5-4AB7-9E1B-562471524068}"/>
              </a:ext>
            </a:extLst>
          </p:cNvPr>
          <p:cNvPicPr>
            <a:picLocks noChangeAspect="1"/>
          </p:cNvPicPr>
          <p:nvPr/>
        </p:nvPicPr>
        <p:blipFill>
          <a:blip r:embed="rId4"/>
          <a:stretch>
            <a:fillRect/>
          </a:stretch>
        </p:blipFill>
        <p:spPr>
          <a:xfrm>
            <a:off x="0" y="4550829"/>
            <a:ext cx="10567014" cy="2240845"/>
          </a:xfrm>
          <a:prstGeom prst="rect">
            <a:avLst/>
          </a:prstGeom>
        </p:spPr>
      </p:pic>
      <p:cxnSp>
        <p:nvCxnSpPr>
          <p:cNvPr id="19" name="直接连接符 18">
            <a:extLst>
              <a:ext uri="{FF2B5EF4-FFF2-40B4-BE49-F238E27FC236}">
                <a16:creationId xmlns:a16="http://schemas.microsoft.com/office/drawing/2014/main" id="{ACC7A5B8-53D4-4B91-B9C2-C9962F8F5AFE}"/>
              </a:ext>
            </a:extLst>
          </p:cNvPr>
          <p:cNvCxnSpPr/>
          <p:nvPr/>
        </p:nvCxnSpPr>
        <p:spPr>
          <a:xfrm>
            <a:off x="0" y="5334000"/>
            <a:ext cx="11049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F8F95BE2-E6B6-4E8A-BA27-35EE24C8B2C2}"/>
              </a:ext>
            </a:extLst>
          </p:cNvPr>
          <p:cNvSpPr/>
          <p:nvPr/>
        </p:nvSpPr>
        <p:spPr>
          <a:xfrm>
            <a:off x="8157960" y="3064699"/>
            <a:ext cx="511805" cy="461665"/>
          </a:xfrm>
          <a:prstGeom prst="rect">
            <a:avLst/>
          </a:prstGeom>
        </p:spPr>
        <p:txBody>
          <a:bodyPr wrap="square">
            <a:spAutoFit/>
          </a:bodyPr>
          <a:lstStyle/>
          <a:p>
            <a:r>
              <a:rPr lang="en-US" altLang="zh-CN" sz="2400" b="1" dirty="0">
                <a:solidFill>
                  <a:srgbClr val="FF0000"/>
                </a:solidFill>
                <a:cs typeface="+mn-ea"/>
                <a:sym typeface="+mn-lt"/>
              </a:rPr>
              <a:t>1r</a:t>
            </a:r>
            <a:endParaRPr lang="zh-CN" altLang="en-US" sz="2400" b="1" dirty="0">
              <a:solidFill>
                <a:srgbClr val="FF0000"/>
              </a:solidFill>
              <a:cs typeface="+mn-ea"/>
              <a:sym typeface="+mn-lt"/>
            </a:endParaRPr>
          </a:p>
        </p:txBody>
      </p:sp>
      <p:sp>
        <p:nvSpPr>
          <p:cNvPr id="21" name="矩形 20">
            <a:extLst>
              <a:ext uri="{FF2B5EF4-FFF2-40B4-BE49-F238E27FC236}">
                <a16:creationId xmlns:a16="http://schemas.microsoft.com/office/drawing/2014/main" id="{890045E9-546C-4512-903D-AF159D1C1168}"/>
              </a:ext>
            </a:extLst>
          </p:cNvPr>
          <p:cNvSpPr/>
          <p:nvPr/>
        </p:nvSpPr>
        <p:spPr>
          <a:xfrm>
            <a:off x="11375459" y="2372549"/>
            <a:ext cx="785497" cy="461665"/>
          </a:xfrm>
          <a:prstGeom prst="rect">
            <a:avLst/>
          </a:prstGeom>
        </p:spPr>
        <p:txBody>
          <a:bodyPr wrap="square">
            <a:spAutoFit/>
          </a:bodyPr>
          <a:lstStyle/>
          <a:p>
            <a:r>
              <a:rPr lang="en-US" altLang="zh-CN" sz="2400" b="1" dirty="0">
                <a:solidFill>
                  <a:srgbClr val="00B050"/>
                </a:solidFill>
                <a:cs typeface="+mn-ea"/>
                <a:sym typeface="+mn-lt"/>
              </a:rPr>
              <a:t>2g</a:t>
            </a:r>
            <a:endParaRPr lang="zh-CN" altLang="en-US" sz="2400" b="1" dirty="0">
              <a:solidFill>
                <a:srgbClr val="00B050"/>
              </a:solidFill>
              <a:cs typeface="+mn-ea"/>
              <a:sym typeface="+mn-lt"/>
            </a:endParaRPr>
          </a:p>
        </p:txBody>
      </p:sp>
      <p:cxnSp>
        <p:nvCxnSpPr>
          <p:cNvPr id="22" name="直接连接符 21">
            <a:extLst>
              <a:ext uri="{FF2B5EF4-FFF2-40B4-BE49-F238E27FC236}">
                <a16:creationId xmlns:a16="http://schemas.microsoft.com/office/drawing/2014/main" id="{975352A2-115C-4C52-BAFE-3B5F35C5423A}"/>
              </a:ext>
            </a:extLst>
          </p:cNvPr>
          <p:cNvCxnSpPr/>
          <p:nvPr/>
        </p:nvCxnSpPr>
        <p:spPr>
          <a:xfrm>
            <a:off x="0" y="5791200"/>
            <a:ext cx="11049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4C068B0F-38ED-45FF-BEAD-17E648AF4D6E}"/>
              </a:ext>
            </a:extLst>
          </p:cNvPr>
          <p:cNvCxnSpPr/>
          <p:nvPr/>
        </p:nvCxnSpPr>
        <p:spPr>
          <a:xfrm>
            <a:off x="0" y="6248400"/>
            <a:ext cx="11049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5F84BBBB-1C5B-4CEA-80A3-3953A2F36915}"/>
              </a:ext>
            </a:extLst>
          </p:cNvPr>
          <p:cNvCxnSpPr/>
          <p:nvPr/>
        </p:nvCxnSpPr>
        <p:spPr>
          <a:xfrm>
            <a:off x="0" y="6705600"/>
            <a:ext cx="1104900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9587512F-F4A2-45AB-9B2E-3AAE338CCD67}"/>
              </a:ext>
            </a:extLst>
          </p:cNvPr>
          <p:cNvSpPr/>
          <p:nvPr/>
        </p:nvSpPr>
        <p:spPr>
          <a:xfrm>
            <a:off x="11596052" y="4495800"/>
            <a:ext cx="785497" cy="461665"/>
          </a:xfrm>
          <a:prstGeom prst="rect">
            <a:avLst/>
          </a:prstGeom>
        </p:spPr>
        <p:txBody>
          <a:bodyPr wrap="square">
            <a:spAutoFit/>
          </a:bodyPr>
          <a:lstStyle/>
          <a:p>
            <a:r>
              <a:rPr lang="en-US" altLang="zh-CN" sz="2400" b="1" dirty="0">
                <a:solidFill>
                  <a:srgbClr val="00B0F0"/>
                </a:solidFill>
                <a:cs typeface="+mn-ea"/>
                <a:sym typeface="+mn-lt"/>
              </a:rPr>
              <a:t>3b</a:t>
            </a:r>
            <a:endParaRPr lang="zh-CN" altLang="en-US" sz="2400" b="1" dirty="0">
              <a:solidFill>
                <a:srgbClr val="00B0F0"/>
              </a:solidFill>
              <a:cs typeface="+mn-ea"/>
              <a:sym typeface="+mn-lt"/>
            </a:endParaRPr>
          </a:p>
        </p:txBody>
      </p:sp>
      <p:sp>
        <p:nvSpPr>
          <p:cNvPr id="16" name="Rectangle 2">
            <a:extLst>
              <a:ext uri="{FF2B5EF4-FFF2-40B4-BE49-F238E27FC236}">
                <a16:creationId xmlns:a16="http://schemas.microsoft.com/office/drawing/2014/main" id="{D4303329-41ED-4182-A3FF-18972994B845}"/>
              </a:ext>
            </a:extLst>
          </p:cNvPr>
          <p:cNvSpPr>
            <a:spLocks noGrp="1" noChangeArrowheads="1"/>
          </p:cNvSpPr>
          <p:nvPr>
            <p:ph type="title"/>
          </p:nvPr>
        </p:nvSpPr>
        <p:spPr>
          <a:xfrm>
            <a:off x="1091255" y="237834"/>
            <a:ext cx="8168208" cy="790865"/>
          </a:xfrm>
        </p:spPr>
        <p:txBody>
          <a:bodyPr>
            <a:normAutofit/>
          </a:bodyPr>
          <a:lstStyle/>
          <a:p>
            <a:r>
              <a:rPr lang="en-US" altLang="zh-CN" sz="3240" dirty="0">
                <a:latin typeface="+mn-lt"/>
                <a:ea typeface="+mn-ea"/>
                <a:cs typeface="+mn-ea"/>
                <a:sym typeface="+mn-lt"/>
              </a:rPr>
              <a:t>问题2：搜索与推理的交织</a:t>
            </a:r>
            <a:endParaRPr lang="en-US" altLang="zh-CN" dirty="0">
              <a:solidFill>
                <a:srgbClr val="515223"/>
              </a:solidFill>
              <a:latin typeface="+mn-lt"/>
              <a:ea typeface="+mn-ea"/>
              <a:cs typeface="+mn-ea"/>
              <a:sym typeface="+mn-lt"/>
            </a:endParaRPr>
          </a:p>
        </p:txBody>
      </p:sp>
      <p:sp>
        <p:nvSpPr>
          <p:cNvPr id="26" name="内容占位符 2">
            <a:extLst>
              <a:ext uri="{FF2B5EF4-FFF2-40B4-BE49-F238E27FC236}">
                <a16:creationId xmlns:a16="http://schemas.microsoft.com/office/drawing/2014/main" id="{AC27F2C7-6443-4E4B-9E0D-566B9983C225}"/>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推理</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邻近变量的域约简</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向前检查</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建立弧一致性</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altLang="zh-CN" sz="3200" b="0" i="0" u="none" strike="noStrike" kern="1200" cap="none" spc="0" normalizeH="0" baseline="0" noProof="0" dirty="0">
              <a:ln>
                <a:noFill/>
              </a:ln>
              <a:solidFill>
                <a:srgbClr val="FDCA04"/>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6">
                                            <p:txEl>
                                              <p:pRg st="0" end="0"/>
                                            </p:txEl>
                                          </p:spTgt>
                                        </p:tgtEl>
                                        <p:attrNameLst>
                                          <p:attrName>style.visibility</p:attrName>
                                        </p:attrNameLst>
                                      </p:cBhvr>
                                      <p:to>
                                        <p:strVal val="visible"/>
                                      </p:to>
                                    </p:set>
                                    <p:animEffect transition="in" filter="blinds(horizontal)">
                                      <p:cBhvr>
                                        <p:cTn id="35" dur="500"/>
                                        <p:tgtEl>
                                          <p:spTgt spid="26">
                                            <p:txEl>
                                              <p:pRg st="0" end="0"/>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26">
                                            <p:txEl>
                                              <p:pRg st="1" end="1"/>
                                            </p:txEl>
                                          </p:spTgt>
                                        </p:tgtEl>
                                        <p:attrNameLst>
                                          <p:attrName>style.visibility</p:attrName>
                                        </p:attrNameLst>
                                      </p:cBhvr>
                                      <p:to>
                                        <p:strVal val="visible"/>
                                      </p:to>
                                    </p:set>
                                    <p:animEffect transition="in" filter="blinds(horizontal)">
                                      <p:cBhvr>
                                        <p:cTn id="38" dur="500"/>
                                        <p:tgtEl>
                                          <p:spTgt spid="26">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26">
                                            <p:txEl>
                                              <p:pRg st="2" end="2"/>
                                            </p:txEl>
                                          </p:spTgt>
                                        </p:tgtEl>
                                        <p:attrNameLst>
                                          <p:attrName>style.visibility</p:attrName>
                                        </p:attrNameLst>
                                      </p:cBhvr>
                                      <p:to>
                                        <p:strVal val="visible"/>
                                      </p:to>
                                    </p:set>
                                    <p:animEffect transition="in" filter="blinds(horizontal)">
                                      <p:cBhvr>
                                        <p:cTn id="43" dur="500"/>
                                        <p:tgtEl>
                                          <p:spTgt spid="26">
                                            <p:txEl>
                                              <p:pRg st="2" end="2"/>
                                            </p:txEl>
                                          </p:spTgt>
                                        </p:tgtEl>
                                      </p:cBhvr>
                                    </p:animEffect>
                                  </p:childTnLst>
                                </p:cTn>
                              </p:par>
                              <p:par>
                                <p:cTn id="44" presetID="3" presetClass="entr" presetSubtype="10" fill="hold" nodeType="withEffect">
                                  <p:stCondLst>
                                    <p:cond delay="0"/>
                                  </p:stCondLst>
                                  <p:childTnLst>
                                    <p:set>
                                      <p:cBhvr>
                                        <p:cTn id="45" dur="1" fill="hold">
                                          <p:stCondLst>
                                            <p:cond delay="0"/>
                                          </p:stCondLst>
                                        </p:cTn>
                                        <p:tgtEl>
                                          <p:spTgt spid="26">
                                            <p:txEl>
                                              <p:pRg st="3" end="3"/>
                                            </p:txEl>
                                          </p:spTgt>
                                        </p:tgtEl>
                                        <p:attrNameLst>
                                          <p:attrName>style.visibility</p:attrName>
                                        </p:attrNameLst>
                                      </p:cBhvr>
                                      <p:to>
                                        <p:strVal val="visible"/>
                                      </p:to>
                                    </p:set>
                                    <p:animEffect transition="in" filter="blinds(horizontal)">
                                      <p:cBhvr>
                                        <p:cTn id="46" dur="500"/>
                                        <p:tgtEl>
                                          <p:spTgt spid="2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8B4BF5AF-C577-EE0E-D168-873C74414ACF}"/>
              </a:ext>
            </a:extLst>
          </p:cNvPr>
          <p:cNvSpPr>
            <a:spLocks noGrp="1" noChangeArrowheads="1"/>
          </p:cNvSpPr>
          <p:nvPr>
            <p:ph type="title"/>
          </p:nvPr>
        </p:nvSpPr>
        <p:spPr/>
        <p:txBody>
          <a:bodyPr>
            <a:normAutofit/>
          </a:bodyPr>
          <a:lstStyle/>
          <a:p>
            <a:r>
              <a:rPr lang="en-US" altLang="zh-CN" sz="3600" dirty="0">
                <a:latin typeface="+mn-lt"/>
                <a:ea typeface="+mn-ea"/>
                <a:cs typeface="+mn-ea"/>
                <a:sym typeface="+mn-lt"/>
              </a:rPr>
              <a:t>问题2：搜索与推理的交织</a:t>
            </a:r>
            <a:endParaRPr lang="en-US" altLang="zh-CN" dirty="0">
              <a:solidFill>
                <a:srgbClr val="515223"/>
              </a:solidFill>
              <a:latin typeface="+mn-lt"/>
              <a:ea typeface="+mn-ea"/>
              <a:cs typeface="+mn-ea"/>
              <a:sym typeface="+mn-lt"/>
            </a:endParaRPr>
          </a:p>
        </p:txBody>
      </p:sp>
      <mc:AlternateContent xmlns:mc="http://schemas.openxmlformats.org/markup-compatibility/2006" xmlns:a14="http://schemas.microsoft.com/office/drawing/2010/main">
        <mc:Choice Requires="a14">
          <p:sp>
            <p:nvSpPr>
              <p:cNvPr id="14" name="内容占位符 2">
                <a:extLst>
                  <a:ext uri="{FF2B5EF4-FFF2-40B4-BE49-F238E27FC236}">
                    <a16:creationId xmlns:a16="http://schemas.microsoft.com/office/drawing/2014/main" id="{9ED5BCF2-5244-4A12-9BB8-1477706B61C6}"/>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3"/>
                    </a:solidFill>
                    <a:latin typeface="+mn-lt"/>
                    <a:cs typeface="+mn-ea"/>
                    <a:sym typeface="+mn-lt"/>
                  </a:rPr>
                  <a:t>向前看并不看得足够远</a:t>
                </a:r>
                <a:endParaRPr lang="en-US" altLang="zh-CN" dirty="0">
                  <a:solidFill>
                    <a:schemeClr val="accent3"/>
                  </a:solidFill>
                  <a:latin typeface="+mn-lt"/>
                  <a:cs typeface="+mn-ea"/>
                  <a:sym typeface="+mn-lt"/>
                </a:endParaRPr>
              </a:p>
              <a:p>
                <a:endParaRPr lang="en-US" altLang="zh-CN" b="1" dirty="0">
                  <a:latin typeface="+mn-lt"/>
                  <a:cs typeface="+mn-ea"/>
                  <a:sym typeface="+mn-lt"/>
                </a:endParaRPr>
              </a:p>
              <a:p>
                <a:r>
                  <a:rPr lang="zh-CN" altLang="en-US" dirty="0">
                    <a:solidFill>
                      <a:schemeClr val="accent3"/>
                    </a:solidFill>
                    <a:latin typeface="+mn-lt"/>
                    <a:cs typeface="+mn-ea"/>
                    <a:sym typeface="+mn-lt"/>
                  </a:rPr>
                  <a:t>保持弧一致性（</a:t>
                </a:r>
                <a:r>
                  <a:rPr lang="en-US" altLang="zh-CN" dirty="0">
                    <a:solidFill>
                      <a:schemeClr val="accent3"/>
                    </a:solidFill>
                    <a:latin typeface="+mn-lt"/>
                    <a:cs typeface="+mn-ea"/>
                    <a:sym typeface="+mn-lt"/>
                  </a:rPr>
                  <a:t>MAC</a:t>
                </a:r>
                <a:r>
                  <a:rPr lang="zh-CN" altLang="en-US" dirty="0">
                    <a:solidFill>
                      <a:schemeClr val="accent3"/>
                    </a:solidFill>
                    <a:latin typeface="+mn-lt"/>
                    <a:cs typeface="+mn-ea"/>
                    <a:sym typeface="+mn-lt"/>
                  </a:rPr>
                  <a:t>）算法</a:t>
                </a:r>
                <a:endParaRPr lang="en-US" altLang="zh-CN" dirty="0">
                  <a:solidFill>
                    <a:schemeClr val="accent3"/>
                  </a:solidFill>
                  <a:latin typeface="+mn-lt"/>
                  <a:cs typeface="+mn-ea"/>
                  <a:sym typeface="+mn-lt"/>
                </a:endParaRPr>
              </a:p>
              <a:p>
                <a:pPr lvl="1"/>
                <a:r>
                  <a:rPr lang="zh-CN" altLang="en-US" dirty="0">
                    <a:latin typeface="+mn-lt"/>
                    <a:cs typeface="+mn-ea"/>
                    <a:sym typeface="+mn-lt"/>
                  </a:rPr>
                  <a:t>为</a:t>
                </a:r>
                <a14:m>
                  <m:oMath xmlns:m="http://schemas.openxmlformats.org/officeDocument/2006/math">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𝑋</m:t>
                        </m:r>
                      </m:e>
                      <m:sub>
                        <m:r>
                          <a:rPr lang="en-US" altLang="zh-CN" i="1">
                            <a:latin typeface="Cambria Math" panose="02040503050406030204" pitchFamily="18" charset="0"/>
                            <a:cs typeface="+mn-ea"/>
                            <a:sym typeface="+mn-lt"/>
                          </a:rPr>
                          <m:t>𝑖</m:t>
                        </m:r>
                      </m:sub>
                    </m:sSub>
                    <m:r>
                      <a:rPr lang="zh-CN" altLang="en-US" i="1">
                        <a:latin typeface="Cambria Math" panose="02040503050406030204" pitchFamily="18" charset="0"/>
                        <a:cs typeface="+mn-ea"/>
                        <a:sym typeface="+mn-lt"/>
                      </a:rPr>
                      <m:t>赋值</m:t>
                    </m:r>
                  </m:oMath>
                </a14:m>
                <a:r>
                  <a:rPr lang="en-US" altLang="zh-CN" dirty="0">
                    <a:latin typeface="+mn-lt"/>
                    <a:cs typeface="+mn-ea"/>
                    <a:sym typeface="+mn-lt"/>
                  </a:rPr>
                  <a:t> </a:t>
                </a:r>
              </a:p>
              <a:p>
                <a:pPr lvl="1"/>
                <a:r>
                  <a:rPr lang="zh-CN" altLang="en-US" dirty="0">
                    <a:latin typeface="+mn-lt"/>
                    <a:cs typeface="+mn-ea"/>
                    <a:sym typeface="+mn-lt"/>
                  </a:rPr>
                  <a:t>将</a:t>
                </a:r>
                <a:r>
                  <a:rPr lang="en-US" altLang="zh-CN" dirty="0">
                    <a:latin typeface="+mn-lt"/>
                    <a:cs typeface="+mn-ea"/>
                    <a:sym typeface="+mn-lt"/>
                  </a:rPr>
                  <a:t>AC</a:t>
                </a:r>
                <a:r>
                  <a:rPr lang="zh-CN" altLang="en-US" dirty="0">
                    <a:latin typeface="+mn-lt"/>
                    <a:cs typeface="+mn-ea"/>
                    <a:sym typeface="+mn-lt"/>
                  </a:rPr>
                  <a:t>应用于邻居</a:t>
                </a:r>
                <a:r>
                  <a:rPr lang="en-US" altLang="zh-CN" dirty="0">
                    <a:latin typeface="+mn-lt"/>
                    <a:cs typeface="+mn-ea"/>
                    <a:sym typeface="+mn-lt"/>
                  </a:rPr>
                  <a:t>{</a:t>
                </a:r>
                <a14:m>
                  <m:oMath xmlns:m="http://schemas.openxmlformats.org/officeDocument/2006/math">
                    <m:sSub>
                      <m:sSubPr>
                        <m:ctrlPr>
                          <a:rPr lang="en-US" altLang="zh-CN" i="1" smtClean="0">
                            <a:latin typeface="Cambria Math" panose="02040503050406030204" pitchFamily="18" charset="0"/>
                            <a:cs typeface="+mn-ea"/>
                            <a:sym typeface="+mn-lt"/>
                          </a:rPr>
                        </m:ctrlPr>
                      </m:sSubPr>
                      <m:e>
                        <m:r>
                          <a:rPr lang="en-US" altLang="zh-CN" i="1" smtClean="0">
                            <a:latin typeface="Cambria Math" panose="02040503050406030204" pitchFamily="18" charset="0"/>
                            <a:cs typeface="+mn-ea"/>
                            <a:sym typeface="+mn-lt"/>
                          </a:rPr>
                          <m:t>𝑋</m:t>
                        </m:r>
                      </m:e>
                      <m:sub>
                        <m:r>
                          <a:rPr lang="en-US" altLang="zh-CN" i="1" smtClean="0">
                            <a:latin typeface="Cambria Math" panose="02040503050406030204" pitchFamily="18" charset="0"/>
                            <a:cs typeface="+mn-ea"/>
                            <a:sym typeface="+mn-lt"/>
                          </a:rPr>
                          <m:t>𝑗</m:t>
                        </m:r>
                      </m:sub>
                    </m:sSub>
                    <m:r>
                      <a:rPr lang="en-US" altLang="zh-CN" i="1" smtClean="0">
                        <a:latin typeface="Cambria Math" panose="02040503050406030204" pitchFamily="18" charset="0"/>
                        <a:cs typeface="+mn-ea"/>
                        <a:sym typeface="+mn-lt"/>
                      </a:rPr>
                      <m:t>,</m:t>
                    </m:r>
                    <m:sSub>
                      <m:sSubPr>
                        <m:ctrlPr>
                          <a:rPr lang="en-US" altLang="zh-CN" i="1">
                            <a:latin typeface="Cambria Math" panose="02040503050406030204" pitchFamily="18" charset="0"/>
                            <a:cs typeface="+mn-ea"/>
                            <a:sym typeface="+mn-lt"/>
                          </a:rPr>
                        </m:ctrlPr>
                      </m:sSubPr>
                      <m:e>
                        <m:r>
                          <a:rPr lang="en-US" altLang="zh-CN" i="1">
                            <a:latin typeface="Cambria Math" panose="02040503050406030204" pitchFamily="18" charset="0"/>
                            <a:cs typeface="+mn-ea"/>
                            <a:sym typeface="+mn-lt"/>
                          </a:rPr>
                          <m:t>𝑋</m:t>
                        </m:r>
                      </m:e>
                      <m:sub>
                        <m:r>
                          <a:rPr lang="en-US" altLang="zh-CN" i="1" smtClean="0">
                            <a:latin typeface="Cambria Math" panose="02040503050406030204" pitchFamily="18" charset="0"/>
                            <a:cs typeface="+mn-ea"/>
                            <a:sym typeface="+mn-lt"/>
                          </a:rPr>
                          <m:t>𝑖</m:t>
                        </m:r>
                      </m:sub>
                    </m:sSub>
                  </m:oMath>
                </a14:m>
                <a:r>
                  <a:rPr lang="en-US" altLang="zh-CN" dirty="0">
                    <a:latin typeface="+mn-lt"/>
                    <a:cs typeface="+mn-ea"/>
                    <a:sym typeface="+mn-lt"/>
                  </a:rPr>
                  <a:t>} </a:t>
                </a:r>
              </a:p>
              <a:p>
                <a:pPr lvl="1"/>
                <a:r>
                  <a:rPr lang="zh-CN" altLang="en-US" dirty="0">
                    <a:latin typeface="+mn-lt"/>
                    <a:cs typeface="+mn-ea"/>
                    <a:sym typeface="+mn-lt"/>
                  </a:rPr>
                  <a:t>一旦某变量的值域变为空，则</a:t>
                </a:r>
                <a:r>
                  <a:rPr lang="en-US" altLang="zh-CN" dirty="0">
                    <a:latin typeface="+mn-lt"/>
                    <a:cs typeface="+mn-ea"/>
                    <a:sym typeface="+mn-lt"/>
                  </a:rPr>
                  <a:t>AC-3</a:t>
                </a:r>
                <a:r>
                  <a:rPr lang="zh-CN" altLang="en-US" dirty="0">
                    <a:latin typeface="+mn-lt"/>
                    <a:cs typeface="+mn-ea"/>
                    <a:sym typeface="+mn-lt"/>
                  </a:rPr>
                  <a:t>调用失败并立即回溯。</a:t>
                </a:r>
                <a:endParaRPr lang="en-US" altLang="zh-CN" dirty="0">
                  <a:latin typeface="+mn-lt"/>
                  <a:cs typeface="+mn-ea"/>
                  <a:sym typeface="+mn-lt"/>
                </a:endParaRPr>
              </a:p>
              <a:p>
                <a:endParaRPr lang="en-US" altLang="zh-CN" dirty="0">
                  <a:latin typeface="+mn-lt"/>
                  <a:cs typeface="+mn-ea"/>
                  <a:sym typeface="+mn-lt"/>
                </a:endParaRPr>
              </a:p>
              <a:p>
                <a:endParaRPr lang="zh-CN" altLang="en-US" dirty="0">
                  <a:latin typeface="+mn-lt"/>
                  <a:cs typeface="+mn-ea"/>
                  <a:sym typeface="+mn-lt"/>
                </a:endParaRPr>
              </a:p>
            </p:txBody>
          </p:sp>
        </mc:Choice>
        <mc:Fallback xmlns="">
          <p:sp>
            <p:nvSpPr>
              <p:cNvPr id="14" name="内容占位符 2">
                <a:extLst>
                  <a:ext uri="{FF2B5EF4-FFF2-40B4-BE49-F238E27FC236}">
                    <a16:creationId xmlns:a16="http://schemas.microsoft.com/office/drawing/2014/main" id="{9ED5BCF2-5244-4A12-9BB8-1477706B61C6}"/>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3"/>
                <a:stretch>
                  <a:fillRect l="-965" t="-21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5438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8B4BF5AF-C577-EE0E-D168-873C74414ACF}"/>
              </a:ext>
            </a:extLst>
          </p:cNvPr>
          <p:cNvSpPr>
            <a:spLocks noGrp="1" noChangeArrowheads="1"/>
          </p:cNvSpPr>
          <p:nvPr>
            <p:ph type="title"/>
          </p:nvPr>
        </p:nvSpPr>
        <p:spPr/>
        <p:txBody>
          <a:bodyPr>
            <a:normAutofit/>
          </a:bodyPr>
          <a:lstStyle/>
          <a:p>
            <a:r>
              <a:rPr lang="en-US" altLang="zh-CN" sz="3240" dirty="0">
                <a:latin typeface="+mn-lt"/>
                <a:ea typeface="+mn-ea"/>
                <a:cs typeface="+mn-ea"/>
                <a:sym typeface="+mn-lt"/>
              </a:rPr>
              <a:t>问题2：搜索与推理的交织</a:t>
            </a:r>
            <a:endParaRPr lang="en-US" altLang="zh-CN" dirty="0">
              <a:solidFill>
                <a:srgbClr val="515223"/>
              </a:solidFill>
              <a:latin typeface="+mn-lt"/>
              <a:ea typeface="+mn-ea"/>
              <a:cs typeface="+mn-ea"/>
              <a:sym typeface="+mn-lt"/>
            </a:endParaRPr>
          </a:p>
        </p:txBody>
      </p:sp>
      <p:sp>
        <p:nvSpPr>
          <p:cNvPr id="8" name="内容占位符 2">
            <a:extLst>
              <a:ext uri="{FF2B5EF4-FFF2-40B4-BE49-F238E27FC236}">
                <a16:creationId xmlns:a16="http://schemas.microsoft.com/office/drawing/2014/main" id="{E5928E96-6810-408C-9D79-E5CF056B12A5}"/>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kumimoji="0" lang="en-US" altLang="zh-CN" sz="2800" b="1" i="0" u="none" strike="noStrike" kern="1200" cap="none" spc="0" normalizeH="0" baseline="0" noProof="0" dirty="0" err="1">
                <a:ln>
                  <a:noFill/>
                </a:ln>
                <a:solidFill>
                  <a:srgbClr val="00529D"/>
                </a:solidFill>
                <a:effectLst/>
                <a:uLnTx/>
                <a:uFillTx/>
                <a:latin typeface="Arial" panose="020B0604020202020204"/>
                <a:ea typeface="微软雅黑"/>
                <a:cs typeface="+mn-ea"/>
                <a:sym typeface="+mn-lt"/>
              </a:rPr>
              <a:t>向前检查</a:t>
            </a:r>
            <a:r>
              <a:rPr kumimoji="0" lang="en-US" altLang="zh-CN" sz="2800" b="1"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 </a:t>
            </a:r>
            <a:r>
              <a:rPr lang="en-US" altLang="zh-CN" dirty="0">
                <a:solidFill>
                  <a:srgbClr val="00529D"/>
                </a:solidFill>
                <a:latin typeface="Arial" panose="020B0604020202020204"/>
                <a:cs typeface="+mn-ea"/>
                <a:sym typeface="+mn-lt"/>
              </a:rPr>
              <a:t>vs </a:t>
            </a:r>
            <a:r>
              <a:rPr lang="en-US" altLang="zh-CN" b="1" dirty="0">
                <a:solidFill>
                  <a:srgbClr val="00529D"/>
                </a:solidFill>
                <a:latin typeface="Arial" panose="020B0604020202020204"/>
                <a:cs typeface="+mn-ea"/>
                <a:sym typeface="+mn-lt"/>
              </a:rPr>
              <a:t>MAC</a:t>
            </a:r>
            <a:endParaRPr lang="en-US" altLang="zh-CN" b="1" dirty="0">
              <a:solidFill>
                <a:srgbClr val="00529D"/>
              </a:solidFill>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err="1">
                <a:ln>
                  <a:noFill/>
                </a:ln>
                <a:solidFill>
                  <a:srgbClr val="000000"/>
                </a:solidFill>
                <a:effectLst/>
                <a:uLnTx/>
                <a:uFillTx/>
                <a:latin typeface="Arial" panose="020B0604020202020204"/>
                <a:ea typeface="微软雅黑"/>
                <a:cs typeface="+mn-ea"/>
                <a:sym typeface="+mn-lt"/>
              </a:rPr>
              <a:t>MAC比向前检查更强大</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p>
        </p:txBody>
      </p:sp>
      <p:sp>
        <p:nvSpPr>
          <p:cNvPr id="12" name="文本框 11">
            <a:extLst>
              <a:ext uri="{FF2B5EF4-FFF2-40B4-BE49-F238E27FC236}">
                <a16:creationId xmlns:a16="http://schemas.microsoft.com/office/drawing/2014/main" id="{0D859AEC-CA8B-4287-8F62-68C5A9D9C786}"/>
              </a:ext>
            </a:extLst>
          </p:cNvPr>
          <p:cNvSpPr txBox="1"/>
          <p:nvPr/>
        </p:nvSpPr>
        <p:spPr bwMode="auto">
          <a:xfrm>
            <a:off x="927100" y="2743200"/>
            <a:ext cx="4800600" cy="2677654"/>
          </a:xfrm>
          <a:prstGeom prst="rect">
            <a:avLst/>
          </a:prstGeom>
          <a:noFill/>
          <a:ln w="9525">
            <a:solidFill>
              <a:schemeClr val="accent2"/>
            </a:solidFill>
            <a:miter lim="800000"/>
          </a:ln>
        </p:spPr>
        <p:txBody>
          <a:bodyPr wrap="square" lIns="91438" tIns="45719" rIns="91438" bIns="45719"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相同</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8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两者都检查初始弧。</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
        <p:nvSpPr>
          <p:cNvPr id="13" name="文本框 12">
            <a:extLst>
              <a:ext uri="{FF2B5EF4-FFF2-40B4-BE49-F238E27FC236}">
                <a16:creationId xmlns:a16="http://schemas.microsoft.com/office/drawing/2014/main" id="{FF5ADAC1-0E7C-4571-AAC3-218CF7A80F18}"/>
              </a:ext>
            </a:extLst>
          </p:cNvPr>
          <p:cNvSpPr txBox="1"/>
          <p:nvPr/>
        </p:nvSpPr>
        <p:spPr bwMode="auto">
          <a:xfrm>
            <a:off x="6432550" y="2743200"/>
            <a:ext cx="4648200" cy="2677654"/>
          </a:xfrm>
          <a:prstGeom prst="rect">
            <a:avLst/>
          </a:prstGeom>
          <a:noFill/>
          <a:ln w="9525">
            <a:solidFill>
              <a:schemeClr val="accent2"/>
            </a:solidFill>
            <a:miter lim="800000"/>
          </a:ln>
        </p:spPr>
        <p:txBody>
          <a:bodyPr wrap="square" lIns="91438" tIns="45719" rIns="91438" bIns="45719"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err="1">
                <a:ln>
                  <a:noFill/>
                </a:ln>
                <a:solidFill>
                  <a:srgbClr val="000000"/>
                </a:solidFill>
                <a:effectLst/>
                <a:uLnTx/>
                <a:uFillTx/>
                <a:latin typeface="Arial" panose="020B0604020202020204"/>
                <a:ea typeface="微软雅黑"/>
                <a:cs typeface="+mn-ea"/>
                <a:sym typeface="+mn-lt"/>
              </a:rPr>
              <a:t>不同</a:t>
            </a:r>
            <a:r>
              <a:rPr kumimoji="0" lang="zh-CN" altLang="en-US" sz="28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点</a:t>
            </a:r>
            <a:r>
              <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MAC 传播约束</a:t>
            </a:r>
          </a:p>
          <a:p>
            <a:pPr marL="457200" marR="0" lvl="0" indent="-45720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r>
              <a:rPr kumimoji="0" lang="en-US" altLang="zh-CN" sz="2800" b="0" i="0" u="none" strike="noStrike" kern="1200" cap="none" spc="0" normalizeH="0" baseline="0" noProof="0" dirty="0" err="1">
                <a:ln>
                  <a:noFill/>
                </a:ln>
                <a:solidFill>
                  <a:srgbClr val="000000"/>
                </a:solidFill>
                <a:effectLst/>
                <a:uLnTx/>
                <a:uFillTx/>
                <a:latin typeface="Arial" panose="020B0604020202020204"/>
                <a:ea typeface="微软雅黑"/>
                <a:cs typeface="+mn-ea"/>
                <a:sym typeface="+mn-lt"/>
              </a:rPr>
              <a:t>向前检查不</a:t>
            </a:r>
            <a:r>
              <a:rPr kumimoji="0" lang="zh-CN" alt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传播</a:t>
            </a: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457200" marR="0" lvl="0" indent="-457200" algn="l" defTabSz="914400" rtl="0" eaLnBrk="1" fontAlgn="auto" latinLnBrk="0" hangingPunct="1">
              <a:lnSpc>
                <a:spcPct val="100000"/>
              </a:lnSpc>
              <a:spcBef>
                <a:spcPts val="0"/>
              </a:spcBef>
              <a:spcAft>
                <a:spcPts val="0"/>
              </a:spcAft>
              <a:buClrTx/>
              <a:buSzTx/>
              <a:buFont typeface="Arial" panose="020B0604020202090204" pitchFamily="34" charset="0"/>
              <a:buChar char="•"/>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1318800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87D9F0ED-D82C-ECDD-6629-A258C553FCFB}"/>
              </a:ext>
            </a:extLst>
          </p:cNvPr>
          <p:cNvSpPr>
            <a:spLocks noGrp="1" noChangeArrowheads="1"/>
          </p:cNvSpPr>
          <p:nvPr>
            <p:ph type="title"/>
          </p:nvPr>
        </p:nvSpPr>
        <p:spPr/>
        <p:txBody>
          <a:bodyPr/>
          <a:lstStyle/>
          <a:p>
            <a:pPr eaLnBrk="1" hangingPunct="1"/>
            <a:r>
              <a:rPr lang="en-US" altLang="zh-CN" sz="3600" dirty="0">
                <a:latin typeface="+mn-lt"/>
                <a:ea typeface="+mn-ea"/>
                <a:cs typeface="+mn-ea"/>
                <a:sym typeface="+mn-lt"/>
              </a:rPr>
              <a:t>约束满足问题的回溯搜索</a:t>
            </a:r>
            <a:endParaRPr lang="en-GB" altLang="zh-CN" dirty="0">
              <a:solidFill>
                <a:srgbClr val="515223"/>
              </a:solidFill>
              <a:latin typeface="+mn-lt"/>
              <a:ea typeface="+mn-ea"/>
              <a:cs typeface="+mn-ea"/>
              <a:sym typeface="+mn-lt"/>
            </a:endParaRPr>
          </a:p>
        </p:txBody>
      </p:sp>
      <p:sp>
        <p:nvSpPr>
          <p:cNvPr id="4" name="内容占位符 2">
            <a:extLst>
              <a:ext uri="{FF2B5EF4-FFF2-40B4-BE49-F238E27FC236}">
                <a16:creationId xmlns:a16="http://schemas.microsoft.com/office/drawing/2014/main" id="{CB3C34BA-B319-4854-8EC2-015B5F8B93DF}"/>
              </a:ext>
            </a:extLst>
          </p:cNvPr>
          <p:cNvSpPr txBox="1">
            <a:spLocks/>
          </p:cNvSpPr>
          <p:nvPr/>
        </p:nvSpPr>
        <p:spPr>
          <a:xfrm>
            <a:off x="151529" y="1397001"/>
            <a:ext cx="11871525"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回答以下问题</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变量与值的排序：</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接下来应分配哪个变量？</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推理：</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在搜索的每一步中应进行哪些推理？</a:t>
            </a:r>
            <a:r>
              <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搜索能否避免重蹈覆辙？</a:t>
            </a:r>
            <a:endParaRPr kumimoji="0" lang="zh-CN" altLang="en-US"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40731964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3D9A77C1-151D-4D1F-B8A4-2025509F2AE9}"/>
              </a:ext>
            </a:extLst>
          </p:cNvPr>
          <p:cNvPicPr>
            <a:picLocks noChangeAspect="1"/>
          </p:cNvPicPr>
          <p:nvPr/>
        </p:nvPicPr>
        <p:blipFill>
          <a:blip r:embed="rId3"/>
          <a:stretch>
            <a:fillRect/>
          </a:stretch>
        </p:blipFill>
        <p:spPr>
          <a:xfrm>
            <a:off x="8255000" y="3337554"/>
            <a:ext cx="3937000" cy="3492093"/>
          </a:xfrm>
          <a:prstGeom prst="rect">
            <a:avLst/>
          </a:prstGeom>
        </p:spPr>
      </p:pic>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pPr eaLnBrk="1" hangingPunct="1"/>
            <a:r>
              <a:rPr lang="en-US" altLang="zh-CN" sz="3600" dirty="0">
                <a:latin typeface="+mn-lt"/>
                <a:ea typeface="+mn-ea"/>
                <a:cs typeface="+mn-ea"/>
                <a:sym typeface="+mn-lt"/>
              </a:rPr>
              <a:t>问题3：智能回溯</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9" name="内容占位符 2">
            <a:extLst>
              <a:ext uri="{FF2B5EF4-FFF2-40B4-BE49-F238E27FC236}">
                <a16:creationId xmlns:a16="http://schemas.microsoft.com/office/drawing/2014/main" id="{AC307F98-6855-49E3-A214-D1F9204A5FE2}"/>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时间顺序回溯</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示例</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fr-FR"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昆士兰，新南威尔士，维多利亚，塔斯马尼亚，南澳大利亚，西澳大利亚，北领地</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部分分配</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{Q=红色，NSW=绿色，V=蓝色，T=红色}</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萨？</a:t>
            </a:r>
          </a:p>
          <a:p>
            <a:pPr marL="457200" marR="0" lvl="1"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zh-CN" altLang="en-US"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
        <p:nvSpPr>
          <p:cNvPr id="11" name="矩形 10">
            <a:extLst>
              <a:ext uri="{FF2B5EF4-FFF2-40B4-BE49-F238E27FC236}">
                <a16:creationId xmlns:a16="http://schemas.microsoft.com/office/drawing/2014/main" id="{704A20C2-B70B-4F67-8C71-4680F364FF4A}"/>
              </a:ext>
            </a:extLst>
          </p:cNvPr>
          <p:cNvSpPr/>
          <p:nvPr/>
        </p:nvSpPr>
        <p:spPr>
          <a:xfrm>
            <a:off x="11353800" y="3299918"/>
            <a:ext cx="511805"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rPr>
              <a:t>1r</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endParaRPr>
          </a:p>
        </p:txBody>
      </p:sp>
      <p:sp>
        <p:nvSpPr>
          <p:cNvPr id="12" name="矩形 11">
            <a:extLst>
              <a:ext uri="{FF2B5EF4-FFF2-40B4-BE49-F238E27FC236}">
                <a16:creationId xmlns:a16="http://schemas.microsoft.com/office/drawing/2014/main" id="{5E939932-C92C-4F93-9E94-DA433DC3C69D}"/>
              </a:ext>
            </a:extLst>
          </p:cNvPr>
          <p:cNvSpPr/>
          <p:nvPr/>
        </p:nvSpPr>
        <p:spPr>
          <a:xfrm>
            <a:off x="11711303" y="4205334"/>
            <a:ext cx="785497"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50"/>
                </a:solidFill>
                <a:effectLst/>
                <a:uLnTx/>
                <a:uFillTx/>
                <a:latin typeface="Arial" panose="020B0604020202020204"/>
                <a:ea typeface="微软雅黑"/>
                <a:cs typeface="+mn-ea"/>
                <a:sym typeface="+mn-lt"/>
              </a:rPr>
              <a:t>2g</a:t>
            </a:r>
            <a:endParaRPr kumimoji="0" lang="zh-CN" altLang="en-US" sz="2400" b="1" i="0" u="none" strike="noStrike" kern="1200" cap="none" spc="0" normalizeH="0" baseline="0" noProof="0" dirty="0">
              <a:ln>
                <a:noFill/>
              </a:ln>
              <a:solidFill>
                <a:srgbClr val="00B050"/>
              </a:solidFill>
              <a:effectLst/>
              <a:uLnTx/>
              <a:uFillTx/>
              <a:latin typeface="Arial" panose="020B0604020202020204"/>
              <a:ea typeface="微软雅黑"/>
              <a:cs typeface="+mn-ea"/>
              <a:sym typeface="+mn-lt"/>
            </a:endParaRPr>
          </a:p>
        </p:txBody>
      </p:sp>
      <p:sp>
        <p:nvSpPr>
          <p:cNvPr id="13" name="矩形 12">
            <a:extLst>
              <a:ext uri="{FF2B5EF4-FFF2-40B4-BE49-F238E27FC236}">
                <a16:creationId xmlns:a16="http://schemas.microsoft.com/office/drawing/2014/main" id="{BD216849-8D52-487E-9D59-531EF5DC0652}"/>
              </a:ext>
            </a:extLst>
          </p:cNvPr>
          <p:cNvSpPr/>
          <p:nvPr/>
        </p:nvSpPr>
        <p:spPr>
          <a:xfrm>
            <a:off x="11510497" y="5433667"/>
            <a:ext cx="681503"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B0F0"/>
                </a:solidFill>
                <a:effectLst/>
                <a:uLnTx/>
                <a:uFillTx/>
                <a:latin typeface="Arial" panose="020B0604020202020204"/>
                <a:ea typeface="微软雅黑"/>
                <a:cs typeface="+mn-ea"/>
                <a:sym typeface="+mn-lt"/>
              </a:rPr>
              <a:t>3b</a:t>
            </a:r>
            <a:endParaRPr kumimoji="0" lang="zh-CN" altLang="en-US" sz="2400" b="1" i="0" u="none" strike="noStrike" kern="1200" cap="none" spc="0" normalizeH="0" baseline="0" noProof="0" dirty="0">
              <a:ln>
                <a:noFill/>
              </a:ln>
              <a:solidFill>
                <a:srgbClr val="00B0F0"/>
              </a:solidFill>
              <a:effectLst/>
              <a:uLnTx/>
              <a:uFillTx/>
              <a:latin typeface="Arial" panose="020B0604020202020204"/>
              <a:ea typeface="微软雅黑"/>
              <a:cs typeface="+mn-ea"/>
              <a:sym typeface="+mn-lt"/>
            </a:endParaRPr>
          </a:p>
        </p:txBody>
      </p:sp>
      <p:sp>
        <p:nvSpPr>
          <p:cNvPr id="14" name="矩形 13">
            <a:extLst>
              <a:ext uri="{FF2B5EF4-FFF2-40B4-BE49-F238E27FC236}">
                <a16:creationId xmlns:a16="http://schemas.microsoft.com/office/drawing/2014/main" id="{F4F23246-780D-4610-B6E9-BFBD9C939049}"/>
              </a:ext>
            </a:extLst>
          </p:cNvPr>
          <p:cNvSpPr/>
          <p:nvPr/>
        </p:nvSpPr>
        <p:spPr>
          <a:xfrm>
            <a:off x="10668000" y="6247073"/>
            <a:ext cx="511805"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rPr>
              <a:t>4r</a:t>
            </a:r>
            <a:endParaRPr kumimoji="0" lang="zh-CN" altLang="en-US" sz="2400" b="1" i="0" u="none" strike="noStrike" kern="1200" cap="none" spc="0" normalizeH="0" baseline="0" noProof="0" dirty="0">
              <a:ln>
                <a:noFill/>
              </a:ln>
              <a:solidFill>
                <a:srgbClr val="FF0000"/>
              </a:solidFill>
              <a:effectLst/>
              <a:uLnTx/>
              <a:uFillTx/>
              <a:latin typeface="Arial" panose="020B0604020202020204"/>
              <a:ea typeface="微软雅黑"/>
              <a:cs typeface="+mn-ea"/>
              <a:sym typeface="+mn-lt"/>
            </a:endParaRPr>
          </a:p>
        </p:txBody>
      </p:sp>
      <p:sp>
        <p:nvSpPr>
          <p:cNvPr id="15" name="矩形 14">
            <a:extLst>
              <a:ext uri="{FF2B5EF4-FFF2-40B4-BE49-F238E27FC236}">
                <a16:creationId xmlns:a16="http://schemas.microsoft.com/office/drawing/2014/main" id="{427DDB55-2AD3-4969-8763-DC1DAC58B80F}"/>
              </a:ext>
            </a:extLst>
          </p:cNvPr>
          <p:cNvSpPr/>
          <p:nvPr/>
        </p:nvSpPr>
        <p:spPr>
          <a:xfrm>
            <a:off x="9829800" y="5202834"/>
            <a:ext cx="511805"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5</a:t>
            </a:r>
            <a:r>
              <a:rPr kumimoji="0" lang="zh-CN" altLang="en-US"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a:t>
            </a:r>
          </a:p>
        </p:txBody>
      </p:sp>
    </p:spTree>
    <p:extLst>
      <p:ext uri="{BB962C8B-B14F-4D97-AF65-F5344CB8AC3E}">
        <p14:creationId xmlns:p14="http://schemas.microsoft.com/office/powerpoint/2010/main" val="6825500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a:extLst>
              <a:ext uri="{FF2B5EF4-FFF2-40B4-BE49-F238E27FC236}">
                <a16:creationId xmlns:a16="http://schemas.microsoft.com/office/drawing/2014/main" id="{A7BF6C40-9D56-4BE3-9999-D3EA45C731AF}"/>
              </a:ext>
            </a:extLst>
          </p:cNvPr>
          <p:cNvGrpSpPr/>
          <p:nvPr/>
        </p:nvGrpSpPr>
        <p:grpSpPr>
          <a:xfrm>
            <a:off x="8213925" y="2547895"/>
            <a:ext cx="3624569" cy="3578270"/>
            <a:chOff x="4572000" y="2834730"/>
            <a:chExt cx="3624569" cy="3578270"/>
          </a:xfrm>
        </p:grpSpPr>
        <p:pic>
          <p:nvPicPr>
            <p:cNvPr id="18" name="图片 17">
              <a:extLst>
                <a:ext uri="{FF2B5EF4-FFF2-40B4-BE49-F238E27FC236}">
                  <a16:creationId xmlns:a16="http://schemas.microsoft.com/office/drawing/2014/main" id="{3E302AAB-1BC0-43D4-9E73-33EDAACB01BE}"/>
                </a:ext>
              </a:extLst>
            </p:cNvPr>
            <p:cNvPicPr>
              <a:picLocks noChangeAspect="1"/>
            </p:cNvPicPr>
            <p:nvPr/>
          </p:nvPicPr>
          <p:blipFill>
            <a:blip r:embed="rId3"/>
            <a:stretch>
              <a:fillRect/>
            </a:stretch>
          </p:blipFill>
          <p:spPr>
            <a:xfrm>
              <a:off x="4572000" y="3296480"/>
              <a:ext cx="3513577" cy="3116520"/>
            </a:xfrm>
            <a:prstGeom prst="rect">
              <a:avLst/>
            </a:prstGeom>
          </p:spPr>
        </p:pic>
        <p:sp>
          <p:nvSpPr>
            <p:cNvPr id="19" name="矩形 18">
              <a:extLst>
                <a:ext uri="{FF2B5EF4-FFF2-40B4-BE49-F238E27FC236}">
                  <a16:creationId xmlns:a16="http://schemas.microsoft.com/office/drawing/2014/main" id="{CFE411E2-4903-478E-B852-F58520639A62}"/>
                </a:ext>
              </a:extLst>
            </p:cNvPr>
            <p:cNvSpPr/>
            <p:nvPr/>
          </p:nvSpPr>
          <p:spPr>
            <a:xfrm>
              <a:off x="4572000" y="3525080"/>
              <a:ext cx="762000" cy="461665"/>
            </a:xfrm>
            <a:prstGeom prst="rect">
              <a:avLst/>
            </a:prstGeom>
          </p:spPr>
          <p:txBody>
            <a:bodyPr wrap="square">
              <a:spAutoFit/>
            </a:bodyPr>
            <a:lstStyle/>
            <a:p>
              <a:r>
                <a:rPr lang="en-US" altLang="zh-CN" sz="2400" b="1" dirty="0">
                  <a:solidFill>
                    <a:srgbClr val="FF0000"/>
                  </a:solidFill>
                  <a:cs typeface="+mn-ea"/>
                  <a:sym typeface="+mn-lt"/>
                </a:rPr>
                <a:t>1r</a:t>
              </a:r>
              <a:endParaRPr lang="zh-CN" altLang="en-US" sz="2400" b="1" dirty="0">
                <a:solidFill>
                  <a:srgbClr val="FF0000"/>
                </a:solidFill>
                <a:cs typeface="+mn-ea"/>
                <a:sym typeface="+mn-lt"/>
              </a:endParaRPr>
            </a:p>
          </p:txBody>
        </p:sp>
        <p:sp>
          <p:nvSpPr>
            <p:cNvPr id="20" name="矩形 19">
              <a:extLst>
                <a:ext uri="{FF2B5EF4-FFF2-40B4-BE49-F238E27FC236}">
                  <a16:creationId xmlns:a16="http://schemas.microsoft.com/office/drawing/2014/main" id="{27D1EDB5-7FA4-4FC8-B551-DD7403F0BB11}"/>
                </a:ext>
              </a:extLst>
            </p:cNvPr>
            <p:cNvSpPr/>
            <p:nvPr/>
          </p:nvSpPr>
          <p:spPr>
            <a:xfrm>
              <a:off x="7712208" y="4144115"/>
              <a:ext cx="484361" cy="461665"/>
            </a:xfrm>
            <a:prstGeom prst="rect">
              <a:avLst/>
            </a:prstGeom>
          </p:spPr>
          <p:txBody>
            <a:bodyPr wrap="square">
              <a:spAutoFit/>
            </a:bodyPr>
            <a:lstStyle/>
            <a:p>
              <a:r>
                <a:rPr lang="en-US" altLang="zh-CN" sz="2400" b="1" dirty="0">
                  <a:solidFill>
                    <a:srgbClr val="FF0000"/>
                  </a:solidFill>
                  <a:cs typeface="+mn-ea"/>
                  <a:sym typeface="+mn-lt"/>
                </a:rPr>
                <a:t>2r</a:t>
              </a:r>
              <a:endParaRPr lang="zh-CN" altLang="en-US" sz="2400" b="1" dirty="0">
                <a:solidFill>
                  <a:srgbClr val="FF0000"/>
                </a:solidFill>
                <a:cs typeface="+mn-ea"/>
                <a:sym typeface="+mn-lt"/>
              </a:endParaRPr>
            </a:p>
          </p:txBody>
        </p:sp>
        <p:sp>
          <p:nvSpPr>
            <p:cNvPr id="21" name="矩形 20">
              <a:extLst>
                <a:ext uri="{FF2B5EF4-FFF2-40B4-BE49-F238E27FC236}">
                  <a16:creationId xmlns:a16="http://schemas.microsoft.com/office/drawing/2014/main" id="{79A83F03-3A22-4FEF-A3C9-ED544784053B}"/>
                </a:ext>
              </a:extLst>
            </p:cNvPr>
            <p:cNvSpPr/>
            <p:nvPr/>
          </p:nvSpPr>
          <p:spPr>
            <a:xfrm>
              <a:off x="7525947" y="5805506"/>
              <a:ext cx="484361" cy="461665"/>
            </a:xfrm>
            <a:prstGeom prst="rect">
              <a:avLst/>
            </a:prstGeom>
          </p:spPr>
          <p:txBody>
            <a:bodyPr wrap="square">
              <a:spAutoFit/>
            </a:bodyPr>
            <a:lstStyle/>
            <a:p>
              <a:r>
                <a:rPr lang="en-US" altLang="zh-CN" sz="2400" b="1" dirty="0">
                  <a:solidFill>
                    <a:srgbClr val="FF0000"/>
                  </a:solidFill>
                  <a:cs typeface="+mn-ea"/>
                  <a:sym typeface="+mn-lt"/>
                </a:rPr>
                <a:t>3r</a:t>
              </a:r>
              <a:endParaRPr lang="zh-CN" altLang="en-US" sz="2400" b="1" dirty="0">
                <a:solidFill>
                  <a:srgbClr val="FF0000"/>
                </a:solidFill>
                <a:cs typeface="+mn-ea"/>
                <a:sym typeface="+mn-lt"/>
              </a:endParaRPr>
            </a:p>
          </p:txBody>
        </p:sp>
        <p:sp>
          <p:nvSpPr>
            <p:cNvPr id="22" name="矩形 21">
              <a:extLst>
                <a:ext uri="{FF2B5EF4-FFF2-40B4-BE49-F238E27FC236}">
                  <a16:creationId xmlns:a16="http://schemas.microsoft.com/office/drawing/2014/main" id="{B56F4AB3-EDE7-4B2A-8DD2-958C5F166B5E}"/>
                </a:ext>
              </a:extLst>
            </p:cNvPr>
            <p:cNvSpPr/>
            <p:nvPr/>
          </p:nvSpPr>
          <p:spPr>
            <a:xfrm>
              <a:off x="7123690" y="3277960"/>
              <a:ext cx="657708" cy="461665"/>
            </a:xfrm>
            <a:prstGeom prst="rect">
              <a:avLst/>
            </a:prstGeom>
          </p:spPr>
          <p:txBody>
            <a:bodyPr wrap="square">
              <a:spAutoFit/>
            </a:bodyPr>
            <a:lstStyle/>
            <a:p>
              <a:r>
                <a:rPr lang="en-US" altLang="zh-CN" sz="2400" b="1" dirty="0">
                  <a:cs typeface="+mn-ea"/>
                  <a:sym typeface="+mn-lt"/>
                </a:rPr>
                <a:t>5</a:t>
              </a:r>
              <a:endParaRPr lang="zh-CN" altLang="en-US" sz="2400" b="1" dirty="0">
                <a:cs typeface="+mn-ea"/>
                <a:sym typeface="+mn-lt"/>
              </a:endParaRPr>
            </a:p>
          </p:txBody>
        </p:sp>
        <p:sp>
          <p:nvSpPr>
            <p:cNvPr id="24" name="矩形 23">
              <a:extLst>
                <a:ext uri="{FF2B5EF4-FFF2-40B4-BE49-F238E27FC236}">
                  <a16:creationId xmlns:a16="http://schemas.microsoft.com/office/drawing/2014/main" id="{7BBE5650-D14B-4433-AA5F-A376DEDCAD6F}"/>
                </a:ext>
              </a:extLst>
            </p:cNvPr>
            <p:cNvSpPr/>
            <p:nvPr/>
          </p:nvSpPr>
          <p:spPr>
            <a:xfrm>
              <a:off x="5625166" y="4780557"/>
              <a:ext cx="470834" cy="461665"/>
            </a:xfrm>
            <a:prstGeom prst="rect">
              <a:avLst/>
            </a:prstGeom>
          </p:spPr>
          <p:txBody>
            <a:bodyPr wrap="square">
              <a:spAutoFit/>
            </a:bodyPr>
            <a:lstStyle/>
            <a:p>
              <a:r>
                <a:rPr lang="en-US" altLang="zh-CN" sz="2400" b="1" dirty="0">
                  <a:cs typeface="+mn-ea"/>
                  <a:sym typeface="+mn-lt"/>
                </a:rPr>
                <a:t> 6</a:t>
              </a:r>
              <a:endParaRPr lang="zh-CN" altLang="en-US" sz="2400" b="1" dirty="0">
                <a:cs typeface="+mn-ea"/>
                <a:sym typeface="+mn-lt"/>
              </a:endParaRPr>
            </a:p>
          </p:txBody>
        </p:sp>
        <p:sp>
          <p:nvSpPr>
            <p:cNvPr id="25" name="矩形 24">
              <a:extLst>
                <a:ext uri="{FF2B5EF4-FFF2-40B4-BE49-F238E27FC236}">
                  <a16:creationId xmlns:a16="http://schemas.microsoft.com/office/drawing/2014/main" id="{A2B86A87-2F32-41DC-BBCA-5584D60A7ACA}"/>
                </a:ext>
              </a:extLst>
            </p:cNvPr>
            <p:cNvSpPr/>
            <p:nvPr/>
          </p:nvSpPr>
          <p:spPr>
            <a:xfrm>
              <a:off x="5767330" y="2834730"/>
              <a:ext cx="657708" cy="460375"/>
            </a:xfrm>
            <a:prstGeom prst="rect">
              <a:avLst/>
            </a:prstGeom>
          </p:spPr>
          <p:txBody>
            <a:bodyPr wrap="square">
              <a:spAutoFit/>
            </a:bodyPr>
            <a:lstStyle/>
            <a:p>
              <a:r>
                <a:rPr lang="en-US" altLang="zh-CN" sz="2400" b="1" dirty="0">
                  <a:cs typeface="+mn-ea"/>
                  <a:sym typeface="+mn-lt"/>
                </a:rPr>
                <a:t>4</a:t>
              </a:r>
            </a:p>
          </p:txBody>
        </p:sp>
      </p:grpSp>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pPr eaLnBrk="1" hangingPunct="1"/>
            <a:r>
              <a:rPr lang="en-US" altLang="zh-CN" sz="3600" dirty="0">
                <a:latin typeface="+mn-lt"/>
                <a:ea typeface="+mn-ea"/>
                <a:cs typeface="+mn-ea"/>
                <a:sym typeface="+mn-lt"/>
              </a:rPr>
              <a:t>问题3：智能回溯</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23" name="内容占位符 2">
            <a:extLst>
              <a:ext uri="{FF2B5EF4-FFF2-40B4-BE49-F238E27FC236}">
                <a16:creationId xmlns:a16="http://schemas.microsoft.com/office/drawing/2014/main" id="{1AFBCF94-D96B-44F8-9ABF-583A70A9994F}"/>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一种更智能的方法</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跟踪一组冲突分配</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zh-CN" sz="2800" b="0" i="0" u="none" strike="noStrike" kern="1200" cap="none" spc="0" normalizeH="0" baseline="0" noProof="0" dirty="0">
                <a:ln>
                  <a:noFill/>
                </a:ln>
                <a:solidFill>
                  <a:srgbClr val="00529D"/>
                </a:solidFill>
                <a:effectLst/>
                <a:uLnTx/>
                <a:uFillTx/>
                <a:latin typeface="Arial" panose="020B0604020202020204"/>
                <a:ea typeface="微软雅黑"/>
                <a:cs typeface="+mn-ea"/>
                <a:sym typeface="+mn-lt"/>
              </a:rPr>
              <a:t>冲突集</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例如。</a:t>
            </a:r>
            <a:r>
              <a:rPr kumimoji="0" lang="en-US" altLang="zh-CN" sz="24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 </a:t>
            </a:r>
            <a:r>
              <a:rPr kumimoji="0" lang="en-US" altLang="zh-CN" sz="24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rPr>
              <a:t>{WA=红色，NSW=红色，T=红色} 对于SA</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2800" b="1"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altLang="zh-CN"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pPr eaLnBrk="1" hangingPunct="1"/>
            <a:r>
              <a:rPr lang="en-US" altLang="zh-CN" sz="3600" dirty="0">
                <a:latin typeface="+mn-lt"/>
                <a:ea typeface="+mn-ea"/>
                <a:cs typeface="+mn-ea"/>
                <a:sym typeface="+mn-lt"/>
              </a:rPr>
              <a:t>问题3：智能回溯</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dirty="0">
                <a:solidFill>
                  <a:srgbClr val="FFFFFF"/>
                </a:solidFill>
                <a:latin typeface="+mn-lt"/>
                <a:cs typeface="+mn-ea"/>
                <a:sym typeface="+mn-lt"/>
              </a:rPr>
              <a:t>Artificial Intelligence a modern approach</a:t>
            </a:r>
          </a:p>
        </p:txBody>
      </p:sp>
      <p:grpSp>
        <p:nvGrpSpPr>
          <p:cNvPr id="2" name="组合 1">
            <a:extLst>
              <a:ext uri="{FF2B5EF4-FFF2-40B4-BE49-F238E27FC236}">
                <a16:creationId xmlns:a16="http://schemas.microsoft.com/office/drawing/2014/main" id="{93FA6B62-FC17-474D-909C-26FE4C55F3F0}"/>
              </a:ext>
            </a:extLst>
          </p:cNvPr>
          <p:cNvGrpSpPr/>
          <p:nvPr/>
        </p:nvGrpSpPr>
        <p:grpSpPr>
          <a:xfrm>
            <a:off x="4572000" y="2834730"/>
            <a:ext cx="3624569" cy="3578270"/>
            <a:chOff x="4572000" y="2834730"/>
            <a:chExt cx="3624569" cy="3578270"/>
          </a:xfrm>
        </p:grpSpPr>
        <p:pic>
          <p:nvPicPr>
            <p:cNvPr id="11" name="图片 10">
              <a:extLst>
                <a:ext uri="{FF2B5EF4-FFF2-40B4-BE49-F238E27FC236}">
                  <a16:creationId xmlns:a16="http://schemas.microsoft.com/office/drawing/2014/main" id="{83D98F5A-A8BE-4E6A-B478-06D2B40FDBD8}"/>
                </a:ext>
              </a:extLst>
            </p:cNvPr>
            <p:cNvPicPr>
              <a:picLocks noChangeAspect="1"/>
            </p:cNvPicPr>
            <p:nvPr/>
          </p:nvPicPr>
          <p:blipFill>
            <a:blip r:embed="rId3"/>
            <a:stretch>
              <a:fillRect/>
            </a:stretch>
          </p:blipFill>
          <p:spPr>
            <a:xfrm>
              <a:off x="4572000" y="3296480"/>
              <a:ext cx="3513577" cy="3116520"/>
            </a:xfrm>
            <a:prstGeom prst="rect">
              <a:avLst/>
            </a:prstGeom>
          </p:spPr>
        </p:pic>
        <p:sp>
          <p:nvSpPr>
            <p:cNvPr id="12" name="矩形 11">
              <a:extLst>
                <a:ext uri="{FF2B5EF4-FFF2-40B4-BE49-F238E27FC236}">
                  <a16:creationId xmlns:a16="http://schemas.microsoft.com/office/drawing/2014/main" id="{4A55D4BC-ED4F-480E-8725-809E2EB788E2}"/>
                </a:ext>
              </a:extLst>
            </p:cNvPr>
            <p:cNvSpPr/>
            <p:nvPr/>
          </p:nvSpPr>
          <p:spPr>
            <a:xfrm>
              <a:off x="4572000" y="3525080"/>
              <a:ext cx="762000" cy="461665"/>
            </a:xfrm>
            <a:prstGeom prst="rect">
              <a:avLst/>
            </a:prstGeom>
          </p:spPr>
          <p:txBody>
            <a:bodyPr wrap="square">
              <a:spAutoFit/>
            </a:bodyPr>
            <a:lstStyle/>
            <a:p>
              <a:r>
                <a:rPr lang="en-US" altLang="zh-CN" sz="2400" b="1" dirty="0">
                  <a:solidFill>
                    <a:srgbClr val="FF0000"/>
                  </a:solidFill>
                  <a:cs typeface="+mn-ea"/>
                  <a:sym typeface="+mn-lt"/>
                </a:rPr>
                <a:t>1r</a:t>
              </a:r>
              <a:endParaRPr lang="zh-CN" altLang="en-US" sz="2400" b="1" dirty="0">
                <a:solidFill>
                  <a:srgbClr val="FF0000"/>
                </a:solidFill>
                <a:cs typeface="+mn-ea"/>
                <a:sym typeface="+mn-lt"/>
              </a:endParaRPr>
            </a:p>
          </p:txBody>
        </p:sp>
        <p:sp>
          <p:nvSpPr>
            <p:cNvPr id="13" name="矩形 12">
              <a:extLst>
                <a:ext uri="{FF2B5EF4-FFF2-40B4-BE49-F238E27FC236}">
                  <a16:creationId xmlns:a16="http://schemas.microsoft.com/office/drawing/2014/main" id="{6440D8F8-FB4B-417B-92E8-702572F8CE34}"/>
                </a:ext>
              </a:extLst>
            </p:cNvPr>
            <p:cNvSpPr/>
            <p:nvPr/>
          </p:nvSpPr>
          <p:spPr>
            <a:xfrm>
              <a:off x="7712208" y="4144115"/>
              <a:ext cx="484361" cy="461665"/>
            </a:xfrm>
            <a:prstGeom prst="rect">
              <a:avLst/>
            </a:prstGeom>
          </p:spPr>
          <p:txBody>
            <a:bodyPr wrap="square">
              <a:spAutoFit/>
            </a:bodyPr>
            <a:lstStyle/>
            <a:p>
              <a:r>
                <a:rPr lang="en-US" altLang="zh-CN" sz="2400" b="1" dirty="0">
                  <a:solidFill>
                    <a:srgbClr val="FF0000"/>
                  </a:solidFill>
                  <a:cs typeface="+mn-ea"/>
                  <a:sym typeface="+mn-lt"/>
                </a:rPr>
                <a:t>2r</a:t>
              </a:r>
              <a:endParaRPr lang="zh-CN" altLang="en-US" sz="2400" b="1" dirty="0">
                <a:solidFill>
                  <a:srgbClr val="FF0000"/>
                </a:solidFill>
                <a:cs typeface="+mn-ea"/>
                <a:sym typeface="+mn-lt"/>
              </a:endParaRPr>
            </a:p>
          </p:txBody>
        </p:sp>
        <p:sp>
          <p:nvSpPr>
            <p:cNvPr id="14" name="矩形 13">
              <a:extLst>
                <a:ext uri="{FF2B5EF4-FFF2-40B4-BE49-F238E27FC236}">
                  <a16:creationId xmlns:a16="http://schemas.microsoft.com/office/drawing/2014/main" id="{B72A74B0-47F9-4BD6-A589-113A7EA253D9}"/>
                </a:ext>
              </a:extLst>
            </p:cNvPr>
            <p:cNvSpPr/>
            <p:nvPr/>
          </p:nvSpPr>
          <p:spPr>
            <a:xfrm>
              <a:off x="7525947" y="5805506"/>
              <a:ext cx="484361" cy="461665"/>
            </a:xfrm>
            <a:prstGeom prst="rect">
              <a:avLst/>
            </a:prstGeom>
          </p:spPr>
          <p:txBody>
            <a:bodyPr wrap="square">
              <a:spAutoFit/>
            </a:bodyPr>
            <a:lstStyle/>
            <a:p>
              <a:r>
                <a:rPr lang="en-US" altLang="zh-CN" sz="2400" b="1" dirty="0">
                  <a:solidFill>
                    <a:srgbClr val="FF0000"/>
                  </a:solidFill>
                  <a:cs typeface="+mn-ea"/>
                  <a:sym typeface="+mn-lt"/>
                </a:rPr>
                <a:t>3r</a:t>
              </a:r>
              <a:endParaRPr lang="zh-CN" altLang="en-US" sz="2400" b="1" dirty="0">
                <a:solidFill>
                  <a:srgbClr val="FF0000"/>
                </a:solidFill>
                <a:cs typeface="+mn-ea"/>
                <a:sym typeface="+mn-lt"/>
              </a:endParaRPr>
            </a:p>
          </p:txBody>
        </p:sp>
        <p:sp>
          <p:nvSpPr>
            <p:cNvPr id="15" name="矩形 14">
              <a:extLst>
                <a:ext uri="{FF2B5EF4-FFF2-40B4-BE49-F238E27FC236}">
                  <a16:creationId xmlns:a16="http://schemas.microsoft.com/office/drawing/2014/main" id="{DD064902-11B9-49E9-B7B0-E819979E64E4}"/>
                </a:ext>
              </a:extLst>
            </p:cNvPr>
            <p:cNvSpPr/>
            <p:nvPr/>
          </p:nvSpPr>
          <p:spPr>
            <a:xfrm>
              <a:off x="7123690" y="3277960"/>
              <a:ext cx="657708" cy="461665"/>
            </a:xfrm>
            <a:prstGeom prst="rect">
              <a:avLst/>
            </a:prstGeom>
          </p:spPr>
          <p:txBody>
            <a:bodyPr wrap="square">
              <a:spAutoFit/>
            </a:bodyPr>
            <a:lstStyle/>
            <a:p>
              <a:r>
                <a:rPr lang="en-US" altLang="zh-CN" sz="2400" b="1" dirty="0">
                  <a:cs typeface="+mn-ea"/>
                  <a:sym typeface="+mn-lt"/>
                </a:rPr>
                <a:t>5</a:t>
              </a:r>
              <a:endParaRPr lang="zh-CN" altLang="en-US" sz="2400" b="1" dirty="0">
                <a:cs typeface="+mn-ea"/>
                <a:sym typeface="+mn-lt"/>
              </a:endParaRPr>
            </a:p>
          </p:txBody>
        </p:sp>
        <p:sp>
          <p:nvSpPr>
            <p:cNvPr id="16" name="矩形 15">
              <a:extLst>
                <a:ext uri="{FF2B5EF4-FFF2-40B4-BE49-F238E27FC236}">
                  <a16:creationId xmlns:a16="http://schemas.microsoft.com/office/drawing/2014/main" id="{0910E137-E426-467B-9526-419C75B37CFB}"/>
                </a:ext>
              </a:extLst>
            </p:cNvPr>
            <p:cNvSpPr/>
            <p:nvPr/>
          </p:nvSpPr>
          <p:spPr>
            <a:xfrm>
              <a:off x="5625166" y="4780557"/>
              <a:ext cx="470834" cy="461665"/>
            </a:xfrm>
            <a:prstGeom prst="rect">
              <a:avLst/>
            </a:prstGeom>
          </p:spPr>
          <p:txBody>
            <a:bodyPr wrap="square">
              <a:spAutoFit/>
            </a:bodyPr>
            <a:lstStyle/>
            <a:p>
              <a:r>
                <a:rPr lang="en-US" altLang="zh-CN" sz="2400" b="1" dirty="0">
                  <a:cs typeface="+mn-ea"/>
                  <a:sym typeface="+mn-lt"/>
                </a:rPr>
                <a:t> 6</a:t>
              </a:r>
              <a:endParaRPr lang="zh-CN" altLang="en-US" sz="2400" b="1" dirty="0">
                <a:cs typeface="+mn-ea"/>
                <a:sym typeface="+mn-lt"/>
              </a:endParaRPr>
            </a:p>
          </p:txBody>
        </p:sp>
        <p:sp>
          <p:nvSpPr>
            <p:cNvPr id="18" name="矩形 17">
              <a:extLst>
                <a:ext uri="{FF2B5EF4-FFF2-40B4-BE49-F238E27FC236}">
                  <a16:creationId xmlns:a16="http://schemas.microsoft.com/office/drawing/2014/main" id="{EFD5179C-AF93-4FED-B2D8-CF5ED07F221D}"/>
                </a:ext>
              </a:extLst>
            </p:cNvPr>
            <p:cNvSpPr/>
            <p:nvPr/>
          </p:nvSpPr>
          <p:spPr>
            <a:xfrm>
              <a:off x="5767330" y="2834730"/>
              <a:ext cx="657708" cy="460375"/>
            </a:xfrm>
            <a:prstGeom prst="rect">
              <a:avLst/>
            </a:prstGeom>
          </p:spPr>
          <p:txBody>
            <a:bodyPr wrap="square">
              <a:spAutoFit/>
            </a:bodyPr>
            <a:lstStyle/>
            <a:p>
              <a:r>
                <a:rPr lang="en-US" altLang="zh-CN" sz="2400" b="1" dirty="0">
                  <a:cs typeface="+mn-ea"/>
                  <a:sym typeface="+mn-lt"/>
                </a:rPr>
                <a:t>4</a:t>
              </a:r>
            </a:p>
          </p:txBody>
        </p:sp>
      </p:grpSp>
      <p:sp>
        <p:nvSpPr>
          <p:cNvPr id="24" name="内容占位符 2">
            <a:extLst>
              <a:ext uri="{FF2B5EF4-FFF2-40B4-BE49-F238E27FC236}">
                <a16:creationId xmlns:a16="http://schemas.microsoft.com/office/drawing/2014/main" id="{B6CE1F63-8708-4443-95DD-ADB88CA4A031}"/>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3"/>
                </a:solidFill>
                <a:latin typeface="+mn-lt"/>
                <a:cs typeface="+mn-ea"/>
                <a:sym typeface="+mn-lt"/>
              </a:rPr>
              <a:t>Example</a:t>
            </a:r>
          </a:p>
          <a:p>
            <a:pPr lvl="1"/>
            <a:r>
              <a:rPr lang="en-US" altLang="zh-CN" dirty="0">
                <a:latin typeface="+mn-lt"/>
                <a:cs typeface="+mn-ea"/>
                <a:sym typeface="+mn-lt"/>
              </a:rPr>
              <a:t>Assign: </a:t>
            </a:r>
            <a:r>
              <a:rPr lang="en-US" altLang="zh-CN" dirty="0">
                <a:solidFill>
                  <a:srgbClr val="FF0000"/>
                </a:solidFill>
                <a:latin typeface="+mn-lt"/>
                <a:cs typeface="+mn-ea"/>
                <a:sym typeface="+mn-lt"/>
              </a:rPr>
              <a:t>WA, NSW, T, </a:t>
            </a:r>
            <a:r>
              <a:rPr lang="en-US" altLang="zh-CN" dirty="0">
                <a:latin typeface="+mn-lt"/>
                <a:cs typeface="+mn-ea"/>
                <a:sym typeface="+mn-lt"/>
              </a:rPr>
              <a:t>NT, Q, V, SA</a:t>
            </a:r>
          </a:p>
          <a:p>
            <a:endParaRPr lang="zh-CN" altLang="en-US" dirty="0">
              <a:latin typeface="+mn-lt"/>
              <a:cs typeface="+mn-ea"/>
              <a:sym typeface="+mn-lt"/>
            </a:endParaRPr>
          </a:p>
        </p:txBody>
      </p:sp>
    </p:spTree>
    <p:extLst>
      <p:ext uri="{BB962C8B-B14F-4D97-AF65-F5344CB8AC3E}">
        <p14:creationId xmlns:p14="http://schemas.microsoft.com/office/powerpoint/2010/main" val="210108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
                                            <p:txEl>
                                              <p:pRg st="1" end="1"/>
                                            </p:txEl>
                                          </p:spTgt>
                                        </p:tgtEl>
                                        <p:attrNameLst>
                                          <p:attrName>style.visibility</p:attrName>
                                        </p:attrNameLst>
                                      </p:cBhvr>
                                      <p:to>
                                        <p:strVal val="visible"/>
                                      </p:to>
                                    </p:set>
                                    <p:animEffect transition="in" filter="blinds(horizontal)">
                                      <p:cBhvr>
                                        <p:cTn id="7" dur="500"/>
                                        <p:tgtEl>
                                          <p:spTgt spid="2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pPr eaLnBrk="1" hangingPunct="1"/>
            <a:r>
              <a:rPr lang="en-US" altLang="zh-CN" sz="3600" dirty="0">
                <a:latin typeface="+mn-lt"/>
                <a:ea typeface="+mn-ea"/>
                <a:cs typeface="+mn-ea"/>
                <a:sym typeface="+mn-lt"/>
              </a:rPr>
              <a:t>问题3：智能回溯</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mc:AlternateContent xmlns:mc="http://schemas.openxmlformats.org/markup-compatibility/2006" xmlns:a14="http://schemas.microsoft.com/office/drawing/2010/main">
        <mc:Choice Requires="a14">
          <p:sp>
            <p:nvSpPr>
              <p:cNvPr id="21" name="内容占位符 2">
                <a:extLst>
                  <a:ext uri="{FF2B5EF4-FFF2-40B4-BE49-F238E27FC236}">
                    <a16:creationId xmlns:a16="http://schemas.microsoft.com/office/drawing/2014/main" id="{C567EE56-400A-4FF1-8D62-B647E7FF5FA1}"/>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3"/>
                    </a:solidFill>
                    <a:latin typeface="+mn-lt"/>
                    <a:cs typeface="+mn-ea"/>
                    <a:sym typeface="+mn-lt"/>
                  </a:rPr>
                  <a:t>冲突集的计算方式</a:t>
                </a:r>
                <a:endParaRPr lang="en-US" altLang="zh-CN" dirty="0">
                  <a:solidFill>
                    <a:schemeClr val="accent3"/>
                  </a:solidFill>
                  <a:latin typeface="+mn-lt"/>
                  <a:cs typeface="+mn-ea"/>
                  <a:sym typeface="+mn-lt"/>
                </a:endParaRPr>
              </a:p>
              <a:p>
                <a:pPr lvl="1"/>
                <a:r>
                  <a:rPr lang="zh-CN" altLang="en-US" dirty="0">
                    <a:latin typeface="+mn-lt"/>
                    <a:cs typeface="+mn-ea"/>
                    <a:sym typeface="+mn-lt"/>
                  </a:rPr>
                  <a:t>让</a:t>
                </a:r>
                <a14:m>
                  <m:oMath xmlns:m="http://schemas.openxmlformats.org/officeDocument/2006/math">
                    <m:r>
                      <a:rPr lang="en-US" altLang="zh-CN" i="1" dirty="0" smtClean="0">
                        <a:latin typeface="Cambria Math" panose="02040503050406030204" pitchFamily="18" charset="0"/>
                        <a:cs typeface="+mn-ea"/>
                        <a:sym typeface="+mn-lt"/>
                      </a:rPr>
                      <m:t>𝑋</m:t>
                    </m:r>
                    <m:r>
                      <a:rPr lang="en-US" altLang="zh-CN" sz="1400" i="1" dirty="0" err="1">
                        <a:latin typeface="Cambria Math" panose="02040503050406030204" pitchFamily="18" charset="0"/>
                        <a:cs typeface="+mn-ea"/>
                        <a:sym typeface="+mn-lt"/>
                      </a:rPr>
                      <m:t>𝑗</m:t>
                    </m:r>
                  </m:oMath>
                </a14:m>
                <a:r>
                  <a:rPr lang="en-US" altLang="zh-CN" sz="1400" dirty="0">
                    <a:latin typeface="+mn-lt"/>
                    <a:cs typeface="+mn-ea"/>
                    <a:sym typeface="+mn-lt"/>
                  </a:rPr>
                  <a:t> </a:t>
                </a:r>
                <a:r>
                  <a:rPr lang="zh-CN" altLang="en-US" dirty="0">
                    <a:latin typeface="+mn-lt"/>
                    <a:cs typeface="+mn-ea"/>
                    <a:sym typeface="+mn-lt"/>
                  </a:rPr>
                  <a:t>作为当前变量</a:t>
                </a:r>
                <a:endParaRPr lang="en-US" altLang="zh-CN" dirty="0">
                  <a:latin typeface="+mn-lt"/>
                  <a:cs typeface="+mn-ea"/>
                  <a:sym typeface="+mn-lt"/>
                </a:endParaRPr>
              </a:p>
              <a:p>
                <a:pPr lvl="1"/>
                <a:r>
                  <a:rPr lang="zh-CN" altLang="en-US" dirty="0">
                    <a:latin typeface="+mn-lt"/>
                    <a:cs typeface="+mn-ea"/>
                    <a:sym typeface="+mn-lt"/>
                  </a:rPr>
                  <a:t>让</a:t>
                </a:r>
                <a:r>
                  <a:rPr lang="en-US" altLang="zh-CN" dirty="0">
                    <a:latin typeface="+mn-lt"/>
                    <a:cs typeface="+mn-ea"/>
                    <a:sym typeface="+mn-lt"/>
                  </a:rPr>
                  <a:t> </a:t>
                </a:r>
                <a14:m>
                  <m:oMath xmlns:m="http://schemas.openxmlformats.org/officeDocument/2006/math">
                    <m:r>
                      <a:rPr lang="en-US" altLang="zh-CN" i="1" dirty="0" smtClean="0">
                        <a:latin typeface="Cambria Math" panose="02040503050406030204" pitchFamily="18" charset="0"/>
                        <a:cs typeface="+mn-ea"/>
                        <a:sym typeface="+mn-lt"/>
                      </a:rPr>
                      <m:t>𝑐𝑜𝑛𝑓</m:t>
                    </m:r>
                    <m:r>
                      <a:rPr lang="en-US" altLang="zh-CN" i="1" dirty="0">
                        <a:latin typeface="Cambria Math" panose="02040503050406030204" pitchFamily="18" charset="0"/>
                        <a:cs typeface="+mn-ea"/>
                        <a:sym typeface="+mn-lt"/>
                      </a:rPr>
                      <m:t>(</m:t>
                    </m:r>
                    <m:r>
                      <a:rPr lang="en-US" altLang="zh-CN" i="1" dirty="0" err="1">
                        <a:latin typeface="Cambria Math" panose="02040503050406030204" pitchFamily="18" charset="0"/>
                        <a:cs typeface="+mn-ea"/>
                        <a:sym typeface="+mn-lt"/>
                      </a:rPr>
                      <m:t>𝑋</m:t>
                    </m:r>
                    <m:r>
                      <a:rPr lang="en-US" altLang="zh-CN" sz="1800" i="1" dirty="0" err="1">
                        <a:latin typeface="Cambria Math" panose="02040503050406030204" pitchFamily="18" charset="0"/>
                        <a:cs typeface="+mn-ea"/>
                        <a:sym typeface="+mn-lt"/>
                      </a:rPr>
                      <m:t>𝑗</m:t>
                    </m:r>
                    <m:r>
                      <a:rPr lang="en-US" altLang="zh-CN" i="1" dirty="0">
                        <a:latin typeface="Cambria Math" panose="02040503050406030204" pitchFamily="18" charset="0"/>
                        <a:cs typeface="+mn-ea"/>
                        <a:sym typeface="+mn-lt"/>
                      </a:rPr>
                      <m:t>)</m:t>
                    </m:r>
                  </m:oMath>
                </a14:m>
                <a:r>
                  <a:rPr lang="en-US" altLang="zh-CN" dirty="0">
                    <a:latin typeface="+mn-lt"/>
                    <a:cs typeface="+mn-ea"/>
                    <a:sym typeface="+mn-lt"/>
                  </a:rPr>
                  <a:t> </a:t>
                </a:r>
                <a:r>
                  <a:rPr lang="zh-CN" altLang="en-US" dirty="0">
                    <a:latin typeface="+mn-lt"/>
                    <a:cs typeface="+mn-ea"/>
                    <a:sym typeface="+mn-lt"/>
                  </a:rPr>
                  <a:t>作为冲突集</a:t>
                </a:r>
                <a:endParaRPr lang="en-US" altLang="zh-CN" dirty="0">
                  <a:latin typeface="+mn-lt"/>
                  <a:cs typeface="+mn-ea"/>
                  <a:sym typeface="+mn-lt"/>
                </a:endParaRPr>
              </a:p>
              <a:p>
                <a:pPr lvl="1"/>
                <a:r>
                  <a:rPr lang="zh-CN" altLang="en-US" dirty="0">
                    <a:latin typeface="+mn-lt"/>
                    <a:cs typeface="+mn-ea"/>
                    <a:sym typeface="+mn-lt"/>
                  </a:rPr>
                  <a:t>如果</a:t>
                </a:r>
                <a14:m>
                  <m:oMath xmlns:m="http://schemas.openxmlformats.org/officeDocument/2006/math">
                    <m:r>
                      <a:rPr lang="zh-CN" altLang="en-US" i="1" dirty="0">
                        <a:latin typeface="Cambria Math" panose="02040503050406030204" pitchFamily="18" charset="0"/>
                        <a:cs typeface="+mn-ea"/>
                        <a:sym typeface="+mn-lt"/>
                      </a:rPr>
                      <m:t>某个</m:t>
                    </m:r>
                    <m:r>
                      <a:rPr lang="zh-CN" altLang="en-US" i="1" dirty="0" smtClean="0">
                        <a:latin typeface="Cambria Math" panose="02040503050406030204" pitchFamily="18" charset="0"/>
                        <a:cs typeface="+mn-ea"/>
                        <a:sym typeface="+mn-lt"/>
                      </a:rPr>
                      <m:t>可能</m:t>
                    </m:r>
                    <m:r>
                      <a:rPr lang="zh-CN" altLang="en-US" i="1" dirty="0">
                        <a:latin typeface="Cambria Math" panose="02040503050406030204" pitchFamily="18" charset="0"/>
                        <a:cs typeface="+mn-ea"/>
                        <a:sym typeface="+mn-lt"/>
                      </a:rPr>
                      <m:t>的</m:t>
                    </m:r>
                    <m:r>
                      <a:rPr lang="zh-CN" altLang="en-US" i="1" dirty="0" smtClean="0">
                        <a:latin typeface="Cambria Math" panose="02040503050406030204" pitchFamily="18" charset="0"/>
                        <a:cs typeface="+mn-ea"/>
                        <a:sym typeface="+mn-lt"/>
                      </a:rPr>
                      <m:t>值</m:t>
                    </m:r>
                    <m:r>
                      <a:rPr lang="en-US" altLang="zh-CN" i="1" dirty="0" smtClean="0">
                        <a:latin typeface="Cambria Math" panose="02040503050406030204" pitchFamily="18" charset="0"/>
                        <a:cs typeface="+mn-ea"/>
                        <a:sym typeface="+mn-lt"/>
                      </a:rPr>
                      <m:t>𝑋</m:t>
                    </m:r>
                    <m:r>
                      <a:rPr lang="en-US" altLang="zh-CN" sz="1400" i="1" dirty="0" smtClean="0">
                        <a:latin typeface="Cambria Math" panose="02040503050406030204" pitchFamily="18" charset="0"/>
                        <a:cs typeface="+mn-ea"/>
                        <a:sym typeface="+mn-lt"/>
                      </a:rPr>
                      <m:t>𝑗</m:t>
                    </m:r>
                  </m:oMath>
                </a14:m>
                <a:r>
                  <a:rPr lang="en-US" altLang="zh-CN" sz="1400" dirty="0">
                    <a:latin typeface="+mn-lt"/>
                    <a:cs typeface="+mn-ea"/>
                    <a:sym typeface="+mn-lt"/>
                  </a:rPr>
                  <a:t> </a:t>
                </a:r>
                <a:r>
                  <a:rPr lang="zh-CN" altLang="en-US" dirty="0">
                    <a:latin typeface="+mn-lt"/>
                    <a:cs typeface="+mn-ea"/>
                    <a:sym typeface="+mn-lt"/>
                  </a:rPr>
                  <a:t>失败</a:t>
                </a:r>
                <a:r>
                  <a:rPr lang="en-US" altLang="zh-CN" dirty="0">
                    <a:latin typeface="+mn-lt"/>
                    <a:cs typeface="+mn-ea"/>
                    <a:sym typeface="+mn-lt"/>
                  </a:rPr>
                  <a:t>, </a:t>
                </a:r>
                <a:r>
                  <a:rPr lang="zh-CN" altLang="en-US" dirty="0">
                    <a:latin typeface="+mn-lt"/>
                    <a:cs typeface="+mn-ea"/>
                    <a:sym typeface="+mn-lt"/>
                  </a:rPr>
                  <a:t>回跳</a:t>
                </a:r>
                <a14:m>
                  <m:oMath xmlns:m="http://schemas.openxmlformats.org/officeDocument/2006/math">
                    <m:r>
                      <a:rPr lang="en-US" altLang="zh-CN" i="1" dirty="0">
                        <a:latin typeface="Cambria Math" panose="02040503050406030204" pitchFamily="18" charset="0"/>
                        <a:cs typeface="+mn-ea"/>
                        <a:sym typeface="+mn-lt"/>
                      </a:rPr>
                      <m:t>𝑐𝑜𝑛𝑓</m:t>
                    </m:r>
                    <m:r>
                      <a:rPr lang="en-US" altLang="zh-CN" i="1" dirty="0">
                        <a:latin typeface="Cambria Math" panose="02040503050406030204" pitchFamily="18" charset="0"/>
                        <a:cs typeface="+mn-ea"/>
                        <a:sym typeface="+mn-lt"/>
                      </a:rPr>
                      <m:t>(</m:t>
                    </m:r>
                    <m:r>
                      <a:rPr lang="en-US" altLang="zh-CN" i="1" dirty="0" err="1">
                        <a:latin typeface="Cambria Math" panose="02040503050406030204" pitchFamily="18" charset="0"/>
                        <a:cs typeface="+mn-ea"/>
                        <a:sym typeface="+mn-lt"/>
                      </a:rPr>
                      <m:t>𝑋𝑗</m:t>
                    </m:r>
                    <m:r>
                      <a:rPr lang="en-US" altLang="zh-CN" i="1" dirty="0">
                        <a:latin typeface="Cambria Math" panose="02040503050406030204" pitchFamily="18" charset="0"/>
                        <a:cs typeface="+mn-ea"/>
                        <a:sym typeface="+mn-lt"/>
                      </a:rPr>
                      <m:t> )</m:t>
                    </m:r>
                    <m:r>
                      <a:rPr lang="zh-CN" altLang="en-US" i="1" dirty="0" smtClean="0">
                        <a:latin typeface="Cambria Math" panose="02040503050406030204" pitchFamily="18" charset="0"/>
                        <a:cs typeface="+mn-ea"/>
                        <a:sym typeface="+mn-lt"/>
                      </a:rPr>
                      <m:t>中</m:t>
                    </m:r>
                    <m:r>
                      <a:rPr lang="zh-CN" altLang="en-US" i="1" dirty="0">
                        <a:latin typeface="Cambria Math" panose="02040503050406030204" pitchFamily="18" charset="0"/>
                        <a:cs typeface="+mn-ea"/>
                        <a:sym typeface="+mn-lt"/>
                      </a:rPr>
                      <m:t>最新</m:t>
                    </m:r>
                    <m:r>
                      <a:rPr lang="zh-CN" altLang="en-US" i="1" dirty="0" smtClean="0">
                        <a:latin typeface="Cambria Math" panose="02040503050406030204" pitchFamily="18" charset="0"/>
                        <a:cs typeface="+mn-ea"/>
                        <a:sym typeface="+mn-lt"/>
                      </a:rPr>
                      <m:t>变量</m:t>
                    </m:r>
                    <m:r>
                      <a:rPr lang="en-US" altLang="zh-CN" i="1" dirty="0" smtClean="0">
                        <a:latin typeface="Cambria Math" panose="02040503050406030204" pitchFamily="18" charset="0"/>
                        <a:cs typeface="+mn-ea"/>
                        <a:sym typeface="+mn-lt"/>
                      </a:rPr>
                      <m:t>𝑋</m:t>
                    </m:r>
                    <m:r>
                      <a:rPr lang="en-US" altLang="zh-CN" sz="1800" i="1" dirty="0">
                        <a:latin typeface="Cambria Math" panose="02040503050406030204" pitchFamily="18" charset="0"/>
                        <a:cs typeface="+mn-ea"/>
                        <a:sym typeface="+mn-lt"/>
                      </a:rPr>
                      <m:t>𝑖</m:t>
                    </m:r>
                    <m:r>
                      <a:rPr lang="zh-CN" altLang="en-US" sz="1800" i="1" dirty="0">
                        <a:latin typeface="Cambria Math" panose="02040503050406030204" pitchFamily="18" charset="0"/>
                        <a:cs typeface="+mn-ea"/>
                        <a:sym typeface="+mn-lt"/>
                      </a:rPr>
                      <m:t>，</m:t>
                    </m:r>
                  </m:oMath>
                </a14:m>
                <a:r>
                  <a:rPr lang="zh-CN" altLang="en-US" dirty="0">
                    <a:latin typeface="+mn-lt"/>
                    <a:cs typeface="+mn-ea"/>
                    <a:sym typeface="+mn-lt"/>
                  </a:rPr>
                  <a:t>并设置</a:t>
                </a:r>
                <a:endParaRPr lang="en-US" altLang="zh-CN" dirty="0">
                  <a:latin typeface="+mn-lt"/>
                  <a:cs typeface="+mn-ea"/>
                  <a:sym typeface="+mn-lt"/>
                </a:endParaRPr>
              </a:p>
              <a:p>
                <a:pPr marL="457200" lvl="1" indent="0">
                  <a:buFont typeface="Arial" panose="020B0604020202020204" pitchFamily="34" charset="0"/>
                  <a:buNone/>
                </a:pPr>
                <a:r>
                  <a:rPr lang="en-US" altLang="zh-CN" dirty="0">
                    <a:latin typeface="+mn-lt"/>
                    <a:cs typeface="+mn-ea"/>
                    <a:sym typeface="+mn-lt"/>
                  </a:rPr>
                  <a:t>   </a:t>
                </a:r>
                <a14:m>
                  <m:oMath xmlns:m="http://schemas.openxmlformats.org/officeDocument/2006/math">
                    <m:r>
                      <a:rPr lang="en-US" altLang="zh-CN" i="1" dirty="0" smtClean="0">
                        <a:latin typeface="Cambria Math" panose="02040503050406030204" pitchFamily="18" charset="0"/>
                        <a:cs typeface="+mn-ea"/>
                        <a:sym typeface="+mn-lt"/>
                      </a:rPr>
                      <m:t>𝑐𝑜𝑛𝑓</m:t>
                    </m:r>
                    <m:r>
                      <a:rPr lang="en-US" altLang="zh-CN" i="1" dirty="0" smtClean="0">
                        <a:latin typeface="Cambria Math" panose="02040503050406030204" pitchFamily="18" charset="0"/>
                        <a:cs typeface="+mn-ea"/>
                        <a:sym typeface="+mn-lt"/>
                      </a:rPr>
                      <m:t>(</m:t>
                    </m:r>
                    <m:sSub>
                      <m:sSubPr>
                        <m:ctrlPr>
                          <a:rPr lang="en-US" altLang="zh-CN" i="1" dirty="0" smtClean="0">
                            <a:latin typeface="Cambria Math" panose="02040503050406030204" pitchFamily="18" charset="0"/>
                            <a:cs typeface="+mn-ea"/>
                            <a:sym typeface="+mn-lt"/>
                          </a:rPr>
                        </m:ctrlPr>
                      </m:sSubPr>
                      <m:e>
                        <m:r>
                          <a:rPr lang="en-US" altLang="zh-CN" i="1" dirty="0">
                            <a:latin typeface="Cambria Math" panose="02040503050406030204" pitchFamily="18" charset="0"/>
                            <a:cs typeface="+mn-ea"/>
                            <a:sym typeface="+mn-lt"/>
                          </a:rPr>
                          <m:t>𝑋</m:t>
                        </m:r>
                      </m:e>
                      <m:sub>
                        <m:r>
                          <a:rPr lang="en-US" altLang="zh-CN" i="1" dirty="0">
                            <a:latin typeface="Cambria Math" panose="02040503050406030204" pitchFamily="18" charset="0"/>
                            <a:cs typeface="+mn-ea"/>
                            <a:sym typeface="+mn-lt"/>
                          </a:rPr>
                          <m:t>𝑖</m:t>
                        </m:r>
                      </m:sub>
                    </m:sSub>
                    <m:r>
                      <a:rPr lang="en-US" altLang="zh-CN" i="1" dirty="0" smtClean="0">
                        <a:latin typeface="Cambria Math" panose="02040503050406030204" pitchFamily="18" charset="0"/>
                        <a:cs typeface="+mn-ea"/>
                        <a:sym typeface="+mn-lt"/>
                      </a:rPr>
                      <m:t>) ← </m:t>
                    </m:r>
                    <m:r>
                      <a:rPr lang="en-US" altLang="zh-CN" i="1" dirty="0" err="1" smtClean="0">
                        <a:latin typeface="Cambria Math" panose="02040503050406030204" pitchFamily="18" charset="0"/>
                        <a:cs typeface="+mn-ea"/>
                        <a:sym typeface="+mn-lt"/>
                      </a:rPr>
                      <m:t>𝑐𝑜𝑛𝑓</m:t>
                    </m:r>
                    <m:r>
                      <a:rPr lang="en-US" altLang="zh-CN" i="1" dirty="0" smtClean="0">
                        <a:latin typeface="Cambria Math" panose="02040503050406030204" pitchFamily="18" charset="0"/>
                        <a:cs typeface="+mn-ea"/>
                        <a:sym typeface="+mn-lt"/>
                      </a:rPr>
                      <m:t>(</m:t>
                    </m:r>
                    <m:sSub>
                      <m:sSubPr>
                        <m:ctrlPr>
                          <a:rPr lang="en-US" altLang="zh-CN" i="1" dirty="0">
                            <a:latin typeface="Cambria Math" panose="02040503050406030204" pitchFamily="18" charset="0"/>
                            <a:cs typeface="+mn-ea"/>
                            <a:sym typeface="+mn-lt"/>
                          </a:rPr>
                        </m:ctrlPr>
                      </m:sSubPr>
                      <m:e>
                        <m:r>
                          <a:rPr lang="en-US" altLang="zh-CN" i="1" dirty="0">
                            <a:latin typeface="Cambria Math" panose="02040503050406030204" pitchFamily="18" charset="0"/>
                            <a:cs typeface="+mn-ea"/>
                            <a:sym typeface="+mn-lt"/>
                          </a:rPr>
                          <m:t>𝑋</m:t>
                        </m:r>
                      </m:e>
                      <m:sub>
                        <m:r>
                          <a:rPr lang="en-US" altLang="zh-CN" i="1" dirty="0">
                            <a:latin typeface="Cambria Math" panose="02040503050406030204" pitchFamily="18" charset="0"/>
                            <a:cs typeface="+mn-ea"/>
                            <a:sym typeface="+mn-lt"/>
                          </a:rPr>
                          <m:t>𝑖</m:t>
                        </m:r>
                      </m:sub>
                    </m:sSub>
                    <m:r>
                      <a:rPr lang="en-US" altLang="zh-CN" i="1" dirty="0" smtClean="0">
                        <a:latin typeface="Cambria Math" panose="02040503050406030204" pitchFamily="18" charset="0"/>
                        <a:cs typeface="+mn-ea"/>
                        <a:sym typeface="+mn-lt"/>
                      </a:rPr>
                      <m:t>) ∪ </m:t>
                    </m:r>
                    <m:r>
                      <a:rPr lang="en-US" altLang="zh-CN" i="1" dirty="0" err="1" smtClean="0">
                        <a:latin typeface="Cambria Math" panose="02040503050406030204" pitchFamily="18" charset="0"/>
                        <a:cs typeface="+mn-ea"/>
                        <a:sym typeface="+mn-lt"/>
                      </a:rPr>
                      <m:t>𝑐𝑜𝑛𝑓</m:t>
                    </m:r>
                    <m:r>
                      <a:rPr lang="en-US" altLang="zh-CN" i="1" dirty="0" smtClean="0">
                        <a:latin typeface="Cambria Math" panose="02040503050406030204" pitchFamily="18" charset="0"/>
                        <a:cs typeface="+mn-ea"/>
                        <a:sym typeface="+mn-lt"/>
                      </a:rPr>
                      <m:t>(</m:t>
                    </m:r>
                    <m:sSub>
                      <m:sSubPr>
                        <m:ctrlPr>
                          <a:rPr lang="en-US" altLang="zh-CN" i="1" dirty="0">
                            <a:latin typeface="Cambria Math" panose="02040503050406030204" pitchFamily="18" charset="0"/>
                            <a:cs typeface="+mn-ea"/>
                            <a:sym typeface="+mn-lt"/>
                          </a:rPr>
                        </m:ctrlPr>
                      </m:sSubPr>
                      <m:e>
                        <m:r>
                          <a:rPr lang="en-US" altLang="zh-CN" i="1" dirty="0">
                            <a:latin typeface="Cambria Math" panose="02040503050406030204" pitchFamily="18" charset="0"/>
                            <a:cs typeface="+mn-ea"/>
                            <a:sym typeface="+mn-lt"/>
                          </a:rPr>
                          <m:t>𝑋</m:t>
                        </m:r>
                      </m:e>
                      <m:sub>
                        <m:r>
                          <a:rPr lang="en-US" altLang="zh-CN" i="1" dirty="0" smtClean="0">
                            <a:latin typeface="Cambria Math" panose="02040503050406030204" pitchFamily="18" charset="0"/>
                            <a:cs typeface="+mn-ea"/>
                            <a:sym typeface="+mn-lt"/>
                          </a:rPr>
                          <m:t>𝑗</m:t>
                        </m:r>
                      </m:sub>
                    </m:sSub>
                    <m:r>
                      <a:rPr lang="en-US" altLang="zh-CN" i="1" dirty="0" smtClean="0">
                        <a:latin typeface="Cambria Math" panose="02040503050406030204" pitchFamily="18" charset="0"/>
                        <a:cs typeface="+mn-ea"/>
                        <a:sym typeface="+mn-lt"/>
                      </a:rPr>
                      <m:t>) −{</m:t>
                    </m:r>
                    <m:sSub>
                      <m:sSubPr>
                        <m:ctrlPr>
                          <a:rPr lang="en-US" altLang="zh-CN" i="1" dirty="0">
                            <a:latin typeface="Cambria Math" panose="02040503050406030204" pitchFamily="18" charset="0"/>
                            <a:cs typeface="+mn-ea"/>
                            <a:sym typeface="+mn-lt"/>
                          </a:rPr>
                        </m:ctrlPr>
                      </m:sSubPr>
                      <m:e>
                        <m:r>
                          <a:rPr lang="en-US" altLang="zh-CN" i="1" dirty="0">
                            <a:latin typeface="Cambria Math" panose="02040503050406030204" pitchFamily="18" charset="0"/>
                            <a:cs typeface="+mn-ea"/>
                            <a:sym typeface="+mn-lt"/>
                          </a:rPr>
                          <m:t>𝑋</m:t>
                        </m:r>
                      </m:e>
                      <m:sub>
                        <m:r>
                          <a:rPr lang="en-US" altLang="zh-CN" i="1" dirty="0">
                            <a:latin typeface="Cambria Math" panose="02040503050406030204" pitchFamily="18" charset="0"/>
                            <a:cs typeface="+mn-ea"/>
                            <a:sym typeface="+mn-lt"/>
                          </a:rPr>
                          <m:t>𝑖</m:t>
                        </m:r>
                      </m:sub>
                    </m:sSub>
                    <m:r>
                      <a:rPr lang="en-US" altLang="zh-CN" i="1" dirty="0" smtClean="0">
                        <a:latin typeface="Cambria Math" panose="02040503050406030204" pitchFamily="18" charset="0"/>
                        <a:cs typeface="+mn-ea"/>
                        <a:sym typeface="+mn-lt"/>
                      </a:rPr>
                      <m:t>}</m:t>
                    </m:r>
                  </m:oMath>
                </a14:m>
                <a:r>
                  <a:rPr lang="en-US" altLang="zh-CN" dirty="0">
                    <a:latin typeface="+mn-lt"/>
                    <a:cs typeface="+mn-ea"/>
                    <a:sym typeface="+mn-lt"/>
                  </a:rPr>
                  <a:t> .</a:t>
                </a:r>
              </a:p>
              <a:p>
                <a:pPr lvl="1"/>
                <a:endParaRPr lang="zh-CN" altLang="en-US" dirty="0">
                  <a:latin typeface="+mn-lt"/>
                  <a:cs typeface="+mn-ea"/>
                  <a:sym typeface="+mn-lt"/>
                </a:endParaRPr>
              </a:p>
            </p:txBody>
          </p:sp>
        </mc:Choice>
        <mc:Fallback xmlns="">
          <p:sp>
            <p:nvSpPr>
              <p:cNvPr id="21" name="内容占位符 2">
                <a:extLst>
                  <a:ext uri="{FF2B5EF4-FFF2-40B4-BE49-F238E27FC236}">
                    <a16:creationId xmlns:a16="http://schemas.microsoft.com/office/drawing/2014/main" id="{C567EE56-400A-4FF1-8D62-B647E7FF5FA1}"/>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3"/>
                <a:stretch>
                  <a:fillRect l="-965" t="-21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87461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pPr eaLnBrk="1" hangingPunct="1"/>
            <a:r>
              <a:rPr lang="en-US" altLang="zh-CN" sz="3600" dirty="0">
                <a:latin typeface="+mn-lt"/>
                <a:ea typeface="+mn-ea"/>
                <a:cs typeface="+mn-ea"/>
                <a:sym typeface="+mn-lt"/>
              </a:rPr>
              <a:t>问题3：智能回溯</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DA96BCF1-0AEB-4839-ACAD-6D293F0D5FAF}"/>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3"/>
                    </a:solidFill>
                    <a:latin typeface="+mn-lt"/>
                    <a:cs typeface="+mn-ea"/>
                    <a:sym typeface="+mn-lt"/>
                  </a:rPr>
                  <a:t> </a:t>
                </a:r>
                <a14:m>
                  <m:oMath xmlns:m="http://schemas.openxmlformats.org/officeDocument/2006/math">
                    <m:r>
                      <a:rPr lang="en-US" altLang="zh-CN" i="1" dirty="0">
                        <a:solidFill>
                          <a:schemeClr val="accent3"/>
                        </a:solidFill>
                        <a:latin typeface="Cambria Math" panose="02040503050406030204" pitchFamily="18" charset="0"/>
                        <a:cs typeface="+mn-ea"/>
                        <a:sym typeface="+mn-lt"/>
                      </a:rPr>
                      <m:t>𝑐𝑜𝑛𝑓</m:t>
                    </m:r>
                    <m:d>
                      <m:dPr>
                        <m:ctrlPr>
                          <a:rPr lang="en-US" altLang="zh-CN" i="1" dirty="0">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r>
                      <a:rPr lang="en-US" altLang="zh-CN" i="1" dirty="0">
                        <a:solidFill>
                          <a:schemeClr val="accent3"/>
                        </a:solidFill>
                        <a:latin typeface="Cambria Math" panose="02040503050406030204" pitchFamily="18" charset="0"/>
                        <a:cs typeface="+mn-ea"/>
                        <a:sym typeface="+mn-lt"/>
                      </a:rPr>
                      <m:t>← </m:t>
                    </m:r>
                    <m:r>
                      <a:rPr lang="en-US" altLang="zh-CN" i="1" dirty="0" err="1">
                        <a:solidFill>
                          <a:schemeClr val="accent3"/>
                        </a:solidFill>
                        <a:latin typeface="Cambria Math" panose="02040503050406030204" pitchFamily="18" charset="0"/>
                        <a:cs typeface="+mn-ea"/>
                        <a:sym typeface="+mn-lt"/>
                      </a:rPr>
                      <m:t>𝑐𝑜𝑛𝑓</m:t>
                    </m:r>
                    <m:d>
                      <m:dPr>
                        <m:ctrlPr>
                          <a:rPr lang="en-US" altLang="zh-CN" i="1" dirty="0" err="1">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r>
                      <a:rPr lang="en-US" altLang="zh-CN" i="1" dirty="0">
                        <a:solidFill>
                          <a:schemeClr val="accent3"/>
                        </a:solidFill>
                        <a:latin typeface="Cambria Math" panose="02040503050406030204" pitchFamily="18" charset="0"/>
                        <a:cs typeface="+mn-ea"/>
                        <a:sym typeface="+mn-lt"/>
                      </a:rPr>
                      <m:t>∪ </m:t>
                    </m:r>
                    <m:r>
                      <a:rPr lang="en-US" altLang="zh-CN" i="1" dirty="0" err="1">
                        <a:solidFill>
                          <a:schemeClr val="accent3"/>
                        </a:solidFill>
                        <a:latin typeface="Cambria Math" panose="02040503050406030204" pitchFamily="18" charset="0"/>
                        <a:cs typeface="+mn-ea"/>
                        <a:sym typeface="+mn-lt"/>
                      </a:rPr>
                      <m:t>𝑐𝑜𝑛𝑓</m:t>
                    </m:r>
                    <m:d>
                      <m:dPr>
                        <m:ctrlPr>
                          <a:rPr lang="en-US" altLang="zh-CN" i="1" dirty="0" err="1">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𝑗</m:t>
                            </m:r>
                          </m:sub>
                        </m:sSub>
                      </m:e>
                    </m:d>
                    <m:r>
                      <a:rPr lang="en-US" altLang="zh-CN" i="1" dirty="0">
                        <a:solidFill>
                          <a:schemeClr val="accent3"/>
                        </a:solidFill>
                        <a:latin typeface="Cambria Math" panose="02040503050406030204" pitchFamily="18" charset="0"/>
                        <a:cs typeface="+mn-ea"/>
                        <a:sym typeface="+mn-lt"/>
                      </a:rPr>
                      <m:t>−</m:t>
                    </m:r>
                    <m:d>
                      <m:dPr>
                        <m:begChr m:val="{"/>
                        <m:endChr m:val="}"/>
                        <m:ctrlPr>
                          <a:rPr lang="en-US" altLang="zh-CN" i="1" dirty="0">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oMath>
                </a14:m>
                <a:endParaRPr lang="en-US" altLang="zh-CN" dirty="0">
                  <a:latin typeface="+mn-lt"/>
                  <a:cs typeface="+mn-ea"/>
                  <a:sym typeface="+mn-lt"/>
                </a:endParaRPr>
              </a:p>
              <a:p>
                <a:r>
                  <a:rPr lang="en-US" altLang="zh-CN" dirty="0">
                    <a:solidFill>
                      <a:schemeClr val="accent3"/>
                    </a:solidFill>
                    <a:latin typeface="+mn-lt"/>
                    <a:cs typeface="+mn-ea"/>
                    <a:sym typeface="+mn-lt"/>
                  </a:rPr>
                  <a:t>Step1</a:t>
                </a:r>
                <a:r>
                  <a:rPr lang="zh-CN" altLang="en-US" dirty="0">
                    <a:solidFill>
                      <a:schemeClr val="accent3"/>
                    </a:solidFill>
                    <a:latin typeface="+mn-lt"/>
                    <a:cs typeface="+mn-ea"/>
                    <a:sym typeface="+mn-lt"/>
                  </a:rPr>
                  <a:t>：</a:t>
                </a:r>
                <a:endParaRPr lang="en-US" altLang="zh-CN" dirty="0">
                  <a:solidFill>
                    <a:schemeClr val="accent3"/>
                  </a:solidFill>
                  <a:latin typeface="+mn-lt"/>
                  <a:cs typeface="+mn-ea"/>
                  <a:sym typeface="+mn-lt"/>
                </a:endParaRPr>
              </a:p>
              <a:p>
                <a:pPr lvl="1"/>
                <a:r>
                  <a:rPr lang="en-US" altLang="zh-CN" dirty="0">
                    <a:latin typeface="+mn-lt"/>
                    <a:cs typeface="+mn-ea"/>
                    <a:sym typeface="+mn-lt"/>
                  </a:rPr>
                  <a:t>SA fails</a:t>
                </a:r>
              </a:p>
              <a:p>
                <a:pPr lvl="1"/>
                <a:r>
                  <a:rPr lang="en-US" altLang="zh-CN" b="1" dirty="0">
                    <a:latin typeface="+mn-lt"/>
                    <a:cs typeface="+mn-ea"/>
                    <a:sym typeface="+mn-lt"/>
                  </a:rPr>
                  <a:t>Say</a:t>
                </a:r>
                <a:r>
                  <a:rPr lang="en-US" altLang="zh-CN" dirty="0">
                    <a:latin typeface="+mn-lt"/>
                    <a:cs typeface="+mn-ea"/>
                    <a:sym typeface="+mn-lt"/>
                  </a:rPr>
                  <a:t> </a:t>
                </a:r>
                <a14:m>
                  <m:oMath xmlns:m="http://schemas.openxmlformats.org/officeDocument/2006/math">
                    <m:r>
                      <a:rPr lang="en-US" altLang="zh-CN" i="1" dirty="0">
                        <a:latin typeface="Cambria Math" panose="02040503050406030204" pitchFamily="18" charset="0"/>
                        <a:cs typeface="+mn-ea"/>
                        <a:sym typeface="+mn-lt"/>
                      </a:rPr>
                      <m:t>𝑐𝑜𝑛𝑓</m:t>
                    </m:r>
                  </m:oMath>
                </a14:m>
                <a:r>
                  <a:rPr lang="en-US" altLang="zh-CN" dirty="0">
                    <a:latin typeface="+mn-lt"/>
                    <a:cs typeface="+mn-ea"/>
                    <a:sym typeface="+mn-lt"/>
                  </a:rPr>
                  <a:t>(SA)={WA, NT, Q, NSW}</a:t>
                </a:r>
                <a:endParaRPr lang="zh-CN" altLang="en-US" dirty="0">
                  <a:latin typeface="+mn-lt"/>
                  <a:cs typeface="+mn-ea"/>
                  <a:sym typeface="+mn-lt"/>
                </a:endParaRPr>
              </a:p>
              <a:p>
                <a:pPr lvl="1"/>
                <a:endParaRPr lang="en-US" altLang="zh-CN" dirty="0">
                  <a:latin typeface="+mn-lt"/>
                  <a:cs typeface="+mn-ea"/>
                  <a:sym typeface="+mn-lt"/>
                </a:endParaRPr>
              </a:p>
              <a:p>
                <a:pPr lvl="1"/>
                <a:endParaRPr lang="zh-CN" altLang="en-US" dirty="0">
                  <a:latin typeface="+mn-lt"/>
                  <a:cs typeface="+mn-ea"/>
                  <a:sym typeface="+mn-lt"/>
                </a:endParaRPr>
              </a:p>
            </p:txBody>
          </p:sp>
        </mc:Choice>
        <mc:Fallback xmlns="">
          <p:sp>
            <p:nvSpPr>
              <p:cNvPr id="5" name="内容占位符 2">
                <a:extLst>
                  <a:ext uri="{FF2B5EF4-FFF2-40B4-BE49-F238E27FC236}">
                    <a16:creationId xmlns:a16="http://schemas.microsoft.com/office/drawing/2014/main" id="{DA96BCF1-0AEB-4839-ACAD-6D293F0D5FAF}"/>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3"/>
                <a:stretch>
                  <a:fillRect l="-965" t="-1031"/>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AEAD8F17-0876-4BC4-994F-D34F1F7D211F}"/>
              </a:ext>
            </a:extLst>
          </p:cNvPr>
          <p:cNvPicPr>
            <a:picLocks noChangeAspect="1"/>
          </p:cNvPicPr>
          <p:nvPr/>
        </p:nvPicPr>
        <p:blipFill>
          <a:blip r:embed="rId4"/>
          <a:stretch>
            <a:fillRect/>
          </a:stretch>
        </p:blipFill>
        <p:spPr>
          <a:xfrm>
            <a:off x="7701915" y="2634484"/>
            <a:ext cx="3937000" cy="3492093"/>
          </a:xfrm>
          <a:prstGeom prst="rect">
            <a:avLst/>
          </a:prstGeom>
        </p:spPr>
      </p:pic>
      <p:sp>
        <p:nvSpPr>
          <p:cNvPr id="7" name="矩形 6">
            <a:extLst>
              <a:ext uri="{FF2B5EF4-FFF2-40B4-BE49-F238E27FC236}">
                <a16:creationId xmlns:a16="http://schemas.microsoft.com/office/drawing/2014/main" id="{F2D03C52-698C-4739-895F-009AD885B0BD}"/>
              </a:ext>
            </a:extLst>
          </p:cNvPr>
          <p:cNvSpPr/>
          <p:nvPr/>
        </p:nvSpPr>
        <p:spPr>
          <a:xfrm>
            <a:off x="7701844" y="2895600"/>
            <a:ext cx="762000" cy="460375"/>
          </a:xfrm>
          <a:prstGeom prst="rect">
            <a:avLst/>
          </a:prstGeom>
        </p:spPr>
        <p:txBody>
          <a:bodyPr wrap="square">
            <a:spAutoFit/>
          </a:bodyPr>
          <a:lstStyle/>
          <a:p>
            <a:r>
              <a:rPr lang="en-US" altLang="zh-CN" sz="2400" b="1" dirty="0">
                <a:solidFill>
                  <a:schemeClr val="tx1"/>
                </a:solidFill>
                <a:cs typeface="+mn-ea"/>
                <a:sym typeface="+mn-lt"/>
              </a:rPr>
              <a:t>1</a:t>
            </a:r>
          </a:p>
        </p:txBody>
      </p:sp>
      <p:sp>
        <p:nvSpPr>
          <p:cNvPr id="8" name="矩形 7">
            <a:extLst>
              <a:ext uri="{FF2B5EF4-FFF2-40B4-BE49-F238E27FC236}">
                <a16:creationId xmlns:a16="http://schemas.microsoft.com/office/drawing/2014/main" id="{A4B67D96-82CB-41EE-8495-5D43B54DCDA5}"/>
              </a:ext>
            </a:extLst>
          </p:cNvPr>
          <p:cNvSpPr/>
          <p:nvPr/>
        </p:nvSpPr>
        <p:spPr>
          <a:xfrm>
            <a:off x="11453949" y="3666241"/>
            <a:ext cx="484361" cy="460375"/>
          </a:xfrm>
          <a:prstGeom prst="rect">
            <a:avLst/>
          </a:prstGeom>
        </p:spPr>
        <p:txBody>
          <a:bodyPr wrap="square">
            <a:spAutoFit/>
          </a:bodyPr>
          <a:lstStyle/>
          <a:p>
            <a:r>
              <a:rPr lang="en-US" altLang="zh-CN" sz="2400" b="1" dirty="0">
                <a:solidFill>
                  <a:schemeClr val="tx1"/>
                </a:solidFill>
                <a:cs typeface="+mn-ea"/>
                <a:sym typeface="+mn-lt"/>
              </a:rPr>
              <a:t>2</a:t>
            </a:r>
          </a:p>
        </p:txBody>
      </p:sp>
      <p:sp>
        <p:nvSpPr>
          <p:cNvPr id="9" name="矩形 8">
            <a:extLst>
              <a:ext uri="{FF2B5EF4-FFF2-40B4-BE49-F238E27FC236}">
                <a16:creationId xmlns:a16="http://schemas.microsoft.com/office/drawing/2014/main" id="{55D135B9-9ACB-48FB-9F41-93F520F26FEE}"/>
              </a:ext>
            </a:extLst>
          </p:cNvPr>
          <p:cNvSpPr/>
          <p:nvPr/>
        </p:nvSpPr>
        <p:spPr>
          <a:xfrm>
            <a:off x="9220200" y="2286000"/>
            <a:ext cx="603920" cy="461665"/>
          </a:xfrm>
          <a:prstGeom prst="rect">
            <a:avLst/>
          </a:prstGeom>
        </p:spPr>
        <p:txBody>
          <a:bodyPr wrap="square">
            <a:spAutoFit/>
          </a:bodyPr>
          <a:lstStyle/>
          <a:p>
            <a:r>
              <a:rPr lang="en-US" altLang="zh-CN" sz="2400" b="1" dirty="0">
                <a:cs typeface="+mn-ea"/>
                <a:sym typeface="+mn-lt"/>
              </a:rPr>
              <a:t>4</a:t>
            </a:r>
            <a:endParaRPr lang="zh-CN" altLang="en-US" sz="2400" b="1" dirty="0">
              <a:cs typeface="+mn-ea"/>
              <a:sym typeface="+mn-lt"/>
            </a:endParaRPr>
          </a:p>
        </p:txBody>
      </p:sp>
      <p:sp>
        <p:nvSpPr>
          <p:cNvPr id="10" name="矩形 9">
            <a:extLst>
              <a:ext uri="{FF2B5EF4-FFF2-40B4-BE49-F238E27FC236}">
                <a16:creationId xmlns:a16="http://schemas.microsoft.com/office/drawing/2014/main" id="{28718819-0FF3-4052-9134-D53391DC22B2}"/>
              </a:ext>
            </a:extLst>
          </p:cNvPr>
          <p:cNvSpPr/>
          <p:nvPr/>
        </p:nvSpPr>
        <p:spPr>
          <a:xfrm>
            <a:off x="10815997" y="2573134"/>
            <a:ext cx="657708" cy="461665"/>
          </a:xfrm>
          <a:prstGeom prst="rect">
            <a:avLst/>
          </a:prstGeom>
        </p:spPr>
        <p:txBody>
          <a:bodyPr wrap="square">
            <a:spAutoFit/>
          </a:bodyPr>
          <a:lstStyle/>
          <a:p>
            <a:r>
              <a:rPr lang="en-US" altLang="zh-CN" sz="2400" b="1" dirty="0">
                <a:cs typeface="+mn-ea"/>
                <a:sym typeface="+mn-lt"/>
              </a:rPr>
              <a:t>5</a:t>
            </a:r>
            <a:endParaRPr lang="zh-CN" altLang="en-US" sz="2400" b="1" dirty="0">
              <a:cs typeface="+mn-ea"/>
              <a:sym typeface="+mn-lt"/>
            </a:endParaRPr>
          </a:p>
        </p:txBody>
      </p:sp>
      <p:sp>
        <p:nvSpPr>
          <p:cNvPr id="11" name="矩形 10">
            <a:extLst>
              <a:ext uri="{FF2B5EF4-FFF2-40B4-BE49-F238E27FC236}">
                <a16:creationId xmlns:a16="http://schemas.microsoft.com/office/drawing/2014/main" id="{E0C47771-3C79-444D-B123-5707B1F26905}"/>
              </a:ext>
            </a:extLst>
          </p:cNvPr>
          <p:cNvSpPr/>
          <p:nvPr/>
        </p:nvSpPr>
        <p:spPr>
          <a:xfrm>
            <a:off x="11107347" y="5596949"/>
            <a:ext cx="484361" cy="461665"/>
          </a:xfrm>
          <a:prstGeom prst="rect">
            <a:avLst/>
          </a:prstGeom>
        </p:spPr>
        <p:txBody>
          <a:bodyPr wrap="square">
            <a:spAutoFit/>
          </a:bodyPr>
          <a:lstStyle/>
          <a:p>
            <a:r>
              <a:rPr lang="en-US" altLang="zh-CN" sz="2400" b="1" dirty="0">
                <a:cs typeface="+mn-ea"/>
                <a:sym typeface="+mn-lt"/>
              </a:rPr>
              <a:t>3</a:t>
            </a:r>
            <a:endParaRPr lang="zh-CN" altLang="en-US" sz="2400" b="1" dirty="0">
              <a:cs typeface="+mn-ea"/>
              <a:sym typeface="+mn-lt"/>
            </a:endParaRPr>
          </a:p>
        </p:txBody>
      </p:sp>
      <p:sp>
        <p:nvSpPr>
          <p:cNvPr id="12" name="矩形 11">
            <a:extLst>
              <a:ext uri="{FF2B5EF4-FFF2-40B4-BE49-F238E27FC236}">
                <a16:creationId xmlns:a16="http://schemas.microsoft.com/office/drawing/2014/main" id="{6311FA1E-DAAA-48B8-9A29-727BBCF01C58}"/>
              </a:ext>
            </a:extLst>
          </p:cNvPr>
          <p:cNvSpPr/>
          <p:nvPr/>
        </p:nvSpPr>
        <p:spPr>
          <a:xfrm>
            <a:off x="9206566" y="4572000"/>
            <a:ext cx="470834" cy="460375"/>
          </a:xfrm>
          <a:prstGeom prst="rect">
            <a:avLst/>
          </a:prstGeom>
        </p:spPr>
        <p:txBody>
          <a:bodyPr wrap="square">
            <a:spAutoFit/>
          </a:bodyPr>
          <a:lstStyle/>
          <a:p>
            <a:r>
              <a:rPr lang="en-US" altLang="zh-CN" sz="2400" b="1" dirty="0">
                <a:solidFill>
                  <a:schemeClr val="tx1"/>
                </a:solidFill>
                <a:cs typeface="+mn-ea"/>
                <a:sym typeface="+mn-lt"/>
              </a:rPr>
              <a:t>6</a:t>
            </a:r>
          </a:p>
        </p:txBody>
      </p:sp>
    </p:spTree>
    <p:extLst>
      <p:ext uri="{BB962C8B-B14F-4D97-AF65-F5344CB8AC3E}">
        <p14:creationId xmlns:p14="http://schemas.microsoft.com/office/powerpoint/2010/main" val="1427922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blinds(horizontal)">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pPr eaLnBrk="1" hangingPunct="1"/>
            <a:r>
              <a:rPr lang="en-US" altLang="zh-CN" sz="3600" dirty="0">
                <a:latin typeface="+mn-lt"/>
                <a:ea typeface="+mn-ea"/>
                <a:cs typeface="+mn-ea"/>
                <a:sym typeface="+mn-lt"/>
              </a:rPr>
              <a:t>问题3：智能回溯</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6" name="图片 5">
            <a:extLst>
              <a:ext uri="{FF2B5EF4-FFF2-40B4-BE49-F238E27FC236}">
                <a16:creationId xmlns:a16="http://schemas.microsoft.com/office/drawing/2014/main" id="{AEAD8F17-0876-4BC4-994F-D34F1F7D211F}"/>
              </a:ext>
            </a:extLst>
          </p:cNvPr>
          <p:cNvPicPr>
            <a:picLocks noChangeAspect="1"/>
          </p:cNvPicPr>
          <p:nvPr/>
        </p:nvPicPr>
        <p:blipFill>
          <a:blip r:embed="rId3"/>
          <a:stretch>
            <a:fillRect/>
          </a:stretch>
        </p:blipFill>
        <p:spPr>
          <a:xfrm>
            <a:off x="7701915" y="2634484"/>
            <a:ext cx="3937000" cy="3492093"/>
          </a:xfrm>
          <a:prstGeom prst="rect">
            <a:avLst/>
          </a:prstGeom>
        </p:spPr>
      </p:pic>
      <p:sp>
        <p:nvSpPr>
          <p:cNvPr id="7" name="矩形 6">
            <a:extLst>
              <a:ext uri="{FF2B5EF4-FFF2-40B4-BE49-F238E27FC236}">
                <a16:creationId xmlns:a16="http://schemas.microsoft.com/office/drawing/2014/main" id="{F2D03C52-698C-4739-895F-009AD885B0BD}"/>
              </a:ext>
            </a:extLst>
          </p:cNvPr>
          <p:cNvSpPr/>
          <p:nvPr/>
        </p:nvSpPr>
        <p:spPr>
          <a:xfrm>
            <a:off x="7701844" y="2895600"/>
            <a:ext cx="762000" cy="460375"/>
          </a:xfrm>
          <a:prstGeom prst="rect">
            <a:avLst/>
          </a:prstGeom>
        </p:spPr>
        <p:txBody>
          <a:bodyPr wrap="square">
            <a:spAutoFit/>
          </a:bodyPr>
          <a:lstStyle/>
          <a:p>
            <a:r>
              <a:rPr lang="en-US" altLang="zh-CN" sz="2400" b="1" dirty="0">
                <a:solidFill>
                  <a:schemeClr val="tx1"/>
                </a:solidFill>
                <a:cs typeface="+mn-ea"/>
                <a:sym typeface="+mn-lt"/>
              </a:rPr>
              <a:t>1</a:t>
            </a:r>
          </a:p>
        </p:txBody>
      </p:sp>
      <p:sp>
        <p:nvSpPr>
          <p:cNvPr id="8" name="矩形 7">
            <a:extLst>
              <a:ext uri="{FF2B5EF4-FFF2-40B4-BE49-F238E27FC236}">
                <a16:creationId xmlns:a16="http://schemas.microsoft.com/office/drawing/2014/main" id="{A4B67D96-82CB-41EE-8495-5D43B54DCDA5}"/>
              </a:ext>
            </a:extLst>
          </p:cNvPr>
          <p:cNvSpPr/>
          <p:nvPr/>
        </p:nvSpPr>
        <p:spPr>
          <a:xfrm>
            <a:off x="11453949" y="3666241"/>
            <a:ext cx="484361" cy="460375"/>
          </a:xfrm>
          <a:prstGeom prst="rect">
            <a:avLst/>
          </a:prstGeom>
        </p:spPr>
        <p:txBody>
          <a:bodyPr wrap="square">
            <a:spAutoFit/>
          </a:bodyPr>
          <a:lstStyle/>
          <a:p>
            <a:r>
              <a:rPr lang="en-US" altLang="zh-CN" sz="2400" b="1" dirty="0">
                <a:solidFill>
                  <a:schemeClr val="tx1"/>
                </a:solidFill>
                <a:cs typeface="+mn-ea"/>
                <a:sym typeface="+mn-lt"/>
              </a:rPr>
              <a:t>2</a:t>
            </a:r>
          </a:p>
        </p:txBody>
      </p:sp>
      <p:sp>
        <p:nvSpPr>
          <p:cNvPr id="9" name="矩形 8">
            <a:extLst>
              <a:ext uri="{FF2B5EF4-FFF2-40B4-BE49-F238E27FC236}">
                <a16:creationId xmlns:a16="http://schemas.microsoft.com/office/drawing/2014/main" id="{55D135B9-9ACB-48FB-9F41-93F520F26FEE}"/>
              </a:ext>
            </a:extLst>
          </p:cNvPr>
          <p:cNvSpPr/>
          <p:nvPr/>
        </p:nvSpPr>
        <p:spPr>
          <a:xfrm>
            <a:off x="9220200" y="2286000"/>
            <a:ext cx="603920" cy="461665"/>
          </a:xfrm>
          <a:prstGeom prst="rect">
            <a:avLst/>
          </a:prstGeom>
        </p:spPr>
        <p:txBody>
          <a:bodyPr wrap="square">
            <a:spAutoFit/>
          </a:bodyPr>
          <a:lstStyle/>
          <a:p>
            <a:r>
              <a:rPr lang="en-US" altLang="zh-CN" sz="2400" b="1" dirty="0">
                <a:cs typeface="+mn-ea"/>
                <a:sym typeface="+mn-lt"/>
              </a:rPr>
              <a:t>4</a:t>
            </a:r>
            <a:endParaRPr lang="zh-CN" altLang="en-US" sz="2400" b="1" dirty="0">
              <a:cs typeface="+mn-ea"/>
              <a:sym typeface="+mn-lt"/>
            </a:endParaRPr>
          </a:p>
        </p:txBody>
      </p:sp>
      <p:sp>
        <p:nvSpPr>
          <p:cNvPr id="10" name="矩形 9">
            <a:extLst>
              <a:ext uri="{FF2B5EF4-FFF2-40B4-BE49-F238E27FC236}">
                <a16:creationId xmlns:a16="http://schemas.microsoft.com/office/drawing/2014/main" id="{28718819-0FF3-4052-9134-D53391DC22B2}"/>
              </a:ext>
            </a:extLst>
          </p:cNvPr>
          <p:cNvSpPr/>
          <p:nvPr/>
        </p:nvSpPr>
        <p:spPr>
          <a:xfrm>
            <a:off x="10815997" y="2573134"/>
            <a:ext cx="657708" cy="461665"/>
          </a:xfrm>
          <a:prstGeom prst="rect">
            <a:avLst/>
          </a:prstGeom>
        </p:spPr>
        <p:txBody>
          <a:bodyPr wrap="square">
            <a:spAutoFit/>
          </a:bodyPr>
          <a:lstStyle/>
          <a:p>
            <a:r>
              <a:rPr lang="en-US" altLang="zh-CN" sz="2400" b="1" dirty="0">
                <a:cs typeface="+mn-ea"/>
                <a:sym typeface="+mn-lt"/>
              </a:rPr>
              <a:t>5</a:t>
            </a:r>
            <a:endParaRPr lang="zh-CN" altLang="en-US" sz="2400" b="1" dirty="0">
              <a:cs typeface="+mn-ea"/>
              <a:sym typeface="+mn-lt"/>
            </a:endParaRPr>
          </a:p>
        </p:txBody>
      </p:sp>
      <p:sp>
        <p:nvSpPr>
          <p:cNvPr id="11" name="矩形 10">
            <a:extLst>
              <a:ext uri="{FF2B5EF4-FFF2-40B4-BE49-F238E27FC236}">
                <a16:creationId xmlns:a16="http://schemas.microsoft.com/office/drawing/2014/main" id="{E0C47771-3C79-444D-B123-5707B1F26905}"/>
              </a:ext>
            </a:extLst>
          </p:cNvPr>
          <p:cNvSpPr/>
          <p:nvPr/>
        </p:nvSpPr>
        <p:spPr>
          <a:xfrm>
            <a:off x="11107347" y="5596949"/>
            <a:ext cx="484361" cy="461665"/>
          </a:xfrm>
          <a:prstGeom prst="rect">
            <a:avLst/>
          </a:prstGeom>
        </p:spPr>
        <p:txBody>
          <a:bodyPr wrap="square">
            <a:spAutoFit/>
          </a:bodyPr>
          <a:lstStyle/>
          <a:p>
            <a:r>
              <a:rPr lang="en-US" altLang="zh-CN" sz="2400" b="1" dirty="0">
                <a:cs typeface="+mn-ea"/>
                <a:sym typeface="+mn-lt"/>
              </a:rPr>
              <a:t>3</a:t>
            </a:r>
            <a:endParaRPr lang="zh-CN" altLang="en-US" sz="2400" b="1" dirty="0">
              <a:cs typeface="+mn-ea"/>
              <a:sym typeface="+mn-lt"/>
            </a:endParaRPr>
          </a:p>
        </p:txBody>
      </p:sp>
      <mc:AlternateContent xmlns:mc="http://schemas.openxmlformats.org/markup-compatibility/2006" xmlns:a14="http://schemas.microsoft.com/office/drawing/2010/main">
        <mc:Choice Requires="a14">
          <p:sp>
            <p:nvSpPr>
              <p:cNvPr id="13" name="内容占位符 2">
                <a:extLst>
                  <a:ext uri="{FF2B5EF4-FFF2-40B4-BE49-F238E27FC236}">
                    <a16:creationId xmlns:a16="http://schemas.microsoft.com/office/drawing/2014/main" id="{3BFC49D8-30E9-47F9-9052-B9F8D659D5BB}"/>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3"/>
                    </a:solidFill>
                    <a:latin typeface="+mn-lt"/>
                    <a:cs typeface="+mn-ea"/>
                    <a:sym typeface="+mn-lt"/>
                  </a:rPr>
                  <a:t> </a:t>
                </a:r>
                <a14:m>
                  <m:oMath xmlns:m="http://schemas.openxmlformats.org/officeDocument/2006/math">
                    <m:r>
                      <a:rPr lang="en-US" altLang="zh-CN" i="1" dirty="0">
                        <a:solidFill>
                          <a:schemeClr val="accent3"/>
                        </a:solidFill>
                        <a:latin typeface="Cambria Math" panose="02040503050406030204" pitchFamily="18" charset="0"/>
                        <a:cs typeface="+mn-ea"/>
                        <a:sym typeface="+mn-lt"/>
                      </a:rPr>
                      <m:t>𝑐𝑜𝑛𝑓</m:t>
                    </m:r>
                    <m:d>
                      <m:dPr>
                        <m:ctrlPr>
                          <a:rPr lang="en-US" altLang="zh-CN" i="1" dirty="0">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r>
                      <a:rPr lang="en-US" altLang="zh-CN" i="1" dirty="0">
                        <a:solidFill>
                          <a:schemeClr val="accent3"/>
                        </a:solidFill>
                        <a:latin typeface="Cambria Math" panose="02040503050406030204" pitchFamily="18" charset="0"/>
                        <a:cs typeface="+mn-ea"/>
                        <a:sym typeface="+mn-lt"/>
                      </a:rPr>
                      <m:t>← </m:t>
                    </m:r>
                    <m:r>
                      <a:rPr lang="en-US" altLang="zh-CN" i="1" dirty="0" err="1">
                        <a:solidFill>
                          <a:schemeClr val="accent3"/>
                        </a:solidFill>
                        <a:latin typeface="Cambria Math" panose="02040503050406030204" pitchFamily="18" charset="0"/>
                        <a:cs typeface="+mn-ea"/>
                        <a:sym typeface="+mn-lt"/>
                      </a:rPr>
                      <m:t>𝑐𝑜𝑛𝑓</m:t>
                    </m:r>
                    <m:d>
                      <m:dPr>
                        <m:ctrlPr>
                          <a:rPr lang="en-US" altLang="zh-CN" i="1" dirty="0" err="1">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r>
                      <a:rPr lang="en-US" altLang="zh-CN" i="1" dirty="0">
                        <a:solidFill>
                          <a:schemeClr val="accent3"/>
                        </a:solidFill>
                        <a:latin typeface="Cambria Math" panose="02040503050406030204" pitchFamily="18" charset="0"/>
                        <a:cs typeface="+mn-ea"/>
                        <a:sym typeface="+mn-lt"/>
                      </a:rPr>
                      <m:t>∪ </m:t>
                    </m:r>
                    <m:r>
                      <a:rPr lang="en-US" altLang="zh-CN" i="1" dirty="0" err="1">
                        <a:solidFill>
                          <a:schemeClr val="accent3"/>
                        </a:solidFill>
                        <a:latin typeface="Cambria Math" panose="02040503050406030204" pitchFamily="18" charset="0"/>
                        <a:cs typeface="+mn-ea"/>
                        <a:sym typeface="+mn-lt"/>
                      </a:rPr>
                      <m:t>𝑐𝑜𝑛𝑓</m:t>
                    </m:r>
                    <m:d>
                      <m:dPr>
                        <m:ctrlPr>
                          <a:rPr lang="en-US" altLang="zh-CN" i="1" dirty="0" err="1">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𝑗</m:t>
                            </m:r>
                          </m:sub>
                        </m:sSub>
                      </m:e>
                    </m:d>
                    <m:r>
                      <a:rPr lang="en-US" altLang="zh-CN" i="1" dirty="0">
                        <a:solidFill>
                          <a:schemeClr val="accent3"/>
                        </a:solidFill>
                        <a:latin typeface="Cambria Math" panose="02040503050406030204" pitchFamily="18" charset="0"/>
                        <a:cs typeface="+mn-ea"/>
                        <a:sym typeface="+mn-lt"/>
                      </a:rPr>
                      <m:t>−</m:t>
                    </m:r>
                    <m:d>
                      <m:dPr>
                        <m:begChr m:val="{"/>
                        <m:endChr m:val="}"/>
                        <m:ctrlPr>
                          <a:rPr lang="en-US" altLang="zh-CN" i="1" dirty="0">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oMath>
                </a14:m>
                <a:endParaRPr lang="en-US" altLang="zh-CN" dirty="0">
                  <a:latin typeface="+mn-lt"/>
                  <a:cs typeface="+mn-ea"/>
                  <a:sym typeface="+mn-lt"/>
                </a:endParaRPr>
              </a:p>
              <a:p>
                <a:r>
                  <a:rPr lang="en-US" altLang="zh-CN" dirty="0">
                    <a:solidFill>
                      <a:schemeClr val="accent3"/>
                    </a:solidFill>
                    <a:latin typeface="+mn-lt"/>
                    <a:cs typeface="+mn-ea"/>
                    <a:sym typeface="+mn-lt"/>
                  </a:rPr>
                  <a:t>Step2</a:t>
                </a:r>
                <a:r>
                  <a:rPr lang="zh-CN" altLang="en-US" dirty="0">
                    <a:solidFill>
                      <a:schemeClr val="accent3"/>
                    </a:solidFill>
                    <a:latin typeface="+mn-lt"/>
                    <a:cs typeface="+mn-ea"/>
                    <a:sym typeface="+mn-lt"/>
                  </a:rPr>
                  <a:t>：</a:t>
                </a:r>
                <a:endParaRPr lang="en-US" altLang="zh-CN" dirty="0">
                  <a:solidFill>
                    <a:schemeClr val="accent3"/>
                  </a:solidFill>
                  <a:latin typeface="+mn-lt"/>
                  <a:cs typeface="+mn-ea"/>
                  <a:sym typeface="+mn-lt"/>
                </a:endParaRPr>
              </a:p>
              <a:p>
                <a:pPr lvl="1"/>
                <a14:m>
                  <m:oMath xmlns:m="http://schemas.openxmlformats.org/officeDocument/2006/math">
                    <m:r>
                      <a:rPr lang="en-US" altLang="zh-CN" i="1" dirty="0">
                        <a:latin typeface="Cambria Math" panose="02040503050406030204" pitchFamily="18" charset="0"/>
                        <a:cs typeface="+mn-ea"/>
                        <a:sym typeface="+mn-lt"/>
                      </a:rPr>
                      <m:t>𝑐𝑜𝑛𝑓</m:t>
                    </m:r>
                  </m:oMath>
                </a14:m>
                <a:r>
                  <a:rPr lang="en-US" altLang="zh-CN" dirty="0">
                    <a:latin typeface="+mn-lt"/>
                    <a:cs typeface="+mn-ea"/>
                    <a:sym typeface="+mn-lt"/>
                  </a:rPr>
                  <a:t>(SA)={WA, NT, Q,NSW}</a:t>
                </a:r>
                <a:endParaRPr lang="zh-CN" altLang="en-US" dirty="0">
                  <a:latin typeface="+mn-lt"/>
                  <a:cs typeface="+mn-ea"/>
                  <a:sym typeface="+mn-lt"/>
                </a:endParaRPr>
              </a:p>
              <a:p>
                <a:pPr lvl="1"/>
                <a:r>
                  <a:rPr lang="en-US" altLang="zh-CN" dirty="0">
                    <a:latin typeface="+mn-lt"/>
                    <a:cs typeface="+mn-ea"/>
                    <a:sym typeface="+mn-lt"/>
                  </a:rPr>
                  <a:t>Backtrack to Q</a:t>
                </a:r>
              </a:p>
              <a:p>
                <a:pPr lvl="1"/>
                <a14:m>
                  <m:oMath xmlns:m="http://schemas.openxmlformats.org/officeDocument/2006/math">
                    <m:r>
                      <a:rPr lang="en-US" altLang="zh-CN" i="1" dirty="0">
                        <a:latin typeface="Cambria Math" panose="02040503050406030204" pitchFamily="18" charset="0"/>
                        <a:cs typeface="+mn-ea"/>
                        <a:sym typeface="+mn-lt"/>
                      </a:rPr>
                      <m:t>𝑐𝑜𝑛𝑓</m:t>
                    </m:r>
                  </m:oMath>
                </a14:m>
                <a:r>
                  <a:rPr lang="en-US" altLang="zh-CN" dirty="0">
                    <a:latin typeface="+mn-lt"/>
                    <a:cs typeface="+mn-ea"/>
                    <a:sym typeface="+mn-lt"/>
                  </a:rPr>
                  <a:t>(Q)</a:t>
                </a:r>
              </a:p>
              <a:p>
                <a:pPr marL="457200" lvl="1" indent="0">
                  <a:buFont typeface="Arial" panose="020B0604020202020204" pitchFamily="34" charset="0"/>
                  <a:buNone/>
                </a:pPr>
                <a:r>
                  <a:rPr lang="en-US" altLang="zh-CN" dirty="0">
                    <a:latin typeface="+mn-lt"/>
                    <a:cs typeface="+mn-ea"/>
                    <a:sym typeface="+mn-lt"/>
                  </a:rPr>
                  <a:t>   ={NT, NSW} </a:t>
                </a:r>
                <a14:m>
                  <m:oMath xmlns:m="http://schemas.openxmlformats.org/officeDocument/2006/math">
                    <m:r>
                      <a:rPr lang="en-US" altLang="zh-CN" i="1" dirty="0">
                        <a:latin typeface="Cambria Math" panose="02040503050406030204" pitchFamily="18" charset="0"/>
                        <a:cs typeface="+mn-ea"/>
                        <a:sym typeface="+mn-lt"/>
                      </a:rPr>
                      <m:t>∪</m:t>
                    </m:r>
                  </m:oMath>
                </a14:m>
                <a:r>
                  <a:rPr lang="en-US" altLang="zh-CN" dirty="0">
                    <a:latin typeface="+mn-lt"/>
                    <a:cs typeface="+mn-ea"/>
                    <a:sym typeface="+mn-lt"/>
                  </a:rPr>
                  <a:t> {WA, NT, Q, NSW} –{Q}</a:t>
                </a:r>
              </a:p>
              <a:p>
                <a:pPr marL="457200" lvl="1" indent="0">
                  <a:buFont typeface="Arial" panose="020B0604020202020204" pitchFamily="34" charset="0"/>
                  <a:buNone/>
                </a:pPr>
                <a:r>
                  <a:rPr lang="en-US" altLang="zh-CN" dirty="0">
                    <a:latin typeface="+mn-lt"/>
                    <a:cs typeface="+mn-ea"/>
                    <a:sym typeface="+mn-lt"/>
                  </a:rPr>
                  <a:t>   ={WA, NT, NSW}</a:t>
                </a:r>
              </a:p>
              <a:p>
                <a:pPr lvl="1"/>
                <a:endParaRPr lang="zh-CN" altLang="en-US" dirty="0">
                  <a:latin typeface="+mn-lt"/>
                  <a:cs typeface="+mn-ea"/>
                  <a:sym typeface="+mn-lt"/>
                </a:endParaRPr>
              </a:p>
            </p:txBody>
          </p:sp>
        </mc:Choice>
        <mc:Fallback xmlns="">
          <p:sp>
            <p:nvSpPr>
              <p:cNvPr id="13" name="内容占位符 2">
                <a:extLst>
                  <a:ext uri="{FF2B5EF4-FFF2-40B4-BE49-F238E27FC236}">
                    <a16:creationId xmlns:a16="http://schemas.microsoft.com/office/drawing/2014/main" id="{3BFC49D8-30E9-47F9-9052-B9F8D659D5BB}"/>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4"/>
                <a:stretch>
                  <a:fillRect l="-965" t="-10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5943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blinds(horizontal)">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3" end="3"/>
                                            </p:txEl>
                                          </p:spTgt>
                                        </p:tgtEl>
                                        <p:attrNameLst>
                                          <p:attrName>style.visibility</p:attrName>
                                        </p:attrNameLst>
                                      </p:cBhvr>
                                      <p:to>
                                        <p:strVal val="visible"/>
                                      </p:to>
                                    </p:set>
                                    <p:animEffect transition="in" filter="blinds(horizontal)">
                                      <p:cBhvr>
                                        <p:cTn id="12" dur="500"/>
                                        <p:tgtEl>
                                          <p:spTgt spid="1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xEl>
                                              <p:pRg st="4" end="4"/>
                                            </p:txEl>
                                          </p:spTgt>
                                        </p:tgtEl>
                                        <p:attrNameLst>
                                          <p:attrName>style.visibility</p:attrName>
                                        </p:attrNameLst>
                                      </p:cBhvr>
                                      <p:to>
                                        <p:strVal val="visible"/>
                                      </p:to>
                                    </p:set>
                                    <p:animEffect transition="in" filter="blinds(horizontal)">
                                      <p:cBhvr>
                                        <p:cTn id="17" dur="500"/>
                                        <p:tgtEl>
                                          <p:spTgt spid="1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xEl>
                                              <p:pRg st="5" end="5"/>
                                            </p:txEl>
                                          </p:spTgt>
                                        </p:tgtEl>
                                        <p:attrNameLst>
                                          <p:attrName>style.visibility</p:attrName>
                                        </p:attrNameLst>
                                      </p:cBhvr>
                                      <p:to>
                                        <p:strVal val="visible"/>
                                      </p:to>
                                    </p:set>
                                    <p:animEffect transition="in" filter="blinds(horizontal)">
                                      <p:cBhvr>
                                        <p:cTn id="22" dur="500"/>
                                        <p:tgtEl>
                                          <p:spTgt spid="1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
                                            <p:txEl>
                                              <p:pRg st="6" end="6"/>
                                            </p:txEl>
                                          </p:spTgt>
                                        </p:tgtEl>
                                        <p:attrNameLst>
                                          <p:attrName>style.visibility</p:attrName>
                                        </p:attrNameLst>
                                      </p:cBhvr>
                                      <p:to>
                                        <p:strVal val="visible"/>
                                      </p:to>
                                    </p:set>
                                    <p:animEffect transition="in" filter="blinds(horizontal)">
                                      <p:cBhvr>
                                        <p:cTn id="27" dur="5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pPr eaLnBrk="1" hangingPunct="1"/>
            <a:r>
              <a:rPr lang="en-US" altLang="zh-CN" sz="3600" dirty="0">
                <a:latin typeface="+mn-lt"/>
                <a:ea typeface="+mn-ea"/>
                <a:cs typeface="+mn-ea"/>
                <a:sym typeface="+mn-lt"/>
              </a:rPr>
              <a:t>问题3：智能回溯</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6" name="图片 5">
            <a:extLst>
              <a:ext uri="{FF2B5EF4-FFF2-40B4-BE49-F238E27FC236}">
                <a16:creationId xmlns:a16="http://schemas.microsoft.com/office/drawing/2014/main" id="{AEAD8F17-0876-4BC4-994F-D34F1F7D211F}"/>
              </a:ext>
            </a:extLst>
          </p:cNvPr>
          <p:cNvPicPr>
            <a:picLocks noChangeAspect="1"/>
          </p:cNvPicPr>
          <p:nvPr/>
        </p:nvPicPr>
        <p:blipFill>
          <a:blip r:embed="rId3"/>
          <a:stretch>
            <a:fillRect/>
          </a:stretch>
        </p:blipFill>
        <p:spPr>
          <a:xfrm>
            <a:off x="7701915" y="2634484"/>
            <a:ext cx="3937000" cy="3492093"/>
          </a:xfrm>
          <a:prstGeom prst="rect">
            <a:avLst/>
          </a:prstGeom>
        </p:spPr>
      </p:pic>
      <p:sp>
        <p:nvSpPr>
          <p:cNvPr id="7" name="矩形 6">
            <a:extLst>
              <a:ext uri="{FF2B5EF4-FFF2-40B4-BE49-F238E27FC236}">
                <a16:creationId xmlns:a16="http://schemas.microsoft.com/office/drawing/2014/main" id="{F2D03C52-698C-4739-895F-009AD885B0BD}"/>
              </a:ext>
            </a:extLst>
          </p:cNvPr>
          <p:cNvSpPr/>
          <p:nvPr/>
        </p:nvSpPr>
        <p:spPr>
          <a:xfrm>
            <a:off x="7701844" y="2895600"/>
            <a:ext cx="762000" cy="460375"/>
          </a:xfrm>
          <a:prstGeom prst="rect">
            <a:avLst/>
          </a:prstGeom>
        </p:spPr>
        <p:txBody>
          <a:bodyPr wrap="square">
            <a:spAutoFit/>
          </a:bodyPr>
          <a:lstStyle/>
          <a:p>
            <a:r>
              <a:rPr lang="en-US" altLang="zh-CN" sz="2400" b="1" dirty="0">
                <a:solidFill>
                  <a:schemeClr val="tx1"/>
                </a:solidFill>
                <a:cs typeface="+mn-ea"/>
                <a:sym typeface="+mn-lt"/>
              </a:rPr>
              <a:t>1</a:t>
            </a:r>
          </a:p>
        </p:txBody>
      </p:sp>
      <p:sp>
        <p:nvSpPr>
          <p:cNvPr id="8" name="矩形 7">
            <a:extLst>
              <a:ext uri="{FF2B5EF4-FFF2-40B4-BE49-F238E27FC236}">
                <a16:creationId xmlns:a16="http://schemas.microsoft.com/office/drawing/2014/main" id="{A4B67D96-82CB-41EE-8495-5D43B54DCDA5}"/>
              </a:ext>
            </a:extLst>
          </p:cNvPr>
          <p:cNvSpPr/>
          <p:nvPr/>
        </p:nvSpPr>
        <p:spPr>
          <a:xfrm>
            <a:off x="11453949" y="3666241"/>
            <a:ext cx="484361" cy="460375"/>
          </a:xfrm>
          <a:prstGeom prst="rect">
            <a:avLst/>
          </a:prstGeom>
        </p:spPr>
        <p:txBody>
          <a:bodyPr wrap="square">
            <a:spAutoFit/>
          </a:bodyPr>
          <a:lstStyle/>
          <a:p>
            <a:r>
              <a:rPr lang="en-US" altLang="zh-CN" sz="2400" b="1" dirty="0">
                <a:solidFill>
                  <a:schemeClr val="tx1"/>
                </a:solidFill>
                <a:cs typeface="+mn-ea"/>
                <a:sym typeface="+mn-lt"/>
              </a:rPr>
              <a:t>2</a:t>
            </a:r>
          </a:p>
        </p:txBody>
      </p:sp>
      <p:sp>
        <p:nvSpPr>
          <p:cNvPr id="9" name="矩形 8">
            <a:extLst>
              <a:ext uri="{FF2B5EF4-FFF2-40B4-BE49-F238E27FC236}">
                <a16:creationId xmlns:a16="http://schemas.microsoft.com/office/drawing/2014/main" id="{55D135B9-9ACB-48FB-9F41-93F520F26FEE}"/>
              </a:ext>
            </a:extLst>
          </p:cNvPr>
          <p:cNvSpPr/>
          <p:nvPr/>
        </p:nvSpPr>
        <p:spPr>
          <a:xfrm>
            <a:off x="9220200" y="2286000"/>
            <a:ext cx="603920" cy="461665"/>
          </a:xfrm>
          <a:prstGeom prst="rect">
            <a:avLst/>
          </a:prstGeom>
        </p:spPr>
        <p:txBody>
          <a:bodyPr wrap="square">
            <a:spAutoFit/>
          </a:bodyPr>
          <a:lstStyle/>
          <a:p>
            <a:r>
              <a:rPr lang="en-US" altLang="zh-CN" sz="2400" b="1" dirty="0">
                <a:cs typeface="+mn-ea"/>
                <a:sym typeface="+mn-lt"/>
              </a:rPr>
              <a:t>4</a:t>
            </a:r>
            <a:endParaRPr lang="zh-CN" altLang="en-US" sz="2400" b="1" dirty="0">
              <a:cs typeface="+mn-ea"/>
              <a:sym typeface="+mn-lt"/>
            </a:endParaRPr>
          </a:p>
        </p:txBody>
      </p:sp>
      <p:sp>
        <p:nvSpPr>
          <p:cNvPr id="11" name="矩形 10">
            <a:extLst>
              <a:ext uri="{FF2B5EF4-FFF2-40B4-BE49-F238E27FC236}">
                <a16:creationId xmlns:a16="http://schemas.microsoft.com/office/drawing/2014/main" id="{E0C47771-3C79-444D-B123-5707B1F26905}"/>
              </a:ext>
            </a:extLst>
          </p:cNvPr>
          <p:cNvSpPr/>
          <p:nvPr/>
        </p:nvSpPr>
        <p:spPr>
          <a:xfrm>
            <a:off x="11107347" y="5596949"/>
            <a:ext cx="484361" cy="461665"/>
          </a:xfrm>
          <a:prstGeom prst="rect">
            <a:avLst/>
          </a:prstGeom>
        </p:spPr>
        <p:txBody>
          <a:bodyPr wrap="square">
            <a:spAutoFit/>
          </a:bodyPr>
          <a:lstStyle/>
          <a:p>
            <a:r>
              <a:rPr lang="en-US" altLang="zh-CN" sz="2400" b="1" dirty="0">
                <a:cs typeface="+mn-ea"/>
                <a:sym typeface="+mn-lt"/>
              </a:rPr>
              <a:t>3</a:t>
            </a:r>
            <a:endParaRPr lang="zh-CN" altLang="en-US" sz="2400" b="1" dirty="0">
              <a:cs typeface="+mn-ea"/>
              <a:sym typeface="+mn-lt"/>
            </a:endParaRPr>
          </a:p>
        </p:txBody>
      </p:sp>
      <mc:AlternateContent xmlns:mc="http://schemas.openxmlformats.org/markup-compatibility/2006" xmlns:a14="http://schemas.microsoft.com/office/drawing/2010/main">
        <mc:Choice Requires="a14">
          <p:sp>
            <p:nvSpPr>
              <p:cNvPr id="13" name="内容占位符 2">
                <a:extLst>
                  <a:ext uri="{FF2B5EF4-FFF2-40B4-BE49-F238E27FC236}">
                    <a16:creationId xmlns:a16="http://schemas.microsoft.com/office/drawing/2014/main" id="{3BFC49D8-30E9-47F9-9052-B9F8D659D5BB}"/>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3"/>
                    </a:solidFill>
                    <a:latin typeface="+mn-lt"/>
                    <a:cs typeface="+mn-ea"/>
                    <a:sym typeface="+mn-lt"/>
                  </a:rPr>
                  <a:t> </a:t>
                </a:r>
                <a14:m>
                  <m:oMath xmlns:m="http://schemas.openxmlformats.org/officeDocument/2006/math">
                    <m:r>
                      <a:rPr lang="en-US" altLang="zh-CN" i="1" dirty="0">
                        <a:solidFill>
                          <a:schemeClr val="accent3"/>
                        </a:solidFill>
                        <a:latin typeface="Cambria Math" panose="02040503050406030204" pitchFamily="18" charset="0"/>
                        <a:cs typeface="+mn-ea"/>
                        <a:sym typeface="+mn-lt"/>
                      </a:rPr>
                      <m:t>𝑐𝑜𝑛𝑓</m:t>
                    </m:r>
                    <m:d>
                      <m:dPr>
                        <m:ctrlPr>
                          <a:rPr lang="en-US" altLang="zh-CN" i="1" dirty="0">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r>
                      <a:rPr lang="en-US" altLang="zh-CN" i="1" dirty="0">
                        <a:solidFill>
                          <a:schemeClr val="accent3"/>
                        </a:solidFill>
                        <a:latin typeface="Cambria Math" panose="02040503050406030204" pitchFamily="18" charset="0"/>
                        <a:cs typeface="+mn-ea"/>
                        <a:sym typeface="+mn-lt"/>
                      </a:rPr>
                      <m:t>← </m:t>
                    </m:r>
                    <m:r>
                      <a:rPr lang="en-US" altLang="zh-CN" i="1" dirty="0" err="1">
                        <a:solidFill>
                          <a:schemeClr val="accent3"/>
                        </a:solidFill>
                        <a:latin typeface="Cambria Math" panose="02040503050406030204" pitchFamily="18" charset="0"/>
                        <a:cs typeface="+mn-ea"/>
                        <a:sym typeface="+mn-lt"/>
                      </a:rPr>
                      <m:t>𝑐𝑜𝑛𝑓</m:t>
                    </m:r>
                    <m:d>
                      <m:dPr>
                        <m:ctrlPr>
                          <a:rPr lang="en-US" altLang="zh-CN" i="1" dirty="0" err="1">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r>
                      <a:rPr lang="en-US" altLang="zh-CN" i="1" dirty="0">
                        <a:solidFill>
                          <a:schemeClr val="accent3"/>
                        </a:solidFill>
                        <a:latin typeface="Cambria Math" panose="02040503050406030204" pitchFamily="18" charset="0"/>
                        <a:cs typeface="+mn-ea"/>
                        <a:sym typeface="+mn-lt"/>
                      </a:rPr>
                      <m:t>∪ </m:t>
                    </m:r>
                    <m:r>
                      <a:rPr lang="en-US" altLang="zh-CN" i="1" dirty="0" err="1">
                        <a:solidFill>
                          <a:schemeClr val="accent3"/>
                        </a:solidFill>
                        <a:latin typeface="Cambria Math" panose="02040503050406030204" pitchFamily="18" charset="0"/>
                        <a:cs typeface="+mn-ea"/>
                        <a:sym typeface="+mn-lt"/>
                      </a:rPr>
                      <m:t>𝑐𝑜𝑛𝑓</m:t>
                    </m:r>
                    <m:d>
                      <m:dPr>
                        <m:ctrlPr>
                          <a:rPr lang="en-US" altLang="zh-CN" i="1" dirty="0" err="1">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𝑗</m:t>
                            </m:r>
                          </m:sub>
                        </m:sSub>
                      </m:e>
                    </m:d>
                    <m:r>
                      <a:rPr lang="en-US" altLang="zh-CN" i="1" dirty="0">
                        <a:solidFill>
                          <a:schemeClr val="accent3"/>
                        </a:solidFill>
                        <a:latin typeface="Cambria Math" panose="02040503050406030204" pitchFamily="18" charset="0"/>
                        <a:cs typeface="+mn-ea"/>
                        <a:sym typeface="+mn-lt"/>
                      </a:rPr>
                      <m:t>−</m:t>
                    </m:r>
                    <m:d>
                      <m:dPr>
                        <m:begChr m:val="{"/>
                        <m:endChr m:val="}"/>
                        <m:ctrlPr>
                          <a:rPr lang="en-US" altLang="zh-CN" i="1" dirty="0">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oMath>
                </a14:m>
                <a:endParaRPr lang="en-US" altLang="zh-CN" dirty="0">
                  <a:latin typeface="+mn-lt"/>
                  <a:cs typeface="+mn-ea"/>
                  <a:sym typeface="+mn-lt"/>
                </a:endParaRPr>
              </a:p>
              <a:p>
                <a:r>
                  <a:rPr lang="en-US" altLang="zh-CN" dirty="0">
                    <a:solidFill>
                      <a:schemeClr val="accent3"/>
                    </a:solidFill>
                    <a:latin typeface="+mn-lt"/>
                    <a:cs typeface="+mn-ea"/>
                    <a:sym typeface="+mn-lt"/>
                  </a:rPr>
                  <a:t>Step3</a:t>
                </a:r>
                <a:r>
                  <a:rPr lang="zh-CN" altLang="en-US" dirty="0">
                    <a:solidFill>
                      <a:schemeClr val="accent3"/>
                    </a:solidFill>
                    <a:latin typeface="+mn-lt"/>
                    <a:cs typeface="+mn-ea"/>
                    <a:sym typeface="+mn-lt"/>
                  </a:rPr>
                  <a:t>：</a:t>
                </a:r>
                <a:endParaRPr lang="en-US" altLang="zh-CN" dirty="0">
                  <a:solidFill>
                    <a:schemeClr val="accent3"/>
                  </a:solidFill>
                  <a:latin typeface="+mn-lt"/>
                  <a:cs typeface="+mn-ea"/>
                  <a:sym typeface="+mn-lt"/>
                </a:endParaRPr>
              </a:p>
              <a:p>
                <a:pPr lvl="1"/>
                <a14:m>
                  <m:oMath xmlns:m="http://schemas.openxmlformats.org/officeDocument/2006/math">
                    <m:r>
                      <a:rPr lang="en-US" altLang="zh-CN" i="1" dirty="0">
                        <a:latin typeface="Cambria Math" panose="02040503050406030204" pitchFamily="18" charset="0"/>
                        <a:cs typeface="+mn-ea"/>
                        <a:sym typeface="+mn-lt"/>
                      </a:rPr>
                      <m:t>𝑐𝑜𝑛𝑓</m:t>
                    </m:r>
                  </m:oMath>
                </a14:m>
                <a:r>
                  <a:rPr lang="en-US" altLang="zh-CN" dirty="0">
                    <a:latin typeface="+mn-lt"/>
                    <a:cs typeface="+mn-ea"/>
                    <a:sym typeface="+mn-lt"/>
                  </a:rPr>
                  <a:t>(Q)={WA, NT, NSW}</a:t>
                </a:r>
              </a:p>
              <a:p>
                <a:pPr lvl="1"/>
                <a:r>
                  <a:rPr lang="en-US" altLang="zh-CN" dirty="0">
                    <a:latin typeface="+mn-lt"/>
                    <a:cs typeface="+mn-ea"/>
                    <a:sym typeface="+mn-lt"/>
                  </a:rPr>
                  <a:t>Backtrack to NT</a:t>
                </a:r>
              </a:p>
              <a:p>
                <a:pPr lvl="1"/>
                <a14:m>
                  <m:oMath xmlns:m="http://schemas.openxmlformats.org/officeDocument/2006/math">
                    <m:r>
                      <a:rPr lang="en-US" altLang="zh-CN" i="1" dirty="0">
                        <a:latin typeface="Cambria Math" panose="02040503050406030204" pitchFamily="18" charset="0"/>
                        <a:cs typeface="+mn-ea"/>
                        <a:sym typeface="+mn-lt"/>
                      </a:rPr>
                      <m:t>𝑐𝑜𝑛𝑓</m:t>
                    </m:r>
                  </m:oMath>
                </a14:m>
                <a:r>
                  <a:rPr lang="en-US" altLang="zh-CN" dirty="0">
                    <a:latin typeface="+mn-lt"/>
                    <a:cs typeface="+mn-ea"/>
                    <a:sym typeface="+mn-lt"/>
                  </a:rPr>
                  <a:t>(NT)</a:t>
                </a:r>
              </a:p>
              <a:p>
                <a:pPr marL="457200" lvl="1" indent="0">
                  <a:buNone/>
                </a:pPr>
                <a:r>
                  <a:rPr lang="en-US" altLang="zh-CN" dirty="0">
                    <a:latin typeface="+mn-lt"/>
                    <a:cs typeface="+mn-ea"/>
                    <a:sym typeface="+mn-lt"/>
                  </a:rPr>
                  <a:t>   ={WA} </a:t>
                </a:r>
                <a14:m>
                  <m:oMath xmlns:m="http://schemas.openxmlformats.org/officeDocument/2006/math">
                    <m:r>
                      <a:rPr lang="en-US" altLang="zh-CN" i="1" dirty="0">
                        <a:latin typeface="Cambria Math" panose="02040503050406030204" pitchFamily="18" charset="0"/>
                        <a:cs typeface="+mn-ea"/>
                        <a:sym typeface="+mn-lt"/>
                      </a:rPr>
                      <m:t>∪</m:t>
                    </m:r>
                  </m:oMath>
                </a14:m>
                <a:r>
                  <a:rPr lang="en-US" altLang="zh-CN" dirty="0">
                    <a:latin typeface="+mn-lt"/>
                    <a:cs typeface="+mn-ea"/>
                    <a:sym typeface="+mn-lt"/>
                  </a:rPr>
                  <a:t> {WA, NT, NSW} –{NT}</a:t>
                </a:r>
              </a:p>
              <a:p>
                <a:pPr marL="457200" lvl="1" indent="0">
                  <a:buNone/>
                </a:pPr>
                <a:r>
                  <a:rPr lang="en-US" altLang="zh-CN" dirty="0">
                    <a:latin typeface="+mn-lt"/>
                    <a:cs typeface="+mn-ea"/>
                    <a:sym typeface="+mn-lt"/>
                  </a:rPr>
                  <a:t>   ={WA, NSW}</a:t>
                </a:r>
              </a:p>
              <a:p>
                <a:pPr lvl="1"/>
                <a:endParaRPr lang="zh-CN" altLang="en-US" dirty="0">
                  <a:latin typeface="+mn-lt"/>
                  <a:cs typeface="+mn-ea"/>
                  <a:sym typeface="+mn-lt"/>
                </a:endParaRPr>
              </a:p>
            </p:txBody>
          </p:sp>
        </mc:Choice>
        <mc:Fallback xmlns="">
          <p:sp>
            <p:nvSpPr>
              <p:cNvPr id="13" name="内容占位符 2">
                <a:extLst>
                  <a:ext uri="{FF2B5EF4-FFF2-40B4-BE49-F238E27FC236}">
                    <a16:creationId xmlns:a16="http://schemas.microsoft.com/office/drawing/2014/main" id="{3BFC49D8-30E9-47F9-9052-B9F8D659D5BB}"/>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4"/>
                <a:stretch>
                  <a:fillRect l="-965" t="-10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18885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blinds(horizontal)">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3" end="3"/>
                                            </p:txEl>
                                          </p:spTgt>
                                        </p:tgtEl>
                                        <p:attrNameLst>
                                          <p:attrName>style.visibility</p:attrName>
                                        </p:attrNameLst>
                                      </p:cBhvr>
                                      <p:to>
                                        <p:strVal val="visible"/>
                                      </p:to>
                                    </p:set>
                                    <p:animEffect transition="in" filter="blinds(horizontal)">
                                      <p:cBhvr>
                                        <p:cTn id="12" dur="500"/>
                                        <p:tgtEl>
                                          <p:spTgt spid="1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xEl>
                                              <p:pRg st="4" end="4"/>
                                            </p:txEl>
                                          </p:spTgt>
                                        </p:tgtEl>
                                        <p:attrNameLst>
                                          <p:attrName>style.visibility</p:attrName>
                                        </p:attrNameLst>
                                      </p:cBhvr>
                                      <p:to>
                                        <p:strVal val="visible"/>
                                      </p:to>
                                    </p:set>
                                    <p:animEffect transition="in" filter="blinds(horizontal)">
                                      <p:cBhvr>
                                        <p:cTn id="17" dur="500"/>
                                        <p:tgtEl>
                                          <p:spTgt spid="1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3">
                                            <p:txEl>
                                              <p:pRg st="5" end="5"/>
                                            </p:txEl>
                                          </p:spTgt>
                                        </p:tgtEl>
                                        <p:attrNameLst>
                                          <p:attrName>style.visibility</p:attrName>
                                        </p:attrNameLst>
                                      </p:cBhvr>
                                      <p:to>
                                        <p:strVal val="visible"/>
                                      </p:to>
                                    </p:set>
                                    <p:animEffect transition="in" filter="blinds(horizontal)">
                                      <p:cBhvr>
                                        <p:cTn id="22" dur="500"/>
                                        <p:tgtEl>
                                          <p:spTgt spid="1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3">
                                            <p:txEl>
                                              <p:pRg st="6" end="6"/>
                                            </p:txEl>
                                          </p:spTgt>
                                        </p:tgtEl>
                                        <p:attrNameLst>
                                          <p:attrName>style.visibility</p:attrName>
                                        </p:attrNameLst>
                                      </p:cBhvr>
                                      <p:to>
                                        <p:strVal val="visible"/>
                                      </p:to>
                                    </p:set>
                                    <p:animEffect transition="in" filter="blinds(horizontal)">
                                      <p:cBhvr>
                                        <p:cTn id="27" dur="500"/>
                                        <p:tgtEl>
                                          <p:spTgt spid="1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pPr eaLnBrk="1" hangingPunct="1"/>
            <a:r>
              <a:rPr lang="en-US" altLang="zh-CN" sz="3600" dirty="0">
                <a:latin typeface="+mn-lt"/>
                <a:ea typeface="+mn-ea"/>
                <a:cs typeface="+mn-ea"/>
                <a:sym typeface="+mn-lt"/>
              </a:rPr>
              <a:t>问题3：智能回溯</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6" name="图片 5">
            <a:extLst>
              <a:ext uri="{FF2B5EF4-FFF2-40B4-BE49-F238E27FC236}">
                <a16:creationId xmlns:a16="http://schemas.microsoft.com/office/drawing/2014/main" id="{AEAD8F17-0876-4BC4-994F-D34F1F7D211F}"/>
              </a:ext>
            </a:extLst>
          </p:cNvPr>
          <p:cNvPicPr>
            <a:picLocks noChangeAspect="1"/>
          </p:cNvPicPr>
          <p:nvPr/>
        </p:nvPicPr>
        <p:blipFill>
          <a:blip r:embed="rId3"/>
          <a:stretch>
            <a:fillRect/>
          </a:stretch>
        </p:blipFill>
        <p:spPr>
          <a:xfrm>
            <a:off x="7701915" y="2634484"/>
            <a:ext cx="3937000" cy="3492093"/>
          </a:xfrm>
          <a:prstGeom prst="rect">
            <a:avLst/>
          </a:prstGeom>
        </p:spPr>
      </p:pic>
      <p:sp>
        <p:nvSpPr>
          <p:cNvPr id="7" name="矩形 6">
            <a:extLst>
              <a:ext uri="{FF2B5EF4-FFF2-40B4-BE49-F238E27FC236}">
                <a16:creationId xmlns:a16="http://schemas.microsoft.com/office/drawing/2014/main" id="{F2D03C52-698C-4739-895F-009AD885B0BD}"/>
              </a:ext>
            </a:extLst>
          </p:cNvPr>
          <p:cNvSpPr/>
          <p:nvPr/>
        </p:nvSpPr>
        <p:spPr>
          <a:xfrm>
            <a:off x="7701844" y="2895600"/>
            <a:ext cx="762000" cy="460375"/>
          </a:xfrm>
          <a:prstGeom prst="rect">
            <a:avLst/>
          </a:prstGeom>
        </p:spPr>
        <p:txBody>
          <a:bodyPr wrap="square">
            <a:spAutoFit/>
          </a:bodyPr>
          <a:lstStyle/>
          <a:p>
            <a:r>
              <a:rPr lang="en-US" altLang="zh-CN" sz="2400" b="1" dirty="0">
                <a:solidFill>
                  <a:schemeClr val="tx1"/>
                </a:solidFill>
                <a:cs typeface="+mn-ea"/>
                <a:sym typeface="+mn-lt"/>
              </a:rPr>
              <a:t>1</a:t>
            </a:r>
          </a:p>
        </p:txBody>
      </p:sp>
      <p:sp>
        <p:nvSpPr>
          <p:cNvPr id="8" name="矩形 7">
            <a:extLst>
              <a:ext uri="{FF2B5EF4-FFF2-40B4-BE49-F238E27FC236}">
                <a16:creationId xmlns:a16="http://schemas.microsoft.com/office/drawing/2014/main" id="{A4B67D96-82CB-41EE-8495-5D43B54DCDA5}"/>
              </a:ext>
            </a:extLst>
          </p:cNvPr>
          <p:cNvSpPr/>
          <p:nvPr/>
        </p:nvSpPr>
        <p:spPr>
          <a:xfrm>
            <a:off x="11453949" y="3666241"/>
            <a:ext cx="484361" cy="460375"/>
          </a:xfrm>
          <a:prstGeom prst="rect">
            <a:avLst/>
          </a:prstGeom>
        </p:spPr>
        <p:txBody>
          <a:bodyPr wrap="square">
            <a:spAutoFit/>
          </a:bodyPr>
          <a:lstStyle/>
          <a:p>
            <a:r>
              <a:rPr lang="en-US" altLang="zh-CN" sz="2400" b="1" dirty="0">
                <a:solidFill>
                  <a:schemeClr val="tx1"/>
                </a:solidFill>
                <a:cs typeface="+mn-ea"/>
                <a:sym typeface="+mn-lt"/>
              </a:rPr>
              <a:t>2</a:t>
            </a:r>
          </a:p>
        </p:txBody>
      </p:sp>
      <p:sp>
        <p:nvSpPr>
          <p:cNvPr id="9" name="矩形 8">
            <a:extLst>
              <a:ext uri="{FF2B5EF4-FFF2-40B4-BE49-F238E27FC236}">
                <a16:creationId xmlns:a16="http://schemas.microsoft.com/office/drawing/2014/main" id="{55D135B9-9ACB-48FB-9F41-93F520F26FEE}"/>
              </a:ext>
            </a:extLst>
          </p:cNvPr>
          <p:cNvSpPr/>
          <p:nvPr/>
        </p:nvSpPr>
        <p:spPr>
          <a:xfrm>
            <a:off x="9220200" y="2286000"/>
            <a:ext cx="603920" cy="461665"/>
          </a:xfrm>
          <a:prstGeom prst="rect">
            <a:avLst/>
          </a:prstGeom>
        </p:spPr>
        <p:txBody>
          <a:bodyPr wrap="square">
            <a:spAutoFit/>
          </a:bodyPr>
          <a:lstStyle/>
          <a:p>
            <a:r>
              <a:rPr lang="en-US" altLang="zh-CN" sz="2400" b="1" dirty="0">
                <a:cs typeface="+mn-ea"/>
                <a:sym typeface="+mn-lt"/>
              </a:rPr>
              <a:t>4</a:t>
            </a:r>
            <a:endParaRPr lang="zh-CN" altLang="en-US" sz="2400" b="1" dirty="0">
              <a:cs typeface="+mn-ea"/>
              <a:sym typeface="+mn-lt"/>
            </a:endParaRPr>
          </a:p>
        </p:txBody>
      </p:sp>
      <p:sp>
        <p:nvSpPr>
          <p:cNvPr id="11" name="矩形 10">
            <a:extLst>
              <a:ext uri="{FF2B5EF4-FFF2-40B4-BE49-F238E27FC236}">
                <a16:creationId xmlns:a16="http://schemas.microsoft.com/office/drawing/2014/main" id="{E0C47771-3C79-444D-B123-5707B1F26905}"/>
              </a:ext>
            </a:extLst>
          </p:cNvPr>
          <p:cNvSpPr/>
          <p:nvPr/>
        </p:nvSpPr>
        <p:spPr>
          <a:xfrm>
            <a:off x="11107347" y="5596949"/>
            <a:ext cx="484361" cy="461665"/>
          </a:xfrm>
          <a:prstGeom prst="rect">
            <a:avLst/>
          </a:prstGeom>
        </p:spPr>
        <p:txBody>
          <a:bodyPr wrap="square">
            <a:spAutoFit/>
          </a:bodyPr>
          <a:lstStyle/>
          <a:p>
            <a:r>
              <a:rPr lang="en-US" altLang="zh-CN" sz="2400" b="1" dirty="0">
                <a:cs typeface="+mn-ea"/>
                <a:sym typeface="+mn-lt"/>
              </a:rPr>
              <a:t>3</a:t>
            </a:r>
            <a:endParaRPr lang="zh-CN" altLang="en-US" sz="2400" b="1" dirty="0">
              <a:cs typeface="+mn-ea"/>
              <a:sym typeface="+mn-lt"/>
            </a:endParaRPr>
          </a:p>
        </p:txBody>
      </p:sp>
      <mc:AlternateContent xmlns:mc="http://schemas.openxmlformats.org/markup-compatibility/2006" xmlns:a14="http://schemas.microsoft.com/office/drawing/2010/main">
        <mc:Choice Requires="a14">
          <p:sp>
            <p:nvSpPr>
              <p:cNvPr id="13" name="内容占位符 2">
                <a:extLst>
                  <a:ext uri="{FF2B5EF4-FFF2-40B4-BE49-F238E27FC236}">
                    <a16:creationId xmlns:a16="http://schemas.microsoft.com/office/drawing/2014/main" id="{3BFC49D8-30E9-47F9-9052-B9F8D659D5BB}"/>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chemeClr val="accent3"/>
                    </a:solidFill>
                    <a:latin typeface="+mn-lt"/>
                    <a:cs typeface="+mn-ea"/>
                    <a:sym typeface="+mn-lt"/>
                  </a:rPr>
                  <a:t> </a:t>
                </a:r>
                <a14:m>
                  <m:oMath xmlns:m="http://schemas.openxmlformats.org/officeDocument/2006/math">
                    <m:r>
                      <a:rPr lang="en-US" altLang="zh-CN" i="1" dirty="0">
                        <a:solidFill>
                          <a:schemeClr val="accent3"/>
                        </a:solidFill>
                        <a:latin typeface="Cambria Math" panose="02040503050406030204" pitchFamily="18" charset="0"/>
                        <a:cs typeface="+mn-ea"/>
                        <a:sym typeface="+mn-lt"/>
                      </a:rPr>
                      <m:t>𝑐𝑜𝑛𝑓</m:t>
                    </m:r>
                    <m:d>
                      <m:dPr>
                        <m:ctrlPr>
                          <a:rPr lang="en-US" altLang="zh-CN" i="1" dirty="0">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r>
                      <a:rPr lang="en-US" altLang="zh-CN" i="1" dirty="0">
                        <a:solidFill>
                          <a:schemeClr val="accent3"/>
                        </a:solidFill>
                        <a:latin typeface="Cambria Math" panose="02040503050406030204" pitchFamily="18" charset="0"/>
                        <a:cs typeface="+mn-ea"/>
                        <a:sym typeface="+mn-lt"/>
                      </a:rPr>
                      <m:t>← </m:t>
                    </m:r>
                    <m:r>
                      <a:rPr lang="en-US" altLang="zh-CN" i="1" dirty="0" err="1">
                        <a:solidFill>
                          <a:schemeClr val="accent3"/>
                        </a:solidFill>
                        <a:latin typeface="Cambria Math" panose="02040503050406030204" pitchFamily="18" charset="0"/>
                        <a:cs typeface="+mn-ea"/>
                        <a:sym typeface="+mn-lt"/>
                      </a:rPr>
                      <m:t>𝑐𝑜𝑛𝑓</m:t>
                    </m:r>
                    <m:d>
                      <m:dPr>
                        <m:ctrlPr>
                          <a:rPr lang="en-US" altLang="zh-CN" i="1" dirty="0" err="1">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r>
                      <a:rPr lang="en-US" altLang="zh-CN" i="1" dirty="0">
                        <a:solidFill>
                          <a:schemeClr val="accent3"/>
                        </a:solidFill>
                        <a:latin typeface="Cambria Math" panose="02040503050406030204" pitchFamily="18" charset="0"/>
                        <a:cs typeface="+mn-ea"/>
                        <a:sym typeface="+mn-lt"/>
                      </a:rPr>
                      <m:t>∪ </m:t>
                    </m:r>
                    <m:r>
                      <a:rPr lang="en-US" altLang="zh-CN" i="1" dirty="0" err="1">
                        <a:solidFill>
                          <a:schemeClr val="accent3"/>
                        </a:solidFill>
                        <a:latin typeface="Cambria Math" panose="02040503050406030204" pitchFamily="18" charset="0"/>
                        <a:cs typeface="+mn-ea"/>
                        <a:sym typeface="+mn-lt"/>
                      </a:rPr>
                      <m:t>𝑐𝑜𝑛𝑓</m:t>
                    </m:r>
                    <m:d>
                      <m:dPr>
                        <m:ctrlPr>
                          <a:rPr lang="en-US" altLang="zh-CN" i="1" dirty="0" err="1">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𝑗</m:t>
                            </m:r>
                          </m:sub>
                        </m:sSub>
                      </m:e>
                    </m:d>
                    <m:r>
                      <a:rPr lang="en-US" altLang="zh-CN" i="1" dirty="0">
                        <a:solidFill>
                          <a:schemeClr val="accent3"/>
                        </a:solidFill>
                        <a:latin typeface="Cambria Math" panose="02040503050406030204" pitchFamily="18" charset="0"/>
                        <a:cs typeface="+mn-ea"/>
                        <a:sym typeface="+mn-lt"/>
                      </a:rPr>
                      <m:t>−</m:t>
                    </m:r>
                    <m:d>
                      <m:dPr>
                        <m:begChr m:val="{"/>
                        <m:endChr m:val="}"/>
                        <m:ctrlPr>
                          <a:rPr lang="en-US" altLang="zh-CN" i="1" dirty="0">
                            <a:solidFill>
                              <a:schemeClr val="accent3"/>
                            </a:solidFill>
                            <a:latin typeface="Cambria Math" panose="02040503050406030204" pitchFamily="18" charset="0"/>
                            <a:cs typeface="+mn-ea"/>
                            <a:sym typeface="+mn-lt"/>
                          </a:rPr>
                        </m:ctrlPr>
                      </m:dPr>
                      <m:e>
                        <m:sSub>
                          <m:sSubPr>
                            <m:ctrlPr>
                              <a:rPr lang="en-US" altLang="zh-CN" i="1" dirty="0">
                                <a:solidFill>
                                  <a:schemeClr val="accent3"/>
                                </a:solidFill>
                                <a:latin typeface="Cambria Math" panose="02040503050406030204" pitchFamily="18" charset="0"/>
                                <a:cs typeface="+mn-ea"/>
                                <a:sym typeface="+mn-lt"/>
                              </a:rPr>
                            </m:ctrlPr>
                          </m:sSubPr>
                          <m:e>
                            <m:r>
                              <a:rPr lang="en-US" altLang="zh-CN" i="1" dirty="0">
                                <a:solidFill>
                                  <a:schemeClr val="accent3"/>
                                </a:solidFill>
                                <a:latin typeface="Cambria Math" panose="02040503050406030204" pitchFamily="18" charset="0"/>
                                <a:cs typeface="+mn-ea"/>
                                <a:sym typeface="+mn-lt"/>
                              </a:rPr>
                              <m:t>𝑋</m:t>
                            </m:r>
                          </m:e>
                          <m:sub>
                            <m:r>
                              <a:rPr lang="en-US" altLang="zh-CN" i="1" dirty="0">
                                <a:solidFill>
                                  <a:schemeClr val="accent3"/>
                                </a:solidFill>
                                <a:latin typeface="Cambria Math" panose="02040503050406030204" pitchFamily="18" charset="0"/>
                                <a:cs typeface="+mn-ea"/>
                                <a:sym typeface="+mn-lt"/>
                              </a:rPr>
                              <m:t>𝑖</m:t>
                            </m:r>
                          </m:sub>
                        </m:sSub>
                      </m:e>
                    </m:d>
                  </m:oMath>
                </a14:m>
                <a:endParaRPr lang="en-US" altLang="zh-CN" dirty="0">
                  <a:latin typeface="+mn-lt"/>
                  <a:cs typeface="+mn-ea"/>
                  <a:sym typeface="+mn-lt"/>
                </a:endParaRPr>
              </a:p>
              <a:p>
                <a:r>
                  <a:rPr lang="en-US" altLang="zh-CN" dirty="0">
                    <a:solidFill>
                      <a:schemeClr val="accent3"/>
                    </a:solidFill>
                    <a:latin typeface="+mn-lt"/>
                    <a:cs typeface="+mn-ea"/>
                    <a:sym typeface="+mn-lt"/>
                  </a:rPr>
                  <a:t>Step4</a:t>
                </a:r>
                <a:r>
                  <a:rPr lang="zh-CN" altLang="en-US" dirty="0">
                    <a:solidFill>
                      <a:schemeClr val="accent3"/>
                    </a:solidFill>
                    <a:latin typeface="+mn-lt"/>
                    <a:cs typeface="+mn-ea"/>
                    <a:sym typeface="+mn-lt"/>
                  </a:rPr>
                  <a:t>：</a:t>
                </a:r>
                <a:endParaRPr lang="en-US" altLang="zh-CN" dirty="0">
                  <a:solidFill>
                    <a:schemeClr val="accent3"/>
                  </a:solidFill>
                  <a:latin typeface="+mn-lt"/>
                  <a:cs typeface="+mn-ea"/>
                  <a:sym typeface="+mn-lt"/>
                </a:endParaRPr>
              </a:p>
              <a:p>
                <a:pPr lvl="1"/>
                <a14:m>
                  <m:oMath xmlns:m="http://schemas.openxmlformats.org/officeDocument/2006/math">
                    <m:r>
                      <a:rPr lang="en-US" altLang="zh-CN" i="1" dirty="0">
                        <a:latin typeface="Cambria Math" panose="02040503050406030204" pitchFamily="18" charset="0"/>
                        <a:cs typeface="+mn-ea"/>
                        <a:sym typeface="+mn-lt"/>
                      </a:rPr>
                      <m:t>𝑐𝑜𝑛𝑓</m:t>
                    </m:r>
                  </m:oMath>
                </a14:m>
                <a:r>
                  <a:rPr lang="en-US" altLang="zh-CN" dirty="0">
                    <a:latin typeface="+mn-lt"/>
                    <a:cs typeface="+mn-ea"/>
                    <a:sym typeface="+mn-lt"/>
                  </a:rPr>
                  <a:t>(NT)={WA, NSW}</a:t>
                </a:r>
              </a:p>
              <a:p>
                <a:pPr lvl="1"/>
                <a:r>
                  <a:rPr lang="en-US" altLang="zh-CN" dirty="0">
                    <a:latin typeface="+mn-lt"/>
                    <a:cs typeface="+mn-ea"/>
                    <a:sym typeface="+mn-lt"/>
                  </a:rPr>
                  <a:t>Backtrack to NSW</a:t>
                </a:r>
              </a:p>
              <a:p>
                <a:pPr lvl="1"/>
                <a:endParaRPr lang="zh-CN" altLang="en-US" dirty="0">
                  <a:latin typeface="+mn-lt"/>
                  <a:cs typeface="+mn-ea"/>
                  <a:sym typeface="+mn-lt"/>
                </a:endParaRPr>
              </a:p>
            </p:txBody>
          </p:sp>
        </mc:Choice>
        <mc:Fallback xmlns="">
          <p:sp>
            <p:nvSpPr>
              <p:cNvPr id="13" name="内容占位符 2">
                <a:extLst>
                  <a:ext uri="{FF2B5EF4-FFF2-40B4-BE49-F238E27FC236}">
                    <a16:creationId xmlns:a16="http://schemas.microsoft.com/office/drawing/2014/main" id="{3BFC49D8-30E9-47F9-9052-B9F8D659D5BB}"/>
                  </a:ext>
                </a:extLst>
              </p:cNvPr>
              <p:cNvSpPr txBox="1">
                <a:spLocks noRot="1" noChangeAspect="1" noMove="1" noResize="1" noEditPoints="1" noAdjustHandles="1" noChangeArrowheads="1" noChangeShapeType="1" noTextEdit="1"/>
              </p:cNvSpPr>
              <p:nvPr/>
            </p:nvSpPr>
            <p:spPr>
              <a:xfrm>
                <a:off x="406400" y="1397001"/>
                <a:ext cx="11379200" cy="4729164"/>
              </a:xfrm>
              <a:prstGeom prst="rect">
                <a:avLst/>
              </a:prstGeom>
              <a:blipFill>
                <a:blip r:embed="rId4"/>
                <a:stretch>
                  <a:fillRect l="-965" t="-103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2965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blinds(horizontal)">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3">
                                            <p:txEl>
                                              <p:pRg st="3" end="3"/>
                                            </p:txEl>
                                          </p:spTgt>
                                        </p:tgtEl>
                                        <p:attrNameLst>
                                          <p:attrName>style.visibility</p:attrName>
                                        </p:attrNameLst>
                                      </p:cBhvr>
                                      <p:to>
                                        <p:strVal val="visible"/>
                                      </p:to>
                                    </p:set>
                                    <p:animEffect transition="in" filter="blinds(horizontal)">
                                      <p:cBhvr>
                                        <p:cTn id="12" dur="500"/>
                                        <p:tgtEl>
                                          <p:spTgt spid="1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r>
              <a:rPr lang="en-US" altLang="zh-CN" sz="3600" dirty="0">
                <a:latin typeface="+mn-lt"/>
                <a:ea typeface="+mn-ea"/>
                <a:cs typeface="+mn-ea"/>
                <a:sym typeface="+mn-lt"/>
              </a:rPr>
              <a:t>约束满足问题</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FFFFFF"/>
                </a:solidFill>
                <a:effectLst/>
                <a:uLnTx/>
                <a:uFillTx/>
                <a:latin typeface="Arial" panose="020B0604020202020204"/>
                <a:ea typeface="微软雅黑"/>
                <a:cs typeface="+mn-ea"/>
                <a:sym typeface="+mn-lt"/>
              </a:rPr>
              <a:t>人工智能：一种现代方法</a:t>
            </a:r>
          </a:p>
        </p:txBody>
      </p:sp>
      <p:sp>
        <p:nvSpPr>
          <p:cNvPr id="10" name="Rectangle 3">
            <a:extLst>
              <a:ext uri="{FF2B5EF4-FFF2-40B4-BE49-F238E27FC236}">
                <a16:creationId xmlns:a16="http://schemas.microsoft.com/office/drawing/2014/main" id="{9713741E-2B97-46EB-B22A-F977B297A243}"/>
              </a:ext>
            </a:extLst>
          </p:cNvPr>
          <p:cNvSpPr txBox="1">
            <a:spLocks noChangeArrowheads="1"/>
          </p:cNvSpPr>
          <p:nvPr/>
        </p:nvSpPr>
        <p:spPr>
          <a:xfrm>
            <a:off x="685800" y="1214436"/>
            <a:ext cx="106426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3200" b="0" i="0" u="none" strike="noStrike" kern="1200" cap="none" spc="0" normalizeH="0" baseline="0" noProof="0" dirty="0">
                <a:ln>
                  <a:noFill/>
                </a:ln>
                <a:solidFill>
                  <a:srgbClr val="FFFFFF">
                    <a:lumMod val="65000"/>
                  </a:srgbClr>
                </a:solidFill>
                <a:effectLst/>
                <a:uLnTx/>
                <a:uFillTx/>
                <a:latin typeface="Arial" panose="020B0604020202020204"/>
                <a:ea typeface="微软雅黑"/>
                <a:cs typeface="+mn-ea"/>
                <a:sym typeface="+mn-lt"/>
              </a:rPr>
              <a:t>定义约束满足问题</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altLang="zh-CN" sz="32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ea"/>
                <a:sym typeface="+mn-lt"/>
              </a:rPr>
              <a:t>约束传播：CSP中的推理</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3200" b="0" i="0" u="none" strike="noStrike" kern="1200" cap="none" spc="0" normalizeH="0" baseline="0" noProof="0" dirty="0">
                <a:ln>
                  <a:noFill/>
                </a:ln>
                <a:solidFill>
                  <a:srgbClr val="FFFFFF">
                    <a:lumMod val="75000"/>
                  </a:srgbClr>
                </a:solidFill>
                <a:effectLst/>
                <a:uLnTx/>
                <a:uFillTx/>
                <a:latin typeface="Arial" panose="020B0604020202020204"/>
                <a:ea typeface="微软雅黑"/>
                <a:cs typeface="+mn-ea"/>
                <a:sym typeface="+mn-lt"/>
              </a:rPr>
              <a:t>约束满足问题的回溯搜索</a:t>
            </a:r>
          </a:p>
          <a:p>
            <a:pPr marL="914400" marR="0" lvl="2"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32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3600" b="0" i="0" u="none" strike="noStrike" kern="1200" cap="none" spc="0" normalizeH="0" baseline="0" noProof="0" dirty="0">
              <a:ln>
                <a:noFill/>
              </a:ln>
              <a:solidFill>
                <a:srgbClr val="000000"/>
              </a:solidFill>
              <a:effectLst/>
              <a:uLnTx/>
              <a:uFillTx/>
              <a:latin typeface="Arial" panose="020B0604020202020204"/>
              <a:ea typeface="微软雅黑"/>
              <a:cs typeface="+mn-ea"/>
              <a:sym typeface="+mn-lt"/>
            </a:endParaRPr>
          </a:p>
        </p:txBody>
      </p:sp>
    </p:spTree>
    <p:extLst>
      <p:ext uri="{BB962C8B-B14F-4D97-AF65-F5344CB8AC3E}">
        <p14:creationId xmlns:p14="http://schemas.microsoft.com/office/powerpoint/2010/main" val="17525041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r>
              <a:rPr lang="en-US" altLang="zh-CN" sz="3600" dirty="0">
                <a:latin typeface="+mn-lt"/>
                <a:ea typeface="+mn-ea"/>
                <a:cs typeface="+mn-ea"/>
                <a:sym typeface="+mn-lt"/>
              </a:rPr>
              <a:t>CSPs 的本地搜索</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sz="1200">
                <a:solidFill>
                  <a:srgbClr val="FFFFFF"/>
                </a:solidFill>
                <a:latin typeface="+mn-lt"/>
                <a:cs typeface="+mn-ea"/>
                <a:sym typeface="+mn-lt"/>
              </a:rPr>
              <a:t>人工智能：一种现代方法</a:t>
            </a:r>
          </a:p>
        </p:txBody>
      </p:sp>
      <p:sp>
        <p:nvSpPr>
          <p:cNvPr id="5" name="内容占位符 2">
            <a:extLst>
              <a:ext uri="{FF2B5EF4-FFF2-40B4-BE49-F238E27FC236}">
                <a16:creationId xmlns:a16="http://schemas.microsoft.com/office/drawing/2014/main" id="{0A4A7AB9-19DE-4D6D-887F-CDCEB955AFF3}"/>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solidFill>
                  <a:schemeClr val="accent3"/>
                </a:solidFill>
                <a:latin typeface="+mn-lt"/>
                <a:cs typeface="+mn-ea"/>
                <a:sym typeface="+mn-lt"/>
              </a:rPr>
              <a:t>在解决许多约束满足问题方面有效</a:t>
            </a:r>
          </a:p>
          <a:p>
            <a:pPr lvl="1"/>
            <a:r>
              <a:rPr lang="en-US" altLang="zh-CN" sz="2400" dirty="0">
                <a:latin typeface="+mn-lt"/>
                <a:cs typeface="+mn-ea"/>
                <a:sym typeface="+mn-lt"/>
              </a:rPr>
              <a:t>为每个变量赋初始值</a:t>
            </a:r>
          </a:p>
          <a:p>
            <a:pPr lvl="1"/>
            <a:r>
              <a:rPr lang="en-US" altLang="zh-CN" sz="2400" dirty="0">
                <a:latin typeface="+mn-lt"/>
                <a:cs typeface="+mn-ea"/>
                <a:sym typeface="+mn-lt"/>
              </a:rPr>
              <a:t>一次只更改一个变量的值</a:t>
            </a:r>
          </a:p>
          <a:p>
            <a:pPr lvl="1"/>
            <a:endParaRPr lang="en-US" altLang="zh-CN" dirty="0">
              <a:latin typeface="+mn-lt"/>
              <a:cs typeface="+mn-ea"/>
              <a:sym typeface="+mn-lt"/>
            </a:endParaRPr>
          </a:p>
          <a:p>
            <a:r>
              <a:rPr lang="en-US" altLang="zh-CN" sz="2800" dirty="0">
                <a:solidFill>
                  <a:schemeClr val="accent3"/>
                </a:solidFill>
                <a:latin typeface="+mn-lt"/>
                <a:cs typeface="+mn-ea"/>
                <a:sym typeface="+mn-lt"/>
              </a:rPr>
              <a:t>最小冲突</a:t>
            </a:r>
            <a:r>
              <a:rPr lang="zh-CN" altLang="en-US" b="1" dirty="0">
                <a:solidFill>
                  <a:schemeClr val="accent3"/>
                </a:solidFill>
                <a:latin typeface="+mn-lt"/>
                <a:cs typeface="+mn-ea"/>
                <a:sym typeface="+mn-lt"/>
              </a:rPr>
              <a:t> </a:t>
            </a:r>
            <a:endParaRPr lang="en-US" altLang="zh-CN" b="1" dirty="0">
              <a:solidFill>
                <a:schemeClr val="accent3"/>
              </a:solidFill>
              <a:latin typeface="+mn-lt"/>
              <a:cs typeface="+mn-ea"/>
              <a:sym typeface="+mn-lt"/>
            </a:endParaRPr>
          </a:p>
          <a:p>
            <a:pPr lvl="1"/>
            <a:r>
              <a:rPr lang="en-US" altLang="zh-CN" sz="2400" dirty="0">
                <a:latin typeface="+mn-lt"/>
                <a:cs typeface="+mn-ea"/>
                <a:sym typeface="+mn-lt"/>
              </a:rPr>
              <a:t>确保与其他变量的冲突最少。</a:t>
            </a:r>
          </a:p>
        </p:txBody>
      </p:sp>
    </p:spTree>
    <p:extLst>
      <p:ext uri="{BB962C8B-B14F-4D97-AF65-F5344CB8AC3E}">
        <p14:creationId xmlns:p14="http://schemas.microsoft.com/office/powerpoint/2010/main" val="206905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blinds(horizontal)">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blinds(horizontal)">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blinds(horizontal)">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animEffect transition="in" filter="blinds(horizontal)">
                                      <p:cBhvr>
                                        <p:cTn id="27"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2558CC72-8269-B2FA-BEFB-64457909E209}"/>
              </a:ext>
            </a:extLst>
          </p:cNvPr>
          <p:cNvSpPr>
            <a:spLocks noGrp="1" noChangeArrowheads="1"/>
          </p:cNvSpPr>
          <p:nvPr>
            <p:ph type="title"/>
          </p:nvPr>
        </p:nvSpPr>
        <p:spPr/>
        <p:txBody>
          <a:bodyPr>
            <a:normAutofit/>
          </a:bodyPr>
          <a:lstStyle/>
          <a:p>
            <a:r>
              <a:rPr lang="en-US" altLang="zh-CN" sz="3600" dirty="0">
                <a:latin typeface="+mn-lt"/>
                <a:ea typeface="+mn-ea"/>
                <a:cs typeface="+mn-ea"/>
                <a:sym typeface="+mn-lt"/>
              </a:rPr>
              <a:t>CSPs </a:t>
            </a:r>
            <a:r>
              <a:rPr lang="en-US" altLang="zh-CN" sz="3600" dirty="0" err="1">
                <a:latin typeface="+mn-lt"/>
                <a:ea typeface="+mn-ea"/>
                <a:cs typeface="+mn-ea"/>
                <a:sym typeface="+mn-lt"/>
              </a:rPr>
              <a:t>的本地搜索</a:t>
            </a:r>
            <a:endParaRPr lang="en-US" altLang="zh-CN" sz="3000" dirty="0">
              <a:solidFill>
                <a:srgbClr val="515223"/>
              </a:solidFill>
              <a:latin typeface="+mn-lt"/>
              <a:ea typeface="+mn-ea"/>
              <a:cs typeface="+mn-ea"/>
              <a:sym typeface="+mn-lt"/>
            </a:endParaRPr>
          </a:p>
        </p:txBody>
      </p:sp>
      <p:sp>
        <p:nvSpPr>
          <p:cNvPr id="30722" name="Footer Placeholder 2">
            <a:extLst>
              <a:ext uri="{FF2B5EF4-FFF2-40B4-BE49-F238E27FC236}">
                <a16:creationId xmlns:a16="http://schemas.microsoft.com/office/drawing/2014/main" id="{8D85ED74-C436-2202-3DF7-22AF6142ABB3}"/>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5" name="内容占位符 2">
            <a:extLst>
              <a:ext uri="{FF2B5EF4-FFF2-40B4-BE49-F238E27FC236}">
                <a16:creationId xmlns:a16="http://schemas.microsoft.com/office/drawing/2014/main" id="{0A4A7AB9-19DE-4D6D-887F-CDCEB955AFF3}"/>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dirty="0">
              <a:latin typeface="+mn-lt"/>
              <a:cs typeface="+mn-ea"/>
              <a:sym typeface="+mn-lt"/>
            </a:endParaRPr>
          </a:p>
        </p:txBody>
      </p:sp>
      <p:pic>
        <p:nvPicPr>
          <p:cNvPr id="3" name="图片 2">
            <a:extLst>
              <a:ext uri="{FF2B5EF4-FFF2-40B4-BE49-F238E27FC236}">
                <a16:creationId xmlns:a16="http://schemas.microsoft.com/office/drawing/2014/main" id="{141DB0DC-041A-4A80-9F62-CF718FA719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6586" y="1526968"/>
            <a:ext cx="9428361" cy="3661597"/>
          </a:xfrm>
          <a:prstGeom prst="rect">
            <a:avLst/>
          </a:prstGeom>
        </p:spPr>
      </p:pic>
    </p:spTree>
    <p:extLst>
      <p:ext uri="{BB962C8B-B14F-4D97-AF65-F5344CB8AC3E}">
        <p14:creationId xmlns:p14="http://schemas.microsoft.com/office/powerpoint/2010/main" val="2673721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blinds(horizontal)">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37080463-0BE4-4DE1-B44F-1F1F08A85602}"/>
              </a:ext>
            </a:extLst>
          </p:cNvPr>
          <p:cNvSpPr>
            <a:spLocks noGrp="1" noChangeArrowheads="1"/>
          </p:cNvSpPr>
          <p:nvPr>
            <p:ph type="title"/>
          </p:nvPr>
        </p:nvSpPr>
        <p:spPr/>
        <p:txBody>
          <a:bodyPr/>
          <a:lstStyle/>
          <a:p>
            <a:r>
              <a:rPr lang="en-US" altLang="zh-CN" sz="3600" dirty="0">
                <a:latin typeface="+mn-lt"/>
                <a:ea typeface="+mn-ea"/>
                <a:cs typeface="+mn-ea"/>
                <a:sym typeface="+mn-lt"/>
              </a:rPr>
              <a:t>CSPs </a:t>
            </a:r>
            <a:r>
              <a:rPr lang="en-US" altLang="zh-CN" sz="3600" dirty="0" err="1">
                <a:latin typeface="+mn-lt"/>
                <a:ea typeface="+mn-ea"/>
                <a:cs typeface="+mn-ea"/>
                <a:sym typeface="+mn-lt"/>
              </a:rPr>
              <a:t>的本地搜索</a:t>
            </a:r>
            <a:endParaRPr lang="en-US" altLang="zh-CN" dirty="0">
              <a:solidFill>
                <a:srgbClr val="515223"/>
              </a:solidFill>
              <a:latin typeface="+mn-lt"/>
              <a:ea typeface="+mn-ea"/>
              <a:cs typeface="+mn-ea"/>
              <a:sym typeface="+mn-lt"/>
            </a:endParaRPr>
          </a:p>
        </p:txBody>
      </p:sp>
      <p:sp>
        <p:nvSpPr>
          <p:cNvPr id="32770" name="Footer Placeholder 2">
            <a:extLst>
              <a:ext uri="{FF2B5EF4-FFF2-40B4-BE49-F238E27FC236}">
                <a16:creationId xmlns:a16="http://schemas.microsoft.com/office/drawing/2014/main" id="{9DCF9C91-17FD-DEFF-0DDC-DC8FECD5DB85}"/>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sp>
        <p:nvSpPr>
          <p:cNvPr id="24" name="内容占位符 2">
            <a:extLst>
              <a:ext uri="{FF2B5EF4-FFF2-40B4-BE49-F238E27FC236}">
                <a16:creationId xmlns:a16="http://schemas.microsoft.com/office/drawing/2014/main" id="{2C417371-433D-4377-9EF4-D94D56F49266}"/>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solidFill>
                  <a:schemeClr val="accent3"/>
                </a:solidFill>
                <a:latin typeface="+mn-lt"/>
                <a:cs typeface="+mn-ea"/>
                <a:sym typeface="+mn-lt"/>
              </a:rPr>
              <a:t>最小冲突算法</a:t>
            </a:r>
            <a:r>
              <a:rPr lang="en-US" altLang="zh-CN" dirty="0">
                <a:solidFill>
                  <a:schemeClr val="accent3"/>
                </a:solidFill>
                <a:latin typeface="+mn-lt"/>
                <a:cs typeface="+mn-ea"/>
                <a:sym typeface="+mn-lt"/>
              </a:rPr>
              <a:t>:</a:t>
            </a:r>
            <a:endParaRPr lang="zh-CN" altLang="en-US" dirty="0">
              <a:solidFill>
                <a:schemeClr val="accent3"/>
              </a:solidFill>
              <a:latin typeface="+mn-lt"/>
              <a:cs typeface="+mn-ea"/>
              <a:sym typeface="+mn-lt"/>
            </a:endParaRPr>
          </a:p>
        </p:txBody>
      </p:sp>
      <p:pic>
        <p:nvPicPr>
          <p:cNvPr id="25" name="图片 24">
            <a:extLst>
              <a:ext uri="{FF2B5EF4-FFF2-40B4-BE49-F238E27FC236}">
                <a16:creationId xmlns:a16="http://schemas.microsoft.com/office/drawing/2014/main" id="{B0D66853-110B-4E5E-98F1-8CEF48E412E4}"/>
              </a:ext>
            </a:extLst>
          </p:cNvPr>
          <p:cNvPicPr>
            <a:picLocks noChangeAspect="1"/>
          </p:cNvPicPr>
          <p:nvPr/>
        </p:nvPicPr>
        <p:blipFill>
          <a:blip r:embed="rId3"/>
          <a:stretch>
            <a:fillRect/>
          </a:stretch>
        </p:blipFill>
        <p:spPr>
          <a:xfrm>
            <a:off x="227860" y="2362200"/>
            <a:ext cx="11736279" cy="3581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blinds(horizontal)">
                                      <p:cBhvr>
                                        <p:cTn id="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37080463-0BE4-4DE1-B44F-1F1F08A85602}"/>
              </a:ext>
            </a:extLst>
          </p:cNvPr>
          <p:cNvSpPr>
            <a:spLocks noGrp="1" noChangeArrowheads="1"/>
          </p:cNvSpPr>
          <p:nvPr>
            <p:ph type="title"/>
          </p:nvPr>
        </p:nvSpPr>
        <p:spPr/>
        <p:txBody>
          <a:bodyPr/>
          <a:lstStyle/>
          <a:p>
            <a:r>
              <a:rPr lang="en-US" altLang="zh-CN" sz="3600" dirty="0">
                <a:latin typeface="+mn-lt"/>
                <a:ea typeface="+mn-ea"/>
                <a:cs typeface="+mn-ea"/>
                <a:sym typeface="+mn-lt"/>
              </a:rPr>
              <a:t>CSPs </a:t>
            </a:r>
            <a:r>
              <a:rPr lang="en-US" altLang="zh-CN" sz="3600" dirty="0" err="1">
                <a:latin typeface="+mn-lt"/>
                <a:ea typeface="+mn-ea"/>
                <a:cs typeface="+mn-ea"/>
                <a:sym typeface="+mn-lt"/>
              </a:rPr>
              <a:t>的本地搜索</a:t>
            </a:r>
            <a:endParaRPr lang="en-US" altLang="zh-CN" dirty="0">
              <a:solidFill>
                <a:srgbClr val="515223"/>
              </a:solidFill>
              <a:latin typeface="+mn-lt"/>
              <a:ea typeface="+mn-ea"/>
              <a:cs typeface="+mn-ea"/>
              <a:sym typeface="+mn-lt"/>
            </a:endParaRPr>
          </a:p>
        </p:txBody>
      </p:sp>
      <p:sp>
        <p:nvSpPr>
          <p:cNvPr id="32770" name="Footer Placeholder 2">
            <a:extLst>
              <a:ext uri="{FF2B5EF4-FFF2-40B4-BE49-F238E27FC236}">
                <a16:creationId xmlns:a16="http://schemas.microsoft.com/office/drawing/2014/main" id="{9DCF9C91-17FD-DEFF-0DDC-DC8FECD5DB85}"/>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cs typeface="Arial" panose="020B0604020202020204" pitchFamily="34" charset="0"/>
              </a:defRPr>
            </a:lvl9pPr>
          </a:lstStyle>
          <a:p>
            <a:r>
              <a:rPr lang="en-US" altLang="zh-CN">
                <a:solidFill>
                  <a:srgbClr val="FFFFFF"/>
                </a:solidFill>
                <a:latin typeface="+mn-lt"/>
                <a:cs typeface="+mn-ea"/>
                <a:sym typeface="+mn-lt"/>
              </a:rPr>
              <a:t>Artificial Intelligence a modern approach</a:t>
            </a:r>
          </a:p>
        </p:txBody>
      </p:sp>
      <p:pic>
        <p:nvPicPr>
          <p:cNvPr id="6" name="图片 5">
            <a:extLst>
              <a:ext uri="{FF2B5EF4-FFF2-40B4-BE49-F238E27FC236}">
                <a16:creationId xmlns:a16="http://schemas.microsoft.com/office/drawing/2014/main" id="{5F04545D-467D-4C92-B2CF-2D4E33CD04F0}"/>
              </a:ext>
            </a:extLst>
          </p:cNvPr>
          <p:cNvPicPr>
            <a:picLocks noChangeAspect="1"/>
          </p:cNvPicPr>
          <p:nvPr/>
        </p:nvPicPr>
        <p:blipFill>
          <a:blip r:embed="rId3"/>
          <a:stretch>
            <a:fillRect/>
          </a:stretch>
        </p:blipFill>
        <p:spPr>
          <a:xfrm>
            <a:off x="242253" y="3326163"/>
            <a:ext cx="6258170" cy="3303235"/>
          </a:xfrm>
          <a:prstGeom prst="rect">
            <a:avLst/>
          </a:prstGeom>
        </p:spPr>
      </p:pic>
      <p:pic>
        <p:nvPicPr>
          <p:cNvPr id="8" name="图片 7">
            <a:extLst>
              <a:ext uri="{FF2B5EF4-FFF2-40B4-BE49-F238E27FC236}">
                <a16:creationId xmlns:a16="http://schemas.microsoft.com/office/drawing/2014/main" id="{C4E9D9AB-947B-432B-8155-BCE8ECD09804}"/>
              </a:ext>
            </a:extLst>
          </p:cNvPr>
          <p:cNvPicPr>
            <a:picLocks noChangeAspect="1"/>
          </p:cNvPicPr>
          <p:nvPr/>
        </p:nvPicPr>
        <p:blipFill>
          <a:blip r:embed="rId4"/>
          <a:stretch>
            <a:fillRect/>
          </a:stretch>
        </p:blipFill>
        <p:spPr>
          <a:xfrm>
            <a:off x="6678223" y="3326163"/>
            <a:ext cx="5285177" cy="3303235"/>
          </a:xfrm>
          <a:prstGeom prst="rect">
            <a:avLst/>
          </a:prstGeom>
        </p:spPr>
      </p:pic>
      <p:sp>
        <p:nvSpPr>
          <p:cNvPr id="7" name="内容占位符 2">
            <a:extLst>
              <a:ext uri="{FF2B5EF4-FFF2-40B4-BE49-F238E27FC236}">
                <a16:creationId xmlns:a16="http://schemas.microsoft.com/office/drawing/2014/main" id="{EE5B8D75-A517-43FD-968C-528596D07444}"/>
              </a:ext>
            </a:extLst>
          </p:cNvPr>
          <p:cNvSpPr txBox="1">
            <a:spLocks/>
          </p:cNvSpPr>
          <p:nvPr/>
        </p:nvSpPr>
        <p:spPr>
          <a:xfrm>
            <a:off x="406400" y="1397001"/>
            <a:ext cx="11379200" cy="472916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Regular"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Regular"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Regular"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Regular"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dirty="0">
                <a:solidFill>
                  <a:schemeClr val="accent3"/>
                </a:solidFill>
                <a:latin typeface="+mn-lt"/>
                <a:cs typeface="+mn-ea"/>
                <a:sym typeface="+mn-lt"/>
              </a:rPr>
              <a:t>最小冲突法出人意料地有效。</a:t>
            </a:r>
          </a:p>
          <a:p>
            <a:pPr lvl="1"/>
            <a:r>
              <a:rPr lang="zh-CN" altLang="en-US" dirty="0">
                <a:latin typeface="+mn-lt"/>
                <a:cs typeface="+mn-ea"/>
                <a:sym typeface="+mn-lt"/>
              </a:rPr>
              <a:t>它平均只需</a:t>
            </a:r>
            <a:r>
              <a:rPr lang="en-US" altLang="zh-CN" dirty="0">
                <a:latin typeface="+mn-lt"/>
                <a:cs typeface="+mn-ea"/>
                <a:sym typeface="+mn-lt"/>
              </a:rPr>
              <a:t>50</a:t>
            </a:r>
            <a:r>
              <a:rPr lang="zh-CN" altLang="en-US" dirty="0">
                <a:latin typeface="+mn-lt"/>
                <a:cs typeface="+mn-ea"/>
                <a:sym typeface="+mn-lt"/>
              </a:rPr>
              <a:t>步就能解决百万皇后问题。</a:t>
            </a:r>
            <a:endParaRPr lang="en-US" altLang="zh-CN" sz="2400" dirty="0">
              <a:latin typeface="+mn-lt"/>
              <a:cs typeface="+mn-ea"/>
              <a:sym typeface="+mn-lt"/>
            </a:endParaRPr>
          </a:p>
          <a:p>
            <a:r>
              <a:rPr lang="en-US" altLang="zh-CN" sz="2800" dirty="0">
                <a:solidFill>
                  <a:schemeClr val="accent3"/>
                </a:solidFill>
                <a:latin typeface="+mn-lt"/>
                <a:cs typeface="+mn-ea"/>
                <a:sym typeface="+mn-lt"/>
              </a:rPr>
              <a:t>所有局部搜索技术都是候选者。</a:t>
            </a:r>
          </a:p>
        </p:txBody>
      </p:sp>
    </p:spTree>
    <p:extLst>
      <p:ext uri="{BB962C8B-B14F-4D97-AF65-F5344CB8AC3E}">
        <p14:creationId xmlns:p14="http://schemas.microsoft.com/office/powerpoint/2010/main" val="3589241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blinds(horizontal)">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blinds(horizontal)">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blinds(horizontal)">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占位符 13">
            <a:extLst>
              <a:ext uri="{FF2B5EF4-FFF2-40B4-BE49-F238E27FC236}">
                <a16:creationId xmlns:a16="http://schemas.microsoft.com/office/drawing/2014/main" id="{3CCF343B-4E0B-4154-8946-89391E5C2A8C}"/>
              </a:ext>
            </a:extLst>
          </p:cNvPr>
          <p:cNvSpPr>
            <a:spLocks noGrp="1"/>
          </p:cNvSpPr>
          <p:nvPr>
            <p:ph type="body" sz="quarter" idx="10"/>
          </p:nvPr>
        </p:nvSpPr>
        <p:spPr>
          <a:xfrm>
            <a:off x="3540868" y="2606037"/>
            <a:ext cx="7978032" cy="914400"/>
          </a:xfrm>
        </p:spPr>
        <p:txBody>
          <a:bodyPr>
            <a:normAutofit/>
          </a:bodyPr>
          <a:lstStyle/>
          <a:p>
            <a:pPr algn="r"/>
            <a:r>
              <a:rPr lang="zh-CN" altLang="en-US" b="0" dirty="0">
                <a:latin typeface="+mn-lt"/>
                <a:cs typeface="+mn-ea"/>
                <a:sym typeface="+mn-lt"/>
              </a:rPr>
              <a:t>感谢听讲！</a:t>
            </a:r>
          </a:p>
        </p:txBody>
      </p:sp>
      <p:sp>
        <p:nvSpPr>
          <p:cNvPr id="24" name="矩形 23">
            <a:extLst>
              <a:ext uri="{FF2B5EF4-FFF2-40B4-BE49-F238E27FC236}">
                <a16:creationId xmlns:a16="http://schemas.microsoft.com/office/drawing/2014/main" id="{F0177348-87C4-D14A-BF21-D2D4AA7D72F8}"/>
              </a:ext>
            </a:extLst>
          </p:cNvPr>
          <p:cNvSpPr/>
          <p:nvPr/>
        </p:nvSpPr>
        <p:spPr>
          <a:xfrm>
            <a:off x="8043723" y="4972130"/>
            <a:ext cx="3003067" cy="611514"/>
          </a:xfrm>
          <a:prstGeom prst="rect">
            <a:avLst/>
          </a:prstGeom>
        </p:spPr>
        <p:txBody>
          <a:bodyPr wrap="square" lIns="0" rIns="0">
            <a:spAutoFit/>
          </a:bodyPr>
          <a:lstStyle/>
          <a:p>
            <a:pPr algn="r">
              <a:lnSpc>
                <a:spcPct val="130000"/>
              </a:lnSpc>
            </a:pPr>
            <a:fld id="{BD616F6D-DDB6-4B4D-AE32-D7DF8DC7BBEA}" type="datetime1">
              <a:rPr lang="zh-CN" altLang="en-US" sz="2800" smtClean="0">
                <a:solidFill>
                  <a:schemeClr val="accent1"/>
                </a:solidFill>
                <a:cs typeface="+mn-ea"/>
                <a:sym typeface="+mn-lt"/>
              </a:rPr>
              <a:t>2026/3/30</a:t>
            </a:fld>
            <a:endParaRPr lang="zh-CN" altLang="en-US" sz="2800" dirty="0">
              <a:solidFill>
                <a:schemeClr val="accent1"/>
              </a:solidFill>
              <a:cs typeface="+mn-ea"/>
              <a:sym typeface="+mn-lt"/>
            </a:endParaRPr>
          </a:p>
        </p:txBody>
      </p:sp>
      <p:cxnSp>
        <p:nvCxnSpPr>
          <p:cNvPr id="27" name="直接连接符 2">
            <a:extLst>
              <a:ext uri="{FF2B5EF4-FFF2-40B4-BE49-F238E27FC236}">
                <a16:creationId xmlns:a16="http://schemas.microsoft.com/office/drawing/2014/main" id="{9E6BA09A-7C02-5045-83C7-33B2F2774BE1}"/>
              </a:ext>
            </a:extLst>
          </p:cNvPr>
          <p:cNvCxnSpPr/>
          <p:nvPr/>
        </p:nvCxnSpPr>
        <p:spPr>
          <a:xfrm>
            <a:off x="11226555" y="4069080"/>
            <a:ext cx="0" cy="1404000"/>
          </a:xfrm>
          <a:prstGeom prst="line">
            <a:avLst/>
          </a:prstGeom>
          <a:ln w="50800" cmpd="thickThi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95647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正常&quot;,&quot;HeaderHeight&quot;:15.0,&quot;FooterHeight&quot;:9.0,&quot;SideMargin&quot;:5.5,&quot;TopMargin&quot;:0.0,&quot;BottomMargin&quot;:0.0,&quot;IntervalMargin&quot;:1.5,&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begin{document}&#10;$\mathrm{WA}$, $\mathrm{NT}$, $\mathrm{Q}$, $\mathrm{NSW}$, $\mathrm{V}$, $\mathrm{SA}$, $\mathrm{T}$&#10;\end{document}&#10;"/>
  <p:tag name="FILENAME" val="txp_fig"/>
  <p:tag name="FORMAT" val="pngmono"/>
  <p:tag name="RES" val="1200"/>
  <p:tag name="BLEND" val="0"/>
  <p:tag name="TRANSPARENT" val="0"/>
  <p:tag name="TBUG" val="0"/>
  <p:tag name="ALLOWFS" val="0"/>
  <p:tag name="ORIGWIDTH" val="298"/>
  <p:tag name="PICTUREFILESIZE" val="13633"/>
</p:tagLst>
</file>

<file path=ppt/tags/tag3.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begin{document}&#10;$\mathrm{D} = \{\mathrm{red},\mathrm{green},\mathrm{blue}\}$&#10;\end{document}&#10;"/>
  <p:tag name="FILENAME" val="txp_fig"/>
  <p:tag name="FORMAT" val="pngmono"/>
  <p:tag name="RES" val="1200"/>
  <p:tag name="BLEND" val="0"/>
  <p:tag name="TRANSPARENT" val="0"/>
  <p:tag name="TBUG" val="0"/>
  <p:tag name="ALLOWFS" val="0"/>
  <p:tag name="ORIGWIDTH" val="214"/>
  <p:tag name="PICTUREFILESIZE" val="9326"/>
</p:tagLst>
</file>

<file path=ppt/tags/tag4.xml><?xml version="1.0" encoding="utf-8"?>
<p:tagLst xmlns:a="http://schemas.openxmlformats.org/drawingml/2006/main" xmlns:r="http://schemas.openxmlformats.org/officeDocument/2006/relationships" xmlns:p="http://schemas.openxmlformats.org/presentationml/2006/main">
  <p:tag name="TEXPOINT" val="latex"/>
  <p:tag name="SOURCE" val="\documentclass{slides}\pagestyle{empty}&#10;\begin{document}&#10;\def\eq{=}&#10;$\{\mathrm{WA}$=$\mathrm{red}$, $\mathrm{NT}$=$\mathrm{green}$, $\mathrm{Q}$=$\mathrm{red}$, $\mathrm{NSW}$=$\mathrm{green}$, $\mathrm{V}$=$\mathrm{red}$, $\mathrm{SA}$=$\mathrm{blue}$, $\mathrm{T}$=$\mathrm{green}\}$&#10;\end{document}&#10;"/>
  <p:tag name="FILENAME" val="txp_fig"/>
  <p:tag name="FORMAT" val="pngmono"/>
  <p:tag name="RES" val="1200"/>
  <p:tag name="BLEND" val="0"/>
  <p:tag name="TRANSPARENT" val="0"/>
  <p:tag name="TBUG" val="0"/>
  <p:tag name="ALLOWFS" val="0"/>
  <p:tag name="ORIGWIDTH" val="466"/>
  <p:tag name="PICTUREFILESIZE" val="33469"/>
</p:tagLst>
</file>

<file path=ppt/theme/theme1.xml><?xml version="1.0" encoding="utf-8"?>
<a:theme xmlns:a="http://schemas.openxmlformats.org/drawingml/2006/main" name="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b5twdkxv">
      <a:majorFont>
        <a:latin typeface="Arial" panose="020B06040202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b5twdkxv">
      <a:majorFont>
        <a:latin typeface="Arial" panose="020B0604020202020204"/>
        <a:ea typeface="微软雅黑"/>
        <a:cs typeface=""/>
      </a:majorFont>
      <a:minorFont>
        <a:latin typeface="Arial" panose="020B0604020202020204"/>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SEU">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zz1dhsub">
      <a:majorFont>
        <a:latin typeface="Arial" panose="020B06040202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50632</TotalTime>
  <Words>5851</Words>
  <Application>Microsoft Office PowerPoint</Application>
  <PresentationFormat>宽屏</PresentationFormat>
  <Paragraphs>713</Paragraphs>
  <Slides>54</Slides>
  <Notes>53</Notes>
  <HiddenSlides>4</HiddenSlides>
  <MMClips>0</MMClips>
  <ScaleCrop>false</ScaleCrop>
  <HeadingPairs>
    <vt:vector size="6" baseType="variant">
      <vt:variant>
        <vt:lpstr>已用的字体</vt:lpstr>
      </vt:variant>
      <vt:variant>
        <vt:i4>12</vt:i4>
      </vt:variant>
      <vt:variant>
        <vt:lpstr>主题</vt:lpstr>
      </vt:variant>
      <vt:variant>
        <vt:i4>3</vt:i4>
      </vt:variant>
      <vt:variant>
        <vt:lpstr>幻灯片标题</vt:lpstr>
      </vt:variant>
      <vt:variant>
        <vt:i4>54</vt:i4>
      </vt:variant>
    </vt:vector>
  </HeadingPairs>
  <TitlesOfParts>
    <vt:vector size="69" baseType="lpstr">
      <vt:lpstr>Helvetica Regular</vt:lpstr>
      <vt:lpstr>NimbusRomNo9L-Medi</vt:lpstr>
      <vt:lpstr>NimbusRomNo9L-Regu</vt:lpstr>
      <vt:lpstr>等线</vt:lpstr>
      <vt:lpstr>微软雅黑</vt:lpstr>
      <vt:lpstr>Arial</vt:lpstr>
      <vt:lpstr>Arial Bold</vt:lpstr>
      <vt:lpstr>Calibri</vt:lpstr>
      <vt:lpstr>Cambria Math</vt:lpstr>
      <vt:lpstr>Helvetica</vt:lpstr>
      <vt:lpstr>Times New Roman</vt:lpstr>
      <vt:lpstr>Wingdings</vt:lpstr>
      <vt:lpstr>Office 主题​​</vt:lpstr>
      <vt:lpstr>1_OfficePLUS</vt:lpstr>
      <vt:lpstr>1_Office 主题​​</vt:lpstr>
      <vt:lpstr>PowerPoint 演示文稿</vt:lpstr>
      <vt:lpstr>约束满足问题</vt:lpstr>
      <vt:lpstr>约束满足问题</vt:lpstr>
      <vt:lpstr>约束满足问题</vt:lpstr>
      <vt:lpstr>定义约束满足问题</vt:lpstr>
      <vt:lpstr>示例：地图着色</vt:lpstr>
      <vt:lpstr>约束图</vt:lpstr>
      <vt:lpstr>定义约束满足问题</vt:lpstr>
      <vt:lpstr>约束图</vt:lpstr>
      <vt:lpstr>评论</vt:lpstr>
      <vt:lpstr>约束满足问题</vt:lpstr>
      <vt:lpstr>约束传播</vt:lpstr>
      <vt:lpstr>节点一致性</vt:lpstr>
      <vt:lpstr>弧一致性</vt:lpstr>
      <vt:lpstr>弧一致性</vt:lpstr>
      <vt:lpstr>弧一致性</vt:lpstr>
      <vt:lpstr>弧一致性</vt:lpstr>
      <vt:lpstr>弧一致性</vt:lpstr>
      <vt:lpstr>路径一致性</vt:lpstr>
      <vt:lpstr>K-一致性</vt:lpstr>
      <vt:lpstr>全局约束</vt:lpstr>
      <vt:lpstr>数独示例</vt:lpstr>
      <vt:lpstr>数独示例</vt:lpstr>
      <vt:lpstr>约束满足问题</vt:lpstr>
      <vt:lpstr>约束满足问题的回溯搜索</vt:lpstr>
      <vt:lpstr>约束满足问题的回溯搜索</vt:lpstr>
      <vt:lpstr>约束满足问题的回溯搜索</vt:lpstr>
      <vt:lpstr>约束满足问题的回溯搜索</vt:lpstr>
      <vt:lpstr>约束满足问题的回溯搜索</vt:lpstr>
      <vt:lpstr>约束满足问题的回溯搜索</vt:lpstr>
      <vt:lpstr>约束满足问题的回溯搜索</vt:lpstr>
      <vt:lpstr>约束满足问题的回溯搜索</vt:lpstr>
      <vt:lpstr>问题1：变量与值的排序</vt:lpstr>
      <vt:lpstr>问题1：变量与值的排序</vt:lpstr>
      <vt:lpstr>问题1：变量与值的排序</vt:lpstr>
      <vt:lpstr>约束满足问题的回溯搜索</vt:lpstr>
      <vt:lpstr>问题2：搜索与推理的交织</vt:lpstr>
      <vt:lpstr>问题2：搜索与推理的交织</vt:lpstr>
      <vt:lpstr>问题2：搜索与推理的交织</vt:lpstr>
      <vt:lpstr>约束满足问题的回溯搜索</vt:lpstr>
      <vt:lpstr>问题3：智能回溯</vt:lpstr>
      <vt:lpstr>问题3：智能回溯</vt:lpstr>
      <vt:lpstr>问题3：智能回溯</vt:lpstr>
      <vt:lpstr>问题3：智能回溯</vt:lpstr>
      <vt:lpstr>问题3：智能回溯</vt:lpstr>
      <vt:lpstr>问题3：智能回溯</vt:lpstr>
      <vt:lpstr>问题3：智能回溯</vt:lpstr>
      <vt:lpstr>问题3：智能回溯</vt:lpstr>
      <vt:lpstr>约束满足问题</vt:lpstr>
      <vt:lpstr>CSPs 的本地搜索</vt:lpstr>
      <vt:lpstr>CSPs 的本地搜索</vt:lpstr>
      <vt:lpstr>CSPs 的本地搜索</vt:lpstr>
      <vt:lpstr>CSPs 的本地搜索</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叶 丁</dc:creator>
  <cp:lastModifiedBy>Administrator</cp:lastModifiedBy>
  <cp:revision>3369</cp:revision>
  <dcterms:created xsi:type="dcterms:W3CDTF">2018-12-16T05:38:48Z</dcterms:created>
  <dcterms:modified xsi:type="dcterms:W3CDTF">2026-03-30T02:20:11Z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Nuaxnuy@DESKTOP-GLORKB7</vt:lpwstr>
  </property>
  <property fmtid="{D5CDD505-2E9C-101B-9397-08002B2CF9AE}" pid="5" name="MSIP_Label_f42aa342-8706-4288-bd11-ebb85995028c_SetDate">
    <vt:lpwstr>2019-04-13T06:32:31.4153976Z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d5228a63-67d4-4fd6-959f-d3cab9a76c24</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ies>
</file>