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4.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7" r:id="rId2"/>
    <p:sldMasterId id="2147483683" r:id="rId3"/>
    <p:sldMasterId id="2147483704" r:id="rId4"/>
    <p:sldMasterId id="2147483725" r:id="rId5"/>
  </p:sldMasterIdLst>
  <p:notesMasterIdLst>
    <p:notesMasterId r:id="rId62"/>
  </p:notesMasterIdLst>
  <p:handoutMasterIdLst>
    <p:handoutMasterId r:id="rId63"/>
  </p:handoutMasterIdLst>
  <p:sldIdLst>
    <p:sldId id="256" r:id="rId6"/>
    <p:sldId id="623" r:id="rId7"/>
    <p:sldId id="629" r:id="rId8"/>
    <p:sldId id="630" r:id="rId9"/>
    <p:sldId id="258" r:id="rId10"/>
    <p:sldId id="631" r:id="rId11"/>
    <p:sldId id="632" r:id="rId12"/>
    <p:sldId id="578" r:id="rId13"/>
    <p:sldId id="633" r:id="rId14"/>
    <p:sldId id="545" r:id="rId15"/>
    <p:sldId id="598" r:id="rId16"/>
    <p:sldId id="599" r:id="rId17"/>
    <p:sldId id="600" r:id="rId18"/>
    <p:sldId id="622" r:id="rId19"/>
    <p:sldId id="577" r:id="rId20"/>
    <p:sldId id="597" r:id="rId21"/>
    <p:sldId id="579" r:id="rId22"/>
    <p:sldId id="546" r:id="rId23"/>
    <p:sldId id="582" r:id="rId24"/>
    <p:sldId id="547" r:id="rId25"/>
    <p:sldId id="548" r:id="rId26"/>
    <p:sldId id="580" r:id="rId27"/>
    <p:sldId id="634" r:id="rId28"/>
    <p:sldId id="635" r:id="rId29"/>
    <p:sldId id="636" r:id="rId30"/>
    <p:sldId id="601" r:id="rId31"/>
    <p:sldId id="603" r:id="rId32"/>
    <p:sldId id="602" r:id="rId33"/>
    <p:sldId id="604" r:id="rId34"/>
    <p:sldId id="605" r:id="rId35"/>
    <p:sldId id="606" r:id="rId36"/>
    <p:sldId id="616" r:id="rId37"/>
    <p:sldId id="618" r:id="rId38"/>
    <p:sldId id="619" r:id="rId39"/>
    <p:sldId id="620" r:id="rId40"/>
    <p:sldId id="621" r:id="rId41"/>
    <p:sldId id="613" r:id="rId42"/>
    <p:sldId id="615" r:id="rId43"/>
    <p:sldId id="612" r:id="rId44"/>
    <p:sldId id="581" r:id="rId45"/>
    <p:sldId id="553" r:id="rId46"/>
    <p:sldId id="607" r:id="rId47"/>
    <p:sldId id="637" r:id="rId48"/>
    <p:sldId id="555" r:id="rId49"/>
    <p:sldId id="638" r:id="rId50"/>
    <p:sldId id="608" r:id="rId51"/>
    <p:sldId id="609" r:id="rId52"/>
    <p:sldId id="639" r:id="rId53"/>
    <p:sldId id="640" r:id="rId54"/>
    <p:sldId id="641" r:id="rId55"/>
    <p:sldId id="642" r:id="rId56"/>
    <p:sldId id="643" r:id="rId57"/>
    <p:sldId id="644" r:id="rId58"/>
    <p:sldId id="645" r:id="rId59"/>
    <p:sldId id="646" r:id="rId60"/>
    <p:sldId id="594" r:id="rId61"/>
  </p:sldIdLst>
  <p:sldSz cx="12192000" cy="6858000"/>
  <p:notesSz cx="6858000" cy="9144000"/>
  <p:custDataLst>
    <p:tags r:id="rId6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3" userDrawn="1">
          <p15:clr>
            <a:srgbClr val="A4A3A4"/>
          </p15:clr>
        </p15:guide>
        <p15:guide id="2" pos="3840" userDrawn="1">
          <p15:clr>
            <a:srgbClr val="A4A3A4"/>
          </p15:clr>
        </p15:guide>
        <p15:guide id="3" pos="1050" userDrawn="1">
          <p15:clr>
            <a:srgbClr val="A4A3A4"/>
          </p15:clr>
        </p15:guide>
        <p15:guide id="4" pos="6630" userDrawn="1">
          <p15:clr>
            <a:srgbClr val="A4A3A4"/>
          </p15:clr>
        </p15:guide>
        <p15:guide id="5" orient="horz" pos="648" userDrawn="1">
          <p15:clr>
            <a:srgbClr val="A4A3A4"/>
          </p15:clr>
        </p15:guide>
        <p15:guide id="6" orient="horz" pos="731" userDrawn="1">
          <p15:clr>
            <a:srgbClr val="A4A3A4"/>
          </p15:clr>
        </p15:guide>
        <p15:guide id="7" orient="horz" pos="3952" userDrawn="1">
          <p15:clr>
            <a:srgbClr val="A4A3A4"/>
          </p15:clr>
        </p15:guide>
        <p15:guide id="8" orient="horz" pos="383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叶 丁" initials="叶" lastIdx="2" clrIdx="0">
    <p:extLst>
      <p:ext uri="{19B8F6BF-5375-455C-9EA6-DF929625EA0E}">
        <p15:presenceInfo xmlns:p15="http://schemas.microsoft.com/office/powerpoint/2012/main" userId="7525c676c6ae861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15223"/>
    <a:srgbClr val="EAB905"/>
    <a:srgbClr val="141213"/>
    <a:srgbClr val="EAB908"/>
    <a:srgbClr val="FECD54"/>
    <a:srgbClr val="817222"/>
    <a:srgbClr val="4B7D2B"/>
    <a:srgbClr val="9A8B3D"/>
    <a:srgbClr val="D3D1D2"/>
    <a:srgbClr val="5656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37" autoAdjust="0"/>
    <p:restoredTop sz="80963" autoAdjust="0"/>
  </p:normalViewPr>
  <p:slideViewPr>
    <p:cSldViewPr snapToGrid="0" showGuides="1">
      <p:cViewPr varScale="1">
        <p:scale>
          <a:sx n="88" d="100"/>
          <a:sy n="88" d="100"/>
        </p:scale>
        <p:origin x="128" y="72"/>
      </p:cViewPr>
      <p:guideLst>
        <p:guide orient="horz" pos="2273"/>
        <p:guide pos="3840"/>
        <p:guide pos="1050"/>
        <p:guide pos="6630"/>
        <p:guide orient="horz" pos="648"/>
        <p:guide orient="horz" pos="731"/>
        <p:guide orient="horz" pos="3952"/>
        <p:guide orient="horz" pos="3838"/>
      </p:guideLst>
    </p:cSldViewPr>
  </p:slideViewPr>
  <p:outlineViewPr>
    <p:cViewPr>
      <p:scale>
        <a:sx n="33" d="100"/>
        <a:sy n="33" d="100"/>
      </p:scale>
      <p:origin x="0" y="0"/>
    </p:cViewPr>
  </p:outlineViewPr>
  <p:notesTextViewPr>
    <p:cViewPr>
      <p:scale>
        <a:sx n="1" d="1"/>
        <a:sy n="1" d="1"/>
      </p:scale>
      <p:origin x="0" y="0"/>
    </p:cViewPr>
  </p:notesTextViewPr>
  <p:sorterViewPr>
    <p:cViewPr>
      <p:scale>
        <a:sx n="122" d="100"/>
        <a:sy n="122" d="100"/>
      </p:scale>
      <p:origin x="0" y="-1392"/>
    </p:cViewPr>
  </p:sorterViewPr>
  <p:notesViewPr>
    <p:cSldViewPr snapToGrid="0" showGuides="1">
      <p:cViewPr varScale="1">
        <p:scale>
          <a:sx n="83" d="100"/>
          <a:sy n="83" d="100"/>
        </p:scale>
        <p:origin x="3992" y="208"/>
      </p:cViewPr>
      <p:guideLst/>
    </p:cSldViewPr>
  </p:notesViewPr>
  <p:gridSpacing cx="46800" cy="468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handoutMaster" Target="handoutMasters/handoutMaster1.xml"/><Relationship Id="rId68"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8C176BC-2537-496C-92BE-280C92B96ED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B232F750-D334-4736-B10E-0035158269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01325C-51CE-41A1-8630-1A52C13085BB}" type="datetimeFigureOut">
              <a:rPr lang="zh-CN" altLang="en-US" smtClean="0"/>
              <a:t>2026/3/23</a:t>
            </a:fld>
            <a:endParaRPr lang="zh-CN" altLang="en-US"/>
          </a:p>
        </p:txBody>
      </p:sp>
      <p:sp>
        <p:nvSpPr>
          <p:cNvPr id="4" name="页脚占位符 3">
            <a:extLst>
              <a:ext uri="{FF2B5EF4-FFF2-40B4-BE49-F238E27FC236}">
                <a16:creationId xmlns:a16="http://schemas.microsoft.com/office/drawing/2014/main" id="{329A2961-3AD5-4B21-AA67-7500903979B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389F27F7-0D80-46EC-B423-14DAAD04B55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7E3C29-C726-4695-AB77-50247DBF3DA6}" type="slidenum">
              <a:rPr lang="zh-CN" altLang="en-US" smtClean="0"/>
              <a:t>‹#›</a:t>
            </a:fld>
            <a:endParaRPr lang="zh-CN" altLang="en-US"/>
          </a:p>
        </p:txBody>
      </p:sp>
    </p:spTree>
    <p:extLst>
      <p:ext uri="{BB962C8B-B14F-4D97-AF65-F5344CB8AC3E}">
        <p14:creationId xmlns:p14="http://schemas.microsoft.com/office/powerpoint/2010/main" val="22602408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3B8505-E7BC-4327-812D-12C5E82484FC}" type="datetimeFigureOut">
              <a:rPr lang="zh-CN" altLang="en-US" smtClean="0"/>
              <a:t>2026/3/23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1B729-817F-448C-AF52-5327A9569471}" type="slidenum">
              <a:rPr lang="zh-CN" altLang="en-US" smtClean="0"/>
              <a:t>‹#›</a:t>
            </a:fld>
            <a:endParaRPr lang="zh-CN" altLang="en-US"/>
          </a:p>
        </p:txBody>
      </p:sp>
    </p:spTree>
    <p:extLst>
      <p:ext uri="{BB962C8B-B14F-4D97-AF65-F5344CB8AC3E}">
        <p14:creationId xmlns:p14="http://schemas.microsoft.com/office/powerpoint/2010/main" val="317266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dirty="0"/>
              <a:t>Please retain proper</a:t>
            </a:r>
            <a:r>
              <a:rPr lang="en-US" baseline="0" dirty="0"/>
              <a:t> attribution, including the reference to </a:t>
            </a:r>
            <a:r>
              <a:rPr lang="en-US" baseline="0" dirty="0" err="1"/>
              <a:t>ai.berkeley.edu</a:t>
            </a:r>
            <a:r>
              <a:rPr lang="en-US" baseline="0" dirty="0"/>
              <a:t>.  </a:t>
            </a:r>
            <a:r>
              <a:rPr lang="en-US" baseline="0"/>
              <a:t>Thanks!</a:t>
            </a:r>
            <a:endParaRPr lang="en-US" sz="900" dirty="0">
              <a:latin typeface="Calibri"/>
              <a:cs typeface="Calibri"/>
            </a:endParaRPr>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a typeface="ＭＳ Ｐゴシック" panose="020B0600070205080204" pitchFamily="34" charset="-128"/>
              </a:rPr>
              <a:t>三角不等式</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35334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xfrm>
            <a:off x="457200" y="720725"/>
            <a:ext cx="6400800" cy="3600450"/>
          </a:xfrm>
          <a:ln/>
        </p:spPr>
      </p:sp>
      <p:sp>
        <p:nvSpPr>
          <p:cNvPr id="47107" name="Notes Placeholder 2"/>
          <p:cNvSpPr>
            <a:spLocks noGrp="1"/>
          </p:cNvSpPr>
          <p:nvPr>
            <p:ph type="body" idx="1"/>
          </p:nvPr>
        </p:nvSpPr>
        <p:spPr>
          <a:noFill/>
          <a:ln/>
        </p:spPr>
        <p:txBody>
          <a:bodyPr/>
          <a:lstStyle/>
          <a:p>
            <a:r>
              <a:rPr lang="zh-CN" altLang="en-US" baseline="0" dirty="0">
                <a:latin typeface="Arial" charset="0"/>
              </a:rPr>
              <a:t>第三章讨论的问题具有如下性质：环境是可观察的、确定的、已知的，问题解是一个行动序列。</a:t>
            </a:r>
            <a:endParaRPr lang="en-US" altLang="zh-CN" baseline="0" dirty="0">
              <a:latin typeface="Arial" charset="0"/>
            </a:endParaRPr>
          </a:p>
          <a:p>
            <a:r>
              <a:rPr lang="zh-CN" altLang="en-US" baseline="0" dirty="0">
                <a:latin typeface="Arial" charset="0"/>
              </a:rPr>
              <a:t>本章讨论不受这些环境性质的约束。不再强求环境的确定性和可观察性。如果传感器不能准确接收信息，或者环境只具有部分可观测性，我们需要怎么做。</a:t>
            </a:r>
            <a:endParaRPr lang="en-US" altLang="zh-CN" baseline="0" dirty="0">
              <a:latin typeface="Arial" charset="0"/>
            </a:endParaRPr>
          </a:p>
          <a:p>
            <a:endParaRPr lang="en-US" baseline="0" dirty="0">
              <a:latin typeface="Arial" charset="0"/>
            </a:endParaRPr>
          </a:p>
          <a:p>
            <a:r>
              <a:rPr lang="zh-CN" altLang="en-US" dirty="0">
                <a:latin typeface="Arial" charset="0"/>
              </a:rPr>
              <a:t>局部搜索和最优化问题</a:t>
            </a:r>
            <a:endParaRPr lang="en-US" altLang="zh-CN" dirty="0">
              <a:latin typeface="Arial" charset="0"/>
            </a:endParaRPr>
          </a:p>
          <a:p>
            <a:r>
              <a:rPr lang="zh-CN" altLang="en-US" dirty="0">
                <a:latin typeface="Arial" charset="0"/>
              </a:rPr>
              <a:t>连续空间的局部搜索</a:t>
            </a:r>
            <a:endParaRPr lang="en-US" altLang="zh-CN" dirty="0">
              <a:latin typeface="Arial" charset="0"/>
            </a:endParaRPr>
          </a:p>
          <a:p>
            <a:r>
              <a:rPr lang="zh-CN" altLang="en-US" dirty="0">
                <a:latin typeface="Arial" charset="0"/>
              </a:rPr>
              <a:t>在线搜索</a:t>
            </a:r>
            <a:r>
              <a:rPr lang="en-US" altLang="zh-CN" dirty="0">
                <a:latin typeface="Arial" charset="0"/>
              </a:rPr>
              <a:t>/</a:t>
            </a:r>
            <a:r>
              <a:rPr lang="zh-CN" altLang="en-US" dirty="0">
                <a:latin typeface="Arial" charset="0"/>
              </a:rPr>
              <a:t>联机搜索</a:t>
            </a:r>
            <a:endParaRPr lang="en-US" dirty="0">
              <a:latin typeface="Arial" charset="0"/>
            </a:endParaRPr>
          </a:p>
        </p:txBody>
      </p:sp>
      <p:sp>
        <p:nvSpPr>
          <p:cNvPr id="47108" name="Slide Number Placeholder 3"/>
          <p:cNvSpPr>
            <a:spLocks noGrp="1"/>
          </p:cNvSpPr>
          <p:nvPr>
            <p:ph type="sldNum" sz="quarter" idx="5"/>
          </p:nvPr>
        </p:nvSpPr>
        <p:spPr>
          <a:noFill/>
        </p:spPr>
        <p:txBody>
          <a:bodyPr/>
          <a:lstStyle/>
          <a:p>
            <a:fld id="{1F0E0FD6-A987-4E1A-BCF4-7669DC860F72}" type="slidenum">
              <a:rPr lang="en-US" smtClean="0">
                <a:latin typeface="Arial" charset="0"/>
              </a:rPr>
              <a:pPr/>
              <a:t>5</a:t>
            </a:fld>
            <a:endParaRPr lang="en-US">
              <a:latin typeface="Arial" charset="0"/>
            </a:endParaRPr>
          </a:p>
        </p:txBody>
      </p:sp>
    </p:spTree>
    <p:extLst>
      <p:ext uri="{BB962C8B-B14F-4D97-AF65-F5344CB8AC3E}">
        <p14:creationId xmlns:p14="http://schemas.microsoft.com/office/powerpoint/2010/main" val="1362133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FF0000"/>
                </a:solidFill>
                <a:latin typeface="Calibri"/>
                <a:cs typeface="Calibri"/>
              </a:rPr>
              <a:t>如果到目标路径是无关紧要的，我么可以考虑不同的算法，这类算法不关心路径。局部搜索算法从单个当前结点出发，通常只移动到它的邻近状态。一般情况下，不保留搜索路径。</a:t>
            </a:r>
            <a:endParaRPr lang="en-US" altLang="zh-CN" sz="1200" dirty="0">
              <a:solidFill>
                <a:srgbClr val="FF0000"/>
              </a:solidFill>
              <a:latin typeface="Calibri"/>
              <a:cs typeface="Calibri"/>
            </a:endParaRPr>
          </a:p>
          <a:p>
            <a:r>
              <a:rPr lang="zh-CN" altLang="en-US" sz="1200" dirty="0">
                <a:solidFill>
                  <a:srgbClr val="FF0000"/>
                </a:solidFill>
                <a:latin typeface="Calibri"/>
                <a:cs typeface="Calibri"/>
              </a:rPr>
              <a:t>优点：内存占用少；在很大或无限的状态空间中找到合理的解。</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4C7023-1648-4F51-874D-1B6680E39D27}"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922039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爬山法，模拟退火，局部束搜索，遗传算法</a:t>
            </a:r>
            <a:endParaRPr lang="en-US" altLang="zh-CN" dirty="0"/>
          </a:p>
          <a:p>
            <a:r>
              <a:rPr lang="zh-CN" altLang="en-US" dirty="0"/>
              <a:t>可以板书，中英文列出</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4C7023-1648-4F51-874D-1B6680E39D27}"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456087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爬山法，可以画图展示</a:t>
            </a:r>
            <a:endParaRPr lang="en-US" altLang="zh-CN" dirty="0"/>
          </a:p>
          <a:p>
            <a:endParaRPr lang="en-US" altLang="zh-CN" sz="1200" dirty="0">
              <a:solidFill>
                <a:schemeClr val="tx1"/>
              </a:solidFill>
              <a:latin typeface="Arial" pitchFamily="34" charset="0"/>
            </a:endParaRPr>
          </a:p>
          <a:p>
            <a:r>
              <a:rPr lang="zh-CN" altLang="en-US" sz="1200" dirty="0">
                <a:solidFill>
                  <a:schemeClr val="tx1"/>
                </a:solidFill>
                <a:latin typeface="Arial" pitchFamily="34" charset="0"/>
              </a:rPr>
              <a:t>板书：</a:t>
            </a:r>
            <a:endParaRPr lang="en-US" altLang="zh-CN" sz="1200" dirty="0">
              <a:solidFill>
                <a:schemeClr val="tx1"/>
              </a:solidFill>
              <a:latin typeface="Arial" pitchFamily="34" charset="0"/>
            </a:endParaRPr>
          </a:p>
          <a:p>
            <a:r>
              <a:rPr lang="zh-CN" altLang="en-US" sz="1200" dirty="0">
                <a:solidFill>
                  <a:srgbClr val="FF0000"/>
                </a:solidFill>
                <a:latin typeface="Arial" pitchFamily="34" charset="0"/>
              </a:rPr>
              <a:t>爬山法：</a:t>
            </a:r>
            <a:endParaRPr lang="en-US" altLang="zh-CN" sz="1200" dirty="0">
              <a:solidFill>
                <a:srgbClr val="FF0000"/>
              </a:solidFill>
              <a:latin typeface="Arial" pitchFamily="34" charset="0"/>
            </a:endParaRPr>
          </a:p>
          <a:p>
            <a:r>
              <a:rPr lang="en-US" altLang="zh-CN" sz="1200" dirty="0">
                <a:solidFill>
                  <a:srgbClr val="FF0000"/>
                </a:solidFill>
                <a:latin typeface="Arial" pitchFamily="34" charset="0"/>
              </a:rPr>
              <a:t>1</a:t>
            </a:r>
            <a:r>
              <a:rPr lang="zh-CN" altLang="en-US" sz="1200" dirty="0">
                <a:solidFill>
                  <a:srgbClr val="FF0000"/>
                </a:solidFill>
                <a:latin typeface="Arial" pitchFamily="34" charset="0"/>
              </a:rPr>
              <a:t>、循环：不断向值增加的方法移动。</a:t>
            </a:r>
            <a:endParaRPr lang="en-US" altLang="zh-CN" sz="1200" dirty="0">
              <a:solidFill>
                <a:srgbClr val="FF0000"/>
              </a:solidFill>
              <a:latin typeface="Arial" pitchFamily="34" charset="0"/>
            </a:endParaRPr>
          </a:p>
          <a:p>
            <a:r>
              <a:rPr lang="en-US" altLang="zh-CN" sz="1200" dirty="0">
                <a:solidFill>
                  <a:srgbClr val="FF0000"/>
                </a:solidFill>
                <a:latin typeface="Arial" pitchFamily="34" charset="0"/>
              </a:rPr>
              <a:t>2</a:t>
            </a:r>
            <a:r>
              <a:rPr lang="zh-CN" altLang="en-US" sz="1200" dirty="0">
                <a:solidFill>
                  <a:srgbClr val="FF0000"/>
                </a:solidFill>
                <a:latin typeface="Arial" pitchFamily="34" charset="0"/>
              </a:rPr>
              <a:t>、终止：登顶，当邻接状态中没有比它值更高的。</a:t>
            </a:r>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算法不维护搜索树，不会考虑当前状态不相邻的状态。类似大雾中登山。</a:t>
            </a:r>
            <a:endParaRPr lang="en-US" altLang="zh-CN" sz="1200" dirty="0">
              <a:solidFill>
                <a:srgbClr val="FF0000"/>
              </a:solidFill>
              <a:latin typeface="Arial" pitchFamily="34" charset="0"/>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4C7023-1648-4F51-874D-1B6680E39D27}"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672994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FF0000"/>
                </a:solidFill>
                <a:latin typeface="Arial" pitchFamily="34" charset="0"/>
              </a:rPr>
              <a:t>爬山法：贪婪局部搜索，只选择邻居中状态最好的一个，不考虑下一步如何走。</a:t>
            </a:r>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爬山法很快朝着解的方向进展，但会经常陷入困境： （画图展示）</a:t>
            </a:r>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局部极大值，山脊（一系列的局部最大值，从每个极大值出发，可能的行动都是指向山下），高原。</a:t>
            </a:r>
            <a:endParaRPr lang="en-US" altLang="zh-CN" sz="1200" dirty="0">
              <a:solidFill>
                <a:srgbClr val="FF0000"/>
              </a:solidFill>
              <a:latin typeface="Arial" pitchFamily="34" charset="0"/>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10</a:t>
            </a:fld>
            <a:endParaRPr lang="en-US"/>
          </a:p>
        </p:txBody>
      </p:sp>
    </p:spTree>
    <p:extLst>
      <p:ext uri="{BB962C8B-B14F-4D97-AF65-F5344CB8AC3E}">
        <p14:creationId xmlns:p14="http://schemas.microsoft.com/office/powerpoint/2010/main" val="3317631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FF0000"/>
                </a:solidFill>
                <a:latin typeface="Arial" pitchFamily="34" charset="0"/>
              </a:rPr>
              <a:t>爬山法：贪婪局部搜索，只选择邻居中状态最好的一个，不考虑下一步如何走。</a:t>
            </a:r>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爬山法很快朝着解的方向进展，但会经常陷入困境： （画图展示）</a:t>
            </a:r>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局部极大值，山脊（一系列的局部最大值，从每个极大值出发，可能的行动都是指向山下），高原。</a:t>
            </a:r>
            <a:endParaRPr lang="en-US" altLang="zh-CN" sz="1200" dirty="0">
              <a:solidFill>
                <a:srgbClr val="FF0000"/>
              </a:solidFill>
              <a:latin typeface="Arial" pitchFamily="34" charset="0"/>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11</a:t>
            </a:fld>
            <a:endParaRPr lang="en-US"/>
          </a:p>
        </p:txBody>
      </p:sp>
    </p:spTree>
    <p:extLst>
      <p:ext uri="{BB962C8B-B14F-4D97-AF65-F5344CB8AC3E}">
        <p14:creationId xmlns:p14="http://schemas.microsoft.com/office/powerpoint/2010/main" val="3549871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FF0000"/>
                </a:solidFill>
                <a:latin typeface="Arial" pitchFamily="34" charset="0"/>
              </a:rPr>
              <a:t>爬山法：贪婪局部搜索，只选择邻居中状态最好的一个，不考虑下一步如何走。</a:t>
            </a:r>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爬山法很快朝着解的方向进展，但会经常陷入困境： （画图展示）</a:t>
            </a:r>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局部极大值，山脊（一系列的局部最大值，从每个极大值出发，可能的行动都是指向山下），高原。</a:t>
            </a:r>
            <a:endParaRPr lang="en-US" altLang="zh-CN" sz="1200" dirty="0">
              <a:solidFill>
                <a:srgbClr val="FF0000"/>
              </a:solidFill>
              <a:latin typeface="Arial" pitchFamily="34" charset="0"/>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12</a:t>
            </a:fld>
            <a:endParaRPr lang="en-US"/>
          </a:p>
        </p:txBody>
      </p:sp>
    </p:spTree>
    <p:extLst>
      <p:ext uri="{BB962C8B-B14F-4D97-AF65-F5344CB8AC3E}">
        <p14:creationId xmlns:p14="http://schemas.microsoft.com/office/powerpoint/2010/main" val="950819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FF0000"/>
                </a:solidFill>
                <a:latin typeface="Arial" pitchFamily="34" charset="0"/>
              </a:rPr>
              <a:t>爬山法：贪婪局部搜索，只选择邻居中状态最好的一个，不考虑下一步如何走。</a:t>
            </a:r>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爬山法很快朝着解的方向进展，但会经常陷入困境： （画图展示）</a:t>
            </a:r>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局部极大值，山脊（一系列的局部最大值，从每个极大值出发，可能的行动都是指向山下），高原。</a:t>
            </a:r>
            <a:endParaRPr lang="en-US" altLang="zh-CN" sz="1200" dirty="0">
              <a:solidFill>
                <a:srgbClr val="FF0000"/>
              </a:solidFill>
              <a:latin typeface="Arial" pitchFamily="34" charset="0"/>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13</a:t>
            </a:fld>
            <a:endParaRPr lang="en-US"/>
          </a:p>
        </p:txBody>
      </p:sp>
    </p:spTree>
    <p:extLst>
      <p:ext uri="{BB962C8B-B14F-4D97-AF65-F5344CB8AC3E}">
        <p14:creationId xmlns:p14="http://schemas.microsoft.com/office/powerpoint/2010/main" val="684497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Arial" pitchFamily="34" charset="0"/>
                <a:ea typeface="+mn-ea"/>
                <a:cs typeface="+mn-cs"/>
              </a:rPr>
              <a:t>采用启发式函数</a:t>
            </a:r>
            <a:r>
              <a:rPr lang="en-US" altLang="zh-CN" sz="1200" b="0" i="0" u="none" strike="noStrike" kern="1200" baseline="0" dirty="0">
                <a:solidFill>
                  <a:schemeClr val="tx1"/>
                </a:solidFill>
                <a:latin typeface="Arial" pitchFamily="34" charset="0"/>
                <a:ea typeface="+mn-ea"/>
                <a:cs typeface="+mn-cs"/>
              </a:rPr>
              <a:t>h</a:t>
            </a:r>
            <a:r>
              <a:rPr lang="zh-CN" altLang="en-US" sz="1200" b="0" i="0" u="none" strike="noStrike" kern="1200" baseline="0" dirty="0">
                <a:solidFill>
                  <a:schemeClr val="tx1"/>
                </a:solidFill>
                <a:latin typeface="Arial" pitchFamily="34" charset="0"/>
                <a:ea typeface="+mn-ea"/>
                <a:cs typeface="+mn-cs"/>
              </a:rPr>
              <a:t>：形成互相共计的皇后对的数量。</a:t>
            </a:r>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该函数的全局最小值是</a:t>
            </a:r>
            <a:r>
              <a:rPr lang="en-US" altLang="zh-CN" sz="1200" b="0" i="0" u="none" strike="noStrike" kern="1200" baseline="0" dirty="0">
                <a:solidFill>
                  <a:schemeClr val="tx1"/>
                </a:solidFill>
                <a:latin typeface="Arial" pitchFamily="34" charset="0"/>
                <a:ea typeface="+mn-ea"/>
                <a:cs typeface="+mn-cs"/>
              </a:rPr>
              <a:t>0</a:t>
            </a:r>
            <a:r>
              <a:rPr lang="zh-CN" altLang="en-US" sz="1200" b="0" i="0" u="none" strike="noStrike" kern="1200" baseline="0" dirty="0">
                <a:solidFill>
                  <a:schemeClr val="tx1"/>
                </a:solidFill>
                <a:latin typeface="Arial" pitchFamily="34" charset="0"/>
                <a:ea typeface="+mn-ea"/>
                <a:cs typeface="+mn-cs"/>
              </a:rPr>
              <a:t>，仅在找到解时才会是这个值。</a:t>
            </a:r>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图中给出了所有后继的值，后继指的是移动某个皇后到这列的另一个方格中。最好的后继是</a:t>
            </a:r>
            <a:r>
              <a:rPr lang="en-US" altLang="zh-CN" sz="1200" b="0" i="0" u="none" strike="noStrike" kern="1200" baseline="0" dirty="0">
                <a:solidFill>
                  <a:schemeClr val="tx1"/>
                </a:solidFill>
                <a:latin typeface="Arial" pitchFamily="34" charset="0"/>
                <a:ea typeface="+mn-ea"/>
                <a:cs typeface="+mn-cs"/>
              </a:rPr>
              <a:t>12.</a:t>
            </a:r>
          </a:p>
          <a:p>
            <a:r>
              <a:rPr lang="zh-CN" altLang="en-US" sz="1200" b="0" i="0" u="none" strike="noStrike" kern="1200" baseline="0" dirty="0">
                <a:solidFill>
                  <a:schemeClr val="tx1"/>
                </a:solidFill>
                <a:latin typeface="Arial" pitchFamily="34" charset="0"/>
                <a:ea typeface="+mn-ea"/>
                <a:cs typeface="+mn-cs"/>
              </a:rPr>
              <a:t>如果多个后继同是最小值，爬山法会在最佳后继集合中随机选择一个进行扩展。</a:t>
            </a:r>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从左图到右图只需</a:t>
            </a:r>
            <a:r>
              <a:rPr lang="en-US" altLang="zh-CN" sz="1200" b="0" i="0" u="none" strike="noStrike" kern="1200" baseline="0" dirty="0">
                <a:solidFill>
                  <a:schemeClr val="tx1"/>
                </a:solidFill>
                <a:latin typeface="Arial" pitchFamily="34" charset="0"/>
                <a:ea typeface="+mn-ea"/>
                <a:cs typeface="+mn-cs"/>
              </a:rPr>
              <a:t>5</a:t>
            </a:r>
            <a:r>
              <a:rPr lang="zh-CN" altLang="en-US" sz="1200" b="0" i="0" u="none" strike="noStrike" kern="1200" baseline="0" dirty="0">
                <a:solidFill>
                  <a:schemeClr val="tx1"/>
                </a:solidFill>
                <a:latin typeface="Arial" pitchFamily="34" charset="0"/>
                <a:ea typeface="+mn-ea"/>
                <a:cs typeface="+mn-cs"/>
              </a:rPr>
              <a:t>步，右图中</a:t>
            </a:r>
            <a:r>
              <a:rPr lang="en-US" altLang="zh-CN" sz="1200" b="0" i="0" u="none" strike="noStrike" kern="1200" baseline="0" dirty="0">
                <a:solidFill>
                  <a:schemeClr val="tx1"/>
                </a:solidFill>
                <a:latin typeface="Arial" pitchFamily="34" charset="0"/>
                <a:ea typeface="+mn-ea"/>
                <a:cs typeface="+mn-cs"/>
              </a:rPr>
              <a:t>h=1.</a:t>
            </a:r>
          </a:p>
          <a:p>
            <a:r>
              <a:rPr lang="zh-CN" altLang="en-US" sz="1200" b="0" i="0" u="none" strike="noStrike" kern="1200" baseline="0" dirty="0">
                <a:solidFill>
                  <a:schemeClr val="tx1"/>
                </a:solidFill>
                <a:latin typeface="Arial" pitchFamily="34" charset="0"/>
                <a:ea typeface="+mn-ea"/>
                <a:cs typeface="+mn-cs"/>
              </a:rPr>
              <a:t>然而右图陷入了一个局部最小值，无论怎么移动，它的后继</a:t>
            </a:r>
            <a:r>
              <a:rPr lang="en-US" altLang="zh-CN" sz="1200" b="0" i="0" u="none" strike="noStrike" kern="1200" baseline="0" dirty="0">
                <a:solidFill>
                  <a:schemeClr val="tx1"/>
                </a:solidFill>
                <a:latin typeface="Arial" pitchFamily="34" charset="0"/>
                <a:ea typeface="+mn-ea"/>
                <a:cs typeface="+mn-cs"/>
              </a:rPr>
              <a:t>h</a:t>
            </a:r>
            <a:r>
              <a:rPr lang="zh-CN" altLang="en-US" sz="1200" b="0" i="0" u="none" strike="noStrike" kern="1200" baseline="0" dirty="0">
                <a:solidFill>
                  <a:schemeClr val="tx1"/>
                </a:solidFill>
                <a:latin typeface="Arial" pitchFamily="34" charset="0"/>
                <a:ea typeface="+mn-ea"/>
                <a:cs typeface="+mn-cs"/>
              </a:rPr>
              <a:t>值都会比他高。</a:t>
            </a:r>
            <a:endParaRPr lang="en-US" altLang="zh-CN" sz="1200" b="0" i="0" u="none" strike="noStrike" kern="1200" baseline="0" dirty="0">
              <a:solidFill>
                <a:schemeClr val="tx1"/>
              </a:solidFill>
              <a:latin typeface="Arial" pitchFamily="34" charset="0"/>
              <a:ea typeface="+mn-ea"/>
              <a:cs typeface="+mn-cs"/>
            </a:endParaRPr>
          </a:p>
          <a:p>
            <a:endParaRPr lang="en-US" altLang="zh-CN" dirty="0"/>
          </a:p>
          <a:p>
            <a:r>
              <a:rPr lang="zh-CN" altLang="en-US" dirty="0"/>
              <a:t>右边那个图第</a:t>
            </a:r>
            <a:r>
              <a:rPr lang="en-US" altLang="zh-CN" dirty="0"/>
              <a:t>4</a:t>
            </a:r>
            <a:r>
              <a:rPr lang="zh-CN" altLang="en-US" dirty="0"/>
              <a:t>列和第</a:t>
            </a:r>
            <a:r>
              <a:rPr lang="en-US" altLang="zh-CN" dirty="0"/>
              <a:t>7</a:t>
            </a:r>
            <a:r>
              <a:rPr lang="zh-CN" altLang="en-US" dirty="0"/>
              <a:t>列可以互相攻击</a:t>
            </a:r>
            <a:endParaRPr lang="en-US" altLang="zh-CN" dirty="0"/>
          </a:p>
          <a:p>
            <a:r>
              <a:rPr lang="en-US" altLang="zh-CN" dirty="0"/>
              <a:t>8 queen</a:t>
            </a:r>
            <a:r>
              <a:rPr lang="zh-CN" altLang="en-US" dirty="0"/>
              <a:t>问题要让任何两个</a:t>
            </a:r>
            <a:r>
              <a:rPr lang="en-US" altLang="zh-CN" dirty="0"/>
              <a:t>queen</a:t>
            </a:r>
            <a:r>
              <a:rPr lang="zh-CN" altLang="en-US" dirty="0"/>
              <a:t>不互相攻击，比如不在一排不在一列不在一个对角线</a:t>
            </a:r>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15</a:t>
            </a:fld>
            <a:endParaRPr lang="en-US"/>
          </a:p>
        </p:txBody>
      </p:sp>
    </p:spTree>
    <p:extLst>
      <p:ext uri="{BB962C8B-B14F-4D97-AF65-F5344CB8AC3E}">
        <p14:creationId xmlns:p14="http://schemas.microsoft.com/office/powerpoint/2010/main" val="855899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Arial" pitchFamily="34" charset="0"/>
                <a:ea typeface="+mn-ea"/>
                <a:cs typeface="+mn-cs"/>
              </a:rPr>
              <a:t>采用启发式函数</a:t>
            </a:r>
            <a:r>
              <a:rPr lang="en-US" altLang="zh-CN" sz="1200" b="0" i="0" u="none" strike="noStrike" kern="1200" baseline="0" dirty="0">
                <a:solidFill>
                  <a:schemeClr val="tx1"/>
                </a:solidFill>
                <a:latin typeface="Arial" pitchFamily="34" charset="0"/>
                <a:ea typeface="+mn-ea"/>
                <a:cs typeface="+mn-cs"/>
              </a:rPr>
              <a:t>h</a:t>
            </a:r>
            <a:r>
              <a:rPr lang="zh-CN" altLang="en-US" sz="1200" b="0" i="0" u="none" strike="noStrike" kern="1200" baseline="0" dirty="0">
                <a:solidFill>
                  <a:schemeClr val="tx1"/>
                </a:solidFill>
                <a:latin typeface="Arial" pitchFamily="34" charset="0"/>
                <a:ea typeface="+mn-ea"/>
                <a:cs typeface="+mn-cs"/>
              </a:rPr>
              <a:t>：形成互相攻击的皇后对的数量。</a:t>
            </a:r>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该函数的全局最小值是</a:t>
            </a:r>
            <a:r>
              <a:rPr lang="en-US" altLang="zh-CN" sz="1200" b="0" i="0" u="none" strike="noStrike" kern="1200" baseline="0" dirty="0">
                <a:solidFill>
                  <a:schemeClr val="tx1"/>
                </a:solidFill>
                <a:latin typeface="Arial" pitchFamily="34" charset="0"/>
                <a:ea typeface="+mn-ea"/>
                <a:cs typeface="+mn-cs"/>
              </a:rPr>
              <a:t>0</a:t>
            </a:r>
            <a:r>
              <a:rPr lang="zh-CN" altLang="en-US" sz="1200" b="0" i="0" u="none" strike="noStrike" kern="1200" baseline="0" dirty="0">
                <a:solidFill>
                  <a:schemeClr val="tx1"/>
                </a:solidFill>
                <a:latin typeface="Arial" pitchFamily="34" charset="0"/>
                <a:ea typeface="+mn-ea"/>
                <a:cs typeface="+mn-cs"/>
              </a:rPr>
              <a:t>，仅在找到解时才会是这个值。</a:t>
            </a:r>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图中给出了所有后继的值，后继指的是移动某个皇后到这列的另一个方格中。最好的后继是</a:t>
            </a:r>
            <a:r>
              <a:rPr lang="en-US" altLang="zh-CN" sz="1200" b="0" i="0" u="none" strike="noStrike" kern="1200" baseline="0" dirty="0">
                <a:solidFill>
                  <a:schemeClr val="tx1"/>
                </a:solidFill>
                <a:latin typeface="Arial" pitchFamily="34" charset="0"/>
                <a:ea typeface="+mn-ea"/>
                <a:cs typeface="+mn-cs"/>
              </a:rPr>
              <a:t>12.</a:t>
            </a:r>
          </a:p>
          <a:p>
            <a:r>
              <a:rPr lang="zh-CN" altLang="en-US" sz="1200" b="0" i="0" u="none" strike="noStrike" kern="1200" baseline="0" dirty="0">
                <a:solidFill>
                  <a:schemeClr val="tx1"/>
                </a:solidFill>
                <a:latin typeface="Arial" pitchFamily="34" charset="0"/>
                <a:ea typeface="+mn-ea"/>
                <a:cs typeface="+mn-cs"/>
              </a:rPr>
              <a:t>如果多个后继同是最小值，爬山法会在最佳后继集合中随机选择一个进行扩展。</a:t>
            </a:r>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从左图到右图只需</a:t>
            </a:r>
            <a:r>
              <a:rPr lang="en-US" altLang="zh-CN" sz="1200" b="0" i="0" u="none" strike="noStrike" kern="1200" baseline="0" dirty="0">
                <a:solidFill>
                  <a:schemeClr val="tx1"/>
                </a:solidFill>
                <a:latin typeface="Arial" pitchFamily="34" charset="0"/>
                <a:ea typeface="+mn-ea"/>
                <a:cs typeface="+mn-cs"/>
              </a:rPr>
              <a:t>5</a:t>
            </a:r>
            <a:r>
              <a:rPr lang="zh-CN" altLang="en-US" sz="1200" b="0" i="0" u="none" strike="noStrike" kern="1200" baseline="0" dirty="0">
                <a:solidFill>
                  <a:schemeClr val="tx1"/>
                </a:solidFill>
                <a:latin typeface="Arial" pitchFamily="34" charset="0"/>
                <a:ea typeface="+mn-ea"/>
                <a:cs typeface="+mn-cs"/>
              </a:rPr>
              <a:t>步，右图中</a:t>
            </a:r>
            <a:r>
              <a:rPr lang="en-US" altLang="zh-CN" sz="1200" b="0" i="0" u="none" strike="noStrike" kern="1200" baseline="0" dirty="0">
                <a:solidFill>
                  <a:schemeClr val="tx1"/>
                </a:solidFill>
                <a:latin typeface="Arial" pitchFamily="34" charset="0"/>
                <a:ea typeface="+mn-ea"/>
                <a:cs typeface="+mn-cs"/>
              </a:rPr>
              <a:t>h=1.</a:t>
            </a:r>
          </a:p>
          <a:p>
            <a:r>
              <a:rPr lang="zh-CN" altLang="en-US" sz="1200" b="0" i="0" u="none" strike="noStrike" kern="1200" baseline="0" dirty="0">
                <a:solidFill>
                  <a:schemeClr val="tx1"/>
                </a:solidFill>
                <a:latin typeface="Arial" pitchFamily="34" charset="0"/>
                <a:ea typeface="+mn-ea"/>
                <a:cs typeface="+mn-cs"/>
              </a:rPr>
              <a:t>然而右图陷入了一个局部最小值，无论怎么移动，它的后继</a:t>
            </a:r>
            <a:r>
              <a:rPr lang="en-US" altLang="zh-CN" sz="1200" b="0" i="0" u="none" strike="noStrike" kern="1200" baseline="0" dirty="0">
                <a:solidFill>
                  <a:schemeClr val="tx1"/>
                </a:solidFill>
                <a:latin typeface="Arial" pitchFamily="34" charset="0"/>
                <a:ea typeface="+mn-ea"/>
                <a:cs typeface="+mn-cs"/>
              </a:rPr>
              <a:t>h</a:t>
            </a:r>
            <a:r>
              <a:rPr lang="zh-CN" altLang="en-US" sz="1200" b="0" i="0" u="none" strike="noStrike" kern="1200" baseline="0" dirty="0">
                <a:solidFill>
                  <a:schemeClr val="tx1"/>
                </a:solidFill>
                <a:latin typeface="Arial" pitchFamily="34" charset="0"/>
                <a:ea typeface="+mn-ea"/>
                <a:cs typeface="+mn-cs"/>
              </a:rPr>
              <a:t>值都会比他高。</a:t>
            </a:r>
            <a:endParaRPr lang="en-US" altLang="zh-CN" sz="1200" b="0" i="0" u="none" strike="noStrike" kern="1200" baseline="0" dirty="0">
              <a:solidFill>
                <a:schemeClr val="tx1"/>
              </a:solidFill>
              <a:latin typeface="Arial" pitchFamily="34" charset="0"/>
              <a:ea typeface="+mn-ea"/>
              <a:cs typeface="+mn-cs"/>
            </a:endParaRPr>
          </a:p>
          <a:p>
            <a:endParaRPr lang="en-US" altLang="zh-CN" dirty="0"/>
          </a:p>
          <a:p>
            <a:r>
              <a:rPr lang="zh-CN" altLang="en-US" dirty="0"/>
              <a:t>右边那个图第</a:t>
            </a:r>
            <a:r>
              <a:rPr lang="en-US" altLang="zh-CN" dirty="0"/>
              <a:t>4</a:t>
            </a:r>
            <a:r>
              <a:rPr lang="zh-CN" altLang="en-US" dirty="0"/>
              <a:t>列和第</a:t>
            </a:r>
            <a:r>
              <a:rPr lang="en-US" altLang="zh-CN" dirty="0"/>
              <a:t>7</a:t>
            </a:r>
            <a:r>
              <a:rPr lang="zh-CN" altLang="en-US" dirty="0"/>
              <a:t>列可以互相攻击</a:t>
            </a:r>
            <a:endParaRPr lang="en-US" altLang="zh-CN" dirty="0"/>
          </a:p>
          <a:p>
            <a:r>
              <a:rPr lang="en-US" altLang="zh-CN" dirty="0"/>
              <a:t>8 queen</a:t>
            </a:r>
            <a:r>
              <a:rPr lang="zh-CN" altLang="en-US" dirty="0"/>
              <a:t>问题要让任何两个</a:t>
            </a:r>
            <a:r>
              <a:rPr lang="en-US" altLang="zh-CN" dirty="0"/>
              <a:t>queen</a:t>
            </a:r>
            <a:r>
              <a:rPr lang="zh-CN" altLang="en-US" dirty="0"/>
              <a:t>不互相攻击，比如不在一排不在一列不在一个对角线</a:t>
            </a:r>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16</a:t>
            </a:fld>
            <a:endParaRPr lang="en-US"/>
          </a:p>
        </p:txBody>
      </p:sp>
    </p:spTree>
    <p:extLst>
      <p:ext uri="{BB962C8B-B14F-4D97-AF65-F5344CB8AC3E}">
        <p14:creationId xmlns:p14="http://schemas.microsoft.com/office/powerpoint/2010/main" val="4256849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FF0000"/>
                </a:solidFill>
                <a:latin typeface="Arial" pitchFamily="34" charset="0"/>
              </a:rPr>
              <a:t>爬山法是不完备的，可能卡在局部极大值上。</a:t>
            </a:r>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纯粹的随机行走是完备的，单效率极低。</a:t>
            </a:r>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把爬山法和随机行走以某种方式结合，同时获得效率和完备性。提出了模拟退火算法。</a:t>
            </a:r>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模拟退火：加热再冷却，获得较高的硬度，晶体能量稳定。</a:t>
            </a:r>
            <a:endParaRPr lang="en-US" altLang="zh-CN"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18</a:t>
            </a:fld>
            <a:endParaRPr lang="en-US"/>
          </a:p>
        </p:txBody>
      </p:sp>
    </p:spTree>
    <p:extLst>
      <p:ext uri="{BB962C8B-B14F-4D97-AF65-F5344CB8AC3E}">
        <p14:creationId xmlns:p14="http://schemas.microsoft.com/office/powerpoint/2010/main" val="1645559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使劲摇晃（升温），再慢慢降低摇晃的强度（逐渐降温）</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还有个例子，如果有个高低不平的平面上有个乒乓球想掉到最深的裂缝中，那应该：先使劲晃动平面（加温），再缓慢摇动（降温）。</a:t>
            </a:r>
          </a:p>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19</a:t>
            </a:fld>
            <a:endParaRPr lang="en-US"/>
          </a:p>
        </p:txBody>
      </p:sp>
    </p:spTree>
    <p:extLst>
      <p:ext uri="{BB962C8B-B14F-4D97-AF65-F5344CB8AC3E}">
        <p14:creationId xmlns:p14="http://schemas.microsoft.com/office/powerpoint/2010/main" val="36414241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tx1"/>
                </a:solidFill>
                <a:latin typeface="Arial" pitchFamily="34" charset="0"/>
              </a:rPr>
              <a:t>板书：</a:t>
            </a:r>
            <a:endParaRPr lang="en-US" altLang="zh-CN" sz="1200" dirty="0">
              <a:solidFill>
                <a:schemeClr val="tx1"/>
              </a:solidFill>
              <a:latin typeface="Arial" pitchFamily="34" charset="0"/>
            </a:endParaRPr>
          </a:p>
          <a:p>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模拟退火步骤：</a:t>
            </a:r>
            <a:endParaRPr lang="en-US" altLang="zh-CN" sz="1200" dirty="0">
              <a:solidFill>
                <a:srgbClr val="FF0000"/>
              </a:solidFill>
              <a:latin typeface="Arial" pitchFamily="34" charset="0"/>
            </a:endParaRPr>
          </a:p>
          <a:p>
            <a:pPr marL="457200" indent="-457200">
              <a:buAutoNum type="arabicPeriod"/>
            </a:pPr>
            <a:r>
              <a:rPr lang="zh-CN" altLang="en-US" sz="1200" dirty="0">
                <a:solidFill>
                  <a:srgbClr val="FF0000"/>
                </a:solidFill>
                <a:latin typeface="Arial" pitchFamily="34" charset="0"/>
              </a:rPr>
              <a:t>采用随机移动，随机选择一个后继；</a:t>
            </a:r>
            <a:endParaRPr lang="en-US" altLang="zh-CN" sz="1200" dirty="0">
              <a:solidFill>
                <a:srgbClr val="FF0000"/>
              </a:solidFill>
              <a:latin typeface="Arial" pitchFamily="34" charset="0"/>
            </a:endParaRPr>
          </a:p>
          <a:p>
            <a:pPr marL="457200" indent="-457200">
              <a:buAutoNum type="arabicPeriod"/>
            </a:pPr>
            <a:r>
              <a:rPr lang="zh-CN" altLang="en-US" sz="1200" dirty="0">
                <a:solidFill>
                  <a:srgbClr val="FF0000"/>
                </a:solidFill>
                <a:latin typeface="Arial" pitchFamily="34" charset="0"/>
              </a:rPr>
              <a:t>若有效则接受；否则以</a:t>
            </a:r>
            <a:r>
              <a:rPr lang="en-US" altLang="zh-CN" sz="1200" dirty="0">
                <a:solidFill>
                  <a:srgbClr val="FF0000"/>
                </a:solidFill>
                <a:latin typeface="Arial" pitchFamily="34" charset="0"/>
              </a:rPr>
              <a:t>&lt;1</a:t>
            </a:r>
            <a:r>
              <a:rPr lang="zh-CN" altLang="en-US" sz="1200" dirty="0">
                <a:solidFill>
                  <a:srgbClr val="FF0000"/>
                </a:solidFill>
                <a:latin typeface="Arial" pitchFamily="34" charset="0"/>
              </a:rPr>
              <a:t>概率接受此移动；</a:t>
            </a:r>
            <a:endParaRPr lang="en-US" altLang="zh-CN" sz="1200" dirty="0">
              <a:solidFill>
                <a:srgbClr val="FF0000"/>
              </a:solidFill>
              <a:latin typeface="Arial" pitchFamily="34" charset="0"/>
            </a:endParaRPr>
          </a:p>
          <a:p>
            <a:pPr marL="457200" indent="-457200">
              <a:buAutoNum type="arabicPeriod"/>
            </a:pPr>
            <a:r>
              <a:rPr lang="zh-CN" altLang="en-US" sz="1200" dirty="0">
                <a:solidFill>
                  <a:srgbClr val="FF0000"/>
                </a:solidFill>
                <a:latin typeface="Arial" pitchFamily="34" charset="0"/>
              </a:rPr>
              <a:t>若移动导致状态变坏，概率则成指数下降。</a:t>
            </a:r>
            <a:endParaRPr lang="en-US" altLang="zh-CN" sz="1200" dirty="0">
              <a:solidFill>
                <a:srgbClr val="FF0000"/>
              </a:solidFill>
              <a:latin typeface="Arial" pitchFamily="34" charset="0"/>
            </a:endParaRPr>
          </a:p>
          <a:p>
            <a:pPr marL="457200" indent="-457200">
              <a:buAutoNum type="arabicPeriod"/>
            </a:pPr>
            <a:r>
              <a:rPr lang="zh-CN" altLang="en-US" sz="1200" dirty="0">
                <a:solidFill>
                  <a:srgbClr val="FF0000"/>
                </a:solidFill>
                <a:latin typeface="Arial" pitchFamily="34" charset="0"/>
              </a:rPr>
              <a:t>该概率也随</a:t>
            </a:r>
            <a:r>
              <a:rPr lang="en-US" altLang="zh-CN" sz="1200" dirty="0">
                <a:solidFill>
                  <a:srgbClr val="FF0000"/>
                </a:solidFill>
                <a:latin typeface="Arial" pitchFamily="34" charset="0"/>
              </a:rPr>
              <a:t>T</a:t>
            </a:r>
            <a:r>
              <a:rPr lang="zh-CN" altLang="en-US" sz="1200" dirty="0">
                <a:solidFill>
                  <a:srgbClr val="FF0000"/>
                </a:solidFill>
                <a:latin typeface="Arial" pitchFamily="34" charset="0"/>
              </a:rPr>
              <a:t>下降，开始较高，随着</a:t>
            </a:r>
            <a:r>
              <a:rPr lang="en-US" altLang="zh-CN" sz="1200" dirty="0">
                <a:solidFill>
                  <a:srgbClr val="FF0000"/>
                </a:solidFill>
                <a:latin typeface="Arial" pitchFamily="34" charset="0"/>
              </a:rPr>
              <a:t>T</a:t>
            </a:r>
            <a:r>
              <a:rPr lang="zh-CN" altLang="en-US" sz="1200" dirty="0">
                <a:solidFill>
                  <a:srgbClr val="FF0000"/>
                </a:solidFill>
                <a:latin typeface="Arial" pitchFamily="34" charset="0"/>
              </a:rPr>
              <a:t>下降变得不可能。</a:t>
            </a:r>
            <a:endParaRPr lang="en-US" altLang="zh-CN" sz="1200" dirty="0">
              <a:solidFill>
                <a:srgbClr val="FF0000"/>
              </a:solidFill>
              <a:latin typeface="Arial" pitchFamily="34" charset="0"/>
            </a:endParaRPr>
          </a:p>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20</a:t>
            </a:fld>
            <a:endParaRPr lang="en-US"/>
          </a:p>
        </p:txBody>
      </p:sp>
    </p:spTree>
    <p:extLst>
      <p:ext uri="{BB962C8B-B14F-4D97-AF65-F5344CB8AC3E}">
        <p14:creationId xmlns:p14="http://schemas.microsoft.com/office/powerpoint/2010/main" val="2807044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21</a:t>
            </a:fld>
            <a:endParaRPr lang="zh-CN" altLang="en-US"/>
          </a:p>
        </p:txBody>
      </p:sp>
    </p:spTree>
    <p:extLst>
      <p:ext uri="{BB962C8B-B14F-4D97-AF65-F5344CB8AC3E}">
        <p14:creationId xmlns:p14="http://schemas.microsoft.com/office/powerpoint/2010/main" val="2682598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局部束搜索</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4C7023-1648-4F51-874D-1B6680E39D27}"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2128095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tx1"/>
                </a:solidFill>
                <a:latin typeface="Arial" pitchFamily="34" charset="0"/>
              </a:rPr>
              <a:t>板书：</a:t>
            </a:r>
            <a:endParaRPr lang="en-US" altLang="zh-CN" sz="1200" dirty="0">
              <a:solidFill>
                <a:schemeClr val="tx1"/>
              </a:solidFill>
              <a:latin typeface="Arial" pitchFamily="34" charset="0"/>
            </a:endParaRPr>
          </a:p>
          <a:p>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局部束搜索步骤：</a:t>
            </a:r>
            <a:endParaRPr lang="en-US" altLang="zh-CN" sz="1200" dirty="0">
              <a:solidFill>
                <a:srgbClr val="FF0000"/>
              </a:solidFill>
              <a:latin typeface="Arial" pitchFamily="34" charset="0"/>
            </a:endParaRPr>
          </a:p>
          <a:p>
            <a:r>
              <a:rPr lang="en-US" altLang="zh-CN" sz="1200" dirty="0">
                <a:solidFill>
                  <a:srgbClr val="FF0000"/>
                </a:solidFill>
                <a:latin typeface="Arial" pitchFamily="34" charset="0"/>
              </a:rPr>
              <a:t>1. </a:t>
            </a:r>
            <a:r>
              <a:rPr lang="zh-CN" altLang="en-US" sz="1200" dirty="0">
                <a:solidFill>
                  <a:srgbClr val="FF0000"/>
                </a:solidFill>
                <a:latin typeface="Arial" pitchFamily="34" charset="0"/>
              </a:rPr>
              <a:t>随机选择</a:t>
            </a:r>
            <a:r>
              <a:rPr lang="en-US" altLang="zh-CN" sz="1200" dirty="0">
                <a:solidFill>
                  <a:srgbClr val="FF0000"/>
                </a:solidFill>
                <a:latin typeface="Arial" pitchFamily="34" charset="0"/>
              </a:rPr>
              <a:t>k</a:t>
            </a:r>
            <a:r>
              <a:rPr lang="zh-CN" altLang="en-US" sz="1200" dirty="0">
                <a:solidFill>
                  <a:srgbClr val="FF0000"/>
                </a:solidFill>
                <a:latin typeface="Arial" pitchFamily="34" charset="0"/>
              </a:rPr>
              <a:t>个状态</a:t>
            </a:r>
            <a:endParaRPr lang="en-US" altLang="zh-CN" sz="1200" dirty="0">
              <a:solidFill>
                <a:srgbClr val="FF0000"/>
              </a:solidFill>
              <a:latin typeface="Arial" pitchFamily="34" charset="0"/>
            </a:endParaRPr>
          </a:p>
          <a:p>
            <a:r>
              <a:rPr lang="en-US" altLang="zh-CN" sz="1200" dirty="0">
                <a:solidFill>
                  <a:srgbClr val="FF0000"/>
                </a:solidFill>
                <a:latin typeface="Arial" pitchFamily="34" charset="0"/>
              </a:rPr>
              <a:t>2. </a:t>
            </a:r>
            <a:r>
              <a:rPr lang="zh-CN" altLang="en-US" sz="1200" dirty="0">
                <a:solidFill>
                  <a:srgbClr val="FF0000"/>
                </a:solidFill>
                <a:latin typeface="Arial" pitchFamily="34" charset="0"/>
              </a:rPr>
              <a:t>每一步，生成所有</a:t>
            </a:r>
            <a:r>
              <a:rPr lang="en-US" altLang="zh-CN" sz="1200" dirty="0">
                <a:solidFill>
                  <a:srgbClr val="FF0000"/>
                </a:solidFill>
                <a:latin typeface="Arial" pitchFamily="34" charset="0"/>
              </a:rPr>
              <a:t>k</a:t>
            </a:r>
            <a:r>
              <a:rPr lang="zh-CN" altLang="en-US" sz="1200" dirty="0">
                <a:solidFill>
                  <a:srgbClr val="FF0000"/>
                </a:solidFill>
                <a:latin typeface="Arial" pitchFamily="34" charset="0"/>
              </a:rPr>
              <a:t>个状态的所有后继</a:t>
            </a:r>
            <a:endParaRPr lang="en-US" altLang="zh-CN" sz="1200" dirty="0">
              <a:solidFill>
                <a:srgbClr val="FF0000"/>
              </a:solidFill>
              <a:latin typeface="Arial" pitchFamily="34" charset="0"/>
            </a:endParaRPr>
          </a:p>
          <a:p>
            <a:r>
              <a:rPr lang="en-US" altLang="zh-CN" sz="1200" dirty="0">
                <a:solidFill>
                  <a:srgbClr val="FF0000"/>
                </a:solidFill>
                <a:latin typeface="Arial" pitchFamily="34" charset="0"/>
              </a:rPr>
              <a:t>3. </a:t>
            </a:r>
            <a:r>
              <a:rPr lang="zh-CN" altLang="en-US" sz="1200" dirty="0">
                <a:solidFill>
                  <a:srgbClr val="FF0000"/>
                </a:solidFill>
                <a:latin typeface="Arial" pitchFamily="34" charset="0"/>
              </a:rPr>
              <a:t>若有一个是目标，则停止</a:t>
            </a:r>
            <a:endParaRPr lang="en-US" altLang="zh-CN" sz="1200" dirty="0">
              <a:solidFill>
                <a:srgbClr val="FF0000"/>
              </a:solidFill>
              <a:latin typeface="Arial" pitchFamily="34" charset="0"/>
            </a:endParaRPr>
          </a:p>
          <a:p>
            <a:r>
              <a:rPr lang="en-US" altLang="zh-CN" sz="1200" dirty="0">
                <a:solidFill>
                  <a:srgbClr val="FF0000"/>
                </a:solidFill>
                <a:latin typeface="Arial" pitchFamily="34" charset="0"/>
              </a:rPr>
              <a:t>4. </a:t>
            </a:r>
            <a:r>
              <a:rPr lang="zh-CN" altLang="en-US" sz="1200" dirty="0">
                <a:solidFill>
                  <a:srgbClr val="FF0000"/>
                </a:solidFill>
                <a:latin typeface="Arial" pitchFamily="34" charset="0"/>
              </a:rPr>
              <a:t>否则，从整个后继列表里选</a:t>
            </a:r>
            <a:r>
              <a:rPr lang="en-US" altLang="zh-CN" sz="1200" dirty="0">
                <a:solidFill>
                  <a:srgbClr val="FF0000"/>
                </a:solidFill>
                <a:latin typeface="Arial" pitchFamily="34" charset="0"/>
              </a:rPr>
              <a:t>k</a:t>
            </a:r>
            <a:r>
              <a:rPr lang="zh-CN" altLang="en-US" sz="1200" dirty="0">
                <a:solidFill>
                  <a:srgbClr val="FF0000"/>
                </a:solidFill>
                <a:latin typeface="Arial" pitchFamily="34" charset="0"/>
              </a:rPr>
              <a:t>个最优的后继，重复以上过程。</a:t>
            </a:r>
            <a:endParaRPr lang="en-US" altLang="zh-CN" sz="1200" dirty="0">
              <a:solidFill>
                <a:srgbClr val="FF0000"/>
              </a:solidFill>
              <a:latin typeface="Arial" pitchFamily="34" charset="0"/>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4C7023-1648-4F51-874D-1B6680E39D27}"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40623396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FF0000"/>
                </a:solidFill>
                <a:latin typeface="Arial" pitchFamily="34" charset="0"/>
              </a:rPr>
              <a:t>局部束搜索是并行的，有用信息在并行的线程间传递。</a:t>
            </a:r>
            <a:endParaRPr lang="en-US" altLang="zh-CN" sz="1200" dirty="0">
              <a:solidFill>
                <a:srgbClr val="FF0000"/>
              </a:solidFill>
              <a:latin typeface="Arial" pitchFamily="34" charset="0"/>
            </a:endParaRPr>
          </a:p>
          <a:p>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而在随机重启搜索中，每个搜索是独立进行的。</a:t>
            </a:r>
            <a:endParaRPr lang="en-US" altLang="zh-CN" sz="1600" dirty="0">
              <a:solidFill>
                <a:srgbClr val="FF0000"/>
              </a:solidFill>
              <a:latin typeface="Arial" pitchFamily="34" charset="0"/>
            </a:endParaRPr>
          </a:p>
          <a:p>
            <a:endParaRPr lang="en-US" altLang="zh-CN" dirty="0"/>
          </a:p>
          <a:p>
            <a:r>
              <a:rPr lang="zh-CN" altLang="en-US" sz="1200" dirty="0">
                <a:solidFill>
                  <a:srgbClr val="FF0000"/>
                </a:solidFill>
                <a:latin typeface="Arial" pitchFamily="34" charset="0"/>
              </a:rPr>
              <a:t>局部束搜索将有效资源很快集中在一小部分状态空间来取得最大进展。</a:t>
            </a:r>
            <a:endParaRPr lang="en-US" altLang="zh-CN" sz="1200" dirty="0">
              <a:solidFill>
                <a:srgbClr val="FF0000"/>
              </a:solidFill>
              <a:latin typeface="Arial" pitchFamily="34" charset="0"/>
            </a:endParaRPr>
          </a:p>
          <a:p>
            <a:r>
              <a:rPr lang="zh-CN" altLang="en-US" sz="1200" dirty="0">
                <a:solidFill>
                  <a:srgbClr val="FF0000"/>
                </a:solidFill>
                <a:latin typeface="Arial" pitchFamily="34" charset="0"/>
              </a:rPr>
              <a:t>同样也可能导致算法陷入局部区域，且代价要比爬山法高很多。</a:t>
            </a:r>
            <a:endParaRPr lang="en-US" altLang="zh-CN" sz="1200" dirty="0">
              <a:solidFill>
                <a:srgbClr val="FF0000"/>
              </a:solidFill>
              <a:latin typeface="Arial" pitchFamily="34" charset="0"/>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4C7023-1648-4F51-874D-1B6680E39D27}"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8509273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26</a:t>
            </a:fld>
            <a:endParaRPr lang="en-US"/>
          </a:p>
        </p:txBody>
      </p:sp>
    </p:spTree>
    <p:extLst>
      <p:ext uri="{BB962C8B-B14F-4D97-AF65-F5344CB8AC3E}">
        <p14:creationId xmlns:p14="http://schemas.microsoft.com/office/powerpoint/2010/main" val="39751345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27</a:t>
            </a:fld>
            <a:endParaRPr lang="en-US"/>
          </a:p>
        </p:txBody>
      </p:sp>
    </p:spTree>
    <p:extLst>
      <p:ext uri="{BB962C8B-B14F-4D97-AF65-F5344CB8AC3E}">
        <p14:creationId xmlns:p14="http://schemas.microsoft.com/office/powerpoint/2010/main" val="29285963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28</a:t>
            </a:fld>
            <a:endParaRPr lang="en-US"/>
          </a:p>
        </p:txBody>
      </p:sp>
    </p:spTree>
    <p:extLst>
      <p:ext uri="{BB962C8B-B14F-4D97-AF65-F5344CB8AC3E}">
        <p14:creationId xmlns:p14="http://schemas.microsoft.com/office/powerpoint/2010/main" val="14693041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29</a:t>
            </a:fld>
            <a:endParaRPr lang="en-US"/>
          </a:p>
        </p:txBody>
      </p:sp>
    </p:spTree>
    <p:extLst>
      <p:ext uri="{BB962C8B-B14F-4D97-AF65-F5344CB8AC3E}">
        <p14:creationId xmlns:p14="http://schemas.microsoft.com/office/powerpoint/2010/main" val="14843844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30</a:t>
            </a:fld>
            <a:endParaRPr lang="en-US"/>
          </a:p>
        </p:txBody>
      </p:sp>
    </p:spTree>
    <p:extLst>
      <p:ext uri="{BB962C8B-B14F-4D97-AF65-F5344CB8AC3E}">
        <p14:creationId xmlns:p14="http://schemas.microsoft.com/office/powerpoint/2010/main" val="12276965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31</a:t>
            </a:fld>
            <a:endParaRPr lang="en-US"/>
          </a:p>
        </p:txBody>
      </p:sp>
    </p:spTree>
    <p:extLst>
      <p:ext uri="{BB962C8B-B14F-4D97-AF65-F5344CB8AC3E}">
        <p14:creationId xmlns:p14="http://schemas.microsoft.com/office/powerpoint/2010/main" val="6696609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t>32</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t>33</a:t>
            </a:fld>
            <a:endParaRPr lang="en-US"/>
          </a:p>
        </p:txBody>
      </p:sp>
    </p:spTree>
    <p:extLst>
      <p:ext uri="{BB962C8B-B14F-4D97-AF65-F5344CB8AC3E}">
        <p14:creationId xmlns:p14="http://schemas.microsoft.com/office/powerpoint/2010/main" val="26168075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t>34</a:t>
            </a:fld>
            <a:endParaRPr lang="en-US"/>
          </a:p>
        </p:txBody>
      </p:sp>
    </p:spTree>
    <p:extLst>
      <p:ext uri="{BB962C8B-B14F-4D97-AF65-F5344CB8AC3E}">
        <p14:creationId xmlns:p14="http://schemas.microsoft.com/office/powerpoint/2010/main" val="33052172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t>35</a:t>
            </a:fld>
            <a:endParaRPr lang="en-US"/>
          </a:p>
        </p:txBody>
      </p:sp>
    </p:spTree>
    <p:extLst>
      <p:ext uri="{BB962C8B-B14F-4D97-AF65-F5344CB8AC3E}">
        <p14:creationId xmlns:p14="http://schemas.microsoft.com/office/powerpoint/2010/main" val="18822519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t>36</a:t>
            </a:fld>
            <a:endParaRPr lang="en-US"/>
          </a:p>
        </p:txBody>
      </p:sp>
    </p:spTree>
    <p:extLst>
      <p:ext uri="{BB962C8B-B14F-4D97-AF65-F5344CB8AC3E}">
        <p14:creationId xmlns:p14="http://schemas.microsoft.com/office/powerpoint/2010/main" val="29401557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t>37</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t>38</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t>39</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遗传算法</a:t>
            </a:r>
            <a:endParaRPr lang="en-US" altLang="zh-CN" dirty="0"/>
          </a:p>
          <a:p>
            <a:endParaRPr lang="en-US" altLang="zh-CN" dirty="0"/>
          </a:p>
          <a:p>
            <a:r>
              <a:rPr lang="en-US" altLang="zh-CN" dirty="0"/>
              <a:t>Population/individual</a:t>
            </a:r>
            <a:r>
              <a:rPr lang="zh-CN" altLang="en-US" dirty="0"/>
              <a:t>：种群，每个状态称为个体</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Population/individual</a:t>
            </a:r>
            <a:r>
              <a:rPr lang="en-US" altLang="zh-CN" b="1" dirty="0"/>
              <a:t>:  </a:t>
            </a:r>
            <a:r>
              <a:rPr lang="en-US" altLang="zh-CN" dirty="0"/>
              <a:t>a set of k randomly generated states</a:t>
            </a:r>
            <a:r>
              <a:rPr lang="zh-CN" altLang="en-US" dirty="0"/>
              <a:t>种群，每个状态称为个体</a:t>
            </a:r>
            <a:r>
              <a:rPr lang="en-US" altLang="zh-CN" dirty="0"/>
              <a:t>        </a:t>
            </a:r>
          </a:p>
          <a:p>
            <a:r>
              <a:rPr lang="en-US" altLang="zh-CN" b="1" dirty="0"/>
              <a:t>fitness function: </a:t>
            </a:r>
            <a:r>
              <a:rPr lang="en-US" altLang="zh-CN" dirty="0"/>
              <a:t>each state is rated by the objective function        </a:t>
            </a:r>
            <a:r>
              <a:rPr lang="zh-CN" altLang="en-US" dirty="0"/>
              <a:t>适应度函数</a:t>
            </a:r>
            <a:endParaRPr lang="en-US" altLang="zh-CN" dirty="0"/>
          </a:p>
          <a:p>
            <a:r>
              <a:rPr lang="en-US" altLang="zh-CN" b="1" dirty="0"/>
              <a:t>Crossover: </a:t>
            </a:r>
            <a:r>
              <a:rPr lang="en-US" altLang="zh-CN" dirty="0"/>
              <a:t>each pair to be mated                                                     </a:t>
            </a:r>
            <a:r>
              <a:rPr lang="zh-CN" altLang="en-US" dirty="0"/>
              <a:t>杂交</a:t>
            </a:r>
            <a:endParaRPr lang="en-US" altLang="zh-CN" dirty="0"/>
          </a:p>
          <a:p>
            <a:r>
              <a:rPr lang="en-US" altLang="zh-CN" b="1" dirty="0"/>
              <a:t>Mutation:                                                                                           </a:t>
            </a:r>
            <a:r>
              <a:rPr lang="zh-CN" altLang="en-US" b="1" dirty="0"/>
              <a:t>变异</a:t>
            </a: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41</a:t>
            </a:fld>
            <a:endParaRPr lang="en-US"/>
          </a:p>
        </p:txBody>
      </p:sp>
    </p:spTree>
    <p:extLst>
      <p:ext uri="{BB962C8B-B14F-4D97-AF65-F5344CB8AC3E}">
        <p14:creationId xmlns:p14="http://schemas.microsoft.com/office/powerpoint/2010/main" val="11281961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遗传算法</a:t>
            </a:r>
            <a:endParaRPr lang="en-US" altLang="zh-CN" dirty="0"/>
          </a:p>
          <a:p>
            <a:endParaRPr lang="en-US" altLang="zh-CN" dirty="0"/>
          </a:p>
          <a:p>
            <a:r>
              <a:rPr lang="en-US" altLang="zh-CN" dirty="0"/>
              <a:t>Population/individual</a:t>
            </a:r>
            <a:r>
              <a:rPr lang="zh-CN" altLang="en-US" dirty="0"/>
              <a:t>：种群，每个状态称为个体</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Population/individual</a:t>
            </a:r>
            <a:r>
              <a:rPr lang="en-US" altLang="zh-CN" b="1" dirty="0"/>
              <a:t>:  </a:t>
            </a:r>
            <a:r>
              <a:rPr lang="en-US" altLang="zh-CN" dirty="0"/>
              <a:t>a set of k randomly generated states</a:t>
            </a:r>
            <a:r>
              <a:rPr lang="zh-CN" altLang="en-US" dirty="0"/>
              <a:t>种群，每个状态称为个体</a:t>
            </a:r>
            <a:r>
              <a:rPr lang="en-US" altLang="zh-CN" dirty="0"/>
              <a:t>        </a:t>
            </a:r>
          </a:p>
          <a:p>
            <a:r>
              <a:rPr lang="en-US" altLang="zh-CN" b="1" dirty="0"/>
              <a:t>fitness function: </a:t>
            </a:r>
            <a:r>
              <a:rPr lang="en-US" altLang="zh-CN" dirty="0"/>
              <a:t>each state is rated by the objective function        </a:t>
            </a:r>
            <a:r>
              <a:rPr lang="zh-CN" altLang="en-US" dirty="0"/>
              <a:t>适应度函数</a:t>
            </a:r>
            <a:endParaRPr lang="en-US" altLang="zh-CN" dirty="0"/>
          </a:p>
          <a:p>
            <a:r>
              <a:rPr lang="en-US" altLang="zh-CN" b="1" dirty="0"/>
              <a:t>Crossover: </a:t>
            </a:r>
            <a:r>
              <a:rPr lang="en-US" altLang="zh-CN" dirty="0"/>
              <a:t>each pair to be mated                                                     </a:t>
            </a:r>
            <a:r>
              <a:rPr lang="zh-CN" altLang="en-US" dirty="0"/>
              <a:t>杂交</a:t>
            </a:r>
            <a:endParaRPr lang="en-US" altLang="zh-CN" dirty="0"/>
          </a:p>
          <a:p>
            <a:r>
              <a:rPr lang="en-US" altLang="zh-CN" b="1" dirty="0"/>
              <a:t>Mutation:                                                                                           </a:t>
            </a:r>
            <a:r>
              <a:rPr lang="zh-CN" altLang="en-US" b="1" dirty="0"/>
              <a:t>变异</a:t>
            </a: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42</a:t>
            </a:fld>
            <a:endParaRPr lang="en-US"/>
          </a:p>
        </p:txBody>
      </p:sp>
    </p:spTree>
    <p:extLst>
      <p:ext uri="{BB962C8B-B14F-4D97-AF65-F5344CB8AC3E}">
        <p14:creationId xmlns:p14="http://schemas.microsoft.com/office/powerpoint/2010/main" val="8139234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随机产生</a:t>
            </a:r>
            <a:r>
              <a:rPr lang="en-US" altLang="zh-CN" dirty="0"/>
              <a:t>k</a:t>
            </a:r>
            <a:r>
              <a:rPr lang="zh-CN" altLang="en-US" dirty="0"/>
              <a:t>个状态，称为种群。</a:t>
            </a:r>
            <a:endParaRPr lang="en-US" altLang="zh-CN" dirty="0"/>
          </a:p>
          <a:p>
            <a:r>
              <a:rPr lang="zh-CN" altLang="en-US" dirty="0"/>
              <a:t>对每个状态计算目标函数或适应度函数（遗传算法术语）。好的状态，适应度较高。</a:t>
            </a:r>
            <a:endParaRPr lang="en-US" altLang="zh-CN" dirty="0"/>
          </a:p>
          <a:p>
            <a:r>
              <a:rPr lang="zh-CN" altLang="en-US" dirty="0"/>
              <a:t>按照</a:t>
            </a:r>
            <a:r>
              <a:rPr lang="en-US" altLang="zh-CN" dirty="0"/>
              <a:t>b</a:t>
            </a:r>
            <a:r>
              <a:rPr lang="zh-CN" altLang="en-US" dirty="0"/>
              <a:t>的概率随机的选择两对进行繁殖。</a:t>
            </a:r>
            <a:endParaRPr lang="en-US" altLang="zh-CN" dirty="0"/>
          </a:p>
          <a:p>
            <a:r>
              <a:rPr lang="zh-CN" altLang="en-US" dirty="0"/>
              <a:t>父代在杂交点上进行杂交创造后代。</a:t>
            </a:r>
            <a:endParaRPr lang="en-US" altLang="zh-CN" dirty="0"/>
          </a:p>
          <a:p>
            <a:r>
              <a:rPr lang="zh-CN" altLang="en-US" dirty="0"/>
              <a:t>每个位置都会按照某个小的独立概率随机变异。</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4C7023-1648-4F51-874D-1B6680E39D27}"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4986982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a:t>
            </a:r>
            <a:r>
              <a:rPr lang="en-US" altLang="zh-CN" dirty="0"/>
              <a:t>b</a:t>
            </a:r>
            <a:r>
              <a:rPr lang="zh-CN" altLang="en-US" dirty="0"/>
              <a:t>中，每个状态都由它的目标函数或适应度函数（遗传算法属于）给出评估值。对于好的状态，适应度函数应该返回较高的值。</a:t>
            </a:r>
            <a:endParaRPr lang="en-US" altLang="zh-CN" dirty="0"/>
          </a:p>
          <a:p>
            <a:r>
              <a:rPr lang="zh-CN" altLang="en-US" dirty="0"/>
              <a:t>在</a:t>
            </a:r>
            <a:r>
              <a:rPr lang="en-US" altLang="zh-CN" dirty="0"/>
              <a:t>8</a:t>
            </a:r>
            <a:r>
              <a:rPr lang="zh-CN" altLang="en-US" dirty="0"/>
              <a:t>皇后里，我们用互不相互攻击的皇后对数目来表示，最优解的的适应度是</a:t>
            </a:r>
            <a:r>
              <a:rPr lang="en-US" altLang="zh-CN" dirty="0"/>
              <a:t>28. </a:t>
            </a:r>
            <a:r>
              <a:rPr lang="zh-CN" altLang="en-US" dirty="0"/>
              <a:t>这四个状态的适应度分别是</a:t>
            </a:r>
            <a:r>
              <a:rPr lang="en-US" altLang="zh-CN" dirty="0"/>
              <a:t>24,23,20,11.</a:t>
            </a:r>
          </a:p>
          <a:p>
            <a:r>
              <a:rPr lang="zh-CN" altLang="en-US" dirty="0"/>
              <a:t>被选择进行繁殖的概率直接与个体的适应度成正比。</a:t>
            </a:r>
            <a:endParaRPr lang="en-US" altLang="zh-CN" dirty="0"/>
          </a:p>
          <a:p>
            <a:endParaRPr lang="en-US" altLang="zh-CN" dirty="0"/>
          </a:p>
          <a:p>
            <a:r>
              <a:rPr lang="en-US" altLang="zh-CN" dirty="0"/>
              <a:t>C</a:t>
            </a:r>
            <a:r>
              <a:rPr lang="zh-CN" altLang="en-US" dirty="0"/>
              <a:t>中，按照</a:t>
            </a:r>
            <a:r>
              <a:rPr lang="en-US" altLang="zh-CN" dirty="0"/>
              <a:t>b</a:t>
            </a:r>
            <a:r>
              <a:rPr lang="zh-CN" altLang="en-US" dirty="0"/>
              <a:t>的概率随机的选择两对进行繁殖。对于要配对的每对个体，随机选择一个位置作为杂交点。</a:t>
            </a:r>
            <a:endParaRPr lang="en-US" altLang="zh-CN" dirty="0"/>
          </a:p>
          <a:p>
            <a:r>
              <a:rPr lang="en-US" altLang="zh-CN" dirty="0"/>
              <a:t>D</a:t>
            </a:r>
            <a:r>
              <a:rPr lang="zh-CN" altLang="en-US" dirty="0"/>
              <a:t>中，父串在杂交点上进行杂交创造后代。</a:t>
            </a:r>
            <a:endParaRPr lang="en-US" altLang="zh-CN" dirty="0"/>
          </a:p>
          <a:p>
            <a:r>
              <a:rPr lang="en-US" altLang="zh-CN" dirty="0"/>
              <a:t>E</a:t>
            </a:r>
            <a:r>
              <a:rPr lang="zh-CN" altLang="en-US" dirty="0"/>
              <a:t>中，每个位置都会按照某个小的独立概率随机变异。在</a:t>
            </a:r>
            <a:r>
              <a:rPr lang="en-US" altLang="zh-CN" dirty="0"/>
              <a:t>8</a:t>
            </a:r>
            <a:r>
              <a:rPr lang="zh-CN" altLang="en-US" dirty="0"/>
              <a:t>皇后问题中，相当于随机地选取一个皇后并把它随机的放到该列的某一个方格里。</a:t>
            </a: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44</a:t>
            </a:fld>
            <a:endParaRPr lang="en-US"/>
          </a:p>
        </p:txBody>
      </p:sp>
    </p:spTree>
    <p:extLst>
      <p:ext uri="{BB962C8B-B14F-4D97-AF65-F5344CB8AC3E}">
        <p14:creationId xmlns:p14="http://schemas.microsoft.com/office/powerpoint/2010/main" val="28771430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Arial" pitchFamily="34" charset="0"/>
                <a:ea typeface="+mn-ea"/>
                <a:cs typeface="+mn-cs"/>
              </a:rPr>
              <a:t>Yet it can be</a:t>
            </a:r>
          </a:p>
          <a:p>
            <a:r>
              <a:rPr lang="en-US" altLang="zh-CN" sz="1200" b="0" i="0" u="none" strike="noStrike" kern="1200" baseline="0" dirty="0">
                <a:solidFill>
                  <a:schemeClr val="tx1"/>
                </a:solidFill>
                <a:latin typeface="Arial" pitchFamily="34" charset="0"/>
                <a:ea typeface="+mn-ea"/>
                <a:cs typeface="+mn-cs"/>
              </a:rPr>
              <a:t>shown mathematically that, if the positions of the genetic code are permuted initially in a</a:t>
            </a:r>
          </a:p>
          <a:p>
            <a:r>
              <a:rPr lang="en-US" altLang="zh-CN" sz="1200" b="0" i="0" u="none" strike="noStrike" kern="1200" baseline="0" dirty="0">
                <a:solidFill>
                  <a:schemeClr val="tx1"/>
                </a:solidFill>
                <a:latin typeface="Arial" pitchFamily="34" charset="0"/>
                <a:ea typeface="+mn-ea"/>
                <a:cs typeface="+mn-cs"/>
              </a:rPr>
              <a:t>random order, crossover conveys no advantage.</a:t>
            </a:r>
          </a:p>
          <a:p>
            <a:r>
              <a:rPr lang="zh-CN" altLang="en-US" sz="1200" b="0" i="0" u="none" strike="noStrike" kern="1200" baseline="0" dirty="0">
                <a:solidFill>
                  <a:schemeClr val="tx1"/>
                </a:solidFill>
                <a:latin typeface="Arial" pitchFamily="34" charset="0"/>
                <a:ea typeface="+mn-ea"/>
                <a:cs typeface="+mn-cs"/>
              </a:rPr>
              <a:t>数学上可以证明，如果基因编码的位置在初始的时候就允许随机转换，杂交就没有优势了。</a:t>
            </a:r>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遗传算法结合了：上山趋势、随机搜索、并行信息交换。</a:t>
            </a:r>
            <a:endParaRPr lang="en-US" altLang="zh-CN" sz="1200" b="0" i="0" u="none" strike="noStrike" kern="1200" baseline="0" dirty="0">
              <a:solidFill>
                <a:schemeClr val="tx1"/>
              </a:solidFill>
              <a:latin typeface="Arial" pitchFamily="34" charset="0"/>
              <a:ea typeface="+mn-ea"/>
              <a:cs typeface="+mn-cs"/>
            </a:endParaRPr>
          </a:p>
          <a:p>
            <a:r>
              <a:rPr lang="zh-CN" altLang="en-US" sz="1200" dirty="0">
                <a:solidFill>
                  <a:srgbClr val="FF0000"/>
                </a:solidFill>
                <a:latin typeface="Arial" pitchFamily="34" charset="0"/>
              </a:rPr>
              <a:t>上山趋势（适应度函数高的）、随机搜索（变异）、并行信息交换（产生后代，杂交）。</a:t>
            </a:r>
            <a:endParaRPr lang="en-US" altLang="zh-CN" sz="1200" dirty="0">
              <a:solidFill>
                <a:srgbClr val="FF0000"/>
              </a:solidFill>
              <a:latin typeface="Arial" pitchFamily="34" charset="0"/>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直观上说，杂交的优势在于它能将独立发展出来的能执行有用功能的字符区域结合起来，因此提到了搜索的粒度。例如，将前三个皇后分别放在</a:t>
            </a:r>
            <a:r>
              <a:rPr lang="en-US" altLang="zh-CN" sz="1200" b="0" i="0" u="none" strike="noStrike" kern="1200" baseline="0" dirty="0">
                <a:solidFill>
                  <a:schemeClr val="tx1"/>
                </a:solidFill>
                <a:latin typeface="Arial" pitchFamily="34" charset="0"/>
                <a:ea typeface="+mn-ea"/>
                <a:cs typeface="+mn-cs"/>
              </a:rPr>
              <a:t>246</a:t>
            </a:r>
            <a:r>
              <a:rPr lang="zh-CN" altLang="en-US" sz="1200" b="0" i="0" u="none" strike="noStrike" kern="1200" baseline="0" dirty="0">
                <a:solidFill>
                  <a:schemeClr val="tx1"/>
                </a:solidFill>
                <a:latin typeface="Arial" pitchFamily="34" charset="0"/>
                <a:ea typeface="+mn-ea"/>
                <a:cs typeface="+mn-cs"/>
              </a:rPr>
              <a:t>位置（互补攻击）就组成了一个有用的区域，他可以和其他有用的区域组合起来形成问题的解。</a:t>
            </a:r>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45</a:t>
            </a:fld>
            <a:endParaRPr lang="en-US"/>
          </a:p>
        </p:txBody>
      </p:sp>
    </p:spTree>
    <p:extLst>
      <p:ext uri="{BB962C8B-B14F-4D97-AF65-F5344CB8AC3E}">
        <p14:creationId xmlns:p14="http://schemas.microsoft.com/office/powerpoint/2010/main" val="22216087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Arial" pitchFamily="34" charset="0"/>
                <a:ea typeface="+mn-ea"/>
                <a:cs typeface="+mn-cs"/>
              </a:rPr>
              <a:t>Yet it can be</a:t>
            </a:r>
          </a:p>
          <a:p>
            <a:r>
              <a:rPr lang="en-US" altLang="zh-CN" sz="1200" b="0" i="0" u="none" strike="noStrike" kern="1200" baseline="0" dirty="0">
                <a:solidFill>
                  <a:schemeClr val="tx1"/>
                </a:solidFill>
                <a:latin typeface="Arial" pitchFamily="34" charset="0"/>
                <a:ea typeface="+mn-ea"/>
                <a:cs typeface="+mn-cs"/>
              </a:rPr>
              <a:t>shown mathematically that, if the positions of the genetic code are permuted initially in a</a:t>
            </a:r>
          </a:p>
          <a:p>
            <a:r>
              <a:rPr lang="en-US" altLang="zh-CN" sz="1200" b="0" i="0" u="none" strike="noStrike" kern="1200" baseline="0" dirty="0">
                <a:solidFill>
                  <a:schemeClr val="tx1"/>
                </a:solidFill>
                <a:latin typeface="Arial" pitchFamily="34" charset="0"/>
                <a:ea typeface="+mn-ea"/>
                <a:cs typeface="+mn-cs"/>
              </a:rPr>
              <a:t>random order, crossover conveys no advantage.</a:t>
            </a:r>
          </a:p>
          <a:p>
            <a:r>
              <a:rPr lang="zh-CN" altLang="en-US" sz="1200" b="0" i="0" u="none" strike="noStrike" kern="1200" baseline="0" dirty="0">
                <a:solidFill>
                  <a:schemeClr val="tx1"/>
                </a:solidFill>
                <a:latin typeface="Arial" pitchFamily="34" charset="0"/>
                <a:ea typeface="+mn-ea"/>
                <a:cs typeface="+mn-cs"/>
              </a:rPr>
              <a:t>数学上可以证明，如果基因编码的位置在初始的时候就允许随机转换，杂交就没有优势了。</a:t>
            </a:r>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遗传算法结合了：上山趋势、随机搜索、并行信息交换。</a:t>
            </a:r>
            <a:endParaRPr lang="en-US" altLang="zh-CN" sz="1200" b="0" i="0" u="none" strike="noStrike" kern="1200" baseline="0" dirty="0">
              <a:solidFill>
                <a:schemeClr val="tx1"/>
              </a:solidFill>
              <a:latin typeface="Arial" pitchFamily="34" charset="0"/>
              <a:ea typeface="+mn-ea"/>
              <a:cs typeface="+mn-cs"/>
            </a:endParaRPr>
          </a:p>
          <a:p>
            <a:r>
              <a:rPr lang="zh-CN" altLang="en-US" sz="1200" dirty="0">
                <a:solidFill>
                  <a:srgbClr val="FF0000"/>
                </a:solidFill>
                <a:latin typeface="Arial" pitchFamily="34" charset="0"/>
              </a:rPr>
              <a:t>上山趋势（适应度函数高的）、随机搜索（变异）、并行信息交换（产生后代，杂交）。</a:t>
            </a:r>
            <a:endParaRPr lang="en-US" altLang="zh-CN" sz="1200" dirty="0">
              <a:solidFill>
                <a:srgbClr val="FF0000"/>
              </a:solidFill>
              <a:latin typeface="Arial" pitchFamily="34" charset="0"/>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直观上说，杂交的优势在于它能将独立发展出来的能执行有用功能的字符区域结合起来，因此提到了搜索的粒度。例如，将前三个皇后分别放在</a:t>
            </a:r>
            <a:r>
              <a:rPr lang="en-US" altLang="zh-CN" sz="1200" b="0" i="0" u="none" strike="noStrike" kern="1200" baseline="0" dirty="0">
                <a:solidFill>
                  <a:schemeClr val="tx1"/>
                </a:solidFill>
                <a:latin typeface="Arial" pitchFamily="34" charset="0"/>
                <a:ea typeface="+mn-ea"/>
                <a:cs typeface="+mn-cs"/>
              </a:rPr>
              <a:t>246</a:t>
            </a:r>
            <a:r>
              <a:rPr lang="zh-CN" altLang="en-US" sz="1200" b="0" i="0" u="none" strike="noStrike" kern="1200" baseline="0" dirty="0">
                <a:solidFill>
                  <a:schemeClr val="tx1"/>
                </a:solidFill>
                <a:latin typeface="Arial" pitchFamily="34" charset="0"/>
                <a:ea typeface="+mn-ea"/>
                <a:cs typeface="+mn-cs"/>
              </a:rPr>
              <a:t>位置（互补攻击）就组成了一个有用的区域，他可以和其他有用的区域组合起来形成问题的解。</a:t>
            </a:r>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46</a:t>
            </a:fld>
            <a:endParaRPr lang="en-US"/>
          </a:p>
        </p:txBody>
      </p:sp>
    </p:spTree>
    <p:extLst>
      <p:ext uri="{BB962C8B-B14F-4D97-AF65-F5344CB8AC3E}">
        <p14:creationId xmlns:p14="http://schemas.microsoft.com/office/powerpoint/2010/main" val="27651554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Arial" pitchFamily="34" charset="0"/>
                <a:ea typeface="+mn-ea"/>
                <a:cs typeface="+mn-cs"/>
              </a:rPr>
              <a:t>Yet it can be</a:t>
            </a:r>
          </a:p>
          <a:p>
            <a:r>
              <a:rPr lang="en-US" altLang="zh-CN" sz="1200" b="0" i="0" u="none" strike="noStrike" kern="1200" baseline="0" dirty="0">
                <a:solidFill>
                  <a:schemeClr val="tx1"/>
                </a:solidFill>
                <a:latin typeface="Arial" pitchFamily="34" charset="0"/>
                <a:ea typeface="+mn-ea"/>
                <a:cs typeface="+mn-cs"/>
              </a:rPr>
              <a:t>shown mathematically that, if the positions of the genetic code are permuted initially in a</a:t>
            </a:r>
          </a:p>
          <a:p>
            <a:r>
              <a:rPr lang="en-US" altLang="zh-CN" sz="1200" b="0" i="0" u="none" strike="noStrike" kern="1200" baseline="0" dirty="0">
                <a:solidFill>
                  <a:schemeClr val="tx1"/>
                </a:solidFill>
                <a:latin typeface="Arial" pitchFamily="34" charset="0"/>
                <a:ea typeface="+mn-ea"/>
                <a:cs typeface="+mn-cs"/>
              </a:rPr>
              <a:t>random order, crossover conveys no advantage.</a:t>
            </a:r>
          </a:p>
          <a:p>
            <a:r>
              <a:rPr lang="zh-CN" altLang="en-US" sz="1200" b="0" i="0" u="none" strike="noStrike" kern="1200" baseline="0" dirty="0">
                <a:solidFill>
                  <a:schemeClr val="tx1"/>
                </a:solidFill>
                <a:latin typeface="Arial" pitchFamily="34" charset="0"/>
                <a:ea typeface="+mn-ea"/>
                <a:cs typeface="+mn-cs"/>
              </a:rPr>
              <a:t>数学上可以证明，如果基因编码的位置在初始的时候就允许随机转换，杂交就没有优势了。</a:t>
            </a:r>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遗传算法结合了：上山趋势、随机搜索、并行信息交换。</a:t>
            </a:r>
            <a:endParaRPr lang="en-US" altLang="zh-CN" sz="1200" b="0" i="0" u="none" strike="noStrike" kern="1200" baseline="0" dirty="0">
              <a:solidFill>
                <a:schemeClr val="tx1"/>
              </a:solidFill>
              <a:latin typeface="Arial" pitchFamily="34" charset="0"/>
              <a:ea typeface="+mn-ea"/>
              <a:cs typeface="+mn-cs"/>
            </a:endParaRPr>
          </a:p>
          <a:p>
            <a:r>
              <a:rPr lang="zh-CN" altLang="en-US" sz="1200" dirty="0">
                <a:solidFill>
                  <a:srgbClr val="FF0000"/>
                </a:solidFill>
                <a:latin typeface="Arial" pitchFamily="34" charset="0"/>
              </a:rPr>
              <a:t>上山趋势（适应度函数高的）、随机搜索（变异）、并行信息交换（产生后代，杂交）。</a:t>
            </a:r>
            <a:endParaRPr lang="en-US" altLang="zh-CN" sz="1200" dirty="0">
              <a:solidFill>
                <a:srgbClr val="FF0000"/>
              </a:solidFill>
              <a:latin typeface="Arial" pitchFamily="34" charset="0"/>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直观上说，杂交的优势在于它能将独立发展出来的能执行有用功能的字符区域结合起来，因此提到了搜索的粒度。例如，将前三个皇后分别放在</a:t>
            </a:r>
            <a:r>
              <a:rPr lang="en-US" altLang="zh-CN" sz="1200" b="0" i="0" u="none" strike="noStrike" kern="1200" baseline="0" dirty="0">
                <a:solidFill>
                  <a:schemeClr val="tx1"/>
                </a:solidFill>
                <a:latin typeface="Arial" pitchFamily="34" charset="0"/>
                <a:ea typeface="+mn-ea"/>
                <a:cs typeface="+mn-cs"/>
              </a:rPr>
              <a:t>246</a:t>
            </a:r>
            <a:r>
              <a:rPr lang="zh-CN" altLang="en-US" sz="1200" b="0" i="0" u="none" strike="noStrike" kern="1200" baseline="0" dirty="0">
                <a:solidFill>
                  <a:schemeClr val="tx1"/>
                </a:solidFill>
                <a:latin typeface="Arial" pitchFamily="34" charset="0"/>
                <a:ea typeface="+mn-ea"/>
                <a:cs typeface="+mn-cs"/>
              </a:rPr>
              <a:t>位置（互补攻击）就组成了一个有用的区域，他可以和其他有用的区域组合起来形成问题的解。</a:t>
            </a:r>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47</a:t>
            </a:fld>
            <a:endParaRPr lang="en-US"/>
          </a:p>
        </p:txBody>
      </p:sp>
    </p:spTree>
    <p:extLst>
      <p:ext uri="{BB962C8B-B14F-4D97-AF65-F5344CB8AC3E}">
        <p14:creationId xmlns:p14="http://schemas.microsoft.com/office/powerpoint/2010/main" val="811849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Arial" pitchFamily="34" charset="0"/>
                <a:ea typeface="+mn-ea"/>
                <a:cs typeface="+mn-cs"/>
              </a:rPr>
              <a:t>Yet it can be</a:t>
            </a:r>
          </a:p>
          <a:p>
            <a:r>
              <a:rPr lang="en-US" altLang="zh-CN" sz="1200" b="0" i="0" u="none" strike="noStrike" kern="1200" baseline="0" dirty="0">
                <a:solidFill>
                  <a:schemeClr val="tx1"/>
                </a:solidFill>
                <a:latin typeface="Arial" pitchFamily="34" charset="0"/>
                <a:ea typeface="+mn-ea"/>
                <a:cs typeface="+mn-cs"/>
              </a:rPr>
              <a:t>shown mathematically that, if the positions of the genetic code are permuted initially in a</a:t>
            </a:r>
          </a:p>
          <a:p>
            <a:r>
              <a:rPr lang="en-US" altLang="zh-CN" sz="1200" b="0" i="0" u="none" strike="noStrike" kern="1200" baseline="0" dirty="0">
                <a:solidFill>
                  <a:schemeClr val="tx1"/>
                </a:solidFill>
                <a:latin typeface="Arial" pitchFamily="34" charset="0"/>
                <a:ea typeface="+mn-ea"/>
                <a:cs typeface="+mn-cs"/>
              </a:rPr>
              <a:t>random order, crossover conveys no advantage.</a:t>
            </a:r>
          </a:p>
          <a:p>
            <a:r>
              <a:rPr lang="zh-CN" altLang="en-US" sz="1200" b="0" i="0" u="none" strike="noStrike" kern="1200" baseline="0" dirty="0">
                <a:solidFill>
                  <a:schemeClr val="tx1"/>
                </a:solidFill>
                <a:latin typeface="Arial" pitchFamily="34" charset="0"/>
                <a:ea typeface="+mn-ea"/>
                <a:cs typeface="+mn-cs"/>
              </a:rPr>
              <a:t>数学上可以证明，如果基因编码的位置在初始的时候就允许随机转换，杂交就没有优势了。</a:t>
            </a:r>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遗传算法结合了：上山趋势、随机搜索、并行信息交换。</a:t>
            </a:r>
            <a:endParaRPr lang="en-US" altLang="zh-CN" sz="1200" b="0" i="0" u="none" strike="noStrike" kern="1200" baseline="0" dirty="0">
              <a:solidFill>
                <a:schemeClr val="tx1"/>
              </a:solidFill>
              <a:latin typeface="Arial" pitchFamily="34" charset="0"/>
              <a:ea typeface="+mn-ea"/>
              <a:cs typeface="+mn-cs"/>
            </a:endParaRPr>
          </a:p>
          <a:p>
            <a:r>
              <a:rPr lang="zh-CN" altLang="en-US" sz="1200" dirty="0">
                <a:solidFill>
                  <a:srgbClr val="FF0000"/>
                </a:solidFill>
                <a:latin typeface="Arial" pitchFamily="34" charset="0"/>
              </a:rPr>
              <a:t>上山趋势（适应度函数高的）、随机搜索（变异）、并行信息交换（产生后代，杂交）。</a:t>
            </a:r>
            <a:endParaRPr lang="en-US" altLang="zh-CN" sz="1200" dirty="0">
              <a:solidFill>
                <a:srgbClr val="FF0000"/>
              </a:solidFill>
              <a:latin typeface="Arial" pitchFamily="34" charset="0"/>
            </a:endParaRPr>
          </a:p>
          <a:p>
            <a:endParaRPr lang="en-US" altLang="zh-CN" sz="1200" b="0" i="0" u="none" strike="noStrike" kern="1200" baseline="0" dirty="0">
              <a:solidFill>
                <a:schemeClr val="tx1"/>
              </a:solidFill>
              <a:latin typeface="Arial" pitchFamily="34" charset="0"/>
              <a:ea typeface="+mn-ea"/>
              <a:cs typeface="+mn-cs"/>
            </a:endParaRPr>
          </a:p>
          <a:p>
            <a:endParaRPr lang="en-US" altLang="zh-CN" sz="1200" b="0" i="0" u="none" strike="noStrike" kern="1200" baseline="0" dirty="0">
              <a:solidFill>
                <a:schemeClr val="tx1"/>
              </a:solidFill>
              <a:latin typeface="Arial" pitchFamily="34" charset="0"/>
              <a:ea typeface="+mn-ea"/>
              <a:cs typeface="+mn-cs"/>
            </a:endParaRPr>
          </a:p>
          <a:p>
            <a:r>
              <a:rPr lang="zh-CN" altLang="en-US" sz="1200" b="0" i="0" u="none" strike="noStrike" kern="1200" baseline="0" dirty="0">
                <a:solidFill>
                  <a:schemeClr val="tx1"/>
                </a:solidFill>
                <a:latin typeface="Arial" pitchFamily="34" charset="0"/>
                <a:ea typeface="+mn-ea"/>
                <a:cs typeface="+mn-cs"/>
              </a:rPr>
              <a:t>直观上说，杂交的优势在于它能将独立发展出来的能执行有用功能的字符区域结合起来，因此提到了搜索的粒度。例如，将前三个皇后分别放在</a:t>
            </a:r>
            <a:r>
              <a:rPr lang="en-US" altLang="zh-CN" sz="1200" b="0" i="0" u="none" strike="noStrike" kern="1200" baseline="0" dirty="0">
                <a:solidFill>
                  <a:schemeClr val="tx1"/>
                </a:solidFill>
                <a:latin typeface="Arial" pitchFamily="34" charset="0"/>
                <a:ea typeface="+mn-ea"/>
                <a:cs typeface="+mn-cs"/>
              </a:rPr>
              <a:t>246</a:t>
            </a:r>
            <a:r>
              <a:rPr lang="zh-CN" altLang="en-US" sz="1200" b="0" i="0" u="none" strike="noStrike" kern="1200" baseline="0" dirty="0">
                <a:solidFill>
                  <a:schemeClr val="tx1"/>
                </a:solidFill>
                <a:latin typeface="Arial" pitchFamily="34" charset="0"/>
                <a:ea typeface="+mn-ea"/>
                <a:cs typeface="+mn-cs"/>
              </a:rPr>
              <a:t>位置（互补攻击）就组成了一个有用的区域，他可以和其他有用的区域组合起来形成问题的解。</a:t>
            </a:r>
            <a:endParaRPr lang="zh-CN" altLang="en-US" dirty="0"/>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48</a:t>
            </a:fld>
            <a:endParaRPr lang="en-US"/>
          </a:p>
        </p:txBody>
      </p:sp>
    </p:spTree>
    <p:extLst>
      <p:ext uri="{BB962C8B-B14F-4D97-AF65-F5344CB8AC3E}">
        <p14:creationId xmlns:p14="http://schemas.microsoft.com/office/powerpoint/2010/main" val="31562158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 </a:t>
            </a:r>
            <a:r>
              <a:rPr lang="zh-CN" altLang="en-US" baseline="0" dirty="0"/>
              <a:t>绝大多数现实世界环境都是连续的。</a:t>
            </a:r>
            <a:endParaRPr lang="en-US" altLang="zh-CN" baseline="0" dirty="0"/>
          </a:p>
          <a:p>
            <a:r>
              <a:rPr lang="zh-CN" altLang="en-US" dirty="0"/>
              <a:t>然而我们讨论过的算法没有一个能处理连续的状态和动作空间，因为连续空间里的分支因子是无限的。</a:t>
            </a:r>
            <a:endParaRPr lang="en-US" altLang="zh-CN" dirty="0"/>
          </a:p>
          <a:p>
            <a:endParaRPr lang="en-US" altLang="zh-CN" dirty="0"/>
          </a:p>
          <a:p>
            <a:r>
              <a:rPr lang="zh-CN" altLang="en-US" dirty="0"/>
              <a:t>这一节将非常简要的介绍在连续状态空间上寻找最优解的一些局部搜索技术。</a:t>
            </a:r>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49</a:t>
            </a:fld>
            <a:endParaRPr lang="en-US"/>
          </a:p>
        </p:txBody>
      </p:sp>
    </p:spTree>
    <p:extLst>
      <p:ext uri="{BB962C8B-B14F-4D97-AF65-F5344CB8AC3E}">
        <p14:creationId xmlns:p14="http://schemas.microsoft.com/office/powerpoint/2010/main" val="31600508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这里板书，如何建模</a:t>
            </a:r>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50</a:t>
            </a:fld>
            <a:endParaRPr lang="en-US"/>
          </a:p>
        </p:txBody>
      </p:sp>
    </p:spTree>
    <p:extLst>
      <p:ext uri="{BB962C8B-B14F-4D97-AF65-F5344CB8AC3E}">
        <p14:creationId xmlns:p14="http://schemas.microsoft.com/office/powerpoint/2010/main" val="40592626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问题的状态空间通过机场的坐标来定义，三个坐标，是个六维的向量</a:t>
            </a:r>
            <a:endParaRPr lang="en-US" altLang="zh-CN" dirty="0"/>
          </a:p>
          <a:p>
            <a:endParaRPr lang="en-US" altLang="zh-CN" dirty="0"/>
          </a:p>
          <a:p>
            <a:r>
              <a:rPr lang="en-US" altLang="zh-CN" dirty="0"/>
              <a:t>F </a:t>
            </a:r>
            <a:r>
              <a:rPr lang="zh-CN" altLang="en-US" dirty="0"/>
              <a:t>是局部的不是全局的，原因在于</a:t>
            </a:r>
            <a:r>
              <a:rPr lang="en-US" altLang="zh-CN" dirty="0"/>
              <a:t>Ci</a:t>
            </a:r>
            <a:r>
              <a:rPr lang="zh-CN" altLang="en-US" dirty="0"/>
              <a:t>集合是状态的非连续函数</a:t>
            </a:r>
          </a:p>
        </p:txBody>
      </p:sp>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51</a:t>
            </a:fld>
            <a:endParaRPr lang="en-US"/>
          </a:p>
        </p:txBody>
      </p:sp>
    </p:spTree>
    <p:extLst>
      <p:ext uri="{BB962C8B-B14F-4D97-AF65-F5344CB8AC3E}">
        <p14:creationId xmlns:p14="http://schemas.microsoft.com/office/powerpoint/2010/main" val="41996839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Move only one airport at a time in either the </a:t>
                </a:r>
                <a14:m>
                  <m:oMath xmlns:m="http://schemas.openxmlformats.org/officeDocument/2006/math">
                    <m:r>
                      <a:rPr lang="en-US" altLang="zh-CN" i="1" dirty="0" smtClean="0">
                        <a:latin typeface="Cambria Math" panose="02040503050406030204" pitchFamily="18" charset="0"/>
                      </a:rPr>
                      <m:t>𝑥</m:t>
                    </m:r>
                    <m:r>
                      <a:rPr lang="en-US" altLang="zh-CN" i="1" dirty="0" smtClean="0">
                        <a:latin typeface="Cambria Math" panose="02040503050406030204" pitchFamily="18" charset="0"/>
                      </a:rPr>
                      <m:t> </m:t>
                    </m:r>
                  </m:oMath>
                </a14:m>
                <a:r>
                  <a:rPr lang="en-US" altLang="zh-CN" dirty="0"/>
                  <a:t>or </a:t>
                </a:r>
                <a14:m>
                  <m:oMath xmlns:m="http://schemas.openxmlformats.org/officeDocument/2006/math">
                    <m:r>
                      <a:rPr lang="en-US" altLang="zh-CN" i="1" dirty="0" smtClean="0">
                        <a:latin typeface="Cambria Math" panose="02040503050406030204" pitchFamily="18" charset="0"/>
                      </a:rPr>
                      <m:t>𝑦</m:t>
                    </m:r>
                  </m:oMath>
                </a14:m>
                <a:r>
                  <a:rPr lang="en-US" altLang="zh-CN" dirty="0"/>
                  <a:t> direction by a fixed amount </a:t>
                </a:r>
                <a14:m>
                  <m:oMath xmlns:m="http://schemas.openxmlformats.org/officeDocument/2006/math">
                    <m:r>
                      <a:rPr lang="en-US" altLang="zh-CN" i="1" dirty="0" smtClean="0">
                        <a:latin typeface="Cambria Math" panose="02040503050406030204" pitchFamily="18" charset="0"/>
                      </a:rPr>
                      <m:t>±</m:t>
                    </m:r>
                    <m:r>
                      <a:rPr lang="el-GR" altLang="zh-CN" i="1" dirty="0">
                        <a:latin typeface="Cambria Math" panose="02040503050406030204" pitchFamily="18" charset="0"/>
                      </a:rPr>
                      <m:t>𝛿</m:t>
                    </m:r>
                  </m:oMath>
                </a14:m>
                <a:endParaRPr lang="en-US" altLang="zh-CN" dirty="0"/>
              </a:p>
              <a:p>
                <a:endParaRPr lang="en-US" altLang="zh-CN" dirty="0"/>
              </a:p>
              <a:p>
                <a:r>
                  <a:rPr lang="zh-CN" altLang="en-US" dirty="0"/>
                  <a:t>避免连续性问题的一种简单途径就是将每个状态的邻接状态离散化。</a:t>
                </a:r>
                <a:endParaRPr lang="en-US" altLang="zh-CN" dirty="0"/>
              </a:p>
              <a:p>
                <a:endParaRPr lang="en-US" altLang="zh-CN" dirty="0"/>
              </a:p>
              <a:p>
                <a:endParaRPr lang="en-US" altLang="zh-CN" dirty="0"/>
              </a:p>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M</a:t>
                </a:r>
                <a:r>
                  <a:rPr lang="en-US" altLang="zh-CN" dirty="0" smtClean="0"/>
                  <a:t>ove </a:t>
                </a:r>
                <a:r>
                  <a:rPr lang="en-US" altLang="zh-CN" dirty="0"/>
                  <a:t>only one airport at a time in either the </a:t>
                </a:r>
                <a:r>
                  <a:rPr lang="en-US" altLang="zh-CN" i="0" dirty="0" smtClean="0">
                    <a:latin typeface="Cambria Math" panose="02040503050406030204" pitchFamily="18" charset="0"/>
                  </a:rPr>
                  <a:t>𝑥 </a:t>
                </a:r>
                <a:r>
                  <a:rPr lang="en-US" altLang="zh-CN" dirty="0"/>
                  <a:t>or </a:t>
                </a:r>
                <a:r>
                  <a:rPr lang="en-US" altLang="zh-CN" i="0" dirty="0" smtClean="0">
                    <a:latin typeface="Cambria Math" panose="02040503050406030204" pitchFamily="18" charset="0"/>
                  </a:rPr>
                  <a:t>𝑦</a:t>
                </a:r>
                <a:r>
                  <a:rPr lang="en-US" altLang="zh-CN" dirty="0"/>
                  <a:t> direction </a:t>
                </a:r>
                <a:r>
                  <a:rPr lang="en-US" altLang="zh-CN" dirty="0" smtClean="0"/>
                  <a:t>by a </a:t>
                </a:r>
                <a:r>
                  <a:rPr lang="en-US" altLang="zh-CN" dirty="0"/>
                  <a:t>fixed amount </a:t>
                </a:r>
                <a:r>
                  <a:rPr lang="en-US" altLang="zh-CN" i="0" dirty="0" smtClean="0">
                    <a:latin typeface="Cambria Math" panose="02040503050406030204" pitchFamily="18" charset="0"/>
                  </a:rPr>
                  <a:t>±</a:t>
                </a:r>
                <a:r>
                  <a:rPr lang="el-GR" altLang="zh-CN" i="0" dirty="0">
                    <a:latin typeface="Cambria Math" panose="02040503050406030204" pitchFamily="18" charset="0"/>
                  </a:rPr>
                  <a:t>𝛿</a:t>
                </a:r>
                <a:endParaRPr lang="en-US" altLang="zh-CN" dirty="0" smtClean="0"/>
              </a:p>
              <a:p>
                <a:endParaRPr lang="en-US" altLang="zh-CN" dirty="0" smtClean="0"/>
              </a:p>
              <a:p>
                <a:endParaRPr lang="en-US" altLang="zh-CN" dirty="0" smtClean="0"/>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52</a:t>
            </a:fld>
            <a:endParaRPr lang="en-US"/>
          </a:p>
        </p:txBody>
      </p:sp>
    </p:spTree>
    <p:extLst>
      <p:ext uri="{BB962C8B-B14F-4D97-AF65-F5344CB8AC3E}">
        <p14:creationId xmlns:p14="http://schemas.microsoft.com/office/powerpoint/2010/main" val="37899167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a:t>steepest-ascent </a:t>
                </a:r>
                <a:r>
                  <a:rPr lang="zh-CN" altLang="en-US" dirty="0"/>
                  <a:t>最陡上升法，板书，结合一维函数说明，</a:t>
                </a:r>
                <a:r>
                  <a:rPr lang="en-US" altLang="zh-CN" dirty="0"/>
                  <a:t>x</a:t>
                </a:r>
                <a:r>
                  <a:rPr lang="zh-CN" altLang="en-US" dirty="0"/>
                  <a:t>与倒数之前的关系</a:t>
                </a:r>
                <a:endParaRPr lang="en-US" altLang="zh-CN" dirty="0"/>
              </a:p>
              <a:p>
                <a:endParaRPr lang="en-US" altLang="zh-CN" dirty="0"/>
              </a:p>
              <a:p>
                <a:r>
                  <a:rPr lang="zh-CN" altLang="en-US" dirty="0"/>
                  <a:t>可以利用地形图的梯度来找到最大值。然而，很多情况下，该等式不存在闭式解。</a:t>
                </a:r>
                <a:endParaRPr lang="en-US" altLang="zh-CN" dirty="0"/>
              </a:p>
              <a:p>
                <a:endParaRPr lang="en-US" altLang="zh-CN" dirty="0"/>
              </a:p>
              <a:p>
                <a:r>
                  <a:rPr lang="zh-CN" altLang="en-US" dirty="0"/>
                  <a:t>这意味着我们只能局部地计算梯度。用最陡（沿着梯度方向）上升爬山法：</a:t>
                </a:r>
                <a14:m>
                  <m:oMath xmlns:m="http://schemas.openxmlformats.org/officeDocument/2006/math">
                    <m:r>
                      <a:rPr lang="en-US" altLang="zh-CN" b="1" i="1" smtClean="0">
                        <a:latin typeface="Cambria Math" panose="02040503050406030204" pitchFamily="18" charset="0"/>
                        <a:ea typeface="Cambria Math" panose="02040503050406030204" pitchFamily="18" charset="0"/>
                      </a:rPr>
                      <m:t>𝒙</m:t>
                    </m:r>
                    <m:r>
                      <a:rPr lang="en-US" altLang="zh-CN" b="1" i="1" smtClean="0">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𝒙</m:t>
                    </m:r>
                    <m:r>
                      <a:rPr lang="en-US" altLang="zh-CN" b="0" i="0" smtClean="0">
                        <a:latin typeface="Cambria Math" panose="02040503050406030204" pitchFamily="18" charset="0"/>
                        <a:ea typeface="Cambria Math" panose="02040503050406030204" pitchFamily="18" charset="0"/>
                      </a:rPr>
                      <m:t>+</m:t>
                    </m:r>
                    <m:r>
                      <m:rPr>
                        <m:sty m:val="p"/>
                      </m:rPr>
                      <a:rPr lang="el-GR" altLang="zh-CN" b="0" i="1" smtClean="0">
                        <a:latin typeface="Cambria Math" panose="02040503050406030204" pitchFamily="18" charset="0"/>
                        <a:ea typeface="Cambria Math" panose="02040503050406030204" pitchFamily="18" charset="0"/>
                      </a:rPr>
                      <m:t>α</m:t>
                    </m:r>
                    <m:r>
                      <a:rPr lang="en-US" altLang="zh-CN">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𝑓</m:t>
                    </m:r>
                    <m:d>
                      <m:dPr>
                        <m:ctrlPr>
                          <a:rPr lang="en-US" altLang="zh-CN" i="1">
                            <a:latin typeface="Cambria Math" panose="02040503050406030204" pitchFamily="18" charset="0"/>
                            <a:ea typeface="Cambria Math" panose="02040503050406030204" pitchFamily="18" charset="0"/>
                          </a:rPr>
                        </m:ctrlPr>
                      </m:dPr>
                      <m:e>
                        <m:r>
                          <a:rPr lang="en-US" altLang="zh-CN" b="1" i="1">
                            <a:latin typeface="Cambria Math" panose="02040503050406030204" pitchFamily="18" charset="0"/>
                            <a:ea typeface="Cambria Math" panose="02040503050406030204" pitchFamily="18" charset="0"/>
                          </a:rPr>
                          <m:t>𝒙</m:t>
                        </m:r>
                      </m:e>
                    </m:d>
                  </m:oMath>
                </a14:m>
                <a:endParaRPr lang="zh-CN" altLang="en-US" dirty="0"/>
              </a:p>
            </p:txBody>
          </p:sp>
        </mc:Choice>
        <mc:Fallback xmlns="">
          <p:sp>
            <p:nvSpPr>
              <p:cNvPr id="3" name="备注占位符 2"/>
              <p:cNvSpPr>
                <a:spLocks noGrp="1"/>
              </p:cNvSpPr>
              <p:nvPr>
                <p:ph type="body" idx="1"/>
              </p:nvPr>
            </p:nvSpPr>
            <p:spPr/>
            <p:txBody>
              <a:bodyPr/>
              <a:lstStyle/>
              <a:p>
                <a:r>
                  <a:rPr lang="en-US" altLang="zh-CN" dirty="0" smtClean="0"/>
                  <a:t>steepest-ascent </a:t>
                </a:r>
                <a:r>
                  <a:rPr lang="zh-CN" altLang="en-US" dirty="0" smtClean="0"/>
                  <a:t>最陡上升法，板书，结合一维函数说明，</a:t>
                </a:r>
                <a:r>
                  <a:rPr lang="en-US" altLang="zh-CN" dirty="0" smtClean="0"/>
                  <a:t>x</a:t>
                </a:r>
                <a:r>
                  <a:rPr lang="zh-CN" altLang="en-US" dirty="0" smtClean="0"/>
                  <a:t>与倒数之前的</a:t>
                </a:r>
                <a:r>
                  <a:rPr lang="zh-CN" altLang="en-US" dirty="0" smtClean="0"/>
                  <a:t>关系</a:t>
                </a:r>
                <a:endParaRPr lang="en-US" altLang="zh-CN" dirty="0" smtClean="0"/>
              </a:p>
              <a:p>
                <a:endParaRPr lang="en-US" altLang="zh-CN" dirty="0" smtClean="0"/>
              </a:p>
              <a:p>
                <a:r>
                  <a:rPr lang="zh-CN" altLang="en-US" dirty="0" smtClean="0"/>
                  <a:t>可以利用地形图的梯度来找到最大值。然而，很多情况下，该等式不存在闭式解。</a:t>
                </a:r>
                <a:endParaRPr lang="en-US" altLang="zh-CN" dirty="0" smtClean="0"/>
              </a:p>
              <a:p>
                <a:endParaRPr lang="en-US" altLang="zh-CN" dirty="0" smtClean="0"/>
              </a:p>
              <a:p>
                <a:r>
                  <a:rPr lang="zh-CN" altLang="en-US" dirty="0" smtClean="0"/>
                  <a:t>这意味着我们只能局部地计算梯度。用最陡（沿着梯度方向）上升爬山法：</a:t>
                </a:r>
                <a:r>
                  <a:rPr lang="en-US" altLang="zh-CN" b="1" i="0" smtClean="0">
                    <a:latin typeface="Cambria Math" panose="02040503050406030204" pitchFamily="18" charset="0"/>
                    <a:ea typeface="Cambria Math" panose="02040503050406030204" pitchFamily="18" charset="0"/>
                  </a:rPr>
                  <a:t>𝒙</a:t>
                </a:r>
                <a:r>
                  <a:rPr lang="en-US" altLang="zh-CN" b="1" i="0" smtClean="0">
                    <a:latin typeface="Cambria Math" panose="02040503050406030204" pitchFamily="18" charset="0"/>
                    <a:ea typeface="Cambria Math" panose="02040503050406030204" pitchFamily="18" charset="0"/>
                  </a:rPr>
                  <a:t>←</a:t>
                </a:r>
                <a:r>
                  <a:rPr lang="en-US" altLang="zh-CN" b="1" i="0">
                    <a:latin typeface="Cambria Math" panose="02040503050406030204" pitchFamily="18" charset="0"/>
                    <a:ea typeface="Cambria Math" panose="02040503050406030204" pitchFamily="18" charset="0"/>
                  </a:rPr>
                  <a:t>𝒙</a:t>
                </a:r>
                <a:r>
                  <a:rPr lang="en-US" altLang="zh-CN" b="0" i="0" smtClean="0">
                    <a:latin typeface="Cambria Math" panose="02040503050406030204" pitchFamily="18" charset="0"/>
                    <a:ea typeface="Cambria Math" panose="02040503050406030204" pitchFamily="18" charset="0"/>
                  </a:rPr>
                  <a:t>+</a:t>
                </a:r>
                <a:r>
                  <a:rPr lang="el-GR" altLang="zh-CN" b="0" i="0" smtClean="0">
                    <a:latin typeface="Cambria Math" panose="02040503050406030204" pitchFamily="18" charset="0"/>
                    <a:ea typeface="Cambria Math" panose="02040503050406030204" pitchFamily="18" charset="0"/>
                  </a:rPr>
                  <a:t>α</a:t>
                </a:r>
                <a:r>
                  <a:rPr lang="en-US" altLang="zh-CN" i="0">
                    <a:latin typeface="Cambria Math" panose="02040503050406030204" pitchFamily="18" charset="0"/>
                    <a:ea typeface="Cambria Math" panose="02040503050406030204" pitchFamily="18" charset="0"/>
                  </a:rPr>
                  <a:t>𝛻𝑓(</a:t>
                </a:r>
                <a:r>
                  <a:rPr lang="en-US" altLang="zh-CN" b="1" i="0">
                    <a:latin typeface="Cambria Math" panose="02040503050406030204" pitchFamily="18" charset="0"/>
                    <a:ea typeface="Cambria Math" panose="02040503050406030204" pitchFamily="18" charset="0"/>
                  </a:rPr>
                  <a:t>𝒙)</a:t>
                </a:r>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53</a:t>
            </a:fld>
            <a:endParaRPr lang="en-US"/>
          </a:p>
        </p:txBody>
      </p:sp>
    </p:spTree>
    <p:extLst>
      <p:ext uri="{BB962C8B-B14F-4D97-AF65-F5344CB8AC3E}">
        <p14:creationId xmlns:p14="http://schemas.microsoft.com/office/powerpoint/2010/main" val="28726118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14:m>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α</m:t>
                    </m:r>
                  </m:oMath>
                </a14:m>
                <a:r>
                  <a:rPr lang="zh-CN" altLang="en-US" dirty="0"/>
                  <a:t> </a:t>
                </a:r>
                <a:r>
                  <a:rPr lang="en-US" altLang="zh-CN" dirty="0"/>
                  <a:t>is </a:t>
                </a:r>
                <a:r>
                  <a:rPr lang="en-US" altLang="zh-CN" b="1" dirty="0"/>
                  <a:t>step size</a:t>
                </a:r>
                <a:r>
                  <a:rPr lang="zh-CN" altLang="en-US" b="0" baseline="0" dirty="0"/>
                  <a:t> 步长</a:t>
                </a:r>
                <a:endParaRPr lang="en-US" altLang="zh-CN" b="0" baseline="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alpha</a:t>
                </a:r>
                <a:r>
                  <a:rPr lang="zh-CN" altLang="en-US" dirty="0"/>
                  <a:t>太小，就需要太多的步骤；太大则容易错过最大值，可以画图说明。</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对于许多问题，最有效的算法是</a:t>
                </a:r>
                <a:r>
                  <a:rPr lang="en-US" altLang="zh-CN" dirty="0"/>
                  <a:t>Newton–Raphson</a:t>
                </a:r>
                <a:r>
                  <a:rPr lang="zh-CN" altLang="en-US" dirty="0"/>
                  <a:t>方法。</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求解海森矩阵</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其实就是泰勒展开到二阶，然后再去求最小</a:t>
                </a:r>
              </a:p>
            </p:txBody>
          </p:sp>
        </mc:Choice>
        <mc:Fallback xmlns="">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l-GR" altLang="zh-CN" i="0" smtClean="0">
                    <a:latin typeface="Cambria Math" panose="02040503050406030204" pitchFamily="18" charset="0"/>
                    <a:ea typeface="Cambria Math" panose="02040503050406030204" pitchFamily="18" charset="0"/>
                  </a:rPr>
                  <a:t>α</a:t>
                </a:r>
                <a:r>
                  <a:rPr lang="zh-CN" altLang="en-US" dirty="0" smtClean="0"/>
                  <a:t> </a:t>
                </a:r>
                <a:r>
                  <a:rPr lang="en-US" altLang="zh-CN" dirty="0"/>
                  <a:t>is </a:t>
                </a:r>
                <a:r>
                  <a:rPr lang="en-US" altLang="zh-CN" b="1" dirty="0"/>
                  <a:t>step </a:t>
                </a:r>
                <a:r>
                  <a:rPr lang="en-US" altLang="zh-CN" b="1" dirty="0" smtClean="0"/>
                  <a:t>size</a:t>
                </a:r>
                <a:r>
                  <a:rPr lang="zh-CN" altLang="en-US" b="0" baseline="0" dirty="0" smtClean="0"/>
                  <a:t> 步长</a:t>
                </a:r>
                <a:endParaRPr lang="en-US" altLang="zh-CN" b="0" baseline="0"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alpha</a:t>
                </a:r>
                <a:r>
                  <a:rPr lang="zh-CN" altLang="en-US" dirty="0" smtClean="0"/>
                  <a:t>太小，就需要太多的步骤；太大则容易错过最大值，可以画图说明。</a:t>
                </a:r>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684C7023-1648-4F51-874D-1B6680E39D27}" type="slidenum">
              <a:rPr lang="en-US" smtClean="0"/>
              <a:pPr>
                <a:defRPr/>
              </a:pPr>
              <a:t>54</a:t>
            </a:fld>
            <a:endParaRPr lang="en-US"/>
          </a:p>
        </p:txBody>
      </p:sp>
    </p:spTree>
    <p:extLst>
      <p:ext uri="{BB962C8B-B14F-4D97-AF65-F5344CB8AC3E}">
        <p14:creationId xmlns:p14="http://schemas.microsoft.com/office/powerpoint/2010/main" val="42806458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a:extLst>
              <a:ext uri="{FF2B5EF4-FFF2-40B4-BE49-F238E27FC236}">
                <a16:creationId xmlns:a16="http://schemas.microsoft.com/office/drawing/2014/main" id="{E27F0E8A-FBE3-41B6-A56B-7A14F7AAA7BA}"/>
              </a:ext>
            </a:extLst>
          </p:cNvPr>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a:extLst>
              <a:ext uri="{FF2B5EF4-FFF2-40B4-BE49-F238E27FC236}">
                <a16:creationId xmlns:a16="http://schemas.microsoft.com/office/drawing/2014/main" id="{8EAB9554-0968-7F4C-B17C-055427BAAC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extLst>
      <p:ext uri="{BB962C8B-B14F-4D97-AF65-F5344CB8AC3E}">
        <p14:creationId xmlns:p14="http://schemas.microsoft.com/office/powerpoint/2010/main" val="4020554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a:extLst>
              <a:ext uri="{FF2B5EF4-FFF2-40B4-BE49-F238E27FC236}">
                <a16:creationId xmlns:a16="http://schemas.microsoft.com/office/drawing/2014/main" id="{1B478B4D-326B-4F22-B792-98AB7E9C8268}"/>
              </a:ext>
            </a:extLst>
          </p:cNvPr>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a:extLst>
              <a:ext uri="{FF2B5EF4-FFF2-40B4-BE49-F238E27FC236}">
                <a16:creationId xmlns:a16="http://schemas.microsoft.com/office/drawing/2014/main" id="{2742BE2E-64C4-45DC-B5F2-9CE85916052B}"/>
              </a:ext>
            </a:extLst>
          </p:cNvPr>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20204" pitchFamily="34" charset="0"/>
                <a:sym typeface="+mn-lt"/>
              </a:rPr>
              <a:t>Contents</a:t>
            </a:r>
            <a:endParaRPr lang="zh-CN" altLang="en-US" sz="4400" b="1" i="0" dirty="0">
              <a:solidFill>
                <a:schemeClr val="bg1"/>
              </a:solidFill>
              <a:latin typeface="Helvetica" pitchFamily="2" charset="0"/>
              <a:cs typeface="Arial" panose="020B0604020202020204" pitchFamily="34" charset="0"/>
              <a:sym typeface="+mn-lt"/>
            </a:endParaRPr>
          </a:p>
        </p:txBody>
      </p:sp>
      <p:sp>
        <p:nvSpPr>
          <p:cNvPr id="87" name="任意多边形: 形状 86">
            <a:extLst>
              <a:ext uri="{FF2B5EF4-FFF2-40B4-BE49-F238E27FC236}">
                <a16:creationId xmlns:a16="http://schemas.microsoft.com/office/drawing/2014/main" id="{BEB662E1-75A1-469F-B2C5-6EC6E8255C44}"/>
              </a:ext>
            </a:extLst>
          </p:cNvPr>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a:extLst>
              <a:ext uri="{FF2B5EF4-FFF2-40B4-BE49-F238E27FC236}">
                <a16:creationId xmlns:a16="http://schemas.microsoft.com/office/drawing/2014/main" id="{CF32DCCF-D109-144D-93EF-7A463349CB65}"/>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a:extLst>
              <a:ext uri="{FF2B5EF4-FFF2-40B4-BE49-F238E27FC236}">
                <a16:creationId xmlns:a16="http://schemas.microsoft.com/office/drawing/2014/main" id="{D607238F-89BF-434F-A2F2-C5D1BB90B631}"/>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extLst>
      <p:ext uri="{BB962C8B-B14F-4D97-AF65-F5344CB8AC3E}">
        <p14:creationId xmlns:p14="http://schemas.microsoft.com/office/powerpoint/2010/main" val="154070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7CB78A0-538A-4F4C-97AC-5D6B9B36EAE3}"/>
              </a:ext>
            </a:extLst>
          </p:cNvPr>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a:extLst>
              <a:ext uri="{FF2B5EF4-FFF2-40B4-BE49-F238E27FC236}">
                <a16:creationId xmlns:a16="http://schemas.microsoft.com/office/drawing/2014/main" id="{DCD3F2D1-9FCF-4792-8D92-8CA0C104ED79}"/>
              </a:ext>
            </a:extLst>
          </p:cNvPr>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20204" pitchFamily="34" charset="0"/>
              </a:rPr>
              <a:t>Part 01</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E1FBCD60-E317-434E-9948-6517EE806648}"/>
              </a:ext>
            </a:extLst>
          </p:cNvPr>
          <p:cNvCxnSpPr>
            <a:cxnSpLocks/>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E5FF972F-6C72-4EB1-91BD-22FC6A6BFE55}"/>
              </a:ext>
            </a:extLst>
          </p:cNvPr>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a:extLst>
              <a:ext uri="{FF2B5EF4-FFF2-40B4-BE49-F238E27FC236}">
                <a16:creationId xmlns:a16="http://schemas.microsoft.com/office/drawing/2014/main" id="{6ED22ADE-3337-4765-824B-2BCE393B3BC8}"/>
              </a:ext>
            </a:extLst>
          </p:cNvPr>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a:extLst>
              <a:ext uri="{FF2B5EF4-FFF2-40B4-BE49-F238E27FC236}">
                <a16:creationId xmlns:a16="http://schemas.microsoft.com/office/drawing/2014/main" id="{77F0E457-CBAE-48A1-9FDD-0AD48E16BB0E}"/>
              </a:ext>
            </a:extLst>
          </p:cNvPr>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a:extLst>
              <a:ext uri="{FF2B5EF4-FFF2-40B4-BE49-F238E27FC236}">
                <a16:creationId xmlns:a16="http://schemas.microsoft.com/office/drawing/2014/main" id="{BF5B61E3-C874-41BD-9977-575DE377EF7C}"/>
              </a:ext>
            </a:extLst>
          </p:cNvPr>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a:extLst>
              <a:ext uri="{FF2B5EF4-FFF2-40B4-BE49-F238E27FC236}">
                <a16:creationId xmlns:a16="http://schemas.microsoft.com/office/drawing/2014/main" id="{E79C958C-4261-4C02-847F-E854178B5EDF}"/>
              </a:ext>
            </a:extLst>
          </p:cNvPr>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a:extLst>
              <a:ext uri="{FF2B5EF4-FFF2-40B4-BE49-F238E27FC236}">
                <a16:creationId xmlns:a16="http://schemas.microsoft.com/office/drawing/2014/main" id="{50FB6E99-D418-4444-914B-2306780544C7}"/>
              </a:ext>
            </a:extLst>
          </p:cNvPr>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94547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a:extLst>
              <a:ext uri="{FF2B5EF4-FFF2-40B4-BE49-F238E27FC236}">
                <a16:creationId xmlns:a16="http://schemas.microsoft.com/office/drawing/2014/main" id="{5FB16484-E5F7-4B77-B7A5-FDAB1703AF52}"/>
              </a:ext>
            </a:extLst>
          </p:cNvPr>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B6FD6F57-F8D0-494A-A461-A05057362E3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02</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0F3C94DC-BC3D-4914-BCEA-9BADE3C91715}"/>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a:extLst>
              <a:ext uri="{FF2B5EF4-FFF2-40B4-BE49-F238E27FC236}">
                <a16:creationId xmlns:a16="http://schemas.microsoft.com/office/drawing/2014/main" id="{D3B89C71-934D-411D-A2EA-05C70F77FCCA}"/>
              </a:ext>
            </a:extLst>
          </p:cNvPr>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a:extLst>
              <a:ext uri="{FF2B5EF4-FFF2-40B4-BE49-F238E27FC236}">
                <a16:creationId xmlns:a16="http://schemas.microsoft.com/office/drawing/2014/main" id="{A837D7F3-A47E-4687-B46E-2D3048C16002}"/>
              </a:ext>
            </a:extLst>
          </p:cNvPr>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a:extLst>
              <a:ext uri="{FF2B5EF4-FFF2-40B4-BE49-F238E27FC236}">
                <a16:creationId xmlns:a16="http://schemas.microsoft.com/office/drawing/2014/main" id="{FE10A76B-7B22-4776-AAF9-D0EEE0D973D2}"/>
              </a:ext>
            </a:extLst>
          </p:cNvPr>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a:extLst>
              <a:ext uri="{FF2B5EF4-FFF2-40B4-BE49-F238E27FC236}">
                <a16:creationId xmlns:a16="http://schemas.microsoft.com/office/drawing/2014/main" id="{80425897-AA01-4101-B050-A034992317B0}"/>
              </a:ext>
            </a:extLst>
          </p:cNvPr>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a:extLst>
              <a:ext uri="{FF2B5EF4-FFF2-40B4-BE49-F238E27FC236}">
                <a16:creationId xmlns:a16="http://schemas.microsoft.com/office/drawing/2014/main" id="{1DC1ADFB-E837-4D7F-B9F3-657D2F4ACAB6}"/>
              </a:ext>
            </a:extLst>
          </p:cNvPr>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a:extLst>
              <a:ext uri="{FF2B5EF4-FFF2-40B4-BE49-F238E27FC236}">
                <a16:creationId xmlns:a16="http://schemas.microsoft.com/office/drawing/2014/main" id="{034BB7AD-2674-4436-98EF-FC7061F0982B}"/>
              </a:ext>
            </a:extLst>
          </p:cNvPr>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extLst>
      <p:ext uri="{BB962C8B-B14F-4D97-AF65-F5344CB8AC3E}">
        <p14:creationId xmlns:p14="http://schemas.microsoft.com/office/powerpoint/2010/main" val="1585464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E3D9E87-D3B4-4F53-99F3-7438B7E4D4AB}"/>
              </a:ext>
            </a:extLst>
          </p:cNvPr>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a:extLst>
              <a:ext uri="{FF2B5EF4-FFF2-40B4-BE49-F238E27FC236}">
                <a16:creationId xmlns:a16="http://schemas.microsoft.com/office/drawing/2014/main" id="{6CD21FE1-F1E4-4E14-BF8F-A4D4ED823FBC}"/>
              </a:ext>
            </a:extLst>
          </p:cNvPr>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B76C3FD-32D6-4E41-B7F5-97F8A47A3D0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03</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8DD83EE6-28E8-42E1-9D1D-CEA16A3EF647}"/>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D2CCFA9F-ED6D-4706-AB87-12B0B7099A55}"/>
              </a:ext>
            </a:extLst>
          </p:cNvPr>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a:extLst>
              <a:ext uri="{FF2B5EF4-FFF2-40B4-BE49-F238E27FC236}">
                <a16:creationId xmlns:a16="http://schemas.microsoft.com/office/drawing/2014/main" id="{2F53FD0E-8CED-473A-8132-8C32D5EB7E41}"/>
              </a:ext>
            </a:extLst>
          </p:cNvPr>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a:extLst>
              <a:ext uri="{FF2B5EF4-FFF2-40B4-BE49-F238E27FC236}">
                <a16:creationId xmlns:a16="http://schemas.microsoft.com/office/drawing/2014/main" id="{686A2882-5AAA-4796-ACBF-11DE20417AB5}"/>
              </a:ext>
            </a:extLst>
          </p:cNvPr>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a:extLst>
              <a:ext uri="{FF2B5EF4-FFF2-40B4-BE49-F238E27FC236}">
                <a16:creationId xmlns:a16="http://schemas.microsoft.com/office/drawing/2014/main" id="{965BF0DA-9E98-46CA-BC5A-2F733F99C372}"/>
              </a:ext>
            </a:extLst>
          </p:cNvPr>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44B3714-021E-44F1-A9C0-8DB23D7B89EA}"/>
              </a:ext>
            </a:extLst>
          </p:cNvPr>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extLst>
      <p:ext uri="{BB962C8B-B14F-4D97-AF65-F5344CB8AC3E}">
        <p14:creationId xmlns:p14="http://schemas.microsoft.com/office/powerpoint/2010/main" val="1321017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a:extLst>
              <a:ext uri="{FF2B5EF4-FFF2-40B4-BE49-F238E27FC236}">
                <a16:creationId xmlns:a16="http://schemas.microsoft.com/office/drawing/2014/main" id="{F4B8A56B-7F99-43EE-87F0-42D96BE6E0C1}"/>
              </a:ext>
            </a:extLst>
          </p:cNvPr>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AD7A4933-BE2B-4B78-BB0B-EFF272C4458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04</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A73394E7-E5C6-4B02-8A31-9C03D9C6FA0B}"/>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a:extLst>
              <a:ext uri="{FF2B5EF4-FFF2-40B4-BE49-F238E27FC236}">
                <a16:creationId xmlns:a16="http://schemas.microsoft.com/office/drawing/2014/main" id="{9FDAE5AE-1C3F-4A93-B305-B77CDC3F4BE2}"/>
              </a:ext>
            </a:extLst>
          </p:cNvPr>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a:extLst>
              <a:ext uri="{FF2B5EF4-FFF2-40B4-BE49-F238E27FC236}">
                <a16:creationId xmlns:a16="http://schemas.microsoft.com/office/drawing/2014/main" id="{8B831D4E-CDC6-4513-9163-9BB77DDB0516}"/>
              </a:ext>
            </a:extLst>
          </p:cNvPr>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a:extLst>
              <a:ext uri="{FF2B5EF4-FFF2-40B4-BE49-F238E27FC236}">
                <a16:creationId xmlns:a16="http://schemas.microsoft.com/office/drawing/2014/main" id="{25618009-D285-438D-BF60-F87BDBE0685A}"/>
              </a:ext>
            </a:extLst>
          </p:cNvPr>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a:extLst>
              <a:ext uri="{FF2B5EF4-FFF2-40B4-BE49-F238E27FC236}">
                <a16:creationId xmlns:a16="http://schemas.microsoft.com/office/drawing/2014/main" id="{4A10CB81-B3E3-411C-90C9-3480A10EDB9B}"/>
              </a:ext>
            </a:extLst>
          </p:cNvPr>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a:extLst>
              <a:ext uri="{FF2B5EF4-FFF2-40B4-BE49-F238E27FC236}">
                <a16:creationId xmlns:a16="http://schemas.microsoft.com/office/drawing/2014/main" id="{D251409D-FDB9-430B-A00F-D4A65811924B}"/>
              </a:ext>
            </a:extLst>
          </p:cNvPr>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63A1AFEA-57CF-4E71-AF6C-91E549CCF7E6}"/>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934243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a:extLst>
              <a:ext uri="{FF2B5EF4-FFF2-40B4-BE49-F238E27FC236}">
                <a16:creationId xmlns:a16="http://schemas.microsoft.com/office/drawing/2014/main" id="{03B97F61-153E-4B6E-8D40-C8B9A7E64D60}"/>
              </a:ext>
            </a:extLst>
          </p:cNvPr>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7B2B8D9-D400-4BD8-9CF6-DCEAAC82BDD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05</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F285F31B-D145-4BD9-A54B-96E8E681B170}"/>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a:extLst>
              <a:ext uri="{FF2B5EF4-FFF2-40B4-BE49-F238E27FC236}">
                <a16:creationId xmlns:a16="http://schemas.microsoft.com/office/drawing/2014/main" id="{883EB526-2712-4265-9BF4-5874AAB98515}"/>
              </a:ext>
            </a:extLst>
          </p:cNvPr>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a:extLst>
              <a:ext uri="{FF2B5EF4-FFF2-40B4-BE49-F238E27FC236}">
                <a16:creationId xmlns:a16="http://schemas.microsoft.com/office/drawing/2014/main" id="{C7D4DE0F-D1AF-4276-ADBB-A15A5BFE8CB9}"/>
              </a:ext>
            </a:extLst>
          </p:cNvPr>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a:extLst>
              <a:ext uri="{FF2B5EF4-FFF2-40B4-BE49-F238E27FC236}">
                <a16:creationId xmlns:a16="http://schemas.microsoft.com/office/drawing/2014/main" id="{DFA316F4-7F98-4275-AAEF-578596A20622}"/>
              </a:ext>
            </a:extLst>
          </p:cNvPr>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a:extLst>
              <a:ext uri="{FF2B5EF4-FFF2-40B4-BE49-F238E27FC236}">
                <a16:creationId xmlns:a16="http://schemas.microsoft.com/office/drawing/2014/main" id="{219BA2AF-DF75-4C32-85E3-CB62BA8F7564}"/>
              </a:ext>
            </a:extLst>
          </p:cNvPr>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a:extLst>
              <a:ext uri="{FF2B5EF4-FFF2-40B4-BE49-F238E27FC236}">
                <a16:creationId xmlns:a16="http://schemas.microsoft.com/office/drawing/2014/main" id="{A86D27D2-3D87-4A30-89B6-7FAFD15E7EA4}"/>
              </a:ext>
            </a:extLst>
          </p:cNvPr>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BD5DBA0-D1E0-4B8B-AF12-F77A29B64E62}"/>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1233385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a:extLst>
              <a:ext uri="{FF2B5EF4-FFF2-40B4-BE49-F238E27FC236}">
                <a16:creationId xmlns:a16="http://schemas.microsoft.com/office/drawing/2014/main" id="{60753701-EC64-455B-B060-1320051E3FE3}"/>
              </a:ext>
            </a:extLst>
          </p:cNvPr>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F5CBE861-C433-4078-A9A5-2C401EE3B270}"/>
              </a:ext>
            </a:extLst>
          </p:cNvPr>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06</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23DD6575-0576-4AFA-9BC4-891ADAB845BD}"/>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a:extLst>
              <a:ext uri="{FF2B5EF4-FFF2-40B4-BE49-F238E27FC236}">
                <a16:creationId xmlns:a16="http://schemas.microsoft.com/office/drawing/2014/main" id="{C48532B4-0A1B-49CC-99AA-FE75395721EF}"/>
              </a:ext>
            </a:extLst>
          </p:cNvPr>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a:extLst>
              <a:ext uri="{FF2B5EF4-FFF2-40B4-BE49-F238E27FC236}">
                <a16:creationId xmlns:a16="http://schemas.microsoft.com/office/drawing/2014/main" id="{32356412-5283-4799-9197-98AEACE613AC}"/>
              </a:ext>
            </a:extLst>
          </p:cNvPr>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a:extLst>
              <a:ext uri="{FF2B5EF4-FFF2-40B4-BE49-F238E27FC236}">
                <a16:creationId xmlns:a16="http://schemas.microsoft.com/office/drawing/2014/main" id="{4E421018-60A0-4F10-A9A6-A6EE3BBD8BF9}"/>
              </a:ext>
            </a:extLst>
          </p:cNvPr>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a:extLst>
              <a:ext uri="{FF2B5EF4-FFF2-40B4-BE49-F238E27FC236}">
                <a16:creationId xmlns:a16="http://schemas.microsoft.com/office/drawing/2014/main" id="{9B17F2FA-61E0-4197-AD3A-2DE5104FF5C1}"/>
              </a:ext>
            </a:extLst>
          </p:cNvPr>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a:extLst>
              <a:ext uri="{FF2B5EF4-FFF2-40B4-BE49-F238E27FC236}">
                <a16:creationId xmlns:a16="http://schemas.microsoft.com/office/drawing/2014/main" id="{1C86E54A-170E-4CA4-BE8B-1118DA74B7C4}"/>
              </a:ext>
            </a:extLst>
          </p:cNvPr>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A5976A4D-F088-4D08-ABB4-FDF23F9CA863}"/>
              </a:ext>
            </a:extLst>
          </p:cNvPr>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4050161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a:extLst>
              <a:ext uri="{FF2B5EF4-FFF2-40B4-BE49-F238E27FC236}">
                <a16:creationId xmlns:a16="http://schemas.microsoft.com/office/drawing/2014/main" id="{82CF8FAE-6DBB-42F8-A821-12D15C788E8C}"/>
              </a:ext>
            </a:extLst>
          </p:cNvPr>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a:extLst>
              <a:ext uri="{FF2B5EF4-FFF2-40B4-BE49-F238E27FC236}">
                <a16:creationId xmlns:a16="http://schemas.microsoft.com/office/drawing/2014/main" id="{B958D3BC-E7F4-4914-8CAC-14D6BF0FFFB3}"/>
              </a:ext>
            </a:extLst>
          </p:cNvPr>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a:extLst>
              <a:ext uri="{FF2B5EF4-FFF2-40B4-BE49-F238E27FC236}">
                <a16:creationId xmlns:a16="http://schemas.microsoft.com/office/drawing/2014/main" id="{2453FC77-9263-4C53-8F22-D64EBC3880B1}"/>
              </a:ext>
            </a:extLst>
          </p:cNvPr>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a:extLst>
              <a:ext uri="{FF2B5EF4-FFF2-40B4-BE49-F238E27FC236}">
                <a16:creationId xmlns:a16="http://schemas.microsoft.com/office/drawing/2014/main" id="{9B3BEEB7-FA72-410F-B92D-7D208F847B83}"/>
              </a:ext>
            </a:extLst>
          </p:cNvPr>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20204" pitchFamily="34" charset="0"/>
              </a:rPr>
              <a:t>Contents</a:t>
            </a:r>
            <a:endParaRPr lang="zh-CN" altLang="en-US" sz="4000" b="1" i="0" dirty="0">
              <a:solidFill>
                <a:schemeClr val="bg1"/>
              </a:solidFill>
              <a:latin typeface="Helvetica" pitchFamily="2" charset="0"/>
              <a:ea typeface="+mj-ea"/>
              <a:cs typeface="Arial" panose="020B0604020202020204" pitchFamily="34" charset="0"/>
            </a:endParaRPr>
          </a:p>
        </p:txBody>
      </p:sp>
      <p:pic>
        <p:nvPicPr>
          <p:cNvPr id="47" name="图片 46">
            <a:extLst>
              <a:ext uri="{FF2B5EF4-FFF2-40B4-BE49-F238E27FC236}">
                <a16:creationId xmlns:a16="http://schemas.microsoft.com/office/drawing/2014/main" id="{C02326B7-0E5A-F24B-8BE7-D58545042AA0}"/>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556391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a:extLst>
              <a:ext uri="{FF2B5EF4-FFF2-40B4-BE49-F238E27FC236}">
                <a16:creationId xmlns:a16="http://schemas.microsoft.com/office/drawing/2014/main" id="{EF621E98-351F-489A-ADCE-3FC79FDE6DDD}"/>
              </a:ext>
            </a:extLst>
          </p:cNvPr>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a:extLst>
              <a:ext uri="{FF2B5EF4-FFF2-40B4-BE49-F238E27FC236}">
                <a16:creationId xmlns:a16="http://schemas.microsoft.com/office/drawing/2014/main" id="{C25A5A92-C8E6-4CA8-AB93-8B885C5EA989}"/>
              </a:ext>
            </a:extLst>
          </p:cNvPr>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a:extLst>
              <a:ext uri="{FF2B5EF4-FFF2-40B4-BE49-F238E27FC236}">
                <a16:creationId xmlns:a16="http://schemas.microsoft.com/office/drawing/2014/main" id="{0B284135-360D-47CC-8BC2-5C03015968F7}"/>
              </a:ext>
            </a:extLst>
          </p:cNvPr>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a:extLst>
              <a:ext uri="{FF2B5EF4-FFF2-40B4-BE49-F238E27FC236}">
                <a16:creationId xmlns:a16="http://schemas.microsoft.com/office/drawing/2014/main" id="{D0824BE2-0B1A-47B1-BAAF-7C29E1879AE7}"/>
              </a:ext>
            </a:extLst>
          </p:cNvPr>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3019191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a:extLst>
              <a:ext uri="{FF2B5EF4-FFF2-40B4-BE49-F238E27FC236}">
                <a16:creationId xmlns:a16="http://schemas.microsoft.com/office/drawing/2014/main" id="{053D6D2E-F110-4473-8442-17B28C05A741}"/>
              </a:ext>
            </a:extLst>
          </p:cNvPr>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a:extLst>
              <a:ext uri="{FF2B5EF4-FFF2-40B4-BE49-F238E27FC236}">
                <a16:creationId xmlns:a16="http://schemas.microsoft.com/office/drawing/2014/main" id="{E6BEB427-D252-4942-9F34-301C642191A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a:extLst>
              <a:ext uri="{FF2B5EF4-FFF2-40B4-BE49-F238E27FC236}">
                <a16:creationId xmlns:a16="http://schemas.microsoft.com/office/drawing/2014/main" id="{17358D7B-1DA9-9E4B-AFF1-9A13B20D43F0}"/>
              </a:ext>
            </a:extLst>
          </p:cNvPr>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a:extLst>
              <a:ext uri="{FF2B5EF4-FFF2-40B4-BE49-F238E27FC236}">
                <a16:creationId xmlns:a16="http://schemas.microsoft.com/office/drawing/2014/main" id="{ACA3C166-80E6-1B4A-AD5B-C8D47456872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2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a:extLst>
              <a:ext uri="{FF2B5EF4-FFF2-40B4-BE49-F238E27FC236}">
                <a16:creationId xmlns:a16="http://schemas.microsoft.com/office/drawing/2014/main" id="{4B77A5BA-0111-5844-9F86-5926B121D3FB}"/>
              </a:ext>
            </a:extLst>
          </p:cNvPr>
          <p:cNvSpPr>
            <a:spLocks noGrp="1"/>
          </p:cNvSpPr>
          <p:nvPr>
            <p:ph type="dt" sz="half" idx="10"/>
          </p:nvPr>
        </p:nvSpPr>
        <p:spPr/>
        <p:txBody>
          <a:bodyPr/>
          <a:lstStyle/>
          <a:p>
            <a:endParaRPr lang="zh-CN" altLang="en-US"/>
          </a:p>
        </p:txBody>
      </p:sp>
      <p:sp>
        <p:nvSpPr>
          <p:cNvPr id="14" name="页脚占位符 13">
            <a:extLst>
              <a:ext uri="{FF2B5EF4-FFF2-40B4-BE49-F238E27FC236}">
                <a16:creationId xmlns:a16="http://schemas.microsoft.com/office/drawing/2014/main" id="{44B829B2-7BD2-9948-8F21-7182730A06BA}"/>
              </a:ext>
            </a:extLst>
          </p:cNvPr>
          <p:cNvSpPr>
            <a:spLocks noGrp="1"/>
          </p:cNvSpPr>
          <p:nvPr>
            <p:ph type="ftr" sz="quarter" idx="11"/>
          </p:nvPr>
        </p:nvSpPr>
        <p:spPr/>
        <p:txBody>
          <a:bodyPr/>
          <a:lstStyle/>
          <a:p>
            <a:endParaRPr lang="zh-CN" altLang="en-US" dirty="0"/>
          </a:p>
        </p:txBody>
      </p:sp>
      <p:sp>
        <p:nvSpPr>
          <p:cNvPr id="15" name="灯片编号占位符 14">
            <a:extLst>
              <a:ext uri="{FF2B5EF4-FFF2-40B4-BE49-F238E27FC236}">
                <a16:creationId xmlns:a16="http://schemas.microsoft.com/office/drawing/2014/main" id="{6280651B-EA0A-1E41-B81D-87E3C43E66B9}"/>
              </a:ext>
            </a:extLst>
          </p:cNvPr>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Tree>
    <p:extLst>
      <p:ext uri="{BB962C8B-B14F-4D97-AF65-F5344CB8AC3E}">
        <p14:creationId xmlns:p14="http://schemas.microsoft.com/office/powerpoint/2010/main" val="3728291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B0862E3-9A13-49FB-8057-D6463602E7B6}"/>
              </a:ext>
            </a:extLst>
          </p:cNvPr>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33B73963-4941-42F0-9B00-7431FEF61A6C}"/>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9C71AABC-C91A-43D0-9AF8-0B6162EDCDD1}"/>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A32A9019-0CBC-4C4A-90F0-2676ED9FCD3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1D06DB6D-BC70-544C-8EA4-3A3874C968F6}"/>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3718132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80DB1628-9D3D-4F59-B275-C695A900F19A}"/>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F01A7288-9F85-304B-887D-2D1E13D7A25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DE14FD2D-7810-B34E-8AFB-9A17BDEA7011}"/>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940593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a:extLst>
              <a:ext uri="{FF2B5EF4-FFF2-40B4-BE49-F238E27FC236}">
                <a16:creationId xmlns:a16="http://schemas.microsoft.com/office/drawing/2014/main" id="{F03BE017-E7F3-4A34-ABC3-ECA964258175}"/>
              </a:ext>
            </a:extLst>
          </p:cNvPr>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a:extLst>
              <a:ext uri="{FF2B5EF4-FFF2-40B4-BE49-F238E27FC236}">
                <a16:creationId xmlns:a16="http://schemas.microsoft.com/office/drawing/2014/main" id="{D3B0A0DB-185C-4430-9224-1C0A227377F5}"/>
              </a:ext>
            </a:extLst>
          </p:cNvPr>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a:extLst>
              <a:ext uri="{FF2B5EF4-FFF2-40B4-BE49-F238E27FC236}">
                <a16:creationId xmlns:a16="http://schemas.microsoft.com/office/drawing/2014/main" id="{E3FA308D-84A8-4382-ADA4-2CD6EA62223C}"/>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68876A75-1BD3-9D4E-9D34-C6453E6DC7DB}"/>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48222E54-5ACA-6D4B-9A58-9B51C83B622D}"/>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94114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a:extLst>
              <a:ext uri="{FF2B5EF4-FFF2-40B4-BE49-F238E27FC236}">
                <a16:creationId xmlns:a16="http://schemas.microsoft.com/office/drawing/2014/main" id="{260C43B2-4304-44E2-A6F0-062D59008B9B}"/>
              </a:ext>
            </a:extLst>
          </p:cNvPr>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a:extLst>
              <a:ext uri="{FF2B5EF4-FFF2-40B4-BE49-F238E27FC236}">
                <a16:creationId xmlns:a16="http://schemas.microsoft.com/office/drawing/2014/main" id="{11D8ADCD-C58A-41B8-80C4-2341BB348593}"/>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a:extLst>
              <a:ext uri="{FF2B5EF4-FFF2-40B4-BE49-F238E27FC236}">
                <a16:creationId xmlns:a16="http://schemas.microsoft.com/office/drawing/2014/main" id="{841EB5B4-0657-4AE7-A427-642106D598D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EC81340F-C45F-6B4F-9864-73BF32BA909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31D45924-509B-5D4C-A99D-FF1FB6F34BEF}"/>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95409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D88D36A-B7BF-4F3A-AA10-0BECE80A557F}"/>
              </a:ext>
            </a:extLst>
          </p:cNvPr>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a:extLst>
              <a:ext uri="{FF2B5EF4-FFF2-40B4-BE49-F238E27FC236}">
                <a16:creationId xmlns:a16="http://schemas.microsoft.com/office/drawing/2014/main" id="{DEC9F75E-9249-4FFE-AF96-E92B201A183F}"/>
              </a:ext>
            </a:extLst>
          </p:cNvPr>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a:extLst>
              <a:ext uri="{FF2B5EF4-FFF2-40B4-BE49-F238E27FC236}">
                <a16:creationId xmlns:a16="http://schemas.microsoft.com/office/drawing/2014/main" id="{E7782F2A-850E-4B5F-8330-CF50AC9EFA7B}"/>
              </a:ext>
            </a:extLst>
          </p:cNvPr>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a:extLst>
              <a:ext uri="{FF2B5EF4-FFF2-40B4-BE49-F238E27FC236}">
                <a16:creationId xmlns:a16="http://schemas.microsoft.com/office/drawing/2014/main" id="{25096E3E-9433-4D85-BA39-301B214A355E}"/>
              </a:ext>
            </a:extLst>
          </p:cNvPr>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DF883148-B063-4C5A-9CC7-CE69774A8C94}"/>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B8A4FF80-ED1E-4D1D-9434-215EB5FB872B}"/>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B3A067A2-39E8-0940-8B54-688BC270D1DC}"/>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7D982EDC-1B4A-034E-9CE9-9172DBAF4898}"/>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164266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619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5F00C798-F4CB-49E3-81E0-4CD12D5AEAD6}"/>
              </a:ext>
            </a:extLst>
          </p:cNvPr>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a:extLst>
              <a:ext uri="{FF2B5EF4-FFF2-40B4-BE49-F238E27FC236}">
                <a16:creationId xmlns:a16="http://schemas.microsoft.com/office/drawing/2014/main" id="{8C1695A4-3593-4E25-8722-4214E3CC76B6}"/>
              </a:ext>
            </a:extLst>
          </p:cNvPr>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a:extLst>
              <a:ext uri="{FF2B5EF4-FFF2-40B4-BE49-F238E27FC236}">
                <a16:creationId xmlns:a16="http://schemas.microsoft.com/office/drawing/2014/main" id="{A29C0276-5751-4797-BFA5-F68D05ACBB63}"/>
              </a:ext>
            </a:extLst>
          </p:cNvPr>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a:extLst>
              <a:ext uri="{FF2B5EF4-FFF2-40B4-BE49-F238E27FC236}">
                <a16:creationId xmlns:a16="http://schemas.microsoft.com/office/drawing/2014/main" id="{D85E25CC-A5BC-44E2-9950-5BDC824D9AC1}"/>
              </a:ext>
            </a:extLst>
          </p:cNvPr>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571326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B2DFB5F-1361-46F4-B3DF-471ECD4DCA18}"/>
              </a:ext>
            </a:extLst>
          </p:cNvPr>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a:extLst>
              <a:ext uri="{FF2B5EF4-FFF2-40B4-BE49-F238E27FC236}">
                <a16:creationId xmlns:a16="http://schemas.microsoft.com/office/drawing/2014/main" id="{385D4CE6-0BBF-450D-B3AB-7C163A40E793}"/>
              </a:ext>
            </a:extLst>
          </p:cNvPr>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extLst>
      <p:ext uri="{BB962C8B-B14F-4D97-AF65-F5344CB8AC3E}">
        <p14:creationId xmlns:p14="http://schemas.microsoft.com/office/powerpoint/2010/main" val="3236818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1044578"/>
            <a:ext cx="12192000" cy="1470025"/>
          </a:xfrm>
        </p:spPr>
        <p:txBody>
          <a:bodyPr/>
          <a:lstStyle>
            <a:lvl1pPr>
              <a:defRPr>
                <a:solidFill>
                  <a:schemeClr val="accent2"/>
                </a:solidFill>
              </a:defRPr>
            </a:lvl1pPr>
          </a:lstStyle>
          <a:p>
            <a:r>
              <a:rPr lang="en-US"/>
              <a:t>Click to edit Master title style</a:t>
            </a:r>
          </a:p>
        </p:txBody>
      </p:sp>
      <p:sp>
        <p:nvSpPr>
          <p:cNvPr id="5123" name="Rectangle 3"/>
          <p:cNvSpPr>
            <a:spLocks noGrp="1" noChangeArrowheads="1"/>
          </p:cNvSpPr>
          <p:nvPr>
            <p:ph type="subTitle" idx="1"/>
          </p:nvPr>
        </p:nvSpPr>
        <p:spPr>
          <a:xfrm>
            <a:off x="0" y="3657600"/>
            <a:ext cx="12192000" cy="1524000"/>
          </a:xfrm>
        </p:spPr>
        <p:txBody>
          <a:bodyPr/>
          <a:lstStyle>
            <a:lvl1pPr marL="0" indent="0" algn="ctr">
              <a:buFont typeface="Wingdings" panose="05000000000000000000" pitchFamily="2" charset="2"/>
              <a:buNone/>
              <a:defRPr>
                <a:solidFill>
                  <a:schemeClr val="tx1"/>
                </a:solidFill>
              </a:defRPr>
            </a:lvl1pPr>
          </a:lstStyle>
          <a:p>
            <a:r>
              <a:rPr lang="en-US" dirty="0"/>
              <a:t>Click to edit Master subtitle style</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92E62938-84EC-488D-9CA4-E38E8D42E52F}" type="slidenum">
              <a:rPr lang="en-US"/>
              <a:t>‹#›</a:t>
            </a:fld>
            <a:endParaRPr lang="en-US"/>
          </a:p>
        </p:txBody>
      </p:sp>
    </p:spTree>
    <p:extLst>
      <p:ext uri="{BB962C8B-B14F-4D97-AF65-F5344CB8AC3E}">
        <p14:creationId xmlns:p14="http://schemas.microsoft.com/office/powerpoint/2010/main" val="1432888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1D5E8221-ACA7-4409-9788-2ACEEBC1BDCC}" type="slidenum">
              <a:rPr lang="en-US" smtClean="0"/>
              <a:t>‹#›</a:t>
            </a:fld>
            <a:endParaRPr lang="en-US"/>
          </a:p>
        </p:txBody>
      </p:sp>
    </p:spTree>
    <p:extLst>
      <p:ext uri="{BB962C8B-B14F-4D97-AF65-F5344CB8AC3E}">
        <p14:creationId xmlns:p14="http://schemas.microsoft.com/office/powerpoint/2010/main" val="2369070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A6685549-3527-4829-9473-416A0C2EAE24}" type="slidenum">
              <a:rPr lang="en-US" smtClean="0"/>
              <a:t>‹#›</a:t>
            </a:fld>
            <a:endParaRPr lang="en-US"/>
          </a:p>
        </p:txBody>
      </p:sp>
    </p:spTree>
    <p:extLst>
      <p:ext uri="{BB962C8B-B14F-4D97-AF65-F5344CB8AC3E}">
        <p14:creationId xmlns:p14="http://schemas.microsoft.com/office/powerpoint/2010/main" val="363745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B5FF1561-1732-4AFE-BD38-1F907188A60F}" type="slidenum">
              <a:rPr lang="en-US" smtClean="0"/>
              <a:t>‹#›</a:t>
            </a:fld>
            <a:endParaRPr lang="en-US"/>
          </a:p>
        </p:txBody>
      </p:sp>
    </p:spTree>
    <p:extLst>
      <p:ext uri="{BB962C8B-B14F-4D97-AF65-F5344CB8AC3E}">
        <p14:creationId xmlns:p14="http://schemas.microsoft.com/office/powerpoint/2010/main" val="3375905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a:extLst>
              <a:ext uri="{FF2B5EF4-FFF2-40B4-BE49-F238E27FC236}">
                <a16:creationId xmlns:a16="http://schemas.microsoft.com/office/drawing/2014/main" id="{E27F0E8A-FBE3-41B6-A56B-7A14F7AAA7BA}"/>
              </a:ext>
            </a:extLst>
          </p:cNvPr>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a:extLst>
              <a:ext uri="{FF2B5EF4-FFF2-40B4-BE49-F238E27FC236}">
                <a16:creationId xmlns:a16="http://schemas.microsoft.com/office/drawing/2014/main" id="{8EAB9554-0968-7F4C-B17C-055427BAAC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extLst>
      <p:ext uri="{BB962C8B-B14F-4D97-AF65-F5344CB8AC3E}">
        <p14:creationId xmlns:p14="http://schemas.microsoft.com/office/powerpoint/2010/main" val="22442428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a:extLst>
              <a:ext uri="{FF2B5EF4-FFF2-40B4-BE49-F238E27FC236}">
                <a16:creationId xmlns:a16="http://schemas.microsoft.com/office/drawing/2014/main" id="{1B478B4D-326B-4F22-B792-98AB7E9C8268}"/>
              </a:ext>
            </a:extLst>
          </p:cNvPr>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a:extLst>
              <a:ext uri="{FF2B5EF4-FFF2-40B4-BE49-F238E27FC236}">
                <a16:creationId xmlns:a16="http://schemas.microsoft.com/office/drawing/2014/main" id="{2742BE2E-64C4-45DC-B5F2-9CE85916052B}"/>
              </a:ext>
            </a:extLst>
          </p:cNvPr>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20204" pitchFamily="34" charset="0"/>
                <a:sym typeface="+mn-lt"/>
              </a:rPr>
              <a:t>Contents</a:t>
            </a:r>
            <a:endParaRPr lang="zh-CN" altLang="en-US" sz="4400" b="1" i="0" dirty="0">
              <a:solidFill>
                <a:schemeClr val="bg1"/>
              </a:solidFill>
              <a:latin typeface="Helvetica" pitchFamily="2" charset="0"/>
              <a:cs typeface="Arial" panose="020B0604020202020204" pitchFamily="34" charset="0"/>
              <a:sym typeface="+mn-lt"/>
            </a:endParaRPr>
          </a:p>
        </p:txBody>
      </p:sp>
      <p:sp>
        <p:nvSpPr>
          <p:cNvPr id="87" name="任意多边形: 形状 86">
            <a:extLst>
              <a:ext uri="{FF2B5EF4-FFF2-40B4-BE49-F238E27FC236}">
                <a16:creationId xmlns:a16="http://schemas.microsoft.com/office/drawing/2014/main" id="{BEB662E1-75A1-469F-B2C5-6EC6E8255C44}"/>
              </a:ext>
            </a:extLst>
          </p:cNvPr>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a:extLst>
              <a:ext uri="{FF2B5EF4-FFF2-40B4-BE49-F238E27FC236}">
                <a16:creationId xmlns:a16="http://schemas.microsoft.com/office/drawing/2014/main" id="{CF32DCCF-D109-144D-93EF-7A463349CB65}"/>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a:extLst>
              <a:ext uri="{FF2B5EF4-FFF2-40B4-BE49-F238E27FC236}">
                <a16:creationId xmlns:a16="http://schemas.microsoft.com/office/drawing/2014/main" id="{D607238F-89BF-434F-A2F2-C5D1BB90B631}"/>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extLst>
      <p:ext uri="{BB962C8B-B14F-4D97-AF65-F5344CB8AC3E}">
        <p14:creationId xmlns:p14="http://schemas.microsoft.com/office/powerpoint/2010/main" val="1801760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7CB78A0-538A-4F4C-97AC-5D6B9B36EAE3}"/>
              </a:ext>
            </a:extLst>
          </p:cNvPr>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a:extLst>
              <a:ext uri="{FF2B5EF4-FFF2-40B4-BE49-F238E27FC236}">
                <a16:creationId xmlns:a16="http://schemas.microsoft.com/office/drawing/2014/main" id="{DCD3F2D1-9FCF-4792-8D92-8CA0C104ED79}"/>
              </a:ext>
            </a:extLst>
          </p:cNvPr>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20204" pitchFamily="34" charset="0"/>
              </a:rPr>
              <a:t>Part 01</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E1FBCD60-E317-434E-9948-6517EE806648}"/>
              </a:ext>
            </a:extLst>
          </p:cNvPr>
          <p:cNvCxnSpPr>
            <a:cxnSpLocks/>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E5FF972F-6C72-4EB1-91BD-22FC6A6BFE55}"/>
              </a:ext>
            </a:extLst>
          </p:cNvPr>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a:extLst>
              <a:ext uri="{FF2B5EF4-FFF2-40B4-BE49-F238E27FC236}">
                <a16:creationId xmlns:a16="http://schemas.microsoft.com/office/drawing/2014/main" id="{6ED22ADE-3337-4765-824B-2BCE393B3BC8}"/>
              </a:ext>
            </a:extLst>
          </p:cNvPr>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a:extLst>
              <a:ext uri="{FF2B5EF4-FFF2-40B4-BE49-F238E27FC236}">
                <a16:creationId xmlns:a16="http://schemas.microsoft.com/office/drawing/2014/main" id="{77F0E457-CBAE-48A1-9FDD-0AD48E16BB0E}"/>
              </a:ext>
            </a:extLst>
          </p:cNvPr>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a:extLst>
              <a:ext uri="{FF2B5EF4-FFF2-40B4-BE49-F238E27FC236}">
                <a16:creationId xmlns:a16="http://schemas.microsoft.com/office/drawing/2014/main" id="{BF5B61E3-C874-41BD-9977-575DE377EF7C}"/>
              </a:ext>
            </a:extLst>
          </p:cNvPr>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a:extLst>
              <a:ext uri="{FF2B5EF4-FFF2-40B4-BE49-F238E27FC236}">
                <a16:creationId xmlns:a16="http://schemas.microsoft.com/office/drawing/2014/main" id="{E79C958C-4261-4C02-847F-E854178B5EDF}"/>
              </a:ext>
            </a:extLst>
          </p:cNvPr>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a:extLst>
              <a:ext uri="{FF2B5EF4-FFF2-40B4-BE49-F238E27FC236}">
                <a16:creationId xmlns:a16="http://schemas.microsoft.com/office/drawing/2014/main" id="{50FB6E99-D418-4444-914B-2306780544C7}"/>
              </a:ext>
            </a:extLst>
          </p:cNvPr>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2930349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a:extLst>
              <a:ext uri="{FF2B5EF4-FFF2-40B4-BE49-F238E27FC236}">
                <a16:creationId xmlns:a16="http://schemas.microsoft.com/office/drawing/2014/main" id="{5FB16484-E5F7-4B77-B7A5-FDAB1703AF52}"/>
              </a:ext>
            </a:extLst>
          </p:cNvPr>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B6FD6F57-F8D0-494A-A461-A05057362E3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02</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0F3C94DC-BC3D-4914-BCEA-9BADE3C91715}"/>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a:extLst>
              <a:ext uri="{FF2B5EF4-FFF2-40B4-BE49-F238E27FC236}">
                <a16:creationId xmlns:a16="http://schemas.microsoft.com/office/drawing/2014/main" id="{D3B89C71-934D-411D-A2EA-05C70F77FCCA}"/>
              </a:ext>
            </a:extLst>
          </p:cNvPr>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a:extLst>
              <a:ext uri="{FF2B5EF4-FFF2-40B4-BE49-F238E27FC236}">
                <a16:creationId xmlns:a16="http://schemas.microsoft.com/office/drawing/2014/main" id="{A837D7F3-A47E-4687-B46E-2D3048C16002}"/>
              </a:ext>
            </a:extLst>
          </p:cNvPr>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a:extLst>
              <a:ext uri="{FF2B5EF4-FFF2-40B4-BE49-F238E27FC236}">
                <a16:creationId xmlns:a16="http://schemas.microsoft.com/office/drawing/2014/main" id="{FE10A76B-7B22-4776-AAF9-D0EEE0D973D2}"/>
              </a:ext>
            </a:extLst>
          </p:cNvPr>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a:extLst>
              <a:ext uri="{FF2B5EF4-FFF2-40B4-BE49-F238E27FC236}">
                <a16:creationId xmlns:a16="http://schemas.microsoft.com/office/drawing/2014/main" id="{80425897-AA01-4101-B050-A034992317B0}"/>
              </a:ext>
            </a:extLst>
          </p:cNvPr>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a:extLst>
              <a:ext uri="{FF2B5EF4-FFF2-40B4-BE49-F238E27FC236}">
                <a16:creationId xmlns:a16="http://schemas.microsoft.com/office/drawing/2014/main" id="{1DC1ADFB-E837-4D7F-B9F3-657D2F4ACAB6}"/>
              </a:ext>
            </a:extLst>
          </p:cNvPr>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a:extLst>
              <a:ext uri="{FF2B5EF4-FFF2-40B4-BE49-F238E27FC236}">
                <a16:creationId xmlns:a16="http://schemas.microsoft.com/office/drawing/2014/main" id="{034BB7AD-2674-4436-98EF-FC7061F0982B}"/>
              </a:ext>
            </a:extLst>
          </p:cNvPr>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extLst>
      <p:ext uri="{BB962C8B-B14F-4D97-AF65-F5344CB8AC3E}">
        <p14:creationId xmlns:p14="http://schemas.microsoft.com/office/powerpoint/2010/main" val="17503723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E3D9E87-D3B4-4F53-99F3-7438B7E4D4AB}"/>
              </a:ext>
            </a:extLst>
          </p:cNvPr>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a:extLst>
              <a:ext uri="{FF2B5EF4-FFF2-40B4-BE49-F238E27FC236}">
                <a16:creationId xmlns:a16="http://schemas.microsoft.com/office/drawing/2014/main" id="{6CD21FE1-F1E4-4E14-BF8F-A4D4ED823FBC}"/>
              </a:ext>
            </a:extLst>
          </p:cNvPr>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B76C3FD-32D6-4E41-B7F5-97F8A47A3D0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03</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8DD83EE6-28E8-42E1-9D1D-CEA16A3EF647}"/>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D2CCFA9F-ED6D-4706-AB87-12B0B7099A55}"/>
              </a:ext>
            </a:extLst>
          </p:cNvPr>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a:extLst>
              <a:ext uri="{FF2B5EF4-FFF2-40B4-BE49-F238E27FC236}">
                <a16:creationId xmlns:a16="http://schemas.microsoft.com/office/drawing/2014/main" id="{2F53FD0E-8CED-473A-8132-8C32D5EB7E41}"/>
              </a:ext>
            </a:extLst>
          </p:cNvPr>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a:extLst>
              <a:ext uri="{FF2B5EF4-FFF2-40B4-BE49-F238E27FC236}">
                <a16:creationId xmlns:a16="http://schemas.microsoft.com/office/drawing/2014/main" id="{686A2882-5AAA-4796-ACBF-11DE20417AB5}"/>
              </a:ext>
            </a:extLst>
          </p:cNvPr>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a:extLst>
              <a:ext uri="{FF2B5EF4-FFF2-40B4-BE49-F238E27FC236}">
                <a16:creationId xmlns:a16="http://schemas.microsoft.com/office/drawing/2014/main" id="{965BF0DA-9E98-46CA-BC5A-2F733F99C372}"/>
              </a:ext>
            </a:extLst>
          </p:cNvPr>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44B3714-021E-44F1-A9C0-8DB23D7B89EA}"/>
              </a:ext>
            </a:extLst>
          </p:cNvPr>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extLst>
      <p:ext uri="{BB962C8B-B14F-4D97-AF65-F5344CB8AC3E}">
        <p14:creationId xmlns:p14="http://schemas.microsoft.com/office/powerpoint/2010/main" val="9106185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a:extLst>
              <a:ext uri="{FF2B5EF4-FFF2-40B4-BE49-F238E27FC236}">
                <a16:creationId xmlns:a16="http://schemas.microsoft.com/office/drawing/2014/main" id="{F4B8A56B-7F99-43EE-87F0-42D96BE6E0C1}"/>
              </a:ext>
            </a:extLst>
          </p:cNvPr>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AD7A4933-BE2B-4B78-BB0B-EFF272C4458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04</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A73394E7-E5C6-4B02-8A31-9C03D9C6FA0B}"/>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a:extLst>
              <a:ext uri="{FF2B5EF4-FFF2-40B4-BE49-F238E27FC236}">
                <a16:creationId xmlns:a16="http://schemas.microsoft.com/office/drawing/2014/main" id="{9FDAE5AE-1C3F-4A93-B305-B77CDC3F4BE2}"/>
              </a:ext>
            </a:extLst>
          </p:cNvPr>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a:extLst>
              <a:ext uri="{FF2B5EF4-FFF2-40B4-BE49-F238E27FC236}">
                <a16:creationId xmlns:a16="http://schemas.microsoft.com/office/drawing/2014/main" id="{8B831D4E-CDC6-4513-9163-9BB77DDB0516}"/>
              </a:ext>
            </a:extLst>
          </p:cNvPr>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a:extLst>
              <a:ext uri="{FF2B5EF4-FFF2-40B4-BE49-F238E27FC236}">
                <a16:creationId xmlns:a16="http://schemas.microsoft.com/office/drawing/2014/main" id="{25618009-D285-438D-BF60-F87BDBE0685A}"/>
              </a:ext>
            </a:extLst>
          </p:cNvPr>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a:extLst>
              <a:ext uri="{FF2B5EF4-FFF2-40B4-BE49-F238E27FC236}">
                <a16:creationId xmlns:a16="http://schemas.microsoft.com/office/drawing/2014/main" id="{4A10CB81-B3E3-411C-90C9-3480A10EDB9B}"/>
              </a:ext>
            </a:extLst>
          </p:cNvPr>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a:extLst>
              <a:ext uri="{FF2B5EF4-FFF2-40B4-BE49-F238E27FC236}">
                <a16:creationId xmlns:a16="http://schemas.microsoft.com/office/drawing/2014/main" id="{D251409D-FDB9-430B-A00F-D4A65811924B}"/>
              </a:ext>
            </a:extLst>
          </p:cNvPr>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63A1AFEA-57CF-4E71-AF6C-91E549CCF7E6}"/>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18248120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a:extLst>
              <a:ext uri="{FF2B5EF4-FFF2-40B4-BE49-F238E27FC236}">
                <a16:creationId xmlns:a16="http://schemas.microsoft.com/office/drawing/2014/main" id="{03B97F61-153E-4B6E-8D40-C8B9A7E64D60}"/>
              </a:ext>
            </a:extLst>
          </p:cNvPr>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7B2B8D9-D400-4BD8-9CF6-DCEAAC82BDD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05</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F285F31B-D145-4BD9-A54B-96E8E681B170}"/>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a:extLst>
              <a:ext uri="{FF2B5EF4-FFF2-40B4-BE49-F238E27FC236}">
                <a16:creationId xmlns:a16="http://schemas.microsoft.com/office/drawing/2014/main" id="{883EB526-2712-4265-9BF4-5874AAB98515}"/>
              </a:ext>
            </a:extLst>
          </p:cNvPr>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a:extLst>
              <a:ext uri="{FF2B5EF4-FFF2-40B4-BE49-F238E27FC236}">
                <a16:creationId xmlns:a16="http://schemas.microsoft.com/office/drawing/2014/main" id="{C7D4DE0F-D1AF-4276-ADBB-A15A5BFE8CB9}"/>
              </a:ext>
            </a:extLst>
          </p:cNvPr>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a:extLst>
              <a:ext uri="{FF2B5EF4-FFF2-40B4-BE49-F238E27FC236}">
                <a16:creationId xmlns:a16="http://schemas.microsoft.com/office/drawing/2014/main" id="{DFA316F4-7F98-4275-AAEF-578596A20622}"/>
              </a:ext>
            </a:extLst>
          </p:cNvPr>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a:extLst>
              <a:ext uri="{FF2B5EF4-FFF2-40B4-BE49-F238E27FC236}">
                <a16:creationId xmlns:a16="http://schemas.microsoft.com/office/drawing/2014/main" id="{219BA2AF-DF75-4C32-85E3-CB62BA8F7564}"/>
              </a:ext>
            </a:extLst>
          </p:cNvPr>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a:extLst>
              <a:ext uri="{FF2B5EF4-FFF2-40B4-BE49-F238E27FC236}">
                <a16:creationId xmlns:a16="http://schemas.microsoft.com/office/drawing/2014/main" id="{A86D27D2-3D87-4A30-89B6-7FAFD15E7EA4}"/>
              </a:ext>
            </a:extLst>
          </p:cNvPr>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BD5DBA0-D1E0-4B8B-AF12-F77A29B64E62}"/>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23008990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a:extLst>
              <a:ext uri="{FF2B5EF4-FFF2-40B4-BE49-F238E27FC236}">
                <a16:creationId xmlns:a16="http://schemas.microsoft.com/office/drawing/2014/main" id="{60753701-EC64-455B-B060-1320051E3FE3}"/>
              </a:ext>
            </a:extLst>
          </p:cNvPr>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F5CBE861-C433-4078-A9A5-2C401EE3B270}"/>
              </a:ext>
            </a:extLst>
          </p:cNvPr>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06</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23DD6575-0576-4AFA-9BC4-891ADAB845BD}"/>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a:extLst>
              <a:ext uri="{FF2B5EF4-FFF2-40B4-BE49-F238E27FC236}">
                <a16:creationId xmlns:a16="http://schemas.microsoft.com/office/drawing/2014/main" id="{C48532B4-0A1B-49CC-99AA-FE75395721EF}"/>
              </a:ext>
            </a:extLst>
          </p:cNvPr>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a:extLst>
              <a:ext uri="{FF2B5EF4-FFF2-40B4-BE49-F238E27FC236}">
                <a16:creationId xmlns:a16="http://schemas.microsoft.com/office/drawing/2014/main" id="{32356412-5283-4799-9197-98AEACE613AC}"/>
              </a:ext>
            </a:extLst>
          </p:cNvPr>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a:extLst>
              <a:ext uri="{FF2B5EF4-FFF2-40B4-BE49-F238E27FC236}">
                <a16:creationId xmlns:a16="http://schemas.microsoft.com/office/drawing/2014/main" id="{4E421018-60A0-4F10-A9A6-A6EE3BBD8BF9}"/>
              </a:ext>
            </a:extLst>
          </p:cNvPr>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a:extLst>
              <a:ext uri="{FF2B5EF4-FFF2-40B4-BE49-F238E27FC236}">
                <a16:creationId xmlns:a16="http://schemas.microsoft.com/office/drawing/2014/main" id="{9B17F2FA-61E0-4197-AD3A-2DE5104FF5C1}"/>
              </a:ext>
            </a:extLst>
          </p:cNvPr>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a:extLst>
              <a:ext uri="{FF2B5EF4-FFF2-40B4-BE49-F238E27FC236}">
                <a16:creationId xmlns:a16="http://schemas.microsoft.com/office/drawing/2014/main" id="{1C86E54A-170E-4CA4-BE8B-1118DA74B7C4}"/>
              </a:ext>
            </a:extLst>
          </p:cNvPr>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A5976A4D-F088-4D08-ABB4-FDF23F9CA863}"/>
              </a:ext>
            </a:extLst>
          </p:cNvPr>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10046620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a:extLst>
              <a:ext uri="{FF2B5EF4-FFF2-40B4-BE49-F238E27FC236}">
                <a16:creationId xmlns:a16="http://schemas.microsoft.com/office/drawing/2014/main" id="{82CF8FAE-6DBB-42F8-A821-12D15C788E8C}"/>
              </a:ext>
            </a:extLst>
          </p:cNvPr>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a:extLst>
              <a:ext uri="{FF2B5EF4-FFF2-40B4-BE49-F238E27FC236}">
                <a16:creationId xmlns:a16="http://schemas.microsoft.com/office/drawing/2014/main" id="{B958D3BC-E7F4-4914-8CAC-14D6BF0FFFB3}"/>
              </a:ext>
            </a:extLst>
          </p:cNvPr>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a:extLst>
              <a:ext uri="{FF2B5EF4-FFF2-40B4-BE49-F238E27FC236}">
                <a16:creationId xmlns:a16="http://schemas.microsoft.com/office/drawing/2014/main" id="{2453FC77-9263-4C53-8F22-D64EBC3880B1}"/>
              </a:ext>
            </a:extLst>
          </p:cNvPr>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a:extLst>
              <a:ext uri="{FF2B5EF4-FFF2-40B4-BE49-F238E27FC236}">
                <a16:creationId xmlns:a16="http://schemas.microsoft.com/office/drawing/2014/main" id="{9B3BEEB7-FA72-410F-B92D-7D208F847B83}"/>
              </a:ext>
            </a:extLst>
          </p:cNvPr>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20204" pitchFamily="34" charset="0"/>
              </a:rPr>
              <a:t>Contents</a:t>
            </a:r>
            <a:endParaRPr lang="zh-CN" altLang="en-US" sz="4000" b="1" i="0" dirty="0">
              <a:solidFill>
                <a:schemeClr val="bg1"/>
              </a:solidFill>
              <a:latin typeface="Helvetica" pitchFamily="2" charset="0"/>
              <a:ea typeface="+mj-ea"/>
              <a:cs typeface="Arial" panose="020B0604020202020204" pitchFamily="34" charset="0"/>
            </a:endParaRPr>
          </a:p>
        </p:txBody>
      </p:sp>
      <p:pic>
        <p:nvPicPr>
          <p:cNvPr id="47" name="图片 46">
            <a:extLst>
              <a:ext uri="{FF2B5EF4-FFF2-40B4-BE49-F238E27FC236}">
                <a16:creationId xmlns:a16="http://schemas.microsoft.com/office/drawing/2014/main" id="{C02326B7-0E5A-F24B-8BE7-D58545042AA0}"/>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11480587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a:extLst>
              <a:ext uri="{FF2B5EF4-FFF2-40B4-BE49-F238E27FC236}">
                <a16:creationId xmlns:a16="http://schemas.microsoft.com/office/drawing/2014/main" id="{EF621E98-351F-489A-ADCE-3FC79FDE6DDD}"/>
              </a:ext>
            </a:extLst>
          </p:cNvPr>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a:extLst>
              <a:ext uri="{FF2B5EF4-FFF2-40B4-BE49-F238E27FC236}">
                <a16:creationId xmlns:a16="http://schemas.microsoft.com/office/drawing/2014/main" id="{C25A5A92-C8E6-4CA8-AB93-8B885C5EA989}"/>
              </a:ext>
            </a:extLst>
          </p:cNvPr>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a:extLst>
              <a:ext uri="{FF2B5EF4-FFF2-40B4-BE49-F238E27FC236}">
                <a16:creationId xmlns:a16="http://schemas.microsoft.com/office/drawing/2014/main" id="{0B284135-360D-47CC-8BC2-5C03015968F7}"/>
              </a:ext>
            </a:extLst>
          </p:cNvPr>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a:extLst>
              <a:ext uri="{FF2B5EF4-FFF2-40B4-BE49-F238E27FC236}">
                <a16:creationId xmlns:a16="http://schemas.microsoft.com/office/drawing/2014/main" id="{D0824BE2-0B1A-47B1-BAAF-7C29E1879AE7}"/>
              </a:ext>
            </a:extLst>
          </p:cNvPr>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10717355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a:extLst>
              <a:ext uri="{FF2B5EF4-FFF2-40B4-BE49-F238E27FC236}">
                <a16:creationId xmlns:a16="http://schemas.microsoft.com/office/drawing/2014/main" id="{053D6D2E-F110-4473-8442-17B28C05A741}"/>
              </a:ext>
            </a:extLst>
          </p:cNvPr>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a:extLst>
              <a:ext uri="{FF2B5EF4-FFF2-40B4-BE49-F238E27FC236}">
                <a16:creationId xmlns:a16="http://schemas.microsoft.com/office/drawing/2014/main" id="{E6BEB427-D252-4942-9F34-301C642191A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a:extLst>
              <a:ext uri="{FF2B5EF4-FFF2-40B4-BE49-F238E27FC236}">
                <a16:creationId xmlns:a16="http://schemas.microsoft.com/office/drawing/2014/main" id="{17358D7B-1DA9-9E4B-AFF1-9A13B20D43F0}"/>
              </a:ext>
            </a:extLst>
          </p:cNvPr>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a:extLst>
              <a:ext uri="{FF2B5EF4-FFF2-40B4-BE49-F238E27FC236}">
                <a16:creationId xmlns:a16="http://schemas.microsoft.com/office/drawing/2014/main" id="{ACA3C166-80E6-1B4A-AD5B-C8D47456872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2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a:extLst>
              <a:ext uri="{FF2B5EF4-FFF2-40B4-BE49-F238E27FC236}">
                <a16:creationId xmlns:a16="http://schemas.microsoft.com/office/drawing/2014/main" id="{4B77A5BA-0111-5844-9F86-5926B121D3FB}"/>
              </a:ext>
            </a:extLst>
          </p:cNvPr>
          <p:cNvSpPr>
            <a:spLocks noGrp="1"/>
          </p:cNvSpPr>
          <p:nvPr>
            <p:ph type="dt" sz="half" idx="10"/>
          </p:nvPr>
        </p:nvSpPr>
        <p:spPr/>
        <p:txBody>
          <a:bodyPr/>
          <a:lstStyle/>
          <a:p>
            <a:endParaRPr lang="zh-CN" altLang="en-US"/>
          </a:p>
        </p:txBody>
      </p:sp>
      <p:sp>
        <p:nvSpPr>
          <p:cNvPr id="14" name="页脚占位符 13">
            <a:extLst>
              <a:ext uri="{FF2B5EF4-FFF2-40B4-BE49-F238E27FC236}">
                <a16:creationId xmlns:a16="http://schemas.microsoft.com/office/drawing/2014/main" id="{44B829B2-7BD2-9948-8F21-7182730A06BA}"/>
              </a:ext>
            </a:extLst>
          </p:cNvPr>
          <p:cNvSpPr>
            <a:spLocks noGrp="1"/>
          </p:cNvSpPr>
          <p:nvPr>
            <p:ph type="ftr" sz="quarter" idx="11"/>
          </p:nvPr>
        </p:nvSpPr>
        <p:spPr/>
        <p:txBody>
          <a:bodyPr/>
          <a:lstStyle/>
          <a:p>
            <a:endParaRPr lang="zh-CN" altLang="en-US" dirty="0"/>
          </a:p>
        </p:txBody>
      </p:sp>
      <p:sp>
        <p:nvSpPr>
          <p:cNvPr id="15" name="灯片编号占位符 14">
            <a:extLst>
              <a:ext uri="{FF2B5EF4-FFF2-40B4-BE49-F238E27FC236}">
                <a16:creationId xmlns:a16="http://schemas.microsoft.com/office/drawing/2014/main" id="{6280651B-EA0A-1E41-B81D-87E3C43E66B9}"/>
              </a:ext>
            </a:extLst>
          </p:cNvPr>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Tree>
    <p:extLst>
      <p:ext uri="{BB962C8B-B14F-4D97-AF65-F5344CB8AC3E}">
        <p14:creationId xmlns:p14="http://schemas.microsoft.com/office/powerpoint/2010/main" val="10459496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B0862E3-9A13-49FB-8057-D6463602E7B6}"/>
              </a:ext>
            </a:extLst>
          </p:cNvPr>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33B73963-4941-42F0-9B00-7431FEF61A6C}"/>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9C71AABC-C91A-43D0-9AF8-0B6162EDCDD1}"/>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A32A9019-0CBC-4C4A-90F0-2676ED9FCD3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1D06DB6D-BC70-544C-8EA4-3A3874C968F6}"/>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7715601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80DB1628-9D3D-4F59-B275-C695A900F19A}"/>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F01A7288-9F85-304B-887D-2D1E13D7A25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DE14FD2D-7810-B34E-8AFB-9A17BDEA7011}"/>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2674284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a:extLst>
              <a:ext uri="{FF2B5EF4-FFF2-40B4-BE49-F238E27FC236}">
                <a16:creationId xmlns:a16="http://schemas.microsoft.com/office/drawing/2014/main" id="{F03BE017-E7F3-4A34-ABC3-ECA964258175}"/>
              </a:ext>
            </a:extLst>
          </p:cNvPr>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a:extLst>
              <a:ext uri="{FF2B5EF4-FFF2-40B4-BE49-F238E27FC236}">
                <a16:creationId xmlns:a16="http://schemas.microsoft.com/office/drawing/2014/main" id="{D3B0A0DB-185C-4430-9224-1C0A227377F5}"/>
              </a:ext>
            </a:extLst>
          </p:cNvPr>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a:extLst>
              <a:ext uri="{FF2B5EF4-FFF2-40B4-BE49-F238E27FC236}">
                <a16:creationId xmlns:a16="http://schemas.microsoft.com/office/drawing/2014/main" id="{E3FA308D-84A8-4382-ADA4-2CD6EA62223C}"/>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68876A75-1BD3-9D4E-9D34-C6453E6DC7DB}"/>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48222E54-5ACA-6D4B-9A58-9B51C83B622D}"/>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32422694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a:extLst>
              <a:ext uri="{FF2B5EF4-FFF2-40B4-BE49-F238E27FC236}">
                <a16:creationId xmlns:a16="http://schemas.microsoft.com/office/drawing/2014/main" id="{260C43B2-4304-44E2-A6F0-062D59008B9B}"/>
              </a:ext>
            </a:extLst>
          </p:cNvPr>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a:extLst>
              <a:ext uri="{FF2B5EF4-FFF2-40B4-BE49-F238E27FC236}">
                <a16:creationId xmlns:a16="http://schemas.microsoft.com/office/drawing/2014/main" id="{11D8ADCD-C58A-41B8-80C4-2341BB348593}"/>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a:extLst>
              <a:ext uri="{FF2B5EF4-FFF2-40B4-BE49-F238E27FC236}">
                <a16:creationId xmlns:a16="http://schemas.microsoft.com/office/drawing/2014/main" id="{841EB5B4-0657-4AE7-A427-642106D598D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EC81340F-C45F-6B4F-9864-73BF32BA909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31D45924-509B-5D4C-A99D-FF1FB6F34BEF}"/>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17995163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D88D36A-B7BF-4F3A-AA10-0BECE80A557F}"/>
              </a:ext>
            </a:extLst>
          </p:cNvPr>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a:extLst>
              <a:ext uri="{FF2B5EF4-FFF2-40B4-BE49-F238E27FC236}">
                <a16:creationId xmlns:a16="http://schemas.microsoft.com/office/drawing/2014/main" id="{DEC9F75E-9249-4FFE-AF96-E92B201A183F}"/>
              </a:ext>
            </a:extLst>
          </p:cNvPr>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a:extLst>
              <a:ext uri="{FF2B5EF4-FFF2-40B4-BE49-F238E27FC236}">
                <a16:creationId xmlns:a16="http://schemas.microsoft.com/office/drawing/2014/main" id="{E7782F2A-850E-4B5F-8330-CF50AC9EFA7B}"/>
              </a:ext>
            </a:extLst>
          </p:cNvPr>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a:extLst>
              <a:ext uri="{FF2B5EF4-FFF2-40B4-BE49-F238E27FC236}">
                <a16:creationId xmlns:a16="http://schemas.microsoft.com/office/drawing/2014/main" id="{25096E3E-9433-4D85-BA39-301B214A355E}"/>
              </a:ext>
            </a:extLst>
          </p:cNvPr>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DF883148-B063-4C5A-9CC7-CE69774A8C94}"/>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B8A4FF80-ED1E-4D1D-9434-215EB5FB872B}"/>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B3A067A2-39E8-0940-8B54-688BC270D1DC}"/>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7D982EDC-1B4A-034E-9CE9-9172DBAF4898}"/>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4226894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47531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5F00C798-F4CB-49E3-81E0-4CD12D5AEAD6}"/>
              </a:ext>
            </a:extLst>
          </p:cNvPr>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a:extLst>
              <a:ext uri="{FF2B5EF4-FFF2-40B4-BE49-F238E27FC236}">
                <a16:creationId xmlns:a16="http://schemas.microsoft.com/office/drawing/2014/main" id="{8C1695A4-3593-4E25-8722-4214E3CC76B6}"/>
              </a:ext>
            </a:extLst>
          </p:cNvPr>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a:extLst>
              <a:ext uri="{FF2B5EF4-FFF2-40B4-BE49-F238E27FC236}">
                <a16:creationId xmlns:a16="http://schemas.microsoft.com/office/drawing/2014/main" id="{A29C0276-5751-4797-BFA5-F68D05ACBB63}"/>
              </a:ext>
            </a:extLst>
          </p:cNvPr>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a:extLst>
              <a:ext uri="{FF2B5EF4-FFF2-40B4-BE49-F238E27FC236}">
                <a16:creationId xmlns:a16="http://schemas.microsoft.com/office/drawing/2014/main" id="{D85E25CC-A5BC-44E2-9950-5BDC824D9AC1}"/>
              </a:ext>
            </a:extLst>
          </p:cNvPr>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31345666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B2DFB5F-1361-46F4-B3DF-471ECD4DCA18}"/>
              </a:ext>
            </a:extLst>
          </p:cNvPr>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a:extLst>
              <a:ext uri="{FF2B5EF4-FFF2-40B4-BE49-F238E27FC236}">
                <a16:creationId xmlns:a16="http://schemas.microsoft.com/office/drawing/2014/main" id="{385D4CE6-0BBF-450D-B3AB-7C163A40E793}"/>
              </a:ext>
            </a:extLst>
          </p:cNvPr>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extLst>
      <p:ext uri="{BB962C8B-B14F-4D97-AF65-F5344CB8AC3E}">
        <p14:creationId xmlns:p14="http://schemas.microsoft.com/office/powerpoint/2010/main" val="27478461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60AE4EA-EF72-4592-B966-0919EDBC0ADC}" type="slidenum">
              <a:rPr lang="en-US" smtClean="0"/>
              <a:pPr>
                <a:defRPr/>
              </a:pPr>
              <a:t>‹#›</a:t>
            </a:fld>
            <a:endParaRPr lang="en-US"/>
          </a:p>
        </p:txBody>
      </p:sp>
    </p:spTree>
    <p:extLst>
      <p:ext uri="{BB962C8B-B14F-4D97-AF65-F5344CB8AC3E}">
        <p14:creationId xmlns:p14="http://schemas.microsoft.com/office/powerpoint/2010/main" val="566812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a:extLst>
              <a:ext uri="{FF2B5EF4-FFF2-40B4-BE49-F238E27FC236}">
                <a16:creationId xmlns:a16="http://schemas.microsoft.com/office/drawing/2014/main" id="{E27F0E8A-FBE3-41B6-A56B-7A14F7AAA7BA}"/>
              </a:ext>
            </a:extLst>
          </p:cNvPr>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a:extLst>
              <a:ext uri="{FF2B5EF4-FFF2-40B4-BE49-F238E27FC236}">
                <a16:creationId xmlns:a16="http://schemas.microsoft.com/office/drawing/2014/main" id="{8EAB9554-0968-7F4C-B17C-055427BAAC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extLst>
      <p:ext uri="{BB962C8B-B14F-4D97-AF65-F5344CB8AC3E}">
        <p14:creationId xmlns:p14="http://schemas.microsoft.com/office/powerpoint/2010/main" val="428118122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a:extLst>
              <a:ext uri="{FF2B5EF4-FFF2-40B4-BE49-F238E27FC236}">
                <a16:creationId xmlns:a16="http://schemas.microsoft.com/office/drawing/2014/main" id="{1B478B4D-326B-4F22-B792-98AB7E9C8268}"/>
              </a:ext>
            </a:extLst>
          </p:cNvPr>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a:extLst>
              <a:ext uri="{FF2B5EF4-FFF2-40B4-BE49-F238E27FC236}">
                <a16:creationId xmlns:a16="http://schemas.microsoft.com/office/drawing/2014/main" id="{2742BE2E-64C4-45DC-B5F2-9CE85916052B}"/>
              </a:ext>
            </a:extLst>
          </p:cNvPr>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20204" pitchFamily="34" charset="0"/>
                <a:sym typeface="+mn-lt"/>
              </a:rPr>
              <a:t>Contents</a:t>
            </a:r>
            <a:endParaRPr lang="zh-CN" altLang="en-US" sz="4400" b="1" i="0" dirty="0">
              <a:solidFill>
                <a:schemeClr val="bg1"/>
              </a:solidFill>
              <a:latin typeface="Helvetica" pitchFamily="2" charset="0"/>
              <a:cs typeface="Arial" panose="020B0604020202020204" pitchFamily="34" charset="0"/>
              <a:sym typeface="+mn-lt"/>
            </a:endParaRPr>
          </a:p>
        </p:txBody>
      </p:sp>
      <p:sp>
        <p:nvSpPr>
          <p:cNvPr id="87" name="任意多边形: 形状 86">
            <a:extLst>
              <a:ext uri="{FF2B5EF4-FFF2-40B4-BE49-F238E27FC236}">
                <a16:creationId xmlns:a16="http://schemas.microsoft.com/office/drawing/2014/main" id="{BEB662E1-75A1-469F-B2C5-6EC6E8255C44}"/>
              </a:ext>
            </a:extLst>
          </p:cNvPr>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a:extLst>
              <a:ext uri="{FF2B5EF4-FFF2-40B4-BE49-F238E27FC236}">
                <a16:creationId xmlns:a16="http://schemas.microsoft.com/office/drawing/2014/main" id="{CF32DCCF-D109-144D-93EF-7A463349CB65}"/>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a:extLst>
              <a:ext uri="{FF2B5EF4-FFF2-40B4-BE49-F238E27FC236}">
                <a16:creationId xmlns:a16="http://schemas.microsoft.com/office/drawing/2014/main" id="{D607238F-89BF-434F-A2F2-C5D1BB90B631}"/>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extLst>
      <p:ext uri="{BB962C8B-B14F-4D97-AF65-F5344CB8AC3E}">
        <p14:creationId xmlns:p14="http://schemas.microsoft.com/office/powerpoint/2010/main" val="34822518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7CB78A0-538A-4F4C-97AC-5D6B9B36EAE3}"/>
              </a:ext>
            </a:extLst>
          </p:cNvPr>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a:extLst>
              <a:ext uri="{FF2B5EF4-FFF2-40B4-BE49-F238E27FC236}">
                <a16:creationId xmlns:a16="http://schemas.microsoft.com/office/drawing/2014/main" id="{DCD3F2D1-9FCF-4792-8D92-8CA0C104ED79}"/>
              </a:ext>
            </a:extLst>
          </p:cNvPr>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20204" pitchFamily="34" charset="0"/>
              </a:rPr>
              <a:t>Part 01</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E1FBCD60-E317-434E-9948-6517EE806648}"/>
              </a:ext>
            </a:extLst>
          </p:cNvPr>
          <p:cNvCxnSpPr>
            <a:cxnSpLocks/>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E5FF972F-6C72-4EB1-91BD-22FC6A6BFE55}"/>
              </a:ext>
            </a:extLst>
          </p:cNvPr>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a:extLst>
              <a:ext uri="{FF2B5EF4-FFF2-40B4-BE49-F238E27FC236}">
                <a16:creationId xmlns:a16="http://schemas.microsoft.com/office/drawing/2014/main" id="{6ED22ADE-3337-4765-824B-2BCE393B3BC8}"/>
              </a:ext>
            </a:extLst>
          </p:cNvPr>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a:extLst>
              <a:ext uri="{FF2B5EF4-FFF2-40B4-BE49-F238E27FC236}">
                <a16:creationId xmlns:a16="http://schemas.microsoft.com/office/drawing/2014/main" id="{77F0E457-CBAE-48A1-9FDD-0AD48E16BB0E}"/>
              </a:ext>
            </a:extLst>
          </p:cNvPr>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a:extLst>
              <a:ext uri="{FF2B5EF4-FFF2-40B4-BE49-F238E27FC236}">
                <a16:creationId xmlns:a16="http://schemas.microsoft.com/office/drawing/2014/main" id="{BF5B61E3-C874-41BD-9977-575DE377EF7C}"/>
              </a:ext>
            </a:extLst>
          </p:cNvPr>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a:extLst>
              <a:ext uri="{FF2B5EF4-FFF2-40B4-BE49-F238E27FC236}">
                <a16:creationId xmlns:a16="http://schemas.microsoft.com/office/drawing/2014/main" id="{E79C958C-4261-4C02-847F-E854178B5EDF}"/>
              </a:ext>
            </a:extLst>
          </p:cNvPr>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a:extLst>
              <a:ext uri="{FF2B5EF4-FFF2-40B4-BE49-F238E27FC236}">
                <a16:creationId xmlns:a16="http://schemas.microsoft.com/office/drawing/2014/main" id="{50FB6E99-D418-4444-914B-2306780544C7}"/>
              </a:ext>
            </a:extLst>
          </p:cNvPr>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40365159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a:extLst>
              <a:ext uri="{FF2B5EF4-FFF2-40B4-BE49-F238E27FC236}">
                <a16:creationId xmlns:a16="http://schemas.microsoft.com/office/drawing/2014/main" id="{5FB16484-E5F7-4B77-B7A5-FDAB1703AF52}"/>
              </a:ext>
            </a:extLst>
          </p:cNvPr>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B6FD6F57-F8D0-494A-A461-A05057362E3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02</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0F3C94DC-BC3D-4914-BCEA-9BADE3C91715}"/>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a:extLst>
              <a:ext uri="{FF2B5EF4-FFF2-40B4-BE49-F238E27FC236}">
                <a16:creationId xmlns:a16="http://schemas.microsoft.com/office/drawing/2014/main" id="{D3B89C71-934D-411D-A2EA-05C70F77FCCA}"/>
              </a:ext>
            </a:extLst>
          </p:cNvPr>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a:extLst>
              <a:ext uri="{FF2B5EF4-FFF2-40B4-BE49-F238E27FC236}">
                <a16:creationId xmlns:a16="http://schemas.microsoft.com/office/drawing/2014/main" id="{A837D7F3-A47E-4687-B46E-2D3048C16002}"/>
              </a:ext>
            </a:extLst>
          </p:cNvPr>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a:extLst>
              <a:ext uri="{FF2B5EF4-FFF2-40B4-BE49-F238E27FC236}">
                <a16:creationId xmlns:a16="http://schemas.microsoft.com/office/drawing/2014/main" id="{FE10A76B-7B22-4776-AAF9-D0EEE0D973D2}"/>
              </a:ext>
            </a:extLst>
          </p:cNvPr>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a:extLst>
              <a:ext uri="{FF2B5EF4-FFF2-40B4-BE49-F238E27FC236}">
                <a16:creationId xmlns:a16="http://schemas.microsoft.com/office/drawing/2014/main" id="{80425897-AA01-4101-B050-A034992317B0}"/>
              </a:ext>
            </a:extLst>
          </p:cNvPr>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a:extLst>
              <a:ext uri="{FF2B5EF4-FFF2-40B4-BE49-F238E27FC236}">
                <a16:creationId xmlns:a16="http://schemas.microsoft.com/office/drawing/2014/main" id="{1DC1ADFB-E837-4D7F-B9F3-657D2F4ACAB6}"/>
              </a:ext>
            </a:extLst>
          </p:cNvPr>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a:extLst>
              <a:ext uri="{FF2B5EF4-FFF2-40B4-BE49-F238E27FC236}">
                <a16:creationId xmlns:a16="http://schemas.microsoft.com/office/drawing/2014/main" id="{034BB7AD-2674-4436-98EF-FC7061F0982B}"/>
              </a:ext>
            </a:extLst>
          </p:cNvPr>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extLst>
      <p:ext uri="{BB962C8B-B14F-4D97-AF65-F5344CB8AC3E}">
        <p14:creationId xmlns:p14="http://schemas.microsoft.com/office/powerpoint/2010/main" val="24726495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E3D9E87-D3B4-4F53-99F3-7438B7E4D4AB}"/>
              </a:ext>
            </a:extLst>
          </p:cNvPr>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a:extLst>
              <a:ext uri="{FF2B5EF4-FFF2-40B4-BE49-F238E27FC236}">
                <a16:creationId xmlns:a16="http://schemas.microsoft.com/office/drawing/2014/main" id="{6CD21FE1-F1E4-4E14-BF8F-A4D4ED823FBC}"/>
              </a:ext>
            </a:extLst>
          </p:cNvPr>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B76C3FD-32D6-4E41-B7F5-97F8A47A3D0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03</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8DD83EE6-28E8-42E1-9D1D-CEA16A3EF647}"/>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D2CCFA9F-ED6D-4706-AB87-12B0B7099A55}"/>
              </a:ext>
            </a:extLst>
          </p:cNvPr>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a:extLst>
              <a:ext uri="{FF2B5EF4-FFF2-40B4-BE49-F238E27FC236}">
                <a16:creationId xmlns:a16="http://schemas.microsoft.com/office/drawing/2014/main" id="{2F53FD0E-8CED-473A-8132-8C32D5EB7E41}"/>
              </a:ext>
            </a:extLst>
          </p:cNvPr>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a:extLst>
              <a:ext uri="{FF2B5EF4-FFF2-40B4-BE49-F238E27FC236}">
                <a16:creationId xmlns:a16="http://schemas.microsoft.com/office/drawing/2014/main" id="{686A2882-5AAA-4796-ACBF-11DE20417AB5}"/>
              </a:ext>
            </a:extLst>
          </p:cNvPr>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a:extLst>
              <a:ext uri="{FF2B5EF4-FFF2-40B4-BE49-F238E27FC236}">
                <a16:creationId xmlns:a16="http://schemas.microsoft.com/office/drawing/2014/main" id="{965BF0DA-9E98-46CA-BC5A-2F733F99C372}"/>
              </a:ext>
            </a:extLst>
          </p:cNvPr>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44B3714-021E-44F1-A9C0-8DB23D7B89EA}"/>
              </a:ext>
            </a:extLst>
          </p:cNvPr>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extLst>
      <p:ext uri="{BB962C8B-B14F-4D97-AF65-F5344CB8AC3E}">
        <p14:creationId xmlns:p14="http://schemas.microsoft.com/office/powerpoint/2010/main" val="90027184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a:extLst>
              <a:ext uri="{FF2B5EF4-FFF2-40B4-BE49-F238E27FC236}">
                <a16:creationId xmlns:a16="http://schemas.microsoft.com/office/drawing/2014/main" id="{F4B8A56B-7F99-43EE-87F0-42D96BE6E0C1}"/>
              </a:ext>
            </a:extLst>
          </p:cNvPr>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AD7A4933-BE2B-4B78-BB0B-EFF272C4458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04</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A73394E7-E5C6-4B02-8A31-9C03D9C6FA0B}"/>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a:extLst>
              <a:ext uri="{FF2B5EF4-FFF2-40B4-BE49-F238E27FC236}">
                <a16:creationId xmlns:a16="http://schemas.microsoft.com/office/drawing/2014/main" id="{9FDAE5AE-1C3F-4A93-B305-B77CDC3F4BE2}"/>
              </a:ext>
            </a:extLst>
          </p:cNvPr>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a:extLst>
              <a:ext uri="{FF2B5EF4-FFF2-40B4-BE49-F238E27FC236}">
                <a16:creationId xmlns:a16="http://schemas.microsoft.com/office/drawing/2014/main" id="{8B831D4E-CDC6-4513-9163-9BB77DDB0516}"/>
              </a:ext>
            </a:extLst>
          </p:cNvPr>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a:extLst>
              <a:ext uri="{FF2B5EF4-FFF2-40B4-BE49-F238E27FC236}">
                <a16:creationId xmlns:a16="http://schemas.microsoft.com/office/drawing/2014/main" id="{25618009-D285-438D-BF60-F87BDBE0685A}"/>
              </a:ext>
            </a:extLst>
          </p:cNvPr>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a:extLst>
              <a:ext uri="{FF2B5EF4-FFF2-40B4-BE49-F238E27FC236}">
                <a16:creationId xmlns:a16="http://schemas.microsoft.com/office/drawing/2014/main" id="{4A10CB81-B3E3-411C-90C9-3480A10EDB9B}"/>
              </a:ext>
            </a:extLst>
          </p:cNvPr>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a:extLst>
              <a:ext uri="{FF2B5EF4-FFF2-40B4-BE49-F238E27FC236}">
                <a16:creationId xmlns:a16="http://schemas.microsoft.com/office/drawing/2014/main" id="{D251409D-FDB9-430B-A00F-D4A65811924B}"/>
              </a:ext>
            </a:extLst>
          </p:cNvPr>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63A1AFEA-57CF-4E71-AF6C-91E549CCF7E6}"/>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39395848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a:extLst>
              <a:ext uri="{FF2B5EF4-FFF2-40B4-BE49-F238E27FC236}">
                <a16:creationId xmlns:a16="http://schemas.microsoft.com/office/drawing/2014/main" id="{03B97F61-153E-4B6E-8D40-C8B9A7E64D60}"/>
              </a:ext>
            </a:extLst>
          </p:cNvPr>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7B2B8D9-D400-4BD8-9CF6-DCEAAC82BDD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05</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F285F31B-D145-4BD9-A54B-96E8E681B170}"/>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a:extLst>
              <a:ext uri="{FF2B5EF4-FFF2-40B4-BE49-F238E27FC236}">
                <a16:creationId xmlns:a16="http://schemas.microsoft.com/office/drawing/2014/main" id="{883EB526-2712-4265-9BF4-5874AAB98515}"/>
              </a:ext>
            </a:extLst>
          </p:cNvPr>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a:extLst>
              <a:ext uri="{FF2B5EF4-FFF2-40B4-BE49-F238E27FC236}">
                <a16:creationId xmlns:a16="http://schemas.microsoft.com/office/drawing/2014/main" id="{C7D4DE0F-D1AF-4276-ADBB-A15A5BFE8CB9}"/>
              </a:ext>
            </a:extLst>
          </p:cNvPr>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a:extLst>
              <a:ext uri="{FF2B5EF4-FFF2-40B4-BE49-F238E27FC236}">
                <a16:creationId xmlns:a16="http://schemas.microsoft.com/office/drawing/2014/main" id="{DFA316F4-7F98-4275-AAEF-578596A20622}"/>
              </a:ext>
            </a:extLst>
          </p:cNvPr>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a:extLst>
              <a:ext uri="{FF2B5EF4-FFF2-40B4-BE49-F238E27FC236}">
                <a16:creationId xmlns:a16="http://schemas.microsoft.com/office/drawing/2014/main" id="{219BA2AF-DF75-4C32-85E3-CB62BA8F7564}"/>
              </a:ext>
            </a:extLst>
          </p:cNvPr>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a:extLst>
              <a:ext uri="{FF2B5EF4-FFF2-40B4-BE49-F238E27FC236}">
                <a16:creationId xmlns:a16="http://schemas.microsoft.com/office/drawing/2014/main" id="{A86D27D2-3D87-4A30-89B6-7FAFD15E7EA4}"/>
              </a:ext>
            </a:extLst>
          </p:cNvPr>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BD5DBA0-D1E0-4B8B-AF12-F77A29B64E62}"/>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41241435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a:extLst>
              <a:ext uri="{FF2B5EF4-FFF2-40B4-BE49-F238E27FC236}">
                <a16:creationId xmlns:a16="http://schemas.microsoft.com/office/drawing/2014/main" id="{60753701-EC64-455B-B060-1320051E3FE3}"/>
              </a:ext>
            </a:extLst>
          </p:cNvPr>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F5CBE861-C433-4078-A9A5-2C401EE3B270}"/>
              </a:ext>
            </a:extLst>
          </p:cNvPr>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06</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23DD6575-0576-4AFA-9BC4-891ADAB845BD}"/>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a:extLst>
              <a:ext uri="{FF2B5EF4-FFF2-40B4-BE49-F238E27FC236}">
                <a16:creationId xmlns:a16="http://schemas.microsoft.com/office/drawing/2014/main" id="{C48532B4-0A1B-49CC-99AA-FE75395721EF}"/>
              </a:ext>
            </a:extLst>
          </p:cNvPr>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a:extLst>
              <a:ext uri="{FF2B5EF4-FFF2-40B4-BE49-F238E27FC236}">
                <a16:creationId xmlns:a16="http://schemas.microsoft.com/office/drawing/2014/main" id="{32356412-5283-4799-9197-98AEACE613AC}"/>
              </a:ext>
            </a:extLst>
          </p:cNvPr>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a:extLst>
              <a:ext uri="{FF2B5EF4-FFF2-40B4-BE49-F238E27FC236}">
                <a16:creationId xmlns:a16="http://schemas.microsoft.com/office/drawing/2014/main" id="{4E421018-60A0-4F10-A9A6-A6EE3BBD8BF9}"/>
              </a:ext>
            </a:extLst>
          </p:cNvPr>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a:extLst>
              <a:ext uri="{FF2B5EF4-FFF2-40B4-BE49-F238E27FC236}">
                <a16:creationId xmlns:a16="http://schemas.microsoft.com/office/drawing/2014/main" id="{9B17F2FA-61E0-4197-AD3A-2DE5104FF5C1}"/>
              </a:ext>
            </a:extLst>
          </p:cNvPr>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a:extLst>
              <a:ext uri="{FF2B5EF4-FFF2-40B4-BE49-F238E27FC236}">
                <a16:creationId xmlns:a16="http://schemas.microsoft.com/office/drawing/2014/main" id="{1C86E54A-170E-4CA4-BE8B-1118DA74B7C4}"/>
              </a:ext>
            </a:extLst>
          </p:cNvPr>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A5976A4D-F088-4D08-ABB4-FDF23F9CA863}"/>
              </a:ext>
            </a:extLst>
          </p:cNvPr>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15441353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a:extLst>
              <a:ext uri="{FF2B5EF4-FFF2-40B4-BE49-F238E27FC236}">
                <a16:creationId xmlns:a16="http://schemas.microsoft.com/office/drawing/2014/main" id="{82CF8FAE-6DBB-42F8-A821-12D15C788E8C}"/>
              </a:ext>
            </a:extLst>
          </p:cNvPr>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a:extLst>
              <a:ext uri="{FF2B5EF4-FFF2-40B4-BE49-F238E27FC236}">
                <a16:creationId xmlns:a16="http://schemas.microsoft.com/office/drawing/2014/main" id="{B958D3BC-E7F4-4914-8CAC-14D6BF0FFFB3}"/>
              </a:ext>
            </a:extLst>
          </p:cNvPr>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a:extLst>
              <a:ext uri="{FF2B5EF4-FFF2-40B4-BE49-F238E27FC236}">
                <a16:creationId xmlns:a16="http://schemas.microsoft.com/office/drawing/2014/main" id="{2453FC77-9263-4C53-8F22-D64EBC3880B1}"/>
              </a:ext>
            </a:extLst>
          </p:cNvPr>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a:extLst>
              <a:ext uri="{FF2B5EF4-FFF2-40B4-BE49-F238E27FC236}">
                <a16:creationId xmlns:a16="http://schemas.microsoft.com/office/drawing/2014/main" id="{9B3BEEB7-FA72-410F-B92D-7D208F847B83}"/>
              </a:ext>
            </a:extLst>
          </p:cNvPr>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20204" pitchFamily="34" charset="0"/>
              </a:rPr>
              <a:t>Contents</a:t>
            </a:r>
            <a:endParaRPr lang="zh-CN" altLang="en-US" sz="4000" b="1" i="0" dirty="0">
              <a:solidFill>
                <a:schemeClr val="bg1"/>
              </a:solidFill>
              <a:latin typeface="Helvetica" pitchFamily="2" charset="0"/>
              <a:ea typeface="+mj-ea"/>
              <a:cs typeface="Arial" panose="020B0604020202020204" pitchFamily="34" charset="0"/>
            </a:endParaRPr>
          </a:p>
        </p:txBody>
      </p:sp>
      <p:pic>
        <p:nvPicPr>
          <p:cNvPr id="47" name="图片 46">
            <a:extLst>
              <a:ext uri="{FF2B5EF4-FFF2-40B4-BE49-F238E27FC236}">
                <a16:creationId xmlns:a16="http://schemas.microsoft.com/office/drawing/2014/main" id="{C02326B7-0E5A-F24B-8BE7-D58545042AA0}"/>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37643834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a:extLst>
              <a:ext uri="{FF2B5EF4-FFF2-40B4-BE49-F238E27FC236}">
                <a16:creationId xmlns:a16="http://schemas.microsoft.com/office/drawing/2014/main" id="{EF621E98-351F-489A-ADCE-3FC79FDE6DDD}"/>
              </a:ext>
            </a:extLst>
          </p:cNvPr>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a:extLst>
              <a:ext uri="{FF2B5EF4-FFF2-40B4-BE49-F238E27FC236}">
                <a16:creationId xmlns:a16="http://schemas.microsoft.com/office/drawing/2014/main" id="{C25A5A92-C8E6-4CA8-AB93-8B885C5EA989}"/>
              </a:ext>
            </a:extLst>
          </p:cNvPr>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a:extLst>
              <a:ext uri="{FF2B5EF4-FFF2-40B4-BE49-F238E27FC236}">
                <a16:creationId xmlns:a16="http://schemas.microsoft.com/office/drawing/2014/main" id="{0B284135-360D-47CC-8BC2-5C03015968F7}"/>
              </a:ext>
            </a:extLst>
          </p:cNvPr>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a:extLst>
              <a:ext uri="{FF2B5EF4-FFF2-40B4-BE49-F238E27FC236}">
                <a16:creationId xmlns:a16="http://schemas.microsoft.com/office/drawing/2014/main" id="{D0824BE2-0B1A-47B1-BAAF-7C29E1879AE7}"/>
              </a:ext>
            </a:extLst>
          </p:cNvPr>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104607888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a:extLst>
              <a:ext uri="{FF2B5EF4-FFF2-40B4-BE49-F238E27FC236}">
                <a16:creationId xmlns:a16="http://schemas.microsoft.com/office/drawing/2014/main" id="{053D6D2E-F110-4473-8442-17B28C05A741}"/>
              </a:ext>
            </a:extLst>
          </p:cNvPr>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a:extLst>
              <a:ext uri="{FF2B5EF4-FFF2-40B4-BE49-F238E27FC236}">
                <a16:creationId xmlns:a16="http://schemas.microsoft.com/office/drawing/2014/main" id="{E6BEB427-D252-4942-9F34-301C642191A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a:extLst>
              <a:ext uri="{FF2B5EF4-FFF2-40B4-BE49-F238E27FC236}">
                <a16:creationId xmlns:a16="http://schemas.microsoft.com/office/drawing/2014/main" id="{17358D7B-1DA9-9E4B-AFF1-9A13B20D43F0}"/>
              </a:ext>
            </a:extLst>
          </p:cNvPr>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a:extLst>
              <a:ext uri="{FF2B5EF4-FFF2-40B4-BE49-F238E27FC236}">
                <a16:creationId xmlns:a16="http://schemas.microsoft.com/office/drawing/2014/main" id="{ACA3C166-80E6-1B4A-AD5B-C8D47456872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2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a:extLst>
              <a:ext uri="{FF2B5EF4-FFF2-40B4-BE49-F238E27FC236}">
                <a16:creationId xmlns:a16="http://schemas.microsoft.com/office/drawing/2014/main" id="{4B77A5BA-0111-5844-9F86-5926B121D3FB}"/>
              </a:ext>
            </a:extLst>
          </p:cNvPr>
          <p:cNvSpPr>
            <a:spLocks noGrp="1"/>
          </p:cNvSpPr>
          <p:nvPr>
            <p:ph type="dt" sz="half" idx="10"/>
          </p:nvPr>
        </p:nvSpPr>
        <p:spPr/>
        <p:txBody>
          <a:bodyPr/>
          <a:lstStyle/>
          <a:p>
            <a:endParaRPr lang="zh-CN" altLang="en-US"/>
          </a:p>
        </p:txBody>
      </p:sp>
      <p:sp>
        <p:nvSpPr>
          <p:cNvPr id="14" name="页脚占位符 13">
            <a:extLst>
              <a:ext uri="{FF2B5EF4-FFF2-40B4-BE49-F238E27FC236}">
                <a16:creationId xmlns:a16="http://schemas.microsoft.com/office/drawing/2014/main" id="{44B829B2-7BD2-9948-8F21-7182730A06BA}"/>
              </a:ext>
            </a:extLst>
          </p:cNvPr>
          <p:cNvSpPr>
            <a:spLocks noGrp="1"/>
          </p:cNvSpPr>
          <p:nvPr>
            <p:ph type="ftr" sz="quarter" idx="11"/>
          </p:nvPr>
        </p:nvSpPr>
        <p:spPr/>
        <p:txBody>
          <a:bodyPr/>
          <a:lstStyle/>
          <a:p>
            <a:endParaRPr lang="zh-CN" altLang="en-US" dirty="0"/>
          </a:p>
        </p:txBody>
      </p:sp>
      <p:sp>
        <p:nvSpPr>
          <p:cNvPr id="15" name="灯片编号占位符 14">
            <a:extLst>
              <a:ext uri="{FF2B5EF4-FFF2-40B4-BE49-F238E27FC236}">
                <a16:creationId xmlns:a16="http://schemas.microsoft.com/office/drawing/2014/main" id="{6280651B-EA0A-1E41-B81D-87E3C43E66B9}"/>
              </a:ext>
            </a:extLst>
          </p:cNvPr>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Tree>
    <p:extLst>
      <p:ext uri="{BB962C8B-B14F-4D97-AF65-F5344CB8AC3E}">
        <p14:creationId xmlns:p14="http://schemas.microsoft.com/office/powerpoint/2010/main" val="30709044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B0862E3-9A13-49FB-8057-D6463602E7B6}"/>
              </a:ext>
            </a:extLst>
          </p:cNvPr>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33B73963-4941-42F0-9B00-7431FEF61A6C}"/>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9C71AABC-C91A-43D0-9AF8-0B6162EDCDD1}"/>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A32A9019-0CBC-4C4A-90F0-2676ED9FCD3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1D06DB6D-BC70-544C-8EA4-3A3874C968F6}"/>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349057454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80DB1628-9D3D-4F59-B275-C695A900F19A}"/>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F01A7288-9F85-304B-887D-2D1E13D7A25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DE14FD2D-7810-B34E-8AFB-9A17BDEA7011}"/>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90387236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a:extLst>
              <a:ext uri="{FF2B5EF4-FFF2-40B4-BE49-F238E27FC236}">
                <a16:creationId xmlns:a16="http://schemas.microsoft.com/office/drawing/2014/main" id="{F03BE017-E7F3-4A34-ABC3-ECA964258175}"/>
              </a:ext>
            </a:extLst>
          </p:cNvPr>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a:extLst>
              <a:ext uri="{FF2B5EF4-FFF2-40B4-BE49-F238E27FC236}">
                <a16:creationId xmlns:a16="http://schemas.microsoft.com/office/drawing/2014/main" id="{D3B0A0DB-185C-4430-9224-1C0A227377F5}"/>
              </a:ext>
            </a:extLst>
          </p:cNvPr>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a:extLst>
              <a:ext uri="{FF2B5EF4-FFF2-40B4-BE49-F238E27FC236}">
                <a16:creationId xmlns:a16="http://schemas.microsoft.com/office/drawing/2014/main" id="{E3FA308D-84A8-4382-ADA4-2CD6EA62223C}"/>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68876A75-1BD3-9D4E-9D34-C6453E6DC7DB}"/>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48222E54-5ACA-6D4B-9A58-9B51C83B622D}"/>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419674288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a:extLst>
              <a:ext uri="{FF2B5EF4-FFF2-40B4-BE49-F238E27FC236}">
                <a16:creationId xmlns:a16="http://schemas.microsoft.com/office/drawing/2014/main" id="{260C43B2-4304-44E2-A6F0-062D59008B9B}"/>
              </a:ext>
            </a:extLst>
          </p:cNvPr>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a:extLst>
              <a:ext uri="{FF2B5EF4-FFF2-40B4-BE49-F238E27FC236}">
                <a16:creationId xmlns:a16="http://schemas.microsoft.com/office/drawing/2014/main" id="{11D8ADCD-C58A-41B8-80C4-2341BB348593}"/>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a:extLst>
              <a:ext uri="{FF2B5EF4-FFF2-40B4-BE49-F238E27FC236}">
                <a16:creationId xmlns:a16="http://schemas.microsoft.com/office/drawing/2014/main" id="{841EB5B4-0657-4AE7-A427-642106D598D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EC81340F-C45F-6B4F-9864-73BF32BA909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31D45924-509B-5D4C-A99D-FF1FB6F34BEF}"/>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13064070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D88D36A-B7BF-4F3A-AA10-0BECE80A557F}"/>
              </a:ext>
            </a:extLst>
          </p:cNvPr>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a:extLst>
              <a:ext uri="{FF2B5EF4-FFF2-40B4-BE49-F238E27FC236}">
                <a16:creationId xmlns:a16="http://schemas.microsoft.com/office/drawing/2014/main" id="{DEC9F75E-9249-4FFE-AF96-E92B201A183F}"/>
              </a:ext>
            </a:extLst>
          </p:cNvPr>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a:extLst>
              <a:ext uri="{FF2B5EF4-FFF2-40B4-BE49-F238E27FC236}">
                <a16:creationId xmlns:a16="http://schemas.microsoft.com/office/drawing/2014/main" id="{E7782F2A-850E-4B5F-8330-CF50AC9EFA7B}"/>
              </a:ext>
            </a:extLst>
          </p:cNvPr>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a:extLst>
              <a:ext uri="{FF2B5EF4-FFF2-40B4-BE49-F238E27FC236}">
                <a16:creationId xmlns:a16="http://schemas.microsoft.com/office/drawing/2014/main" id="{25096E3E-9433-4D85-BA39-301B214A355E}"/>
              </a:ext>
            </a:extLst>
          </p:cNvPr>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DF883148-B063-4C5A-9CC7-CE69774A8C94}"/>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B8A4FF80-ED1E-4D1D-9434-215EB5FB872B}"/>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B3A067A2-39E8-0940-8B54-688BC270D1DC}"/>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7D982EDC-1B4A-034E-9CE9-9172DBAF4898}"/>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18294406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431243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5F00C798-F4CB-49E3-81E0-4CD12D5AEAD6}"/>
              </a:ext>
            </a:extLst>
          </p:cNvPr>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a:extLst>
              <a:ext uri="{FF2B5EF4-FFF2-40B4-BE49-F238E27FC236}">
                <a16:creationId xmlns:a16="http://schemas.microsoft.com/office/drawing/2014/main" id="{8C1695A4-3593-4E25-8722-4214E3CC76B6}"/>
              </a:ext>
            </a:extLst>
          </p:cNvPr>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a:extLst>
              <a:ext uri="{FF2B5EF4-FFF2-40B4-BE49-F238E27FC236}">
                <a16:creationId xmlns:a16="http://schemas.microsoft.com/office/drawing/2014/main" id="{A29C0276-5751-4797-BFA5-F68D05ACBB63}"/>
              </a:ext>
            </a:extLst>
          </p:cNvPr>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a:extLst>
              <a:ext uri="{FF2B5EF4-FFF2-40B4-BE49-F238E27FC236}">
                <a16:creationId xmlns:a16="http://schemas.microsoft.com/office/drawing/2014/main" id="{D85E25CC-A5BC-44E2-9950-5BDC824D9AC1}"/>
              </a:ext>
            </a:extLst>
          </p:cNvPr>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20170161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B2DFB5F-1361-46F4-B3DF-471ECD4DCA18}"/>
              </a:ext>
            </a:extLst>
          </p:cNvPr>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a:extLst>
              <a:ext uri="{FF2B5EF4-FFF2-40B4-BE49-F238E27FC236}">
                <a16:creationId xmlns:a16="http://schemas.microsoft.com/office/drawing/2014/main" id="{385D4CE6-0BBF-450D-B3AB-7C163A40E793}"/>
              </a:ext>
            </a:extLst>
          </p:cNvPr>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extLst>
      <p:ext uri="{BB962C8B-B14F-4D97-AF65-F5344CB8AC3E}">
        <p14:creationId xmlns:p14="http://schemas.microsoft.com/office/powerpoint/2010/main" val="332567677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60AE4EA-EF72-4592-B966-0919EDBC0ADC}" type="slidenum">
              <a:rPr lang="en-US" smtClean="0"/>
              <a:pPr>
                <a:defRPr/>
              </a:pPr>
              <a:t>‹#›</a:t>
            </a:fld>
            <a:endParaRPr lang="en-US"/>
          </a:p>
        </p:txBody>
      </p:sp>
    </p:spTree>
    <p:extLst>
      <p:ext uri="{BB962C8B-B14F-4D97-AF65-F5344CB8AC3E}">
        <p14:creationId xmlns:p14="http://schemas.microsoft.com/office/powerpoint/2010/main" val="426561487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a:extLst>
              <a:ext uri="{FF2B5EF4-FFF2-40B4-BE49-F238E27FC236}">
                <a16:creationId xmlns:a16="http://schemas.microsoft.com/office/drawing/2014/main" id="{E27F0E8A-FBE3-41B6-A56B-7A14F7AAA7BA}"/>
              </a:ext>
            </a:extLst>
          </p:cNvPr>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a:extLst>
              <a:ext uri="{FF2B5EF4-FFF2-40B4-BE49-F238E27FC236}">
                <a16:creationId xmlns:a16="http://schemas.microsoft.com/office/drawing/2014/main" id="{8EAB9554-0968-7F4C-B17C-055427BAAC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extLst>
      <p:ext uri="{BB962C8B-B14F-4D97-AF65-F5344CB8AC3E}">
        <p14:creationId xmlns:p14="http://schemas.microsoft.com/office/powerpoint/2010/main" val="44497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a:extLst>
              <a:ext uri="{FF2B5EF4-FFF2-40B4-BE49-F238E27FC236}">
                <a16:creationId xmlns:a16="http://schemas.microsoft.com/office/drawing/2014/main" id="{1B478B4D-326B-4F22-B792-98AB7E9C8268}"/>
              </a:ext>
            </a:extLst>
          </p:cNvPr>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a:extLst>
              <a:ext uri="{FF2B5EF4-FFF2-40B4-BE49-F238E27FC236}">
                <a16:creationId xmlns:a16="http://schemas.microsoft.com/office/drawing/2014/main" id="{2742BE2E-64C4-45DC-B5F2-9CE85916052B}"/>
              </a:ext>
            </a:extLst>
          </p:cNvPr>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20204" pitchFamily="34" charset="0"/>
                <a:sym typeface="+mn-lt"/>
              </a:rPr>
              <a:t>Contents</a:t>
            </a:r>
            <a:endParaRPr lang="zh-CN" altLang="en-US" sz="4400" b="1" i="0" dirty="0">
              <a:solidFill>
                <a:schemeClr val="bg1"/>
              </a:solidFill>
              <a:latin typeface="Helvetica" pitchFamily="2" charset="0"/>
              <a:cs typeface="Arial" panose="020B0604020202020204" pitchFamily="34" charset="0"/>
              <a:sym typeface="+mn-lt"/>
            </a:endParaRPr>
          </a:p>
        </p:txBody>
      </p:sp>
      <p:sp>
        <p:nvSpPr>
          <p:cNvPr id="87" name="任意多边形: 形状 86">
            <a:extLst>
              <a:ext uri="{FF2B5EF4-FFF2-40B4-BE49-F238E27FC236}">
                <a16:creationId xmlns:a16="http://schemas.microsoft.com/office/drawing/2014/main" id="{BEB662E1-75A1-469F-B2C5-6EC6E8255C44}"/>
              </a:ext>
            </a:extLst>
          </p:cNvPr>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a:extLst>
              <a:ext uri="{FF2B5EF4-FFF2-40B4-BE49-F238E27FC236}">
                <a16:creationId xmlns:a16="http://schemas.microsoft.com/office/drawing/2014/main" id="{CF32DCCF-D109-144D-93EF-7A463349CB65}"/>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a:extLst>
              <a:ext uri="{FF2B5EF4-FFF2-40B4-BE49-F238E27FC236}">
                <a16:creationId xmlns:a16="http://schemas.microsoft.com/office/drawing/2014/main" id="{D607238F-89BF-434F-A2F2-C5D1BB90B631}"/>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extLst>
      <p:ext uri="{BB962C8B-B14F-4D97-AF65-F5344CB8AC3E}">
        <p14:creationId xmlns:p14="http://schemas.microsoft.com/office/powerpoint/2010/main" val="24486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7CB78A0-538A-4F4C-97AC-5D6B9B36EAE3}"/>
              </a:ext>
            </a:extLst>
          </p:cNvPr>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a:extLst>
              <a:ext uri="{FF2B5EF4-FFF2-40B4-BE49-F238E27FC236}">
                <a16:creationId xmlns:a16="http://schemas.microsoft.com/office/drawing/2014/main" id="{DCD3F2D1-9FCF-4792-8D92-8CA0C104ED79}"/>
              </a:ext>
            </a:extLst>
          </p:cNvPr>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20204" pitchFamily="34" charset="0"/>
              </a:rPr>
              <a:t>Part 01</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E1FBCD60-E317-434E-9948-6517EE806648}"/>
              </a:ext>
            </a:extLst>
          </p:cNvPr>
          <p:cNvCxnSpPr>
            <a:cxnSpLocks/>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E5FF972F-6C72-4EB1-91BD-22FC6A6BFE55}"/>
              </a:ext>
            </a:extLst>
          </p:cNvPr>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a:extLst>
              <a:ext uri="{FF2B5EF4-FFF2-40B4-BE49-F238E27FC236}">
                <a16:creationId xmlns:a16="http://schemas.microsoft.com/office/drawing/2014/main" id="{6ED22ADE-3337-4765-824B-2BCE393B3BC8}"/>
              </a:ext>
            </a:extLst>
          </p:cNvPr>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a:extLst>
              <a:ext uri="{FF2B5EF4-FFF2-40B4-BE49-F238E27FC236}">
                <a16:creationId xmlns:a16="http://schemas.microsoft.com/office/drawing/2014/main" id="{77F0E457-CBAE-48A1-9FDD-0AD48E16BB0E}"/>
              </a:ext>
            </a:extLst>
          </p:cNvPr>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a:extLst>
              <a:ext uri="{FF2B5EF4-FFF2-40B4-BE49-F238E27FC236}">
                <a16:creationId xmlns:a16="http://schemas.microsoft.com/office/drawing/2014/main" id="{BF5B61E3-C874-41BD-9977-575DE377EF7C}"/>
              </a:ext>
            </a:extLst>
          </p:cNvPr>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a:extLst>
              <a:ext uri="{FF2B5EF4-FFF2-40B4-BE49-F238E27FC236}">
                <a16:creationId xmlns:a16="http://schemas.microsoft.com/office/drawing/2014/main" id="{E79C958C-4261-4C02-847F-E854178B5EDF}"/>
              </a:ext>
            </a:extLst>
          </p:cNvPr>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a:extLst>
              <a:ext uri="{FF2B5EF4-FFF2-40B4-BE49-F238E27FC236}">
                <a16:creationId xmlns:a16="http://schemas.microsoft.com/office/drawing/2014/main" id="{50FB6E99-D418-4444-914B-2306780544C7}"/>
              </a:ext>
            </a:extLst>
          </p:cNvPr>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1555103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a:extLst>
              <a:ext uri="{FF2B5EF4-FFF2-40B4-BE49-F238E27FC236}">
                <a16:creationId xmlns:a16="http://schemas.microsoft.com/office/drawing/2014/main" id="{5FB16484-E5F7-4B77-B7A5-FDAB1703AF52}"/>
              </a:ext>
            </a:extLst>
          </p:cNvPr>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B6FD6F57-F8D0-494A-A461-A05057362E3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02</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0F3C94DC-BC3D-4914-BCEA-9BADE3C91715}"/>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a:extLst>
              <a:ext uri="{FF2B5EF4-FFF2-40B4-BE49-F238E27FC236}">
                <a16:creationId xmlns:a16="http://schemas.microsoft.com/office/drawing/2014/main" id="{D3B89C71-934D-411D-A2EA-05C70F77FCCA}"/>
              </a:ext>
            </a:extLst>
          </p:cNvPr>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a:extLst>
              <a:ext uri="{FF2B5EF4-FFF2-40B4-BE49-F238E27FC236}">
                <a16:creationId xmlns:a16="http://schemas.microsoft.com/office/drawing/2014/main" id="{A837D7F3-A47E-4687-B46E-2D3048C16002}"/>
              </a:ext>
            </a:extLst>
          </p:cNvPr>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a:extLst>
              <a:ext uri="{FF2B5EF4-FFF2-40B4-BE49-F238E27FC236}">
                <a16:creationId xmlns:a16="http://schemas.microsoft.com/office/drawing/2014/main" id="{FE10A76B-7B22-4776-AAF9-D0EEE0D973D2}"/>
              </a:ext>
            </a:extLst>
          </p:cNvPr>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a:extLst>
              <a:ext uri="{FF2B5EF4-FFF2-40B4-BE49-F238E27FC236}">
                <a16:creationId xmlns:a16="http://schemas.microsoft.com/office/drawing/2014/main" id="{80425897-AA01-4101-B050-A034992317B0}"/>
              </a:ext>
            </a:extLst>
          </p:cNvPr>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a:extLst>
              <a:ext uri="{FF2B5EF4-FFF2-40B4-BE49-F238E27FC236}">
                <a16:creationId xmlns:a16="http://schemas.microsoft.com/office/drawing/2014/main" id="{1DC1ADFB-E837-4D7F-B9F3-657D2F4ACAB6}"/>
              </a:ext>
            </a:extLst>
          </p:cNvPr>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a:extLst>
              <a:ext uri="{FF2B5EF4-FFF2-40B4-BE49-F238E27FC236}">
                <a16:creationId xmlns:a16="http://schemas.microsoft.com/office/drawing/2014/main" id="{034BB7AD-2674-4436-98EF-FC7061F0982B}"/>
              </a:ext>
            </a:extLst>
          </p:cNvPr>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extLst>
      <p:ext uri="{BB962C8B-B14F-4D97-AF65-F5344CB8AC3E}">
        <p14:creationId xmlns:p14="http://schemas.microsoft.com/office/powerpoint/2010/main" val="8982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E3D9E87-D3B4-4F53-99F3-7438B7E4D4AB}"/>
              </a:ext>
            </a:extLst>
          </p:cNvPr>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a:extLst>
              <a:ext uri="{FF2B5EF4-FFF2-40B4-BE49-F238E27FC236}">
                <a16:creationId xmlns:a16="http://schemas.microsoft.com/office/drawing/2014/main" id="{6CD21FE1-F1E4-4E14-BF8F-A4D4ED823FBC}"/>
              </a:ext>
            </a:extLst>
          </p:cNvPr>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B76C3FD-32D6-4E41-B7F5-97F8A47A3D0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03</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8DD83EE6-28E8-42E1-9D1D-CEA16A3EF647}"/>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D2CCFA9F-ED6D-4706-AB87-12B0B7099A55}"/>
              </a:ext>
            </a:extLst>
          </p:cNvPr>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a:extLst>
              <a:ext uri="{FF2B5EF4-FFF2-40B4-BE49-F238E27FC236}">
                <a16:creationId xmlns:a16="http://schemas.microsoft.com/office/drawing/2014/main" id="{2F53FD0E-8CED-473A-8132-8C32D5EB7E41}"/>
              </a:ext>
            </a:extLst>
          </p:cNvPr>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a:extLst>
              <a:ext uri="{FF2B5EF4-FFF2-40B4-BE49-F238E27FC236}">
                <a16:creationId xmlns:a16="http://schemas.microsoft.com/office/drawing/2014/main" id="{686A2882-5AAA-4796-ACBF-11DE20417AB5}"/>
              </a:ext>
            </a:extLst>
          </p:cNvPr>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a:extLst>
              <a:ext uri="{FF2B5EF4-FFF2-40B4-BE49-F238E27FC236}">
                <a16:creationId xmlns:a16="http://schemas.microsoft.com/office/drawing/2014/main" id="{965BF0DA-9E98-46CA-BC5A-2F733F99C372}"/>
              </a:ext>
            </a:extLst>
          </p:cNvPr>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44B3714-021E-44F1-A9C0-8DB23D7B89EA}"/>
              </a:ext>
            </a:extLst>
          </p:cNvPr>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extLst>
      <p:ext uri="{BB962C8B-B14F-4D97-AF65-F5344CB8AC3E}">
        <p14:creationId xmlns:p14="http://schemas.microsoft.com/office/powerpoint/2010/main" val="681622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a:extLst>
              <a:ext uri="{FF2B5EF4-FFF2-40B4-BE49-F238E27FC236}">
                <a16:creationId xmlns:a16="http://schemas.microsoft.com/office/drawing/2014/main" id="{F4B8A56B-7F99-43EE-87F0-42D96BE6E0C1}"/>
              </a:ext>
            </a:extLst>
          </p:cNvPr>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AD7A4933-BE2B-4B78-BB0B-EFF272C4458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04</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A73394E7-E5C6-4B02-8A31-9C03D9C6FA0B}"/>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a:extLst>
              <a:ext uri="{FF2B5EF4-FFF2-40B4-BE49-F238E27FC236}">
                <a16:creationId xmlns:a16="http://schemas.microsoft.com/office/drawing/2014/main" id="{9FDAE5AE-1C3F-4A93-B305-B77CDC3F4BE2}"/>
              </a:ext>
            </a:extLst>
          </p:cNvPr>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a:extLst>
              <a:ext uri="{FF2B5EF4-FFF2-40B4-BE49-F238E27FC236}">
                <a16:creationId xmlns:a16="http://schemas.microsoft.com/office/drawing/2014/main" id="{8B831D4E-CDC6-4513-9163-9BB77DDB0516}"/>
              </a:ext>
            </a:extLst>
          </p:cNvPr>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a:extLst>
              <a:ext uri="{FF2B5EF4-FFF2-40B4-BE49-F238E27FC236}">
                <a16:creationId xmlns:a16="http://schemas.microsoft.com/office/drawing/2014/main" id="{25618009-D285-438D-BF60-F87BDBE0685A}"/>
              </a:ext>
            </a:extLst>
          </p:cNvPr>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a:extLst>
              <a:ext uri="{FF2B5EF4-FFF2-40B4-BE49-F238E27FC236}">
                <a16:creationId xmlns:a16="http://schemas.microsoft.com/office/drawing/2014/main" id="{4A10CB81-B3E3-411C-90C9-3480A10EDB9B}"/>
              </a:ext>
            </a:extLst>
          </p:cNvPr>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a:extLst>
              <a:ext uri="{FF2B5EF4-FFF2-40B4-BE49-F238E27FC236}">
                <a16:creationId xmlns:a16="http://schemas.microsoft.com/office/drawing/2014/main" id="{D251409D-FDB9-430B-A00F-D4A65811924B}"/>
              </a:ext>
            </a:extLst>
          </p:cNvPr>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63A1AFEA-57CF-4E71-AF6C-91E549CCF7E6}"/>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2271739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a:extLst>
              <a:ext uri="{FF2B5EF4-FFF2-40B4-BE49-F238E27FC236}">
                <a16:creationId xmlns:a16="http://schemas.microsoft.com/office/drawing/2014/main" id="{03B97F61-153E-4B6E-8D40-C8B9A7E64D60}"/>
              </a:ext>
            </a:extLst>
          </p:cNvPr>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7B2B8D9-D400-4BD8-9CF6-DCEAAC82BDD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05</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F285F31B-D145-4BD9-A54B-96E8E681B170}"/>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a:extLst>
              <a:ext uri="{FF2B5EF4-FFF2-40B4-BE49-F238E27FC236}">
                <a16:creationId xmlns:a16="http://schemas.microsoft.com/office/drawing/2014/main" id="{883EB526-2712-4265-9BF4-5874AAB98515}"/>
              </a:ext>
            </a:extLst>
          </p:cNvPr>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a:extLst>
              <a:ext uri="{FF2B5EF4-FFF2-40B4-BE49-F238E27FC236}">
                <a16:creationId xmlns:a16="http://schemas.microsoft.com/office/drawing/2014/main" id="{C7D4DE0F-D1AF-4276-ADBB-A15A5BFE8CB9}"/>
              </a:ext>
            </a:extLst>
          </p:cNvPr>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a:extLst>
              <a:ext uri="{FF2B5EF4-FFF2-40B4-BE49-F238E27FC236}">
                <a16:creationId xmlns:a16="http://schemas.microsoft.com/office/drawing/2014/main" id="{DFA316F4-7F98-4275-AAEF-578596A20622}"/>
              </a:ext>
            </a:extLst>
          </p:cNvPr>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a:extLst>
              <a:ext uri="{FF2B5EF4-FFF2-40B4-BE49-F238E27FC236}">
                <a16:creationId xmlns:a16="http://schemas.microsoft.com/office/drawing/2014/main" id="{219BA2AF-DF75-4C32-85E3-CB62BA8F7564}"/>
              </a:ext>
            </a:extLst>
          </p:cNvPr>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a:extLst>
              <a:ext uri="{FF2B5EF4-FFF2-40B4-BE49-F238E27FC236}">
                <a16:creationId xmlns:a16="http://schemas.microsoft.com/office/drawing/2014/main" id="{A86D27D2-3D87-4A30-89B6-7FAFD15E7EA4}"/>
              </a:ext>
            </a:extLst>
          </p:cNvPr>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BD5DBA0-D1E0-4B8B-AF12-F77A29B64E62}"/>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534460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a:extLst>
              <a:ext uri="{FF2B5EF4-FFF2-40B4-BE49-F238E27FC236}">
                <a16:creationId xmlns:a16="http://schemas.microsoft.com/office/drawing/2014/main" id="{60753701-EC64-455B-B060-1320051E3FE3}"/>
              </a:ext>
            </a:extLst>
          </p:cNvPr>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F5CBE861-C433-4078-A9A5-2C401EE3B270}"/>
              </a:ext>
            </a:extLst>
          </p:cNvPr>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06</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23DD6575-0576-4AFA-9BC4-891ADAB845BD}"/>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a:extLst>
              <a:ext uri="{FF2B5EF4-FFF2-40B4-BE49-F238E27FC236}">
                <a16:creationId xmlns:a16="http://schemas.microsoft.com/office/drawing/2014/main" id="{C48532B4-0A1B-49CC-99AA-FE75395721EF}"/>
              </a:ext>
            </a:extLst>
          </p:cNvPr>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a:extLst>
              <a:ext uri="{FF2B5EF4-FFF2-40B4-BE49-F238E27FC236}">
                <a16:creationId xmlns:a16="http://schemas.microsoft.com/office/drawing/2014/main" id="{32356412-5283-4799-9197-98AEACE613AC}"/>
              </a:ext>
            </a:extLst>
          </p:cNvPr>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a:extLst>
              <a:ext uri="{FF2B5EF4-FFF2-40B4-BE49-F238E27FC236}">
                <a16:creationId xmlns:a16="http://schemas.microsoft.com/office/drawing/2014/main" id="{4E421018-60A0-4F10-A9A6-A6EE3BBD8BF9}"/>
              </a:ext>
            </a:extLst>
          </p:cNvPr>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a:extLst>
              <a:ext uri="{FF2B5EF4-FFF2-40B4-BE49-F238E27FC236}">
                <a16:creationId xmlns:a16="http://schemas.microsoft.com/office/drawing/2014/main" id="{9B17F2FA-61E0-4197-AD3A-2DE5104FF5C1}"/>
              </a:ext>
            </a:extLst>
          </p:cNvPr>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a:extLst>
              <a:ext uri="{FF2B5EF4-FFF2-40B4-BE49-F238E27FC236}">
                <a16:creationId xmlns:a16="http://schemas.microsoft.com/office/drawing/2014/main" id="{1C86E54A-170E-4CA4-BE8B-1118DA74B7C4}"/>
              </a:ext>
            </a:extLst>
          </p:cNvPr>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A5976A4D-F088-4D08-ABB4-FDF23F9CA863}"/>
              </a:ext>
            </a:extLst>
          </p:cNvPr>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4009256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a:extLst>
              <a:ext uri="{FF2B5EF4-FFF2-40B4-BE49-F238E27FC236}">
                <a16:creationId xmlns:a16="http://schemas.microsoft.com/office/drawing/2014/main" id="{82CF8FAE-6DBB-42F8-A821-12D15C788E8C}"/>
              </a:ext>
            </a:extLst>
          </p:cNvPr>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a:extLst>
              <a:ext uri="{FF2B5EF4-FFF2-40B4-BE49-F238E27FC236}">
                <a16:creationId xmlns:a16="http://schemas.microsoft.com/office/drawing/2014/main" id="{B958D3BC-E7F4-4914-8CAC-14D6BF0FFFB3}"/>
              </a:ext>
            </a:extLst>
          </p:cNvPr>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a:extLst>
              <a:ext uri="{FF2B5EF4-FFF2-40B4-BE49-F238E27FC236}">
                <a16:creationId xmlns:a16="http://schemas.microsoft.com/office/drawing/2014/main" id="{2453FC77-9263-4C53-8F22-D64EBC3880B1}"/>
              </a:ext>
            </a:extLst>
          </p:cNvPr>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a:extLst>
              <a:ext uri="{FF2B5EF4-FFF2-40B4-BE49-F238E27FC236}">
                <a16:creationId xmlns:a16="http://schemas.microsoft.com/office/drawing/2014/main" id="{9B3BEEB7-FA72-410F-B92D-7D208F847B83}"/>
              </a:ext>
            </a:extLst>
          </p:cNvPr>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20204" pitchFamily="34" charset="0"/>
              </a:rPr>
              <a:t>Contents</a:t>
            </a:r>
            <a:endParaRPr lang="zh-CN" altLang="en-US" sz="4000" b="1" i="0" dirty="0">
              <a:solidFill>
                <a:schemeClr val="bg1"/>
              </a:solidFill>
              <a:latin typeface="Helvetica" pitchFamily="2" charset="0"/>
              <a:ea typeface="+mj-ea"/>
              <a:cs typeface="Arial" panose="020B0604020202020204" pitchFamily="34" charset="0"/>
            </a:endParaRPr>
          </a:p>
        </p:txBody>
      </p:sp>
      <p:pic>
        <p:nvPicPr>
          <p:cNvPr id="47" name="图片 46">
            <a:extLst>
              <a:ext uri="{FF2B5EF4-FFF2-40B4-BE49-F238E27FC236}">
                <a16:creationId xmlns:a16="http://schemas.microsoft.com/office/drawing/2014/main" id="{C02326B7-0E5A-F24B-8BE7-D58545042AA0}"/>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2657035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a:extLst>
              <a:ext uri="{FF2B5EF4-FFF2-40B4-BE49-F238E27FC236}">
                <a16:creationId xmlns:a16="http://schemas.microsoft.com/office/drawing/2014/main" id="{EF621E98-351F-489A-ADCE-3FC79FDE6DDD}"/>
              </a:ext>
            </a:extLst>
          </p:cNvPr>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a:extLst>
              <a:ext uri="{FF2B5EF4-FFF2-40B4-BE49-F238E27FC236}">
                <a16:creationId xmlns:a16="http://schemas.microsoft.com/office/drawing/2014/main" id="{C25A5A92-C8E6-4CA8-AB93-8B885C5EA989}"/>
              </a:ext>
            </a:extLst>
          </p:cNvPr>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a:extLst>
              <a:ext uri="{FF2B5EF4-FFF2-40B4-BE49-F238E27FC236}">
                <a16:creationId xmlns:a16="http://schemas.microsoft.com/office/drawing/2014/main" id="{0B284135-360D-47CC-8BC2-5C03015968F7}"/>
              </a:ext>
            </a:extLst>
          </p:cNvPr>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a:extLst>
              <a:ext uri="{FF2B5EF4-FFF2-40B4-BE49-F238E27FC236}">
                <a16:creationId xmlns:a16="http://schemas.microsoft.com/office/drawing/2014/main" id="{D0824BE2-0B1A-47B1-BAAF-7C29E1879AE7}"/>
              </a:ext>
            </a:extLst>
          </p:cNvPr>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1347033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a:extLst>
              <a:ext uri="{FF2B5EF4-FFF2-40B4-BE49-F238E27FC236}">
                <a16:creationId xmlns:a16="http://schemas.microsoft.com/office/drawing/2014/main" id="{053D6D2E-F110-4473-8442-17B28C05A741}"/>
              </a:ext>
            </a:extLst>
          </p:cNvPr>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a:extLst>
              <a:ext uri="{FF2B5EF4-FFF2-40B4-BE49-F238E27FC236}">
                <a16:creationId xmlns:a16="http://schemas.microsoft.com/office/drawing/2014/main" id="{E6BEB427-D252-4942-9F34-301C642191A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a:extLst>
              <a:ext uri="{FF2B5EF4-FFF2-40B4-BE49-F238E27FC236}">
                <a16:creationId xmlns:a16="http://schemas.microsoft.com/office/drawing/2014/main" id="{17358D7B-1DA9-9E4B-AFF1-9A13B20D43F0}"/>
              </a:ext>
            </a:extLst>
          </p:cNvPr>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a:extLst>
              <a:ext uri="{FF2B5EF4-FFF2-40B4-BE49-F238E27FC236}">
                <a16:creationId xmlns:a16="http://schemas.microsoft.com/office/drawing/2014/main" id="{ACA3C166-80E6-1B4A-AD5B-C8D47456872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2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a:extLst>
              <a:ext uri="{FF2B5EF4-FFF2-40B4-BE49-F238E27FC236}">
                <a16:creationId xmlns:a16="http://schemas.microsoft.com/office/drawing/2014/main" id="{4B77A5BA-0111-5844-9F86-5926B121D3FB}"/>
              </a:ext>
            </a:extLst>
          </p:cNvPr>
          <p:cNvSpPr>
            <a:spLocks noGrp="1"/>
          </p:cNvSpPr>
          <p:nvPr>
            <p:ph type="dt" sz="half" idx="10"/>
          </p:nvPr>
        </p:nvSpPr>
        <p:spPr/>
        <p:txBody>
          <a:bodyPr/>
          <a:lstStyle/>
          <a:p>
            <a:endParaRPr lang="zh-CN" altLang="en-US"/>
          </a:p>
        </p:txBody>
      </p:sp>
      <p:sp>
        <p:nvSpPr>
          <p:cNvPr id="14" name="页脚占位符 13">
            <a:extLst>
              <a:ext uri="{FF2B5EF4-FFF2-40B4-BE49-F238E27FC236}">
                <a16:creationId xmlns:a16="http://schemas.microsoft.com/office/drawing/2014/main" id="{44B829B2-7BD2-9948-8F21-7182730A06BA}"/>
              </a:ext>
            </a:extLst>
          </p:cNvPr>
          <p:cNvSpPr>
            <a:spLocks noGrp="1"/>
          </p:cNvSpPr>
          <p:nvPr>
            <p:ph type="ftr" sz="quarter" idx="11"/>
          </p:nvPr>
        </p:nvSpPr>
        <p:spPr/>
        <p:txBody>
          <a:bodyPr/>
          <a:lstStyle/>
          <a:p>
            <a:endParaRPr lang="zh-CN" altLang="en-US" dirty="0"/>
          </a:p>
        </p:txBody>
      </p:sp>
      <p:sp>
        <p:nvSpPr>
          <p:cNvPr id="15" name="灯片编号占位符 14">
            <a:extLst>
              <a:ext uri="{FF2B5EF4-FFF2-40B4-BE49-F238E27FC236}">
                <a16:creationId xmlns:a16="http://schemas.microsoft.com/office/drawing/2014/main" id="{6280651B-EA0A-1E41-B81D-87E3C43E66B9}"/>
              </a:ext>
            </a:extLst>
          </p:cNvPr>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Tree>
    <p:extLst>
      <p:ext uri="{BB962C8B-B14F-4D97-AF65-F5344CB8AC3E}">
        <p14:creationId xmlns:p14="http://schemas.microsoft.com/office/powerpoint/2010/main" val="1523856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B0862E3-9A13-49FB-8057-D6463602E7B6}"/>
              </a:ext>
            </a:extLst>
          </p:cNvPr>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33B73963-4941-42F0-9B00-7431FEF61A6C}"/>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9C71AABC-C91A-43D0-9AF8-0B6162EDCDD1}"/>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A32A9019-0CBC-4C4A-90F0-2676ED9FCD3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1D06DB6D-BC70-544C-8EA4-3A3874C968F6}"/>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3421086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80DB1628-9D3D-4F59-B275-C695A900F19A}"/>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F01A7288-9F85-304B-887D-2D1E13D7A25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DE14FD2D-7810-B34E-8AFB-9A17BDEA7011}"/>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879881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a:extLst>
              <a:ext uri="{FF2B5EF4-FFF2-40B4-BE49-F238E27FC236}">
                <a16:creationId xmlns:a16="http://schemas.microsoft.com/office/drawing/2014/main" id="{F03BE017-E7F3-4A34-ABC3-ECA964258175}"/>
              </a:ext>
            </a:extLst>
          </p:cNvPr>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a:extLst>
              <a:ext uri="{FF2B5EF4-FFF2-40B4-BE49-F238E27FC236}">
                <a16:creationId xmlns:a16="http://schemas.microsoft.com/office/drawing/2014/main" id="{D3B0A0DB-185C-4430-9224-1C0A227377F5}"/>
              </a:ext>
            </a:extLst>
          </p:cNvPr>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a:extLst>
              <a:ext uri="{FF2B5EF4-FFF2-40B4-BE49-F238E27FC236}">
                <a16:creationId xmlns:a16="http://schemas.microsoft.com/office/drawing/2014/main" id="{E3FA308D-84A8-4382-ADA4-2CD6EA62223C}"/>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68876A75-1BD3-9D4E-9D34-C6453E6DC7DB}"/>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48222E54-5ACA-6D4B-9A58-9B51C83B622D}"/>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158178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a:extLst>
              <a:ext uri="{FF2B5EF4-FFF2-40B4-BE49-F238E27FC236}">
                <a16:creationId xmlns:a16="http://schemas.microsoft.com/office/drawing/2014/main" id="{260C43B2-4304-44E2-A6F0-062D59008B9B}"/>
              </a:ext>
            </a:extLst>
          </p:cNvPr>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a:extLst>
              <a:ext uri="{FF2B5EF4-FFF2-40B4-BE49-F238E27FC236}">
                <a16:creationId xmlns:a16="http://schemas.microsoft.com/office/drawing/2014/main" id="{11D8ADCD-C58A-41B8-80C4-2341BB348593}"/>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a:extLst>
              <a:ext uri="{FF2B5EF4-FFF2-40B4-BE49-F238E27FC236}">
                <a16:creationId xmlns:a16="http://schemas.microsoft.com/office/drawing/2014/main" id="{841EB5B4-0657-4AE7-A427-642106D598D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EC81340F-C45F-6B4F-9864-73BF32BA909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31D45924-509B-5D4C-A99D-FF1FB6F34BEF}"/>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346397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D88D36A-B7BF-4F3A-AA10-0BECE80A557F}"/>
              </a:ext>
            </a:extLst>
          </p:cNvPr>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a:extLst>
              <a:ext uri="{FF2B5EF4-FFF2-40B4-BE49-F238E27FC236}">
                <a16:creationId xmlns:a16="http://schemas.microsoft.com/office/drawing/2014/main" id="{DEC9F75E-9249-4FFE-AF96-E92B201A183F}"/>
              </a:ext>
            </a:extLst>
          </p:cNvPr>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a:extLst>
              <a:ext uri="{FF2B5EF4-FFF2-40B4-BE49-F238E27FC236}">
                <a16:creationId xmlns:a16="http://schemas.microsoft.com/office/drawing/2014/main" id="{E7782F2A-850E-4B5F-8330-CF50AC9EFA7B}"/>
              </a:ext>
            </a:extLst>
          </p:cNvPr>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a:extLst>
              <a:ext uri="{FF2B5EF4-FFF2-40B4-BE49-F238E27FC236}">
                <a16:creationId xmlns:a16="http://schemas.microsoft.com/office/drawing/2014/main" id="{25096E3E-9433-4D85-BA39-301B214A355E}"/>
              </a:ext>
            </a:extLst>
          </p:cNvPr>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DF883148-B063-4C5A-9CC7-CE69774A8C94}"/>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B8A4FF80-ED1E-4D1D-9434-215EB5FB872B}"/>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B3A067A2-39E8-0940-8B54-688BC270D1DC}"/>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7D982EDC-1B4A-034E-9CE9-9172DBAF4898}"/>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1899370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409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5F00C798-F4CB-49E3-81E0-4CD12D5AEAD6}"/>
              </a:ext>
            </a:extLst>
          </p:cNvPr>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a:extLst>
              <a:ext uri="{FF2B5EF4-FFF2-40B4-BE49-F238E27FC236}">
                <a16:creationId xmlns:a16="http://schemas.microsoft.com/office/drawing/2014/main" id="{8C1695A4-3593-4E25-8722-4214E3CC76B6}"/>
              </a:ext>
            </a:extLst>
          </p:cNvPr>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a:extLst>
              <a:ext uri="{FF2B5EF4-FFF2-40B4-BE49-F238E27FC236}">
                <a16:creationId xmlns:a16="http://schemas.microsoft.com/office/drawing/2014/main" id="{A29C0276-5751-4797-BFA5-F68D05ACBB63}"/>
              </a:ext>
            </a:extLst>
          </p:cNvPr>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a:extLst>
              <a:ext uri="{FF2B5EF4-FFF2-40B4-BE49-F238E27FC236}">
                <a16:creationId xmlns:a16="http://schemas.microsoft.com/office/drawing/2014/main" id="{D85E25CC-A5BC-44E2-9950-5BDC824D9AC1}"/>
              </a:ext>
            </a:extLst>
          </p:cNvPr>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2192499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B2DFB5F-1361-46F4-B3DF-471ECD4DCA18}"/>
              </a:ext>
            </a:extLst>
          </p:cNvPr>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a:extLst>
              <a:ext uri="{FF2B5EF4-FFF2-40B4-BE49-F238E27FC236}">
                <a16:creationId xmlns:a16="http://schemas.microsoft.com/office/drawing/2014/main" id="{385D4CE6-0BBF-450D-B3AB-7C163A40E793}"/>
              </a:ext>
            </a:extLst>
          </p:cNvPr>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extLst>
      <p:ext uri="{BB962C8B-B14F-4D97-AF65-F5344CB8AC3E}">
        <p14:creationId xmlns:p14="http://schemas.microsoft.com/office/powerpoint/2010/main" val="130961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1044578"/>
            <a:ext cx="12192000" cy="1470025"/>
          </a:xfrm>
        </p:spPr>
        <p:txBody>
          <a:bodyPr/>
          <a:lstStyle>
            <a:lvl1pPr>
              <a:defRPr>
                <a:solidFill>
                  <a:schemeClr val="accent2"/>
                </a:solidFill>
              </a:defRPr>
            </a:lvl1pPr>
          </a:lstStyle>
          <a:p>
            <a:r>
              <a:rPr lang="en-US"/>
              <a:t>Click to edit Master title style</a:t>
            </a:r>
          </a:p>
        </p:txBody>
      </p:sp>
      <p:sp>
        <p:nvSpPr>
          <p:cNvPr id="5123" name="Rectangle 3"/>
          <p:cNvSpPr>
            <a:spLocks noGrp="1" noChangeArrowheads="1"/>
          </p:cNvSpPr>
          <p:nvPr>
            <p:ph type="subTitle" idx="1"/>
          </p:nvPr>
        </p:nvSpPr>
        <p:spPr>
          <a:xfrm>
            <a:off x="0" y="3657600"/>
            <a:ext cx="12192000" cy="1524000"/>
          </a:xfrm>
        </p:spPr>
        <p:txBody>
          <a:bodyPr/>
          <a:lstStyle>
            <a:lvl1pPr marL="0" indent="0" algn="ctr">
              <a:buFont typeface="Wingdings" panose="05000000000000000000" pitchFamily="2" charset="2"/>
              <a:buNone/>
              <a:defRPr>
                <a:solidFill>
                  <a:schemeClr val="tx1"/>
                </a:solidFill>
              </a:defRPr>
            </a:lvl1pPr>
          </a:lstStyle>
          <a:p>
            <a:r>
              <a:rPr lang="en-US" dirty="0"/>
              <a:t>Click to edit Master subtitle style</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92E62938-84EC-488D-9CA4-E38E8D42E52F}" type="slidenum">
              <a:rPr lang="en-US"/>
              <a:t>‹#›</a:t>
            </a:fld>
            <a:endParaRPr lang="en-US"/>
          </a:p>
        </p:txBody>
      </p:sp>
    </p:spTree>
    <p:extLst>
      <p:ext uri="{BB962C8B-B14F-4D97-AF65-F5344CB8AC3E}">
        <p14:creationId xmlns:p14="http://schemas.microsoft.com/office/powerpoint/2010/main" val="4084866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1D5E8221-ACA7-4409-9788-2ACEEBC1BDCC}" type="slidenum">
              <a:rPr lang="en-US" smtClean="0"/>
              <a:t>‹#›</a:t>
            </a:fld>
            <a:endParaRPr lang="en-US"/>
          </a:p>
        </p:txBody>
      </p:sp>
    </p:spTree>
    <p:extLst>
      <p:ext uri="{BB962C8B-B14F-4D97-AF65-F5344CB8AC3E}">
        <p14:creationId xmlns:p14="http://schemas.microsoft.com/office/powerpoint/2010/main" val="133201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A6685549-3527-4829-9473-416A0C2EAE24}" type="slidenum">
              <a:rPr lang="en-US" smtClean="0"/>
              <a:t>‹#›</a:t>
            </a:fld>
            <a:endParaRPr lang="en-US"/>
          </a:p>
        </p:txBody>
      </p:sp>
    </p:spTree>
    <p:extLst>
      <p:ext uri="{BB962C8B-B14F-4D97-AF65-F5344CB8AC3E}">
        <p14:creationId xmlns:p14="http://schemas.microsoft.com/office/powerpoint/2010/main" val="414136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B5FF1561-1732-4AFE-BD38-1F907188A60F}" type="slidenum">
              <a:rPr lang="en-US" smtClean="0"/>
              <a:t>‹#›</a:t>
            </a:fld>
            <a:endParaRPr lang="en-US"/>
          </a:p>
        </p:txBody>
      </p:sp>
    </p:spTree>
    <p:extLst>
      <p:ext uri="{BB962C8B-B14F-4D97-AF65-F5344CB8AC3E}">
        <p14:creationId xmlns:p14="http://schemas.microsoft.com/office/powerpoint/2010/main" val="2536749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theme" Target="../theme/theme3.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3" Type="http://schemas.openxmlformats.org/officeDocument/2006/relationships/slideLayout" Target="../slideLayouts/slideLayout46.xml"/><Relationship Id="rId21" Type="http://schemas.openxmlformats.org/officeDocument/2006/relationships/theme" Target="../theme/theme4.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slideLayout" Target="../slideLayouts/slideLayout76.xml"/><Relationship Id="rId18" Type="http://schemas.openxmlformats.org/officeDocument/2006/relationships/slideLayout" Target="../slideLayouts/slideLayout81.xml"/><Relationship Id="rId3" Type="http://schemas.openxmlformats.org/officeDocument/2006/relationships/slideLayout" Target="../slideLayouts/slideLayout66.xml"/><Relationship Id="rId21" Type="http://schemas.openxmlformats.org/officeDocument/2006/relationships/slideLayout" Target="../slideLayouts/slideLayout84.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17" Type="http://schemas.openxmlformats.org/officeDocument/2006/relationships/slideLayout" Target="../slideLayouts/slideLayout80.xml"/><Relationship Id="rId2" Type="http://schemas.openxmlformats.org/officeDocument/2006/relationships/slideLayout" Target="../slideLayouts/slideLayout65.xml"/><Relationship Id="rId16" Type="http://schemas.openxmlformats.org/officeDocument/2006/relationships/slideLayout" Target="../slideLayouts/slideLayout79.xml"/><Relationship Id="rId20" Type="http://schemas.openxmlformats.org/officeDocument/2006/relationships/slideLayout" Target="../slideLayouts/slideLayout83.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24" Type="http://schemas.openxmlformats.org/officeDocument/2006/relationships/theme" Target="../theme/theme5.xml"/><Relationship Id="rId5" Type="http://schemas.openxmlformats.org/officeDocument/2006/relationships/slideLayout" Target="../slideLayouts/slideLayout68.xml"/><Relationship Id="rId15" Type="http://schemas.openxmlformats.org/officeDocument/2006/relationships/slideLayout" Target="../slideLayouts/slideLayout78.xml"/><Relationship Id="rId23" Type="http://schemas.openxmlformats.org/officeDocument/2006/relationships/slideLayout" Target="../slideLayouts/slideLayout86.xml"/><Relationship Id="rId10" Type="http://schemas.openxmlformats.org/officeDocument/2006/relationships/slideLayout" Target="../slideLayouts/slideLayout73.xml"/><Relationship Id="rId19" Type="http://schemas.openxmlformats.org/officeDocument/2006/relationships/slideLayout" Target="../slideLayouts/slideLayout82.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slideLayout" Target="../slideLayouts/slideLayout77.xml"/><Relationship Id="rId22"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523B942-3F1B-403C-8E85-6382B2069353}"/>
              </a:ext>
            </a:extLst>
          </p:cNvPr>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6DD93AE5-CDDD-4CA4-8BCF-44DD4A71403B}"/>
              </a:ext>
            </a:extLst>
          </p:cNvPr>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891383BD-F3E7-403E-84A3-6F01BCC23915}"/>
              </a:ext>
            </a:extLst>
          </p:cNvPr>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a:extLst>
              <a:ext uri="{FF2B5EF4-FFF2-40B4-BE49-F238E27FC236}">
                <a16:creationId xmlns:a16="http://schemas.microsoft.com/office/drawing/2014/main" id="{1B9A1635-4D35-4F49-9AAC-DA6F5F037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a:extLst>
              <a:ext uri="{FF2B5EF4-FFF2-40B4-BE49-F238E27FC236}">
                <a16:creationId xmlns:a16="http://schemas.microsoft.com/office/drawing/2014/main" id="{C16FD9E9-D991-439F-8738-F1CD489BA103}"/>
              </a:ext>
            </a:extLst>
          </p:cNvPr>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pPr/>
              <a:t>‹#›</a:t>
            </a:fld>
            <a:endParaRPr lang="zh-CN" altLang="en-US" dirty="0"/>
          </a:p>
        </p:txBody>
      </p:sp>
      <p:sp>
        <p:nvSpPr>
          <p:cNvPr id="7" name="椭圆 6">
            <a:extLst>
              <a:ext uri="{FF2B5EF4-FFF2-40B4-BE49-F238E27FC236}">
                <a16:creationId xmlns:a16="http://schemas.microsoft.com/office/drawing/2014/main" id="{9994C284-E105-48E5-B7ED-E6DDC39F64AA}"/>
              </a:ext>
            </a:extLst>
          </p:cNvPr>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a:extLst>
              <a:ext uri="{FF2B5EF4-FFF2-40B4-BE49-F238E27FC236}">
                <a16:creationId xmlns:a16="http://schemas.microsoft.com/office/drawing/2014/main" id="{8E9773E7-896B-4ABE-A918-DD345AEA7B33}"/>
              </a:ext>
            </a:extLst>
          </p:cNvPr>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1322824675"/>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62" r:id="rId3"/>
    <p:sldLayoutId id="2147483663" r:id="rId4"/>
    <p:sldLayoutId id="2147483664" r:id="rId5"/>
    <p:sldLayoutId id="2147483665" r:id="rId6"/>
    <p:sldLayoutId id="2147483666" r:id="rId7"/>
    <p:sldLayoutId id="2147483667" r:id="rId8"/>
    <p:sldLayoutId id="2147483661" r:id="rId9"/>
    <p:sldLayoutId id="2147483669" r:id="rId10"/>
    <p:sldLayoutId id="2147483671" r:id="rId11"/>
    <p:sldLayoutId id="2147483674" r:id="rId12"/>
    <p:sldLayoutId id="2147483654" r:id="rId13"/>
    <p:sldLayoutId id="2147483675" r:id="rId14"/>
    <p:sldLayoutId id="2147483672" r:id="rId15"/>
    <p:sldLayoutId id="2147483673" r:id="rId16"/>
    <p:sldLayoutId id="2147483659" r:id="rId17"/>
    <p:sldLayoutId id="2147483657" r:id="rId18"/>
    <p:sldLayoutId id="2147483676" r:id="rId19"/>
    <p:sldLayoutId id="2147483678" r:id="rId20"/>
    <p:sldLayoutId id="2147483680" r:id="rId21"/>
    <p:sldLayoutId id="2147483681" r:id="rId22"/>
    <p:sldLayoutId id="2147483682" r:id="rId2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020933"/>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523B942-3F1B-403C-8E85-6382B2069353}"/>
              </a:ext>
            </a:extLst>
          </p:cNvPr>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6DD93AE5-CDDD-4CA4-8BCF-44DD4A71403B}"/>
              </a:ext>
            </a:extLst>
          </p:cNvPr>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891383BD-F3E7-403E-84A3-6F01BCC23915}"/>
              </a:ext>
            </a:extLst>
          </p:cNvPr>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a:extLst>
              <a:ext uri="{FF2B5EF4-FFF2-40B4-BE49-F238E27FC236}">
                <a16:creationId xmlns:a16="http://schemas.microsoft.com/office/drawing/2014/main" id="{1B9A1635-4D35-4F49-9AAC-DA6F5F037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a:extLst>
              <a:ext uri="{FF2B5EF4-FFF2-40B4-BE49-F238E27FC236}">
                <a16:creationId xmlns:a16="http://schemas.microsoft.com/office/drawing/2014/main" id="{C16FD9E9-D991-439F-8738-F1CD489BA103}"/>
              </a:ext>
            </a:extLst>
          </p:cNvPr>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pPr/>
              <a:t>‹#›</a:t>
            </a:fld>
            <a:endParaRPr lang="zh-CN" altLang="en-US" dirty="0"/>
          </a:p>
        </p:txBody>
      </p:sp>
      <p:sp>
        <p:nvSpPr>
          <p:cNvPr id="7" name="椭圆 6">
            <a:extLst>
              <a:ext uri="{FF2B5EF4-FFF2-40B4-BE49-F238E27FC236}">
                <a16:creationId xmlns:a16="http://schemas.microsoft.com/office/drawing/2014/main" id="{9994C284-E105-48E5-B7ED-E6DDC39F64AA}"/>
              </a:ext>
            </a:extLst>
          </p:cNvPr>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a:extLst>
              <a:ext uri="{FF2B5EF4-FFF2-40B4-BE49-F238E27FC236}">
                <a16:creationId xmlns:a16="http://schemas.microsoft.com/office/drawing/2014/main" id="{8E9773E7-896B-4ABE-A918-DD345AEA7B33}"/>
              </a:ext>
            </a:extLst>
          </p:cNvPr>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1053584816"/>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523B942-3F1B-403C-8E85-6382B2069353}"/>
              </a:ext>
            </a:extLst>
          </p:cNvPr>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6DD93AE5-CDDD-4CA4-8BCF-44DD4A71403B}"/>
              </a:ext>
            </a:extLst>
          </p:cNvPr>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891383BD-F3E7-403E-84A3-6F01BCC23915}"/>
              </a:ext>
            </a:extLst>
          </p:cNvPr>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a:extLst>
              <a:ext uri="{FF2B5EF4-FFF2-40B4-BE49-F238E27FC236}">
                <a16:creationId xmlns:a16="http://schemas.microsoft.com/office/drawing/2014/main" id="{1B9A1635-4D35-4F49-9AAC-DA6F5F037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a:extLst>
              <a:ext uri="{FF2B5EF4-FFF2-40B4-BE49-F238E27FC236}">
                <a16:creationId xmlns:a16="http://schemas.microsoft.com/office/drawing/2014/main" id="{C16FD9E9-D991-439F-8738-F1CD489BA103}"/>
              </a:ext>
            </a:extLst>
          </p:cNvPr>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pPr/>
              <a:t>‹#›</a:t>
            </a:fld>
            <a:endParaRPr lang="zh-CN" altLang="en-US" dirty="0"/>
          </a:p>
        </p:txBody>
      </p:sp>
      <p:sp>
        <p:nvSpPr>
          <p:cNvPr id="7" name="椭圆 6">
            <a:extLst>
              <a:ext uri="{FF2B5EF4-FFF2-40B4-BE49-F238E27FC236}">
                <a16:creationId xmlns:a16="http://schemas.microsoft.com/office/drawing/2014/main" id="{9994C284-E105-48E5-B7ED-E6DDC39F64AA}"/>
              </a:ext>
            </a:extLst>
          </p:cNvPr>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a:extLst>
              <a:ext uri="{FF2B5EF4-FFF2-40B4-BE49-F238E27FC236}">
                <a16:creationId xmlns:a16="http://schemas.microsoft.com/office/drawing/2014/main" id="{8E9773E7-896B-4ABE-A918-DD345AEA7B33}"/>
              </a:ext>
            </a:extLst>
          </p:cNvPr>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2977888464"/>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523B942-3F1B-403C-8E85-6382B2069353}"/>
              </a:ext>
            </a:extLst>
          </p:cNvPr>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6DD93AE5-CDDD-4CA4-8BCF-44DD4A71403B}"/>
              </a:ext>
            </a:extLst>
          </p:cNvPr>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891383BD-F3E7-403E-84A3-6F01BCC23915}"/>
              </a:ext>
            </a:extLst>
          </p:cNvPr>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a:extLst>
              <a:ext uri="{FF2B5EF4-FFF2-40B4-BE49-F238E27FC236}">
                <a16:creationId xmlns:a16="http://schemas.microsoft.com/office/drawing/2014/main" id="{1B9A1635-4D35-4F49-9AAC-DA6F5F037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a:extLst>
              <a:ext uri="{FF2B5EF4-FFF2-40B4-BE49-F238E27FC236}">
                <a16:creationId xmlns:a16="http://schemas.microsoft.com/office/drawing/2014/main" id="{C16FD9E9-D991-439F-8738-F1CD489BA103}"/>
              </a:ext>
            </a:extLst>
          </p:cNvPr>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pPr/>
              <a:t>‹#›</a:t>
            </a:fld>
            <a:endParaRPr lang="zh-CN" altLang="en-US" dirty="0"/>
          </a:p>
        </p:txBody>
      </p:sp>
      <p:sp>
        <p:nvSpPr>
          <p:cNvPr id="7" name="椭圆 6">
            <a:extLst>
              <a:ext uri="{FF2B5EF4-FFF2-40B4-BE49-F238E27FC236}">
                <a16:creationId xmlns:a16="http://schemas.microsoft.com/office/drawing/2014/main" id="{9994C284-E105-48E5-B7ED-E6DDC39F64AA}"/>
              </a:ext>
            </a:extLst>
          </p:cNvPr>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a:extLst>
              <a:ext uri="{FF2B5EF4-FFF2-40B4-BE49-F238E27FC236}">
                <a16:creationId xmlns:a16="http://schemas.microsoft.com/office/drawing/2014/main" id="{8E9773E7-896B-4ABE-A918-DD345AEA7B33}"/>
              </a:ext>
            </a:extLst>
          </p:cNvPr>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944727547"/>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 id="2147483746" r:id="rId21"/>
    <p:sldLayoutId id="2147483747" r:id="rId22"/>
    <p:sldLayoutId id="2147483748" r:id="rId2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5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9.wmf"/><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7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4.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1.xml"/><Relationship Id="rId5" Type="http://schemas.openxmlformats.org/officeDocument/2006/relationships/image" Target="../media/image25.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4.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a:spLocks noGrp="1" noChangeArrowheads="1"/>
          </p:cNvSpPr>
          <p:nvPr>
            <p:ph type="ctrTitle"/>
          </p:nvPr>
        </p:nvSpPr>
        <p:spPr>
          <a:xfrm>
            <a:off x="0" y="65087"/>
            <a:ext cx="12192000" cy="1470025"/>
          </a:xfrm>
        </p:spPr>
        <p:txBody>
          <a:bodyPr/>
          <a:lstStyle/>
          <a:p>
            <a:pPr algn="ctr" eaLnBrk="1" hangingPunct="1"/>
            <a:r>
              <a:rPr lang="zh-CN" altLang="en-US" sz="4000" b="1" dirty="0">
                <a:solidFill>
                  <a:srgbClr val="515223"/>
                </a:solidFill>
                <a:latin typeface="+mn-lt"/>
                <a:ea typeface="+mn-ea"/>
                <a:cs typeface="+mn-ea"/>
                <a:sym typeface="+mn-lt"/>
              </a:rPr>
              <a:t>人工智能</a:t>
            </a:r>
            <a:endParaRPr lang="en-US" sz="3600" dirty="0">
              <a:latin typeface="+mn-lt"/>
              <a:ea typeface="+mn-ea"/>
              <a:cs typeface="+mn-ea"/>
              <a:sym typeface="+mn-lt"/>
            </a:endParaRPr>
          </a:p>
        </p:txBody>
      </p:sp>
      <p:sp>
        <p:nvSpPr>
          <p:cNvPr id="5123" name="Rectangle 6"/>
          <p:cNvSpPr>
            <a:spLocks noGrp="1" noChangeArrowheads="1"/>
          </p:cNvSpPr>
          <p:nvPr>
            <p:ph type="subTitle" idx="1"/>
          </p:nvPr>
        </p:nvSpPr>
        <p:spPr>
          <a:xfrm>
            <a:off x="0" y="2108200"/>
            <a:ext cx="12192000" cy="1524000"/>
          </a:xfrm>
        </p:spPr>
        <p:txBody>
          <a:bodyPr>
            <a:normAutofit/>
          </a:bodyPr>
          <a:lstStyle/>
          <a:p>
            <a:pPr eaLnBrk="1" hangingPunct="1"/>
            <a:r>
              <a:rPr lang="en-US" altLang="zh-CN" sz="4000" b="1" dirty="0">
                <a:latin typeface="+mn-lt"/>
                <a:cs typeface="+mn-ea"/>
                <a:sym typeface="+mn-lt"/>
              </a:rPr>
              <a:t>Beyond Classical Search</a:t>
            </a:r>
            <a:endParaRPr lang="en-US" sz="4000" b="1" dirty="0">
              <a:latin typeface="+mn-lt"/>
              <a:cs typeface="+mn-ea"/>
              <a:sym typeface="+mn-lt"/>
            </a:endParaRPr>
          </a:p>
        </p:txBody>
      </p:sp>
      <p:sp>
        <p:nvSpPr>
          <p:cNvPr id="5124" name="Text Box 7"/>
          <p:cNvSpPr txBox="1">
            <a:spLocks noChangeArrowheads="1"/>
          </p:cNvSpPr>
          <p:nvPr/>
        </p:nvSpPr>
        <p:spPr bwMode="auto">
          <a:xfrm>
            <a:off x="1524000" y="6248402"/>
            <a:ext cx="5867400" cy="461663"/>
          </a:xfrm>
          <a:prstGeom prst="rect">
            <a:avLst/>
          </a:prstGeom>
          <a:noFill/>
          <a:ln w="9525">
            <a:noFill/>
            <a:miter lim="800000"/>
          </a:ln>
        </p:spPr>
        <p:txBody>
          <a:bodyPr lIns="91439" tIns="45719" rIns="91439" bIns="45719">
            <a:spAutoFit/>
          </a:bodyPr>
          <a:lstStyle/>
          <a:p>
            <a:pPr>
              <a:spcBef>
                <a:spcPct val="50000"/>
              </a:spcBef>
            </a:pPr>
            <a:endParaRPr lang="en-US" sz="2400">
              <a:cs typeface="+mn-ea"/>
              <a:sym typeface="+mn-lt"/>
            </a:endParaRPr>
          </a:p>
        </p:txBody>
      </p:sp>
      <p:pic>
        <p:nvPicPr>
          <p:cNvPr id="4" name="Picture 2">
            <a:extLst>
              <a:ext uri="{FF2B5EF4-FFF2-40B4-BE49-F238E27FC236}">
                <a16:creationId xmlns:a16="http://schemas.microsoft.com/office/drawing/2014/main" id="{64CF6536-FDBB-0C59-F153-EDD0FB6AD3A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412146" y="2762418"/>
            <a:ext cx="7010399" cy="3511382"/>
          </a:xfrm>
          <a:prstGeom prst="rect">
            <a:avLst/>
          </a:prstGeom>
          <a:noFill/>
        </p:spPr>
      </p:pic>
      <p:sp>
        <p:nvSpPr>
          <p:cNvPr id="6" name="Rectangle 6">
            <a:extLst>
              <a:ext uri="{FF2B5EF4-FFF2-40B4-BE49-F238E27FC236}">
                <a16:creationId xmlns:a16="http://schemas.microsoft.com/office/drawing/2014/main" id="{1C2E0464-80B3-4464-A01E-F6191AC3E351}"/>
              </a:ext>
            </a:extLst>
          </p:cNvPr>
          <p:cNvSpPr txBox="1">
            <a:spLocks noChangeArrowheads="1"/>
          </p:cNvSpPr>
          <p:nvPr/>
        </p:nvSpPr>
        <p:spPr>
          <a:xfrm>
            <a:off x="0" y="1427330"/>
            <a:ext cx="12192000" cy="1524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Wingdings" panose="05000000000000000000" pitchFamily="2" charset="2"/>
              <a:buNone/>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4000" b="1">
                <a:latin typeface="+mn-lt"/>
                <a:cs typeface="+mn-ea"/>
                <a:sym typeface="+mn-lt"/>
              </a:rPr>
              <a:t>超越经典搜索</a:t>
            </a:r>
            <a:endParaRPr lang="en-US" sz="4000" b="1" dirty="0">
              <a:latin typeface="+mn-l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sz="3600" dirty="0">
                <a:latin typeface="+mn-lt"/>
                <a:ea typeface="+mn-ea"/>
                <a:cs typeface="+mn-ea"/>
                <a:sym typeface="+mn-lt"/>
              </a:rPr>
              <a:t>树搜索</a:t>
            </a:r>
          </a:p>
        </p:txBody>
      </p:sp>
      <p:sp>
        <p:nvSpPr>
          <p:cNvPr id="5" name="Text Box 194">
            <a:extLst>
              <a:ext uri="{FF2B5EF4-FFF2-40B4-BE49-F238E27FC236}">
                <a16:creationId xmlns:a16="http://schemas.microsoft.com/office/drawing/2014/main" id="{C68587E2-5A6E-4EC0-9923-94A8AE1A1745}"/>
              </a:ext>
            </a:extLst>
          </p:cNvPr>
          <p:cNvSpPr txBox="1">
            <a:spLocks noChangeArrowheads="1"/>
          </p:cNvSpPr>
          <p:nvPr/>
        </p:nvSpPr>
        <p:spPr bwMode="auto">
          <a:xfrm>
            <a:off x="3992884" y="1564764"/>
            <a:ext cx="2778755"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cs typeface="+mn-ea"/>
                <a:sym typeface="+mn-lt"/>
              </a:rPr>
              <a:t>无信息树搜索</a:t>
            </a:r>
          </a:p>
        </p:txBody>
      </p:sp>
      <p:sp>
        <p:nvSpPr>
          <p:cNvPr id="6" name="Text Box 194">
            <a:extLst>
              <a:ext uri="{FF2B5EF4-FFF2-40B4-BE49-F238E27FC236}">
                <a16:creationId xmlns:a16="http://schemas.microsoft.com/office/drawing/2014/main" id="{AAA6BE1B-08AA-495D-B63C-94D185FC7603}"/>
              </a:ext>
            </a:extLst>
          </p:cNvPr>
          <p:cNvSpPr txBox="1">
            <a:spLocks noChangeArrowheads="1"/>
          </p:cNvSpPr>
          <p:nvPr/>
        </p:nvSpPr>
        <p:spPr bwMode="auto">
          <a:xfrm>
            <a:off x="2871668" y="2569429"/>
            <a:ext cx="1360452"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cs typeface="+mn-ea"/>
                <a:sym typeface="+mn-lt"/>
              </a:rPr>
              <a:t>最浅的</a:t>
            </a:r>
          </a:p>
        </p:txBody>
      </p:sp>
      <p:sp>
        <p:nvSpPr>
          <p:cNvPr id="7" name="Text Box 194">
            <a:extLst>
              <a:ext uri="{FF2B5EF4-FFF2-40B4-BE49-F238E27FC236}">
                <a16:creationId xmlns:a16="http://schemas.microsoft.com/office/drawing/2014/main" id="{4AFBE4E1-86B8-42AC-836F-46C368181FB5}"/>
              </a:ext>
            </a:extLst>
          </p:cNvPr>
          <p:cNvSpPr txBox="1">
            <a:spLocks noChangeArrowheads="1"/>
          </p:cNvSpPr>
          <p:nvPr/>
        </p:nvSpPr>
        <p:spPr bwMode="auto">
          <a:xfrm>
            <a:off x="4335280" y="2569428"/>
            <a:ext cx="1360452"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cs typeface="+mn-ea"/>
                <a:sym typeface="+mn-lt"/>
              </a:rPr>
              <a:t>最深的</a:t>
            </a:r>
          </a:p>
        </p:txBody>
      </p:sp>
      <p:sp>
        <p:nvSpPr>
          <p:cNvPr id="8" name="Text Box 194">
            <a:extLst>
              <a:ext uri="{FF2B5EF4-FFF2-40B4-BE49-F238E27FC236}">
                <a16:creationId xmlns:a16="http://schemas.microsoft.com/office/drawing/2014/main" id="{1D95F17E-8580-4BBA-AAA0-19DAC549188A}"/>
              </a:ext>
            </a:extLst>
          </p:cNvPr>
          <p:cNvSpPr txBox="1">
            <a:spLocks noChangeArrowheads="1"/>
          </p:cNvSpPr>
          <p:nvPr/>
        </p:nvSpPr>
        <p:spPr bwMode="auto">
          <a:xfrm>
            <a:off x="5904450" y="2569428"/>
            <a:ext cx="1360452"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cs typeface="+mn-ea"/>
                <a:sym typeface="+mn-lt"/>
              </a:rPr>
              <a:t>最便宜</a:t>
            </a:r>
          </a:p>
        </p:txBody>
      </p:sp>
      <p:sp>
        <p:nvSpPr>
          <p:cNvPr id="9" name="Text Box 194">
            <a:extLst>
              <a:ext uri="{FF2B5EF4-FFF2-40B4-BE49-F238E27FC236}">
                <a16:creationId xmlns:a16="http://schemas.microsoft.com/office/drawing/2014/main" id="{B9CAB4F8-6E7A-4842-A91C-2458509E68B8}"/>
              </a:ext>
            </a:extLst>
          </p:cNvPr>
          <p:cNvSpPr txBox="1">
            <a:spLocks noChangeArrowheads="1"/>
          </p:cNvSpPr>
          <p:nvPr/>
        </p:nvSpPr>
        <p:spPr bwMode="auto">
          <a:xfrm>
            <a:off x="3721085" y="3228946"/>
            <a:ext cx="584382" cy="1938988"/>
          </a:xfrm>
          <a:prstGeom prst="rect">
            <a:avLst/>
          </a:prstGeom>
          <a:noFill/>
          <a:ln w="9525">
            <a:noFill/>
            <a:miter lim="800000"/>
          </a:ln>
        </p:spPr>
        <p:txBody>
          <a:bodyPr wrap="square" lIns="91432" tIns="45718" rIns="91432" bIns="45718">
            <a:spAutoFit/>
          </a:bodyPr>
          <a:lstStyle/>
          <a:p>
            <a:pPr>
              <a:spcBef>
                <a:spcPct val="50000"/>
              </a:spcBef>
            </a:pPr>
            <a:r>
              <a:rPr lang="en-US" sz="2000" b="1" i="1" dirty="0">
                <a:cs typeface="+mn-ea"/>
                <a:sym typeface="+mn-lt"/>
              </a:rPr>
              <a:t>广度优先搜索</a:t>
            </a:r>
          </a:p>
        </p:txBody>
      </p:sp>
      <p:sp>
        <p:nvSpPr>
          <p:cNvPr id="10" name="Text Box 194">
            <a:extLst>
              <a:ext uri="{FF2B5EF4-FFF2-40B4-BE49-F238E27FC236}">
                <a16:creationId xmlns:a16="http://schemas.microsoft.com/office/drawing/2014/main" id="{CEB99555-9887-41DF-B5A1-409A3CEFEE1F}"/>
              </a:ext>
            </a:extLst>
          </p:cNvPr>
          <p:cNvSpPr txBox="1">
            <a:spLocks noChangeArrowheads="1"/>
          </p:cNvSpPr>
          <p:nvPr/>
        </p:nvSpPr>
        <p:spPr bwMode="auto">
          <a:xfrm>
            <a:off x="5065699" y="3228947"/>
            <a:ext cx="584382" cy="1938988"/>
          </a:xfrm>
          <a:prstGeom prst="rect">
            <a:avLst/>
          </a:prstGeom>
          <a:noFill/>
          <a:ln w="9525">
            <a:noFill/>
            <a:miter lim="800000"/>
          </a:ln>
        </p:spPr>
        <p:txBody>
          <a:bodyPr wrap="square" lIns="91432" tIns="45718" rIns="91432" bIns="45718">
            <a:spAutoFit/>
          </a:bodyPr>
          <a:lstStyle/>
          <a:p>
            <a:pPr>
              <a:spcBef>
                <a:spcPct val="50000"/>
              </a:spcBef>
            </a:pPr>
            <a:r>
              <a:rPr lang="en-US" sz="2000" b="1" i="1" dirty="0">
                <a:cs typeface="+mn-ea"/>
                <a:sym typeface="+mn-lt"/>
              </a:rPr>
              <a:t>深度优先搜索</a:t>
            </a:r>
          </a:p>
        </p:txBody>
      </p:sp>
      <p:sp>
        <p:nvSpPr>
          <p:cNvPr id="11" name="Text Box 194">
            <a:extLst>
              <a:ext uri="{FF2B5EF4-FFF2-40B4-BE49-F238E27FC236}">
                <a16:creationId xmlns:a16="http://schemas.microsoft.com/office/drawing/2014/main" id="{16E8B93A-5CE4-4A2E-8024-1F98E83D7B77}"/>
              </a:ext>
            </a:extLst>
          </p:cNvPr>
          <p:cNvSpPr txBox="1">
            <a:spLocks noChangeArrowheads="1"/>
          </p:cNvSpPr>
          <p:nvPr/>
        </p:nvSpPr>
        <p:spPr bwMode="auto">
          <a:xfrm>
            <a:off x="6463884" y="3260675"/>
            <a:ext cx="981507"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cs typeface="+mn-ea"/>
                <a:sym typeface="+mn-lt"/>
              </a:rPr>
              <a:t>统一码</a:t>
            </a:r>
          </a:p>
        </p:txBody>
      </p:sp>
      <p:cxnSp>
        <p:nvCxnSpPr>
          <p:cNvPr id="3" name="直接箭头连接符 2">
            <a:extLst>
              <a:ext uri="{FF2B5EF4-FFF2-40B4-BE49-F238E27FC236}">
                <a16:creationId xmlns:a16="http://schemas.microsoft.com/office/drawing/2014/main" id="{A1DC4E8A-F109-4485-B1D0-D16C4B5D30FE}"/>
              </a:ext>
            </a:extLst>
          </p:cNvPr>
          <p:cNvCxnSpPr>
            <a:cxnSpLocks/>
            <a:stCxn id="5" idx="2"/>
            <a:endCxn id="10" idx="0"/>
          </p:cNvCxnSpPr>
          <p:nvPr/>
        </p:nvCxnSpPr>
        <p:spPr>
          <a:xfrm flipH="1">
            <a:off x="5357890" y="1964869"/>
            <a:ext cx="24372" cy="1264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6C2B5C1-B06C-4CF2-98FD-6C9643E3BC36}"/>
              </a:ext>
            </a:extLst>
          </p:cNvPr>
          <p:cNvCxnSpPr>
            <a:cxnSpLocks/>
          </p:cNvCxnSpPr>
          <p:nvPr/>
        </p:nvCxnSpPr>
        <p:spPr>
          <a:xfrm>
            <a:off x="4013277" y="2424332"/>
            <a:ext cx="295960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914AB530-B26F-40AD-942E-FB2A7166A0E8}"/>
              </a:ext>
            </a:extLst>
          </p:cNvPr>
          <p:cNvCxnSpPr>
            <a:cxnSpLocks/>
          </p:cNvCxnSpPr>
          <p:nvPr/>
        </p:nvCxnSpPr>
        <p:spPr>
          <a:xfrm flipH="1">
            <a:off x="4017965" y="2419642"/>
            <a:ext cx="2" cy="8046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83822556-5987-4116-8D44-F7E522580293}"/>
              </a:ext>
            </a:extLst>
          </p:cNvPr>
          <p:cNvCxnSpPr>
            <a:cxnSpLocks/>
          </p:cNvCxnSpPr>
          <p:nvPr/>
        </p:nvCxnSpPr>
        <p:spPr>
          <a:xfrm>
            <a:off x="6968197" y="2410264"/>
            <a:ext cx="0" cy="8946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连接符: 曲线 25">
            <a:extLst>
              <a:ext uri="{FF2B5EF4-FFF2-40B4-BE49-F238E27FC236}">
                <a16:creationId xmlns:a16="http://schemas.microsoft.com/office/drawing/2014/main" id="{34F2829A-26AD-4351-B575-1DE6C471796A}"/>
              </a:ext>
            </a:extLst>
          </p:cNvPr>
          <p:cNvCxnSpPr>
            <a:cxnSpLocks/>
            <a:stCxn id="11" idx="2"/>
            <a:endCxn id="9" idx="2"/>
          </p:cNvCxnSpPr>
          <p:nvPr/>
        </p:nvCxnSpPr>
        <p:spPr>
          <a:xfrm rot="5400000">
            <a:off x="4730380" y="2943676"/>
            <a:ext cx="1507154" cy="2941362"/>
          </a:xfrm>
          <a:prstGeom prst="curvedConnector3">
            <a:avLst>
              <a:gd name="adj1" fmla="val 115168"/>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4" name="Text Box 194">
            <a:extLst>
              <a:ext uri="{FF2B5EF4-FFF2-40B4-BE49-F238E27FC236}">
                <a16:creationId xmlns:a16="http://schemas.microsoft.com/office/drawing/2014/main" id="{6FE9B18F-DB83-4116-B015-4E1F8287481D}"/>
              </a:ext>
            </a:extLst>
          </p:cNvPr>
          <p:cNvSpPr txBox="1">
            <a:spLocks noChangeArrowheads="1"/>
          </p:cNvSpPr>
          <p:nvPr/>
        </p:nvSpPr>
        <p:spPr bwMode="auto">
          <a:xfrm>
            <a:off x="6584676" y="4634002"/>
            <a:ext cx="1553727"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cs typeface="+mn-ea"/>
                <a:sym typeface="+mn-lt"/>
              </a:rPr>
              <a:t>全部成本=1</a:t>
            </a:r>
          </a:p>
        </p:txBody>
      </p:sp>
      <p:cxnSp>
        <p:nvCxnSpPr>
          <p:cNvPr id="32" name="直接箭头连接符 31">
            <a:extLst>
              <a:ext uri="{FF2B5EF4-FFF2-40B4-BE49-F238E27FC236}">
                <a16:creationId xmlns:a16="http://schemas.microsoft.com/office/drawing/2014/main" id="{28EFE96D-264D-4574-8FAE-DDF001342F30}"/>
              </a:ext>
            </a:extLst>
          </p:cNvPr>
          <p:cNvCxnSpPr>
            <a:stCxn id="9" idx="3"/>
            <a:endCxn id="10" idx="1"/>
          </p:cNvCxnSpPr>
          <p:nvPr/>
        </p:nvCxnSpPr>
        <p:spPr>
          <a:xfrm>
            <a:off x="4305467" y="4198440"/>
            <a:ext cx="760232" cy="1"/>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 Box 194">
            <a:extLst>
              <a:ext uri="{FF2B5EF4-FFF2-40B4-BE49-F238E27FC236}">
                <a16:creationId xmlns:a16="http://schemas.microsoft.com/office/drawing/2014/main" id="{905F249A-B606-4687-8C49-1A4939D247EB}"/>
              </a:ext>
            </a:extLst>
          </p:cNvPr>
          <p:cNvSpPr txBox="1">
            <a:spLocks noChangeArrowheads="1"/>
          </p:cNvSpPr>
          <p:nvPr/>
        </p:nvSpPr>
        <p:spPr bwMode="auto">
          <a:xfrm>
            <a:off x="4247514" y="3660780"/>
            <a:ext cx="1456138" cy="400105"/>
          </a:xfrm>
          <a:prstGeom prst="rect">
            <a:avLst/>
          </a:prstGeom>
          <a:noFill/>
          <a:ln w="9525">
            <a:noFill/>
            <a:miter lim="800000"/>
          </a:ln>
        </p:spPr>
        <p:txBody>
          <a:bodyPr wrap="square" lIns="91432" tIns="45718" rIns="91432" bIns="45718">
            <a:spAutoFit/>
          </a:bodyPr>
          <a:lstStyle/>
          <a:p>
            <a:pPr>
              <a:spcBef>
                <a:spcPct val="50000"/>
              </a:spcBef>
            </a:pPr>
            <a:r>
              <a:rPr lang="en-US" sz="2000" b="1" i="1" dirty="0">
                <a:cs typeface="+mn-ea"/>
                <a:sym typeface="+mn-lt"/>
              </a:rPr>
              <a:t>时空</a:t>
            </a:r>
          </a:p>
        </p:txBody>
      </p:sp>
    </p:spTree>
    <p:extLst>
      <p:ext uri="{BB962C8B-B14F-4D97-AF65-F5344CB8AC3E}">
        <p14:creationId xmlns:p14="http://schemas.microsoft.com/office/powerpoint/2010/main" val="897296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9A843-D829-49C2-A01A-4B7D9BD528C1}"/>
              </a:ext>
            </a:extLst>
          </p:cNvPr>
          <p:cNvSpPr>
            <a:spLocks noGrp="1"/>
          </p:cNvSpPr>
          <p:nvPr>
            <p:ph type="title"/>
          </p:nvPr>
        </p:nvSpPr>
        <p:spPr>
          <a:xfrm>
            <a:off x="1091255" y="237834"/>
            <a:ext cx="8168208" cy="790865"/>
          </a:xfrm>
        </p:spPr>
        <p:txBody>
          <a:bodyPr/>
          <a:lstStyle/>
          <a:p>
            <a:r>
              <a:rPr lang="zh-CN" altLang="en-US" sz="3600" dirty="0">
                <a:latin typeface="+mn-lt"/>
                <a:ea typeface="+mn-ea"/>
                <a:cs typeface="+mn-ea"/>
                <a:sym typeface="+mn-lt"/>
              </a:rPr>
              <a:t>信息已知</a:t>
            </a:r>
            <a:r>
              <a:rPr lang="en-US" altLang="zh-CN" sz="3600" dirty="0">
                <a:latin typeface="+mn-lt"/>
                <a:ea typeface="+mn-ea"/>
                <a:cs typeface="+mn-ea"/>
                <a:sym typeface="+mn-lt"/>
              </a:rPr>
              <a:t>vs. 无知</a:t>
            </a:r>
            <a:endParaRPr lang="zh-CN" altLang="en-US" dirty="0">
              <a:latin typeface="+mn-lt"/>
              <a:ea typeface="+mn-ea"/>
              <a:cs typeface="+mn-ea"/>
              <a:sym typeface="+mn-lt"/>
            </a:endParaRPr>
          </a:p>
        </p:txBody>
      </p:sp>
      <p:sp>
        <p:nvSpPr>
          <p:cNvPr id="5" name="灯片编号占位符 4">
            <a:extLst>
              <a:ext uri="{FF2B5EF4-FFF2-40B4-BE49-F238E27FC236}">
                <a16:creationId xmlns:a16="http://schemas.microsoft.com/office/drawing/2014/main" id="{75A21381-93E7-4696-AA8D-3C561D27722F}"/>
              </a:ext>
            </a:extLst>
          </p:cNvPr>
          <p:cNvSpPr>
            <a:spLocks noGrp="1"/>
          </p:cNvSpPr>
          <p:nvPr>
            <p:ph type="sldNum" sz="quarter" idx="12"/>
          </p:nvPr>
        </p:nvSpPr>
        <p:spPr>
          <a:xfrm>
            <a:off x="8746825" y="635634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5AB8F-1C56-49E9-90C8-78D22B0C1B97}" type="slidenum">
              <a:rPr kumimoji="0" lang="zh-CN" altLang="en-US" sz="1200" b="0" i="0" u="none" strike="noStrike" kern="1200" cap="none" spc="0" normalizeH="0" baseline="0" noProof="0" smtClean="0">
                <a:ln>
                  <a:noFill/>
                </a:ln>
                <a:solidFill>
                  <a:srgbClr val="000000"/>
                </a:solidFill>
                <a:effectLst/>
                <a:uLnTx/>
                <a:uFillTx/>
                <a:latin typeface="Arial" panose="020B0604020202020204"/>
                <a:ea typeface="微软雅黑"/>
                <a:cs typeface="+mn-ea"/>
                <a:sym typeface="+mn-lt"/>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srgbClr val="000000"/>
              </a:solidFill>
              <a:effectLst/>
              <a:uLnTx/>
              <a:uFillTx/>
              <a:latin typeface="Arial" panose="020B0604020202020204"/>
              <a:ea typeface="微软雅黑"/>
              <a:cs typeface="+mn-ea"/>
              <a:sym typeface="+mn-lt"/>
            </a:endParaRPr>
          </a:p>
        </p:txBody>
      </p:sp>
      <p:sp>
        <p:nvSpPr>
          <p:cNvPr id="8" name="Rectangle 3">
            <a:extLst>
              <a:ext uri="{FF2B5EF4-FFF2-40B4-BE49-F238E27FC236}">
                <a16:creationId xmlns:a16="http://schemas.microsoft.com/office/drawing/2014/main" id="{CFD40B1F-FA0B-5CA6-2C14-DF3A0AE48B78}"/>
              </a:ext>
            </a:extLst>
          </p:cNvPr>
          <p:cNvSpPr txBox="1">
            <a:spLocks/>
          </p:cNvSpPr>
          <p:nvPr/>
        </p:nvSpPr>
        <p:spPr>
          <a:xfrm>
            <a:off x="1158281" y="1476325"/>
            <a:ext cx="9875438" cy="45615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无知：完全不清楚一个状态距离目标有多近。</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已知：一些关于一个状态距离目标有多近的线索</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贪心最佳优先搜索</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altLang="zh-CN" sz="2000" b="0" i="1"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f(n) = h(n)</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altLang="zh-CN" sz="2000" b="0" i="1"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h(n) = 从n到目标的估计成本</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a:t>
            </a:r>
            <a:r>
              <a:rPr kumimoji="0" lang="en-US" altLang="zh-CN" sz="2000" b="0" i="0" u="none" strike="noStrike" kern="1200" cap="none" spc="0" normalizeH="0" baseline="30000" noProof="0" dirty="0">
                <a:ln>
                  <a:noFill/>
                </a:ln>
                <a:solidFill>
                  <a:srgbClr val="000000"/>
                </a:solidFill>
                <a:effectLst/>
                <a:uLnTx/>
                <a:uFillTx/>
                <a:latin typeface="Arial" panose="020B0604020202020204"/>
                <a:ea typeface="微软雅黑"/>
                <a:cs typeface="+mn-ea"/>
                <a:sym typeface="+mn-lt"/>
              </a:rPr>
              <a:t>*</a:t>
            </a: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搜索</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US" altLang="zh-CN" sz="2000" b="0" i="1"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f(n) = g(n) + h(n)</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altLang="zh-CN" sz="2000" b="0" i="1"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g(n) = 到达n为止的当前成本</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h(n) = 从n到目标的估计成本</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f(n) = 通过n到达目标的路径的预计总成本</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altLang="zh-CN" sz="2000" b="0" i="0" u="none" strike="noStrike" kern="1200" cap="none" spc="0" normalizeH="0" baseline="0" noProof="0" dirty="0">
              <a:ln>
                <a:noFill/>
              </a:ln>
              <a:solidFill>
                <a:srgbClr val="0070C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66369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9A843-D829-49C2-A01A-4B7D9BD528C1}"/>
              </a:ext>
            </a:extLst>
          </p:cNvPr>
          <p:cNvSpPr>
            <a:spLocks noGrp="1"/>
          </p:cNvSpPr>
          <p:nvPr>
            <p:ph type="title"/>
          </p:nvPr>
        </p:nvSpPr>
        <p:spPr>
          <a:xfrm>
            <a:off x="1091255" y="237834"/>
            <a:ext cx="8168208" cy="790865"/>
          </a:xfrm>
        </p:spPr>
        <p:txBody>
          <a:bodyPr>
            <a:normAutofit/>
          </a:bodyPr>
          <a:lstStyle/>
          <a:p>
            <a:r>
              <a:rPr lang="en-US" altLang="zh-CN" sz="3600" dirty="0" err="1">
                <a:latin typeface="+mn-lt"/>
                <a:ea typeface="+mn-ea"/>
                <a:cs typeface="+mn-ea"/>
                <a:sym typeface="+mn-lt"/>
              </a:rPr>
              <a:t>比较</a:t>
            </a:r>
            <a:endParaRPr lang="zh-CN" altLang="en-US" dirty="0">
              <a:latin typeface="+mn-lt"/>
              <a:ea typeface="+mn-ea"/>
              <a:cs typeface="+mn-ea"/>
              <a:sym typeface="+mn-lt"/>
            </a:endParaRPr>
          </a:p>
        </p:txBody>
      </p:sp>
      <p:sp>
        <p:nvSpPr>
          <p:cNvPr id="5" name="灯片编号占位符 4">
            <a:extLst>
              <a:ext uri="{FF2B5EF4-FFF2-40B4-BE49-F238E27FC236}">
                <a16:creationId xmlns:a16="http://schemas.microsoft.com/office/drawing/2014/main" id="{75A21381-93E7-4696-AA8D-3C561D27722F}"/>
              </a:ext>
            </a:extLst>
          </p:cNvPr>
          <p:cNvSpPr>
            <a:spLocks noGrp="1"/>
          </p:cNvSpPr>
          <p:nvPr>
            <p:ph type="sldNum" sz="quarter" idx="12"/>
          </p:nvPr>
        </p:nvSpPr>
        <p:spPr>
          <a:xfrm>
            <a:off x="8746825" y="635634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15AB8F-1C56-49E9-90C8-78D22B0C1B97}" type="slidenum">
              <a:rPr kumimoji="0" lang="zh-CN" altLang="en-US" sz="1200" b="0" i="0" u="none" strike="noStrike" kern="1200" cap="none" spc="0" normalizeH="0" baseline="0" noProof="0" smtClean="0">
                <a:ln>
                  <a:noFill/>
                </a:ln>
                <a:solidFill>
                  <a:srgbClr val="000000"/>
                </a:solidFill>
                <a:effectLst/>
                <a:uLnTx/>
                <a:uFillTx/>
                <a:latin typeface="Arial" panose="020B0604020202020204"/>
                <a:ea typeface="微软雅黑"/>
                <a:cs typeface="+mn-ea"/>
                <a:sym typeface="+mn-lt"/>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srgbClr val="000000"/>
              </a:solidFill>
              <a:effectLst/>
              <a:uLnTx/>
              <a:uFillTx/>
              <a:latin typeface="Arial" panose="020B0604020202020204"/>
              <a:ea typeface="微软雅黑"/>
              <a:cs typeface="+mn-ea"/>
              <a:sym typeface="+mn-lt"/>
            </a:endParaRPr>
          </a:p>
        </p:txBody>
      </p:sp>
      <p:pic>
        <p:nvPicPr>
          <p:cNvPr id="7" name="图片 6">
            <a:extLst>
              <a:ext uri="{FF2B5EF4-FFF2-40B4-BE49-F238E27FC236}">
                <a16:creationId xmlns:a16="http://schemas.microsoft.com/office/drawing/2014/main" id="{92D4635A-93BE-444D-9432-B6EDBB15E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421" y="1836231"/>
            <a:ext cx="10800225" cy="2627917"/>
          </a:xfrm>
          <a:prstGeom prst="rect">
            <a:avLst/>
          </a:prstGeom>
        </p:spPr>
      </p:pic>
    </p:spTree>
    <p:extLst>
      <p:ext uri="{BB962C8B-B14F-4D97-AF65-F5344CB8AC3E}">
        <p14:creationId xmlns:p14="http://schemas.microsoft.com/office/powerpoint/2010/main" val="3717582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zh-CN" altLang="en-US" dirty="0">
                <a:latin typeface="+mn-lt"/>
                <a:ea typeface="+mn-ea"/>
                <a:cs typeface="+mn-ea"/>
                <a:sym typeface="+mn-lt"/>
              </a:rPr>
              <a:t>今日内容</a:t>
            </a:r>
            <a:endParaRPr lang="en-US" dirty="0">
              <a:latin typeface="+mn-lt"/>
              <a:ea typeface="+mn-ea"/>
              <a:cs typeface="+mn-ea"/>
              <a:sym typeface="+mn-lt"/>
            </a:endParaRPr>
          </a:p>
        </p:txBody>
      </p:sp>
      <p:pic>
        <p:nvPicPr>
          <p:cNvPr id="5" name="图片 4"/>
          <p:cNvPicPr>
            <a:picLocks noChangeAspect="1"/>
          </p:cNvPicPr>
          <p:nvPr/>
        </p:nvPicPr>
        <p:blipFill>
          <a:blip r:embed="rId3"/>
          <a:stretch>
            <a:fillRect/>
          </a:stretch>
        </p:blipFill>
        <p:spPr>
          <a:xfrm>
            <a:off x="8353334" y="3367469"/>
            <a:ext cx="3669255" cy="3136221"/>
          </a:xfrm>
          <a:prstGeom prst="rect">
            <a:avLst/>
          </a:prstGeom>
        </p:spPr>
      </p:pic>
      <p:pic>
        <p:nvPicPr>
          <p:cNvPr id="2" name="图片 1"/>
          <p:cNvPicPr>
            <a:picLocks noChangeAspect="1"/>
          </p:cNvPicPr>
          <p:nvPr/>
        </p:nvPicPr>
        <p:blipFill>
          <a:blip r:embed="rId4"/>
          <a:stretch>
            <a:fillRect/>
          </a:stretch>
        </p:blipFill>
        <p:spPr>
          <a:xfrm>
            <a:off x="5635453" y="3838695"/>
            <a:ext cx="2238845" cy="2193768"/>
          </a:xfrm>
          <a:prstGeom prst="rect">
            <a:avLst/>
          </a:prstGeom>
        </p:spPr>
      </p:pic>
      <p:pic>
        <p:nvPicPr>
          <p:cNvPr id="7" name="Picture 4"/>
          <p:cNvPicPr>
            <a:picLocks noChangeAspect="1" noChangeArrowheads="1"/>
          </p:cNvPicPr>
          <p:nvPr/>
        </p:nvPicPr>
        <p:blipFill>
          <a:blip r:embed="rId5" cstate="print">
            <a:clrChange>
              <a:clrFrom>
                <a:srgbClr val="FFFFFF"/>
              </a:clrFrom>
              <a:clrTo>
                <a:srgbClr val="FFFFFF">
                  <a:alpha val="0"/>
                </a:srgbClr>
              </a:clrTo>
            </a:clrChange>
          </a:blip>
          <a:srcRect r="21803"/>
          <a:stretch>
            <a:fillRect/>
          </a:stretch>
        </p:blipFill>
        <p:spPr bwMode="auto">
          <a:xfrm>
            <a:off x="374888" y="3444259"/>
            <a:ext cx="4993369" cy="3136221"/>
          </a:xfrm>
          <a:prstGeom prst="rect">
            <a:avLst/>
          </a:prstGeom>
          <a:noFill/>
          <a:ln w="9525">
            <a:noFill/>
            <a:miter lim="800000"/>
            <a:headEnd/>
            <a:tailEnd/>
          </a:ln>
        </p:spPr>
      </p:pic>
      <p:sp>
        <p:nvSpPr>
          <p:cNvPr id="8" name="Rectangle 3">
            <a:extLst>
              <a:ext uri="{FF2B5EF4-FFF2-40B4-BE49-F238E27FC236}">
                <a16:creationId xmlns:a16="http://schemas.microsoft.com/office/drawing/2014/main" id="{239D052F-EADC-4A1E-ADC7-EBF269A3F4D9}"/>
              </a:ext>
            </a:extLst>
          </p:cNvPr>
          <p:cNvSpPr txBox="1">
            <a:spLocks noChangeArrowheads="1"/>
          </p:cNvSpPr>
          <p:nvPr/>
        </p:nvSpPr>
        <p:spPr>
          <a:xfrm>
            <a:off x="900953" y="1241332"/>
            <a:ext cx="10642600" cy="22029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3600">
                <a:solidFill>
                  <a:srgbClr val="515223"/>
                </a:solidFill>
                <a:latin typeface="+mn-lt"/>
                <a:cs typeface="+mn-ea"/>
                <a:sym typeface="+mn-lt"/>
              </a:rPr>
              <a:t>超越经典搜索</a:t>
            </a:r>
            <a:endParaRPr lang="en-US" sz="3600">
              <a:solidFill>
                <a:srgbClr val="515223"/>
              </a:solidFill>
              <a:latin typeface="+mn-lt"/>
              <a:cs typeface="+mn-ea"/>
              <a:sym typeface="+mn-lt"/>
            </a:endParaRPr>
          </a:p>
          <a:p>
            <a:pPr lvl="1"/>
            <a:r>
              <a:rPr lang="en-US" altLang="zh-CN" sz="3200">
                <a:latin typeface="+mn-lt"/>
                <a:cs typeface="+mn-ea"/>
                <a:sym typeface="+mn-lt"/>
              </a:rPr>
              <a:t>局部搜索算法与优化问题</a:t>
            </a:r>
            <a:endParaRPr lang="en-US" altLang="zh-CN">
              <a:latin typeface="+mn-lt"/>
              <a:cs typeface="+mn-ea"/>
              <a:sym typeface="+mn-lt"/>
            </a:endParaRPr>
          </a:p>
          <a:p>
            <a:pPr lvl="1"/>
            <a:r>
              <a:rPr lang="en-US" altLang="zh-CN" sz="3200">
                <a:latin typeface="+mn-lt"/>
                <a:cs typeface="+mn-ea"/>
                <a:sym typeface="+mn-lt"/>
              </a:rPr>
              <a:t>连续空间中的局部搜索</a:t>
            </a:r>
            <a:endParaRPr lang="en-US" sz="3200">
              <a:latin typeface="+mn-lt"/>
              <a:cs typeface="+mn-ea"/>
              <a:sym typeface="+mn-lt"/>
            </a:endParaRPr>
          </a:p>
          <a:p>
            <a:pPr marL="914353" lvl="2" indent="0">
              <a:buFont typeface="Arial" panose="020B0604020202020204" pitchFamily="34" charset="0"/>
              <a:buNone/>
            </a:pPr>
            <a:endParaRPr lang="en-US" sz="2800">
              <a:latin typeface="+mn-lt"/>
              <a:cs typeface="+mn-ea"/>
              <a:sym typeface="+mn-lt"/>
            </a:endParaRPr>
          </a:p>
          <a:p>
            <a:pPr lvl="1"/>
            <a:endParaRPr lang="en-US" sz="3200">
              <a:latin typeface="+mn-lt"/>
              <a:cs typeface="+mn-ea"/>
              <a:sym typeface="+mn-lt"/>
            </a:endParaRPr>
          </a:p>
          <a:p>
            <a:endParaRPr lang="en-US" sz="3600">
              <a:latin typeface="+mn-lt"/>
              <a:cs typeface="+mn-ea"/>
              <a:sym typeface="+mn-lt"/>
            </a:endParaRPr>
          </a:p>
          <a:p>
            <a:endParaRPr lang="en-US" sz="3600" dirty="0">
              <a:latin typeface="+mn-l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mn-lt"/>
                <a:ea typeface="+mn-ea"/>
                <a:cs typeface="+mn-ea"/>
                <a:sym typeface="+mn-lt"/>
              </a:rPr>
              <a:t>局部</a:t>
            </a:r>
            <a:r>
              <a:rPr lang="en-US" altLang="zh-CN" sz="3600" dirty="0" err="1">
                <a:latin typeface="+mn-lt"/>
                <a:ea typeface="+mn-ea"/>
                <a:cs typeface="+mn-ea"/>
                <a:sym typeface="+mn-lt"/>
              </a:rPr>
              <a:t>搜索</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5" y="1217706"/>
            <a:ext cx="10858500" cy="5003800"/>
          </a:xfrm>
        </p:spPr>
        <p:txBody>
          <a:bodyPr/>
          <a:lstStyle/>
          <a:p>
            <a:pPr>
              <a:lnSpc>
                <a:spcPct val="100000"/>
              </a:lnSpc>
            </a:pPr>
            <a:r>
              <a:rPr lang="en-US" altLang="zh-CN" sz="2800" b="1" dirty="0">
                <a:solidFill>
                  <a:srgbClr val="515223"/>
                </a:solidFill>
                <a:latin typeface="+mn-lt"/>
                <a:cs typeface="+mn-ea"/>
                <a:sym typeface="+mn-lt"/>
              </a:rPr>
              <a:t>局部搜索算法</a:t>
            </a:r>
            <a:r>
              <a:rPr lang="en-US" altLang="zh-CN" sz="2800" dirty="0">
                <a:solidFill>
                  <a:srgbClr val="515223"/>
                </a:solidFill>
                <a:latin typeface="+mn-lt"/>
                <a:cs typeface="+mn-ea"/>
                <a:sym typeface="+mn-lt"/>
              </a:rPr>
              <a:t>通过从起始状态搜索到相邻状态来运行，而不记录路径，也不记录已访问过的状态集合。</a:t>
            </a:r>
          </a:p>
          <a:p>
            <a:pPr>
              <a:lnSpc>
                <a:spcPct val="100000"/>
              </a:lnSpc>
            </a:pPr>
            <a:r>
              <a:rPr lang="en-US" altLang="zh-CN" sz="2800" dirty="0">
                <a:solidFill>
                  <a:srgbClr val="515223"/>
                </a:solidFill>
                <a:latin typeface="+mn-lt"/>
                <a:cs typeface="+mn-ea"/>
                <a:sym typeface="+mn-lt"/>
              </a:rPr>
              <a:t>两个优势：</a:t>
            </a:r>
          </a:p>
          <a:p>
            <a:pPr lvl="1">
              <a:lnSpc>
                <a:spcPct val="100000"/>
              </a:lnSpc>
            </a:pPr>
            <a:r>
              <a:rPr lang="en-US" altLang="zh-CN" sz="2400" dirty="0">
                <a:latin typeface="+mn-lt"/>
                <a:cs typeface="+mn-ea"/>
                <a:sym typeface="+mn-lt"/>
              </a:rPr>
              <a:t>通常只使用很少的内存</a:t>
            </a:r>
          </a:p>
          <a:p>
            <a:pPr lvl="1">
              <a:lnSpc>
                <a:spcPct val="100000"/>
              </a:lnSpc>
            </a:pPr>
            <a:r>
              <a:rPr lang="en-US" altLang="zh-CN" sz="2400" dirty="0">
                <a:latin typeface="+mn-lt"/>
                <a:cs typeface="+mn-ea"/>
                <a:sym typeface="+mn-lt"/>
              </a:rPr>
              <a:t>能在大型状态空间中找到合理的解决方案</a:t>
            </a:r>
            <a:endParaRPr lang="zh-CN" altLang="en-US" dirty="0">
              <a:latin typeface="+mn-lt"/>
              <a:cs typeface="+mn-ea"/>
              <a:sym typeface="+mn-lt"/>
            </a:endParaRPr>
          </a:p>
        </p:txBody>
      </p:sp>
    </p:spTree>
    <p:extLst>
      <p:ext uri="{BB962C8B-B14F-4D97-AF65-F5344CB8AC3E}">
        <p14:creationId xmlns:p14="http://schemas.microsoft.com/office/powerpoint/2010/main" val="436104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局部搜索算法</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5" y="1217706"/>
            <a:ext cx="10858500" cy="5003800"/>
          </a:xfrm>
        </p:spPr>
        <p:txBody>
          <a:bodyPr/>
          <a:lstStyle/>
          <a:p>
            <a:r>
              <a:rPr lang="en-US" altLang="zh-CN" sz="2800" dirty="0">
                <a:solidFill>
                  <a:srgbClr val="515223"/>
                </a:solidFill>
                <a:latin typeface="+mn-lt"/>
                <a:cs typeface="+mn-ea"/>
                <a:sym typeface="+mn-lt"/>
              </a:rPr>
              <a:t>爬山搜索</a:t>
            </a:r>
          </a:p>
          <a:p>
            <a:r>
              <a:rPr lang="en-US" altLang="zh-CN" sz="2800" dirty="0">
                <a:solidFill>
                  <a:srgbClr val="515223"/>
                </a:solidFill>
                <a:latin typeface="+mn-lt"/>
                <a:cs typeface="+mn-ea"/>
                <a:sym typeface="+mn-lt"/>
              </a:rPr>
              <a:t>模拟退火</a:t>
            </a:r>
          </a:p>
          <a:p>
            <a:r>
              <a:rPr lang="en-US" altLang="zh-CN" sz="2800" dirty="0">
                <a:solidFill>
                  <a:srgbClr val="515223"/>
                </a:solidFill>
                <a:latin typeface="+mn-lt"/>
                <a:cs typeface="+mn-ea"/>
                <a:sym typeface="+mn-lt"/>
              </a:rPr>
              <a:t>局部束搜索</a:t>
            </a:r>
          </a:p>
          <a:p>
            <a:r>
              <a:rPr lang="en-US" altLang="zh-CN" sz="2800" dirty="0">
                <a:solidFill>
                  <a:srgbClr val="515223"/>
                </a:solidFill>
                <a:latin typeface="+mn-lt"/>
                <a:cs typeface="+mn-ea"/>
                <a:sym typeface="+mn-lt"/>
              </a:rPr>
              <a:t>遗传算法</a:t>
            </a:r>
            <a:endParaRPr lang="zh-CN" altLang="en-US" dirty="0">
              <a:solidFill>
                <a:srgbClr val="515223"/>
              </a:solidFill>
              <a:latin typeface="+mn-lt"/>
              <a:cs typeface="+mn-ea"/>
              <a:sym typeface="+mn-lt"/>
            </a:endParaRPr>
          </a:p>
        </p:txBody>
      </p:sp>
      <p:sp>
        <p:nvSpPr>
          <p:cNvPr id="6" name="内容占位符 2">
            <a:extLst>
              <a:ext uri="{FF2B5EF4-FFF2-40B4-BE49-F238E27FC236}">
                <a16:creationId xmlns:a16="http://schemas.microsoft.com/office/drawing/2014/main" id="{7326C65A-3554-4419-A2C3-1BD11975452E}"/>
              </a:ext>
            </a:extLst>
          </p:cNvPr>
          <p:cNvSpPr txBox="1">
            <a:spLocks/>
          </p:cNvSpPr>
          <p:nvPr/>
        </p:nvSpPr>
        <p:spPr>
          <a:xfrm>
            <a:off x="3475226" y="1217706"/>
            <a:ext cx="4362488" cy="5003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solidFill>
                  <a:srgbClr val="515223"/>
                </a:solidFill>
                <a:latin typeface="+mn-lt"/>
                <a:cs typeface="+mn-ea"/>
                <a:sym typeface="+mn-lt"/>
              </a:rPr>
              <a:t>Hill-climbing search</a:t>
            </a:r>
          </a:p>
          <a:p>
            <a:r>
              <a:rPr lang="en-US" altLang="zh-CN">
                <a:solidFill>
                  <a:srgbClr val="515223"/>
                </a:solidFill>
                <a:latin typeface="+mn-lt"/>
                <a:cs typeface="+mn-ea"/>
                <a:sym typeface="+mn-lt"/>
              </a:rPr>
              <a:t>Simulated annealing</a:t>
            </a:r>
          </a:p>
          <a:p>
            <a:r>
              <a:rPr lang="en-US" altLang="zh-CN">
                <a:solidFill>
                  <a:srgbClr val="515223"/>
                </a:solidFill>
                <a:latin typeface="+mn-lt"/>
                <a:cs typeface="+mn-ea"/>
                <a:sym typeface="+mn-lt"/>
              </a:rPr>
              <a:t>Local beam search</a:t>
            </a:r>
          </a:p>
          <a:p>
            <a:r>
              <a:rPr lang="en-US" altLang="zh-CN">
                <a:solidFill>
                  <a:srgbClr val="515223"/>
                </a:solidFill>
                <a:latin typeface="+mn-lt"/>
                <a:cs typeface="+mn-ea"/>
                <a:sym typeface="+mn-lt"/>
              </a:rPr>
              <a:t>Genetic algorithms</a:t>
            </a:r>
            <a:endParaRPr lang="zh-CN" altLang="en-US" dirty="0">
              <a:solidFill>
                <a:srgbClr val="515223"/>
              </a:solidFill>
              <a:latin typeface="+mn-lt"/>
              <a:cs typeface="+mn-ea"/>
              <a:sym typeface="+mn-lt"/>
            </a:endParaRPr>
          </a:p>
        </p:txBody>
      </p:sp>
    </p:spTree>
    <p:extLst>
      <p:ext uri="{BB962C8B-B14F-4D97-AF65-F5344CB8AC3E}">
        <p14:creationId xmlns:p14="http://schemas.microsoft.com/office/powerpoint/2010/main" val="4281245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2819400"/>
            <a:ext cx="12192000" cy="1143000"/>
          </a:xfrm>
        </p:spPr>
        <p:txBody>
          <a:bodyPr>
            <a:normAutofit/>
          </a:bodyPr>
          <a:lstStyle/>
          <a:p>
            <a:pPr algn="ctr"/>
            <a:r>
              <a:rPr lang="zh-CN" altLang="en-US" sz="4400" dirty="0">
                <a:latin typeface="+mn-lt"/>
                <a:ea typeface="+mn-ea"/>
                <a:cs typeface="+mn-ea"/>
                <a:sym typeface="+mn-lt"/>
              </a:rPr>
              <a:t>爬山搜索</a:t>
            </a:r>
          </a:p>
        </p:txBody>
      </p:sp>
    </p:spTree>
    <p:extLst>
      <p:ext uri="{BB962C8B-B14F-4D97-AF65-F5344CB8AC3E}">
        <p14:creationId xmlns:p14="http://schemas.microsoft.com/office/powerpoint/2010/main" val="2829826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爬山搜索</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5" y="1224429"/>
            <a:ext cx="10858500" cy="5003800"/>
          </a:xfrm>
        </p:spPr>
        <p:txBody>
          <a:bodyPr/>
          <a:lstStyle/>
          <a:p>
            <a:r>
              <a:rPr lang="en-US" altLang="zh-CN" sz="2800" dirty="0">
                <a:solidFill>
                  <a:srgbClr val="515223"/>
                </a:solidFill>
                <a:latin typeface="+mn-lt"/>
                <a:cs typeface="+mn-ea"/>
                <a:sym typeface="+mn-lt"/>
              </a:rPr>
              <a:t>如何做</a:t>
            </a:r>
          </a:p>
          <a:p>
            <a:endParaRPr lang="en-US" altLang="zh-CN" dirty="0">
              <a:latin typeface="+mn-lt"/>
              <a:cs typeface="+mn-ea"/>
              <a:sym typeface="+mn-lt"/>
            </a:endParaRPr>
          </a:p>
          <a:p>
            <a:pPr lvl="1"/>
            <a:r>
              <a:rPr lang="en-US" altLang="zh-CN" sz="2400" b="1" dirty="0" err="1">
                <a:latin typeface="+mn-lt"/>
                <a:cs typeface="+mn-ea"/>
                <a:sym typeface="+mn-lt"/>
              </a:rPr>
              <a:t>循环</a:t>
            </a:r>
            <a:r>
              <a:rPr lang="zh-CN" altLang="en-US" sz="2400" b="1" dirty="0">
                <a:latin typeface="+mn-lt"/>
                <a:cs typeface="+mn-ea"/>
                <a:sym typeface="+mn-lt"/>
              </a:rPr>
              <a:t>：</a:t>
            </a:r>
            <a:r>
              <a:rPr lang="en-US" altLang="zh-CN" sz="2400" dirty="0" err="1">
                <a:latin typeface="+mn-lt"/>
                <a:cs typeface="+mn-ea"/>
                <a:sym typeface="+mn-lt"/>
              </a:rPr>
              <a:t>不断朝着</a:t>
            </a:r>
            <a:r>
              <a:rPr lang="zh-CN" altLang="en-US" sz="2400" b="1" dirty="0">
                <a:latin typeface="+mn-lt"/>
                <a:cs typeface="+mn-ea"/>
                <a:sym typeface="+mn-lt"/>
              </a:rPr>
              <a:t>价值增加</a:t>
            </a:r>
            <a:r>
              <a:rPr lang="en-US" altLang="zh-CN" sz="2400" dirty="0" err="1">
                <a:latin typeface="+mn-lt"/>
                <a:cs typeface="+mn-ea"/>
                <a:sym typeface="+mn-lt"/>
              </a:rPr>
              <a:t>方向移动</a:t>
            </a:r>
            <a:endParaRPr lang="en-US" altLang="zh-CN" sz="2400" dirty="0">
              <a:latin typeface="+mn-lt"/>
              <a:cs typeface="+mn-ea"/>
              <a:sym typeface="+mn-lt"/>
            </a:endParaRPr>
          </a:p>
          <a:p>
            <a:pPr lvl="1"/>
            <a:endParaRPr lang="en-US" altLang="zh-CN" dirty="0">
              <a:latin typeface="+mn-lt"/>
              <a:cs typeface="+mn-ea"/>
              <a:sym typeface="+mn-lt"/>
            </a:endParaRPr>
          </a:p>
          <a:p>
            <a:pPr lvl="1"/>
            <a:r>
              <a:rPr lang="en-US" altLang="zh-CN" sz="2400" b="1" dirty="0">
                <a:latin typeface="+mn-lt"/>
                <a:cs typeface="+mn-ea"/>
                <a:sym typeface="+mn-lt"/>
              </a:rPr>
              <a:t>终止：</a:t>
            </a:r>
            <a:r>
              <a:rPr lang="en-US" altLang="zh-CN" sz="2400" dirty="0">
                <a:latin typeface="+mn-lt"/>
                <a:cs typeface="+mn-ea"/>
                <a:sym typeface="+mn-lt"/>
              </a:rPr>
              <a:t>它达到一个“峰值”，此时没有邻居的值更高。</a:t>
            </a:r>
            <a:endParaRPr lang="zh-CN" altLang="en-US" dirty="0">
              <a:latin typeface="+mn-lt"/>
              <a:cs typeface="+mn-ea"/>
              <a:sym typeface="+mn-lt"/>
            </a:endParaRPr>
          </a:p>
        </p:txBody>
      </p:sp>
    </p:spTree>
    <p:extLst>
      <p:ext uri="{BB962C8B-B14F-4D97-AF65-F5344CB8AC3E}">
        <p14:creationId xmlns:p14="http://schemas.microsoft.com/office/powerpoint/2010/main" val="283886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爬山搜索</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5" y="1345453"/>
            <a:ext cx="10076527" cy="5003800"/>
          </a:xfrm>
        </p:spPr>
        <p:txBody>
          <a:bodyPr/>
          <a:lstStyle/>
          <a:p>
            <a:r>
              <a:rPr lang="en-US" altLang="zh-CN" dirty="0" err="1">
                <a:solidFill>
                  <a:srgbClr val="515223"/>
                </a:solidFill>
                <a:cs typeface="+mn-ea"/>
                <a:sym typeface="+mn-lt"/>
              </a:rPr>
              <a:t>爬山算法是一种贪婪的局部搜索</a:t>
            </a:r>
            <a:r>
              <a:rPr lang="en-US" altLang="zh-CN" dirty="0">
                <a:solidFill>
                  <a:srgbClr val="515223"/>
                </a:solidFill>
                <a:cs typeface="+mn-ea"/>
                <a:sym typeface="+mn-lt"/>
              </a:rPr>
              <a:t>。</a:t>
            </a:r>
          </a:p>
          <a:p>
            <a:r>
              <a:rPr lang="en-US" altLang="zh-CN" dirty="0" err="1">
                <a:solidFill>
                  <a:srgbClr val="515223"/>
                </a:solidFill>
                <a:cs typeface="+mn-ea"/>
                <a:sym typeface="+mn-lt"/>
              </a:rPr>
              <a:t>不幸的是，它常常因以下原因而卡住</a:t>
            </a:r>
            <a:r>
              <a:rPr lang="en-US" altLang="zh-CN" dirty="0">
                <a:solidFill>
                  <a:srgbClr val="515223"/>
                </a:solidFill>
                <a:cs typeface="+mn-ea"/>
                <a:sym typeface="+mn-lt"/>
              </a:rPr>
              <a:t>。</a:t>
            </a:r>
          </a:p>
        </p:txBody>
      </p:sp>
      <p:pic>
        <p:nvPicPr>
          <p:cNvPr id="5" name="图片 4">
            <a:extLst>
              <a:ext uri="{FF2B5EF4-FFF2-40B4-BE49-F238E27FC236}">
                <a16:creationId xmlns:a16="http://schemas.microsoft.com/office/drawing/2014/main" id="{1889B8BC-33CB-4950-AD16-8CCE35E7D3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4787" y="2590141"/>
            <a:ext cx="7531487" cy="3829247"/>
          </a:xfrm>
          <a:prstGeom prst="rect">
            <a:avLst/>
          </a:prstGeom>
        </p:spPr>
      </p:pic>
      <p:sp>
        <p:nvSpPr>
          <p:cNvPr id="6" name="矩形 5">
            <a:extLst>
              <a:ext uri="{FF2B5EF4-FFF2-40B4-BE49-F238E27FC236}">
                <a16:creationId xmlns:a16="http://schemas.microsoft.com/office/drawing/2014/main" id="{32DF7D82-109A-4504-91B5-5E28DF16BCE3}"/>
              </a:ext>
            </a:extLst>
          </p:cNvPr>
          <p:cNvSpPr/>
          <p:nvPr/>
        </p:nvSpPr>
        <p:spPr>
          <a:xfrm>
            <a:off x="5208494" y="4849159"/>
            <a:ext cx="640977" cy="64994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6">
            <a:extLst>
              <a:ext uri="{FF2B5EF4-FFF2-40B4-BE49-F238E27FC236}">
                <a16:creationId xmlns:a16="http://schemas.microsoft.com/office/drawing/2014/main" id="{DAD48D57-DD7F-468E-B8D9-725E820BE59A}"/>
              </a:ext>
            </a:extLst>
          </p:cNvPr>
          <p:cNvSpPr/>
          <p:nvPr/>
        </p:nvSpPr>
        <p:spPr>
          <a:xfrm>
            <a:off x="3254188" y="2854512"/>
            <a:ext cx="3957918" cy="2873935"/>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a:extLst>
              <a:ext uri="{FF2B5EF4-FFF2-40B4-BE49-F238E27FC236}">
                <a16:creationId xmlns:a16="http://schemas.microsoft.com/office/drawing/2014/main" id="{5219A822-B568-4173-9E0C-6348A7FB1654}"/>
              </a:ext>
            </a:extLst>
          </p:cNvPr>
          <p:cNvSpPr txBox="1"/>
          <p:nvPr/>
        </p:nvSpPr>
        <p:spPr>
          <a:xfrm>
            <a:off x="4917949" y="4578474"/>
            <a:ext cx="1222066" cy="276999"/>
          </a:xfrm>
          <a:prstGeom prst="rect">
            <a:avLst/>
          </a:prstGeom>
          <a:noFill/>
        </p:spPr>
        <p:txBody>
          <a:bodyPr wrap="none" rtlCol="0">
            <a:spAutoFit/>
          </a:bodyPr>
          <a:lstStyle/>
          <a:p>
            <a:r>
              <a:rPr lang="en-US" altLang="zh-CN" sz="1200" b="1" dirty="0">
                <a:solidFill>
                  <a:srgbClr val="FF0000"/>
                </a:solidFill>
                <a:cs typeface="+mn-ea"/>
                <a:sym typeface="+mn-lt"/>
              </a:rPr>
              <a:t>Local Window</a:t>
            </a:r>
            <a:endParaRPr lang="zh-CN" altLang="en-US" sz="1200" b="1" dirty="0">
              <a:solidFill>
                <a:srgbClr val="FF0000"/>
              </a:solidFill>
              <a:cs typeface="+mn-ea"/>
              <a:sym typeface="+mn-lt"/>
            </a:endParaRPr>
          </a:p>
        </p:txBody>
      </p:sp>
      <p:sp>
        <p:nvSpPr>
          <p:cNvPr id="9" name="文本框 8">
            <a:extLst>
              <a:ext uri="{FF2B5EF4-FFF2-40B4-BE49-F238E27FC236}">
                <a16:creationId xmlns:a16="http://schemas.microsoft.com/office/drawing/2014/main" id="{8A12F132-5397-4F7A-B16A-F815EB6BCB60}"/>
              </a:ext>
            </a:extLst>
          </p:cNvPr>
          <p:cNvSpPr txBox="1"/>
          <p:nvPr/>
        </p:nvSpPr>
        <p:spPr>
          <a:xfrm>
            <a:off x="7257737" y="2915521"/>
            <a:ext cx="1300612" cy="276999"/>
          </a:xfrm>
          <a:prstGeom prst="rect">
            <a:avLst/>
          </a:prstGeom>
          <a:noFill/>
        </p:spPr>
        <p:txBody>
          <a:bodyPr wrap="none" rtlCol="0">
            <a:spAutoFit/>
          </a:bodyPr>
          <a:lstStyle/>
          <a:p>
            <a:r>
              <a:rPr lang="en-US" altLang="zh-CN" sz="1200" b="1" dirty="0">
                <a:solidFill>
                  <a:srgbClr val="00B0F0"/>
                </a:solidFill>
                <a:cs typeface="+mn-ea"/>
                <a:sym typeface="+mn-lt"/>
              </a:rPr>
              <a:t>Global Window</a:t>
            </a:r>
            <a:endParaRPr lang="zh-CN" altLang="en-US" sz="1200" b="1" dirty="0">
              <a:solidFill>
                <a:srgbClr val="00B0F0"/>
              </a:solidFill>
              <a:cs typeface="+mn-ea"/>
              <a:sym typeface="+mn-lt"/>
            </a:endParaRPr>
          </a:p>
        </p:txBody>
      </p:sp>
    </p:spTree>
    <p:extLst>
      <p:ext uri="{BB962C8B-B14F-4D97-AF65-F5344CB8AC3E}">
        <p14:creationId xmlns:p14="http://schemas.microsoft.com/office/powerpoint/2010/main" val="2746891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爬山搜索</a:t>
            </a:r>
            <a:endParaRPr lang="zh-CN" altLang="en-US" dirty="0">
              <a:latin typeface="+mn-lt"/>
              <a:ea typeface="+mn-ea"/>
              <a:cs typeface="+mn-ea"/>
              <a:sym typeface="+mn-lt"/>
            </a:endParaRPr>
          </a:p>
        </p:txBody>
      </p:sp>
      <p:pic>
        <p:nvPicPr>
          <p:cNvPr id="5" name="图片 4">
            <a:extLst>
              <a:ext uri="{FF2B5EF4-FFF2-40B4-BE49-F238E27FC236}">
                <a16:creationId xmlns:a16="http://schemas.microsoft.com/office/drawing/2014/main" id="{1889B8BC-33CB-4950-AD16-8CCE35E7D3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4787" y="2590141"/>
            <a:ext cx="7531487" cy="3829247"/>
          </a:xfrm>
          <a:prstGeom prst="rect">
            <a:avLst/>
          </a:prstGeom>
        </p:spPr>
      </p:pic>
      <p:sp>
        <p:nvSpPr>
          <p:cNvPr id="11" name="文本框 10">
            <a:extLst>
              <a:ext uri="{FF2B5EF4-FFF2-40B4-BE49-F238E27FC236}">
                <a16:creationId xmlns:a16="http://schemas.microsoft.com/office/drawing/2014/main" id="{915C672B-B2D0-4512-BA32-6F9CCCE511C7}"/>
              </a:ext>
            </a:extLst>
          </p:cNvPr>
          <p:cNvSpPr txBox="1"/>
          <p:nvPr/>
        </p:nvSpPr>
        <p:spPr>
          <a:xfrm>
            <a:off x="1255058" y="1306827"/>
            <a:ext cx="9646024" cy="954107"/>
          </a:xfrm>
          <a:prstGeom prst="rect">
            <a:avLst/>
          </a:prstGeom>
          <a:noFill/>
        </p:spPr>
        <p:txBody>
          <a:bodyPr wrap="square">
            <a:spAutoFit/>
          </a:bodyPr>
          <a:lstStyle/>
          <a:p>
            <a:pPr algn="l"/>
            <a:r>
              <a:rPr lang="en-US" altLang="zh-CN" sz="2800" dirty="0" err="1">
                <a:solidFill>
                  <a:srgbClr val="515223"/>
                </a:solidFill>
                <a:cs typeface="+mn-ea"/>
                <a:sym typeface="+mn-lt"/>
              </a:rPr>
              <a:t>局部极大值</a:t>
            </a:r>
            <a:r>
              <a:rPr lang="zh-CN" altLang="en-US" sz="2800" dirty="0">
                <a:solidFill>
                  <a:srgbClr val="515223"/>
                </a:solidFill>
                <a:cs typeface="+mn-ea"/>
                <a:sym typeface="+mn-lt"/>
              </a:rPr>
              <a:t>（</a:t>
            </a:r>
            <a:r>
              <a:rPr lang="en-US" altLang="zh-CN" sz="2800" dirty="0">
                <a:solidFill>
                  <a:srgbClr val="515223"/>
                </a:solidFill>
                <a:cs typeface="+mn-ea"/>
                <a:sym typeface="+mn-lt"/>
              </a:rPr>
              <a:t>local maximum</a:t>
            </a:r>
            <a:r>
              <a:rPr lang="zh-CN" altLang="en-US" sz="2800" dirty="0">
                <a:solidFill>
                  <a:srgbClr val="515223"/>
                </a:solidFill>
                <a:cs typeface="+mn-ea"/>
                <a:sym typeface="+mn-lt"/>
              </a:rPr>
              <a:t>）</a:t>
            </a:r>
            <a:r>
              <a:rPr lang="en-US" altLang="zh-CN" sz="2800" dirty="0">
                <a:solidFill>
                  <a:srgbClr val="515223"/>
                </a:solidFill>
                <a:cs typeface="+mn-ea"/>
                <a:sym typeface="+mn-lt"/>
              </a:rPr>
              <a:t>：</a:t>
            </a:r>
            <a:r>
              <a:rPr lang="en-US" altLang="zh-CN" sz="2800" dirty="0" err="1">
                <a:solidFill>
                  <a:srgbClr val="515223"/>
                </a:solidFill>
                <a:cs typeface="+mn-ea"/>
                <a:sym typeface="+mn-lt"/>
              </a:rPr>
              <a:t>局部极大值是指一个峰值，其高度高于每个相邻状态，但低于全局最大值</a:t>
            </a:r>
            <a:r>
              <a:rPr lang="en-US" altLang="zh-CN" sz="2800" dirty="0">
                <a:solidFill>
                  <a:srgbClr val="515223"/>
                </a:solidFill>
                <a:cs typeface="+mn-ea"/>
                <a:sym typeface="+mn-lt"/>
              </a:rPr>
              <a:t>。</a:t>
            </a:r>
            <a:endParaRPr lang="zh-CN" altLang="en-US" sz="2800" dirty="0">
              <a:solidFill>
                <a:srgbClr val="515223"/>
              </a:solidFill>
              <a:cs typeface="+mn-ea"/>
              <a:sym typeface="+mn-lt"/>
            </a:endParaRPr>
          </a:p>
        </p:txBody>
      </p:sp>
    </p:spTree>
    <p:extLst>
      <p:ext uri="{BB962C8B-B14F-4D97-AF65-F5344CB8AC3E}">
        <p14:creationId xmlns:p14="http://schemas.microsoft.com/office/powerpoint/2010/main" val="3179536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爬山搜索</a:t>
            </a:r>
            <a:endParaRPr lang="zh-CN" altLang="en-US" dirty="0">
              <a:latin typeface="+mn-lt"/>
              <a:ea typeface="+mn-ea"/>
              <a:cs typeface="+mn-ea"/>
              <a:sym typeface="+mn-lt"/>
            </a:endParaRPr>
          </a:p>
        </p:txBody>
      </p:sp>
      <p:pic>
        <p:nvPicPr>
          <p:cNvPr id="5" name="图片 4">
            <a:extLst>
              <a:ext uri="{FF2B5EF4-FFF2-40B4-BE49-F238E27FC236}">
                <a16:creationId xmlns:a16="http://schemas.microsoft.com/office/drawing/2014/main" id="{1889B8BC-33CB-4950-AD16-8CCE35E7D3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4787" y="2590141"/>
            <a:ext cx="7531487" cy="3829247"/>
          </a:xfrm>
          <a:prstGeom prst="rect">
            <a:avLst/>
          </a:prstGeom>
        </p:spPr>
      </p:pic>
      <p:sp>
        <p:nvSpPr>
          <p:cNvPr id="11" name="文本框 10">
            <a:extLst>
              <a:ext uri="{FF2B5EF4-FFF2-40B4-BE49-F238E27FC236}">
                <a16:creationId xmlns:a16="http://schemas.microsoft.com/office/drawing/2014/main" id="{915C672B-B2D0-4512-BA32-6F9CCCE511C7}"/>
              </a:ext>
            </a:extLst>
          </p:cNvPr>
          <p:cNvSpPr txBox="1"/>
          <p:nvPr/>
        </p:nvSpPr>
        <p:spPr>
          <a:xfrm>
            <a:off x="793376" y="1116922"/>
            <a:ext cx="10789024" cy="1384995"/>
          </a:xfrm>
          <a:prstGeom prst="rect">
            <a:avLst/>
          </a:prstGeom>
          <a:noFill/>
        </p:spPr>
        <p:txBody>
          <a:bodyPr wrap="square">
            <a:spAutoFit/>
          </a:bodyPr>
          <a:lstStyle/>
          <a:p>
            <a:r>
              <a:rPr lang="zh-CN" altLang="en-US" sz="2800" dirty="0">
                <a:solidFill>
                  <a:srgbClr val="515223"/>
                </a:solidFill>
                <a:cs typeface="+mn-ea"/>
                <a:sym typeface="+mn-lt"/>
              </a:rPr>
              <a:t>高原（</a:t>
            </a:r>
            <a:r>
              <a:rPr lang="en-US" altLang="zh-CN" sz="2800" dirty="0">
                <a:solidFill>
                  <a:srgbClr val="515223"/>
                </a:solidFill>
                <a:cs typeface="+mn-ea"/>
                <a:sym typeface="+mn-lt"/>
              </a:rPr>
              <a:t>Plateau</a:t>
            </a:r>
            <a:r>
              <a:rPr lang="zh-CN" altLang="en-US" sz="2800" dirty="0">
                <a:solidFill>
                  <a:srgbClr val="515223"/>
                </a:solidFill>
                <a:cs typeface="+mn-ea"/>
                <a:sym typeface="+mn-lt"/>
              </a:rPr>
              <a:t>）</a:t>
            </a:r>
            <a:r>
              <a:rPr lang="en-US" altLang="zh-CN" sz="2800" dirty="0">
                <a:solidFill>
                  <a:srgbClr val="515223"/>
                </a:solidFill>
                <a:cs typeface="+mn-ea"/>
                <a:sym typeface="+mn-lt"/>
              </a:rPr>
              <a:t>: </a:t>
            </a:r>
            <a:r>
              <a:rPr lang="en-US" altLang="zh-CN" sz="2800" dirty="0" err="1">
                <a:solidFill>
                  <a:srgbClr val="515223"/>
                </a:solidFill>
                <a:cs typeface="+mn-ea"/>
                <a:sym typeface="+mn-lt"/>
              </a:rPr>
              <a:t>高原是状态空间中的一片平坦区域。它可能是一个局部的</a:t>
            </a:r>
            <a:r>
              <a:rPr lang="zh-CN" altLang="en-US" sz="2800" dirty="0">
                <a:solidFill>
                  <a:srgbClr val="515223"/>
                </a:solidFill>
                <a:cs typeface="+mn-ea"/>
                <a:sym typeface="+mn-lt"/>
              </a:rPr>
              <a:t>平均</a:t>
            </a:r>
            <a:r>
              <a:rPr lang="en-US" altLang="zh-CN" sz="2800" dirty="0" err="1">
                <a:solidFill>
                  <a:srgbClr val="515223"/>
                </a:solidFill>
                <a:cs typeface="+mn-ea"/>
                <a:sym typeface="+mn-lt"/>
              </a:rPr>
              <a:t>极大值，从这里无法找到任何向上的出路；也可能从这里仍有可能取得进展</a:t>
            </a:r>
            <a:r>
              <a:rPr lang="en-US" altLang="zh-CN" sz="2800" dirty="0">
                <a:solidFill>
                  <a:srgbClr val="515223"/>
                </a:solidFill>
                <a:cs typeface="+mn-ea"/>
                <a:sym typeface="+mn-lt"/>
              </a:rPr>
              <a:t>。</a:t>
            </a:r>
            <a:endParaRPr lang="zh-CN" altLang="en-US" sz="2800" dirty="0">
              <a:solidFill>
                <a:srgbClr val="515223"/>
              </a:solidFill>
              <a:cs typeface="+mn-ea"/>
              <a:sym typeface="+mn-lt"/>
            </a:endParaRPr>
          </a:p>
        </p:txBody>
      </p:sp>
    </p:spTree>
    <p:extLst>
      <p:ext uri="{BB962C8B-B14F-4D97-AF65-F5344CB8AC3E}">
        <p14:creationId xmlns:p14="http://schemas.microsoft.com/office/powerpoint/2010/main" val="232360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爬山搜索</a:t>
            </a:r>
            <a:endParaRPr lang="zh-CN" altLang="en-US" dirty="0">
              <a:latin typeface="+mn-lt"/>
              <a:ea typeface="+mn-ea"/>
              <a:cs typeface="+mn-ea"/>
              <a:sym typeface="+mn-lt"/>
            </a:endParaRPr>
          </a:p>
        </p:txBody>
      </p:sp>
      <p:sp>
        <p:nvSpPr>
          <p:cNvPr id="11" name="文本框 10">
            <a:extLst>
              <a:ext uri="{FF2B5EF4-FFF2-40B4-BE49-F238E27FC236}">
                <a16:creationId xmlns:a16="http://schemas.microsoft.com/office/drawing/2014/main" id="{915C672B-B2D0-4512-BA32-6F9CCCE511C7}"/>
              </a:ext>
            </a:extLst>
          </p:cNvPr>
          <p:cNvSpPr txBox="1"/>
          <p:nvPr/>
        </p:nvSpPr>
        <p:spPr>
          <a:xfrm>
            <a:off x="793376" y="1116922"/>
            <a:ext cx="10789024" cy="954107"/>
          </a:xfrm>
          <a:prstGeom prst="rect">
            <a:avLst/>
          </a:prstGeom>
          <a:noFill/>
        </p:spPr>
        <p:txBody>
          <a:bodyPr wrap="square">
            <a:spAutoFit/>
          </a:bodyPr>
          <a:lstStyle/>
          <a:p>
            <a:r>
              <a:rPr lang="zh-CN" altLang="en-US" sz="2800" b="0" i="0" u="none" strike="noStrike" baseline="0" dirty="0">
                <a:cs typeface="+mn-ea"/>
                <a:sym typeface="+mn-lt"/>
              </a:rPr>
              <a:t>山脊（</a:t>
            </a:r>
            <a:r>
              <a:rPr lang="en-US" altLang="zh-CN" sz="2800" dirty="0">
                <a:cs typeface="+mn-ea"/>
                <a:sym typeface="+mn-lt"/>
              </a:rPr>
              <a:t>Ridges</a:t>
            </a:r>
            <a:r>
              <a:rPr lang="zh-CN" altLang="en-US" sz="2800" b="0" i="0" u="none" strike="noStrike" baseline="0" dirty="0">
                <a:cs typeface="+mn-ea"/>
                <a:sym typeface="+mn-lt"/>
              </a:rPr>
              <a:t>）</a:t>
            </a:r>
            <a:r>
              <a:rPr lang="en-US" altLang="zh-CN" sz="2800" b="0" i="0" u="none" strike="noStrike" baseline="0" dirty="0">
                <a:cs typeface="+mn-ea"/>
                <a:sym typeface="+mn-lt"/>
              </a:rPr>
              <a:t>: </a:t>
            </a:r>
            <a:r>
              <a:rPr lang="en-US" altLang="zh-CN" sz="2800" b="0" i="0" u="none" strike="noStrike" baseline="0" dirty="0" err="1">
                <a:cs typeface="+mn-ea"/>
                <a:sym typeface="+mn-lt"/>
              </a:rPr>
              <a:t>山脊会导致一系列局部最大值，而贪婪算法很难在其中</a:t>
            </a:r>
            <a:r>
              <a:rPr lang="zh-CN" altLang="en-US" sz="2800" b="0" i="0" u="none" strike="noStrike" baseline="0" dirty="0">
                <a:cs typeface="+mn-ea"/>
                <a:sym typeface="+mn-lt"/>
              </a:rPr>
              <a:t>找到方向</a:t>
            </a:r>
            <a:r>
              <a:rPr lang="en-US" altLang="zh-CN" sz="2800" b="0" i="0" u="none" strike="noStrike" baseline="0" dirty="0">
                <a:cs typeface="+mn-ea"/>
                <a:sym typeface="+mn-lt"/>
              </a:rPr>
              <a:t>。</a:t>
            </a:r>
            <a:endParaRPr lang="zh-CN" altLang="en-US" sz="2800" dirty="0">
              <a:cs typeface="+mn-ea"/>
              <a:sym typeface="+mn-lt"/>
            </a:endParaRPr>
          </a:p>
        </p:txBody>
      </p:sp>
      <p:pic>
        <p:nvPicPr>
          <p:cNvPr id="4" name="图片 3">
            <a:extLst>
              <a:ext uri="{FF2B5EF4-FFF2-40B4-BE49-F238E27FC236}">
                <a16:creationId xmlns:a16="http://schemas.microsoft.com/office/drawing/2014/main" id="{14318FAC-0BC4-45FC-80F5-DBE44230BD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8856" y="2417568"/>
            <a:ext cx="5702593" cy="3905451"/>
          </a:xfrm>
          <a:prstGeom prst="rect">
            <a:avLst/>
          </a:prstGeom>
        </p:spPr>
      </p:pic>
    </p:spTree>
    <p:extLst>
      <p:ext uri="{BB962C8B-B14F-4D97-AF65-F5344CB8AC3E}">
        <p14:creationId xmlns:p14="http://schemas.microsoft.com/office/powerpoint/2010/main" val="186594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0D9910-EFF6-4068-AC7D-63A8B6774D02}"/>
              </a:ext>
            </a:extLst>
          </p:cNvPr>
          <p:cNvSpPr>
            <a:spLocks noGrp="1"/>
          </p:cNvSpPr>
          <p:nvPr>
            <p:ph type="title"/>
          </p:nvPr>
        </p:nvSpPr>
        <p:spPr/>
        <p:txBody>
          <a:bodyPr/>
          <a:lstStyle/>
          <a:p>
            <a:r>
              <a:rPr lang="en-US" altLang="zh-CN" sz="3600" dirty="0">
                <a:latin typeface="+mn-lt"/>
                <a:ea typeface="+mn-ea"/>
                <a:cs typeface="+mn-ea"/>
                <a:sym typeface="+mn-lt"/>
              </a:rPr>
              <a:t>RL </a:t>
            </a:r>
            <a:r>
              <a:rPr lang="en-US" altLang="zh-CN" sz="3600" dirty="0" err="1">
                <a:latin typeface="+mn-lt"/>
                <a:ea typeface="+mn-ea"/>
                <a:cs typeface="+mn-ea"/>
                <a:sym typeface="+mn-lt"/>
              </a:rPr>
              <a:t>获图灵奖</a:t>
            </a:r>
            <a:endParaRPr lang="zh-CN" altLang="en-US" dirty="0">
              <a:latin typeface="+mn-lt"/>
              <a:ea typeface="+mn-ea"/>
              <a:cs typeface="+mn-ea"/>
              <a:sym typeface="+mn-lt"/>
            </a:endParaRPr>
          </a:p>
        </p:txBody>
      </p:sp>
      <p:sp>
        <p:nvSpPr>
          <p:cNvPr id="3" name="灯片编号占位符 2">
            <a:extLst>
              <a:ext uri="{FF2B5EF4-FFF2-40B4-BE49-F238E27FC236}">
                <a16:creationId xmlns:a16="http://schemas.microsoft.com/office/drawing/2014/main" id="{F43E1748-F608-4825-B1DF-9E7FBAB22256}"/>
              </a:ext>
            </a:extLst>
          </p:cNvPr>
          <p:cNvSpPr>
            <a:spLocks noGrp="1"/>
          </p:cNvSpPr>
          <p:nvPr>
            <p:ph type="sldNum" sz="quarter" idx="12"/>
          </p:nvPr>
        </p:nvSpPr>
        <p:spPr/>
        <p:txBody>
          <a:bodyPr/>
          <a:lstStyle/>
          <a:p>
            <a:fld id="{2515AB8F-1C56-49E9-90C8-78D22B0C1B97}" type="slidenum">
              <a:rPr lang="zh-CN" altLang="en-US" smtClean="0">
                <a:latin typeface="+mn-lt"/>
                <a:cs typeface="+mn-ea"/>
                <a:sym typeface="+mn-lt"/>
              </a:rPr>
              <a:pPr/>
              <a:t>14</a:t>
            </a:fld>
            <a:endParaRPr lang="zh-CN" altLang="en-US" dirty="0">
              <a:latin typeface="+mn-lt"/>
              <a:cs typeface="+mn-ea"/>
              <a:sym typeface="+mn-lt"/>
            </a:endParaRPr>
          </a:p>
        </p:txBody>
      </p:sp>
      <p:pic>
        <p:nvPicPr>
          <p:cNvPr id="1026" name="Picture 2">
            <a:extLst>
              <a:ext uri="{FF2B5EF4-FFF2-40B4-BE49-F238E27FC236}">
                <a16:creationId xmlns:a16="http://schemas.microsoft.com/office/drawing/2014/main" id="{6450AE14-C53E-43E1-8281-E691327287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6123" y="1068404"/>
            <a:ext cx="4021515" cy="5332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792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爬山搜索</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5" y="1130300"/>
            <a:ext cx="10858500" cy="5003800"/>
          </a:xfrm>
        </p:spPr>
        <p:txBody>
          <a:bodyPr/>
          <a:lstStyle/>
          <a:p>
            <a:pPr algn="l"/>
            <a:r>
              <a:rPr lang="en-US" altLang="zh-CN" sz="2800" dirty="0">
                <a:solidFill>
                  <a:srgbClr val="515223"/>
                </a:solidFill>
                <a:latin typeface="+mn-lt"/>
                <a:cs typeface="+mn-ea"/>
                <a:sym typeface="+mn-lt"/>
              </a:rPr>
              <a:t>8皇后问题的爬山算法：</a:t>
            </a:r>
            <a:r>
              <a:rPr lang="zh-CN" altLang="en-US" dirty="0">
                <a:solidFill>
                  <a:srgbClr val="515223"/>
                </a:solidFill>
                <a:latin typeface="+mn-lt"/>
                <a:cs typeface="+mn-ea"/>
                <a:sym typeface="+mn-lt"/>
              </a:rPr>
              <a:t> </a:t>
            </a:r>
            <a:r>
              <a:rPr lang="en-US" altLang="zh-CN" sz="2800" dirty="0">
                <a:solidFill>
                  <a:srgbClr val="515223"/>
                </a:solidFill>
                <a:latin typeface="+mn-lt"/>
                <a:cs typeface="+mn-ea"/>
                <a:sym typeface="+mn-lt"/>
              </a:rPr>
              <a:t>在国际象棋棋盘上放置8个皇后，使没有一个皇后能攻击到另一个皇后。（</a:t>
            </a:r>
            <a:r>
              <a:rPr lang="en-US" altLang="zh-CN" sz="2800" dirty="0" err="1">
                <a:solidFill>
                  <a:srgbClr val="515223"/>
                </a:solidFill>
                <a:latin typeface="+mn-lt"/>
                <a:cs typeface="+mn-ea"/>
                <a:sym typeface="+mn-lt"/>
              </a:rPr>
              <a:t>皇后可以攻击同一行、同一列或同一对角线上的任何棋子</a:t>
            </a:r>
            <a:r>
              <a:rPr lang="en-US" altLang="zh-CN" sz="2800" dirty="0">
                <a:solidFill>
                  <a:srgbClr val="515223"/>
                </a:solidFill>
                <a:latin typeface="+mn-lt"/>
                <a:cs typeface="+mn-ea"/>
                <a:sym typeface="+mn-lt"/>
              </a:rPr>
              <a:t>。）</a:t>
            </a:r>
            <a:endParaRPr lang="zh-CN" altLang="en-US" dirty="0">
              <a:solidFill>
                <a:srgbClr val="515223"/>
              </a:solidFill>
              <a:latin typeface="+mn-lt"/>
              <a:cs typeface="+mn-ea"/>
              <a:sym typeface="+mn-lt"/>
            </a:endParaRPr>
          </a:p>
        </p:txBody>
      </p:sp>
      <p:pic>
        <p:nvPicPr>
          <p:cNvPr id="4" name="图片 3"/>
          <p:cNvPicPr>
            <a:picLocks noChangeAspect="1"/>
          </p:cNvPicPr>
          <p:nvPr/>
        </p:nvPicPr>
        <p:blipFill>
          <a:blip r:embed="rId3"/>
          <a:stretch>
            <a:fillRect/>
          </a:stretch>
        </p:blipFill>
        <p:spPr>
          <a:xfrm>
            <a:off x="1575547" y="2320379"/>
            <a:ext cx="8814547" cy="3915322"/>
          </a:xfrm>
          <a:prstGeom prst="rect">
            <a:avLst/>
          </a:prstGeom>
        </p:spPr>
      </p:pic>
    </p:spTree>
    <p:extLst>
      <p:ext uri="{BB962C8B-B14F-4D97-AF65-F5344CB8AC3E}">
        <p14:creationId xmlns:p14="http://schemas.microsoft.com/office/powerpoint/2010/main" val="3504613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爬山搜索</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5" y="1130300"/>
            <a:ext cx="10858500" cy="5003800"/>
          </a:xfrm>
        </p:spPr>
        <p:txBody>
          <a:bodyPr/>
          <a:lstStyle/>
          <a:p>
            <a:pPr algn="l"/>
            <a:r>
              <a:rPr lang="en-US" altLang="zh-CN" sz="2800" dirty="0" err="1">
                <a:solidFill>
                  <a:srgbClr val="515223"/>
                </a:solidFill>
                <a:latin typeface="+mn-lt"/>
                <a:cs typeface="+mn-ea"/>
                <a:sym typeface="+mn-lt"/>
              </a:rPr>
              <a:t>从左</a:t>
            </a:r>
            <a:r>
              <a:rPr lang="zh-CN" altLang="en-US" sz="2800" dirty="0">
                <a:solidFill>
                  <a:srgbClr val="515223"/>
                </a:solidFill>
                <a:latin typeface="+mn-lt"/>
                <a:cs typeface="+mn-ea"/>
                <a:sym typeface="+mn-lt"/>
              </a:rPr>
              <a:t>图</a:t>
            </a:r>
            <a:r>
              <a:rPr lang="en-US" altLang="zh-CN" sz="2800" dirty="0" err="1">
                <a:solidFill>
                  <a:srgbClr val="515223"/>
                </a:solidFill>
                <a:latin typeface="+mn-lt"/>
                <a:cs typeface="+mn-ea"/>
                <a:sym typeface="+mn-lt"/>
              </a:rPr>
              <a:t>到右</a:t>
            </a:r>
            <a:r>
              <a:rPr lang="zh-CN" altLang="en-US" sz="2800" dirty="0">
                <a:solidFill>
                  <a:srgbClr val="515223"/>
                </a:solidFill>
                <a:latin typeface="+mn-lt"/>
                <a:cs typeface="+mn-ea"/>
                <a:sym typeface="+mn-lt"/>
              </a:rPr>
              <a:t>图</a:t>
            </a:r>
            <a:r>
              <a:rPr lang="en-US" altLang="zh-CN" sz="2800" dirty="0">
                <a:solidFill>
                  <a:srgbClr val="515223"/>
                </a:solidFill>
                <a:latin typeface="+mn-lt"/>
                <a:cs typeface="+mn-ea"/>
                <a:sym typeface="+mn-lt"/>
              </a:rPr>
              <a:t>：5步，h=1</a:t>
            </a:r>
            <a:endParaRPr lang="zh-CN" altLang="en-US" dirty="0">
              <a:solidFill>
                <a:srgbClr val="515223"/>
              </a:solidFill>
              <a:latin typeface="+mn-lt"/>
              <a:cs typeface="+mn-ea"/>
              <a:sym typeface="+mn-lt"/>
            </a:endParaRPr>
          </a:p>
        </p:txBody>
      </p:sp>
      <p:pic>
        <p:nvPicPr>
          <p:cNvPr id="4" name="图片 3"/>
          <p:cNvPicPr>
            <a:picLocks noChangeAspect="1"/>
          </p:cNvPicPr>
          <p:nvPr/>
        </p:nvPicPr>
        <p:blipFill>
          <a:blip r:embed="rId3"/>
          <a:stretch>
            <a:fillRect/>
          </a:stretch>
        </p:blipFill>
        <p:spPr>
          <a:xfrm>
            <a:off x="1575547" y="2320379"/>
            <a:ext cx="8814547" cy="3915322"/>
          </a:xfrm>
          <a:prstGeom prst="rect">
            <a:avLst/>
          </a:prstGeom>
        </p:spPr>
      </p:pic>
      <p:sp>
        <p:nvSpPr>
          <p:cNvPr id="5" name="矩形 4">
            <a:extLst>
              <a:ext uri="{FF2B5EF4-FFF2-40B4-BE49-F238E27FC236}">
                <a16:creationId xmlns:a16="http://schemas.microsoft.com/office/drawing/2014/main" id="{56DD634C-5928-4659-91DD-EE220CF64DB8}"/>
              </a:ext>
            </a:extLst>
          </p:cNvPr>
          <p:cNvSpPr/>
          <p:nvPr/>
        </p:nvSpPr>
        <p:spPr>
          <a:xfrm>
            <a:off x="8009965" y="3845859"/>
            <a:ext cx="452717" cy="43478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a:extLst>
              <a:ext uri="{FF2B5EF4-FFF2-40B4-BE49-F238E27FC236}">
                <a16:creationId xmlns:a16="http://schemas.microsoft.com/office/drawing/2014/main" id="{793719A5-E271-499E-BDB0-983B5A16A0DE}"/>
              </a:ext>
            </a:extLst>
          </p:cNvPr>
          <p:cNvSpPr/>
          <p:nvPr/>
        </p:nvSpPr>
        <p:spPr>
          <a:xfrm>
            <a:off x="9359153" y="2501153"/>
            <a:ext cx="452717" cy="43478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4226516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2819400"/>
            <a:ext cx="12192000" cy="1143000"/>
          </a:xfrm>
        </p:spPr>
        <p:txBody>
          <a:bodyPr>
            <a:normAutofit/>
          </a:bodyPr>
          <a:lstStyle/>
          <a:p>
            <a:pPr algn="ctr"/>
            <a:r>
              <a:rPr lang="en-US" altLang="zh-CN" sz="4400" dirty="0" err="1">
                <a:latin typeface="+mn-lt"/>
                <a:ea typeface="+mn-ea"/>
                <a:cs typeface="+mn-ea"/>
                <a:sym typeface="+mn-lt"/>
              </a:rPr>
              <a:t>模拟退火</a:t>
            </a:r>
            <a:endParaRPr lang="zh-CN" altLang="en-US" sz="4400" dirty="0">
              <a:latin typeface="+mn-lt"/>
              <a:ea typeface="+mn-ea"/>
              <a:cs typeface="+mn-ea"/>
              <a:sym typeface="+mn-lt"/>
            </a:endParaRPr>
          </a:p>
        </p:txBody>
      </p:sp>
    </p:spTree>
    <p:extLst>
      <p:ext uri="{BB962C8B-B14F-4D97-AF65-F5344CB8AC3E}">
        <p14:creationId xmlns:p14="http://schemas.microsoft.com/office/powerpoint/2010/main" val="3361908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模拟退火</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5" y="1217706"/>
            <a:ext cx="9894992" cy="5003800"/>
          </a:xfrm>
        </p:spPr>
        <p:txBody>
          <a:bodyPr/>
          <a:lstStyle/>
          <a:p>
            <a:r>
              <a:rPr lang="en-US" altLang="zh-CN" sz="2800" dirty="0" err="1">
                <a:solidFill>
                  <a:srgbClr val="515223"/>
                </a:solidFill>
                <a:latin typeface="+mn-lt"/>
                <a:cs typeface="+mn-ea"/>
                <a:sym typeface="+mn-lt"/>
              </a:rPr>
              <a:t>退火</a:t>
            </a:r>
            <a:r>
              <a:rPr lang="en-US" altLang="zh-CN" sz="2800" b="1" dirty="0">
                <a:solidFill>
                  <a:srgbClr val="515223"/>
                </a:solidFill>
                <a:latin typeface="+mn-lt"/>
                <a:cs typeface="+mn-ea"/>
                <a:sym typeface="+mn-lt"/>
              </a:rPr>
              <a:t>: </a:t>
            </a:r>
            <a:r>
              <a:rPr lang="en-US" altLang="zh-CN" sz="2800" dirty="0" err="1">
                <a:solidFill>
                  <a:srgbClr val="515223"/>
                </a:solidFill>
                <a:latin typeface="+mn-lt"/>
                <a:cs typeface="+mn-ea"/>
                <a:sym typeface="+mn-lt"/>
              </a:rPr>
              <a:t>将金属加热到一个</a:t>
            </a:r>
            <a:r>
              <a:rPr lang="en-US" altLang="zh-CN" sz="2800" b="1" dirty="0" err="1">
                <a:solidFill>
                  <a:srgbClr val="515223"/>
                </a:solidFill>
                <a:latin typeface="+mn-lt"/>
                <a:cs typeface="+mn-ea"/>
                <a:sym typeface="+mn-lt"/>
              </a:rPr>
              <a:t>高温</a:t>
            </a:r>
            <a:r>
              <a:rPr lang="en-US" altLang="zh-CN" sz="2800" dirty="0" err="1">
                <a:solidFill>
                  <a:srgbClr val="515223"/>
                </a:solidFill>
                <a:latin typeface="+mn-lt"/>
                <a:cs typeface="+mn-ea"/>
                <a:sym typeface="+mn-lt"/>
              </a:rPr>
              <a:t>然后逐渐</a:t>
            </a:r>
            <a:r>
              <a:rPr lang="zh-CN" altLang="en-US" sz="2800" b="1" dirty="0">
                <a:solidFill>
                  <a:srgbClr val="515223"/>
                </a:solidFill>
                <a:latin typeface="+mn-lt"/>
                <a:cs typeface="+mn-ea"/>
                <a:sym typeface="+mn-lt"/>
              </a:rPr>
              <a:t>冷却</a:t>
            </a:r>
            <a:r>
              <a:rPr lang="en-US" altLang="zh-CN" sz="2800" dirty="0" err="1">
                <a:solidFill>
                  <a:srgbClr val="515223"/>
                </a:solidFill>
                <a:latin typeface="+mn-lt"/>
                <a:cs typeface="+mn-ea"/>
                <a:sym typeface="+mn-lt"/>
              </a:rPr>
              <a:t>它们，从而达到低能晶体状态</a:t>
            </a:r>
            <a:r>
              <a:rPr lang="en-US" altLang="zh-CN" sz="2800" dirty="0">
                <a:solidFill>
                  <a:srgbClr val="515223"/>
                </a:solidFill>
                <a:latin typeface="+mn-lt"/>
                <a:cs typeface="+mn-ea"/>
                <a:sym typeface="+mn-lt"/>
              </a:rPr>
              <a:t>。</a:t>
            </a:r>
            <a:endParaRPr lang="zh-CN" altLang="en-US" dirty="0">
              <a:solidFill>
                <a:srgbClr val="515223"/>
              </a:solidFill>
              <a:latin typeface="+mn-lt"/>
              <a:cs typeface="+mn-ea"/>
              <a:sym typeface="+mn-lt"/>
            </a:endParaRPr>
          </a:p>
        </p:txBody>
      </p:sp>
      <p:pic>
        <p:nvPicPr>
          <p:cNvPr id="1028" name="Picture 4" descr="查看源图像"/>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392079" y="2581835"/>
            <a:ext cx="5407842" cy="3173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457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模拟退火</a:t>
            </a:r>
            <a:endParaRPr lang="zh-CN" altLang="en-US" dirty="0">
              <a:latin typeface="+mn-lt"/>
              <a:ea typeface="+mn-ea"/>
              <a:cs typeface="+mn-ea"/>
              <a:sym typeface="+mn-lt"/>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907" y="967292"/>
            <a:ext cx="6980186" cy="5567724"/>
          </a:xfrm>
          <a:prstGeom prst="rect">
            <a:avLst/>
          </a:prstGeom>
        </p:spPr>
      </p:pic>
    </p:spTree>
    <p:extLst>
      <p:ext uri="{BB962C8B-B14F-4D97-AF65-F5344CB8AC3E}">
        <p14:creationId xmlns:p14="http://schemas.microsoft.com/office/powerpoint/2010/main" val="722263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模拟退火</a:t>
            </a:r>
            <a:endParaRPr lang="zh-CN" altLang="en-US" dirty="0">
              <a:latin typeface="+mn-lt"/>
              <a:ea typeface="+mn-ea"/>
              <a:cs typeface="+mn-ea"/>
              <a:sym typeface="+mn-lt"/>
            </a:endParaRPr>
          </a:p>
        </p:txBody>
      </p:sp>
      <p:sp>
        <p:nvSpPr>
          <p:cNvPr id="4" name="内容占位符 2">
            <a:extLst>
              <a:ext uri="{FF2B5EF4-FFF2-40B4-BE49-F238E27FC236}">
                <a16:creationId xmlns:a16="http://schemas.microsoft.com/office/drawing/2014/main" id="{4013CD94-0A29-4F5D-9BA5-838B224BA7B3}"/>
              </a:ext>
            </a:extLst>
          </p:cNvPr>
          <p:cNvSpPr txBox="1">
            <a:spLocks/>
          </p:cNvSpPr>
          <p:nvPr/>
        </p:nvSpPr>
        <p:spPr>
          <a:xfrm>
            <a:off x="1091255" y="1210982"/>
            <a:ext cx="7737060" cy="27949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err="1">
                <a:solidFill>
                  <a:srgbClr val="515223"/>
                </a:solidFill>
                <a:latin typeface="+mn-lt"/>
                <a:cs typeface="+mn-ea"/>
                <a:sym typeface="+mn-lt"/>
              </a:rPr>
              <a:t>如何做</a:t>
            </a:r>
            <a:endParaRPr lang="en-US" altLang="zh-CN" dirty="0">
              <a:solidFill>
                <a:srgbClr val="515223"/>
              </a:solidFill>
              <a:latin typeface="+mn-lt"/>
              <a:cs typeface="+mn-ea"/>
              <a:sym typeface="+mn-lt"/>
            </a:endParaRPr>
          </a:p>
          <a:p>
            <a:pPr lvl="1"/>
            <a:r>
              <a:rPr lang="zh-CN" altLang="en-US" dirty="0">
                <a:latin typeface="+mn-lt"/>
                <a:cs typeface="+mn-ea"/>
                <a:sym typeface="+mn-lt"/>
              </a:rPr>
              <a:t>采用随机移动，随机选择一个后继</a:t>
            </a:r>
            <a:endParaRPr lang="en-US" altLang="zh-CN" dirty="0">
              <a:latin typeface="+mn-lt"/>
              <a:cs typeface="+mn-ea"/>
              <a:sym typeface="+mn-lt"/>
            </a:endParaRPr>
          </a:p>
          <a:p>
            <a:pPr lvl="1"/>
            <a:r>
              <a:rPr lang="en-US" altLang="zh-CN" dirty="0" err="1">
                <a:latin typeface="+mn-lt"/>
                <a:cs typeface="+mn-ea"/>
                <a:sym typeface="+mn-lt"/>
              </a:rPr>
              <a:t>如果此举能改善局面，它会被接受</a:t>
            </a:r>
            <a:r>
              <a:rPr lang="en-US" altLang="zh-CN" dirty="0">
                <a:latin typeface="+mn-lt"/>
                <a:cs typeface="+mn-ea"/>
                <a:sym typeface="+mn-lt"/>
              </a:rPr>
              <a:t>。</a:t>
            </a:r>
          </a:p>
          <a:p>
            <a:pPr lvl="1"/>
            <a:r>
              <a:rPr lang="en-US" altLang="zh-CN" dirty="0">
                <a:latin typeface="+mn-lt"/>
                <a:cs typeface="+mn-ea"/>
                <a:sym typeface="+mn-lt"/>
              </a:rPr>
              <a:t>否则，该算法会以小于1的概率接受这一移动。</a:t>
            </a:r>
          </a:p>
          <a:p>
            <a:pPr lvl="1"/>
            <a:r>
              <a:rPr lang="en-US" altLang="zh-CN" dirty="0" err="1">
                <a:latin typeface="+mn-lt"/>
                <a:cs typeface="+mn-ea"/>
                <a:sym typeface="+mn-lt"/>
              </a:rPr>
              <a:t>概率随步法“糟糕程度”的增加而呈指数级下降</a:t>
            </a:r>
            <a:r>
              <a:rPr lang="en-US" altLang="zh-CN" dirty="0">
                <a:latin typeface="+mn-lt"/>
                <a:cs typeface="+mn-ea"/>
                <a:sym typeface="+mn-lt"/>
              </a:rPr>
              <a:t>。</a:t>
            </a:r>
          </a:p>
          <a:p>
            <a:pPr lvl="1"/>
            <a:r>
              <a:rPr lang="en-US" altLang="zh-CN" dirty="0" err="1">
                <a:latin typeface="+mn-lt"/>
                <a:cs typeface="+mn-ea"/>
                <a:sym typeface="+mn-lt"/>
              </a:rPr>
              <a:t>随着“温度”T降低，概率也会随之降低</a:t>
            </a:r>
            <a:r>
              <a:rPr lang="en-US" altLang="zh-CN" dirty="0">
                <a:latin typeface="+mn-lt"/>
                <a:cs typeface="+mn-ea"/>
                <a:sym typeface="+mn-lt"/>
              </a:rPr>
              <a:t>。</a:t>
            </a:r>
            <a:endParaRPr lang="zh-CN" altLang="en-US" dirty="0">
              <a:latin typeface="+mn-lt"/>
              <a:cs typeface="+mn-ea"/>
              <a:sym typeface="+mn-lt"/>
            </a:endParaRPr>
          </a:p>
        </p:txBody>
      </p:sp>
    </p:spTree>
    <p:extLst>
      <p:ext uri="{BB962C8B-B14F-4D97-AF65-F5344CB8AC3E}">
        <p14:creationId xmlns:p14="http://schemas.microsoft.com/office/powerpoint/2010/main" val="1208028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模拟退火</a:t>
            </a:r>
            <a:endParaRPr lang="zh-CN" altLang="en-US" dirty="0">
              <a:latin typeface="+mn-lt"/>
              <a:ea typeface="+mn-ea"/>
              <a:cs typeface="+mn-ea"/>
              <a:sym typeface="+mn-lt"/>
            </a:endParaRPr>
          </a:p>
        </p:txBody>
      </p:sp>
      <p:pic>
        <p:nvPicPr>
          <p:cNvPr id="5" name="图片 4"/>
          <p:cNvPicPr>
            <a:picLocks noChangeAspect="1"/>
          </p:cNvPicPr>
          <p:nvPr/>
        </p:nvPicPr>
        <p:blipFill>
          <a:blip r:embed="rId3"/>
          <a:stretch>
            <a:fillRect/>
          </a:stretch>
        </p:blipFill>
        <p:spPr>
          <a:xfrm>
            <a:off x="96808" y="1108651"/>
            <a:ext cx="11998383" cy="5111525"/>
          </a:xfrm>
          <a:prstGeom prst="rect">
            <a:avLst/>
          </a:prstGeom>
        </p:spPr>
      </p:pic>
    </p:spTree>
    <p:extLst>
      <p:ext uri="{BB962C8B-B14F-4D97-AF65-F5344CB8AC3E}">
        <p14:creationId xmlns:p14="http://schemas.microsoft.com/office/powerpoint/2010/main" val="1328436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2819400"/>
            <a:ext cx="12192000" cy="1143000"/>
          </a:xfrm>
        </p:spPr>
        <p:txBody>
          <a:bodyPr>
            <a:normAutofit/>
          </a:bodyPr>
          <a:lstStyle/>
          <a:p>
            <a:pPr algn="ctr"/>
            <a:r>
              <a:rPr lang="en-US" altLang="zh-CN" sz="4400" dirty="0" err="1">
                <a:latin typeface="+mn-lt"/>
                <a:ea typeface="+mn-ea"/>
                <a:cs typeface="+mn-ea"/>
                <a:sym typeface="+mn-lt"/>
              </a:rPr>
              <a:t>局部束搜索</a:t>
            </a:r>
            <a:endParaRPr lang="zh-CN" altLang="en-US" sz="4400" dirty="0">
              <a:latin typeface="+mn-lt"/>
              <a:ea typeface="+mn-ea"/>
              <a:cs typeface="+mn-ea"/>
              <a:sym typeface="+mn-lt"/>
            </a:endParaRPr>
          </a:p>
        </p:txBody>
      </p:sp>
    </p:spTree>
    <p:extLst>
      <p:ext uri="{BB962C8B-B14F-4D97-AF65-F5344CB8AC3E}">
        <p14:creationId xmlns:p14="http://schemas.microsoft.com/office/powerpoint/2010/main" val="2898721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局部束搜索</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5" y="1155700"/>
            <a:ext cx="10858500" cy="5003800"/>
          </a:xfrm>
        </p:spPr>
        <p:txBody>
          <a:bodyPr/>
          <a:lstStyle/>
          <a:p>
            <a:r>
              <a:rPr lang="en-US" altLang="zh-CN" sz="2800" b="1" dirty="0" err="1">
                <a:solidFill>
                  <a:srgbClr val="515223"/>
                </a:solidFill>
                <a:latin typeface="+mn-lt"/>
                <a:cs typeface="+mn-ea"/>
                <a:sym typeface="+mn-lt"/>
              </a:rPr>
              <a:t>内存有限</a:t>
            </a:r>
            <a:endParaRPr lang="en-US" altLang="zh-CN" sz="2800" b="1" dirty="0">
              <a:solidFill>
                <a:srgbClr val="515223"/>
              </a:solidFill>
              <a:latin typeface="+mn-lt"/>
              <a:cs typeface="+mn-ea"/>
              <a:sym typeface="+mn-lt"/>
            </a:endParaRPr>
          </a:p>
          <a:p>
            <a:pPr lvl="1"/>
            <a:r>
              <a:rPr lang="en-US" altLang="zh-CN" sz="2400" dirty="0">
                <a:latin typeface="+mn-lt"/>
                <a:cs typeface="+mn-ea"/>
                <a:sym typeface="+mn-lt"/>
              </a:rPr>
              <a:t>仅在内存中保留一个节点，看似是对内存限制问题的一种极端反应。</a:t>
            </a:r>
          </a:p>
          <a:p>
            <a:endParaRPr lang="en-US" altLang="zh-CN" dirty="0">
              <a:latin typeface="+mn-lt"/>
              <a:cs typeface="+mn-ea"/>
              <a:sym typeface="+mn-lt"/>
            </a:endParaRPr>
          </a:p>
          <a:p>
            <a:r>
              <a:rPr lang="en-US" altLang="zh-CN" sz="2800" b="1" dirty="0">
                <a:solidFill>
                  <a:srgbClr val="515223"/>
                </a:solidFill>
                <a:latin typeface="+mn-lt"/>
                <a:cs typeface="+mn-ea"/>
                <a:sym typeface="+mn-lt"/>
              </a:rPr>
              <a:t>局部束搜索</a:t>
            </a:r>
            <a:r>
              <a:rPr lang="en-US" altLang="zh-CN" sz="2800" dirty="0">
                <a:solidFill>
                  <a:srgbClr val="515223"/>
                </a:solidFill>
                <a:latin typeface="+mn-lt"/>
                <a:cs typeface="+mn-ea"/>
                <a:sym typeface="+mn-lt"/>
              </a:rPr>
              <a:t>算法</a:t>
            </a:r>
          </a:p>
          <a:p>
            <a:pPr lvl="1"/>
            <a:r>
              <a:rPr lang="en-US" altLang="zh-CN" sz="2400" dirty="0">
                <a:latin typeface="+mn-lt"/>
                <a:cs typeface="+mn-ea"/>
                <a:sym typeface="+mn-lt"/>
              </a:rPr>
              <a:t>跟踪k个状态</a:t>
            </a:r>
            <a:endParaRPr lang="zh-CN" altLang="en-US" dirty="0">
              <a:latin typeface="+mn-lt"/>
              <a:cs typeface="+mn-ea"/>
              <a:sym typeface="+mn-lt"/>
            </a:endParaRPr>
          </a:p>
        </p:txBody>
      </p:sp>
      <p:pic>
        <p:nvPicPr>
          <p:cNvPr id="4" name="Picture 2" descr="China DMX512 Control Outdoor Sky Beam Lighting Moving Head Waterproof Sky  Search Light - China Sky Beam Lighting, Sky Searchligh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6163" y="2823882"/>
            <a:ext cx="4546600" cy="3042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444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2" presetClass="entr" presetSubtype="4"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局部束搜索</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5" y="1143747"/>
            <a:ext cx="10056357" cy="5003800"/>
          </a:xfrm>
        </p:spPr>
        <p:txBody>
          <a:bodyPr/>
          <a:lstStyle/>
          <a:p>
            <a:r>
              <a:rPr lang="en-US" altLang="zh-CN" sz="2800" dirty="0">
                <a:solidFill>
                  <a:srgbClr val="515223"/>
                </a:solidFill>
                <a:latin typeface="+mn-lt"/>
                <a:cs typeface="+mn-ea"/>
                <a:sym typeface="+mn-lt"/>
              </a:rPr>
              <a:t>如何做</a:t>
            </a:r>
          </a:p>
          <a:p>
            <a:pPr lvl="1"/>
            <a:r>
              <a:rPr lang="en-US" altLang="zh-CN" sz="2400" dirty="0">
                <a:latin typeface="+mn-lt"/>
                <a:cs typeface="+mn-ea"/>
                <a:sym typeface="+mn-lt"/>
              </a:rPr>
              <a:t>它从k个随机生成的状态开始。</a:t>
            </a:r>
          </a:p>
          <a:p>
            <a:pPr lvl="1"/>
            <a:r>
              <a:rPr lang="en-US" altLang="zh-CN" sz="2400" dirty="0">
                <a:latin typeface="+mn-lt"/>
                <a:cs typeface="+mn-ea"/>
                <a:sym typeface="+mn-lt"/>
              </a:rPr>
              <a:t>在每一步，都会生成所有k个状态的所有后继状态。</a:t>
            </a:r>
          </a:p>
          <a:p>
            <a:pPr lvl="1"/>
            <a:r>
              <a:rPr lang="en-US" altLang="zh-CN" sz="2400" dirty="0">
                <a:latin typeface="+mn-lt"/>
                <a:cs typeface="+mn-ea"/>
                <a:sym typeface="+mn-lt"/>
              </a:rPr>
              <a:t>如果存在任何目标，算法将停止。</a:t>
            </a:r>
          </a:p>
          <a:p>
            <a:pPr lvl="1"/>
            <a:r>
              <a:rPr lang="en-US" altLang="zh-CN" sz="2400" dirty="0">
                <a:latin typeface="+mn-lt"/>
                <a:cs typeface="+mn-ea"/>
                <a:sym typeface="+mn-lt"/>
              </a:rPr>
              <a:t>否则，它会从完整列表中选择前k个最佳后继，并重复此过程。</a:t>
            </a:r>
          </a:p>
          <a:p>
            <a:endParaRPr lang="zh-CN" altLang="en-US" dirty="0">
              <a:latin typeface="+mn-lt"/>
              <a:cs typeface="+mn-ea"/>
              <a:sym typeface="+mn-lt"/>
            </a:endParaRPr>
          </a:p>
        </p:txBody>
      </p:sp>
    </p:spTree>
    <p:extLst>
      <p:ext uri="{BB962C8B-B14F-4D97-AF65-F5344CB8AC3E}">
        <p14:creationId xmlns:p14="http://schemas.microsoft.com/office/powerpoint/2010/main" val="616453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局部束搜索</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5" y="1190812"/>
            <a:ext cx="10076527" cy="5003800"/>
          </a:xfrm>
        </p:spPr>
        <p:txBody>
          <a:bodyPr/>
          <a:lstStyle/>
          <a:p>
            <a:r>
              <a:rPr lang="en-US" altLang="zh-CN" sz="2800" dirty="0">
                <a:solidFill>
                  <a:srgbClr val="515223"/>
                </a:solidFill>
                <a:latin typeface="+mn-lt"/>
                <a:cs typeface="+mn-ea"/>
                <a:sym typeface="+mn-lt"/>
              </a:rPr>
              <a:t>在局部束搜索中，有用的信息会在并行搜索线程之间传递。</a:t>
            </a:r>
          </a:p>
          <a:p>
            <a:pPr lvl="1"/>
            <a:r>
              <a:rPr lang="en-US" altLang="zh-CN" sz="2400" dirty="0">
                <a:latin typeface="+mn-lt"/>
                <a:cs typeface="+mn-ea"/>
                <a:sym typeface="+mn-lt"/>
              </a:rPr>
              <a:t>该算法会迅速放弃无果的搜索，并将资源转移到进展最显著的地方。</a:t>
            </a:r>
          </a:p>
          <a:p>
            <a:pPr marL="0" indent="0">
              <a:buNone/>
            </a:pPr>
            <a:endParaRPr lang="en-US" altLang="zh-CN" dirty="0">
              <a:latin typeface="+mn-lt"/>
              <a:cs typeface="+mn-ea"/>
              <a:sym typeface="+mn-lt"/>
            </a:endParaRPr>
          </a:p>
          <a:p>
            <a:r>
              <a:rPr lang="en-US" altLang="zh-CN" sz="2800" dirty="0">
                <a:solidFill>
                  <a:srgbClr val="515223"/>
                </a:solidFill>
                <a:latin typeface="+mn-lt"/>
                <a:cs typeface="+mn-ea"/>
                <a:sym typeface="+mn-lt"/>
              </a:rPr>
              <a:t>局部束搜索可能会迅速集中于状态空间的一个小区域。</a:t>
            </a:r>
          </a:p>
          <a:p>
            <a:endParaRPr lang="en-US" altLang="zh-CN" dirty="0">
              <a:latin typeface="+mn-lt"/>
              <a:cs typeface="+mn-ea"/>
              <a:sym typeface="+mn-lt"/>
            </a:endParaRPr>
          </a:p>
        </p:txBody>
      </p:sp>
    </p:spTree>
    <p:extLst>
      <p:ext uri="{BB962C8B-B14F-4D97-AF65-F5344CB8AC3E}">
        <p14:creationId xmlns:p14="http://schemas.microsoft.com/office/powerpoint/2010/main" val="1171365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机器翻译中的局部束搜索</a:t>
            </a:r>
            <a:endParaRPr lang="zh-CN" altLang="en-US" dirty="0">
              <a:latin typeface="+mn-lt"/>
              <a:ea typeface="+mn-ea"/>
              <a:cs typeface="+mn-ea"/>
              <a:sym typeface="+mn-lt"/>
            </a:endParaRPr>
          </a:p>
        </p:txBody>
      </p:sp>
      <p:pic>
        <p:nvPicPr>
          <p:cNvPr id="1026" name="Picture 2">
            <a:extLst>
              <a:ext uri="{FF2B5EF4-FFF2-40B4-BE49-F238E27FC236}">
                <a16:creationId xmlns:a16="http://schemas.microsoft.com/office/drawing/2014/main" id="{ACE189FD-2351-4D84-A75A-D0FBC43DC2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165" y="1232087"/>
            <a:ext cx="76200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3008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机器翻译中的局部束搜索</a:t>
            </a:r>
            <a:endParaRPr lang="zh-CN" altLang="en-US" dirty="0">
              <a:latin typeface="+mn-lt"/>
              <a:ea typeface="+mn-ea"/>
              <a:cs typeface="+mn-ea"/>
              <a:sym typeface="+mn-lt"/>
            </a:endParaRPr>
          </a:p>
        </p:txBody>
      </p:sp>
      <p:pic>
        <p:nvPicPr>
          <p:cNvPr id="2050" name="Picture 2">
            <a:extLst>
              <a:ext uri="{FF2B5EF4-FFF2-40B4-BE49-F238E27FC236}">
                <a16:creationId xmlns:a16="http://schemas.microsoft.com/office/drawing/2014/main" id="{6F616F6A-F43E-48BD-82D9-D56C72F046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5823" y="1980266"/>
            <a:ext cx="9514637" cy="3686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56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机器翻译中的局部束搜索</a:t>
            </a:r>
            <a:endParaRPr lang="zh-CN" altLang="en-US" dirty="0">
              <a:latin typeface="+mn-lt"/>
              <a:ea typeface="+mn-ea"/>
              <a:cs typeface="+mn-ea"/>
              <a:sym typeface="+mn-lt"/>
            </a:endParaRPr>
          </a:p>
        </p:txBody>
      </p:sp>
      <p:pic>
        <p:nvPicPr>
          <p:cNvPr id="3080" name="Picture 8">
            <a:extLst>
              <a:ext uri="{FF2B5EF4-FFF2-40B4-BE49-F238E27FC236}">
                <a16:creationId xmlns:a16="http://schemas.microsoft.com/office/drawing/2014/main" id="{2B41F729-9FD3-47FE-B486-867B043AB8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881188"/>
            <a:ext cx="7620000" cy="309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2045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机器翻译中的局部束搜索</a:t>
            </a:r>
            <a:endParaRPr lang="zh-CN" altLang="en-US" dirty="0">
              <a:latin typeface="+mn-lt"/>
              <a:ea typeface="+mn-ea"/>
              <a:cs typeface="+mn-ea"/>
              <a:sym typeface="+mn-lt"/>
            </a:endParaRPr>
          </a:p>
        </p:txBody>
      </p:sp>
      <p:pic>
        <p:nvPicPr>
          <p:cNvPr id="3076" name="Picture 4">
            <a:extLst>
              <a:ext uri="{FF2B5EF4-FFF2-40B4-BE49-F238E27FC236}">
                <a16:creationId xmlns:a16="http://schemas.microsoft.com/office/drawing/2014/main" id="{2343BE76-68F2-40E7-8168-EE01566EE7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6729" y="2029945"/>
            <a:ext cx="7620000" cy="3067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9859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机器翻译中的局部束搜索</a:t>
            </a:r>
            <a:endParaRPr lang="zh-CN" altLang="en-US" dirty="0">
              <a:latin typeface="+mn-lt"/>
              <a:ea typeface="+mn-ea"/>
              <a:cs typeface="+mn-ea"/>
              <a:sym typeface="+mn-lt"/>
            </a:endParaRPr>
          </a:p>
        </p:txBody>
      </p:sp>
      <p:pic>
        <p:nvPicPr>
          <p:cNvPr id="5122" name="Picture 2">
            <a:extLst>
              <a:ext uri="{FF2B5EF4-FFF2-40B4-BE49-F238E27FC236}">
                <a16:creationId xmlns:a16="http://schemas.microsoft.com/office/drawing/2014/main" id="{DCD7566E-1A1F-4033-9B3A-A860862E91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2294" y="1871662"/>
            <a:ext cx="7620000" cy="3114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4204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机器翻译中的局部束搜索</a:t>
            </a:r>
            <a:endParaRPr lang="zh-CN" altLang="en-US" dirty="0">
              <a:latin typeface="+mn-lt"/>
              <a:ea typeface="+mn-ea"/>
              <a:cs typeface="+mn-ea"/>
              <a:sym typeface="+mn-lt"/>
            </a:endParaRPr>
          </a:p>
        </p:txBody>
      </p:sp>
      <p:pic>
        <p:nvPicPr>
          <p:cNvPr id="6146" name="Picture 2">
            <a:extLst>
              <a:ext uri="{FF2B5EF4-FFF2-40B4-BE49-F238E27FC236}">
                <a16:creationId xmlns:a16="http://schemas.microsoft.com/office/drawing/2014/main" id="{922713E0-E235-4B79-927D-83DB79BB1C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700" y="1168488"/>
            <a:ext cx="4747659" cy="4641296"/>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1B2BDF75-9394-4A21-A30F-A4BB28FBE0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6065" y="1544147"/>
            <a:ext cx="4789993" cy="385594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5542FB6C-FC31-473B-A470-6A1A15A68E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7420" y="1662928"/>
            <a:ext cx="4328791" cy="365241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E492E91A-0117-4A03-82F8-C45DCA8B4438}"/>
              </a:ext>
            </a:extLst>
          </p:cNvPr>
          <p:cNvSpPr txBox="1"/>
          <p:nvPr/>
        </p:nvSpPr>
        <p:spPr>
          <a:xfrm>
            <a:off x="1757082" y="5791199"/>
            <a:ext cx="1107996" cy="369332"/>
          </a:xfrm>
          <a:prstGeom prst="rect">
            <a:avLst/>
          </a:prstGeom>
          <a:noFill/>
        </p:spPr>
        <p:txBody>
          <a:bodyPr wrap="none" rtlCol="0">
            <a:spAutoFit/>
          </a:bodyPr>
          <a:lstStyle/>
          <a:p>
            <a:r>
              <a:rPr lang="zh-CN" altLang="en-US" dirty="0">
                <a:cs typeface="+mn-ea"/>
                <a:sym typeface="+mn-lt"/>
              </a:rPr>
              <a:t>贪婪搜索</a:t>
            </a:r>
          </a:p>
        </p:txBody>
      </p:sp>
      <p:sp>
        <p:nvSpPr>
          <p:cNvPr id="8" name="文本框 7">
            <a:extLst>
              <a:ext uri="{FF2B5EF4-FFF2-40B4-BE49-F238E27FC236}">
                <a16:creationId xmlns:a16="http://schemas.microsoft.com/office/drawing/2014/main" id="{ADEAEC3D-0C10-4084-945F-F77861A29C7C}"/>
              </a:ext>
            </a:extLst>
          </p:cNvPr>
          <p:cNvSpPr txBox="1"/>
          <p:nvPr/>
        </p:nvSpPr>
        <p:spPr>
          <a:xfrm>
            <a:off x="7265894" y="5737388"/>
            <a:ext cx="1729961" cy="369332"/>
          </a:xfrm>
          <a:prstGeom prst="rect">
            <a:avLst/>
          </a:prstGeom>
          <a:noFill/>
        </p:spPr>
        <p:txBody>
          <a:bodyPr wrap="none" rtlCol="0">
            <a:spAutoFit/>
          </a:bodyPr>
          <a:lstStyle/>
          <a:p>
            <a:r>
              <a:rPr lang="zh-CN" altLang="en-US" dirty="0">
                <a:cs typeface="+mn-ea"/>
                <a:sym typeface="+mn-lt"/>
              </a:rPr>
              <a:t>束搜索</a:t>
            </a:r>
            <a:r>
              <a:rPr lang="en-US" altLang="zh-CN" dirty="0">
                <a:cs typeface="+mn-ea"/>
                <a:sym typeface="+mn-lt"/>
              </a:rPr>
              <a:t>, </a:t>
            </a:r>
            <a:r>
              <a:rPr lang="zh-CN" altLang="en-US" dirty="0">
                <a:cs typeface="+mn-ea"/>
                <a:sym typeface="+mn-lt"/>
              </a:rPr>
              <a:t>大小</a:t>
            </a:r>
            <a:r>
              <a:rPr lang="en-US" altLang="zh-CN" dirty="0">
                <a:cs typeface="+mn-ea"/>
                <a:sym typeface="+mn-lt"/>
              </a:rPr>
              <a:t>=2</a:t>
            </a:r>
            <a:endParaRPr lang="zh-CN" altLang="en-US" dirty="0">
              <a:cs typeface="+mn-ea"/>
              <a:sym typeface="+mn-lt"/>
            </a:endParaRPr>
          </a:p>
        </p:txBody>
      </p:sp>
      <p:sp>
        <p:nvSpPr>
          <p:cNvPr id="9" name="文本框 8">
            <a:extLst>
              <a:ext uri="{FF2B5EF4-FFF2-40B4-BE49-F238E27FC236}">
                <a16:creationId xmlns:a16="http://schemas.microsoft.com/office/drawing/2014/main" id="{4675B141-070D-40AD-A428-AD031B555CA9}"/>
              </a:ext>
            </a:extLst>
          </p:cNvPr>
          <p:cNvSpPr txBox="1"/>
          <p:nvPr/>
        </p:nvSpPr>
        <p:spPr>
          <a:xfrm>
            <a:off x="1741693" y="844033"/>
            <a:ext cx="883575" cy="369332"/>
          </a:xfrm>
          <a:prstGeom prst="rect">
            <a:avLst/>
          </a:prstGeom>
          <a:noFill/>
        </p:spPr>
        <p:txBody>
          <a:bodyPr wrap="none" rtlCol="0">
            <a:spAutoFit/>
          </a:bodyPr>
          <a:lstStyle/>
          <a:p>
            <a:r>
              <a:rPr lang="en-US" altLang="zh-CN" dirty="0">
                <a:cs typeface="+mn-ea"/>
                <a:sym typeface="+mn-lt"/>
              </a:rPr>
              <a:t>step=1</a:t>
            </a:r>
            <a:endParaRPr lang="zh-CN" altLang="en-US" dirty="0">
              <a:cs typeface="+mn-ea"/>
              <a:sym typeface="+mn-lt"/>
            </a:endParaRPr>
          </a:p>
        </p:txBody>
      </p:sp>
      <p:sp>
        <p:nvSpPr>
          <p:cNvPr id="10" name="文本框 9">
            <a:extLst>
              <a:ext uri="{FF2B5EF4-FFF2-40B4-BE49-F238E27FC236}">
                <a16:creationId xmlns:a16="http://schemas.microsoft.com/office/drawing/2014/main" id="{D3D471BB-C0E3-4C39-B9CE-B4A30EB78FE6}"/>
              </a:ext>
            </a:extLst>
          </p:cNvPr>
          <p:cNvSpPr txBox="1"/>
          <p:nvPr/>
        </p:nvSpPr>
        <p:spPr>
          <a:xfrm>
            <a:off x="2709881" y="844033"/>
            <a:ext cx="883575" cy="369332"/>
          </a:xfrm>
          <a:prstGeom prst="rect">
            <a:avLst/>
          </a:prstGeom>
          <a:noFill/>
        </p:spPr>
        <p:txBody>
          <a:bodyPr wrap="none" rtlCol="0">
            <a:spAutoFit/>
          </a:bodyPr>
          <a:lstStyle/>
          <a:p>
            <a:r>
              <a:rPr lang="en-US" altLang="zh-CN" dirty="0">
                <a:cs typeface="+mn-ea"/>
                <a:sym typeface="+mn-lt"/>
              </a:rPr>
              <a:t>step=2</a:t>
            </a:r>
            <a:endParaRPr lang="zh-CN" altLang="en-US" dirty="0">
              <a:cs typeface="+mn-ea"/>
              <a:sym typeface="+mn-lt"/>
            </a:endParaRPr>
          </a:p>
        </p:txBody>
      </p:sp>
      <p:sp>
        <p:nvSpPr>
          <p:cNvPr id="11" name="文本框 10">
            <a:extLst>
              <a:ext uri="{FF2B5EF4-FFF2-40B4-BE49-F238E27FC236}">
                <a16:creationId xmlns:a16="http://schemas.microsoft.com/office/drawing/2014/main" id="{5FC438D4-E75B-43EF-9BBF-1869A556785C}"/>
              </a:ext>
            </a:extLst>
          </p:cNvPr>
          <p:cNvSpPr txBox="1"/>
          <p:nvPr/>
        </p:nvSpPr>
        <p:spPr>
          <a:xfrm>
            <a:off x="10110246" y="1240885"/>
            <a:ext cx="883575" cy="369332"/>
          </a:xfrm>
          <a:prstGeom prst="rect">
            <a:avLst/>
          </a:prstGeom>
          <a:noFill/>
        </p:spPr>
        <p:txBody>
          <a:bodyPr wrap="none" rtlCol="0">
            <a:spAutoFit/>
          </a:bodyPr>
          <a:lstStyle/>
          <a:p>
            <a:r>
              <a:rPr lang="en-US" altLang="zh-CN" dirty="0">
                <a:cs typeface="+mn-ea"/>
                <a:sym typeface="+mn-lt"/>
              </a:rPr>
              <a:t>step=2</a:t>
            </a:r>
            <a:endParaRPr lang="zh-CN" altLang="en-US" dirty="0">
              <a:cs typeface="+mn-ea"/>
              <a:sym typeface="+mn-lt"/>
            </a:endParaRPr>
          </a:p>
        </p:txBody>
      </p:sp>
      <p:sp>
        <p:nvSpPr>
          <p:cNvPr id="12" name="文本框 11">
            <a:extLst>
              <a:ext uri="{FF2B5EF4-FFF2-40B4-BE49-F238E27FC236}">
                <a16:creationId xmlns:a16="http://schemas.microsoft.com/office/drawing/2014/main" id="{576B9471-91C0-49E2-8154-A587F79E39AA}"/>
              </a:ext>
            </a:extLst>
          </p:cNvPr>
          <p:cNvSpPr txBox="1"/>
          <p:nvPr/>
        </p:nvSpPr>
        <p:spPr>
          <a:xfrm>
            <a:off x="6133068" y="1142902"/>
            <a:ext cx="883575" cy="369332"/>
          </a:xfrm>
          <a:prstGeom prst="rect">
            <a:avLst/>
          </a:prstGeom>
          <a:noFill/>
        </p:spPr>
        <p:txBody>
          <a:bodyPr wrap="none" rtlCol="0">
            <a:spAutoFit/>
          </a:bodyPr>
          <a:lstStyle/>
          <a:p>
            <a:r>
              <a:rPr lang="en-US" altLang="zh-CN" dirty="0">
                <a:cs typeface="+mn-ea"/>
                <a:sym typeface="+mn-lt"/>
              </a:rPr>
              <a:t>step=1</a:t>
            </a:r>
            <a:endParaRPr lang="zh-CN" altLang="en-US" dirty="0">
              <a:cs typeface="+mn-ea"/>
              <a:sym typeface="+mn-lt"/>
            </a:endParaRPr>
          </a:p>
        </p:txBody>
      </p:sp>
      <p:sp>
        <p:nvSpPr>
          <p:cNvPr id="13" name="文本框 12">
            <a:extLst>
              <a:ext uri="{FF2B5EF4-FFF2-40B4-BE49-F238E27FC236}">
                <a16:creationId xmlns:a16="http://schemas.microsoft.com/office/drawing/2014/main" id="{16A3F295-4F40-4A37-AB8F-D16C3288C6C4}"/>
              </a:ext>
            </a:extLst>
          </p:cNvPr>
          <p:cNvSpPr txBox="1"/>
          <p:nvPr/>
        </p:nvSpPr>
        <p:spPr>
          <a:xfrm>
            <a:off x="9226671" y="1240885"/>
            <a:ext cx="883575" cy="369332"/>
          </a:xfrm>
          <a:prstGeom prst="rect">
            <a:avLst/>
          </a:prstGeom>
          <a:noFill/>
        </p:spPr>
        <p:txBody>
          <a:bodyPr wrap="none" rtlCol="0">
            <a:spAutoFit/>
          </a:bodyPr>
          <a:lstStyle/>
          <a:p>
            <a:r>
              <a:rPr lang="en-US" altLang="zh-CN" dirty="0">
                <a:cs typeface="+mn-ea"/>
                <a:sym typeface="+mn-lt"/>
              </a:rPr>
              <a:t>step=1</a:t>
            </a:r>
            <a:endParaRPr lang="zh-CN" altLang="en-US" dirty="0">
              <a:cs typeface="+mn-ea"/>
              <a:sym typeface="+mn-lt"/>
            </a:endParaRPr>
          </a:p>
        </p:txBody>
      </p:sp>
    </p:spTree>
    <p:extLst>
      <p:ext uri="{BB962C8B-B14F-4D97-AF65-F5344CB8AC3E}">
        <p14:creationId xmlns:p14="http://schemas.microsoft.com/office/powerpoint/2010/main" val="117183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458845" y="4225925"/>
            <a:ext cx="95186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28"/>
          <p:cNvSpPr/>
          <p:nvPr/>
        </p:nvSpPr>
        <p:spPr>
          <a:xfrm>
            <a:off x="3458210" y="2004695"/>
            <a:ext cx="95186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p:cNvSpPr/>
          <p:nvPr/>
        </p:nvSpPr>
        <p:spPr>
          <a:xfrm>
            <a:off x="1255395" y="3101340"/>
            <a:ext cx="1366520"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机器翻译中的贪婪搜索</a:t>
            </a:r>
            <a:endParaRPr lang="zh-CN" altLang="en-US" dirty="0">
              <a:latin typeface="+mn-lt"/>
              <a:ea typeface="+mn-ea"/>
              <a:cs typeface="+mn-ea"/>
              <a:sym typeface="+mn-lt"/>
            </a:endParaRPr>
          </a:p>
        </p:txBody>
      </p:sp>
      <p:sp>
        <p:nvSpPr>
          <p:cNvPr id="5" name="文本框 4"/>
          <p:cNvSpPr txBox="1"/>
          <p:nvPr/>
        </p:nvSpPr>
        <p:spPr>
          <a:xfrm>
            <a:off x="1255395" y="3101340"/>
            <a:ext cx="1454785" cy="368300"/>
          </a:xfrm>
          <a:prstGeom prst="rect">
            <a:avLst/>
          </a:prstGeom>
          <a:noFill/>
        </p:spPr>
        <p:txBody>
          <a:bodyPr wrap="square" rtlCol="0">
            <a:spAutoFit/>
          </a:bodyPr>
          <a:lstStyle/>
          <a:p>
            <a:r>
              <a:rPr lang="zh-CN" altLang="en-US">
                <a:cs typeface="+mn-ea"/>
                <a:sym typeface="+mn-lt"/>
              </a:rPr>
              <a:t>我喜欢学习</a:t>
            </a:r>
          </a:p>
        </p:txBody>
      </p:sp>
      <p:sp>
        <p:nvSpPr>
          <p:cNvPr id="6" name="文本框 5"/>
          <p:cNvSpPr txBox="1"/>
          <p:nvPr/>
        </p:nvSpPr>
        <p:spPr>
          <a:xfrm>
            <a:off x="3547110" y="2004060"/>
            <a:ext cx="782320" cy="368300"/>
          </a:xfrm>
          <a:prstGeom prst="rect">
            <a:avLst/>
          </a:prstGeom>
          <a:noFill/>
        </p:spPr>
        <p:txBody>
          <a:bodyPr wrap="square" rtlCol="0">
            <a:spAutoFit/>
          </a:bodyPr>
          <a:lstStyle/>
          <a:p>
            <a:r>
              <a:rPr lang="en-US" altLang="zh-CN">
                <a:cs typeface="+mn-ea"/>
                <a:sym typeface="+mn-lt"/>
              </a:rPr>
              <a:t>I (0.7)</a:t>
            </a:r>
          </a:p>
        </p:txBody>
      </p:sp>
      <p:sp>
        <p:nvSpPr>
          <p:cNvPr id="7" name="文本框 6"/>
          <p:cNvSpPr txBox="1"/>
          <p:nvPr/>
        </p:nvSpPr>
        <p:spPr>
          <a:xfrm>
            <a:off x="3458845" y="4255135"/>
            <a:ext cx="94678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We(0.2)</a:t>
            </a:r>
          </a:p>
        </p:txBody>
      </p:sp>
      <p:sp>
        <p:nvSpPr>
          <p:cNvPr id="14" name="文本框 13"/>
          <p:cNvSpPr txBox="1"/>
          <p:nvPr/>
        </p:nvSpPr>
        <p:spPr>
          <a:xfrm>
            <a:off x="3458845" y="3129915"/>
            <a:ext cx="869950" cy="368300"/>
          </a:xfrm>
          <a:prstGeom prst="rect">
            <a:avLst/>
          </a:prstGeom>
          <a:noFill/>
        </p:spPr>
        <p:txBody>
          <a:bodyPr wrap="square" rtlCol="0">
            <a:spAutoFit/>
          </a:bodyPr>
          <a:lstStyle/>
          <a:p>
            <a:r>
              <a:rPr lang="en-US" altLang="zh-CN">
                <a:cs typeface="+mn-ea"/>
                <a:sym typeface="+mn-lt"/>
              </a:rPr>
              <a:t>He(0.1)</a:t>
            </a:r>
          </a:p>
        </p:txBody>
      </p:sp>
      <p:sp>
        <p:nvSpPr>
          <p:cNvPr id="28" name="矩形 27"/>
          <p:cNvSpPr/>
          <p:nvPr/>
        </p:nvSpPr>
        <p:spPr>
          <a:xfrm>
            <a:off x="3458845" y="3129915"/>
            <a:ext cx="95123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0" name="直接箭头连接符 39"/>
          <p:cNvCxnSpPr>
            <a:stCxn id="26" idx="3"/>
            <a:endCxn id="29" idx="1"/>
          </p:cNvCxnSpPr>
          <p:nvPr/>
        </p:nvCxnSpPr>
        <p:spPr>
          <a:xfrm flipV="1">
            <a:off x="2621915" y="2203450"/>
            <a:ext cx="836295" cy="10966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a:stCxn id="26" idx="3"/>
            <a:endCxn id="28" idx="1"/>
          </p:cNvCxnSpPr>
          <p:nvPr/>
        </p:nvCxnSpPr>
        <p:spPr>
          <a:xfrm>
            <a:off x="2621915" y="3300095"/>
            <a:ext cx="836930" cy="285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a:endCxn id="27" idx="1"/>
          </p:cNvCxnSpPr>
          <p:nvPr/>
        </p:nvCxnSpPr>
        <p:spPr>
          <a:xfrm>
            <a:off x="2600325" y="3277870"/>
            <a:ext cx="858520" cy="1146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5195570" y="2004060"/>
            <a:ext cx="244157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love(0.7 * 0.3 = 0.21)</a:t>
            </a:r>
          </a:p>
        </p:txBody>
      </p:sp>
      <p:sp>
        <p:nvSpPr>
          <p:cNvPr id="35" name="矩形 34"/>
          <p:cNvSpPr/>
          <p:nvPr/>
        </p:nvSpPr>
        <p:spPr>
          <a:xfrm>
            <a:off x="5195570" y="1375410"/>
            <a:ext cx="244157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28"/>
          <p:cNvSpPr/>
          <p:nvPr/>
        </p:nvSpPr>
        <p:spPr>
          <a:xfrm>
            <a:off x="3458210" y="2004695"/>
            <a:ext cx="95186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p:cNvSpPr/>
          <p:nvPr/>
        </p:nvSpPr>
        <p:spPr>
          <a:xfrm>
            <a:off x="1255395" y="3101340"/>
            <a:ext cx="1366520"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机器翻译中的贪婪搜索</a:t>
            </a:r>
            <a:endParaRPr lang="zh-CN" altLang="en-US" dirty="0">
              <a:latin typeface="+mn-lt"/>
              <a:ea typeface="+mn-ea"/>
              <a:cs typeface="+mn-ea"/>
              <a:sym typeface="+mn-lt"/>
            </a:endParaRPr>
          </a:p>
        </p:txBody>
      </p:sp>
      <p:sp>
        <p:nvSpPr>
          <p:cNvPr id="5" name="文本框 4"/>
          <p:cNvSpPr txBox="1"/>
          <p:nvPr/>
        </p:nvSpPr>
        <p:spPr>
          <a:xfrm>
            <a:off x="1255395" y="3101340"/>
            <a:ext cx="1454785" cy="368300"/>
          </a:xfrm>
          <a:prstGeom prst="rect">
            <a:avLst/>
          </a:prstGeom>
          <a:noFill/>
        </p:spPr>
        <p:txBody>
          <a:bodyPr wrap="square" rtlCol="0">
            <a:spAutoFit/>
          </a:bodyPr>
          <a:lstStyle/>
          <a:p>
            <a:r>
              <a:rPr lang="zh-CN" altLang="en-US">
                <a:cs typeface="+mn-ea"/>
                <a:sym typeface="+mn-lt"/>
              </a:rPr>
              <a:t>我喜欢学习</a:t>
            </a:r>
          </a:p>
        </p:txBody>
      </p:sp>
      <p:sp>
        <p:nvSpPr>
          <p:cNvPr id="6" name="文本框 5"/>
          <p:cNvSpPr txBox="1"/>
          <p:nvPr/>
        </p:nvSpPr>
        <p:spPr>
          <a:xfrm>
            <a:off x="3547110" y="2004060"/>
            <a:ext cx="782320" cy="368300"/>
          </a:xfrm>
          <a:prstGeom prst="rect">
            <a:avLst/>
          </a:prstGeom>
          <a:noFill/>
        </p:spPr>
        <p:txBody>
          <a:bodyPr wrap="square" rtlCol="0">
            <a:spAutoFit/>
          </a:bodyPr>
          <a:lstStyle/>
          <a:p>
            <a:r>
              <a:rPr lang="en-US" altLang="zh-CN">
                <a:cs typeface="+mn-ea"/>
                <a:sym typeface="+mn-lt"/>
              </a:rPr>
              <a:t>I (0.7)</a:t>
            </a:r>
          </a:p>
        </p:txBody>
      </p:sp>
      <p:sp>
        <p:nvSpPr>
          <p:cNvPr id="14" name="文本框 13"/>
          <p:cNvSpPr txBox="1"/>
          <p:nvPr/>
        </p:nvSpPr>
        <p:spPr>
          <a:xfrm>
            <a:off x="3458845" y="3129915"/>
            <a:ext cx="869950" cy="368300"/>
          </a:xfrm>
          <a:prstGeom prst="rect">
            <a:avLst/>
          </a:prstGeom>
          <a:noFill/>
        </p:spPr>
        <p:txBody>
          <a:bodyPr wrap="square" rtlCol="0">
            <a:spAutoFit/>
          </a:bodyPr>
          <a:lstStyle/>
          <a:p>
            <a:r>
              <a:rPr lang="en-US" altLang="zh-CN">
                <a:cs typeface="+mn-ea"/>
                <a:sym typeface="+mn-lt"/>
              </a:rPr>
              <a:t>He(0.1)</a:t>
            </a:r>
          </a:p>
        </p:txBody>
      </p:sp>
      <p:sp>
        <p:nvSpPr>
          <p:cNvPr id="15" name="文本框 14"/>
          <p:cNvSpPr txBox="1"/>
          <p:nvPr/>
        </p:nvSpPr>
        <p:spPr>
          <a:xfrm>
            <a:off x="5195570" y="1404620"/>
            <a:ext cx="2225675" cy="368300"/>
          </a:xfrm>
          <a:prstGeom prst="rect">
            <a:avLst/>
          </a:prstGeom>
          <a:noFill/>
        </p:spPr>
        <p:txBody>
          <a:bodyPr wrap="square" rtlCol="0">
            <a:spAutoFit/>
          </a:bodyPr>
          <a:lstStyle/>
          <a:p>
            <a:r>
              <a:rPr lang="en-US" altLang="zh-CN">
                <a:cs typeface="+mn-ea"/>
                <a:sym typeface="+mn-lt"/>
              </a:rPr>
              <a:t>like(0.7 * 0.6 = 0.42)</a:t>
            </a:r>
          </a:p>
        </p:txBody>
      </p:sp>
      <p:sp>
        <p:nvSpPr>
          <p:cNvPr id="19" name="文本框 18"/>
          <p:cNvSpPr txBox="1"/>
          <p:nvPr/>
        </p:nvSpPr>
        <p:spPr>
          <a:xfrm>
            <a:off x="5195570" y="2603500"/>
            <a:ext cx="2440940" cy="368300"/>
          </a:xfrm>
          <a:prstGeom prst="rect">
            <a:avLst/>
          </a:prstGeom>
          <a:noFill/>
        </p:spPr>
        <p:txBody>
          <a:bodyPr wrap="square" rtlCol="0">
            <a:spAutoFit/>
          </a:bodyPr>
          <a:lstStyle/>
          <a:p>
            <a:r>
              <a:rPr lang="en-US" altLang="zh-CN">
                <a:cs typeface="+mn-ea"/>
                <a:sym typeface="+mn-lt"/>
              </a:rPr>
              <a:t>enjoy(0.7 * 0.1 = 0.07)</a:t>
            </a:r>
          </a:p>
        </p:txBody>
      </p:sp>
      <p:sp>
        <p:nvSpPr>
          <p:cNvPr id="28" name="矩形 27"/>
          <p:cNvSpPr/>
          <p:nvPr/>
        </p:nvSpPr>
        <p:spPr>
          <a:xfrm>
            <a:off x="3458845" y="3129915"/>
            <a:ext cx="95123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矩形 32"/>
          <p:cNvSpPr/>
          <p:nvPr/>
        </p:nvSpPr>
        <p:spPr>
          <a:xfrm>
            <a:off x="5195570" y="2603500"/>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5195570" y="1989455"/>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0" name="直接箭头连接符 39"/>
          <p:cNvCxnSpPr>
            <a:stCxn id="26" idx="3"/>
            <a:endCxn id="29" idx="1"/>
          </p:cNvCxnSpPr>
          <p:nvPr/>
        </p:nvCxnSpPr>
        <p:spPr>
          <a:xfrm flipV="1">
            <a:off x="2621915" y="2203450"/>
            <a:ext cx="836295" cy="10966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a:stCxn id="26" idx="3"/>
            <a:endCxn id="28" idx="1"/>
          </p:cNvCxnSpPr>
          <p:nvPr/>
        </p:nvCxnSpPr>
        <p:spPr>
          <a:xfrm>
            <a:off x="2621915" y="3300095"/>
            <a:ext cx="836930" cy="285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p:nvPr/>
        </p:nvCxnSpPr>
        <p:spPr>
          <a:xfrm>
            <a:off x="2600325" y="3277870"/>
            <a:ext cx="858520" cy="1146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a:stCxn id="29" idx="3"/>
            <a:endCxn id="35" idx="1"/>
          </p:cNvCxnSpPr>
          <p:nvPr/>
        </p:nvCxnSpPr>
        <p:spPr>
          <a:xfrm flipV="1">
            <a:off x="4410075" y="1574165"/>
            <a:ext cx="785495" cy="62928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4" name="直接箭头连接符 43"/>
          <p:cNvCxnSpPr>
            <a:endCxn id="34" idx="1"/>
          </p:cNvCxnSpPr>
          <p:nvPr/>
        </p:nvCxnSpPr>
        <p:spPr>
          <a:xfrm flipV="1">
            <a:off x="4405630" y="2188210"/>
            <a:ext cx="789940" cy="190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5" name="直接箭头连接符 44"/>
          <p:cNvCxnSpPr>
            <a:endCxn id="33" idx="1"/>
          </p:cNvCxnSpPr>
          <p:nvPr/>
        </p:nvCxnSpPr>
        <p:spPr>
          <a:xfrm>
            <a:off x="4405630" y="2172335"/>
            <a:ext cx="789940" cy="629920"/>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sp>
        <p:nvSpPr>
          <p:cNvPr id="36" name="矩形 35">
            <a:extLst>
              <a:ext uri="{FF2B5EF4-FFF2-40B4-BE49-F238E27FC236}">
                <a16:creationId xmlns:a16="http://schemas.microsoft.com/office/drawing/2014/main" id="{8CE59745-C165-471A-B4B9-A1951A3575E5}"/>
              </a:ext>
            </a:extLst>
          </p:cNvPr>
          <p:cNvSpPr/>
          <p:nvPr/>
        </p:nvSpPr>
        <p:spPr>
          <a:xfrm>
            <a:off x="3458845" y="4225925"/>
            <a:ext cx="95186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文本框 36">
            <a:extLst>
              <a:ext uri="{FF2B5EF4-FFF2-40B4-BE49-F238E27FC236}">
                <a16:creationId xmlns:a16="http://schemas.microsoft.com/office/drawing/2014/main" id="{293C66A2-1FF0-4A8F-8703-B5233EA94C35}"/>
              </a:ext>
            </a:extLst>
          </p:cNvPr>
          <p:cNvSpPr txBox="1"/>
          <p:nvPr/>
        </p:nvSpPr>
        <p:spPr>
          <a:xfrm>
            <a:off x="3458845" y="4255135"/>
            <a:ext cx="94678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We(0.2)</a:t>
            </a:r>
          </a:p>
        </p:txBody>
      </p:sp>
    </p:spTree>
    <p:extLst>
      <p:ext uri="{BB962C8B-B14F-4D97-AF65-F5344CB8AC3E}">
        <p14:creationId xmlns:p14="http://schemas.microsoft.com/office/powerpoint/2010/main" val="2036909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8342630" y="1698625"/>
            <a:ext cx="304736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8342630" y="1713230"/>
            <a:ext cx="290385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learning(0.42 * 0.3 = 0.126)</a:t>
            </a:r>
          </a:p>
        </p:txBody>
      </p:sp>
      <p:sp>
        <p:nvSpPr>
          <p:cNvPr id="39" name="矩形 38"/>
          <p:cNvSpPr/>
          <p:nvPr/>
        </p:nvSpPr>
        <p:spPr>
          <a:xfrm>
            <a:off x="8342630" y="1202690"/>
            <a:ext cx="304736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矩形 34"/>
          <p:cNvSpPr/>
          <p:nvPr/>
        </p:nvSpPr>
        <p:spPr>
          <a:xfrm>
            <a:off x="5195570" y="1375410"/>
            <a:ext cx="244157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28"/>
          <p:cNvSpPr/>
          <p:nvPr/>
        </p:nvSpPr>
        <p:spPr>
          <a:xfrm>
            <a:off x="3458210" y="2004695"/>
            <a:ext cx="95186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p:cNvSpPr/>
          <p:nvPr/>
        </p:nvSpPr>
        <p:spPr>
          <a:xfrm>
            <a:off x="1255395" y="3101340"/>
            <a:ext cx="1366520"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机器翻译中的贪婪搜索</a:t>
            </a:r>
            <a:endParaRPr lang="zh-CN" altLang="en-US" dirty="0">
              <a:latin typeface="+mn-lt"/>
              <a:ea typeface="+mn-ea"/>
              <a:cs typeface="+mn-ea"/>
              <a:sym typeface="+mn-lt"/>
            </a:endParaRPr>
          </a:p>
        </p:txBody>
      </p:sp>
      <p:sp>
        <p:nvSpPr>
          <p:cNvPr id="5" name="文本框 4"/>
          <p:cNvSpPr txBox="1"/>
          <p:nvPr/>
        </p:nvSpPr>
        <p:spPr>
          <a:xfrm>
            <a:off x="1255395" y="3101340"/>
            <a:ext cx="1454785" cy="368300"/>
          </a:xfrm>
          <a:prstGeom prst="rect">
            <a:avLst/>
          </a:prstGeom>
          <a:noFill/>
        </p:spPr>
        <p:txBody>
          <a:bodyPr wrap="square" rtlCol="0">
            <a:spAutoFit/>
          </a:bodyPr>
          <a:lstStyle/>
          <a:p>
            <a:r>
              <a:rPr lang="zh-CN" altLang="en-US">
                <a:cs typeface="+mn-ea"/>
                <a:sym typeface="+mn-lt"/>
              </a:rPr>
              <a:t>我喜欢学习</a:t>
            </a:r>
          </a:p>
        </p:txBody>
      </p:sp>
      <p:sp>
        <p:nvSpPr>
          <p:cNvPr id="6" name="文本框 5"/>
          <p:cNvSpPr txBox="1"/>
          <p:nvPr/>
        </p:nvSpPr>
        <p:spPr>
          <a:xfrm>
            <a:off x="3547110" y="2004060"/>
            <a:ext cx="782320" cy="368300"/>
          </a:xfrm>
          <a:prstGeom prst="rect">
            <a:avLst/>
          </a:prstGeom>
          <a:noFill/>
        </p:spPr>
        <p:txBody>
          <a:bodyPr wrap="square" rtlCol="0">
            <a:spAutoFit/>
          </a:bodyPr>
          <a:lstStyle/>
          <a:p>
            <a:r>
              <a:rPr lang="en-US" altLang="zh-CN">
                <a:cs typeface="+mn-ea"/>
                <a:sym typeface="+mn-lt"/>
              </a:rPr>
              <a:t>I (0.7)</a:t>
            </a:r>
          </a:p>
        </p:txBody>
      </p:sp>
      <p:sp>
        <p:nvSpPr>
          <p:cNvPr id="14" name="文本框 13"/>
          <p:cNvSpPr txBox="1"/>
          <p:nvPr/>
        </p:nvSpPr>
        <p:spPr>
          <a:xfrm>
            <a:off x="3458845" y="3129915"/>
            <a:ext cx="869950" cy="368300"/>
          </a:xfrm>
          <a:prstGeom prst="rect">
            <a:avLst/>
          </a:prstGeom>
          <a:noFill/>
        </p:spPr>
        <p:txBody>
          <a:bodyPr wrap="square" rtlCol="0">
            <a:spAutoFit/>
          </a:bodyPr>
          <a:lstStyle/>
          <a:p>
            <a:r>
              <a:rPr lang="en-US" altLang="zh-CN">
                <a:cs typeface="+mn-ea"/>
                <a:sym typeface="+mn-lt"/>
              </a:rPr>
              <a:t>He(0.1)</a:t>
            </a:r>
          </a:p>
        </p:txBody>
      </p:sp>
      <p:sp>
        <p:nvSpPr>
          <p:cNvPr id="15" name="文本框 14"/>
          <p:cNvSpPr txBox="1"/>
          <p:nvPr/>
        </p:nvSpPr>
        <p:spPr>
          <a:xfrm>
            <a:off x="5195570" y="1404620"/>
            <a:ext cx="2225675" cy="368300"/>
          </a:xfrm>
          <a:prstGeom prst="rect">
            <a:avLst/>
          </a:prstGeom>
          <a:noFill/>
        </p:spPr>
        <p:txBody>
          <a:bodyPr wrap="square" rtlCol="0">
            <a:spAutoFit/>
          </a:bodyPr>
          <a:lstStyle/>
          <a:p>
            <a:r>
              <a:rPr lang="en-US" altLang="zh-CN">
                <a:cs typeface="+mn-ea"/>
                <a:sym typeface="+mn-lt"/>
              </a:rPr>
              <a:t>like(0.7 * 0.6 = 0.42)</a:t>
            </a:r>
          </a:p>
        </p:txBody>
      </p:sp>
      <p:sp>
        <p:nvSpPr>
          <p:cNvPr id="19" name="文本框 18"/>
          <p:cNvSpPr txBox="1"/>
          <p:nvPr/>
        </p:nvSpPr>
        <p:spPr>
          <a:xfrm>
            <a:off x="5195570" y="2603500"/>
            <a:ext cx="2440940" cy="368300"/>
          </a:xfrm>
          <a:prstGeom prst="rect">
            <a:avLst/>
          </a:prstGeom>
          <a:noFill/>
        </p:spPr>
        <p:txBody>
          <a:bodyPr wrap="square" rtlCol="0">
            <a:spAutoFit/>
          </a:bodyPr>
          <a:lstStyle/>
          <a:p>
            <a:r>
              <a:rPr lang="en-US" altLang="zh-CN">
                <a:cs typeface="+mn-ea"/>
                <a:sym typeface="+mn-lt"/>
              </a:rPr>
              <a:t>enjoy(0.7 * 0.1 = 0.07)</a:t>
            </a:r>
          </a:p>
        </p:txBody>
      </p:sp>
      <p:sp>
        <p:nvSpPr>
          <p:cNvPr id="21" name="文本框 20"/>
          <p:cNvSpPr txBox="1"/>
          <p:nvPr/>
        </p:nvSpPr>
        <p:spPr>
          <a:xfrm>
            <a:off x="8342630" y="1198880"/>
            <a:ext cx="2960370" cy="368300"/>
          </a:xfrm>
          <a:prstGeom prst="rect">
            <a:avLst/>
          </a:prstGeom>
          <a:noFill/>
        </p:spPr>
        <p:txBody>
          <a:bodyPr wrap="square" rtlCol="0">
            <a:spAutoFit/>
          </a:bodyPr>
          <a:lstStyle/>
          <a:p>
            <a:r>
              <a:rPr lang="en-US" altLang="zh-CN">
                <a:cs typeface="+mn-ea"/>
                <a:sym typeface="+mn-lt"/>
              </a:rPr>
              <a:t>studying(0.42 * 0.7 = 0.294)</a:t>
            </a:r>
          </a:p>
        </p:txBody>
      </p:sp>
      <p:sp>
        <p:nvSpPr>
          <p:cNvPr id="28" name="矩形 27"/>
          <p:cNvSpPr/>
          <p:nvPr/>
        </p:nvSpPr>
        <p:spPr>
          <a:xfrm>
            <a:off x="3458845" y="3129915"/>
            <a:ext cx="95123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矩形 32"/>
          <p:cNvSpPr/>
          <p:nvPr/>
        </p:nvSpPr>
        <p:spPr>
          <a:xfrm>
            <a:off x="5195570" y="2603500"/>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0" name="直接箭头连接符 39"/>
          <p:cNvCxnSpPr>
            <a:stCxn id="26" idx="3"/>
            <a:endCxn id="29" idx="1"/>
          </p:cNvCxnSpPr>
          <p:nvPr/>
        </p:nvCxnSpPr>
        <p:spPr>
          <a:xfrm flipV="1">
            <a:off x="2621915" y="2203450"/>
            <a:ext cx="836295" cy="10966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a:stCxn id="26" idx="3"/>
            <a:endCxn id="28" idx="1"/>
          </p:cNvCxnSpPr>
          <p:nvPr/>
        </p:nvCxnSpPr>
        <p:spPr>
          <a:xfrm>
            <a:off x="2621915" y="3300095"/>
            <a:ext cx="836930" cy="285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p:nvPr/>
        </p:nvCxnSpPr>
        <p:spPr>
          <a:xfrm>
            <a:off x="2600325" y="3277870"/>
            <a:ext cx="858520" cy="1146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a:stCxn id="29" idx="3"/>
            <a:endCxn id="35" idx="1"/>
          </p:cNvCxnSpPr>
          <p:nvPr/>
        </p:nvCxnSpPr>
        <p:spPr>
          <a:xfrm flipV="1">
            <a:off x="4410075" y="1574165"/>
            <a:ext cx="785495" cy="62928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4" name="直接箭头连接符 43"/>
          <p:cNvCxnSpPr>
            <a:cxnSpLocks/>
          </p:cNvCxnSpPr>
          <p:nvPr/>
        </p:nvCxnSpPr>
        <p:spPr>
          <a:xfrm flipV="1">
            <a:off x="4405630" y="2188210"/>
            <a:ext cx="789940" cy="190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5" name="直接箭头连接符 44"/>
          <p:cNvCxnSpPr>
            <a:endCxn id="33" idx="1"/>
          </p:cNvCxnSpPr>
          <p:nvPr/>
        </p:nvCxnSpPr>
        <p:spPr>
          <a:xfrm>
            <a:off x="4405630" y="2172335"/>
            <a:ext cx="789940" cy="629920"/>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9" name="直接箭头连接符 48"/>
          <p:cNvCxnSpPr>
            <a:stCxn id="35" idx="3"/>
            <a:endCxn id="39" idx="1"/>
          </p:cNvCxnSpPr>
          <p:nvPr/>
        </p:nvCxnSpPr>
        <p:spPr>
          <a:xfrm flipV="1">
            <a:off x="7637145" y="1401445"/>
            <a:ext cx="705485" cy="1727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0" name="直接箭头连接符 49"/>
          <p:cNvCxnSpPr>
            <a:endCxn id="38" idx="1"/>
          </p:cNvCxnSpPr>
          <p:nvPr/>
        </p:nvCxnSpPr>
        <p:spPr>
          <a:xfrm>
            <a:off x="7634605" y="1561465"/>
            <a:ext cx="708025" cy="3359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55" name="矩形 54">
            <a:extLst>
              <a:ext uri="{FF2B5EF4-FFF2-40B4-BE49-F238E27FC236}">
                <a16:creationId xmlns:a16="http://schemas.microsoft.com/office/drawing/2014/main" id="{1D604E2A-D3A9-49A9-A1A5-7563D39D148D}"/>
              </a:ext>
            </a:extLst>
          </p:cNvPr>
          <p:cNvSpPr/>
          <p:nvPr/>
        </p:nvSpPr>
        <p:spPr>
          <a:xfrm>
            <a:off x="3458845" y="4225925"/>
            <a:ext cx="95186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6" name="文本框 55">
            <a:extLst>
              <a:ext uri="{FF2B5EF4-FFF2-40B4-BE49-F238E27FC236}">
                <a16:creationId xmlns:a16="http://schemas.microsoft.com/office/drawing/2014/main" id="{51F1A152-A9AD-4885-ABAB-F859E8413691}"/>
              </a:ext>
            </a:extLst>
          </p:cNvPr>
          <p:cNvSpPr txBox="1"/>
          <p:nvPr/>
        </p:nvSpPr>
        <p:spPr>
          <a:xfrm>
            <a:off x="3458845" y="4255135"/>
            <a:ext cx="94678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We(0.2)</a:t>
            </a:r>
          </a:p>
        </p:txBody>
      </p:sp>
      <p:sp>
        <p:nvSpPr>
          <p:cNvPr id="57" name="文本框 56">
            <a:extLst>
              <a:ext uri="{FF2B5EF4-FFF2-40B4-BE49-F238E27FC236}">
                <a16:creationId xmlns:a16="http://schemas.microsoft.com/office/drawing/2014/main" id="{1F8BAF5C-8D2F-424C-8D48-86307FC45CE4}"/>
              </a:ext>
            </a:extLst>
          </p:cNvPr>
          <p:cNvSpPr txBox="1"/>
          <p:nvPr/>
        </p:nvSpPr>
        <p:spPr>
          <a:xfrm>
            <a:off x="5195570" y="2004060"/>
            <a:ext cx="244157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love(0.7 * 0.3 = 0.21)</a:t>
            </a:r>
          </a:p>
        </p:txBody>
      </p:sp>
      <p:sp>
        <p:nvSpPr>
          <p:cNvPr id="58" name="矩形 57">
            <a:extLst>
              <a:ext uri="{FF2B5EF4-FFF2-40B4-BE49-F238E27FC236}">
                <a16:creationId xmlns:a16="http://schemas.microsoft.com/office/drawing/2014/main" id="{E4AADE04-5F23-44A9-AA4B-8FA93D54FB12}"/>
              </a:ext>
            </a:extLst>
          </p:cNvPr>
          <p:cNvSpPr/>
          <p:nvPr/>
        </p:nvSpPr>
        <p:spPr>
          <a:xfrm>
            <a:off x="5195570" y="1989455"/>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483229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8342630" y="1698625"/>
            <a:ext cx="304736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8342630" y="1713230"/>
            <a:ext cx="290385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learning(0.42 * 0.3 = 0.126)</a:t>
            </a:r>
          </a:p>
        </p:txBody>
      </p:sp>
      <p:sp>
        <p:nvSpPr>
          <p:cNvPr id="39" name="矩形 38"/>
          <p:cNvSpPr/>
          <p:nvPr/>
        </p:nvSpPr>
        <p:spPr>
          <a:xfrm>
            <a:off x="8342630" y="1202690"/>
            <a:ext cx="304736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p:cNvSpPr txBox="1"/>
          <p:nvPr/>
        </p:nvSpPr>
        <p:spPr>
          <a:xfrm>
            <a:off x="5195570" y="2004060"/>
            <a:ext cx="244157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love(0.7 * 0.3 = 0.21)</a:t>
            </a:r>
          </a:p>
        </p:txBody>
      </p:sp>
      <p:sp>
        <p:nvSpPr>
          <p:cNvPr id="35" name="矩形 34"/>
          <p:cNvSpPr/>
          <p:nvPr/>
        </p:nvSpPr>
        <p:spPr>
          <a:xfrm>
            <a:off x="5195570" y="1375410"/>
            <a:ext cx="244157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28"/>
          <p:cNvSpPr/>
          <p:nvPr/>
        </p:nvSpPr>
        <p:spPr>
          <a:xfrm>
            <a:off x="3458210" y="2004695"/>
            <a:ext cx="95186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p:cNvSpPr/>
          <p:nvPr/>
        </p:nvSpPr>
        <p:spPr>
          <a:xfrm>
            <a:off x="1255395" y="3101340"/>
            <a:ext cx="1366520"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机器翻译中的贪婪搜索</a:t>
            </a:r>
            <a:endParaRPr lang="zh-CN" altLang="en-US" dirty="0">
              <a:latin typeface="+mn-lt"/>
              <a:ea typeface="+mn-ea"/>
              <a:cs typeface="+mn-ea"/>
              <a:sym typeface="+mn-lt"/>
            </a:endParaRPr>
          </a:p>
        </p:txBody>
      </p:sp>
      <p:sp>
        <p:nvSpPr>
          <p:cNvPr id="5" name="文本框 4"/>
          <p:cNvSpPr txBox="1"/>
          <p:nvPr/>
        </p:nvSpPr>
        <p:spPr>
          <a:xfrm>
            <a:off x="1255395" y="3101340"/>
            <a:ext cx="1454785" cy="368300"/>
          </a:xfrm>
          <a:prstGeom prst="rect">
            <a:avLst/>
          </a:prstGeom>
          <a:noFill/>
        </p:spPr>
        <p:txBody>
          <a:bodyPr wrap="square" rtlCol="0">
            <a:spAutoFit/>
          </a:bodyPr>
          <a:lstStyle/>
          <a:p>
            <a:r>
              <a:rPr lang="zh-CN" altLang="en-US">
                <a:cs typeface="+mn-ea"/>
                <a:sym typeface="+mn-lt"/>
              </a:rPr>
              <a:t>我喜欢学习</a:t>
            </a:r>
          </a:p>
        </p:txBody>
      </p:sp>
      <p:sp>
        <p:nvSpPr>
          <p:cNvPr id="6" name="文本框 5"/>
          <p:cNvSpPr txBox="1"/>
          <p:nvPr/>
        </p:nvSpPr>
        <p:spPr>
          <a:xfrm>
            <a:off x="3547110" y="2004060"/>
            <a:ext cx="782320" cy="368300"/>
          </a:xfrm>
          <a:prstGeom prst="rect">
            <a:avLst/>
          </a:prstGeom>
          <a:noFill/>
        </p:spPr>
        <p:txBody>
          <a:bodyPr wrap="square" rtlCol="0">
            <a:spAutoFit/>
          </a:bodyPr>
          <a:lstStyle/>
          <a:p>
            <a:r>
              <a:rPr lang="en-US" altLang="zh-CN">
                <a:cs typeface="+mn-ea"/>
                <a:sym typeface="+mn-lt"/>
              </a:rPr>
              <a:t>I (0.7)</a:t>
            </a:r>
          </a:p>
        </p:txBody>
      </p:sp>
      <p:sp>
        <p:nvSpPr>
          <p:cNvPr id="7" name="文本框 6"/>
          <p:cNvSpPr txBox="1"/>
          <p:nvPr/>
        </p:nvSpPr>
        <p:spPr>
          <a:xfrm>
            <a:off x="3458845" y="4255135"/>
            <a:ext cx="104711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We(0.2)</a:t>
            </a:r>
          </a:p>
        </p:txBody>
      </p:sp>
      <p:sp>
        <p:nvSpPr>
          <p:cNvPr id="14" name="文本框 13"/>
          <p:cNvSpPr txBox="1"/>
          <p:nvPr/>
        </p:nvSpPr>
        <p:spPr>
          <a:xfrm>
            <a:off x="3458845" y="3129915"/>
            <a:ext cx="869950" cy="368300"/>
          </a:xfrm>
          <a:prstGeom prst="rect">
            <a:avLst/>
          </a:prstGeom>
          <a:noFill/>
        </p:spPr>
        <p:txBody>
          <a:bodyPr wrap="square" rtlCol="0">
            <a:spAutoFit/>
          </a:bodyPr>
          <a:lstStyle/>
          <a:p>
            <a:r>
              <a:rPr lang="en-US" altLang="zh-CN">
                <a:cs typeface="+mn-ea"/>
                <a:sym typeface="+mn-lt"/>
              </a:rPr>
              <a:t>He(0.1)</a:t>
            </a:r>
          </a:p>
        </p:txBody>
      </p:sp>
      <p:sp>
        <p:nvSpPr>
          <p:cNvPr id="15" name="文本框 14"/>
          <p:cNvSpPr txBox="1"/>
          <p:nvPr/>
        </p:nvSpPr>
        <p:spPr>
          <a:xfrm>
            <a:off x="5195570" y="1404620"/>
            <a:ext cx="2225675" cy="368300"/>
          </a:xfrm>
          <a:prstGeom prst="rect">
            <a:avLst/>
          </a:prstGeom>
          <a:noFill/>
        </p:spPr>
        <p:txBody>
          <a:bodyPr wrap="square" rtlCol="0">
            <a:spAutoFit/>
          </a:bodyPr>
          <a:lstStyle/>
          <a:p>
            <a:r>
              <a:rPr lang="en-US" altLang="zh-CN">
                <a:cs typeface="+mn-ea"/>
                <a:sym typeface="+mn-lt"/>
              </a:rPr>
              <a:t>like(0.7 * 0.6 = 0.42)</a:t>
            </a:r>
          </a:p>
        </p:txBody>
      </p:sp>
      <p:sp>
        <p:nvSpPr>
          <p:cNvPr id="19" name="文本框 18"/>
          <p:cNvSpPr txBox="1"/>
          <p:nvPr/>
        </p:nvSpPr>
        <p:spPr>
          <a:xfrm>
            <a:off x="5195570" y="2603500"/>
            <a:ext cx="2440940" cy="368300"/>
          </a:xfrm>
          <a:prstGeom prst="rect">
            <a:avLst/>
          </a:prstGeom>
          <a:noFill/>
        </p:spPr>
        <p:txBody>
          <a:bodyPr wrap="square" rtlCol="0">
            <a:spAutoFit/>
          </a:bodyPr>
          <a:lstStyle/>
          <a:p>
            <a:r>
              <a:rPr lang="en-US" altLang="zh-CN">
                <a:cs typeface="+mn-ea"/>
                <a:sym typeface="+mn-lt"/>
              </a:rPr>
              <a:t>enjoy(0.7 * 0.1 = 0.07)</a:t>
            </a:r>
          </a:p>
        </p:txBody>
      </p:sp>
      <p:sp>
        <p:nvSpPr>
          <p:cNvPr id="21" name="文本框 20"/>
          <p:cNvSpPr txBox="1"/>
          <p:nvPr/>
        </p:nvSpPr>
        <p:spPr>
          <a:xfrm>
            <a:off x="8342630" y="1198880"/>
            <a:ext cx="3603625" cy="368300"/>
          </a:xfrm>
          <a:prstGeom prst="rect">
            <a:avLst/>
          </a:prstGeom>
          <a:noFill/>
        </p:spPr>
        <p:txBody>
          <a:bodyPr wrap="square" rtlCol="0">
            <a:spAutoFit/>
          </a:bodyPr>
          <a:lstStyle/>
          <a:p>
            <a:r>
              <a:rPr lang="en-US" altLang="zh-CN">
                <a:cs typeface="+mn-ea"/>
                <a:sym typeface="+mn-lt"/>
              </a:rPr>
              <a:t>studying(0.42 * 0.7 = 0.294)</a:t>
            </a:r>
          </a:p>
        </p:txBody>
      </p:sp>
      <p:sp>
        <p:nvSpPr>
          <p:cNvPr id="27" name="矩形 26"/>
          <p:cNvSpPr/>
          <p:nvPr/>
        </p:nvSpPr>
        <p:spPr>
          <a:xfrm>
            <a:off x="3458845" y="4225925"/>
            <a:ext cx="951865"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矩形 27"/>
          <p:cNvSpPr/>
          <p:nvPr/>
        </p:nvSpPr>
        <p:spPr>
          <a:xfrm>
            <a:off x="3458845" y="3129915"/>
            <a:ext cx="95123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矩形 32"/>
          <p:cNvSpPr/>
          <p:nvPr/>
        </p:nvSpPr>
        <p:spPr>
          <a:xfrm>
            <a:off x="5195570" y="2603500"/>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5195570" y="1989455"/>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0" name="直接箭头连接符 39"/>
          <p:cNvCxnSpPr>
            <a:stCxn id="26" idx="3"/>
            <a:endCxn id="29" idx="1"/>
          </p:cNvCxnSpPr>
          <p:nvPr/>
        </p:nvCxnSpPr>
        <p:spPr>
          <a:xfrm flipV="1">
            <a:off x="2621915" y="2203450"/>
            <a:ext cx="836295" cy="10966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a:stCxn id="26" idx="3"/>
            <a:endCxn id="28" idx="1"/>
          </p:cNvCxnSpPr>
          <p:nvPr/>
        </p:nvCxnSpPr>
        <p:spPr>
          <a:xfrm>
            <a:off x="2621915" y="3300095"/>
            <a:ext cx="836930" cy="285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a:endCxn id="27" idx="1"/>
          </p:cNvCxnSpPr>
          <p:nvPr/>
        </p:nvCxnSpPr>
        <p:spPr>
          <a:xfrm>
            <a:off x="2600325" y="3277870"/>
            <a:ext cx="858520" cy="1146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a:stCxn id="29" idx="3"/>
            <a:endCxn id="35" idx="1"/>
          </p:cNvCxnSpPr>
          <p:nvPr/>
        </p:nvCxnSpPr>
        <p:spPr>
          <a:xfrm flipV="1">
            <a:off x="4410075" y="1574165"/>
            <a:ext cx="785495" cy="62928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4" name="直接箭头连接符 43"/>
          <p:cNvCxnSpPr>
            <a:endCxn id="34" idx="1"/>
          </p:cNvCxnSpPr>
          <p:nvPr/>
        </p:nvCxnSpPr>
        <p:spPr>
          <a:xfrm flipV="1">
            <a:off x="4405630" y="2188210"/>
            <a:ext cx="789940" cy="190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5" name="直接箭头连接符 44"/>
          <p:cNvCxnSpPr>
            <a:endCxn id="33" idx="1"/>
          </p:cNvCxnSpPr>
          <p:nvPr/>
        </p:nvCxnSpPr>
        <p:spPr>
          <a:xfrm>
            <a:off x="4405630" y="2172335"/>
            <a:ext cx="789940" cy="629920"/>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9" name="直接箭头连接符 48"/>
          <p:cNvCxnSpPr>
            <a:stCxn id="35" idx="3"/>
            <a:endCxn id="39" idx="1"/>
          </p:cNvCxnSpPr>
          <p:nvPr/>
        </p:nvCxnSpPr>
        <p:spPr>
          <a:xfrm flipV="1">
            <a:off x="7637145" y="1401445"/>
            <a:ext cx="705485" cy="1727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0" name="直接箭头连接符 49"/>
          <p:cNvCxnSpPr>
            <a:endCxn id="38" idx="1"/>
          </p:cNvCxnSpPr>
          <p:nvPr/>
        </p:nvCxnSpPr>
        <p:spPr>
          <a:xfrm>
            <a:off x="7634605" y="1561465"/>
            <a:ext cx="708025" cy="3359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53" name="左箭头 52"/>
          <p:cNvSpPr/>
          <p:nvPr/>
        </p:nvSpPr>
        <p:spPr>
          <a:xfrm>
            <a:off x="11445240" y="1331595"/>
            <a:ext cx="368300" cy="167640"/>
          </a:xfrm>
          <a:prstGeom prst="left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2568180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458845" y="4225925"/>
            <a:ext cx="95186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28"/>
          <p:cNvSpPr/>
          <p:nvPr/>
        </p:nvSpPr>
        <p:spPr>
          <a:xfrm>
            <a:off x="3458210" y="2004695"/>
            <a:ext cx="95186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p:cNvSpPr/>
          <p:nvPr/>
        </p:nvSpPr>
        <p:spPr>
          <a:xfrm>
            <a:off x="1255395" y="3101340"/>
            <a:ext cx="1366520"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机器翻译中的局部束搜索</a:t>
            </a:r>
            <a:endParaRPr lang="zh-CN" altLang="en-US" dirty="0">
              <a:latin typeface="+mn-lt"/>
              <a:ea typeface="+mn-ea"/>
              <a:cs typeface="+mn-ea"/>
              <a:sym typeface="+mn-lt"/>
            </a:endParaRPr>
          </a:p>
        </p:txBody>
      </p:sp>
      <p:sp>
        <p:nvSpPr>
          <p:cNvPr id="5" name="文本框 4"/>
          <p:cNvSpPr txBox="1"/>
          <p:nvPr/>
        </p:nvSpPr>
        <p:spPr>
          <a:xfrm>
            <a:off x="1255395" y="3101340"/>
            <a:ext cx="1454785" cy="368300"/>
          </a:xfrm>
          <a:prstGeom prst="rect">
            <a:avLst/>
          </a:prstGeom>
          <a:noFill/>
        </p:spPr>
        <p:txBody>
          <a:bodyPr wrap="square" rtlCol="0">
            <a:spAutoFit/>
          </a:bodyPr>
          <a:lstStyle/>
          <a:p>
            <a:r>
              <a:rPr lang="zh-CN" altLang="en-US">
                <a:cs typeface="+mn-ea"/>
                <a:sym typeface="+mn-lt"/>
              </a:rPr>
              <a:t>我喜欢学习</a:t>
            </a:r>
          </a:p>
        </p:txBody>
      </p:sp>
      <p:sp>
        <p:nvSpPr>
          <p:cNvPr id="6" name="文本框 5"/>
          <p:cNvSpPr txBox="1"/>
          <p:nvPr/>
        </p:nvSpPr>
        <p:spPr>
          <a:xfrm>
            <a:off x="3547110" y="2004060"/>
            <a:ext cx="782320" cy="368300"/>
          </a:xfrm>
          <a:prstGeom prst="rect">
            <a:avLst/>
          </a:prstGeom>
          <a:noFill/>
        </p:spPr>
        <p:txBody>
          <a:bodyPr wrap="square" rtlCol="0">
            <a:spAutoFit/>
          </a:bodyPr>
          <a:lstStyle/>
          <a:p>
            <a:r>
              <a:rPr lang="en-US" altLang="zh-CN">
                <a:cs typeface="+mn-ea"/>
                <a:sym typeface="+mn-lt"/>
              </a:rPr>
              <a:t>I (0.7)</a:t>
            </a:r>
          </a:p>
        </p:txBody>
      </p:sp>
      <p:sp>
        <p:nvSpPr>
          <p:cNvPr id="7" name="文本框 6"/>
          <p:cNvSpPr txBox="1"/>
          <p:nvPr/>
        </p:nvSpPr>
        <p:spPr>
          <a:xfrm>
            <a:off x="3458845" y="4255135"/>
            <a:ext cx="94678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We(0.2)</a:t>
            </a:r>
          </a:p>
        </p:txBody>
      </p:sp>
      <p:sp>
        <p:nvSpPr>
          <p:cNvPr id="14" name="文本框 13"/>
          <p:cNvSpPr txBox="1"/>
          <p:nvPr/>
        </p:nvSpPr>
        <p:spPr>
          <a:xfrm>
            <a:off x="3458845" y="3129915"/>
            <a:ext cx="869950" cy="368300"/>
          </a:xfrm>
          <a:prstGeom prst="rect">
            <a:avLst/>
          </a:prstGeom>
          <a:noFill/>
        </p:spPr>
        <p:txBody>
          <a:bodyPr wrap="square" rtlCol="0">
            <a:spAutoFit/>
          </a:bodyPr>
          <a:lstStyle/>
          <a:p>
            <a:r>
              <a:rPr lang="en-US" altLang="zh-CN">
                <a:cs typeface="+mn-ea"/>
                <a:sym typeface="+mn-lt"/>
              </a:rPr>
              <a:t>He(0.1)</a:t>
            </a:r>
          </a:p>
        </p:txBody>
      </p:sp>
      <p:sp>
        <p:nvSpPr>
          <p:cNvPr id="28" name="矩形 27"/>
          <p:cNvSpPr/>
          <p:nvPr/>
        </p:nvSpPr>
        <p:spPr>
          <a:xfrm>
            <a:off x="3458845" y="3129915"/>
            <a:ext cx="95123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0" name="直接箭头连接符 39"/>
          <p:cNvCxnSpPr>
            <a:stCxn id="26" idx="3"/>
            <a:endCxn id="29" idx="1"/>
          </p:cNvCxnSpPr>
          <p:nvPr/>
        </p:nvCxnSpPr>
        <p:spPr>
          <a:xfrm flipV="1">
            <a:off x="2621915" y="2203450"/>
            <a:ext cx="836295" cy="10966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a:stCxn id="26" idx="3"/>
            <a:endCxn id="28" idx="1"/>
          </p:cNvCxnSpPr>
          <p:nvPr/>
        </p:nvCxnSpPr>
        <p:spPr>
          <a:xfrm>
            <a:off x="2621915" y="3300095"/>
            <a:ext cx="836930" cy="285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a:endCxn id="27" idx="1"/>
          </p:cNvCxnSpPr>
          <p:nvPr/>
        </p:nvCxnSpPr>
        <p:spPr>
          <a:xfrm>
            <a:off x="2600325" y="3277870"/>
            <a:ext cx="858520" cy="1146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extLst>
      <p:ext uri="{BB962C8B-B14F-4D97-AF65-F5344CB8AC3E}">
        <p14:creationId xmlns:p14="http://schemas.microsoft.com/office/powerpoint/2010/main" val="1544253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458845" y="4225925"/>
            <a:ext cx="95186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p:cNvSpPr txBox="1"/>
          <p:nvPr/>
        </p:nvSpPr>
        <p:spPr>
          <a:xfrm>
            <a:off x="5195570" y="2004060"/>
            <a:ext cx="244157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love(0.7 * 0.3 = 0.21)</a:t>
            </a:r>
          </a:p>
        </p:txBody>
      </p:sp>
      <p:sp>
        <p:nvSpPr>
          <p:cNvPr id="35" name="矩形 34"/>
          <p:cNvSpPr/>
          <p:nvPr/>
        </p:nvSpPr>
        <p:spPr>
          <a:xfrm>
            <a:off x="5195570" y="1375410"/>
            <a:ext cx="244157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28"/>
          <p:cNvSpPr/>
          <p:nvPr/>
        </p:nvSpPr>
        <p:spPr>
          <a:xfrm>
            <a:off x="3458210" y="2004695"/>
            <a:ext cx="95186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p:cNvSpPr/>
          <p:nvPr/>
        </p:nvSpPr>
        <p:spPr>
          <a:xfrm>
            <a:off x="1255395" y="3101340"/>
            <a:ext cx="1366520"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机器翻译中的局部束搜索</a:t>
            </a:r>
            <a:endParaRPr lang="zh-CN" altLang="en-US" dirty="0">
              <a:latin typeface="+mn-lt"/>
              <a:ea typeface="+mn-ea"/>
              <a:cs typeface="+mn-ea"/>
              <a:sym typeface="+mn-lt"/>
            </a:endParaRPr>
          </a:p>
        </p:txBody>
      </p:sp>
      <p:sp>
        <p:nvSpPr>
          <p:cNvPr id="5" name="文本框 4"/>
          <p:cNvSpPr txBox="1"/>
          <p:nvPr/>
        </p:nvSpPr>
        <p:spPr>
          <a:xfrm>
            <a:off x="1255395" y="3101340"/>
            <a:ext cx="1454785" cy="368300"/>
          </a:xfrm>
          <a:prstGeom prst="rect">
            <a:avLst/>
          </a:prstGeom>
          <a:noFill/>
        </p:spPr>
        <p:txBody>
          <a:bodyPr wrap="square" rtlCol="0">
            <a:spAutoFit/>
          </a:bodyPr>
          <a:lstStyle/>
          <a:p>
            <a:r>
              <a:rPr lang="zh-CN" altLang="en-US">
                <a:cs typeface="+mn-ea"/>
                <a:sym typeface="+mn-lt"/>
              </a:rPr>
              <a:t>我喜欢学习</a:t>
            </a:r>
          </a:p>
        </p:txBody>
      </p:sp>
      <p:sp>
        <p:nvSpPr>
          <p:cNvPr id="6" name="文本框 5"/>
          <p:cNvSpPr txBox="1"/>
          <p:nvPr/>
        </p:nvSpPr>
        <p:spPr>
          <a:xfrm>
            <a:off x="3547110" y="2004060"/>
            <a:ext cx="782320" cy="368300"/>
          </a:xfrm>
          <a:prstGeom prst="rect">
            <a:avLst/>
          </a:prstGeom>
          <a:noFill/>
        </p:spPr>
        <p:txBody>
          <a:bodyPr wrap="square" rtlCol="0">
            <a:spAutoFit/>
          </a:bodyPr>
          <a:lstStyle/>
          <a:p>
            <a:r>
              <a:rPr lang="en-US" altLang="zh-CN">
                <a:cs typeface="+mn-ea"/>
                <a:sym typeface="+mn-lt"/>
              </a:rPr>
              <a:t>I (0.7)</a:t>
            </a:r>
          </a:p>
        </p:txBody>
      </p:sp>
      <p:sp>
        <p:nvSpPr>
          <p:cNvPr id="7" name="文本框 6"/>
          <p:cNvSpPr txBox="1"/>
          <p:nvPr/>
        </p:nvSpPr>
        <p:spPr>
          <a:xfrm>
            <a:off x="3458845" y="4255135"/>
            <a:ext cx="94678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dirty="0">
                <a:cs typeface="+mn-ea"/>
                <a:sym typeface="+mn-lt"/>
              </a:rPr>
              <a:t>We(0.2)</a:t>
            </a:r>
          </a:p>
        </p:txBody>
      </p:sp>
      <p:sp>
        <p:nvSpPr>
          <p:cNvPr id="14" name="文本框 13"/>
          <p:cNvSpPr txBox="1"/>
          <p:nvPr/>
        </p:nvSpPr>
        <p:spPr>
          <a:xfrm>
            <a:off x="3458845" y="3129915"/>
            <a:ext cx="869950" cy="368300"/>
          </a:xfrm>
          <a:prstGeom prst="rect">
            <a:avLst/>
          </a:prstGeom>
          <a:noFill/>
        </p:spPr>
        <p:txBody>
          <a:bodyPr wrap="square" rtlCol="0">
            <a:spAutoFit/>
          </a:bodyPr>
          <a:lstStyle/>
          <a:p>
            <a:r>
              <a:rPr lang="en-US" altLang="zh-CN">
                <a:cs typeface="+mn-ea"/>
                <a:sym typeface="+mn-lt"/>
              </a:rPr>
              <a:t>He(0.1)</a:t>
            </a:r>
          </a:p>
        </p:txBody>
      </p:sp>
      <p:sp>
        <p:nvSpPr>
          <p:cNvPr id="15" name="文本框 14"/>
          <p:cNvSpPr txBox="1"/>
          <p:nvPr/>
        </p:nvSpPr>
        <p:spPr>
          <a:xfrm>
            <a:off x="5195570" y="1404620"/>
            <a:ext cx="2225675" cy="368300"/>
          </a:xfrm>
          <a:prstGeom prst="rect">
            <a:avLst/>
          </a:prstGeom>
          <a:noFill/>
        </p:spPr>
        <p:txBody>
          <a:bodyPr wrap="square" rtlCol="0">
            <a:spAutoFit/>
          </a:bodyPr>
          <a:lstStyle/>
          <a:p>
            <a:r>
              <a:rPr lang="en-US" altLang="zh-CN">
                <a:cs typeface="+mn-ea"/>
                <a:sym typeface="+mn-lt"/>
              </a:rPr>
              <a:t>like(0.7 * 0.6 = 0.42)</a:t>
            </a:r>
          </a:p>
        </p:txBody>
      </p:sp>
      <p:sp>
        <p:nvSpPr>
          <p:cNvPr id="17" name="文本框 16"/>
          <p:cNvSpPr txBox="1"/>
          <p:nvPr/>
        </p:nvSpPr>
        <p:spPr>
          <a:xfrm>
            <a:off x="5195570" y="3665855"/>
            <a:ext cx="2519680" cy="368300"/>
          </a:xfrm>
          <a:prstGeom prst="rect">
            <a:avLst/>
          </a:prstGeom>
          <a:noFill/>
        </p:spPr>
        <p:txBody>
          <a:bodyPr wrap="square" rtlCol="0">
            <a:spAutoFit/>
          </a:bodyPr>
          <a:lstStyle/>
          <a:p>
            <a:r>
              <a:rPr lang="en-US" altLang="zh-CN">
                <a:cs typeface="+mn-ea"/>
                <a:sym typeface="+mn-lt"/>
              </a:rPr>
              <a:t>like(0.2 * 0.5 = 0.10)</a:t>
            </a:r>
          </a:p>
        </p:txBody>
      </p:sp>
      <p:sp>
        <p:nvSpPr>
          <p:cNvPr id="18" name="文本框 17"/>
          <p:cNvSpPr txBox="1"/>
          <p:nvPr/>
        </p:nvSpPr>
        <p:spPr>
          <a:xfrm>
            <a:off x="5195570" y="4255135"/>
            <a:ext cx="2440305" cy="368300"/>
          </a:xfrm>
          <a:prstGeom prst="rect">
            <a:avLst/>
          </a:prstGeom>
          <a:noFill/>
        </p:spPr>
        <p:txBody>
          <a:bodyPr wrap="square" rtlCol="0">
            <a:spAutoFit/>
          </a:bodyPr>
          <a:lstStyle/>
          <a:p>
            <a:r>
              <a:rPr lang="en-US" altLang="zh-CN">
                <a:cs typeface="+mn-ea"/>
                <a:sym typeface="+mn-lt"/>
              </a:rPr>
              <a:t>love(0.2 * 0.4 = 0.08)</a:t>
            </a:r>
          </a:p>
        </p:txBody>
      </p:sp>
      <p:sp>
        <p:nvSpPr>
          <p:cNvPr id="19" name="文本框 18"/>
          <p:cNvSpPr txBox="1"/>
          <p:nvPr/>
        </p:nvSpPr>
        <p:spPr>
          <a:xfrm>
            <a:off x="5195570" y="2603500"/>
            <a:ext cx="2440940" cy="368300"/>
          </a:xfrm>
          <a:prstGeom prst="rect">
            <a:avLst/>
          </a:prstGeom>
          <a:noFill/>
        </p:spPr>
        <p:txBody>
          <a:bodyPr wrap="square" rtlCol="0">
            <a:spAutoFit/>
          </a:bodyPr>
          <a:lstStyle/>
          <a:p>
            <a:r>
              <a:rPr lang="en-US" altLang="zh-CN">
                <a:cs typeface="+mn-ea"/>
                <a:sym typeface="+mn-lt"/>
              </a:rPr>
              <a:t>enjoy(0.7 * 0.1 = 0.07)</a:t>
            </a:r>
          </a:p>
        </p:txBody>
      </p:sp>
      <p:sp>
        <p:nvSpPr>
          <p:cNvPr id="20" name="文本框 19"/>
          <p:cNvSpPr txBox="1"/>
          <p:nvPr/>
        </p:nvSpPr>
        <p:spPr>
          <a:xfrm>
            <a:off x="5195570" y="4844415"/>
            <a:ext cx="2527935" cy="368300"/>
          </a:xfrm>
          <a:prstGeom prst="rect">
            <a:avLst/>
          </a:prstGeom>
          <a:noFill/>
        </p:spPr>
        <p:txBody>
          <a:bodyPr wrap="square" rtlCol="0">
            <a:spAutoFit/>
          </a:bodyPr>
          <a:lstStyle/>
          <a:p>
            <a:r>
              <a:rPr lang="en-US" altLang="zh-CN">
                <a:cs typeface="+mn-ea"/>
                <a:sym typeface="+mn-lt"/>
              </a:rPr>
              <a:t>enjoy(0.2 * 0.1 = 0.02)</a:t>
            </a:r>
          </a:p>
        </p:txBody>
      </p:sp>
      <p:sp>
        <p:nvSpPr>
          <p:cNvPr id="28" name="矩形 27"/>
          <p:cNvSpPr/>
          <p:nvPr/>
        </p:nvSpPr>
        <p:spPr>
          <a:xfrm>
            <a:off x="3458845" y="3129915"/>
            <a:ext cx="95123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矩形 29"/>
          <p:cNvSpPr/>
          <p:nvPr/>
        </p:nvSpPr>
        <p:spPr>
          <a:xfrm>
            <a:off x="5195570" y="4844415"/>
            <a:ext cx="244094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30"/>
          <p:cNvSpPr/>
          <p:nvPr/>
        </p:nvSpPr>
        <p:spPr>
          <a:xfrm>
            <a:off x="5195570" y="4222115"/>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p:cNvSpPr/>
          <p:nvPr/>
        </p:nvSpPr>
        <p:spPr>
          <a:xfrm>
            <a:off x="5195570" y="3636645"/>
            <a:ext cx="2439035"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矩形 32"/>
          <p:cNvSpPr/>
          <p:nvPr/>
        </p:nvSpPr>
        <p:spPr>
          <a:xfrm>
            <a:off x="5195570" y="2603500"/>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5195570" y="1989455"/>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0" name="直接箭头连接符 39"/>
          <p:cNvCxnSpPr>
            <a:stCxn id="26" idx="3"/>
            <a:endCxn id="29" idx="1"/>
          </p:cNvCxnSpPr>
          <p:nvPr/>
        </p:nvCxnSpPr>
        <p:spPr>
          <a:xfrm flipV="1">
            <a:off x="2621915" y="2203450"/>
            <a:ext cx="836295" cy="10966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a:stCxn id="26" idx="3"/>
            <a:endCxn id="28" idx="1"/>
          </p:cNvCxnSpPr>
          <p:nvPr/>
        </p:nvCxnSpPr>
        <p:spPr>
          <a:xfrm>
            <a:off x="2621915" y="3300095"/>
            <a:ext cx="836930" cy="285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a:endCxn id="27" idx="1"/>
          </p:cNvCxnSpPr>
          <p:nvPr/>
        </p:nvCxnSpPr>
        <p:spPr>
          <a:xfrm>
            <a:off x="2600325" y="3277870"/>
            <a:ext cx="858520" cy="1146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a:stCxn id="29" idx="3"/>
            <a:endCxn id="35" idx="1"/>
          </p:cNvCxnSpPr>
          <p:nvPr/>
        </p:nvCxnSpPr>
        <p:spPr>
          <a:xfrm flipV="1">
            <a:off x="4410075" y="1574165"/>
            <a:ext cx="785495" cy="62928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4" name="直接箭头连接符 43"/>
          <p:cNvCxnSpPr>
            <a:endCxn id="34" idx="1"/>
          </p:cNvCxnSpPr>
          <p:nvPr/>
        </p:nvCxnSpPr>
        <p:spPr>
          <a:xfrm flipV="1">
            <a:off x="4405630" y="2188210"/>
            <a:ext cx="789940" cy="190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5" name="直接箭头连接符 44"/>
          <p:cNvCxnSpPr>
            <a:endCxn id="33" idx="1"/>
          </p:cNvCxnSpPr>
          <p:nvPr/>
        </p:nvCxnSpPr>
        <p:spPr>
          <a:xfrm>
            <a:off x="4405630" y="2172335"/>
            <a:ext cx="789940" cy="629920"/>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6" name="直接箭头连接符 45"/>
          <p:cNvCxnSpPr>
            <a:stCxn id="27" idx="3"/>
            <a:endCxn id="32" idx="1"/>
          </p:cNvCxnSpPr>
          <p:nvPr/>
        </p:nvCxnSpPr>
        <p:spPr>
          <a:xfrm flipV="1">
            <a:off x="4410710" y="3835400"/>
            <a:ext cx="784860" cy="5892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7" name="直接箭头连接符 46"/>
          <p:cNvCxnSpPr>
            <a:endCxn id="31" idx="1"/>
          </p:cNvCxnSpPr>
          <p:nvPr/>
        </p:nvCxnSpPr>
        <p:spPr>
          <a:xfrm>
            <a:off x="4414520" y="4401820"/>
            <a:ext cx="781050" cy="190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8" name="直接箭头连接符 47"/>
          <p:cNvCxnSpPr>
            <a:endCxn id="30" idx="1"/>
          </p:cNvCxnSpPr>
          <p:nvPr/>
        </p:nvCxnSpPr>
        <p:spPr>
          <a:xfrm>
            <a:off x="4423410" y="4428490"/>
            <a:ext cx="772160" cy="6146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458845" y="4225925"/>
            <a:ext cx="95186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矩形 37"/>
          <p:cNvSpPr/>
          <p:nvPr/>
        </p:nvSpPr>
        <p:spPr>
          <a:xfrm>
            <a:off x="8342630" y="1698625"/>
            <a:ext cx="304736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8342630" y="1713230"/>
            <a:ext cx="290385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learning(0.42 * 0.3 = 0.126)</a:t>
            </a:r>
          </a:p>
        </p:txBody>
      </p:sp>
      <p:sp>
        <p:nvSpPr>
          <p:cNvPr id="39" name="矩形 38"/>
          <p:cNvSpPr/>
          <p:nvPr/>
        </p:nvSpPr>
        <p:spPr>
          <a:xfrm>
            <a:off x="8342630" y="1202690"/>
            <a:ext cx="304736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p:cNvSpPr txBox="1"/>
          <p:nvPr/>
        </p:nvSpPr>
        <p:spPr>
          <a:xfrm>
            <a:off x="5195570" y="2004060"/>
            <a:ext cx="2441575" cy="368300"/>
          </a:xfrm>
          <a:prstGeom prst="rect">
            <a:avLst/>
          </a:prstGeom>
          <a:solidFill>
            <a:schemeClr val="accent3">
              <a:lumMod val="20000"/>
              <a:lumOff val="80000"/>
            </a:schemeClr>
          </a:solidFill>
        </p:spPr>
        <p:txBody>
          <a:bodyPr wrap="square" rtlCol="0">
            <a:spAutoFit/>
          </a:bodyPr>
          <a:lstStyle/>
          <a:p>
            <a:r>
              <a:rPr lang="en-US" altLang="zh-CN">
                <a:cs typeface="+mn-ea"/>
                <a:sym typeface="+mn-lt"/>
              </a:rPr>
              <a:t>love(0.7 * 0.3 = 0.21)</a:t>
            </a:r>
          </a:p>
        </p:txBody>
      </p:sp>
      <p:sp>
        <p:nvSpPr>
          <p:cNvPr id="35" name="矩形 34"/>
          <p:cNvSpPr/>
          <p:nvPr/>
        </p:nvSpPr>
        <p:spPr>
          <a:xfrm>
            <a:off x="5195570" y="1375410"/>
            <a:ext cx="244157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28"/>
          <p:cNvSpPr/>
          <p:nvPr/>
        </p:nvSpPr>
        <p:spPr>
          <a:xfrm>
            <a:off x="3458210" y="2004695"/>
            <a:ext cx="95186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p:cNvSpPr/>
          <p:nvPr/>
        </p:nvSpPr>
        <p:spPr>
          <a:xfrm>
            <a:off x="1255395" y="3101340"/>
            <a:ext cx="1366520"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机器翻译中的局部束搜索</a:t>
            </a:r>
            <a:endParaRPr lang="zh-CN" altLang="en-US" dirty="0">
              <a:latin typeface="+mn-lt"/>
              <a:ea typeface="+mn-ea"/>
              <a:cs typeface="+mn-ea"/>
              <a:sym typeface="+mn-lt"/>
            </a:endParaRPr>
          </a:p>
        </p:txBody>
      </p:sp>
      <p:sp>
        <p:nvSpPr>
          <p:cNvPr id="5" name="文本框 4"/>
          <p:cNvSpPr txBox="1"/>
          <p:nvPr/>
        </p:nvSpPr>
        <p:spPr>
          <a:xfrm>
            <a:off x="1255395" y="3101340"/>
            <a:ext cx="1454785" cy="368300"/>
          </a:xfrm>
          <a:prstGeom prst="rect">
            <a:avLst/>
          </a:prstGeom>
          <a:noFill/>
        </p:spPr>
        <p:txBody>
          <a:bodyPr wrap="square" rtlCol="0">
            <a:spAutoFit/>
          </a:bodyPr>
          <a:lstStyle/>
          <a:p>
            <a:r>
              <a:rPr lang="zh-CN" altLang="en-US">
                <a:cs typeface="+mn-ea"/>
                <a:sym typeface="+mn-lt"/>
              </a:rPr>
              <a:t>我喜欢学习</a:t>
            </a:r>
          </a:p>
        </p:txBody>
      </p:sp>
      <p:sp>
        <p:nvSpPr>
          <p:cNvPr id="6" name="文本框 5"/>
          <p:cNvSpPr txBox="1"/>
          <p:nvPr/>
        </p:nvSpPr>
        <p:spPr>
          <a:xfrm>
            <a:off x="3547110" y="2004060"/>
            <a:ext cx="782320" cy="368300"/>
          </a:xfrm>
          <a:prstGeom prst="rect">
            <a:avLst/>
          </a:prstGeom>
          <a:noFill/>
        </p:spPr>
        <p:txBody>
          <a:bodyPr wrap="square" rtlCol="0">
            <a:spAutoFit/>
          </a:bodyPr>
          <a:lstStyle/>
          <a:p>
            <a:r>
              <a:rPr lang="en-US" altLang="zh-CN">
                <a:cs typeface="+mn-ea"/>
                <a:sym typeface="+mn-lt"/>
              </a:rPr>
              <a:t>I (0.7)</a:t>
            </a:r>
          </a:p>
        </p:txBody>
      </p:sp>
      <p:sp>
        <p:nvSpPr>
          <p:cNvPr id="7" name="文本框 6"/>
          <p:cNvSpPr txBox="1"/>
          <p:nvPr/>
        </p:nvSpPr>
        <p:spPr>
          <a:xfrm>
            <a:off x="3458845" y="4255135"/>
            <a:ext cx="94678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We(0.2)</a:t>
            </a:r>
          </a:p>
        </p:txBody>
      </p:sp>
      <p:sp>
        <p:nvSpPr>
          <p:cNvPr id="14" name="文本框 13"/>
          <p:cNvSpPr txBox="1"/>
          <p:nvPr/>
        </p:nvSpPr>
        <p:spPr>
          <a:xfrm>
            <a:off x="3458845" y="3129915"/>
            <a:ext cx="869950" cy="368300"/>
          </a:xfrm>
          <a:prstGeom prst="rect">
            <a:avLst/>
          </a:prstGeom>
          <a:noFill/>
        </p:spPr>
        <p:txBody>
          <a:bodyPr wrap="square" rtlCol="0">
            <a:spAutoFit/>
          </a:bodyPr>
          <a:lstStyle/>
          <a:p>
            <a:r>
              <a:rPr lang="en-US" altLang="zh-CN">
                <a:cs typeface="+mn-ea"/>
                <a:sym typeface="+mn-lt"/>
              </a:rPr>
              <a:t>He(0.1)</a:t>
            </a:r>
          </a:p>
        </p:txBody>
      </p:sp>
      <p:sp>
        <p:nvSpPr>
          <p:cNvPr id="15" name="文本框 14"/>
          <p:cNvSpPr txBox="1"/>
          <p:nvPr/>
        </p:nvSpPr>
        <p:spPr>
          <a:xfrm>
            <a:off x="5195570" y="1404620"/>
            <a:ext cx="2225675" cy="368300"/>
          </a:xfrm>
          <a:prstGeom prst="rect">
            <a:avLst/>
          </a:prstGeom>
          <a:noFill/>
        </p:spPr>
        <p:txBody>
          <a:bodyPr wrap="square" rtlCol="0">
            <a:spAutoFit/>
          </a:bodyPr>
          <a:lstStyle/>
          <a:p>
            <a:r>
              <a:rPr lang="en-US" altLang="zh-CN">
                <a:cs typeface="+mn-ea"/>
                <a:sym typeface="+mn-lt"/>
              </a:rPr>
              <a:t>like(0.7 * 0.6 = 0.42)</a:t>
            </a:r>
          </a:p>
        </p:txBody>
      </p:sp>
      <p:sp>
        <p:nvSpPr>
          <p:cNvPr id="17" name="文本框 16"/>
          <p:cNvSpPr txBox="1"/>
          <p:nvPr/>
        </p:nvSpPr>
        <p:spPr>
          <a:xfrm>
            <a:off x="5195570" y="3665855"/>
            <a:ext cx="2519680" cy="368300"/>
          </a:xfrm>
          <a:prstGeom prst="rect">
            <a:avLst/>
          </a:prstGeom>
          <a:noFill/>
        </p:spPr>
        <p:txBody>
          <a:bodyPr wrap="square" rtlCol="0">
            <a:spAutoFit/>
          </a:bodyPr>
          <a:lstStyle/>
          <a:p>
            <a:r>
              <a:rPr lang="en-US" altLang="zh-CN">
                <a:cs typeface="+mn-ea"/>
                <a:sym typeface="+mn-lt"/>
              </a:rPr>
              <a:t>like(0.2 * 0.5 = 0.10)</a:t>
            </a:r>
          </a:p>
        </p:txBody>
      </p:sp>
      <p:sp>
        <p:nvSpPr>
          <p:cNvPr id="18" name="文本框 17"/>
          <p:cNvSpPr txBox="1"/>
          <p:nvPr/>
        </p:nvSpPr>
        <p:spPr>
          <a:xfrm>
            <a:off x="5195570" y="4255135"/>
            <a:ext cx="2440305" cy="368300"/>
          </a:xfrm>
          <a:prstGeom prst="rect">
            <a:avLst/>
          </a:prstGeom>
          <a:noFill/>
        </p:spPr>
        <p:txBody>
          <a:bodyPr wrap="square" rtlCol="0">
            <a:spAutoFit/>
          </a:bodyPr>
          <a:lstStyle/>
          <a:p>
            <a:r>
              <a:rPr lang="en-US" altLang="zh-CN">
                <a:cs typeface="+mn-ea"/>
                <a:sym typeface="+mn-lt"/>
              </a:rPr>
              <a:t>love(0.2 * 0.4 = 0.08)</a:t>
            </a:r>
          </a:p>
        </p:txBody>
      </p:sp>
      <p:sp>
        <p:nvSpPr>
          <p:cNvPr id="19" name="文本框 18"/>
          <p:cNvSpPr txBox="1"/>
          <p:nvPr/>
        </p:nvSpPr>
        <p:spPr>
          <a:xfrm>
            <a:off x="5195570" y="2603500"/>
            <a:ext cx="2440940" cy="368300"/>
          </a:xfrm>
          <a:prstGeom prst="rect">
            <a:avLst/>
          </a:prstGeom>
          <a:noFill/>
        </p:spPr>
        <p:txBody>
          <a:bodyPr wrap="square" rtlCol="0">
            <a:spAutoFit/>
          </a:bodyPr>
          <a:lstStyle/>
          <a:p>
            <a:r>
              <a:rPr lang="en-US" altLang="zh-CN">
                <a:cs typeface="+mn-ea"/>
                <a:sym typeface="+mn-lt"/>
              </a:rPr>
              <a:t>enjoy(0.7 * 0.1 = 0.07)</a:t>
            </a:r>
          </a:p>
        </p:txBody>
      </p:sp>
      <p:sp>
        <p:nvSpPr>
          <p:cNvPr id="20" name="文本框 19"/>
          <p:cNvSpPr txBox="1"/>
          <p:nvPr/>
        </p:nvSpPr>
        <p:spPr>
          <a:xfrm>
            <a:off x="5195570" y="4844415"/>
            <a:ext cx="2527935" cy="368300"/>
          </a:xfrm>
          <a:prstGeom prst="rect">
            <a:avLst/>
          </a:prstGeom>
          <a:noFill/>
        </p:spPr>
        <p:txBody>
          <a:bodyPr wrap="square" rtlCol="0">
            <a:spAutoFit/>
          </a:bodyPr>
          <a:lstStyle/>
          <a:p>
            <a:r>
              <a:rPr lang="en-US" altLang="zh-CN">
                <a:cs typeface="+mn-ea"/>
                <a:sym typeface="+mn-lt"/>
              </a:rPr>
              <a:t>enjoy(0.2 * 0.1 = 0.02)</a:t>
            </a:r>
          </a:p>
        </p:txBody>
      </p:sp>
      <p:sp>
        <p:nvSpPr>
          <p:cNvPr id="21" name="文本框 20"/>
          <p:cNvSpPr txBox="1"/>
          <p:nvPr/>
        </p:nvSpPr>
        <p:spPr>
          <a:xfrm>
            <a:off x="8342630" y="1198880"/>
            <a:ext cx="2960370" cy="368300"/>
          </a:xfrm>
          <a:prstGeom prst="rect">
            <a:avLst/>
          </a:prstGeom>
          <a:noFill/>
        </p:spPr>
        <p:txBody>
          <a:bodyPr wrap="square" rtlCol="0">
            <a:spAutoFit/>
          </a:bodyPr>
          <a:lstStyle/>
          <a:p>
            <a:r>
              <a:rPr lang="en-US" altLang="zh-CN">
                <a:cs typeface="+mn-ea"/>
                <a:sym typeface="+mn-lt"/>
              </a:rPr>
              <a:t>studying(0.42 * 0.7 = 0.294)</a:t>
            </a:r>
          </a:p>
        </p:txBody>
      </p:sp>
      <p:sp>
        <p:nvSpPr>
          <p:cNvPr id="24" name="文本框 23"/>
          <p:cNvSpPr txBox="1"/>
          <p:nvPr/>
        </p:nvSpPr>
        <p:spPr>
          <a:xfrm>
            <a:off x="8342630" y="2227580"/>
            <a:ext cx="3470910" cy="368300"/>
          </a:xfrm>
          <a:prstGeom prst="rect">
            <a:avLst/>
          </a:prstGeom>
          <a:noFill/>
        </p:spPr>
        <p:txBody>
          <a:bodyPr wrap="square" rtlCol="0">
            <a:spAutoFit/>
          </a:bodyPr>
          <a:lstStyle/>
          <a:p>
            <a:r>
              <a:rPr lang="en-US" altLang="zh-CN">
                <a:cs typeface="+mn-ea"/>
                <a:sym typeface="+mn-lt"/>
              </a:rPr>
              <a:t>studying(0.21 * 0.5 = 0.105)</a:t>
            </a:r>
          </a:p>
        </p:txBody>
      </p:sp>
      <p:sp>
        <p:nvSpPr>
          <p:cNvPr id="25" name="文本框 24"/>
          <p:cNvSpPr txBox="1"/>
          <p:nvPr/>
        </p:nvSpPr>
        <p:spPr>
          <a:xfrm>
            <a:off x="8342630" y="2719070"/>
            <a:ext cx="3550285" cy="368300"/>
          </a:xfrm>
          <a:prstGeom prst="rect">
            <a:avLst/>
          </a:prstGeom>
          <a:noFill/>
        </p:spPr>
        <p:txBody>
          <a:bodyPr wrap="square" rtlCol="0">
            <a:spAutoFit/>
          </a:bodyPr>
          <a:lstStyle/>
          <a:p>
            <a:r>
              <a:rPr lang="en-US" altLang="zh-CN">
                <a:cs typeface="+mn-ea"/>
                <a:sym typeface="+mn-lt"/>
              </a:rPr>
              <a:t>learning(0.21 * 0.5 = 0.105)</a:t>
            </a:r>
          </a:p>
        </p:txBody>
      </p:sp>
      <p:sp>
        <p:nvSpPr>
          <p:cNvPr id="28" name="矩形 27"/>
          <p:cNvSpPr/>
          <p:nvPr/>
        </p:nvSpPr>
        <p:spPr>
          <a:xfrm>
            <a:off x="3458845" y="3129915"/>
            <a:ext cx="95123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矩形 29"/>
          <p:cNvSpPr/>
          <p:nvPr/>
        </p:nvSpPr>
        <p:spPr>
          <a:xfrm>
            <a:off x="5195570" y="4844415"/>
            <a:ext cx="244094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30"/>
          <p:cNvSpPr/>
          <p:nvPr/>
        </p:nvSpPr>
        <p:spPr>
          <a:xfrm>
            <a:off x="5195570" y="4222115"/>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p:cNvSpPr/>
          <p:nvPr/>
        </p:nvSpPr>
        <p:spPr>
          <a:xfrm>
            <a:off x="5195570" y="3636645"/>
            <a:ext cx="2439035"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矩形 32"/>
          <p:cNvSpPr/>
          <p:nvPr/>
        </p:nvSpPr>
        <p:spPr>
          <a:xfrm>
            <a:off x="5195570" y="2603500"/>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5195570" y="1989455"/>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a:off x="8342630" y="2741295"/>
            <a:ext cx="3047365"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8342630" y="2222500"/>
            <a:ext cx="3047365"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0" name="直接箭头连接符 39"/>
          <p:cNvCxnSpPr>
            <a:stCxn id="26" idx="3"/>
            <a:endCxn id="29" idx="1"/>
          </p:cNvCxnSpPr>
          <p:nvPr/>
        </p:nvCxnSpPr>
        <p:spPr>
          <a:xfrm flipV="1">
            <a:off x="2621915" y="2203450"/>
            <a:ext cx="836295" cy="10966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a:stCxn id="26" idx="3"/>
            <a:endCxn id="28" idx="1"/>
          </p:cNvCxnSpPr>
          <p:nvPr/>
        </p:nvCxnSpPr>
        <p:spPr>
          <a:xfrm>
            <a:off x="2621915" y="3300095"/>
            <a:ext cx="836930" cy="285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a:endCxn id="27" idx="1"/>
          </p:cNvCxnSpPr>
          <p:nvPr/>
        </p:nvCxnSpPr>
        <p:spPr>
          <a:xfrm>
            <a:off x="2600325" y="3277870"/>
            <a:ext cx="858520" cy="1146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a:stCxn id="29" idx="3"/>
            <a:endCxn id="35" idx="1"/>
          </p:cNvCxnSpPr>
          <p:nvPr/>
        </p:nvCxnSpPr>
        <p:spPr>
          <a:xfrm flipV="1">
            <a:off x="4410075" y="1574165"/>
            <a:ext cx="785495" cy="62928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4" name="直接箭头连接符 43"/>
          <p:cNvCxnSpPr>
            <a:endCxn id="34" idx="1"/>
          </p:cNvCxnSpPr>
          <p:nvPr/>
        </p:nvCxnSpPr>
        <p:spPr>
          <a:xfrm flipV="1">
            <a:off x="4405630" y="2188210"/>
            <a:ext cx="789940" cy="190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5" name="直接箭头连接符 44"/>
          <p:cNvCxnSpPr>
            <a:endCxn id="33" idx="1"/>
          </p:cNvCxnSpPr>
          <p:nvPr/>
        </p:nvCxnSpPr>
        <p:spPr>
          <a:xfrm>
            <a:off x="4405630" y="2172335"/>
            <a:ext cx="789940" cy="629920"/>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6" name="直接箭头连接符 45"/>
          <p:cNvCxnSpPr>
            <a:stCxn id="27" idx="3"/>
            <a:endCxn id="32" idx="1"/>
          </p:cNvCxnSpPr>
          <p:nvPr/>
        </p:nvCxnSpPr>
        <p:spPr>
          <a:xfrm flipV="1">
            <a:off x="4410710" y="3835400"/>
            <a:ext cx="784860" cy="5892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7" name="直接箭头连接符 46"/>
          <p:cNvCxnSpPr>
            <a:endCxn id="31" idx="1"/>
          </p:cNvCxnSpPr>
          <p:nvPr/>
        </p:nvCxnSpPr>
        <p:spPr>
          <a:xfrm>
            <a:off x="4414520" y="4401820"/>
            <a:ext cx="781050" cy="190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8" name="直接箭头连接符 47"/>
          <p:cNvCxnSpPr>
            <a:endCxn id="30" idx="1"/>
          </p:cNvCxnSpPr>
          <p:nvPr/>
        </p:nvCxnSpPr>
        <p:spPr>
          <a:xfrm>
            <a:off x="4423410" y="4428490"/>
            <a:ext cx="772160" cy="6146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9" name="直接箭头连接符 48"/>
          <p:cNvCxnSpPr>
            <a:stCxn id="35" idx="3"/>
            <a:endCxn id="39" idx="1"/>
          </p:cNvCxnSpPr>
          <p:nvPr/>
        </p:nvCxnSpPr>
        <p:spPr>
          <a:xfrm flipV="1">
            <a:off x="7637145" y="1401445"/>
            <a:ext cx="705485" cy="1727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0" name="直接箭头连接符 49"/>
          <p:cNvCxnSpPr>
            <a:endCxn id="38" idx="1"/>
          </p:cNvCxnSpPr>
          <p:nvPr/>
        </p:nvCxnSpPr>
        <p:spPr>
          <a:xfrm>
            <a:off x="7634605" y="1561465"/>
            <a:ext cx="708025" cy="3359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1" name="直接箭头连接符 50"/>
          <p:cNvCxnSpPr>
            <a:endCxn id="37" idx="1"/>
          </p:cNvCxnSpPr>
          <p:nvPr/>
        </p:nvCxnSpPr>
        <p:spPr>
          <a:xfrm>
            <a:off x="7637145" y="2172335"/>
            <a:ext cx="705485" cy="2489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2" name="直接箭头连接符 51"/>
          <p:cNvCxnSpPr>
            <a:stCxn id="34" idx="3"/>
            <a:endCxn id="36" idx="1"/>
          </p:cNvCxnSpPr>
          <p:nvPr/>
        </p:nvCxnSpPr>
        <p:spPr>
          <a:xfrm>
            <a:off x="7635240" y="2188210"/>
            <a:ext cx="707390" cy="7518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8342630" y="1698625"/>
            <a:ext cx="3047365" cy="397510"/>
          </a:xfrm>
          <a:prstGeom prst="rect">
            <a:avLst/>
          </a:prstGeom>
          <a:noFill/>
          <a:ln>
            <a:solidFill>
              <a:schemeClr val="accent3"/>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8342630" y="1713230"/>
            <a:ext cx="290385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learning(0.42 * 0.3 = 0.126)</a:t>
            </a:r>
          </a:p>
        </p:txBody>
      </p:sp>
      <p:sp>
        <p:nvSpPr>
          <p:cNvPr id="39" name="矩形 38"/>
          <p:cNvSpPr/>
          <p:nvPr/>
        </p:nvSpPr>
        <p:spPr>
          <a:xfrm>
            <a:off x="8342630" y="1202690"/>
            <a:ext cx="304736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p:cNvSpPr txBox="1"/>
          <p:nvPr/>
        </p:nvSpPr>
        <p:spPr>
          <a:xfrm>
            <a:off x="5195570" y="2004060"/>
            <a:ext cx="244157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love(0.7 * 0.3 = 0.21)</a:t>
            </a:r>
          </a:p>
        </p:txBody>
      </p:sp>
      <p:sp>
        <p:nvSpPr>
          <p:cNvPr id="35" name="矩形 34"/>
          <p:cNvSpPr/>
          <p:nvPr/>
        </p:nvSpPr>
        <p:spPr>
          <a:xfrm>
            <a:off x="5195570" y="1375410"/>
            <a:ext cx="244157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28"/>
          <p:cNvSpPr/>
          <p:nvPr/>
        </p:nvSpPr>
        <p:spPr>
          <a:xfrm>
            <a:off x="3458210" y="2004695"/>
            <a:ext cx="951865"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p:cNvSpPr/>
          <p:nvPr/>
        </p:nvSpPr>
        <p:spPr>
          <a:xfrm>
            <a:off x="1255395" y="3101340"/>
            <a:ext cx="1366520" cy="397510"/>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normAutofit/>
          </a:bodyPr>
          <a:lstStyle/>
          <a:p>
            <a:r>
              <a:rPr lang="en-US" altLang="zh-CN" sz="3600" dirty="0" err="1">
                <a:latin typeface="+mn-lt"/>
                <a:ea typeface="+mn-ea"/>
                <a:cs typeface="+mn-ea"/>
                <a:sym typeface="+mn-lt"/>
              </a:rPr>
              <a:t>机器翻译中的局部束搜索</a:t>
            </a:r>
            <a:endParaRPr lang="zh-CN" altLang="en-US" dirty="0">
              <a:latin typeface="+mn-lt"/>
              <a:ea typeface="+mn-ea"/>
              <a:cs typeface="+mn-ea"/>
              <a:sym typeface="+mn-lt"/>
            </a:endParaRPr>
          </a:p>
        </p:txBody>
      </p:sp>
      <p:sp>
        <p:nvSpPr>
          <p:cNvPr id="5" name="文本框 4"/>
          <p:cNvSpPr txBox="1"/>
          <p:nvPr/>
        </p:nvSpPr>
        <p:spPr>
          <a:xfrm>
            <a:off x="1255395" y="3101340"/>
            <a:ext cx="1454785" cy="368300"/>
          </a:xfrm>
          <a:prstGeom prst="rect">
            <a:avLst/>
          </a:prstGeom>
          <a:noFill/>
        </p:spPr>
        <p:txBody>
          <a:bodyPr wrap="square" rtlCol="0">
            <a:spAutoFit/>
          </a:bodyPr>
          <a:lstStyle/>
          <a:p>
            <a:r>
              <a:rPr lang="zh-CN" altLang="en-US">
                <a:cs typeface="+mn-ea"/>
                <a:sym typeface="+mn-lt"/>
              </a:rPr>
              <a:t>我喜欢学习</a:t>
            </a:r>
          </a:p>
        </p:txBody>
      </p:sp>
      <p:sp>
        <p:nvSpPr>
          <p:cNvPr id="6" name="文本框 5"/>
          <p:cNvSpPr txBox="1"/>
          <p:nvPr/>
        </p:nvSpPr>
        <p:spPr>
          <a:xfrm>
            <a:off x="3547110" y="2004060"/>
            <a:ext cx="782320" cy="368300"/>
          </a:xfrm>
          <a:prstGeom prst="rect">
            <a:avLst/>
          </a:prstGeom>
          <a:noFill/>
        </p:spPr>
        <p:txBody>
          <a:bodyPr wrap="square" rtlCol="0">
            <a:spAutoFit/>
          </a:bodyPr>
          <a:lstStyle/>
          <a:p>
            <a:r>
              <a:rPr lang="en-US" altLang="zh-CN">
                <a:cs typeface="+mn-ea"/>
                <a:sym typeface="+mn-lt"/>
              </a:rPr>
              <a:t>I (0.7)</a:t>
            </a:r>
          </a:p>
        </p:txBody>
      </p:sp>
      <p:sp>
        <p:nvSpPr>
          <p:cNvPr id="7" name="文本框 6"/>
          <p:cNvSpPr txBox="1"/>
          <p:nvPr/>
        </p:nvSpPr>
        <p:spPr>
          <a:xfrm>
            <a:off x="3458845" y="4255135"/>
            <a:ext cx="1047115" cy="368300"/>
          </a:xfrm>
          <a:prstGeom prst="rect">
            <a:avLst/>
          </a:prstGeom>
          <a:noFill/>
          <a:extLst>
            <a:ext uri="{909E8E84-426E-40DD-AFC4-6F175D3DCCD1}">
              <a14:hiddenFill xmlns:a14="http://schemas.microsoft.com/office/drawing/2010/main">
                <a:solidFill>
                  <a:schemeClr val="accent3">
                    <a:lumMod val="20000"/>
                    <a:lumOff val="80000"/>
                  </a:schemeClr>
                </a:solidFill>
              </a14:hiddenFill>
            </a:ext>
          </a:extLst>
        </p:spPr>
        <p:txBody>
          <a:bodyPr wrap="square" rtlCol="0">
            <a:spAutoFit/>
          </a:bodyPr>
          <a:lstStyle/>
          <a:p>
            <a:r>
              <a:rPr lang="en-US" altLang="zh-CN">
                <a:cs typeface="+mn-ea"/>
                <a:sym typeface="+mn-lt"/>
              </a:rPr>
              <a:t>We(0.2)</a:t>
            </a:r>
          </a:p>
        </p:txBody>
      </p:sp>
      <p:sp>
        <p:nvSpPr>
          <p:cNvPr id="14" name="文本框 13"/>
          <p:cNvSpPr txBox="1"/>
          <p:nvPr/>
        </p:nvSpPr>
        <p:spPr>
          <a:xfrm>
            <a:off x="3458845" y="3129915"/>
            <a:ext cx="869950" cy="368300"/>
          </a:xfrm>
          <a:prstGeom prst="rect">
            <a:avLst/>
          </a:prstGeom>
          <a:noFill/>
        </p:spPr>
        <p:txBody>
          <a:bodyPr wrap="square" rtlCol="0">
            <a:spAutoFit/>
          </a:bodyPr>
          <a:lstStyle/>
          <a:p>
            <a:r>
              <a:rPr lang="en-US" altLang="zh-CN">
                <a:cs typeface="+mn-ea"/>
                <a:sym typeface="+mn-lt"/>
              </a:rPr>
              <a:t>He(0.1)</a:t>
            </a:r>
          </a:p>
        </p:txBody>
      </p:sp>
      <p:sp>
        <p:nvSpPr>
          <p:cNvPr id="15" name="文本框 14"/>
          <p:cNvSpPr txBox="1"/>
          <p:nvPr/>
        </p:nvSpPr>
        <p:spPr>
          <a:xfrm>
            <a:off x="5195570" y="1404620"/>
            <a:ext cx="2225675" cy="368300"/>
          </a:xfrm>
          <a:prstGeom prst="rect">
            <a:avLst/>
          </a:prstGeom>
          <a:noFill/>
        </p:spPr>
        <p:txBody>
          <a:bodyPr wrap="square" rtlCol="0">
            <a:spAutoFit/>
          </a:bodyPr>
          <a:lstStyle/>
          <a:p>
            <a:r>
              <a:rPr lang="en-US" altLang="zh-CN">
                <a:cs typeface="+mn-ea"/>
                <a:sym typeface="+mn-lt"/>
              </a:rPr>
              <a:t>like(0.7 * 0.6 = 0.42)</a:t>
            </a:r>
          </a:p>
        </p:txBody>
      </p:sp>
      <p:sp>
        <p:nvSpPr>
          <p:cNvPr id="17" name="文本框 16"/>
          <p:cNvSpPr txBox="1"/>
          <p:nvPr/>
        </p:nvSpPr>
        <p:spPr>
          <a:xfrm>
            <a:off x="5195570" y="3665855"/>
            <a:ext cx="2519680" cy="368300"/>
          </a:xfrm>
          <a:prstGeom prst="rect">
            <a:avLst/>
          </a:prstGeom>
          <a:noFill/>
        </p:spPr>
        <p:txBody>
          <a:bodyPr wrap="square" rtlCol="0">
            <a:spAutoFit/>
          </a:bodyPr>
          <a:lstStyle/>
          <a:p>
            <a:r>
              <a:rPr lang="en-US" altLang="zh-CN">
                <a:cs typeface="+mn-ea"/>
                <a:sym typeface="+mn-lt"/>
              </a:rPr>
              <a:t>like(0.2 * 0.5 = 0.10)</a:t>
            </a:r>
          </a:p>
        </p:txBody>
      </p:sp>
      <p:sp>
        <p:nvSpPr>
          <p:cNvPr id="18" name="文本框 17"/>
          <p:cNvSpPr txBox="1"/>
          <p:nvPr/>
        </p:nvSpPr>
        <p:spPr>
          <a:xfrm>
            <a:off x="5195570" y="4255135"/>
            <a:ext cx="2440305" cy="368300"/>
          </a:xfrm>
          <a:prstGeom prst="rect">
            <a:avLst/>
          </a:prstGeom>
          <a:noFill/>
        </p:spPr>
        <p:txBody>
          <a:bodyPr wrap="square" rtlCol="0">
            <a:spAutoFit/>
          </a:bodyPr>
          <a:lstStyle/>
          <a:p>
            <a:r>
              <a:rPr lang="en-US" altLang="zh-CN">
                <a:cs typeface="+mn-ea"/>
                <a:sym typeface="+mn-lt"/>
              </a:rPr>
              <a:t>love(0.2 * 0.4 = 0.08)</a:t>
            </a:r>
          </a:p>
        </p:txBody>
      </p:sp>
      <p:sp>
        <p:nvSpPr>
          <p:cNvPr id="19" name="文本框 18"/>
          <p:cNvSpPr txBox="1"/>
          <p:nvPr/>
        </p:nvSpPr>
        <p:spPr>
          <a:xfrm>
            <a:off x="5195570" y="2603500"/>
            <a:ext cx="2440940" cy="368300"/>
          </a:xfrm>
          <a:prstGeom prst="rect">
            <a:avLst/>
          </a:prstGeom>
          <a:noFill/>
        </p:spPr>
        <p:txBody>
          <a:bodyPr wrap="square" rtlCol="0">
            <a:spAutoFit/>
          </a:bodyPr>
          <a:lstStyle/>
          <a:p>
            <a:r>
              <a:rPr lang="en-US" altLang="zh-CN">
                <a:cs typeface="+mn-ea"/>
                <a:sym typeface="+mn-lt"/>
              </a:rPr>
              <a:t>enjoy(0.7 * 0.1 = 0.07)</a:t>
            </a:r>
          </a:p>
        </p:txBody>
      </p:sp>
      <p:sp>
        <p:nvSpPr>
          <p:cNvPr id="20" name="文本框 19"/>
          <p:cNvSpPr txBox="1"/>
          <p:nvPr/>
        </p:nvSpPr>
        <p:spPr>
          <a:xfrm>
            <a:off x="5195570" y="4844415"/>
            <a:ext cx="2527935" cy="368300"/>
          </a:xfrm>
          <a:prstGeom prst="rect">
            <a:avLst/>
          </a:prstGeom>
          <a:noFill/>
        </p:spPr>
        <p:txBody>
          <a:bodyPr wrap="square" rtlCol="0">
            <a:spAutoFit/>
          </a:bodyPr>
          <a:lstStyle/>
          <a:p>
            <a:r>
              <a:rPr lang="en-US" altLang="zh-CN">
                <a:cs typeface="+mn-ea"/>
                <a:sym typeface="+mn-lt"/>
              </a:rPr>
              <a:t>enjoy(0.2 * 0.1 = 0.02)</a:t>
            </a:r>
          </a:p>
        </p:txBody>
      </p:sp>
      <p:sp>
        <p:nvSpPr>
          <p:cNvPr id="21" name="文本框 20"/>
          <p:cNvSpPr txBox="1"/>
          <p:nvPr/>
        </p:nvSpPr>
        <p:spPr>
          <a:xfrm>
            <a:off x="8342630" y="1198880"/>
            <a:ext cx="3603625" cy="368300"/>
          </a:xfrm>
          <a:prstGeom prst="rect">
            <a:avLst/>
          </a:prstGeom>
          <a:noFill/>
        </p:spPr>
        <p:txBody>
          <a:bodyPr wrap="square" rtlCol="0">
            <a:spAutoFit/>
          </a:bodyPr>
          <a:lstStyle/>
          <a:p>
            <a:r>
              <a:rPr lang="en-US" altLang="zh-CN">
                <a:cs typeface="+mn-ea"/>
                <a:sym typeface="+mn-lt"/>
              </a:rPr>
              <a:t>studying(0.42 * 0.7 = 0.294)</a:t>
            </a:r>
          </a:p>
        </p:txBody>
      </p:sp>
      <p:sp>
        <p:nvSpPr>
          <p:cNvPr id="24" name="文本框 23"/>
          <p:cNvSpPr txBox="1"/>
          <p:nvPr/>
        </p:nvSpPr>
        <p:spPr>
          <a:xfrm>
            <a:off x="8342630" y="2227580"/>
            <a:ext cx="3470910" cy="368300"/>
          </a:xfrm>
          <a:prstGeom prst="rect">
            <a:avLst/>
          </a:prstGeom>
          <a:noFill/>
        </p:spPr>
        <p:txBody>
          <a:bodyPr wrap="square" rtlCol="0">
            <a:spAutoFit/>
          </a:bodyPr>
          <a:lstStyle/>
          <a:p>
            <a:r>
              <a:rPr lang="en-US" altLang="zh-CN">
                <a:cs typeface="+mn-ea"/>
                <a:sym typeface="+mn-lt"/>
              </a:rPr>
              <a:t>studying(0.21 * 0.5 = 0.105)</a:t>
            </a:r>
          </a:p>
        </p:txBody>
      </p:sp>
      <p:sp>
        <p:nvSpPr>
          <p:cNvPr id="25" name="文本框 24"/>
          <p:cNvSpPr txBox="1"/>
          <p:nvPr/>
        </p:nvSpPr>
        <p:spPr>
          <a:xfrm>
            <a:off x="8342630" y="2719070"/>
            <a:ext cx="3550285" cy="368300"/>
          </a:xfrm>
          <a:prstGeom prst="rect">
            <a:avLst/>
          </a:prstGeom>
          <a:noFill/>
        </p:spPr>
        <p:txBody>
          <a:bodyPr wrap="square" rtlCol="0">
            <a:spAutoFit/>
          </a:bodyPr>
          <a:lstStyle/>
          <a:p>
            <a:r>
              <a:rPr lang="en-US" altLang="zh-CN">
                <a:cs typeface="+mn-ea"/>
                <a:sym typeface="+mn-lt"/>
              </a:rPr>
              <a:t>learning(0.21 * 0.5 = 0.105)</a:t>
            </a:r>
          </a:p>
        </p:txBody>
      </p:sp>
      <p:sp>
        <p:nvSpPr>
          <p:cNvPr id="27" name="矩形 26"/>
          <p:cNvSpPr/>
          <p:nvPr/>
        </p:nvSpPr>
        <p:spPr>
          <a:xfrm>
            <a:off x="3458845" y="4225925"/>
            <a:ext cx="951865"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矩形 27"/>
          <p:cNvSpPr/>
          <p:nvPr/>
        </p:nvSpPr>
        <p:spPr>
          <a:xfrm>
            <a:off x="3458845" y="3129915"/>
            <a:ext cx="95123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矩形 29"/>
          <p:cNvSpPr/>
          <p:nvPr/>
        </p:nvSpPr>
        <p:spPr>
          <a:xfrm>
            <a:off x="5195570" y="4844415"/>
            <a:ext cx="244094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30"/>
          <p:cNvSpPr/>
          <p:nvPr/>
        </p:nvSpPr>
        <p:spPr>
          <a:xfrm>
            <a:off x="5195570" y="4222115"/>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p:cNvSpPr/>
          <p:nvPr/>
        </p:nvSpPr>
        <p:spPr>
          <a:xfrm>
            <a:off x="5195570" y="3636645"/>
            <a:ext cx="2439035"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矩形 32"/>
          <p:cNvSpPr/>
          <p:nvPr/>
        </p:nvSpPr>
        <p:spPr>
          <a:xfrm>
            <a:off x="5195570" y="2603500"/>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p:cNvSpPr/>
          <p:nvPr/>
        </p:nvSpPr>
        <p:spPr>
          <a:xfrm>
            <a:off x="5195570" y="1989455"/>
            <a:ext cx="2439670"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a:off x="8342630" y="2741295"/>
            <a:ext cx="3047365"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8342630" y="2222500"/>
            <a:ext cx="3047365" cy="39751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0" name="直接箭头连接符 39"/>
          <p:cNvCxnSpPr>
            <a:stCxn id="26" idx="3"/>
            <a:endCxn id="29" idx="1"/>
          </p:cNvCxnSpPr>
          <p:nvPr/>
        </p:nvCxnSpPr>
        <p:spPr>
          <a:xfrm flipV="1">
            <a:off x="2621915" y="2203450"/>
            <a:ext cx="836295" cy="10966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a:stCxn id="26" idx="3"/>
            <a:endCxn id="28" idx="1"/>
          </p:cNvCxnSpPr>
          <p:nvPr/>
        </p:nvCxnSpPr>
        <p:spPr>
          <a:xfrm>
            <a:off x="2621915" y="3300095"/>
            <a:ext cx="836930" cy="285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2" name="直接箭头连接符 41"/>
          <p:cNvCxnSpPr>
            <a:endCxn id="27" idx="1"/>
          </p:cNvCxnSpPr>
          <p:nvPr/>
        </p:nvCxnSpPr>
        <p:spPr>
          <a:xfrm>
            <a:off x="2600325" y="3277870"/>
            <a:ext cx="858520" cy="1146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a:stCxn id="29" idx="3"/>
            <a:endCxn id="35" idx="1"/>
          </p:cNvCxnSpPr>
          <p:nvPr/>
        </p:nvCxnSpPr>
        <p:spPr>
          <a:xfrm flipV="1">
            <a:off x="4410075" y="1574165"/>
            <a:ext cx="785495" cy="62928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4" name="直接箭头连接符 43"/>
          <p:cNvCxnSpPr>
            <a:endCxn id="34" idx="1"/>
          </p:cNvCxnSpPr>
          <p:nvPr/>
        </p:nvCxnSpPr>
        <p:spPr>
          <a:xfrm flipV="1">
            <a:off x="4405630" y="2188210"/>
            <a:ext cx="789940" cy="1905"/>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5" name="直接箭头连接符 44"/>
          <p:cNvCxnSpPr>
            <a:endCxn id="33" idx="1"/>
          </p:cNvCxnSpPr>
          <p:nvPr/>
        </p:nvCxnSpPr>
        <p:spPr>
          <a:xfrm>
            <a:off x="4405630" y="2172335"/>
            <a:ext cx="789940" cy="629920"/>
          </a:xfrm>
          <a:prstGeom prst="straightConnector1">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46" name="直接箭头连接符 45"/>
          <p:cNvCxnSpPr>
            <a:stCxn id="27" idx="3"/>
            <a:endCxn id="32" idx="1"/>
          </p:cNvCxnSpPr>
          <p:nvPr/>
        </p:nvCxnSpPr>
        <p:spPr>
          <a:xfrm flipV="1">
            <a:off x="4410710" y="3835400"/>
            <a:ext cx="784860" cy="5892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7" name="直接箭头连接符 46"/>
          <p:cNvCxnSpPr>
            <a:endCxn id="31" idx="1"/>
          </p:cNvCxnSpPr>
          <p:nvPr/>
        </p:nvCxnSpPr>
        <p:spPr>
          <a:xfrm>
            <a:off x="4414520" y="4401820"/>
            <a:ext cx="781050" cy="190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8" name="直接箭头连接符 47"/>
          <p:cNvCxnSpPr>
            <a:endCxn id="30" idx="1"/>
          </p:cNvCxnSpPr>
          <p:nvPr/>
        </p:nvCxnSpPr>
        <p:spPr>
          <a:xfrm>
            <a:off x="4423410" y="4428490"/>
            <a:ext cx="772160" cy="6146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9" name="直接箭头连接符 48"/>
          <p:cNvCxnSpPr>
            <a:stCxn id="35" idx="3"/>
            <a:endCxn id="39" idx="1"/>
          </p:cNvCxnSpPr>
          <p:nvPr/>
        </p:nvCxnSpPr>
        <p:spPr>
          <a:xfrm flipV="1">
            <a:off x="7637145" y="1401445"/>
            <a:ext cx="705485" cy="1727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0" name="直接箭头连接符 49"/>
          <p:cNvCxnSpPr>
            <a:endCxn id="38" idx="1"/>
          </p:cNvCxnSpPr>
          <p:nvPr/>
        </p:nvCxnSpPr>
        <p:spPr>
          <a:xfrm>
            <a:off x="7634605" y="1561465"/>
            <a:ext cx="708025" cy="3359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1" name="直接箭头连接符 50"/>
          <p:cNvCxnSpPr>
            <a:endCxn id="37" idx="1"/>
          </p:cNvCxnSpPr>
          <p:nvPr/>
        </p:nvCxnSpPr>
        <p:spPr>
          <a:xfrm>
            <a:off x="7637145" y="2172335"/>
            <a:ext cx="705485" cy="2489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2" name="直接箭头连接符 51"/>
          <p:cNvCxnSpPr>
            <a:stCxn id="34" idx="3"/>
            <a:endCxn id="36" idx="1"/>
          </p:cNvCxnSpPr>
          <p:nvPr/>
        </p:nvCxnSpPr>
        <p:spPr>
          <a:xfrm>
            <a:off x="7635240" y="2188210"/>
            <a:ext cx="707390" cy="7518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53" name="左箭头 52"/>
          <p:cNvSpPr/>
          <p:nvPr/>
        </p:nvSpPr>
        <p:spPr>
          <a:xfrm>
            <a:off x="11445240" y="1331595"/>
            <a:ext cx="368300" cy="167640"/>
          </a:xfrm>
          <a:prstGeom prst="left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2819400"/>
            <a:ext cx="12192000" cy="1143000"/>
          </a:xfrm>
        </p:spPr>
        <p:txBody>
          <a:bodyPr>
            <a:normAutofit/>
          </a:bodyPr>
          <a:lstStyle/>
          <a:p>
            <a:pPr algn="ctr"/>
            <a:r>
              <a:rPr lang="en-US" altLang="zh-CN" sz="4400" dirty="0" err="1">
                <a:latin typeface="+mn-lt"/>
                <a:ea typeface="+mn-ea"/>
                <a:cs typeface="+mn-ea"/>
                <a:sym typeface="+mn-lt"/>
              </a:rPr>
              <a:t>遗传算法</a:t>
            </a:r>
            <a:endParaRPr lang="zh-CN" altLang="en-US" sz="4400" dirty="0">
              <a:latin typeface="+mn-lt"/>
              <a:ea typeface="+mn-ea"/>
              <a:cs typeface="+mn-ea"/>
              <a:sym typeface="+mn-lt"/>
            </a:endParaRPr>
          </a:p>
        </p:txBody>
      </p:sp>
    </p:spTree>
    <p:extLst>
      <p:ext uri="{BB962C8B-B14F-4D97-AF65-F5344CB8AC3E}">
        <p14:creationId xmlns:p14="http://schemas.microsoft.com/office/powerpoint/2010/main" val="3774872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遗传算法</a:t>
            </a:r>
            <a:endParaRPr lang="zh-CN" altLang="en-US" dirty="0">
              <a:latin typeface="+mn-lt"/>
              <a:ea typeface="+mn-ea"/>
              <a:cs typeface="+mn-ea"/>
              <a:sym typeface="+mn-lt"/>
            </a:endParaRPr>
          </a:p>
        </p:txBody>
      </p:sp>
      <p:pic>
        <p:nvPicPr>
          <p:cNvPr id="4" name="图片 3"/>
          <p:cNvPicPr>
            <a:picLocks noChangeAspect="1"/>
          </p:cNvPicPr>
          <p:nvPr/>
        </p:nvPicPr>
        <p:blipFill>
          <a:blip r:embed="rId3"/>
          <a:stretch>
            <a:fillRect/>
          </a:stretch>
        </p:blipFill>
        <p:spPr>
          <a:xfrm>
            <a:off x="5917909" y="2549067"/>
            <a:ext cx="5216455" cy="2630047"/>
          </a:xfrm>
          <a:prstGeom prst="rect">
            <a:avLst/>
          </a:prstGeom>
        </p:spPr>
      </p:pic>
      <p:sp>
        <p:nvSpPr>
          <p:cNvPr id="5" name="内容占位符 2">
            <a:extLst>
              <a:ext uri="{FF2B5EF4-FFF2-40B4-BE49-F238E27FC236}">
                <a16:creationId xmlns:a16="http://schemas.microsoft.com/office/drawing/2014/main" id="{3ECADF2C-FB29-4774-BDD7-58F34301A0AD}"/>
              </a:ext>
            </a:extLst>
          </p:cNvPr>
          <p:cNvSpPr txBox="1">
            <a:spLocks/>
          </p:cNvSpPr>
          <p:nvPr/>
        </p:nvSpPr>
        <p:spPr>
          <a:xfrm>
            <a:off x="936613" y="1271495"/>
            <a:ext cx="11051439" cy="40669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err="1">
                <a:solidFill>
                  <a:srgbClr val="515223"/>
                </a:solidFill>
                <a:latin typeface="+mn-lt"/>
                <a:cs typeface="+mn-ea"/>
                <a:sym typeface="+mn-lt"/>
              </a:rPr>
              <a:t>遗传算法（GA）是随机束搜索的一种变体</a:t>
            </a:r>
            <a:r>
              <a:rPr lang="en-US" altLang="zh-CN" dirty="0">
                <a:solidFill>
                  <a:srgbClr val="515223"/>
                </a:solidFill>
                <a:latin typeface="+mn-lt"/>
                <a:cs typeface="+mn-ea"/>
                <a:sym typeface="+mn-lt"/>
              </a:rPr>
              <a:t>。</a:t>
            </a:r>
          </a:p>
          <a:p>
            <a:pPr lvl="1"/>
            <a:r>
              <a:rPr lang="en-US" altLang="zh-CN" dirty="0" err="1">
                <a:latin typeface="+mn-lt"/>
                <a:cs typeface="+mn-ea"/>
                <a:sym typeface="+mn-lt"/>
              </a:rPr>
              <a:t>继承是通过组合生成的</a:t>
            </a:r>
            <a:r>
              <a:rPr lang="en-US" altLang="zh-CN" i="1" dirty="0" err="1">
                <a:latin typeface="+mn-lt"/>
                <a:cs typeface="+mn-ea"/>
                <a:sym typeface="+mn-lt"/>
              </a:rPr>
              <a:t>两个</a:t>
            </a:r>
            <a:r>
              <a:rPr lang="en-US" altLang="zh-CN" dirty="0" err="1">
                <a:latin typeface="+mn-lt"/>
                <a:cs typeface="+mn-ea"/>
                <a:sym typeface="+mn-lt"/>
              </a:rPr>
              <a:t>通过修改父状态，而非仅修改单个状态</a:t>
            </a:r>
            <a:r>
              <a:rPr lang="en-US" altLang="zh-CN" dirty="0">
                <a:latin typeface="+mn-lt"/>
                <a:cs typeface="+mn-ea"/>
                <a:sym typeface="+mn-lt"/>
              </a:rPr>
              <a:t>。</a:t>
            </a:r>
            <a:endParaRPr lang="zh-CN" altLang="en-US" dirty="0">
              <a:latin typeface="+mn-lt"/>
              <a:cs typeface="+mn-ea"/>
              <a:sym typeface="+mn-lt"/>
            </a:endParaRPr>
          </a:p>
          <a:p>
            <a:endParaRPr lang="en-US" altLang="zh-CN" dirty="0">
              <a:latin typeface="+mn-lt"/>
              <a:cs typeface="+mn-ea"/>
              <a:sym typeface="+mn-lt"/>
            </a:endParaRPr>
          </a:p>
          <a:p>
            <a:r>
              <a:rPr lang="en-US" altLang="zh-CN" dirty="0" err="1">
                <a:solidFill>
                  <a:srgbClr val="515223"/>
                </a:solidFill>
                <a:latin typeface="+mn-lt"/>
                <a:cs typeface="+mn-ea"/>
                <a:sym typeface="+mn-lt"/>
              </a:rPr>
              <a:t>一些概念</a:t>
            </a:r>
            <a:endParaRPr lang="en-US" altLang="zh-CN" dirty="0">
              <a:solidFill>
                <a:srgbClr val="515223"/>
              </a:solidFill>
              <a:latin typeface="+mn-lt"/>
              <a:cs typeface="+mn-ea"/>
              <a:sym typeface="+mn-lt"/>
            </a:endParaRPr>
          </a:p>
          <a:p>
            <a:pPr lvl="1"/>
            <a:r>
              <a:rPr lang="en-US" altLang="zh-CN" dirty="0" err="1">
                <a:latin typeface="+mn-lt"/>
                <a:cs typeface="+mn-ea"/>
                <a:sym typeface="+mn-lt"/>
              </a:rPr>
              <a:t>人口</a:t>
            </a:r>
            <a:r>
              <a:rPr lang="en-US" altLang="zh-CN" dirty="0">
                <a:latin typeface="+mn-lt"/>
                <a:cs typeface="+mn-ea"/>
                <a:sym typeface="+mn-lt"/>
              </a:rPr>
              <a:t>/</a:t>
            </a:r>
            <a:r>
              <a:rPr lang="en-US" altLang="zh-CN" dirty="0" err="1">
                <a:latin typeface="+mn-lt"/>
                <a:cs typeface="+mn-ea"/>
                <a:sym typeface="+mn-lt"/>
              </a:rPr>
              <a:t>个体</a:t>
            </a:r>
            <a:endParaRPr lang="en-US" altLang="zh-CN" b="1" dirty="0">
              <a:latin typeface="+mn-lt"/>
              <a:cs typeface="+mn-ea"/>
              <a:sym typeface="+mn-lt"/>
            </a:endParaRPr>
          </a:p>
          <a:p>
            <a:pPr lvl="1"/>
            <a:r>
              <a:rPr lang="zh-CN" altLang="en-US" dirty="0">
                <a:latin typeface="+mn-lt"/>
                <a:cs typeface="+mn-ea"/>
                <a:sym typeface="+mn-lt"/>
              </a:rPr>
              <a:t>适应</a:t>
            </a:r>
            <a:r>
              <a:rPr lang="en-US" altLang="zh-CN" dirty="0" err="1">
                <a:latin typeface="+mn-lt"/>
                <a:cs typeface="+mn-ea"/>
                <a:sym typeface="+mn-lt"/>
              </a:rPr>
              <a:t>函数</a:t>
            </a:r>
            <a:endParaRPr lang="en-US" altLang="zh-CN" dirty="0">
              <a:latin typeface="+mn-lt"/>
              <a:cs typeface="+mn-ea"/>
              <a:sym typeface="+mn-lt"/>
            </a:endParaRPr>
          </a:p>
          <a:p>
            <a:pPr lvl="1"/>
            <a:r>
              <a:rPr lang="en-US" altLang="zh-CN" dirty="0" err="1">
                <a:latin typeface="+mn-lt"/>
                <a:cs typeface="+mn-ea"/>
                <a:sym typeface="+mn-lt"/>
              </a:rPr>
              <a:t>交叉</a:t>
            </a:r>
            <a:endParaRPr lang="en-US" altLang="zh-CN" dirty="0">
              <a:latin typeface="+mn-lt"/>
              <a:cs typeface="+mn-ea"/>
              <a:sym typeface="+mn-lt"/>
            </a:endParaRPr>
          </a:p>
          <a:p>
            <a:pPr lvl="1"/>
            <a:r>
              <a:rPr lang="en-US" altLang="zh-CN" dirty="0" err="1">
                <a:latin typeface="+mn-lt"/>
                <a:cs typeface="+mn-ea"/>
                <a:sym typeface="+mn-lt"/>
              </a:rPr>
              <a:t>突变</a:t>
            </a:r>
            <a:endParaRPr lang="en-US" altLang="zh-CN" dirty="0">
              <a:latin typeface="+mn-lt"/>
              <a:cs typeface="+mn-ea"/>
              <a:sym typeface="+mn-lt"/>
            </a:endParaRPr>
          </a:p>
          <a:p>
            <a:endParaRPr lang="en-US" altLang="zh-CN" dirty="0">
              <a:latin typeface="+mn-lt"/>
              <a:cs typeface="+mn-ea"/>
              <a:sym typeface="+mn-lt"/>
            </a:endParaRPr>
          </a:p>
          <a:p>
            <a:endParaRPr lang="en-US" altLang="zh-CN" dirty="0">
              <a:latin typeface="+mn-lt"/>
              <a:cs typeface="+mn-ea"/>
              <a:sym typeface="+mn-lt"/>
            </a:endParaRPr>
          </a:p>
        </p:txBody>
      </p:sp>
    </p:spTree>
    <p:extLst>
      <p:ext uri="{BB962C8B-B14F-4D97-AF65-F5344CB8AC3E}">
        <p14:creationId xmlns:p14="http://schemas.microsoft.com/office/powerpoint/2010/main" val="3386052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fade">
                                      <p:cBhvr>
                                        <p:cTn id="20" dur="500"/>
                                        <p:tgtEl>
                                          <p:spTgt spid="5">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fade">
                                      <p:cBhvr>
                                        <p:cTn id="26" dur="500"/>
                                        <p:tgtEl>
                                          <p:spTgt spid="5">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500"/>
                                        <p:tgtEl>
                                          <p:spTgt spid="5">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遗传算法</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936613" y="1271495"/>
            <a:ext cx="11051439" cy="4066988"/>
          </a:xfrm>
        </p:spPr>
        <p:txBody>
          <a:bodyPr/>
          <a:lstStyle/>
          <a:p>
            <a:r>
              <a:rPr lang="en-US" altLang="zh-CN" sz="2800" dirty="0" err="1">
                <a:solidFill>
                  <a:srgbClr val="515223"/>
                </a:solidFill>
                <a:latin typeface="+mn-lt"/>
                <a:cs typeface="+mn-ea"/>
                <a:sym typeface="+mn-lt"/>
              </a:rPr>
              <a:t>遗传算法（GA）是随机束搜索的一种变体</a:t>
            </a:r>
            <a:r>
              <a:rPr lang="en-US" altLang="zh-CN" sz="2800" dirty="0">
                <a:solidFill>
                  <a:srgbClr val="515223"/>
                </a:solidFill>
                <a:latin typeface="+mn-lt"/>
                <a:cs typeface="+mn-ea"/>
                <a:sym typeface="+mn-lt"/>
              </a:rPr>
              <a:t>。</a:t>
            </a:r>
          </a:p>
          <a:p>
            <a:pPr lvl="1"/>
            <a:r>
              <a:rPr lang="en-US" altLang="zh-CN" sz="2400" dirty="0" err="1">
                <a:latin typeface="+mn-lt"/>
                <a:cs typeface="+mn-ea"/>
                <a:sym typeface="+mn-lt"/>
              </a:rPr>
              <a:t>继承是通过组合生成的</a:t>
            </a:r>
            <a:r>
              <a:rPr lang="en-US" altLang="zh-CN" sz="2400" i="1" dirty="0" err="1">
                <a:latin typeface="+mn-lt"/>
                <a:cs typeface="+mn-ea"/>
                <a:sym typeface="+mn-lt"/>
              </a:rPr>
              <a:t>两个</a:t>
            </a:r>
            <a:r>
              <a:rPr lang="en-US" altLang="zh-CN" sz="2400" dirty="0" err="1">
                <a:latin typeface="+mn-lt"/>
                <a:cs typeface="+mn-ea"/>
                <a:sym typeface="+mn-lt"/>
              </a:rPr>
              <a:t>通过修改父状态，而非仅修改单个状态</a:t>
            </a:r>
            <a:r>
              <a:rPr lang="en-US" altLang="zh-CN" sz="2400" dirty="0">
                <a:latin typeface="+mn-lt"/>
                <a:cs typeface="+mn-ea"/>
                <a:sym typeface="+mn-lt"/>
              </a:rPr>
              <a:t>。</a:t>
            </a:r>
            <a:endParaRPr lang="zh-CN" altLang="en-US" dirty="0">
              <a:latin typeface="+mn-lt"/>
              <a:cs typeface="+mn-ea"/>
              <a:sym typeface="+mn-lt"/>
            </a:endParaRPr>
          </a:p>
          <a:p>
            <a:endParaRPr lang="en-US" altLang="zh-CN" dirty="0">
              <a:latin typeface="+mn-lt"/>
              <a:cs typeface="+mn-ea"/>
              <a:sym typeface="+mn-lt"/>
            </a:endParaRPr>
          </a:p>
          <a:p>
            <a:r>
              <a:rPr lang="en-US" altLang="zh-CN" sz="2800" dirty="0" err="1">
                <a:solidFill>
                  <a:srgbClr val="515223"/>
                </a:solidFill>
                <a:latin typeface="+mn-lt"/>
                <a:cs typeface="+mn-ea"/>
                <a:sym typeface="+mn-lt"/>
              </a:rPr>
              <a:t>一些概念</a:t>
            </a:r>
            <a:endParaRPr lang="en-US" altLang="zh-CN" sz="2800" dirty="0">
              <a:solidFill>
                <a:srgbClr val="515223"/>
              </a:solidFill>
              <a:latin typeface="+mn-lt"/>
              <a:cs typeface="+mn-ea"/>
              <a:sym typeface="+mn-lt"/>
            </a:endParaRPr>
          </a:p>
          <a:p>
            <a:pPr lvl="1"/>
            <a:r>
              <a:rPr lang="en-US" altLang="zh-CN" sz="2400" dirty="0" err="1">
                <a:latin typeface="+mn-lt"/>
                <a:cs typeface="+mn-ea"/>
                <a:sym typeface="+mn-lt"/>
              </a:rPr>
              <a:t>人口</a:t>
            </a:r>
            <a:r>
              <a:rPr lang="en-US" altLang="zh-CN" sz="2400" dirty="0">
                <a:latin typeface="+mn-lt"/>
                <a:cs typeface="+mn-ea"/>
                <a:sym typeface="+mn-lt"/>
              </a:rPr>
              <a:t>/</a:t>
            </a:r>
            <a:r>
              <a:rPr lang="en-US" altLang="zh-CN" sz="2400" dirty="0" err="1">
                <a:latin typeface="+mn-lt"/>
                <a:cs typeface="+mn-ea"/>
                <a:sym typeface="+mn-lt"/>
              </a:rPr>
              <a:t>个体：一组随机生成的k个状态</a:t>
            </a:r>
            <a:endParaRPr lang="en-US" altLang="zh-CN" b="1" dirty="0">
              <a:latin typeface="+mn-lt"/>
              <a:cs typeface="+mn-ea"/>
              <a:sym typeface="+mn-lt"/>
            </a:endParaRPr>
          </a:p>
          <a:p>
            <a:pPr lvl="1"/>
            <a:r>
              <a:rPr lang="zh-CN" altLang="en-US" dirty="0">
                <a:latin typeface="+mn-lt"/>
                <a:cs typeface="+mn-ea"/>
                <a:sym typeface="+mn-lt"/>
              </a:rPr>
              <a:t>适应</a:t>
            </a:r>
            <a:r>
              <a:rPr lang="en-US" altLang="zh-CN" sz="2400" dirty="0" err="1">
                <a:latin typeface="+mn-lt"/>
                <a:cs typeface="+mn-ea"/>
                <a:sym typeface="+mn-lt"/>
              </a:rPr>
              <a:t>函数</a:t>
            </a:r>
            <a:r>
              <a:rPr lang="en-US" altLang="zh-CN" sz="2400" dirty="0">
                <a:latin typeface="+mn-lt"/>
                <a:cs typeface="+mn-ea"/>
                <a:sym typeface="+mn-lt"/>
              </a:rPr>
              <a:t>：</a:t>
            </a:r>
            <a:r>
              <a:rPr lang="zh-CN" altLang="en-US" sz="2400" dirty="0">
                <a:latin typeface="+mn-lt"/>
                <a:cs typeface="+mn-ea"/>
                <a:sym typeface="+mn-lt"/>
              </a:rPr>
              <a:t>适应</a:t>
            </a:r>
            <a:r>
              <a:rPr lang="en-US" altLang="zh-CN" sz="2400" dirty="0" err="1">
                <a:latin typeface="+mn-lt"/>
                <a:cs typeface="+mn-ea"/>
                <a:sym typeface="+mn-lt"/>
              </a:rPr>
              <a:t>函数</a:t>
            </a:r>
            <a:r>
              <a:rPr lang="zh-CN" altLang="en-US" sz="2400" dirty="0">
                <a:latin typeface="+mn-lt"/>
                <a:cs typeface="+mn-ea"/>
                <a:sym typeface="+mn-lt"/>
              </a:rPr>
              <a:t>对个体</a:t>
            </a:r>
            <a:r>
              <a:rPr lang="en-US" altLang="zh-CN" sz="2400" dirty="0" err="1">
                <a:latin typeface="+mn-lt"/>
                <a:cs typeface="+mn-ea"/>
                <a:sym typeface="+mn-lt"/>
              </a:rPr>
              <a:t>进行评分</a:t>
            </a:r>
            <a:r>
              <a:rPr lang="en-US" altLang="zh-CN" sz="2400" dirty="0">
                <a:latin typeface="+mn-lt"/>
                <a:cs typeface="+mn-ea"/>
                <a:sym typeface="+mn-lt"/>
              </a:rPr>
              <a:t>。</a:t>
            </a:r>
            <a:endParaRPr lang="en-US" altLang="zh-CN" dirty="0">
              <a:latin typeface="+mn-lt"/>
              <a:cs typeface="+mn-ea"/>
              <a:sym typeface="+mn-lt"/>
            </a:endParaRPr>
          </a:p>
          <a:p>
            <a:pPr lvl="1"/>
            <a:r>
              <a:rPr lang="en-US" altLang="zh-CN" sz="2400" dirty="0" err="1">
                <a:latin typeface="+mn-lt"/>
                <a:cs typeface="+mn-ea"/>
                <a:sym typeface="+mn-lt"/>
              </a:rPr>
              <a:t>交叉</a:t>
            </a:r>
            <a:r>
              <a:rPr lang="en-US" altLang="zh-CN" sz="2400" dirty="0">
                <a:latin typeface="+mn-lt"/>
                <a:cs typeface="+mn-ea"/>
                <a:sym typeface="+mn-lt"/>
              </a:rPr>
              <a:t>：</a:t>
            </a:r>
            <a:r>
              <a:rPr lang="en-US" altLang="zh-CN" b="1" dirty="0">
                <a:latin typeface="+mn-lt"/>
                <a:cs typeface="+mn-ea"/>
                <a:sym typeface="+mn-lt"/>
              </a:rPr>
              <a:t> </a:t>
            </a:r>
            <a:r>
              <a:rPr lang="en-US" altLang="zh-CN" sz="2400" dirty="0" err="1">
                <a:latin typeface="+mn-lt"/>
                <a:cs typeface="+mn-ea"/>
                <a:sym typeface="+mn-lt"/>
              </a:rPr>
              <a:t>每对进行配对</a:t>
            </a:r>
            <a:endParaRPr lang="en-US" altLang="zh-CN" dirty="0">
              <a:latin typeface="+mn-lt"/>
              <a:cs typeface="+mn-ea"/>
              <a:sym typeface="+mn-lt"/>
            </a:endParaRPr>
          </a:p>
          <a:p>
            <a:pPr lvl="1"/>
            <a:r>
              <a:rPr lang="en-US" altLang="zh-CN" sz="2400" dirty="0" err="1">
                <a:latin typeface="+mn-lt"/>
                <a:cs typeface="+mn-ea"/>
                <a:sym typeface="+mn-lt"/>
              </a:rPr>
              <a:t>突变：某个元素被随机改变</a:t>
            </a:r>
            <a:endParaRPr lang="en-US" altLang="zh-CN" sz="2400" dirty="0">
              <a:latin typeface="+mn-lt"/>
              <a:cs typeface="+mn-ea"/>
              <a:sym typeface="+mn-lt"/>
            </a:endParaRPr>
          </a:p>
          <a:p>
            <a:pPr lvl="1"/>
            <a:endParaRPr lang="en-US" altLang="zh-CN" dirty="0">
              <a:latin typeface="+mn-lt"/>
              <a:cs typeface="+mn-ea"/>
              <a:sym typeface="+mn-lt"/>
            </a:endParaRPr>
          </a:p>
          <a:p>
            <a:endParaRPr lang="en-US" altLang="zh-CN" dirty="0">
              <a:latin typeface="+mn-lt"/>
              <a:cs typeface="+mn-ea"/>
              <a:sym typeface="+mn-lt"/>
            </a:endParaRPr>
          </a:p>
        </p:txBody>
      </p:sp>
    </p:spTree>
    <p:extLst>
      <p:ext uri="{BB962C8B-B14F-4D97-AF65-F5344CB8AC3E}">
        <p14:creationId xmlns:p14="http://schemas.microsoft.com/office/powerpoint/2010/main" val="388255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遗传算法</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5" y="1190812"/>
            <a:ext cx="10177380" cy="5003800"/>
          </a:xfrm>
        </p:spPr>
        <p:txBody>
          <a:bodyPr/>
          <a:lstStyle/>
          <a:p>
            <a:r>
              <a:rPr lang="en-US" altLang="zh-CN" sz="2800" dirty="0">
                <a:solidFill>
                  <a:srgbClr val="515223"/>
                </a:solidFill>
                <a:latin typeface="+mn-lt"/>
                <a:cs typeface="+mn-ea"/>
                <a:sym typeface="+mn-lt"/>
              </a:rPr>
              <a:t>如何操作：</a:t>
            </a:r>
          </a:p>
          <a:p>
            <a:pPr lvl="1"/>
            <a:r>
              <a:rPr lang="en-US" altLang="zh-CN" sz="2400" dirty="0">
                <a:latin typeface="+mn-lt"/>
                <a:cs typeface="+mn-ea"/>
                <a:sym typeface="+mn-lt"/>
              </a:rPr>
              <a:t>生成人口：一组k个</a:t>
            </a:r>
            <a:r>
              <a:rPr lang="en-US" altLang="zh-CN" sz="2400" b="1" dirty="0">
                <a:latin typeface="+mn-lt"/>
                <a:cs typeface="+mn-ea"/>
                <a:sym typeface="+mn-lt"/>
              </a:rPr>
              <a:t>随机地</a:t>
            </a:r>
            <a:r>
              <a:rPr lang="en-US" altLang="zh-CN" sz="2400" dirty="0">
                <a:latin typeface="+mn-lt"/>
                <a:cs typeface="+mn-ea"/>
                <a:sym typeface="+mn-lt"/>
              </a:rPr>
              <a:t> 生成的状态。</a:t>
            </a:r>
          </a:p>
          <a:p>
            <a:pPr lvl="1"/>
            <a:r>
              <a:rPr lang="en-US" altLang="zh-CN" sz="2400" dirty="0">
                <a:latin typeface="+mn-lt"/>
                <a:cs typeface="+mn-ea"/>
                <a:sym typeface="+mn-lt"/>
              </a:rPr>
              <a:t>用目标函数评估每个状态，该</a:t>
            </a:r>
            <a:r>
              <a:rPr lang="en-US" altLang="zh-CN" sz="2400" b="1" dirty="0">
                <a:latin typeface="+mn-lt"/>
                <a:cs typeface="+mn-ea"/>
                <a:sym typeface="+mn-lt"/>
              </a:rPr>
              <a:t>适应度函数。</a:t>
            </a:r>
          </a:p>
          <a:p>
            <a:pPr lvl="1"/>
            <a:r>
              <a:rPr lang="en-US" altLang="zh-CN" sz="2400" dirty="0">
                <a:latin typeface="+mn-lt"/>
                <a:cs typeface="+mn-ea"/>
                <a:sym typeface="+mn-lt"/>
              </a:rPr>
              <a:t>随机选择两对进行繁殖。</a:t>
            </a:r>
          </a:p>
          <a:p>
            <a:pPr lvl="1"/>
            <a:r>
              <a:rPr lang="en-US" altLang="zh-CN" sz="2400" dirty="0" err="1">
                <a:latin typeface="+mn-lt"/>
                <a:cs typeface="+mn-ea"/>
                <a:sym typeface="+mn-lt"/>
              </a:rPr>
              <a:t>后代是通过将父代字符串进行交叉而产生的</a:t>
            </a:r>
            <a:r>
              <a:rPr lang="en-US" altLang="zh-CN" sz="2400" dirty="0">
                <a:latin typeface="+mn-lt"/>
                <a:cs typeface="+mn-ea"/>
                <a:sym typeface="+mn-lt"/>
              </a:rPr>
              <a:t>。</a:t>
            </a:r>
          </a:p>
          <a:p>
            <a:pPr lvl="1"/>
            <a:r>
              <a:rPr lang="en-US" altLang="zh-CN" sz="2400" dirty="0" err="1">
                <a:latin typeface="+mn-lt"/>
                <a:cs typeface="+mn-ea"/>
                <a:sym typeface="+mn-lt"/>
              </a:rPr>
              <a:t>每个</a:t>
            </a:r>
            <a:r>
              <a:rPr lang="zh-CN" altLang="en-US" sz="2400" dirty="0">
                <a:latin typeface="+mn-lt"/>
                <a:cs typeface="+mn-ea"/>
                <a:sym typeface="+mn-lt"/>
              </a:rPr>
              <a:t>交叉</a:t>
            </a:r>
            <a:r>
              <a:rPr lang="en-US" altLang="zh-CN" sz="2400" dirty="0" err="1">
                <a:latin typeface="+mn-lt"/>
                <a:cs typeface="+mn-ea"/>
                <a:sym typeface="+mn-lt"/>
              </a:rPr>
              <a:t>点均随机适用。具有较小的独立概率</a:t>
            </a:r>
            <a:r>
              <a:rPr lang="en-US" altLang="zh-CN" b="1" dirty="0" err="1">
                <a:cs typeface="+mn-ea"/>
                <a:sym typeface="+mn-lt"/>
              </a:rPr>
              <a:t>突变</a:t>
            </a:r>
            <a:r>
              <a:rPr lang="en-US" altLang="zh-CN" sz="2400" dirty="0">
                <a:latin typeface="+mn-lt"/>
                <a:cs typeface="+mn-ea"/>
                <a:sym typeface="+mn-lt"/>
              </a:rPr>
              <a:t>。</a:t>
            </a:r>
            <a:endParaRPr lang="en-US" altLang="zh-CN" b="1" dirty="0">
              <a:latin typeface="+mn-lt"/>
              <a:cs typeface="+mn-ea"/>
              <a:sym typeface="+mn-lt"/>
            </a:endParaRPr>
          </a:p>
          <a:p>
            <a:pPr lvl="1"/>
            <a:endParaRPr lang="en-US" altLang="zh-CN" dirty="0">
              <a:latin typeface="+mn-lt"/>
              <a:cs typeface="+mn-ea"/>
              <a:sym typeface="+mn-lt"/>
            </a:endParaRPr>
          </a:p>
          <a:p>
            <a:pPr lvl="1"/>
            <a:endParaRPr lang="en-US" altLang="zh-CN" dirty="0">
              <a:latin typeface="+mn-lt"/>
              <a:cs typeface="+mn-ea"/>
              <a:sym typeface="+mn-lt"/>
            </a:endParaRPr>
          </a:p>
          <a:p>
            <a:pPr lvl="1"/>
            <a:endParaRPr lang="zh-CN" altLang="en-US" dirty="0">
              <a:latin typeface="+mn-lt"/>
              <a:cs typeface="+mn-ea"/>
              <a:sym typeface="+mn-lt"/>
            </a:endParaRPr>
          </a:p>
        </p:txBody>
      </p:sp>
    </p:spTree>
    <p:extLst>
      <p:ext uri="{BB962C8B-B14F-4D97-AF65-F5344CB8AC3E}">
        <p14:creationId xmlns:p14="http://schemas.microsoft.com/office/powerpoint/2010/main" val="789541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遗传算法</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457200" y="1227232"/>
            <a:ext cx="10858500" cy="5003800"/>
          </a:xfrm>
        </p:spPr>
        <p:txBody>
          <a:bodyPr/>
          <a:lstStyle/>
          <a:p>
            <a:r>
              <a:rPr lang="en-US" altLang="zh-CN" sz="2800" dirty="0">
                <a:solidFill>
                  <a:srgbClr val="515223"/>
                </a:solidFill>
                <a:latin typeface="+mn-lt"/>
                <a:cs typeface="+mn-ea"/>
                <a:sym typeface="+mn-lt"/>
              </a:rPr>
              <a:t>8皇后问题的遗传算法</a:t>
            </a:r>
            <a:endParaRPr lang="zh-CN" altLang="en-US" dirty="0">
              <a:solidFill>
                <a:srgbClr val="515223"/>
              </a:solidFill>
              <a:latin typeface="+mn-lt"/>
              <a:cs typeface="+mn-ea"/>
              <a:sym typeface="+mn-lt"/>
            </a:endParaRPr>
          </a:p>
        </p:txBody>
      </p:sp>
      <p:pic>
        <p:nvPicPr>
          <p:cNvPr id="4" name="图片 3"/>
          <p:cNvPicPr>
            <a:picLocks noChangeAspect="1"/>
          </p:cNvPicPr>
          <p:nvPr/>
        </p:nvPicPr>
        <p:blipFill>
          <a:blip r:embed="rId3"/>
          <a:stretch>
            <a:fillRect/>
          </a:stretch>
        </p:blipFill>
        <p:spPr>
          <a:xfrm>
            <a:off x="876300" y="3554212"/>
            <a:ext cx="9135036" cy="2841003"/>
          </a:xfrm>
          <a:prstGeom prst="rect">
            <a:avLst/>
          </a:prstGeom>
        </p:spPr>
      </p:pic>
      <p:pic>
        <p:nvPicPr>
          <p:cNvPr id="11" name="图片 10">
            <a:extLst>
              <a:ext uri="{FF2B5EF4-FFF2-40B4-BE49-F238E27FC236}">
                <a16:creationId xmlns:a16="http://schemas.microsoft.com/office/drawing/2014/main" id="{E7950F85-D0B7-4AEF-BB44-AF36E3B377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7346" y="1684710"/>
            <a:ext cx="1843094" cy="1837032"/>
          </a:xfrm>
          <a:prstGeom prst="rect">
            <a:avLst/>
          </a:prstGeom>
        </p:spPr>
      </p:pic>
      <p:pic>
        <p:nvPicPr>
          <p:cNvPr id="13" name="图片 12">
            <a:extLst>
              <a:ext uri="{FF2B5EF4-FFF2-40B4-BE49-F238E27FC236}">
                <a16:creationId xmlns:a16="http://schemas.microsoft.com/office/drawing/2014/main" id="{80D7715B-C320-4AFF-81C1-4EE4784965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90806" y="1684710"/>
            <a:ext cx="1843095" cy="1879592"/>
          </a:xfrm>
          <a:prstGeom prst="rect">
            <a:avLst/>
          </a:prstGeom>
        </p:spPr>
      </p:pic>
      <p:pic>
        <p:nvPicPr>
          <p:cNvPr id="15" name="图片 14">
            <a:extLst>
              <a:ext uri="{FF2B5EF4-FFF2-40B4-BE49-F238E27FC236}">
                <a16:creationId xmlns:a16="http://schemas.microsoft.com/office/drawing/2014/main" id="{24DC31D6-B55C-4FBE-A75A-32E282F3795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46791" y="2482570"/>
            <a:ext cx="247663" cy="241312"/>
          </a:xfrm>
          <a:prstGeom prst="rect">
            <a:avLst/>
          </a:prstGeom>
        </p:spPr>
      </p:pic>
      <p:pic>
        <p:nvPicPr>
          <p:cNvPr id="17" name="图片 16">
            <a:extLst>
              <a:ext uri="{FF2B5EF4-FFF2-40B4-BE49-F238E27FC236}">
                <a16:creationId xmlns:a16="http://schemas.microsoft.com/office/drawing/2014/main" id="{1E4273E1-8EAE-44F0-AA5A-1889DA0D2E7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30253" y="1693511"/>
            <a:ext cx="2178707" cy="1851901"/>
          </a:xfrm>
          <a:prstGeom prst="rect">
            <a:avLst/>
          </a:prstGeom>
        </p:spPr>
      </p:pic>
      <p:sp>
        <p:nvSpPr>
          <p:cNvPr id="18" name="矩形 17">
            <a:extLst>
              <a:ext uri="{FF2B5EF4-FFF2-40B4-BE49-F238E27FC236}">
                <a16:creationId xmlns:a16="http://schemas.microsoft.com/office/drawing/2014/main" id="{D2C8CE55-B3B0-4F4B-97EC-837F5F6A9B46}"/>
              </a:ext>
            </a:extLst>
          </p:cNvPr>
          <p:cNvSpPr/>
          <p:nvPr/>
        </p:nvSpPr>
        <p:spPr>
          <a:xfrm>
            <a:off x="2756647" y="1640541"/>
            <a:ext cx="1893792" cy="190487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矩形 18">
            <a:extLst>
              <a:ext uri="{FF2B5EF4-FFF2-40B4-BE49-F238E27FC236}">
                <a16:creationId xmlns:a16="http://schemas.microsoft.com/office/drawing/2014/main" id="{219741F2-50C4-4FD3-B197-C147BDD8165C}"/>
              </a:ext>
            </a:extLst>
          </p:cNvPr>
          <p:cNvSpPr/>
          <p:nvPr/>
        </p:nvSpPr>
        <p:spPr>
          <a:xfrm>
            <a:off x="838200" y="3564302"/>
            <a:ext cx="1680882" cy="47429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a:extLst>
              <a:ext uri="{FF2B5EF4-FFF2-40B4-BE49-F238E27FC236}">
                <a16:creationId xmlns:a16="http://schemas.microsoft.com/office/drawing/2014/main" id="{FFD3ACAE-31B4-48DD-B4A6-246BB2C5E3F1}"/>
              </a:ext>
            </a:extLst>
          </p:cNvPr>
          <p:cNvSpPr/>
          <p:nvPr/>
        </p:nvSpPr>
        <p:spPr>
          <a:xfrm>
            <a:off x="5260277" y="1649341"/>
            <a:ext cx="1893792" cy="1904871"/>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矩形 21">
            <a:extLst>
              <a:ext uri="{FF2B5EF4-FFF2-40B4-BE49-F238E27FC236}">
                <a16:creationId xmlns:a16="http://schemas.microsoft.com/office/drawing/2014/main" id="{05FF8672-9276-4426-A856-4325114DAB7E}"/>
              </a:ext>
            </a:extLst>
          </p:cNvPr>
          <p:cNvSpPr/>
          <p:nvPr/>
        </p:nvSpPr>
        <p:spPr>
          <a:xfrm>
            <a:off x="3809998" y="3596772"/>
            <a:ext cx="1680882" cy="474298"/>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矩形 22">
            <a:extLst>
              <a:ext uri="{FF2B5EF4-FFF2-40B4-BE49-F238E27FC236}">
                <a16:creationId xmlns:a16="http://schemas.microsoft.com/office/drawing/2014/main" id="{E8576520-17AE-42E8-AEE0-9D872EF5CADC}"/>
              </a:ext>
            </a:extLst>
          </p:cNvPr>
          <p:cNvSpPr/>
          <p:nvPr/>
        </p:nvSpPr>
        <p:spPr>
          <a:xfrm>
            <a:off x="7629572" y="1649341"/>
            <a:ext cx="1893792" cy="1904871"/>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矩形 23">
            <a:extLst>
              <a:ext uri="{FF2B5EF4-FFF2-40B4-BE49-F238E27FC236}">
                <a16:creationId xmlns:a16="http://schemas.microsoft.com/office/drawing/2014/main" id="{E1DFF8F2-6EC1-4123-94C9-6DA09A0B8AD9}"/>
              </a:ext>
            </a:extLst>
          </p:cNvPr>
          <p:cNvSpPr/>
          <p:nvPr/>
        </p:nvSpPr>
        <p:spPr>
          <a:xfrm>
            <a:off x="6131857" y="3573102"/>
            <a:ext cx="1680882" cy="474298"/>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2498192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遗传算法</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5" y="1197535"/>
            <a:ext cx="9437792" cy="5003800"/>
          </a:xfrm>
        </p:spPr>
        <p:txBody>
          <a:bodyPr/>
          <a:lstStyle/>
          <a:p>
            <a:r>
              <a:rPr lang="en-US" altLang="zh-CN" sz="2800" dirty="0">
                <a:solidFill>
                  <a:srgbClr val="515223"/>
                </a:solidFill>
                <a:latin typeface="+mn-lt"/>
                <a:cs typeface="+mn-ea"/>
                <a:sym typeface="+mn-lt"/>
              </a:rPr>
              <a:t>遗传算法结合：</a:t>
            </a:r>
          </a:p>
          <a:p>
            <a:pPr lvl="1"/>
            <a:r>
              <a:rPr lang="en-US" altLang="zh-CN" sz="2400" dirty="0">
                <a:latin typeface="+mn-lt"/>
                <a:cs typeface="+mn-ea"/>
                <a:sym typeface="+mn-lt"/>
              </a:rPr>
              <a:t>上</a:t>
            </a:r>
            <a:r>
              <a:rPr lang="zh-CN" altLang="en-US" sz="2400" dirty="0">
                <a:latin typeface="+mn-lt"/>
                <a:cs typeface="+mn-ea"/>
                <a:sym typeface="+mn-lt"/>
              </a:rPr>
              <a:t>山</a:t>
            </a:r>
            <a:r>
              <a:rPr lang="en-US" altLang="zh-CN" sz="2400" dirty="0" err="1">
                <a:latin typeface="+mn-lt"/>
                <a:cs typeface="+mn-ea"/>
                <a:sym typeface="+mn-lt"/>
              </a:rPr>
              <a:t>趋势</a:t>
            </a:r>
            <a:r>
              <a:rPr lang="zh-CN" altLang="en-US" sz="2400" dirty="0">
                <a:latin typeface="+mn-lt"/>
                <a:cs typeface="+mn-ea"/>
                <a:sym typeface="+mn-lt"/>
              </a:rPr>
              <a:t>（适应度函数高的）</a:t>
            </a:r>
            <a:r>
              <a:rPr lang="en-US" altLang="zh-CN" sz="2400" dirty="0">
                <a:latin typeface="+mn-lt"/>
                <a:cs typeface="+mn-ea"/>
                <a:sym typeface="+mn-lt"/>
              </a:rPr>
              <a:t>，</a:t>
            </a:r>
          </a:p>
          <a:p>
            <a:pPr lvl="1"/>
            <a:r>
              <a:rPr lang="en-US" altLang="zh-CN" sz="2400" dirty="0" err="1">
                <a:latin typeface="+mn-lt"/>
                <a:cs typeface="+mn-ea"/>
                <a:sym typeface="+mn-lt"/>
              </a:rPr>
              <a:t>随机</a:t>
            </a:r>
            <a:r>
              <a:rPr lang="zh-CN" altLang="en-US" sz="2400" dirty="0">
                <a:latin typeface="+mn-lt"/>
                <a:cs typeface="+mn-ea"/>
                <a:sym typeface="+mn-lt"/>
              </a:rPr>
              <a:t>搜索（变异）</a:t>
            </a:r>
            <a:r>
              <a:rPr lang="en-US" altLang="zh-CN" sz="2400" dirty="0">
                <a:latin typeface="+mn-lt"/>
                <a:cs typeface="+mn-ea"/>
                <a:sym typeface="+mn-lt"/>
              </a:rPr>
              <a:t>，</a:t>
            </a:r>
          </a:p>
          <a:p>
            <a:pPr lvl="1"/>
            <a:r>
              <a:rPr lang="en-US" altLang="zh-CN" sz="2400" dirty="0" err="1">
                <a:latin typeface="+mn-lt"/>
                <a:cs typeface="+mn-ea"/>
                <a:sym typeface="+mn-lt"/>
              </a:rPr>
              <a:t>并行搜索线程之间的信息交换</a:t>
            </a:r>
            <a:r>
              <a:rPr lang="zh-CN" altLang="en-US" sz="2400" dirty="0">
                <a:latin typeface="+mn-lt"/>
                <a:cs typeface="+mn-ea"/>
                <a:sym typeface="+mn-lt"/>
              </a:rPr>
              <a:t>（产生后代、杂交）</a:t>
            </a:r>
            <a:r>
              <a:rPr lang="en-US" altLang="zh-CN" sz="2400" dirty="0">
                <a:latin typeface="+mn-lt"/>
                <a:cs typeface="+mn-ea"/>
                <a:sym typeface="+mn-lt"/>
              </a:rPr>
              <a:t>。</a:t>
            </a:r>
          </a:p>
          <a:p>
            <a:endParaRPr lang="en-US" altLang="zh-CN" dirty="0">
              <a:latin typeface="+mn-lt"/>
              <a:cs typeface="+mn-ea"/>
              <a:sym typeface="+mn-lt"/>
            </a:endParaRPr>
          </a:p>
          <a:p>
            <a:r>
              <a:rPr lang="en-US" altLang="zh-CN" sz="2800" dirty="0">
                <a:solidFill>
                  <a:srgbClr val="515223"/>
                </a:solidFill>
                <a:latin typeface="+mn-lt"/>
                <a:cs typeface="+mn-ea"/>
                <a:sym typeface="+mn-lt"/>
              </a:rPr>
              <a:t>主要优势：交叉操作。</a:t>
            </a:r>
            <a:endParaRPr lang="zh-CN" altLang="en-US" dirty="0">
              <a:solidFill>
                <a:srgbClr val="515223"/>
              </a:solidFill>
              <a:latin typeface="+mn-lt"/>
              <a:cs typeface="+mn-ea"/>
              <a:sym typeface="+mn-lt"/>
            </a:endParaRPr>
          </a:p>
        </p:txBody>
      </p:sp>
    </p:spTree>
    <p:extLst>
      <p:ext uri="{BB962C8B-B14F-4D97-AF65-F5344CB8AC3E}">
        <p14:creationId xmlns:p14="http://schemas.microsoft.com/office/powerpoint/2010/main" val="493888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遗传算法变体</a:t>
            </a:r>
            <a:endParaRPr lang="zh-CN" altLang="en-US" dirty="0">
              <a:latin typeface="+mn-lt"/>
              <a:ea typeface="+mn-ea"/>
              <a:cs typeface="+mn-ea"/>
              <a:sym typeface="+mn-lt"/>
            </a:endParaRPr>
          </a:p>
        </p:txBody>
      </p:sp>
      <p:sp>
        <p:nvSpPr>
          <p:cNvPr id="4" name="内容占位符 2">
            <a:extLst>
              <a:ext uri="{FF2B5EF4-FFF2-40B4-BE49-F238E27FC236}">
                <a16:creationId xmlns:a16="http://schemas.microsoft.com/office/drawing/2014/main" id="{46E3AF4C-86C3-4EA9-8DDE-1802425F9B1F}"/>
              </a:ext>
            </a:extLst>
          </p:cNvPr>
          <p:cNvSpPr txBox="1">
            <a:spLocks/>
          </p:cNvSpPr>
          <p:nvPr/>
        </p:nvSpPr>
        <p:spPr>
          <a:xfrm>
            <a:off x="412376" y="1197535"/>
            <a:ext cx="11322423" cy="5003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dirty="0" err="1">
                <a:solidFill>
                  <a:srgbClr val="515223"/>
                </a:solidFill>
                <a:latin typeface="+mn-lt"/>
                <a:cs typeface="+mn-ea"/>
                <a:sym typeface="+mn-lt"/>
              </a:rPr>
              <a:t>人口规模</a:t>
            </a:r>
            <a:r>
              <a:rPr lang="en-US" altLang="zh-CN" dirty="0">
                <a:solidFill>
                  <a:srgbClr val="515223"/>
                </a:solidFill>
                <a:latin typeface="+mn-lt"/>
                <a:cs typeface="+mn-ea"/>
                <a:sym typeface="+mn-lt"/>
              </a:rPr>
              <a:t>。</a:t>
            </a:r>
          </a:p>
          <a:p>
            <a:pPr>
              <a:lnSpc>
                <a:spcPct val="100000"/>
              </a:lnSpc>
            </a:pPr>
            <a:endParaRPr lang="en-US" altLang="zh-CN" dirty="0">
              <a:solidFill>
                <a:srgbClr val="515223"/>
              </a:solidFill>
              <a:latin typeface="+mn-lt"/>
              <a:cs typeface="+mn-ea"/>
              <a:sym typeface="+mn-lt"/>
            </a:endParaRPr>
          </a:p>
          <a:p>
            <a:pPr>
              <a:lnSpc>
                <a:spcPct val="100000"/>
              </a:lnSpc>
            </a:pPr>
            <a:r>
              <a:rPr lang="en-US" altLang="zh-CN" dirty="0" err="1">
                <a:solidFill>
                  <a:srgbClr val="515223"/>
                </a:solidFill>
                <a:latin typeface="+mn-lt"/>
                <a:cs typeface="+mn-ea"/>
                <a:sym typeface="+mn-lt"/>
              </a:rPr>
              <a:t>每个人的表征。</a:t>
            </a:r>
            <a:r>
              <a:rPr lang="en-US" altLang="zh-CN" sz="2400" dirty="0" err="1">
                <a:latin typeface="+mn-lt"/>
                <a:cs typeface="+mn-ea"/>
                <a:sym typeface="+mn-lt"/>
              </a:rPr>
              <a:t>在遗传算法中，每个个体都是有限字母表上的一个字符串（通常为布尔字符串</a:t>
            </a:r>
            <a:r>
              <a:rPr lang="en-US" altLang="zh-CN" sz="2400" dirty="0">
                <a:latin typeface="+mn-lt"/>
                <a:cs typeface="+mn-ea"/>
                <a:sym typeface="+mn-lt"/>
              </a:rPr>
              <a:t>），</a:t>
            </a:r>
            <a:r>
              <a:rPr lang="en-US" altLang="zh-CN" sz="2400" dirty="0" err="1">
                <a:latin typeface="+mn-lt"/>
                <a:cs typeface="+mn-ea"/>
                <a:sym typeface="+mn-lt"/>
              </a:rPr>
              <a:t>正如DNA是基于ACGT字母表的字符串一样。在进化策略中，个体则是一串实数；而在另一种情况下，个体则是一个计算机程序</a:t>
            </a:r>
            <a:r>
              <a:rPr lang="en-US" altLang="zh-CN" sz="2400" dirty="0">
                <a:latin typeface="+mn-lt"/>
                <a:cs typeface="+mn-ea"/>
                <a:sym typeface="+mn-lt"/>
              </a:rPr>
              <a:t>。</a:t>
            </a:r>
          </a:p>
          <a:p>
            <a:pPr>
              <a:lnSpc>
                <a:spcPct val="100000"/>
              </a:lnSpc>
            </a:pPr>
            <a:endParaRPr lang="en-US" altLang="zh-CN" sz="2400" dirty="0">
              <a:latin typeface="+mn-lt"/>
              <a:cs typeface="+mn-ea"/>
              <a:sym typeface="+mn-lt"/>
            </a:endParaRPr>
          </a:p>
          <a:p>
            <a:pPr>
              <a:lnSpc>
                <a:spcPct val="100000"/>
              </a:lnSpc>
            </a:pPr>
            <a:r>
              <a:rPr lang="en-US" altLang="zh-CN" dirty="0" err="1">
                <a:solidFill>
                  <a:srgbClr val="515223"/>
                </a:solidFill>
                <a:latin typeface="+mn-lt"/>
                <a:cs typeface="+mn-ea"/>
                <a:sym typeface="+mn-lt"/>
              </a:rPr>
              <a:t>混合数，p</a:t>
            </a:r>
            <a:r>
              <a:rPr lang="en-US" altLang="zh-CN" dirty="0">
                <a:solidFill>
                  <a:srgbClr val="515223"/>
                </a:solidFill>
                <a:latin typeface="+mn-lt"/>
                <a:cs typeface="+mn-ea"/>
                <a:sym typeface="+mn-lt"/>
              </a:rPr>
              <a:t>，</a:t>
            </a:r>
            <a:r>
              <a:rPr lang="en-US" altLang="zh-CN" dirty="0">
                <a:latin typeface="+mn-lt"/>
                <a:cs typeface="+mn-ea"/>
                <a:sym typeface="+mn-lt"/>
              </a:rPr>
              <a:t> </a:t>
            </a:r>
            <a:r>
              <a:rPr lang="en-US" altLang="zh-CN" sz="2400" dirty="0" err="1">
                <a:latin typeface="+mn-lt"/>
                <a:cs typeface="+mn-ea"/>
                <a:sym typeface="+mn-lt"/>
              </a:rPr>
              <a:t>这是指参与形成后代的父母数量。最常见的情况是p</a:t>
            </a:r>
            <a:r>
              <a:rPr lang="en-US" altLang="zh-CN" sz="2400" dirty="0">
                <a:latin typeface="+mn-lt"/>
                <a:cs typeface="+mn-ea"/>
                <a:sym typeface="+mn-lt"/>
              </a:rPr>
              <a:t>=2：两个父母将其“基因”（即各自表示的一部分）相结合，从而形成后代。当p=1时，我们得到的是随机束搜索（可视为无性生殖）。实际上，p也可以大于2，尽管这种情形在自然界中极为罕见，但在计算机上却很容易模拟。</a:t>
            </a:r>
            <a:endParaRPr lang="zh-CN" altLang="en-US" sz="2400" dirty="0">
              <a:latin typeface="+mn-lt"/>
              <a:cs typeface="+mn-ea"/>
              <a:sym typeface="+mn-lt"/>
            </a:endParaRPr>
          </a:p>
        </p:txBody>
      </p:sp>
    </p:spTree>
    <p:extLst>
      <p:ext uri="{BB962C8B-B14F-4D97-AF65-F5344CB8AC3E}">
        <p14:creationId xmlns:p14="http://schemas.microsoft.com/office/powerpoint/2010/main" val="2333427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mn-lt"/>
                <a:ea typeface="+mn-ea"/>
                <a:cs typeface="+mn-ea"/>
                <a:sym typeface="+mn-lt"/>
              </a:rPr>
              <a:t>遗传算法变体</a:t>
            </a:r>
            <a:endParaRPr lang="zh-CN" altLang="en-US" dirty="0">
              <a:latin typeface="+mn-lt"/>
              <a:ea typeface="+mn-ea"/>
              <a:cs typeface="+mn-ea"/>
              <a:sym typeface="+mn-lt"/>
            </a:endParaRPr>
          </a:p>
        </p:txBody>
      </p:sp>
      <p:sp>
        <p:nvSpPr>
          <p:cNvPr id="4" name="内容占位符 2">
            <a:extLst>
              <a:ext uri="{FF2B5EF4-FFF2-40B4-BE49-F238E27FC236}">
                <a16:creationId xmlns:a16="http://schemas.microsoft.com/office/drawing/2014/main" id="{111AAA9A-3A49-4ABD-9ECF-AE9C6F8996DA}"/>
              </a:ext>
            </a:extLst>
          </p:cNvPr>
          <p:cNvSpPr txBox="1">
            <a:spLocks/>
          </p:cNvSpPr>
          <p:nvPr/>
        </p:nvSpPr>
        <p:spPr>
          <a:xfrm>
            <a:off x="412376" y="1197535"/>
            <a:ext cx="11322423" cy="5003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dirty="0" err="1">
                <a:solidFill>
                  <a:srgbClr val="515223"/>
                </a:solidFill>
                <a:latin typeface="+mn-lt"/>
                <a:cs typeface="+mn-ea"/>
                <a:sym typeface="+mn-lt"/>
              </a:rPr>
              <a:t>选拔过程</a:t>
            </a:r>
            <a:r>
              <a:rPr lang="zh-CN" altLang="en-US" dirty="0">
                <a:latin typeface="+mn-lt"/>
                <a:cs typeface="+mn-ea"/>
                <a:sym typeface="+mn-lt"/>
              </a:rPr>
              <a:t>：</a:t>
            </a:r>
            <a:r>
              <a:rPr lang="en-US" altLang="zh-CN" sz="2400" dirty="0" err="1">
                <a:latin typeface="+mn-lt"/>
                <a:cs typeface="+mn-ea"/>
                <a:sym typeface="+mn-lt"/>
              </a:rPr>
              <a:t>用于选择将成为下一代父母的个体：一种可能性是从所有个体中按其适应度得分成比例的概率进行选择；另一种可能性是随机选取n个个体（n</a:t>
            </a:r>
            <a:r>
              <a:rPr lang="en-US" altLang="zh-CN" sz="2400" dirty="0">
                <a:latin typeface="+mn-lt"/>
                <a:cs typeface="+mn-ea"/>
                <a:sym typeface="+mn-lt"/>
              </a:rPr>
              <a:t> &gt; p），</a:t>
            </a:r>
            <a:r>
              <a:rPr lang="en-US" altLang="zh-CN" sz="2400" dirty="0" err="1">
                <a:latin typeface="+mn-lt"/>
                <a:cs typeface="+mn-ea"/>
                <a:sym typeface="+mn-lt"/>
              </a:rPr>
              <a:t>然后再从这n个个体中选出适应度最高的p个作为父母</a:t>
            </a:r>
            <a:r>
              <a:rPr lang="en-US" altLang="zh-CN" sz="2400" dirty="0">
                <a:latin typeface="+mn-lt"/>
                <a:cs typeface="+mn-ea"/>
                <a:sym typeface="+mn-lt"/>
              </a:rPr>
              <a:t>。</a:t>
            </a:r>
          </a:p>
          <a:p>
            <a:pPr>
              <a:lnSpc>
                <a:spcPct val="100000"/>
              </a:lnSpc>
            </a:pPr>
            <a:r>
              <a:rPr lang="en-US" altLang="zh-CN" dirty="0" err="1">
                <a:solidFill>
                  <a:srgbClr val="515223"/>
                </a:solidFill>
                <a:latin typeface="+mn-lt"/>
                <a:cs typeface="+mn-ea"/>
                <a:sym typeface="+mn-lt"/>
              </a:rPr>
              <a:t>重组程序</a:t>
            </a:r>
            <a:r>
              <a:rPr lang="zh-CN" altLang="en-US" dirty="0">
                <a:solidFill>
                  <a:srgbClr val="515223"/>
                </a:solidFill>
                <a:latin typeface="+mn-lt"/>
                <a:cs typeface="+mn-ea"/>
                <a:sym typeface="+mn-lt"/>
              </a:rPr>
              <a:t>：</a:t>
            </a:r>
            <a:r>
              <a:rPr lang="en-US" altLang="zh-CN" sz="2400" dirty="0" err="1">
                <a:latin typeface="+mn-lt"/>
                <a:cs typeface="+mn-ea"/>
                <a:sym typeface="+mn-lt"/>
              </a:rPr>
              <a:t>一种常见的方法（假设p</a:t>
            </a:r>
            <a:r>
              <a:rPr lang="en-US" altLang="zh-CN" sz="2400" dirty="0">
                <a:latin typeface="+mn-lt"/>
                <a:cs typeface="+mn-ea"/>
                <a:sym typeface="+mn-lt"/>
              </a:rPr>
              <a:t>=2）是：随机选择一个交叉点，将每个父代字符串分割成两部分，然后重新组合形成两个子代：一个子代由父代1的前半部分和父代2的后半部分组成；另一个子代由父代1的后半部分和父代2的前半部分组成。</a:t>
            </a:r>
          </a:p>
          <a:p>
            <a:pPr>
              <a:lnSpc>
                <a:spcPct val="100000"/>
              </a:lnSpc>
            </a:pPr>
            <a:r>
              <a:rPr lang="en-US" altLang="zh-CN" dirty="0" err="1">
                <a:solidFill>
                  <a:srgbClr val="515223"/>
                </a:solidFill>
                <a:latin typeface="+mn-lt"/>
                <a:cs typeface="+mn-ea"/>
                <a:sym typeface="+mn-lt"/>
              </a:rPr>
              <a:t>突变率</a:t>
            </a:r>
            <a:r>
              <a:rPr lang="zh-CN" altLang="en-US" dirty="0">
                <a:solidFill>
                  <a:srgbClr val="515223"/>
                </a:solidFill>
                <a:latin typeface="+mn-lt"/>
                <a:cs typeface="+mn-ea"/>
                <a:sym typeface="+mn-lt"/>
              </a:rPr>
              <a:t>：</a:t>
            </a:r>
            <a:r>
              <a:rPr lang="en-US" altLang="zh-CN" sz="2400" dirty="0" err="1">
                <a:latin typeface="+mn-lt"/>
                <a:cs typeface="+mn-ea"/>
                <a:sym typeface="+mn-lt"/>
              </a:rPr>
              <a:t>这决定了后代在其表征中发生随机突变的频率。一旦生成了一个后代，其组成中的每一位都会以等于突变率的概率进行翻转</a:t>
            </a:r>
            <a:r>
              <a:rPr lang="en-US" altLang="zh-CN" sz="2400" dirty="0">
                <a:latin typeface="+mn-lt"/>
                <a:cs typeface="+mn-ea"/>
                <a:sym typeface="+mn-lt"/>
              </a:rPr>
              <a:t>。</a:t>
            </a:r>
            <a:endParaRPr lang="zh-CN" altLang="en-US" sz="2400" dirty="0">
              <a:latin typeface="+mn-lt"/>
              <a:cs typeface="+mn-ea"/>
              <a:sym typeface="+mn-lt"/>
            </a:endParaRPr>
          </a:p>
        </p:txBody>
      </p:sp>
    </p:spTree>
    <p:extLst>
      <p:ext uri="{BB962C8B-B14F-4D97-AF65-F5344CB8AC3E}">
        <p14:creationId xmlns:p14="http://schemas.microsoft.com/office/powerpoint/2010/main" val="405294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遗传算法变体</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412376" y="1197535"/>
            <a:ext cx="11322423" cy="5003800"/>
          </a:xfrm>
        </p:spPr>
        <p:txBody>
          <a:bodyPr>
            <a:normAutofit/>
          </a:bodyPr>
          <a:lstStyle/>
          <a:p>
            <a:pPr algn="l">
              <a:lnSpc>
                <a:spcPct val="100000"/>
              </a:lnSpc>
            </a:pPr>
            <a:r>
              <a:rPr lang="en-US" altLang="zh-CN" sz="2800" dirty="0" err="1">
                <a:solidFill>
                  <a:srgbClr val="515223"/>
                </a:solidFill>
                <a:latin typeface="+mn-lt"/>
                <a:cs typeface="+mn-ea"/>
                <a:sym typeface="+mn-lt"/>
              </a:rPr>
              <a:t>下一代的构成</a:t>
            </a:r>
            <a:r>
              <a:rPr lang="zh-CN" altLang="en-US" sz="1800" b="0" i="0" u="none" strike="noStrike" baseline="0" dirty="0">
                <a:solidFill>
                  <a:srgbClr val="000000"/>
                </a:solidFill>
                <a:latin typeface="+mn-lt"/>
                <a:cs typeface="+mn-ea"/>
                <a:sym typeface="+mn-lt"/>
              </a:rPr>
              <a:t>：</a:t>
            </a:r>
            <a:r>
              <a:rPr lang="en-US" altLang="zh-CN" sz="2400" dirty="0" err="1">
                <a:latin typeface="+mn-lt"/>
                <a:cs typeface="+mn-ea"/>
                <a:sym typeface="+mn-lt"/>
              </a:rPr>
              <a:t>这可以仅指新近形成的后代，也可以包括上一代中得分最高的几个亲本。通过淘汰法</a:t>
            </a:r>
            <a:r>
              <a:rPr lang="en-US" altLang="zh-CN" sz="2400" dirty="0">
                <a:latin typeface="+mn-lt"/>
                <a:cs typeface="+mn-ea"/>
                <a:sym typeface="+mn-lt"/>
              </a:rPr>
              <a:t>——即剔除所有低于特定阈值的个体——可实现速度提升。</a:t>
            </a:r>
            <a:endParaRPr lang="zh-CN" altLang="en-US" sz="2400" dirty="0">
              <a:latin typeface="+mn-lt"/>
              <a:cs typeface="+mn-ea"/>
              <a:sym typeface="+mn-lt"/>
            </a:endParaRPr>
          </a:p>
        </p:txBody>
      </p:sp>
    </p:spTree>
    <p:extLst>
      <p:ext uri="{BB962C8B-B14F-4D97-AF65-F5344CB8AC3E}">
        <p14:creationId xmlns:p14="http://schemas.microsoft.com/office/powerpoint/2010/main" val="1139082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2743200"/>
            <a:ext cx="12192000" cy="1143000"/>
          </a:xfrm>
        </p:spPr>
        <p:txBody>
          <a:bodyPr>
            <a:normAutofit/>
          </a:bodyPr>
          <a:lstStyle/>
          <a:p>
            <a:pPr algn="ctr"/>
            <a:r>
              <a:rPr lang="en-US" altLang="zh-CN" sz="4400" dirty="0">
                <a:latin typeface="+mn-lt"/>
                <a:ea typeface="+mn-ea"/>
                <a:cs typeface="+mn-ea"/>
                <a:sym typeface="+mn-lt"/>
              </a:rPr>
              <a:t>连续空间中的局部搜索</a:t>
            </a:r>
            <a:endParaRPr lang="zh-CN" altLang="en-US" sz="4400" dirty="0">
              <a:latin typeface="+mn-lt"/>
              <a:ea typeface="+mn-ea"/>
              <a:cs typeface="+mn-ea"/>
              <a:sym typeface="+mn-lt"/>
            </a:endParaRPr>
          </a:p>
        </p:txBody>
      </p:sp>
    </p:spTree>
    <p:extLst>
      <p:ext uri="{BB962C8B-B14F-4D97-AF65-F5344CB8AC3E}">
        <p14:creationId xmlns:p14="http://schemas.microsoft.com/office/powerpoint/2010/main" val="318702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连续空间中的局部搜索</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94982" y="1546153"/>
            <a:ext cx="5156200" cy="4729163"/>
          </a:xfrm>
        </p:spPr>
        <p:txBody>
          <a:bodyPr/>
          <a:lstStyle/>
          <a:p>
            <a:r>
              <a:rPr lang="en-US" altLang="zh-CN" sz="2800" dirty="0">
                <a:solidFill>
                  <a:srgbClr val="515223"/>
                </a:solidFill>
                <a:latin typeface="+mn-lt"/>
                <a:cs typeface="+mn-ea"/>
                <a:sym typeface="+mn-lt"/>
              </a:rPr>
              <a:t>我们从一个例子开始。</a:t>
            </a:r>
          </a:p>
          <a:p>
            <a:pPr lvl="1"/>
            <a:r>
              <a:rPr lang="en-US" altLang="zh-CN" sz="2400" b="1" dirty="0">
                <a:latin typeface="+mn-lt"/>
                <a:cs typeface="+mn-ea"/>
                <a:sym typeface="+mn-lt"/>
              </a:rPr>
              <a:t>去做</a:t>
            </a:r>
            <a:r>
              <a:rPr lang="en-US" altLang="zh-CN" sz="2400" dirty="0">
                <a:latin typeface="+mn-lt"/>
                <a:cs typeface="+mn-ea"/>
                <a:sym typeface="+mn-lt"/>
              </a:rPr>
              <a:t>在罗马尼亚的任何地方新建三个机场。</a:t>
            </a:r>
          </a:p>
          <a:p>
            <a:pPr lvl="1"/>
            <a:r>
              <a:rPr lang="en-US" altLang="zh-CN" sz="2400" b="1" dirty="0">
                <a:latin typeface="+mn-lt"/>
                <a:cs typeface="+mn-ea"/>
                <a:sym typeface="+mn-lt"/>
              </a:rPr>
              <a:t>我们想要</a:t>
            </a:r>
            <a:r>
              <a:rPr lang="en-US" altLang="zh-CN" sz="2400" dirty="0">
                <a:latin typeface="+mn-lt"/>
                <a:cs typeface="+mn-ea"/>
                <a:sym typeface="+mn-lt"/>
              </a:rPr>
              <a:t>地图上每个城市到其最近机场的平方距离之和为：</a:t>
            </a:r>
            <a:r>
              <a:rPr lang="en-US" altLang="zh-CN" sz="2400" b="1" dirty="0">
                <a:latin typeface="+mn-lt"/>
                <a:cs typeface="+mn-ea"/>
                <a:sym typeface="+mn-lt"/>
              </a:rPr>
              <a:t>最小化</a:t>
            </a:r>
            <a:r>
              <a:rPr lang="en-US" altLang="zh-CN" sz="2400" dirty="0">
                <a:latin typeface="+mn-lt"/>
                <a:cs typeface="+mn-ea"/>
                <a:sym typeface="+mn-lt"/>
              </a:rPr>
              <a:t>.</a:t>
            </a:r>
            <a:endParaRPr lang="zh-CN" altLang="en-US" dirty="0">
              <a:latin typeface="+mn-lt"/>
              <a:cs typeface="+mn-ea"/>
              <a:sym typeface="+mn-lt"/>
            </a:endParaRPr>
          </a:p>
        </p:txBody>
      </p:sp>
      <p:pic>
        <p:nvPicPr>
          <p:cNvPr id="4" name="图片 3"/>
          <p:cNvPicPr>
            <a:picLocks noChangeAspect="1"/>
          </p:cNvPicPr>
          <p:nvPr/>
        </p:nvPicPr>
        <p:blipFill>
          <a:blip r:embed="rId3"/>
          <a:stretch>
            <a:fillRect/>
          </a:stretch>
        </p:blipFill>
        <p:spPr>
          <a:xfrm>
            <a:off x="5351182" y="1735787"/>
            <a:ext cx="6781800" cy="4080952"/>
          </a:xfrm>
          <a:prstGeom prst="rect">
            <a:avLst/>
          </a:prstGeom>
        </p:spPr>
      </p:pic>
    </p:spTree>
    <p:extLst>
      <p:ext uri="{BB962C8B-B14F-4D97-AF65-F5344CB8AC3E}">
        <p14:creationId xmlns:p14="http://schemas.microsoft.com/office/powerpoint/2010/main" val="1399510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连续空间中的局部搜索</a:t>
            </a:r>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3" name="内容占位符 2"/>
              <p:cNvSpPr>
                <a:spLocks noGrp="1"/>
              </p:cNvSpPr>
              <p:nvPr>
                <p:ph idx="4294967295"/>
              </p:nvPr>
            </p:nvSpPr>
            <p:spPr>
              <a:xfrm>
                <a:off x="1091255" y="1190812"/>
                <a:ext cx="9874821" cy="5003800"/>
              </a:xfrm>
            </p:spPr>
            <p:txBody>
              <a:bodyPr/>
              <a:lstStyle/>
              <a:p>
                <a:r>
                  <a:rPr lang="zh-CN" altLang="en-US" dirty="0">
                    <a:solidFill>
                      <a:srgbClr val="515223"/>
                    </a:solidFill>
                    <a:latin typeface="+mn-lt"/>
                    <a:cs typeface="+mn-ea"/>
                    <a:sym typeface="+mn-lt"/>
                  </a:rPr>
                  <a:t>状态空间</a:t>
                </a:r>
                <a:endParaRPr lang="en-US" altLang="zh-CN" dirty="0">
                  <a:solidFill>
                    <a:srgbClr val="515223"/>
                  </a:solidFill>
                  <a:latin typeface="+mn-lt"/>
                  <a:cs typeface="+mn-ea"/>
                  <a:sym typeface="+mn-lt"/>
                </a:endParaRPr>
              </a:p>
              <a:p>
                <a:pPr lvl="1"/>
                <a:r>
                  <a:rPr lang="zh-CN" altLang="en-US" dirty="0">
                    <a:latin typeface="+mn-lt"/>
                    <a:cs typeface="+mn-ea"/>
                    <a:sym typeface="+mn-lt"/>
                  </a:rPr>
                  <a:t>机场</a:t>
                </a:r>
                <a14:m>
                  <m:oMath xmlns:m="http://schemas.openxmlformats.org/officeDocument/2006/math">
                    <m:r>
                      <a:rPr lang="zh-CN" altLang="en-US" i="1" dirty="0" smtClean="0">
                        <a:latin typeface="Cambria Math" panose="02040503050406030204" pitchFamily="18" charset="0"/>
                        <a:cs typeface="+mn-ea"/>
                        <a:sym typeface="+mn-lt"/>
                      </a:rPr>
                      <m:t>坐标</m:t>
                    </m:r>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1</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1</m:t>
                        </m:r>
                      </m:sub>
                    </m:sSub>
                    <m:r>
                      <a:rPr lang="en-US" altLang="zh-CN" i="1">
                        <a:latin typeface="Cambria Math" panose="02040503050406030204" pitchFamily="18" charset="0"/>
                        <a:cs typeface="+mn-ea"/>
                        <a:sym typeface="+mn-lt"/>
                      </a:rPr>
                      <m:t>)</m:t>
                    </m:r>
                  </m:oMath>
                </a14:m>
                <a:r>
                  <a:rPr lang="en-US" altLang="zh-CN" dirty="0">
                    <a:latin typeface="+mn-lt"/>
                    <a:cs typeface="+mn-ea"/>
                    <a:sym typeface="+mn-lt"/>
                  </a:rPr>
                  <a:t>, </a:t>
                </a:r>
                <a14:m>
                  <m:oMath xmlns:m="http://schemas.openxmlformats.org/officeDocument/2006/math">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2</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2</m:t>
                        </m:r>
                      </m:sub>
                    </m:sSub>
                    <m:r>
                      <a:rPr lang="en-US" altLang="zh-CN" i="1">
                        <a:latin typeface="Cambria Math" panose="02040503050406030204" pitchFamily="18" charset="0"/>
                        <a:cs typeface="+mn-ea"/>
                        <a:sym typeface="+mn-lt"/>
                      </a:rPr>
                      <m:t>)</m:t>
                    </m:r>
                  </m:oMath>
                </a14:m>
                <a:r>
                  <a:rPr lang="en-US" altLang="zh-CN" dirty="0">
                    <a:latin typeface="+mn-lt"/>
                    <a:cs typeface="+mn-ea"/>
                    <a:sym typeface="+mn-lt"/>
                  </a:rPr>
                  <a:t>, </a:t>
                </a:r>
                <a14:m>
                  <m:oMath xmlns:m="http://schemas.openxmlformats.org/officeDocument/2006/math">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3</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3</m:t>
                        </m:r>
                      </m:sub>
                    </m:sSub>
                    <m:r>
                      <a:rPr lang="en-US" altLang="zh-CN" i="1">
                        <a:latin typeface="Cambria Math" panose="02040503050406030204" pitchFamily="18" charset="0"/>
                        <a:cs typeface="+mn-ea"/>
                        <a:sym typeface="+mn-lt"/>
                      </a:rPr>
                      <m:t>)</m:t>
                    </m:r>
                  </m:oMath>
                </a14:m>
                <a:endParaRPr lang="zh-CN" altLang="en-US" dirty="0">
                  <a:latin typeface="+mn-lt"/>
                  <a:cs typeface="+mn-ea"/>
                  <a:sym typeface="+mn-lt"/>
                </a:endParaRPr>
              </a:p>
              <a:p>
                <a:endParaRPr lang="en-US" altLang="zh-CN" dirty="0">
                  <a:latin typeface="+mn-lt"/>
                  <a:cs typeface="+mn-ea"/>
                  <a:sym typeface="+mn-lt"/>
                </a:endParaRPr>
              </a:p>
              <a:p>
                <a:r>
                  <a:rPr lang="zh-CN" altLang="en-US" dirty="0">
                    <a:solidFill>
                      <a:srgbClr val="515223"/>
                    </a:solidFill>
                    <a:latin typeface="+mn-lt"/>
                    <a:cs typeface="+mn-ea"/>
                    <a:sym typeface="+mn-lt"/>
                  </a:rPr>
                  <a:t>目标函数</a:t>
                </a:r>
                <a:r>
                  <a:rPr lang="en-US" altLang="zh-CN" dirty="0">
                    <a:solidFill>
                      <a:srgbClr val="515223"/>
                    </a:solidFill>
                    <a:latin typeface="+mn-lt"/>
                    <a:cs typeface="+mn-ea"/>
                    <a:sym typeface="+mn-lt"/>
                  </a:rPr>
                  <a:t> </a:t>
                </a:r>
              </a:p>
              <a:p>
                <a:pPr lvl="1"/>
                <a14:m>
                  <m:oMath xmlns:m="http://schemas.openxmlformats.org/officeDocument/2006/math">
                    <m:r>
                      <a:rPr lang="en-US" altLang="zh-CN" b="0" i="1" smtClean="0">
                        <a:latin typeface="Cambria Math" panose="02040503050406030204" pitchFamily="18" charset="0"/>
                        <a:cs typeface="+mn-ea"/>
                        <a:sym typeface="+mn-lt"/>
                      </a:rPr>
                      <m:t>𝑓</m:t>
                    </m:r>
                    <m:d>
                      <m:dPr>
                        <m:ctrlPr>
                          <a:rPr lang="en-US" altLang="zh-CN" b="0" i="1" smtClean="0">
                            <a:latin typeface="Cambria Math" panose="02040503050406030204" pitchFamily="18" charset="0"/>
                            <a:cs typeface="+mn-ea"/>
                            <a:sym typeface="+mn-lt"/>
                          </a:rPr>
                        </m:ctrlPr>
                      </m:dPr>
                      <m:e>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1</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1</m:t>
                            </m:r>
                          </m:sub>
                        </m:sSub>
                        <m:r>
                          <a:rPr lang="en-US" altLang="zh-CN" b="0" i="1" smtClean="0">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2</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2</m:t>
                            </m:r>
                          </m:sub>
                        </m:sSub>
                        <m:r>
                          <a:rPr lang="en-US" altLang="zh-CN" b="0" i="1" smtClean="0">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3</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3</m:t>
                            </m:r>
                          </m:sub>
                        </m:sSub>
                      </m:e>
                    </m:d>
                    <m:r>
                      <a:rPr lang="en-US" altLang="zh-CN" b="0" i="1" smtClean="0">
                        <a:latin typeface="Cambria Math" panose="02040503050406030204" pitchFamily="18" charset="0"/>
                        <a:cs typeface="+mn-ea"/>
                        <a:sym typeface="+mn-lt"/>
                      </a:rPr>
                      <m:t>=</m:t>
                    </m:r>
                    <m:nary>
                      <m:naryPr>
                        <m:chr m:val="∑"/>
                        <m:ctrlPr>
                          <a:rPr lang="en-US" altLang="zh-CN" b="0" i="1" smtClean="0">
                            <a:latin typeface="Cambria Math" panose="02040503050406030204" pitchFamily="18" charset="0"/>
                            <a:cs typeface="+mn-ea"/>
                            <a:sym typeface="+mn-lt"/>
                          </a:rPr>
                        </m:ctrlPr>
                      </m:naryPr>
                      <m:sub>
                        <m:r>
                          <m:rPr>
                            <m:brk m:alnAt="23"/>
                          </m:rPr>
                          <a:rPr lang="en-US" altLang="zh-CN" b="0" i="1" smtClean="0">
                            <a:latin typeface="Cambria Math" panose="02040503050406030204" pitchFamily="18" charset="0"/>
                            <a:cs typeface="+mn-ea"/>
                            <a:sym typeface="+mn-lt"/>
                          </a:rPr>
                          <m:t>𝑖</m:t>
                        </m:r>
                        <m:r>
                          <a:rPr lang="en-US" altLang="zh-CN" b="0" i="1" smtClean="0">
                            <a:latin typeface="Cambria Math" panose="02040503050406030204" pitchFamily="18" charset="0"/>
                            <a:cs typeface="+mn-ea"/>
                            <a:sym typeface="+mn-lt"/>
                          </a:rPr>
                          <m:t>=1</m:t>
                        </m:r>
                      </m:sub>
                      <m:sup>
                        <m:r>
                          <a:rPr lang="en-US" altLang="zh-CN" b="0" i="1" smtClean="0">
                            <a:latin typeface="Cambria Math" panose="02040503050406030204" pitchFamily="18" charset="0"/>
                            <a:cs typeface="+mn-ea"/>
                            <a:sym typeface="+mn-lt"/>
                          </a:rPr>
                          <m:t>3</m:t>
                        </m:r>
                      </m:sup>
                      <m:e>
                        <m:nary>
                          <m:naryPr>
                            <m:chr m:val="∑"/>
                            <m:ctrlPr>
                              <a:rPr lang="en-US" altLang="zh-CN" b="0" i="1" smtClean="0">
                                <a:latin typeface="Cambria Math" panose="02040503050406030204" pitchFamily="18" charset="0"/>
                                <a:cs typeface="+mn-ea"/>
                                <a:sym typeface="+mn-lt"/>
                              </a:rPr>
                            </m:ctrlPr>
                          </m:naryPr>
                          <m:sub>
                            <m:r>
                              <m:rPr>
                                <m:brk m:alnAt="23"/>
                              </m:rPr>
                              <a:rPr lang="en-US" altLang="zh-CN" b="0" i="1" smtClean="0">
                                <a:latin typeface="Cambria Math" panose="02040503050406030204" pitchFamily="18" charset="0"/>
                                <a:cs typeface="+mn-ea"/>
                                <a:sym typeface="+mn-lt"/>
                              </a:rPr>
                              <m:t>𝑐</m:t>
                            </m:r>
                            <m:r>
                              <a:rPr lang="en-US" altLang="zh-CN" b="0" i="1" smtClean="0">
                                <a:latin typeface="Cambria Math" panose="02040503050406030204" pitchFamily="18" charset="0"/>
                                <a:cs typeface="+mn-ea"/>
                                <a:sym typeface="+mn-lt"/>
                              </a:rPr>
                              <m:t>∈</m:t>
                            </m:r>
                            <m:sSub>
                              <m:sSubPr>
                                <m:ctrlPr>
                                  <a:rPr lang="en-US" altLang="zh-CN" b="0" i="1" smtClean="0">
                                    <a:latin typeface="Cambria Math" panose="02040503050406030204" pitchFamily="18" charset="0"/>
                                    <a:cs typeface="+mn-ea"/>
                                    <a:sym typeface="+mn-lt"/>
                                  </a:rPr>
                                </m:ctrlPr>
                              </m:sSubPr>
                              <m:e>
                                <m:r>
                                  <m:rPr>
                                    <m:brk m:alnAt="23"/>
                                  </m:rPr>
                                  <a:rPr lang="en-US" altLang="zh-CN" i="1">
                                    <a:latin typeface="Cambria Math" panose="02040503050406030204" pitchFamily="18" charset="0"/>
                                    <a:cs typeface="+mn-ea"/>
                                    <a:sym typeface="+mn-lt"/>
                                  </a:rPr>
                                  <m:t>𝐶</m:t>
                                </m:r>
                              </m:e>
                              <m:sub>
                                <m:r>
                                  <a:rPr lang="en-US" altLang="zh-CN" b="0" i="1" smtClean="0">
                                    <a:latin typeface="Cambria Math" panose="02040503050406030204" pitchFamily="18" charset="0"/>
                                    <a:cs typeface="+mn-ea"/>
                                    <a:sym typeface="+mn-lt"/>
                                  </a:rPr>
                                  <m:t>𝑖</m:t>
                                </m:r>
                              </m:sub>
                            </m:sSub>
                          </m:sub>
                          <m:sup/>
                          <m:e>
                            <m:sSup>
                              <m:sSupPr>
                                <m:ctrlPr>
                                  <a:rPr lang="en-US" altLang="zh-CN" b="0" i="1" smtClean="0">
                                    <a:latin typeface="Cambria Math" panose="02040503050406030204" pitchFamily="18" charset="0"/>
                                    <a:cs typeface="+mn-ea"/>
                                    <a:sym typeface="+mn-lt"/>
                                  </a:rPr>
                                </m:ctrlPr>
                              </m:sSupPr>
                              <m:e>
                                <m:r>
                                  <a:rPr lang="en-US" altLang="zh-CN" b="0" i="1" smtClean="0">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b="0" i="1" smtClean="0">
                                        <a:latin typeface="Cambria Math" panose="02040503050406030204" pitchFamily="18" charset="0"/>
                                        <a:cs typeface="+mn-ea"/>
                                        <a:sym typeface="+mn-lt"/>
                                      </a:rPr>
                                      <m:t>𝑖</m:t>
                                    </m:r>
                                  </m:sub>
                                </m:sSub>
                                <m:r>
                                  <a:rPr lang="en-US" altLang="zh-CN" b="0" i="1" smtClean="0">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b="0" i="1" smtClean="0">
                                        <a:latin typeface="Cambria Math" panose="02040503050406030204" pitchFamily="18" charset="0"/>
                                        <a:cs typeface="+mn-ea"/>
                                        <a:sym typeface="+mn-lt"/>
                                      </a:rPr>
                                      <m:t>𝑐</m:t>
                                    </m:r>
                                  </m:sub>
                                </m:sSub>
                                <m:r>
                                  <a:rPr lang="en-US" altLang="zh-CN" b="0" i="1" smtClean="0">
                                    <a:latin typeface="Cambria Math" panose="02040503050406030204" pitchFamily="18" charset="0"/>
                                    <a:cs typeface="+mn-ea"/>
                                    <a:sym typeface="+mn-lt"/>
                                  </a:rPr>
                                  <m:t>)</m:t>
                                </m:r>
                              </m:e>
                              <m:sup>
                                <m:r>
                                  <a:rPr lang="en-US" altLang="zh-CN" b="0" i="1" smtClean="0">
                                    <a:latin typeface="Cambria Math" panose="02040503050406030204" pitchFamily="18" charset="0"/>
                                    <a:cs typeface="+mn-ea"/>
                                    <a:sym typeface="+mn-lt"/>
                                  </a:rPr>
                                  <m:t>2</m:t>
                                </m:r>
                              </m:sup>
                            </m:sSup>
                            <m:r>
                              <a:rPr lang="en-US" altLang="zh-CN" b="0" i="1" smtClean="0">
                                <a:latin typeface="Cambria Math" panose="02040503050406030204" pitchFamily="18" charset="0"/>
                                <a:cs typeface="+mn-ea"/>
                                <a:sym typeface="+mn-lt"/>
                              </a:rPr>
                              <m:t>+</m:t>
                            </m:r>
                            <m:sSup>
                              <m:sSupPr>
                                <m:ctrlPr>
                                  <a:rPr lang="en-US" altLang="zh-CN" i="1">
                                    <a:latin typeface="Cambria Math" panose="02040503050406030204" pitchFamily="18" charset="0"/>
                                    <a:cs typeface="+mn-ea"/>
                                    <a:sym typeface="+mn-lt"/>
                                  </a:rPr>
                                </m:ctrlPr>
                              </m:sSupPr>
                              <m:e>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𝑦</m:t>
                                    </m:r>
                                  </m:e>
                                  <m:sub>
                                    <m:r>
                                      <a:rPr lang="en-US" altLang="zh-CN" b="0" i="1" smtClean="0">
                                        <a:latin typeface="Cambria Math" panose="02040503050406030204" pitchFamily="18" charset="0"/>
                                        <a:cs typeface="+mn-ea"/>
                                        <a:sym typeface="+mn-lt"/>
                                      </a:rPr>
                                      <m:t>𝑖</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𝑦</m:t>
                                    </m:r>
                                  </m:e>
                                  <m:sub>
                                    <m:r>
                                      <a:rPr lang="en-US" altLang="zh-CN" b="0" i="1" smtClean="0">
                                        <a:latin typeface="Cambria Math" panose="02040503050406030204" pitchFamily="18" charset="0"/>
                                        <a:cs typeface="+mn-ea"/>
                                        <a:sym typeface="+mn-lt"/>
                                      </a:rPr>
                                      <m:t>𝑐</m:t>
                                    </m:r>
                                  </m:sub>
                                </m:sSub>
                                <m:r>
                                  <a:rPr lang="en-US" altLang="zh-CN" i="1">
                                    <a:latin typeface="Cambria Math" panose="02040503050406030204" pitchFamily="18" charset="0"/>
                                    <a:cs typeface="+mn-ea"/>
                                    <a:sym typeface="+mn-lt"/>
                                  </a:rPr>
                                  <m:t>)</m:t>
                                </m:r>
                              </m:e>
                              <m:sup>
                                <m:r>
                                  <a:rPr lang="en-US" altLang="zh-CN" i="1">
                                    <a:latin typeface="Cambria Math" panose="02040503050406030204" pitchFamily="18" charset="0"/>
                                    <a:cs typeface="+mn-ea"/>
                                    <a:sym typeface="+mn-lt"/>
                                  </a:rPr>
                                  <m:t>2</m:t>
                                </m:r>
                              </m:sup>
                            </m:sSup>
                          </m:e>
                        </m:nary>
                      </m:e>
                    </m:nary>
                  </m:oMath>
                </a14:m>
                <a:endParaRPr lang="en-US" altLang="zh-CN" dirty="0">
                  <a:latin typeface="+mn-lt"/>
                  <a:cs typeface="+mn-ea"/>
                  <a:sym typeface="+mn-lt"/>
                </a:endParaRPr>
              </a:p>
              <a:p>
                <a:pPr lvl="1"/>
                <a:r>
                  <a:rPr lang="zh-CN" altLang="en-US" dirty="0">
                    <a:latin typeface="+mn-lt"/>
                    <a:cs typeface="+mn-ea"/>
                    <a:sym typeface="+mn-lt"/>
                  </a:rPr>
                  <a:t>让</a:t>
                </a:r>
                <a:r>
                  <a:rPr lang="en-US" altLang="zh-CN" dirty="0">
                    <a:latin typeface="+mn-lt"/>
                    <a:cs typeface="+mn-ea"/>
                    <a:sym typeface="+mn-lt"/>
                  </a:rPr>
                  <a:t> </a:t>
                </a:r>
                <a14:m>
                  <m:oMath xmlns:m="http://schemas.openxmlformats.org/officeDocument/2006/math">
                    <m:sSub>
                      <m:sSubPr>
                        <m:ctrlPr>
                          <a:rPr lang="en-US" altLang="zh-CN" i="1">
                            <a:latin typeface="Cambria Math" panose="02040503050406030204" pitchFamily="18" charset="0"/>
                            <a:cs typeface="+mn-ea"/>
                            <a:sym typeface="+mn-lt"/>
                          </a:rPr>
                        </m:ctrlPr>
                      </m:sSubPr>
                      <m:e>
                        <m:r>
                          <m:rPr>
                            <m:brk m:alnAt="23"/>
                          </m:rPr>
                          <a:rPr lang="en-US" altLang="zh-CN" i="1">
                            <a:latin typeface="Cambria Math" panose="02040503050406030204" pitchFamily="18" charset="0"/>
                            <a:cs typeface="+mn-ea"/>
                            <a:sym typeface="+mn-lt"/>
                          </a:rPr>
                          <m:t>𝐶</m:t>
                        </m:r>
                      </m:e>
                      <m:sub>
                        <m:r>
                          <a:rPr lang="en-US" altLang="zh-CN" i="1">
                            <a:latin typeface="Cambria Math" panose="02040503050406030204" pitchFamily="18" charset="0"/>
                            <a:cs typeface="+mn-ea"/>
                            <a:sym typeface="+mn-lt"/>
                          </a:rPr>
                          <m:t>𝑖</m:t>
                        </m:r>
                      </m:sub>
                    </m:sSub>
                  </m:oMath>
                </a14:m>
                <a:r>
                  <a:rPr lang="zh-CN" altLang="en-US" dirty="0">
                    <a:latin typeface="+mn-lt"/>
                    <a:cs typeface="+mn-ea"/>
                    <a:sym typeface="+mn-lt"/>
                  </a:rPr>
                  <a:t>作为最近的机场的城市集合</a:t>
                </a:r>
                <a14:m>
                  <m:oMath xmlns:m="http://schemas.openxmlformats.org/officeDocument/2006/math">
                    <m:r>
                      <a:rPr lang="en-US" altLang="zh-CN" i="1" dirty="0" smtClean="0">
                        <a:latin typeface="Cambria Math" panose="02040503050406030204" pitchFamily="18" charset="0"/>
                        <a:cs typeface="+mn-ea"/>
                        <a:sym typeface="+mn-lt"/>
                      </a:rPr>
                      <m:t>𝑖</m:t>
                    </m:r>
                  </m:oMath>
                </a14:m>
                <a:r>
                  <a:rPr lang="en-US" altLang="zh-CN" dirty="0">
                    <a:latin typeface="+mn-lt"/>
                    <a:cs typeface="+mn-ea"/>
                    <a:sym typeface="+mn-lt"/>
                  </a:rPr>
                  <a:t>.</a:t>
                </a:r>
              </a:p>
            </p:txBody>
          </p:sp>
        </mc:Choice>
        <mc:Fallback xmlns="">
          <p:sp>
            <p:nvSpPr>
              <p:cNvPr id="3" name="内容占位符 2"/>
              <p:cNvSpPr>
                <a:spLocks noGrp="1" noRot="1" noChangeAspect="1" noMove="1" noResize="1" noEditPoints="1" noAdjustHandles="1" noChangeArrowheads="1" noChangeShapeType="1" noTextEdit="1"/>
              </p:cNvSpPr>
              <p:nvPr>
                <p:ph idx="4294967295"/>
              </p:nvPr>
            </p:nvSpPr>
            <p:spPr>
              <a:xfrm>
                <a:off x="1091255" y="1190812"/>
                <a:ext cx="9874821" cy="5003800"/>
              </a:xfrm>
              <a:blipFill>
                <a:blip r:embed="rId3"/>
                <a:stretch>
                  <a:fillRect l="-1111" t="-20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3724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连续空间中的局部搜索</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6" y="1237877"/>
            <a:ext cx="8466402" cy="5003800"/>
          </a:xfrm>
        </p:spPr>
        <p:txBody>
          <a:bodyPr/>
          <a:lstStyle/>
          <a:p>
            <a:pPr>
              <a:lnSpc>
                <a:spcPct val="150000"/>
              </a:lnSpc>
            </a:pPr>
            <a:r>
              <a:rPr lang="zh-CN" altLang="en-US" dirty="0">
                <a:solidFill>
                  <a:srgbClr val="515223"/>
                </a:solidFill>
                <a:latin typeface="+mn-lt"/>
                <a:cs typeface="+mn-ea"/>
                <a:sym typeface="+mn-lt"/>
              </a:rPr>
              <a:t>在离散状态下求解</a:t>
            </a:r>
            <a:endParaRPr lang="en-US" altLang="zh-CN" dirty="0">
              <a:solidFill>
                <a:srgbClr val="515223"/>
              </a:solidFill>
              <a:latin typeface="+mn-lt"/>
              <a:cs typeface="+mn-ea"/>
              <a:sym typeface="+mn-lt"/>
            </a:endParaRPr>
          </a:p>
          <a:p>
            <a:pPr lvl="1">
              <a:lnSpc>
                <a:spcPct val="150000"/>
              </a:lnSpc>
            </a:pPr>
            <a:r>
              <a:rPr lang="zh-CN" altLang="en-US" dirty="0">
                <a:latin typeface="+mn-lt"/>
                <a:cs typeface="+mn-ea"/>
                <a:sym typeface="+mn-lt"/>
              </a:rPr>
              <a:t>使每个状态的邻里关系自由化</a:t>
            </a:r>
            <a:endParaRPr lang="en-US" altLang="zh-CN" dirty="0">
              <a:latin typeface="+mn-lt"/>
              <a:cs typeface="+mn-ea"/>
              <a:sym typeface="+mn-lt"/>
            </a:endParaRPr>
          </a:p>
          <a:p>
            <a:pPr lvl="1">
              <a:lnSpc>
                <a:spcPct val="150000"/>
              </a:lnSpc>
            </a:pPr>
            <a:r>
              <a:rPr lang="zh-CN" altLang="en-US" dirty="0">
                <a:latin typeface="+mn-lt"/>
                <a:cs typeface="+mn-ea"/>
                <a:sym typeface="+mn-lt"/>
              </a:rPr>
              <a:t>将一个机场向任一方向移动固定量</a:t>
            </a:r>
            <a:r>
              <a:rPr lang="en-US" altLang="zh-CN" dirty="0">
                <a:latin typeface="+mn-lt"/>
                <a:cs typeface="+mn-ea"/>
                <a:sym typeface="+mn-lt"/>
              </a:rPr>
              <a:t>±</a:t>
            </a:r>
            <a:r>
              <a:rPr lang="zh-CN" altLang="en-US" dirty="0">
                <a:latin typeface="+mn-lt"/>
                <a:cs typeface="+mn-ea"/>
                <a:sym typeface="+mn-lt"/>
              </a:rPr>
              <a:t>𝛿</a:t>
            </a:r>
            <a:endParaRPr lang="en-US" altLang="zh-CN" dirty="0">
              <a:latin typeface="+mn-lt"/>
              <a:cs typeface="+mn-ea"/>
              <a:sym typeface="+mn-lt"/>
            </a:endParaRPr>
          </a:p>
          <a:p>
            <a:pPr lvl="1">
              <a:lnSpc>
                <a:spcPct val="150000"/>
              </a:lnSpc>
            </a:pPr>
            <a:r>
              <a:rPr lang="zh-CN" altLang="en-US" dirty="0">
                <a:latin typeface="+mn-lt"/>
                <a:cs typeface="+mn-ea"/>
                <a:sym typeface="+mn-lt"/>
              </a:rPr>
              <a:t>有</a:t>
            </a:r>
            <a:r>
              <a:rPr lang="en-US" altLang="zh-CN" dirty="0">
                <a:latin typeface="+mn-lt"/>
                <a:cs typeface="+mn-ea"/>
                <a:sym typeface="+mn-lt"/>
              </a:rPr>
              <a:t>6</a:t>
            </a:r>
            <a:r>
              <a:rPr lang="zh-CN" altLang="en-US" dirty="0">
                <a:latin typeface="+mn-lt"/>
                <a:cs typeface="+mn-ea"/>
                <a:sym typeface="+mn-lt"/>
              </a:rPr>
              <a:t>个变量，这为每个状态提供了</a:t>
            </a:r>
            <a:r>
              <a:rPr lang="en-US" altLang="zh-CN" dirty="0">
                <a:latin typeface="+mn-lt"/>
                <a:cs typeface="+mn-ea"/>
                <a:sym typeface="+mn-lt"/>
              </a:rPr>
              <a:t>12</a:t>
            </a:r>
            <a:r>
              <a:rPr lang="zh-CN" altLang="en-US" dirty="0">
                <a:latin typeface="+mn-lt"/>
                <a:cs typeface="+mn-ea"/>
                <a:sym typeface="+mn-lt"/>
              </a:rPr>
              <a:t>个可能的后继变量</a:t>
            </a:r>
            <a:endParaRPr lang="en-US" altLang="zh-CN" dirty="0">
              <a:latin typeface="+mn-lt"/>
              <a:cs typeface="+mn-ea"/>
              <a:sym typeface="+mn-lt"/>
            </a:endParaRPr>
          </a:p>
          <a:p>
            <a:pPr lvl="1">
              <a:lnSpc>
                <a:spcPct val="150000"/>
              </a:lnSpc>
            </a:pPr>
            <a:r>
              <a:rPr lang="zh-CN" altLang="en-US" dirty="0">
                <a:latin typeface="+mn-lt"/>
                <a:cs typeface="+mn-ea"/>
                <a:sym typeface="+mn-lt"/>
              </a:rPr>
              <a:t>应用前面描述的任何本地搜索算法</a:t>
            </a:r>
            <a:endParaRPr lang="en-US" altLang="zh-CN" dirty="0">
              <a:latin typeface="+mn-lt"/>
              <a:cs typeface="+mn-ea"/>
              <a:sym typeface="+mn-lt"/>
            </a:endParaRPr>
          </a:p>
        </p:txBody>
      </p:sp>
    </p:spTree>
    <p:extLst>
      <p:ext uri="{BB962C8B-B14F-4D97-AF65-F5344CB8AC3E}">
        <p14:creationId xmlns:p14="http://schemas.microsoft.com/office/powerpoint/2010/main" val="199675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连续空间中的局部搜索</a:t>
            </a:r>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3" name="内容占位符 2"/>
              <p:cNvSpPr>
                <a:spLocks noGrp="1"/>
              </p:cNvSpPr>
              <p:nvPr>
                <p:ph idx="4294967295"/>
              </p:nvPr>
            </p:nvSpPr>
            <p:spPr>
              <a:xfrm>
                <a:off x="1091255" y="1264771"/>
                <a:ext cx="10858500" cy="5003800"/>
              </a:xfrm>
            </p:spPr>
            <p:txBody>
              <a:bodyPr/>
              <a:lstStyle/>
              <a:p>
                <a:r>
                  <a:rPr lang="zh-CN" altLang="en-US" dirty="0">
                    <a:solidFill>
                      <a:srgbClr val="515223"/>
                    </a:solidFill>
                    <a:latin typeface="+mn-lt"/>
                    <a:cs typeface="+mn-ea"/>
                    <a:sym typeface="+mn-lt"/>
                  </a:rPr>
                  <a:t>连续状态下求解</a:t>
                </a:r>
                <a:endParaRPr lang="en-US" altLang="zh-CN" dirty="0">
                  <a:solidFill>
                    <a:srgbClr val="515223"/>
                  </a:solidFill>
                  <a:latin typeface="+mn-lt"/>
                  <a:cs typeface="+mn-ea"/>
                  <a:sym typeface="+mn-lt"/>
                </a:endParaRPr>
              </a:p>
              <a:p>
                <a:pPr lvl="1"/>
                <a14:m>
                  <m:oMath xmlns:m="http://schemas.openxmlformats.org/officeDocument/2006/math">
                    <m:r>
                      <a:rPr lang="en-US" altLang="zh-CN" i="1">
                        <a:latin typeface="Cambria Math" panose="02040503050406030204" pitchFamily="18" charset="0"/>
                        <a:cs typeface="+mn-ea"/>
                        <a:sym typeface="+mn-lt"/>
                      </a:rPr>
                      <m:t>𝑓</m:t>
                    </m:r>
                    <m:d>
                      <m:dPr>
                        <m:ctrlPr>
                          <a:rPr lang="en-US" altLang="zh-CN" i="1">
                            <a:latin typeface="Cambria Math" panose="02040503050406030204" pitchFamily="18" charset="0"/>
                            <a:cs typeface="+mn-ea"/>
                            <a:sym typeface="+mn-lt"/>
                          </a:rPr>
                        </m:ctrlPr>
                      </m:dPr>
                      <m:e>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1</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1</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2</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2</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3</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3</m:t>
                            </m:r>
                          </m:sub>
                        </m:sSub>
                      </m:e>
                    </m:d>
                    <m:r>
                      <a:rPr lang="en-US" altLang="zh-CN" i="1">
                        <a:latin typeface="Cambria Math" panose="02040503050406030204" pitchFamily="18" charset="0"/>
                        <a:cs typeface="+mn-ea"/>
                        <a:sym typeface="+mn-lt"/>
                      </a:rPr>
                      <m:t>=</m:t>
                    </m:r>
                    <m:nary>
                      <m:naryPr>
                        <m:chr m:val="∑"/>
                        <m:ctrlPr>
                          <a:rPr lang="en-US" altLang="zh-CN" i="1">
                            <a:latin typeface="Cambria Math" panose="02040503050406030204" pitchFamily="18" charset="0"/>
                            <a:cs typeface="+mn-ea"/>
                            <a:sym typeface="+mn-lt"/>
                          </a:rPr>
                        </m:ctrlPr>
                      </m:naryPr>
                      <m:sub>
                        <m:r>
                          <m:rPr>
                            <m:brk m:alnAt="23"/>
                          </m:rPr>
                          <a:rPr lang="en-US" altLang="zh-CN" i="1">
                            <a:latin typeface="Cambria Math" panose="02040503050406030204" pitchFamily="18" charset="0"/>
                            <a:cs typeface="+mn-ea"/>
                            <a:sym typeface="+mn-lt"/>
                          </a:rPr>
                          <m:t>𝑖</m:t>
                        </m:r>
                        <m:r>
                          <a:rPr lang="en-US" altLang="zh-CN" i="1">
                            <a:latin typeface="Cambria Math" panose="02040503050406030204" pitchFamily="18" charset="0"/>
                            <a:cs typeface="+mn-ea"/>
                            <a:sym typeface="+mn-lt"/>
                          </a:rPr>
                          <m:t>=1</m:t>
                        </m:r>
                      </m:sub>
                      <m:sup>
                        <m:r>
                          <a:rPr lang="en-US" altLang="zh-CN" i="1">
                            <a:latin typeface="Cambria Math" panose="02040503050406030204" pitchFamily="18" charset="0"/>
                            <a:cs typeface="+mn-ea"/>
                            <a:sym typeface="+mn-lt"/>
                          </a:rPr>
                          <m:t>3</m:t>
                        </m:r>
                      </m:sup>
                      <m:e>
                        <m:nary>
                          <m:naryPr>
                            <m:chr m:val="∑"/>
                            <m:ctrlPr>
                              <a:rPr lang="en-US" altLang="zh-CN" i="1">
                                <a:latin typeface="Cambria Math" panose="02040503050406030204" pitchFamily="18" charset="0"/>
                                <a:cs typeface="+mn-ea"/>
                                <a:sym typeface="+mn-lt"/>
                              </a:rPr>
                            </m:ctrlPr>
                          </m:naryPr>
                          <m:sub>
                            <m:r>
                              <m:rPr>
                                <m:brk m:alnAt="23"/>
                              </m:rPr>
                              <a:rPr lang="en-US" altLang="zh-CN" i="1">
                                <a:latin typeface="Cambria Math" panose="02040503050406030204" pitchFamily="18" charset="0"/>
                                <a:cs typeface="+mn-ea"/>
                                <a:sym typeface="+mn-lt"/>
                              </a:rPr>
                              <m:t>𝑐</m:t>
                            </m:r>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m:rPr>
                                    <m:brk m:alnAt="23"/>
                                  </m:rPr>
                                  <a:rPr lang="en-US" altLang="zh-CN" i="1">
                                    <a:latin typeface="Cambria Math" panose="02040503050406030204" pitchFamily="18" charset="0"/>
                                    <a:cs typeface="+mn-ea"/>
                                    <a:sym typeface="+mn-lt"/>
                                  </a:rPr>
                                  <m:t>𝐶</m:t>
                                </m:r>
                              </m:e>
                              <m:sub>
                                <m:r>
                                  <a:rPr lang="en-US" altLang="zh-CN" i="1">
                                    <a:latin typeface="Cambria Math" panose="02040503050406030204" pitchFamily="18" charset="0"/>
                                    <a:cs typeface="+mn-ea"/>
                                    <a:sym typeface="+mn-lt"/>
                                  </a:rPr>
                                  <m:t>𝑖</m:t>
                                </m:r>
                              </m:sub>
                            </m:sSub>
                          </m:sub>
                          <m:sup/>
                          <m:e>
                            <m:sSup>
                              <m:sSupPr>
                                <m:ctrlPr>
                                  <a:rPr lang="en-US" altLang="zh-CN" i="1">
                                    <a:latin typeface="Cambria Math" panose="02040503050406030204" pitchFamily="18" charset="0"/>
                                    <a:cs typeface="+mn-ea"/>
                                    <a:sym typeface="+mn-lt"/>
                                  </a:rPr>
                                </m:ctrlPr>
                              </m:sSupPr>
                              <m:e>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𝑖</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𝑐</m:t>
                                    </m:r>
                                  </m:sub>
                                </m:sSub>
                                <m:r>
                                  <a:rPr lang="en-US" altLang="zh-CN" i="1">
                                    <a:latin typeface="Cambria Math" panose="02040503050406030204" pitchFamily="18" charset="0"/>
                                    <a:cs typeface="+mn-ea"/>
                                    <a:sym typeface="+mn-lt"/>
                                  </a:rPr>
                                  <m:t>)</m:t>
                                </m:r>
                              </m:e>
                              <m:sup>
                                <m:r>
                                  <a:rPr lang="en-US" altLang="zh-CN" i="1">
                                    <a:latin typeface="Cambria Math" panose="02040503050406030204" pitchFamily="18" charset="0"/>
                                    <a:cs typeface="+mn-ea"/>
                                    <a:sym typeface="+mn-lt"/>
                                  </a:rPr>
                                  <m:t>2</m:t>
                                </m:r>
                              </m:sup>
                            </m:sSup>
                            <m:r>
                              <a:rPr lang="en-US" altLang="zh-CN" i="1">
                                <a:latin typeface="Cambria Math" panose="02040503050406030204" pitchFamily="18" charset="0"/>
                                <a:cs typeface="+mn-ea"/>
                                <a:sym typeface="+mn-lt"/>
                              </a:rPr>
                              <m:t>+</m:t>
                            </m:r>
                            <m:sSup>
                              <m:sSupPr>
                                <m:ctrlPr>
                                  <a:rPr lang="en-US" altLang="zh-CN" i="1">
                                    <a:latin typeface="Cambria Math" panose="02040503050406030204" pitchFamily="18" charset="0"/>
                                    <a:cs typeface="+mn-ea"/>
                                    <a:sym typeface="+mn-lt"/>
                                  </a:rPr>
                                </m:ctrlPr>
                              </m:sSupPr>
                              <m:e>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𝑖</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𝑐</m:t>
                                    </m:r>
                                  </m:sub>
                                </m:sSub>
                                <m:r>
                                  <a:rPr lang="en-US" altLang="zh-CN" i="1">
                                    <a:latin typeface="Cambria Math" panose="02040503050406030204" pitchFamily="18" charset="0"/>
                                    <a:cs typeface="+mn-ea"/>
                                    <a:sym typeface="+mn-lt"/>
                                  </a:rPr>
                                  <m:t>)</m:t>
                                </m:r>
                              </m:e>
                              <m:sup>
                                <m:r>
                                  <a:rPr lang="en-US" altLang="zh-CN" i="1">
                                    <a:latin typeface="Cambria Math" panose="02040503050406030204" pitchFamily="18" charset="0"/>
                                    <a:cs typeface="+mn-ea"/>
                                    <a:sym typeface="+mn-lt"/>
                                  </a:rPr>
                                  <m:t>2</m:t>
                                </m:r>
                              </m:sup>
                            </m:sSup>
                          </m:e>
                        </m:nary>
                      </m:e>
                    </m:nary>
                  </m:oMath>
                </a14:m>
                <a:endParaRPr lang="en-US" altLang="zh-CN" dirty="0">
                  <a:latin typeface="+mn-lt"/>
                  <a:cs typeface="+mn-ea"/>
                  <a:sym typeface="+mn-lt"/>
                </a:endParaRPr>
              </a:p>
              <a:p>
                <a:r>
                  <a:rPr lang="zh-CN" altLang="en-US" dirty="0">
                    <a:solidFill>
                      <a:srgbClr val="515223"/>
                    </a:solidFill>
                    <a:latin typeface="+mn-lt"/>
                    <a:cs typeface="+mn-ea"/>
                    <a:sym typeface="+mn-lt"/>
                  </a:rPr>
                  <a:t>使用</a:t>
                </a:r>
                <a:r>
                  <a:rPr lang="zh-CN" altLang="en-US" b="1" dirty="0">
                    <a:solidFill>
                      <a:srgbClr val="515223"/>
                    </a:solidFill>
                    <a:latin typeface="+mn-lt"/>
                    <a:cs typeface="+mn-ea"/>
                    <a:sym typeface="+mn-lt"/>
                  </a:rPr>
                  <a:t>梯度</a:t>
                </a:r>
                <a:r>
                  <a:rPr lang="zh-CN" altLang="en-US" dirty="0">
                    <a:solidFill>
                      <a:srgbClr val="515223"/>
                    </a:solidFill>
                    <a:latin typeface="+mn-lt"/>
                    <a:cs typeface="+mn-ea"/>
                    <a:sym typeface="+mn-lt"/>
                  </a:rPr>
                  <a:t>求解最大值</a:t>
                </a:r>
                <a:endParaRPr lang="en-US" altLang="zh-CN" dirty="0">
                  <a:solidFill>
                    <a:srgbClr val="515223"/>
                  </a:solidFill>
                  <a:latin typeface="+mn-lt"/>
                  <a:cs typeface="+mn-ea"/>
                  <a:sym typeface="+mn-lt"/>
                </a:endParaRPr>
              </a:p>
              <a:p>
                <a:pPr lvl="1"/>
                <a14:m>
                  <m:oMath xmlns:m="http://schemas.openxmlformats.org/officeDocument/2006/math">
                    <m:r>
                      <a:rPr lang="en-US" altLang="zh-CN">
                        <a:latin typeface="Cambria Math" panose="02040503050406030204" pitchFamily="18" charset="0"/>
                        <a:cs typeface="+mn-ea"/>
                        <a:sym typeface="+mn-lt"/>
                      </a:rPr>
                      <m:t>𝛻</m:t>
                    </m:r>
                    <m:r>
                      <a:rPr lang="en-US" altLang="zh-CN" i="1">
                        <a:latin typeface="Cambria Math" panose="02040503050406030204" pitchFamily="18" charset="0"/>
                        <a:cs typeface="+mn-ea"/>
                        <a:sym typeface="+mn-lt"/>
                      </a:rPr>
                      <m:t>𝑓</m:t>
                    </m:r>
                    <m:d>
                      <m:dPr>
                        <m:ctrlPr>
                          <a:rPr lang="en-US" altLang="zh-CN" i="1">
                            <a:latin typeface="Cambria Math" panose="02040503050406030204" pitchFamily="18" charset="0"/>
                            <a:cs typeface="+mn-ea"/>
                            <a:sym typeface="+mn-lt"/>
                          </a:rPr>
                        </m:ctrlPr>
                      </m:dPr>
                      <m:e>
                        <m:r>
                          <a:rPr lang="en-US" altLang="zh-CN" b="1" i="1">
                            <a:latin typeface="Cambria Math" panose="02040503050406030204" pitchFamily="18" charset="0"/>
                            <a:cs typeface="+mn-ea"/>
                            <a:sym typeface="+mn-lt"/>
                          </a:rPr>
                          <m:t>𝒙</m:t>
                        </m:r>
                      </m:e>
                    </m:d>
                    <m:r>
                      <a:rPr lang="en-US" altLang="zh-CN" i="1">
                        <a:latin typeface="Cambria Math" panose="02040503050406030204" pitchFamily="18" charset="0"/>
                        <a:cs typeface="+mn-ea"/>
                        <a:sym typeface="+mn-lt"/>
                      </a:rPr>
                      <m:t>=0, </m:t>
                    </m:r>
                    <m:r>
                      <a:rPr lang="en-US" altLang="zh-CN" b="1" i="1">
                        <a:latin typeface="Cambria Math" panose="02040503050406030204" pitchFamily="18" charset="0"/>
                        <a:cs typeface="+mn-ea"/>
                        <a:sym typeface="+mn-lt"/>
                      </a:rPr>
                      <m:t>𝒙</m:t>
                    </m:r>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1</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1</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2</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2</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3</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𝑦</m:t>
                        </m:r>
                      </m:e>
                      <m:sub>
                        <m:r>
                          <a:rPr lang="en-US" altLang="zh-CN" i="1">
                            <a:latin typeface="Cambria Math" panose="02040503050406030204" pitchFamily="18" charset="0"/>
                            <a:cs typeface="+mn-ea"/>
                            <a:sym typeface="+mn-lt"/>
                          </a:rPr>
                          <m:t>3</m:t>
                        </m:r>
                      </m:sub>
                    </m:sSub>
                    <m:r>
                      <a:rPr lang="en-US" altLang="zh-CN" i="1">
                        <a:latin typeface="Cambria Math" panose="02040503050406030204" pitchFamily="18" charset="0"/>
                        <a:cs typeface="+mn-ea"/>
                        <a:sym typeface="+mn-lt"/>
                      </a:rPr>
                      <m:t>)</m:t>
                    </m:r>
                  </m:oMath>
                </a14:m>
                <a:endParaRPr lang="en-US" altLang="zh-CN" i="1" dirty="0">
                  <a:latin typeface="+mn-lt"/>
                  <a:cs typeface="+mn-ea"/>
                  <a:sym typeface="+mn-lt"/>
                </a:endParaRPr>
              </a:p>
              <a:p>
                <a:pPr lvl="1"/>
                <a:r>
                  <a:rPr lang="zh-CN" altLang="en-US" dirty="0">
                    <a:latin typeface="+mn-lt"/>
                    <a:cs typeface="+mn-ea"/>
                    <a:sym typeface="+mn-lt"/>
                  </a:rPr>
                  <a:t>在许多情况下，这个方程不能以封闭形式求解</a:t>
                </a:r>
                <a:endParaRPr lang="en-US" altLang="zh-CN" dirty="0">
                  <a:latin typeface="+mn-lt"/>
                  <a:cs typeface="+mn-ea"/>
                  <a:sym typeface="+mn-lt"/>
                </a:endParaRPr>
              </a:p>
              <a:p>
                <a:r>
                  <a:rPr lang="zh-CN" altLang="en-US" dirty="0">
                    <a:solidFill>
                      <a:srgbClr val="515223"/>
                    </a:solidFill>
                    <a:latin typeface="+mn-lt"/>
                    <a:cs typeface="+mn-ea"/>
                    <a:sym typeface="+mn-lt"/>
                  </a:rPr>
                  <a:t>计算</a:t>
                </a:r>
                <a:r>
                  <a:rPr lang="zh-CN" altLang="en-US" b="1" dirty="0">
                    <a:solidFill>
                      <a:srgbClr val="515223"/>
                    </a:solidFill>
                    <a:latin typeface="+mn-lt"/>
                    <a:cs typeface="+mn-ea"/>
                    <a:sym typeface="+mn-lt"/>
                  </a:rPr>
                  <a:t>局部梯度</a:t>
                </a:r>
                <a:r>
                  <a:rPr lang="zh-CN" altLang="en-US" dirty="0">
                    <a:solidFill>
                      <a:srgbClr val="515223"/>
                    </a:solidFill>
                    <a:latin typeface="+mn-lt"/>
                    <a:cs typeface="+mn-ea"/>
                    <a:sym typeface="+mn-lt"/>
                  </a:rPr>
                  <a:t>值</a:t>
                </a:r>
                <a:endParaRPr lang="en-US" altLang="zh-CN" dirty="0">
                  <a:solidFill>
                    <a:srgbClr val="515223"/>
                  </a:solidFill>
                  <a:latin typeface="+mn-lt"/>
                  <a:cs typeface="+mn-ea"/>
                  <a:sym typeface="+mn-lt"/>
                </a:endParaRPr>
              </a:p>
              <a:p>
                <a:pPr lvl="1"/>
                <a14:m>
                  <m:oMath xmlns:m="http://schemas.openxmlformats.org/officeDocument/2006/math">
                    <m:f>
                      <m:fPr>
                        <m:ctrlPr>
                          <a:rPr lang="en-US" altLang="zh-CN" i="1" smtClean="0">
                            <a:latin typeface="Cambria Math" panose="02040503050406030204" pitchFamily="18" charset="0"/>
                            <a:cs typeface="+mn-ea"/>
                            <a:sym typeface="+mn-lt"/>
                          </a:rPr>
                        </m:ctrlPr>
                      </m:fPr>
                      <m:num>
                        <m:r>
                          <a:rPr lang="en-US" altLang="zh-CN" b="0" i="1">
                            <a:latin typeface="Cambria Math" panose="02040503050406030204" pitchFamily="18" charset="0"/>
                            <a:cs typeface="+mn-ea"/>
                            <a:sym typeface="+mn-lt"/>
                          </a:rPr>
                          <m:t>𝜕</m:t>
                        </m:r>
                        <m:r>
                          <a:rPr lang="en-US" altLang="zh-CN" b="0" i="1" smtClean="0">
                            <a:latin typeface="Cambria Math" panose="02040503050406030204" pitchFamily="18" charset="0"/>
                            <a:cs typeface="+mn-ea"/>
                            <a:sym typeface="+mn-lt"/>
                          </a:rPr>
                          <m:t>𝑓</m:t>
                        </m:r>
                      </m:num>
                      <m:den>
                        <m:r>
                          <a:rPr lang="en-US" altLang="zh-CN" b="0" i="1">
                            <a:latin typeface="Cambria Math" panose="02040503050406030204" pitchFamily="18" charset="0"/>
                            <a:cs typeface="+mn-ea"/>
                            <a:sym typeface="+mn-lt"/>
                          </a:rPr>
                          <m:t>𝜕</m:t>
                        </m:r>
                        <m:sSub>
                          <m:sSubPr>
                            <m:ctrlPr>
                              <a:rPr lang="en-US" altLang="zh-CN" i="1" smtClean="0">
                                <a:latin typeface="Cambria Math" panose="02040503050406030204" pitchFamily="18" charset="0"/>
                                <a:cs typeface="+mn-ea"/>
                                <a:sym typeface="+mn-lt"/>
                              </a:rPr>
                            </m:ctrlPr>
                          </m:sSubPr>
                          <m:e>
                            <m:r>
                              <a:rPr lang="en-US" altLang="zh-CN" b="0" i="1" smtClean="0">
                                <a:latin typeface="Cambria Math" panose="02040503050406030204" pitchFamily="18" charset="0"/>
                                <a:cs typeface="+mn-ea"/>
                                <a:sym typeface="+mn-lt"/>
                              </a:rPr>
                              <m:t>𝑥</m:t>
                            </m:r>
                          </m:e>
                          <m:sub>
                            <m:r>
                              <a:rPr lang="en-US" altLang="zh-CN" b="0" i="1" smtClean="0">
                                <a:latin typeface="Cambria Math" panose="02040503050406030204" pitchFamily="18" charset="0"/>
                                <a:cs typeface="+mn-ea"/>
                                <a:sym typeface="+mn-lt"/>
                              </a:rPr>
                              <m:t>𝑖</m:t>
                            </m:r>
                          </m:sub>
                        </m:sSub>
                      </m:den>
                    </m:f>
                    <m:r>
                      <a:rPr lang="en-US" altLang="zh-CN" b="0" i="1" smtClean="0">
                        <a:latin typeface="Cambria Math" panose="02040503050406030204" pitchFamily="18" charset="0"/>
                        <a:cs typeface="+mn-ea"/>
                        <a:sym typeface="+mn-lt"/>
                      </a:rPr>
                      <m:t>=2</m:t>
                    </m:r>
                    <m:nary>
                      <m:naryPr>
                        <m:chr m:val="∑"/>
                        <m:ctrlPr>
                          <a:rPr lang="en-US" altLang="zh-CN" b="0" i="1" smtClean="0">
                            <a:latin typeface="Cambria Math" panose="02040503050406030204" pitchFamily="18" charset="0"/>
                            <a:cs typeface="+mn-ea"/>
                            <a:sym typeface="+mn-lt"/>
                          </a:rPr>
                        </m:ctrlPr>
                      </m:naryPr>
                      <m:sub>
                        <m:r>
                          <m:rPr>
                            <m:brk m:alnAt="23"/>
                          </m:rPr>
                          <a:rPr lang="en-US" altLang="zh-CN" i="1">
                            <a:latin typeface="Cambria Math" panose="02040503050406030204" pitchFamily="18" charset="0"/>
                            <a:cs typeface="+mn-ea"/>
                            <a:sym typeface="+mn-lt"/>
                          </a:rPr>
                          <m:t>𝑐</m:t>
                        </m:r>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m:rPr>
                                <m:brk m:alnAt="23"/>
                              </m:rPr>
                              <a:rPr lang="en-US" altLang="zh-CN" i="1">
                                <a:latin typeface="Cambria Math" panose="02040503050406030204" pitchFamily="18" charset="0"/>
                                <a:cs typeface="+mn-ea"/>
                                <a:sym typeface="+mn-lt"/>
                              </a:rPr>
                              <m:t>𝐶</m:t>
                            </m:r>
                          </m:e>
                          <m:sub>
                            <m:r>
                              <a:rPr lang="en-US" altLang="zh-CN" i="1">
                                <a:latin typeface="Cambria Math" panose="02040503050406030204" pitchFamily="18" charset="0"/>
                                <a:cs typeface="+mn-ea"/>
                                <a:sym typeface="+mn-lt"/>
                              </a:rPr>
                              <m:t>𝑖</m:t>
                            </m:r>
                          </m:sub>
                        </m:sSub>
                      </m:sub>
                      <m:sup/>
                      <m:e>
                        <m:r>
                          <a:rPr lang="en-US" altLang="zh-CN" b="0" i="1" smtClean="0">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𝑖</m:t>
                            </m:r>
                          </m:sub>
                        </m:sSub>
                        <m:r>
                          <a:rPr lang="en-US" altLang="zh-CN" i="1">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𝑥</m:t>
                            </m:r>
                          </m:e>
                          <m:sub>
                            <m:r>
                              <a:rPr lang="en-US" altLang="zh-CN" i="1">
                                <a:latin typeface="Cambria Math" panose="02040503050406030204" pitchFamily="18" charset="0"/>
                                <a:cs typeface="+mn-ea"/>
                                <a:sym typeface="+mn-lt"/>
                              </a:rPr>
                              <m:t>𝑐</m:t>
                            </m:r>
                          </m:sub>
                        </m:sSub>
                        <m:r>
                          <a:rPr lang="en-US" altLang="zh-CN" b="0" i="1" smtClean="0">
                            <a:latin typeface="Cambria Math" panose="02040503050406030204" pitchFamily="18" charset="0"/>
                            <a:cs typeface="+mn-ea"/>
                            <a:sym typeface="+mn-lt"/>
                          </a:rPr>
                          <m:t>)</m:t>
                        </m:r>
                      </m:e>
                    </m:nary>
                  </m:oMath>
                </a14:m>
                <a:endParaRPr lang="en-US" altLang="zh-CN" i="0" dirty="0">
                  <a:latin typeface="+mn-lt"/>
                  <a:cs typeface="+mn-ea"/>
                  <a:sym typeface="+mn-lt"/>
                </a:endParaRPr>
              </a:p>
              <a:p>
                <a:pPr lvl="1"/>
                <a:r>
                  <a:rPr lang="zh-CN" altLang="en-US" dirty="0">
                    <a:latin typeface="+mn-lt"/>
                    <a:cs typeface="+mn-ea"/>
                    <a:sym typeface="+mn-lt"/>
                  </a:rPr>
                  <a:t>进行最陡峭的爬坡</a:t>
                </a:r>
                <a:r>
                  <a:rPr lang="en-US" altLang="zh-CN" dirty="0">
                    <a:latin typeface="+mn-lt"/>
                    <a:cs typeface="+mn-ea"/>
                    <a:sym typeface="+mn-lt"/>
                  </a:rPr>
                  <a:t>: </a:t>
                </a:r>
                <a14:m>
                  <m:oMath xmlns:m="http://schemas.openxmlformats.org/officeDocument/2006/math">
                    <m:r>
                      <a:rPr lang="en-US" altLang="zh-CN" b="1" i="1">
                        <a:latin typeface="Cambria Math" panose="02040503050406030204" pitchFamily="18" charset="0"/>
                        <a:cs typeface="+mn-ea"/>
                        <a:sym typeface="+mn-lt"/>
                      </a:rPr>
                      <m:t>𝒙</m:t>
                    </m:r>
                    <m:r>
                      <a:rPr lang="en-US" altLang="zh-CN" b="1" i="1" smtClean="0">
                        <a:latin typeface="Cambria Math" panose="02040503050406030204" pitchFamily="18" charset="0"/>
                        <a:cs typeface="+mn-ea"/>
                        <a:sym typeface="+mn-lt"/>
                      </a:rPr>
                      <m:t>←</m:t>
                    </m:r>
                    <m:r>
                      <a:rPr lang="en-US" altLang="zh-CN" b="1" i="1">
                        <a:latin typeface="Cambria Math" panose="02040503050406030204" pitchFamily="18" charset="0"/>
                        <a:cs typeface="+mn-ea"/>
                        <a:sym typeface="+mn-lt"/>
                      </a:rPr>
                      <m:t>𝒙</m:t>
                    </m:r>
                    <m:r>
                      <a:rPr lang="en-US" altLang="zh-CN" b="0" i="0" smtClean="0">
                        <a:latin typeface="Cambria Math" panose="02040503050406030204" pitchFamily="18" charset="0"/>
                        <a:cs typeface="+mn-ea"/>
                        <a:sym typeface="+mn-lt"/>
                      </a:rPr>
                      <m:t>+</m:t>
                    </m:r>
                    <m:r>
                      <m:rPr>
                        <m:sty m:val="p"/>
                      </m:rPr>
                      <a:rPr lang="el-GR" altLang="zh-CN" b="0" i="1" smtClean="0">
                        <a:latin typeface="Cambria Math" panose="02040503050406030204" pitchFamily="18" charset="0"/>
                        <a:cs typeface="+mn-ea"/>
                        <a:sym typeface="+mn-lt"/>
                      </a:rPr>
                      <m:t>α</m:t>
                    </m:r>
                    <m:r>
                      <a:rPr lang="en-US" altLang="zh-CN">
                        <a:latin typeface="Cambria Math" panose="02040503050406030204" pitchFamily="18" charset="0"/>
                        <a:cs typeface="+mn-ea"/>
                        <a:sym typeface="+mn-lt"/>
                      </a:rPr>
                      <m:t>𝛻</m:t>
                    </m:r>
                    <m:r>
                      <a:rPr lang="en-US" altLang="zh-CN" i="1">
                        <a:latin typeface="Cambria Math" panose="02040503050406030204" pitchFamily="18" charset="0"/>
                        <a:cs typeface="+mn-ea"/>
                        <a:sym typeface="+mn-lt"/>
                      </a:rPr>
                      <m:t>𝑓</m:t>
                    </m:r>
                    <m:d>
                      <m:dPr>
                        <m:ctrlPr>
                          <a:rPr lang="en-US" altLang="zh-CN" i="1">
                            <a:latin typeface="Cambria Math" panose="02040503050406030204" pitchFamily="18" charset="0"/>
                            <a:cs typeface="+mn-ea"/>
                            <a:sym typeface="+mn-lt"/>
                          </a:rPr>
                        </m:ctrlPr>
                      </m:dPr>
                      <m:e>
                        <m:r>
                          <a:rPr lang="en-US" altLang="zh-CN" b="1" i="1">
                            <a:latin typeface="Cambria Math" panose="02040503050406030204" pitchFamily="18" charset="0"/>
                            <a:cs typeface="+mn-ea"/>
                            <a:sym typeface="+mn-lt"/>
                          </a:rPr>
                          <m:t>𝒙</m:t>
                        </m:r>
                      </m:e>
                    </m:d>
                  </m:oMath>
                </a14:m>
                <a:endParaRPr lang="en-US" altLang="zh-CN" i="0" dirty="0">
                  <a:latin typeface="+mn-lt"/>
                  <a:cs typeface="+mn-ea"/>
                  <a:sym typeface="+mn-lt"/>
                </a:endParaRPr>
              </a:p>
              <a:p>
                <a:pPr lvl="1"/>
                <a:endParaRPr lang="en-US" altLang="zh-CN" i="1" dirty="0">
                  <a:latin typeface="+mn-lt"/>
                  <a:cs typeface="+mn-ea"/>
                  <a:sym typeface="+mn-lt"/>
                </a:endParaRPr>
              </a:p>
              <a:p>
                <a:endParaRPr lang="zh-CN" altLang="en-US" dirty="0">
                  <a:latin typeface="+mn-lt"/>
                  <a:cs typeface="+mn-ea"/>
                  <a:sym typeface="+mn-lt"/>
                </a:endParaRPr>
              </a:p>
            </p:txBody>
          </p:sp>
        </mc:Choice>
        <mc:Fallback xmlns="">
          <p:sp>
            <p:nvSpPr>
              <p:cNvPr id="3" name="内容占位符 2"/>
              <p:cNvSpPr>
                <a:spLocks noGrp="1" noRot="1" noChangeAspect="1" noMove="1" noResize="1" noEditPoints="1" noAdjustHandles="1" noChangeArrowheads="1" noChangeShapeType="1" noTextEdit="1"/>
              </p:cNvSpPr>
              <p:nvPr>
                <p:ph idx="4294967295"/>
              </p:nvPr>
            </p:nvSpPr>
            <p:spPr>
              <a:xfrm>
                <a:off x="1091255" y="1264771"/>
                <a:ext cx="10858500" cy="5003800"/>
              </a:xfrm>
              <a:blipFill>
                <a:blip r:embed="rId3"/>
                <a:stretch>
                  <a:fillRect l="-1011" t="-20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0835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连续空间中的局部搜索</a:t>
            </a:r>
            <a:endParaRPr lang="zh-CN" altLang="en-US" dirty="0">
              <a:latin typeface="+mn-lt"/>
              <a:ea typeface="+mn-ea"/>
              <a:cs typeface="+mn-ea"/>
              <a:sym typeface="+mn-lt"/>
            </a:endParaRPr>
          </a:p>
        </p:txBody>
      </p:sp>
      <mc:AlternateContent xmlns:mc="http://schemas.openxmlformats.org/markup-compatibility/2006" xmlns:a14="http://schemas.microsoft.com/office/drawing/2010/main">
        <mc:Choice Requires="a14">
          <p:sp>
            <p:nvSpPr>
              <p:cNvPr id="3" name="内容占位符 2"/>
              <p:cNvSpPr>
                <a:spLocks noGrp="1"/>
              </p:cNvSpPr>
              <p:nvPr>
                <p:ph idx="4294967295"/>
              </p:nvPr>
            </p:nvSpPr>
            <p:spPr>
              <a:xfrm>
                <a:off x="1091255" y="1190812"/>
                <a:ext cx="10858500" cy="5003800"/>
              </a:xfrm>
            </p:spPr>
            <p:txBody>
              <a:bodyPr/>
              <a:lstStyle/>
              <a:p>
                <a:r>
                  <a:rPr lang="zh-CN" altLang="en-US" dirty="0">
                    <a:solidFill>
                      <a:srgbClr val="515223"/>
                    </a:solidFill>
                    <a:latin typeface="+mn-lt"/>
                    <a:cs typeface="+mn-ea"/>
                    <a:sym typeface="+mn-lt"/>
                  </a:rPr>
                  <a:t>最陡峭的爬坡搜索</a:t>
                </a:r>
                <a:endParaRPr lang="en-US" altLang="zh-CN" dirty="0">
                  <a:solidFill>
                    <a:srgbClr val="515223"/>
                  </a:solidFill>
                  <a:latin typeface="+mn-lt"/>
                  <a:cs typeface="+mn-ea"/>
                  <a:sym typeface="+mn-lt"/>
                </a:endParaRPr>
              </a:p>
              <a:p>
                <a:pPr lvl="1"/>
                <a:r>
                  <a:rPr lang="en-US" altLang="zh-CN" dirty="0">
                    <a:latin typeface="+mn-lt"/>
                    <a:cs typeface="+mn-ea"/>
                    <a:sym typeface="+mn-lt"/>
                  </a:rPr>
                  <a:t> </a:t>
                </a:r>
                <a14:m>
                  <m:oMath xmlns:m="http://schemas.openxmlformats.org/officeDocument/2006/math">
                    <m:r>
                      <a:rPr lang="en-US" altLang="zh-CN" b="1" i="1">
                        <a:latin typeface="Cambria Math" panose="02040503050406030204" pitchFamily="18" charset="0"/>
                        <a:cs typeface="+mn-ea"/>
                        <a:sym typeface="+mn-lt"/>
                      </a:rPr>
                      <m:t>𝒙</m:t>
                    </m:r>
                    <m:r>
                      <a:rPr lang="en-US" altLang="zh-CN" b="1" i="1">
                        <a:latin typeface="Cambria Math" panose="02040503050406030204" pitchFamily="18" charset="0"/>
                        <a:cs typeface="+mn-ea"/>
                        <a:sym typeface="+mn-lt"/>
                      </a:rPr>
                      <m:t>←</m:t>
                    </m:r>
                    <m:r>
                      <a:rPr lang="en-US" altLang="zh-CN" b="1" i="1">
                        <a:latin typeface="Cambria Math" panose="02040503050406030204" pitchFamily="18" charset="0"/>
                        <a:cs typeface="+mn-ea"/>
                        <a:sym typeface="+mn-lt"/>
                      </a:rPr>
                      <m:t>𝒙</m:t>
                    </m:r>
                    <m:r>
                      <a:rPr lang="en-US" altLang="zh-CN">
                        <a:latin typeface="Cambria Math" panose="02040503050406030204" pitchFamily="18" charset="0"/>
                        <a:cs typeface="+mn-ea"/>
                        <a:sym typeface="+mn-lt"/>
                      </a:rPr>
                      <m:t>+</m:t>
                    </m:r>
                    <m:r>
                      <m:rPr>
                        <m:sty m:val="p"/>
                      </m:rPr>
                      <a:rPr lang="el-GR" altLang="zh-CN" i="1">
                        <a:latin typeface="Cambria Math" panose="02040503050406030204" pitchFamily="18" charset="0"/>
                        <a:cs typeface="+mn-ea"/>
                        <a:sym typeface="+mn-lt"/>
                      </a:rPr>
                      <m:t>α</m:t>
                    </m:r>
                    <m:r>
                      <a:rPr lang="en-US" altLang="zh-CN">
                        <a:latin typeface="Cambria Math" panose="02040503050406030204" pitchFamily="18" charset="0"/>
                        <a:cs typeface="+mn-ea"/>
                        <a:sym typeface="+mn-lt"/>
                      </a:rPr>
                      <m:t>𝛻</m:t>
                    </m:r>
                    <m:r>
                      <a:rPr lang="en-US" altLang="zh-CN" i="1">
                        <a:latin typeface="Cambria Math" panose="02040503050406030204" pitchFamily="18" charset="0"/>
                        <a:cs typeface="+mn-ea"/>
                        <a:sym typeface="+mn-lt"/>
                      </a:rPr>
                      <m:t>𝑓</m:t>
                    </m:r>
                    <m:d>
                      <m:dPr>
                        <m:ctrlPr>
                          <a:rPr lang="en-US" altLang="zh-CN" i="1">
                            <a:latin typeface="Cambria Math" panose="02040503050406030204" pitchFamily="18" charset="0"/>
                            <a:cs typeface="+mn-ea"/>
                            <a:sym typeface="+mn-lt"/>
                          </a:rPr>
                        </m:ctrlPr>
                      </m:dPr>
                      <m:e>
                        <m:r>
                          <a:rPr lang="en-US" altLang="zh-CN" b="1" i="1">
                            <a:latin typeface="Cambria Math" panose="02040503050406030204" pitchFamily="18" charset="0"/>
                            <a:cs typeface="+mn-ea"/>
                            <a:sym typeface="+mn-lt"/>
                          </a:rPr>
                          <m:t>𝒙</m:t>
                        </m:r>
                      </m:e>
                    </m:d>
                  </m:oMath>
                </a14:m>
                <a:endParaRPr lang="en-US" altLang="zh-CN" dirty="0">
                  <a:latin typeface="+mn-lt"/>
                  <a:cs typeface="+mn-ea"/>
                  <a:sym typeface="+mn-lt"/>
                </a:endParaRPr>
              </a:p>
              <a:p>
                <a:pPr lvl="1"/>
                <a:r>
                  <a:rPr lang="en-US" altLang="zh-CN" dirty="0">
                    <a:latin typeface="+mn-lt"/>
                    <a:cs typeface="+mn-ea"/>
                    <a:sym typeface="+mn-lt"/>
                  </a:rPr>
                  <a:t> </a:t>
                </a:r>
                <a14:m>
                  <m:oMath xmlns:m="http://schemas.openxmlformats.org/officeDocument/2006/math">
                    <m:r>
                      <m:rPr>
                        <m:sty m:val="p"/>
                      </m:rPr>
                      <a:rPr lang="el-GR" altLang="zh-CN" i="1" smtClean="0">
                        <a:latin typeface="Cambria Math" panose="02040503050406030204" pitchFamily="18" charset="0"/>
                        <a:cs typeface="+mn-ea"/>
                        <a:sym typeface="+mn-lt"/>
                      </a:rPr>
                      <m:t>α</m:t>
                    </m:r>
                  </m:oMath>
                </a14:m>
                <a:r>
                  <a:rPr lang="zh-CN" altLang="en-US" dirty="0">
                    <a:latin typeface="+mn-lt"/>
                    <a:cs typeface="+mn-ea"/>
                    <a:sym typeface="+mn-lt"/>
                  </a:rPr>
                  <a:t> </a:t>
                </a:r>
                <a:r>
                  <a:rPr lang="en-US" altLang="zh-CN" dirty="0">
                    <a:latin typeface="+mn-lt"/>
                    <a:cs typeface="+mn-ea"/>
                    <a:sym typeface="+mn-lt"/>
                  </a:rPr>
                  <a:t>is </a:t>
                </a:r>
                <a:r>
                  <a:rPr lang="en-US" altLang="zh-CN" b="1" dirty="0">
                    <a:latin typeface="+mn-lt"/>
                    <a:cs typeface="+mn-ea"/>
                    <a:sym typeface="+mn-lt"/>
                  </a:rPr>
                  <a:t>step size</a:t>
                </a:r>
              </a:p>
              <a:p>
                <a:endParaRPr lang="en-US" altLang="zh-CN" dirty="0">
                  <a:latin typeface="+mn-lt"/>
                  <a:cs typeface="+mn-ea"/>
                  <a:sym typeface="+mn-lt"/>
                </a:endParaRPr>
              </a:p>
            </p:txBody>
          </p:sp>
        </mc:Choice>
        <mc:Fallback xmlns="">
          <p:sp>
            <p:nvSpPr>
              <p:cNvPr id="3" name="内容占位符 2"/>
              <p:cNvSpPr>
                <a:spLocks noGrp="1" noRot="1" noChangeAspect="1" noMove="1" noResize="1" noEditPoints="1" noAdjustHandles="1" noChangeArrowheads="1" noChangeShapeType="1" noTextEdit="1"/>
              </p:cNvSpPr>
              <p:nvPr>
                <p:ph idx="4294967295"/>
              </p:nvPr>
            </p:nvSpPr>
            <p:spPr>
              <a:xfrm>
                <a:off x="1091255" y="1190812"/>
                <a:ext cx="10858500" cy="5003800"/>
              </a:xfrm>
              <a:blipFill>
                <a:blip r:embed="rId3"/>
                <a:stretch>
                  <a:fillRect l="-1011" t="-20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6462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mn-lt"/>
                <a:ea typeface="+mn-ea"/>
                <a:cs typeface="+mn-ea"/>
                <a:sym typeface="+mn-lt"/>
              </a:rPr>
              <a:t>连续空间中的局部搜索</a:t>
            </a:r>
            <a:endParaRPr lang="zh-CN" altLang="en-US" dirty="0">
              <a:latin typeface="+mn-lt"/>
              <a:ea typeface="+mn-ea"/>
              <a:cs typeface="+mn-ea"/>
              <a:sym typeface="+mn-lt"/>
            </a:endParaRPr>
          </a:p>
        </p:txBody>
      </p:sp>
      <p:sp>
        <p:nvSpPr>
          <p:cNvPr id="3" name="内容占位符 2"/>
          <p:cNvSpPr>
            <a:spLocks noGrp="1"/>
          </p:cNvSpPr>
          <p:nvPr>
            <p:ph idx="4294967295"/>
          </p:nvPr>
        </p:nvSpPr>
        <p:spPr>
          <a:xfrm>
            <a:off x="1091255" y="1258047"/>
            <a:ext cx="10858500" cy="5003800"/>
          </a:xfrm>
        </p:spPr>
        <p:txBody>
          <a:bodyPr/>
          <a:lstStyle/>
          <a:p>
            <a:r>
              <a:rPr lang="en-US" altLang="zh-CN" sz="2800" dirty="0">
                <a:solidFill>
                  <a:srgbClr val="515223"/>
                </a:solidFill>
                <a:latin typeface="+mn-lt"/>
                <a:cs typeface="+mn-ea"/>
                <a:sym typeface="+mn-lt"/>
              </a:rPr>
              <a:t>约束优化</a:t>
            </a:r>
          </a:p>
          <a:p>
            <a:pPr lvl="1"/>
            <a:r>
              <a:rPr lang="en-US" altLang="zh-CN" sz="2400" dirty="0">
                <a:latin typeface="+mn-lt"/>
                <a:cs typeface="+mn-ea"/>
                <a:sym typeface="+mn-lt"/>
              </a:rPr>
              <a:t>约束必须形成一个</a:t>
            </a:r>
            <a:r>
              <a:rPr lang="en-US" altLang="zh-CN" sz="2400" b="1" dirty="0">
                <a:latin typeface="+mn-lt"/>
                <a:cs typeface="+mn-ea"/>
                <a:sym typeface="+mn-lt"/>
              </a:rPr>
              <a:t>凸集</a:t>
            </a:r>
          </a:p>
          <a:p>
            <a:pPr lvl="1"/>
            <a:r>
              <a:rPr lang="en-US" altLang="zh-CN" sz="2400" dirty="0">
                <a:latin typeface="+mn-lt"/>
                <a:cs typeface="+mn-ea"/>
                <a:sym typeface="+mn-lt"/>
              </a:rPr>
              <a:t>目标函数也是凸的</a:t>
            </a:r>
            <a:endParaRPr lang="zh-CN" altLang="en-US" dirty="0">
              <a:latin typeface="+mn-lt"/>
              <a:cs typeface="+mn-ea"/>
              <a:sym typeface="+mn-lt"/>
            </a:endParaRPr>
          </a:p>
          <a:p>
            <a:endParaRPr lang="en-US" altLang="zh-CN" dirty="0">
              <a:latin typeface="+mn-lt"/>
              <a:cs typeface="+mn-ea"/>
              <a:sym typeface="+mn-lt"/>
            </a:endParaRPr>
          </a:p>
          <a:p>
            <a:r>
              <a:rPr lang="en-US" altLang="zh-CN" sz="2800" dirty="0">
                <a:solidFill>
                  <a:srgbClr val="515223"/>
                </a:solidFill>
                <a:latin typeface="+mn-lt"/>
                <a:cs typeface="+mn-ea"/>
                <a:sym typeface="+mn-lt"/>
              </a:rPr>
              <a:t>凸优化</a:t>
            </a:r>
          </a:p>
        </p:txBody>
      </p:sp>
    </p:spTree>
    <p:extLst>
      <p:ext uri="{BB962C8B-B14F-4D97-AF65-F5344CB8AC3E}">
        <p14:creationId xmlns:p14="http://schemas.microsoft.com/office/powerpoint/2010/main" val="225689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4F80AD0A-1C73-C73B-75C0-5D3F838C6975}"/>
              </a:ext>
            </a:extLst>
          </p:cNvPr>
          <p:cNvSpPr>
            <a:spLocks noGrp="1"/>
          </p:cNvSpPr>
          <p:nvPr>
            <p:ph type="body" sz="quarter" idx="10"/>
          </p:nvPr>
        </p:nvSpPr>
        <p:spPr/>
        <p:txBody>
          <a:bodyPr/>
          <a:lstStyle/>
          <a:p>
            <a:r>
              <a:rPr lang="en-US" altLang="zh-CN" dirty="0">
                <a:latin typeface="+mn-lt"/>
                <a:cs typeface="+mn-ea"/>
                <a:sym typeface="+mn-lt"/>
              </a:rPr>
              <a:t>Thanks</a:t>
            </a:r>
            <a:endParaRPr lang="zh-CN" altLang="en-US" dirty="0">
              <a:latin typeface="+mn-lt"/>
              <a:cs typeface="+mn-ea"/>
              <a:sym typeface="+mn-lt"/>
            </a:endParaRPr>
          </a:p>
        </p:txBody>
      </p:sp>
    </p:spTree>
    <p:extLst>
      <p:ext uri="{BB962C8B-B14F-4D97-AF65-F5344CB8AC3E}">
        <p14:creationId xmlns:p14="http://schemas.microsoft.com/office/powerpoint/2010/main" val="3447897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xxceu0og">
      <a:majorFont>
        <a:latin typeface="Arial" panose="020B06040202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xxceu0og">
      <a:majorFont>
        <a:latin typeface="Arial" panose="020B0604020202020204"/>
        <a:ea typeface="微软雅黑"/>
        <a:cs typeface=""/>
      </a:majorFont>
      <a:minorFont>
        <a:latin typeface="Arial" panose="020B0604020202020204"/>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ur0d410a">
      <a:majorFont>
        <a:latin typeface="Arial" panose="020B06040202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nsf14e5z">
      <a:majorFont>
        <a:latin typeface="Arial" panose="020B06040202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f22ucsc1">
      <a:majorFont>
        <a:latin typeface="Arial" panose="020B06040202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41047</TotalTime>
  <Words>3661</Words>
  <Application>Microsoft Office PowerPoint</Application>
  <PresentationFormat>宽屏</PresentationFormat>
  <Paragraphs>505</Paragraphs>
  <Slides>56</Slides>
  <Notes>47</Notes>
  <HiddenSlides>1</HiddenSlides>
  <MMClips>0</MMClips>
  <ScaleCrop>false</ScaleCrop>
  <HeadingPairs>
    <vt:vector size="6" baseType="variant">
      <vt:variant>
        <vt:lpstr>已用的字体</vt:lpstr>
      </vt:variant>
      <vt:variant>
        <vt:i4>8</vt:i4>
      </vt:variant>
      <vt:variant>
        <vt:lpstr>主题</vt:lpstr>
      </vt:variant>
      <vt:variant>
        <vt:i4>5</vt:i4>
      </vt:variant>
      <vt:variant>
        <vt:lpstr>幻灯片标题</vt:lpstr>
      </vt:variant>
      <vt:variant>
        <vt:i4>56</vt:i4>
      </vt:variant>
    </vt:vector>
  </HeadingPairs>
  <TitlesOfParts>
    <vt:vector size="69" baseType="lpstr">
      <vt:lpstr>Helvetica Regular</vt:lpstr>
      <vt:lpstr>等线</vt:lpstr>
      <vt:lpstr>微软雅黑</vt:lpstr>
      <vt:lpstr>Arial</vt:lpstr>
      <vt:lpstr>Calibri</vt:lpstr>
      <vt:lpstr>Cambria Math</vt:lpstr>
      <vt:lpstr>Helvetica</vt:lpstr>
      <vt:lpstr>Wingdings</vt:lpstr>
      <vt:lpstr>Office 主题​​</vt:lpstr>
      <vt:lpstr>1_OfficePLUS</vt:lpstr>
      <vt:lpstr>1_Office 主题​​</vt:lpstr>
      <vt:lpstr>2_Office 主题​​</vt:lpstr>
      <vt:lpstr>3_Office 主题​​</vt:lpstr>
      <vt:lpstr>人工智能</vt:lpstr>
      <vt:lpstr>树搜索</vt:lpstr>
      <vt:lpstr>信息已知vs. 无知</vt:lpstr>
      <vt:lpstr>比较</vt:lpstr>
      <vt:lpstr>今日内容</vt:lpstr>
      <vt:lpstr>局部搜索</vt:lpstr>
      <vt:lpstr>局部搜索算法</vt:lpstr>
      <vt:lpstr>爬山搜索</vt:lpstr>
      <vt:lpstr>爬山搜索</vt:lpstr>
      <vt:lpstr>爬山搜索</vt:lpstr>
      <vt:lpstr>爬山搜索</vt:lpstr>
      <vt:lpstr>爬山搜索</vt:lpstr>
      <vt:lpstr>爬山搜索</vt:lpstr>
      <vt:lpstr>RL 获图灵奖</vt:lpstr>
      <vt:lpstr>爬山搜索</vt:lpstr>
      <vt:lpstr>爬山搜索</vt:lpstr>
      <vt:lpstr>模拟退火</vt:lpstr>
      <vt:lpstr>模拟退火</vt:lpstr>
      <vt:lpstr>模拟退火</vt:lpstr>
      <vt:lpstr>模拟退火</vt:lpstr>
      <vt:lpstr>模拟退火</vt:lpstr>
      <vt:lpstr>局部束搜索</vt:lpstr>
      <vt:lpstr>局部束搜索</vt:lpstr>
      <vt:lpstr>局部束搜索</vt:lpstr>
      <vt:lpstr>局部束搜索</vt:lpstr>
      <vt:lpstr>机器翻译中的局部束搜索</vt:lpstr>
      <vt:lpstr>机器翻译中的局部束搜索</vt:lpstr>
      <vt:lpstr>机器翻译中的局部束搜索</vt:lpstr>
      <vt:lpstr>机器翻译中的局部束搜索</vt:lpstr>
      <vt:lpstr>机器翻译中的局部束搜索</vt:lpstr>
      <vt:lpstr>机器翻译中的局部束搜索</vt:lpstr>
      <vt:lpstr>机器翻译中的贪婪搜索</vt:lpstr>
      <vt:lpstr>机器翻译中的贪婪搜索</vt:lpstr>
      <vt:lpstr>机器翻译中的贪婪搜索</vt:lpstr>
      <vt:lpstr>机器翻译中的贪婪搜索</vt:lpstr>
      <vt:lpstr>机器翻译中的局部束搜索</vt:lpstr>
      <vt:lpstr>机器翻译中的局部束搜索</vt:lpstr>
      <vt:lpstr>机器翻译中的局部束搜索</vt:lpstr>
      <vt:lpstr>机器翻译中的局部束搜索</vt:lpstr>
      <vt:lpstr>遗传算法</vt:lpstr>
      <vt:lpstr>遗传算法</vt:lpstr>
      <vt:lpstr>遗传算法</vt:lpstr>
      <vt:lpstr>遗传算法</vt:lpstr>
      <vt:lpstr>遗传算法</vt:lpstr>
      <vt:lpstr>遗传算法</vt:lpstr>
      <vt:lpstr>遗传算法变体</vt:lpstr>
      <vt:lpstr>遗传算法变体</vt:lpstr>
      <vt:lpstr>遗传算法变体</vt:lpstr>
      <vt:lpstr>连续空间中的局部搜索</vt:lpstr>
      <vt:lpstr>连续空间中的局部搜索</vt:lpstr>
      <vt:lpstr>连续空间中的局部搜索</vt:lpstr>
      <vt:lpstr>连续空间中的局部搜索</vt:lpstr>
      <vt:lpstr>连续空间中的局部搜索</vt:lpstr>
      <vt:lpstr>连续空间中的局部搜索</vt:lpstr>
      <vt:lpstr>连续空间中的局部搜索</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叶 丁</dc:creator>
  <cp:lastModifiedBy>Administrator</cp:lastModifiedBy>
  <cp:revision>3373</cp:revision>
  <dcterms:created xsi:type="dcterms:W3CDTF">2018-12-16T05:38:48Z</dcterms:created>
  <dcterms:modified xsi:type="dcterms:W3CDTF">2026-03-23T01:36:15Z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2019-04-13T06:32:31.4153976Z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d5228a63-67d4-4fd6-959f-d3cab9a76c24</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