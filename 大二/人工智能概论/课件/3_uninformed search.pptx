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72" r:id="rId3"/>
  </p:sldMasterIdLst>
  <p:notesMasterIdLst>
    <p:notesMasterId r:id="rId5"/>
  </p:notesMasterIdLst>
  <p:handoutMasterIdLst>
    <p:handoutMasterId r:id="rId54"/>
  </p:handoutMasterIdLst>
  <p:sldIdLst>
    <p:sldId id="256" r:id="rId4"/>
    <p:sldId id="389" r:id="rId6"/>
    <p:sldId id="466" r:id="rId7"/>
    <p:sldId id="392" r:id="rId8"/>
    <p:sldId id="435" r:id="rId9"/>
    <p:sldId id="467" r:id="rId10"/>
    <p:sldId id="450" r:id="rId11"/>
    <p:sldId id="393" r:id="rId12"/>
    <p:sldId id="400" r:id="rId13"/>
    <p:sldId id="451" r:id="rId14"/>
    <p:sldId id="468" r:id="rId15"/>
    <p:sldId id="452" r:id="rId16"/>
    <p:sldId id="436" r:id="rId17"/>
    <p:sldId id="438" r:id="rId18"/>
    <p:sldId id="524" r:id="rId19"/>
    <p:sldId id="525" r:id="rId20"/>
    <p:sldId id="528" r:id="rId21"/>
    <p:sldId id="579" r:id="rId22"/>
    <p:sldId id="580" r:id="rId23"/>
    <p:sldId id="581" r:id="rId24"/>
    <p:sldId id="526" r:id="rId25"/>
    <p:sldId id="523" r:id="rId26"/>
    <p:sldId id="532" r:id="rId27"/>
    <p:sldId id="459" r:id="rId28"/>
    <p:sldId id="533" r:id="rId29"/>
    <p:sldId id="582" r:id="rId30"/>
    <p:sldId id="583" r:id="rId31"/>
    <p:sldId id="584" r:id="rId32"/>
    <p:sldId id="585" r:id="rId33"/>
    <p:sldId id="586" r:id="rId34"/>
    <p:sldId id="587" r:id="rId35"/>
    <p:sldId id="588" r:id="rId36"/>
    <p:sldId id="590" r:id="rId37"/>
    <p:sldId id="589" r:id="rId38"/>
    <p:sldId id="591" r:id="rId39"/>
    <p:sldId id="592" r:id="rId40"/>
    <p:sldId id="401" r:id="rId41"/>
    <p:sldId id="545" r:id="rId42"/>
    <p:sldId id="548" r:id="rId43"/>
    <p:sldId id="424" r:id="rId44"/>
    <p:sldId id="549" r:id="rId45"/>
    <p:sldId id="550" r:id="rId46"/>
    <p:sldId id="551" r:id="rId47"/>
    <p:sldId id="552" r:id="rId48"/>
    <p:sldId id="553" r:id="rId49"/>
    <p:sldId id="554" r:id="rId50"/>
    <p:sldId id="555" r:id="rId51"/>
    <p:sldId id="461" r:id="rId52"/>
    <p:sldId id="409" r:id="rId53"/>
  </p:sldIdLst>
  <p:sldSz cx="12192000" cy="6858000"/>
  <p:notesSz cx="6858000" cy="9144000"/>
  <p:custDataLst>
    <p:tags r:id="rId5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050" userDrawn="1">
          <p15:clr>
            <a:srgbClr val="A4A3A4"/>
          </p15:clr>
        </p15:guide>
        <p15:guide id="4" pos="6630" userDrawn="1">
          <p15:clr>
            <a:srgbClr val="A4A3A4"/>
          </p15:clr>
        </p15:guide>
        <p15:guide id="5" orient="horz" pos="648" userDrawn="1">
          <p15:clr>
            <a:srgbClr val="A4A3A4"/>
          </p15:clr>
        </p15:guide>
        <p15:guide id="6" orient="horz" pos="768" userDrawn="1">
          <p15:clr>
            <a:srgbClr val="A4A3A4"/>
          </p15:clr>
        </p15:guide>
        <p15:guide id="7" orient="horz" pos="3952" userDrawn="1">
          <p15:clr>
            <a:srgbClr val="A4A3A4"/>
          </p15:clr>
        </p15:guide>
        <p15:guide id="8" orient="horz" pos="3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叶 丁" initials="叶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223"/>
    <a:srgbClr val="EAB905"/>
    <a:srgbClr val="141213"/>
    <a:srgbClr val="EAB908"/>
    <a:srgbClr val="FECD54"/>
    <a:srgbClr val="817222"/>
    <a:srgbClr val="4B7D2B"/>
    <a:srgbClr val="9A8B3D"/>
    <a:srgbClr val="D3D1D2"/>
    <a:srgbClr val="565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37" autoAdjust="0"/>
    <p:restoredTop sz="87075" autoAdjust="0"/>
  </p:normalViewPr>
  <p:slideViewPr>
    <p:cSldViewPr snapToGrid="0" showGuides="1">
      <p:cViewPr varScale="1">
        <p:scale>
          <a:sx n="142" d="100"/>
          <a:sy n="142" d="100"/>
        </p:scale>
        <p:origin x="816" y="88"/>
      </p:cViewPr>
      <p:guideLst>
        <p:guide orient="horz" pos="2249"/>
        <p:guide pos="3840"/>
        <p:guide pos="1050"/>
        <p:guide pos="6630"/>
        <p:guide orient="horz" pos="648"/>
        <p:guide orient="horz" pos="768"/>
        <p:guide orient="horz" pos="3952"/>
        <p:guide orient="horz" pos="3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2" d="100"/>
        <a:sy n="122" d="100"/>
      </p:scale>
      <p:origin x="0" y="-1392"/>
    </p:cViewPr>
  </p:sorterViewPr>
  <p:notesViewPr>
    <p:cSldViewPr snapToGrid="0">
      <p:cViewPr varScale="1">
        <p:scale>
          <a:sx n="83" d="100"/>
          <a:sy n="83" d="100"/>
        </p:scale>
        <p:origin x="3992" y="208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9" Type="http://schemas.openxmlformats.org/officeDocument/2006/relationships/tags" Target="tags/tag8.xml"/><Relationship Id="rId58" Type="http://schemas.openxmlformats.org/officeDocument/2006/relationships/commentAuthors" Target="commentAuthors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handoutMaster" Target="handoutMasters/handoutMaster1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1325C-51CE-41A1-8630-1A52C13085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E3C29-C726-4695-AB77-50247DBF3DA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B8505-E7BC-4327-812D-12C5E82484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i.sri.com/~oreilly/aima3ejava/aima3ejavademos.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dirty="0"/>
              <a:t>Please retain proper</a:t>
            </a:r>
            <a:r>
              <a:rPr lang="en-US" baseline="0" dirty="0"/>
              <a:t> attribution, including the reference to </a:t>
            </a:r>
            <a:r>
              <a:rPr lang="en-US" baseline="0" dirty="0" err="1"/>
              <a:t>ai.berkeley.edu</a:t>
            </a:r>
            <a:r>
              <a:rPr lang="en-US" baseline="0" dirty="0"/>
              <a:t>.  Thanks!</a:t>
            </a:r>
            <a:endParaRPr lang="en-US" sz="9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theme</a:t>
            </a:r>
            <a:r>
              <a:rPr lang="en-US" baseline="0" dirty="0"/>
              <a:t> in the class: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A goal we have in mind.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A mathematical abstraction to formalize this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Algorithms that operate on these abstractions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comes back on exams</a:t>
            </a:r>
            <a:endParaRPr lang="en-US" dirty="0"/>
          </a:p>
          <a:p>
            <a:endParaRPr lang="en-US" dirty="0"/>
          </a:p>
          <a:p>
            <a:r>
              <a:rPr lang="en-US" dirty="0"/>
              <a:t>Goal test – sometimes</a:t>
            </a:r>
            <a:r>
              <a:rPr lang="en-US" baseline="0" dirty="0"/>
              <a:t> more than one state that satisfies having achieved the goal, for example, “eat all the dots”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Abstraction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plans that achieve the same state, will be different nodes in the tree.</a:t>
            </a:r>
            <a:endParaRPr lang="en-US" dirty="0"/>
          </a:p>
          <a:p>
            <a:r>
              <a:rPr lang="zh-CN" altLang="en-US" dirty="0"/>
              <a:t>在</a:t>
            </a:r>
            <a:r>
              <a:rPr lang="en-US" altLang="zh-CN" dirty="0"/>
              <a:t>state space graph</a:t>
            </a:r>
            <a:r>
              <a:rPr lang="zh-CN" altLang="en-US" dirty="0"/>
              <a:t>中，每个</a:t>
            </a:r>
            <a:r>
              <a:rPr lang="en-US" altLang="zh-CN" dirty="0"/>
              <a:t>state</a:t>
            </a:r>
            <a:r>
              <a:rPr lang="zh-CN" altLang="en-US" dirty="0"/>
              <a:t>只出现一次，在</a:t>
            </a:r>
            <a:r>
              <a:rPr lang="en-US" altLang="zh-CN" dirty="0"/>
              <a:t>search tree</a:t>
            </a:r>
            <a:r>
              <a:rPr lang="zh-CN" altLang="en-US" dirty="0"/>
              <a:t>中，每个</a:t>
            </a:r>
            <a:r>
              <a:rPr lang="en-US" altLang="zh-CN" dirty="0"/>
              <a:t>state</a:t>
            </a:r>
            <a:r>
              <a:rPr lang="zh-CN" altLang="en-US" dirty="0"/>
              <a:t>可以变为不同的</a:t>
            </a:r>
            <a:r>
              <a:rPr lang="en-US" altLang="zh-CN" dirty="0"/>
              <a:t>nodes</a:t>
            </a:r>
            <a:r>
              <a:rPr lang="zh-CN" altLang="en-US" dirty="0"/>
              <a:t>，这些</a:t>
            </a:r>
            <a:r>
              <a:rPr lang="en-US" altLang="zh-CN" dirty="0"/>
              <a:t>nodes</a:t>
            </a:r>
            <a:r>
              <a:rPr lang="zh-CN" altLang="en-US" dirty="0"/>
              <a:t>可由不同的</a:t>
            </a:r>
            <a:r>
              <a:rPr lang="en-US" altLang="zh-CN" dirty="0"/>
              <a:t>plan</a:t>
            </a:r>
            <a:r>
              <a:rPr lang="zh-CN" altLang="en-US" dirty="0"/>
              <a:t>到达。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It is important to understand the distinction between the state space and the search tree.</a:t>
            </a:r>
            <a:endParaRPr lang="zh-CN" altLang="en-US"/>
          </a:p>
          <a:p>
            <a:r>
              <a:rPr lang="zh-CN" altLang="en-US"/>
              <a:t>The state space describes the (possibly infinite) set of states in the world, and the actions</a:t>
            </a:r>
            <a:endParaRPr lang="zh-CN" altLang="en-US"/>
          </a:p>
          <a:p>
            <a:r>
              <a:rPr lang="zh-CN" altLang="en-US"/>
              <a:t>that allow transitions from one state to another. The search tree describes paths between</a:t>
            </a:r>
            <a:endParaRPr lang="zh-CN" altLang="en-US"/>
          </a:p>
          <a:p>
            <a:r>
              <a:rPr lang="zh-CN" altLang="en-US"/>
              <a:t>these states, reaching towards the goal. The search tree may have multiple paths to (and thus</a:t>
            </a:r>
            <a:endParaRPr lang="zh-CN" altLang="en-US"/>
          </a:p>
          <a:p>
            <a:r>
              <a:rPr lang="zh-CN" altLang="en-US"/>
              <a:t>multiple nodes for) any given state, but each node in the tree has a unique path back to the</a:t>
            </a:r>
            <a:endParaRPr lang="zh-CN" altLang="en-US"/>
          </a:p>
          <a:p>
            <a:r>
              <a:rPr lang="zh-CN" altLang="en-US"/>
              <a:t>root (as in all trees).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这里我们再看一个复杂点的例子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en-US" altLang="zh-CN" dirty="0"/>
              <a:t>Very popular, basically graph theory</a:t>
            </a:r>
            <a:endParaRPr lang="en-US" altLang="zh-CN" dirty="0"/>
          </a:p>
        </p:txBody>
      </p:sp>
      <p:sp>
        <p:nvSpPr>
          <p:cNvPr id="4096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ClrTx/>
            </a:pPr>
            <a:fld id="{9A0DB2DC-4C9A-4742-B13C-FB6460FD3503}" type="slidenum">
              <a:rPr lang="en-US" sz="1200">
                <a:latin typeface="Arial" panose="020B0604020202020204" pitchFamily="34" charset="0"/>
              </a:rPr>
            </a:fld>
            <a:endParaRPr 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en-US" altLang="zh-CN"/>
              <a:t>We skip for now, come back later.</a:t>
            </a:r>
            <a:endParaRPr lang="en-US" altLang="zh-CN"/>
          </a:p>
        </p:txBody>
      </p:sp>
      <p:sp>
        <p:nvSpPr>
          <p:cNvPr id="4813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ClrTx/>
            </a:pPr>
            <a:fld id="{9A0DB2DC-4C9A-4742-B13C-FB6460FD3503}" type="slidenum">
              <a:rPr lang="en-US" sz="1200">
                <a:latin typeface="Arial" panose="020B0604020202020204" pitchFamily="34" charset="0"/>
              </a:rPr>
            </a:fld>
            <a:endParaRPr 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这里再看一个复杂点的例子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如果最优解的深度太深了，那么要的时间就非常长，所以要限定</a:t>
            </a:r>
            <a:r>
              <a:rPr lang="en-US" altLang="zh-CN">
                <a:sym typeface="+mn-ea"/>
              </a:rPr>
              <a:t>depth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如果最优解的深度太深了，那么要的时间就非常长，所以要限定</a:t>
            </a:r>
            <a:r>
              <a:rPr lang="en-US" altLang="zh-CN">
                <a:sym typeface="+mn-ea"/>
              </a:rPr>
              <a:t>depth</a:t>
            </a:r>
            <a:endParaRPr lang="zh-CN" altLang="en-US"/>
          </a:p>
          <a:p>
            <a:r>
              <a:rPr lang="zh-CN" altLang="en-US"/>
              <a:t>但是不知道多深才够好，所以干脆全部的</a:t>
            </a:r>
            <a:r>
              <a:rPr lang="en-US" altLang="zh-CN"/>
              <a:t>depth</a:t>
            </a:r>
            <a:r>
              <a:rPr lang="zh-CN" altLang="en-US"/>
              <a:t>都试一遍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en-US" altLang="zh-CN">
                <a:hlinkClick r:id="rId3"/>
              </a:rPr>
              <a:t>http://www.ai.sri.com/~oreilly/aima3ejava/aima3ejavademos.html</a:t>
            </a:r>
            <a:endParaRPr lang="en-US" altLang="zh-CN"/>
          </a:p>
          <a:p>
            <a:pPr lvl="0"/>
            <a:r>
              <a:rPr lang="en-US" altLang="zh-CN"/>
              <a:t>Is seriously buggy</a:t>
            </a:r>
            <a:endParaRPr lang="en-US" altLang="zh-CN"/>
          </a:p>
        </p:txBody>
      </p:sp>
      <p:sp>
        <p:nvSpPr>
          <p:cNvPr id="6963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ClrTx/>
            </a:pPr>
            <a:fld id="{9A0DB2DC-4C9A-4742-B13C-FB6460FD3503}" type="slidenum">
              <a:rPr lang="en-US" sz="1200">
                <a:latin typeface="Arial" panose="020B0604020202020204" pitchFamily="34" charset="0"/>
              </a:rPr>
            </a:fld>
            <a:endParaRPr lang="en-US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Iterative deepening search may seem wasteful because states near the top of the search</a:t>
            </a:r>
            <a:endParaRPr lang="zh-CN" altLang="en-US"/>
          </a:p>
          <a:p>
            <a:r>
              <a:rPr lang="zh-CN" altLang="en-US"/>
              <a:t>tree are re-generated multiple times. But for many state spaces, most of the nodes are in the</a:t>
            </a:r>
            <a:endParaRPr lang="zh-CN" altLang="en-US"/>
          </a:p>
          <a:p>
            <a:r>
              <a:rPr lang="zh-CN" altLang="en-US"/>
              <a:t>bottom level, so it does not matter much that the upper levels are repeated. In an iterative</a:t>
            </a:r>
            <a:endParaRPr lang="zh-CN" altLang="en-US"/>
          </a:p>
          <a:p>
            <a:r>
              <a:rPr lang="zh-CN" altLang="en-US"/>
              <a:t>deepening search, the nodes on the bottom level (depth d) are generated once, those on the</a:t>
            </a:r>
            <a:endParaRPr lang="zh-CN" altLang="en-US"/>
          </a:p>
          <a:p>
            <a:r>
              <a:rPr lang="zh-CN" altLang="en-US"/>
              <a:t>next-to-bottom level are generated twice, and so on, up to the children of the root, which are</a:t>
            </a:r>
            <a:endParaRPr lang="zh-CN" altLang="en-US"/>
          </a:p>
          <a:p>
            <a:r>
              <a:rPr lang="zh-CN" altLang="en-US"/>
              <a:t>generated d times. So the total number of nodes generated in the worst case is</a:t>
            </a:r>
            <a:endParaRPr lang="zh-CN" altLang="en-US"/>
          </a:p>
          <a:p>
            <a:r>
              <a:rPr lang="zh-CN" altLang="en-US"/>
              <a:t>N(IDS) = (d)b1+(d􀀀1)b2+(d􀀀2)b3 _x0001_ _x0001_ _x0001_+bd ;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如果所有的</a:t>
            </a:r>
            <a:r>
              <a:rPr lang="en-US" altLang="zh-CN"/>
              <a:t>cost</a:t>
            </a:r>
            <a:r>
              <a:rPr lang="zh-CN" altLang="en-US"/>
              <a:t>都是</a:t>
            </a:r>
            <a:r>
              <a:rPr lang="en-US" altLang="zh-CN"/>
              <a:t>1</a:t>
            </a:r>
            <a:r>
              <a:rPr lang="zh-CN" altLang="en-US"/>
              <a:t>，那么</a:t>
            </a:r>
            <a:r>
              <a:rPr lang="en-US" altLang="zh-CN"/>
              <a:t>ucs</a:t>
            </a:r>
            <a:r>
              <a:rPr lang="zh-CN" altLang="en-US"/>
              <a:t>和</a:t>
            </a:r>
            <a:r>
              <a:rPr lang="en-US" altLang="zh-CN"/>
              <a:t>bfs</a:t>
            </a:r>
            <a:r>
              <a:rPr lang="zh-CN" altLang="en-US"/>
              <a:t>等价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/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87" name="任意多边形: 形状 86"/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/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/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/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/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/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/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/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/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/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/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/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/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/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/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/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/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/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/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/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2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/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/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/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/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/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/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/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/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/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/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/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/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/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78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62938-84EC-488D-9CA4-E38E8D42E52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E8221-ACA7-4409-9788-2ACEEBC1BDC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85549-3527-4829-9473-416A0C2EAE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FF1561-1732-4AFE-BD38-1F907188A60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椭圆 6"/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.xml"/><Relationship Id="rId8" Type="http://schemas.openxmlformats.org/officeDocument/2006/relationships/tags" Target="../tags/tag1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tags" Target="../tags/tag4.xml"/><Relationship Id="rId10" Type="http://schemas.openxmlformats.org/officeDocument/2006/relationships/tags" Target="../tags/tag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7.png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20.wmf"/><Relationship Id="rId2" Type="http://schemas.openxmlformats.org/officeDocument/2006/relationships/image" Target="../media/image19.png"/><Relationship Id="rId1" Type="http://schemas.openxmlformats.org/officeDocument/2006/relationships/image" Target="../media/image18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1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79401"/>
            <a:ext cx="12192000" cy="1470025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515223"/>
                </a:solidFill>
              </a:rPr>
              <a:t>Artificial Intelligence</a:t>
            </a:r>
            <a:br>
              <a:rPr lang="en-US" dirty="0"/>
            </a:br>
            <a:endParaRPr lang="en-US" sz="360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295400"/>
            <a:ext cx="12192000" cy="1524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4000" b="1" dirty="0"/>
              <a:t>Search</a:t>
            </a:r>
            <a:endParaRPr lang="en-US" sz="4000" b="1" dirty="0"/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2"/>
            <a:ext cx="5867400" cy="461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9" tIns="45719" rIns="91439" bIns="45719">
            <a:spAutoFit/>
          </a:bodyPr>
          <a:lstStyle/>
          <a:p>
            <a:pPr>
              <a:spcBef>
                <a:spcPct val="50000"/>
              </a:spcBef>
            </a:pPr>
            <a:endParaRPr lang="en-US" sz="2400"/>
          </a:p>
        </p:txBody>
      </p:sp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4482" y="5499576"/>
            <a:ext cx="12192000" cy="9925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8579" tIns="34289" rIns="68579" bIns="3428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Calibri" panose="020F0502020204030204"/>
                <a:cs typeface="Calibri" panose="020F0502020204030204"/>
              </a:rPr>
              <a:t>Yang Xu</a:t>
            </a:r>
            <a:endParaRPr lang="en-US" altLang="zh-CN" sz="2400" dirty="0">
              <a:latin typeface="Calibri" panose="020F0502020204030204"/>
              <a:cs typeface="Calibri" panose="020F0502020204030204"/>
            </a:endParaRPr>
          </a:p>
          <a:p>
            <a:pPr algn="ctr">
              <a:spcBef>
                <a:spcPct val="50000"/>
              </a:spcBef>
            </a:pPr>
            <a:r>
              <a:rPr lang="en-US" sz="2400" dirty="0">
                <a:latin typeface="Calibri" panose="020F0502020204030204"/>
                <a:cs typeface="Calibri" panose="020F0502020204030204"/>
              </a:rPr>
              <a:t>PALM</a:t>
            </a:r>
            <a:endParaRPr lang="en-US" sz="1400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95"/>
          <a:stretch>
            <a:fillRect/>
          </a:stretch>
        </p:blipFill>
        <p:spPr bwMode="auto">
          <a:xfrm>
            <a:off x="2635546" y="1557485"/>
            <a:ext cx="7001591" cy="38279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91200" y="1447800"/>
            <a:ext cx="5791198" cy="4343399"/>
          </a:xfrm>
          <a:prstGeom prst="rect">
            <a:avLst/>
          </a:prstGeom>
          <a:noFill/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Today</a:t>
            </a: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91255" y="1447800"/>
            <a:ext cx="9499600" cy="47291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搜索问题</a:t>
            </a:r>
            <a:endParaRPr lang="en-US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无信息搜索</a:t>
            </a:r>
            <a:endParaRPr lang="en-US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90000"/>
              </a:lnSpc>
            </a:pPr>
            <a:endParaRPr lang="en-US" sz="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深度优先搜索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sz="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宽度优先搜索</a:t>
            </a:r>
            <a:endParaRPr lang="en-US" sz="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均匀损失搜索</a:t>
            </a:r>
            <a:endParaRPr lang="en-US" altLang="zh-CN" sz="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Problems</a:t>
            </a:r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5164" y="1144408"/>
            <a:ext cx="8524096" cy="52264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Problems</a:t>
            </a: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91254" y="1517650"/>
            <a:ext cx="9935333" cy="4876800"/>
          </a:xfrm>
        </p:spPr>
        <p:txBody>
          <a:bodyPr>
            <a:normAutofit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搜索问题</a:t>
            </a:r>
            <a:r>
              <a:rPr lang="zh-CN" altLang="en-US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的组成要素</a:t>
            </a:r>
            <a:r>
              <a:rPr lang="en-US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状态空间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后继函数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包含动作和代价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初始状态与目标检测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解</a:t>
            </a: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：指一组动作序列（即规划），能够将初始状态转化为目标状态。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867403" y="2174876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19949" y="2174875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96405" y="2174875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53201" y="2174875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91549" y="2174877"/>
            <a:ext cx="552451" cy="552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97813" y="2174875"/>
            <a:ext cx="560387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81605" y="2174875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457951" y="3671888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4" name="Picture 12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39101" y="3325813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5" name="Picture 13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58149" y="4087813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6" name="Line 14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V="1">
            <a:off x="7162800" y="35814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207" name="Line 15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7162800" y="411480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208" name="Text Box 16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934200" y="3200400"/>
            <a:ext cx="990600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anose="020F0502020204030204" pitchFamily="34" charset="0"/>
              </a:rPr>
              <a:t>“N”, 1.0</a:t>
            </a:r>
            <a:endParaRPr lang="en-US">
              <a:latin typeface="Calibri" panose="020F0502020204030204" pitchFamily="34" charset="0"/>
            </a:endParaRPr>
          </a:p>
        </p:txBody>
      </p:sp>
      <p:sp>
        <p:nvSpPr>
          <p:cNvPr id="8209" name="Text Box 17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934200" y="4419602"/>
            <a:ext cx="1143000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alibri" panose="020F0502020204030204" pitchFamily="34" charset="0"/>
              </a:rPr>
              <a:t>“E”, 1.0</a:t>
            </a:r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 animBg="1"/>
      <p:bldP spid="8207" grpId="0" animBg="1"/>
      <p:bldP spid="8208" grpId="0"/>
      <p:bldP spid="82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Traveling in Romania</a:t>
            </a:r>
            <a:endParaRPr 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96200" y="1676400"/>
            <a:ext cx="4495800" cy="452596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状态空间</a:t>
            </a:r>
            <a:r>
              <a:rPr 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4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1710" dirty="0">
                <a:latin typeface="黑体" panose="02010609060101010101" charset="-122"/>
                <a:ea typeface="黑体" panose="02010609060101010101" charset="-122"/>
                <a:cs typeface="Calibri" panose="020F0502020204030204" pitchFamily="34" charset="0"/>
              </a:rPr>
              <a:t>城市节点</a:t>
            </a:r>
            <a:endParaRPr lang="zh-CN" altLang="en-US" sz="1710" dirty="0">
              <a:latin typeface="黑体" panose="02010609060101010101" charset="-122"/>
              <a:ea typeface="黑体" panose="02010609060101010101" charset="-122"/>
              <a:cs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后继函数</a:t>
            </a:r>
            <a:r>
              <a:rPr 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4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道路连接：移动至相邻城市，其代价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cost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等于道路距离</a:t>
            </a:r>
            <a:endParaRPr 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初始状态</a:t>
            </a:r>
            <a:r>
              <a:rPr 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4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sz="2000" dirty="0">
                <a:latin typeface="黑体" panose="02010609060101010101" charset="-122"/>
                <a:ea typeface="黑体" panose="02010609060101010101" charset="-122"/>
                <a:cs typeface="Calibri" panose="020F0502020204030204" pitchFamily="34" charset="0"/>
              </a:rPr>
              <a:t>Arad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目标检测</a:t>
            </a:r>
            <a:r>
              <a:rPr 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4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当前状态</a:t>
            </a:r>
            <a:r>
              <a:rPr 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== Bucharest?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解</a:t>
            </a:r>
            <a:r>
              <a:rPr 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88359" y="2057400"/>
            <a:ext cx="5557837" cy="332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State Space Graphs and Search Trees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4029" y="1450961"/>
            <a:ext cx="4017746" cy="42608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State Space Graphs</a:t>
            </a: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91256" y="1594900"/>
            <a:ext cx="5873270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状态空间图</a:t>
            </a:r>
            <a:r>
              <a:rPr 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zh-CN" alt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搜索问题的数学化表示</a:t>
            </a:r>
            <a:endParaRPr lang="zh-CN" altLang="en-US" sz="24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节点是（抽象化的）配置</a:t>
            </a:r>
            <a:endParaRPr lang="zh-CN" alt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弧</a:t>
            </a:r>
            <a:r>
              <a:rPr lang="zh-CN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 (Arcs)代表后继函数（即执行动作后的状态结果）</a:t>
            </a:r>
            <a:endParaRPr lang="zh-CN" alt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目标检测是由一个或多个目标节点组成的集合</a:t>
            </a:r>
            <a:endParaRPr lang="zh-CN" alt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</a:pPr>
            <a:r>
              <a:rPr lang="zh-CN" alt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在状态空间图中，每个状态仅出现一次！</a:t>
            </a:r>
            <a:endParaRPr lang="zh-CN" altLang="en-US" sz="24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100000"/>
              </a:lnSpc>
            </a:pPr>
            <a:r>
              <a:rPr lang="zh-CN" alt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由于规模过大，我们极少能在内存中完整构建该图，但它是一个极具价值的理论模型。</a:t>
            </a:r>
            <a:endParaRPr lang="zh-CN" altLang="en-US" sz="24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9" name="Group 98"/>
          <p:cNvGrpSpPr/>
          <p:nvPr/>
        </p:nvGrpSpPr>
        <p:grpSpPr>
          <a:xfrm>
            <a:off x="7010400" y="1219200"/>
            <a:ext cx="4876800" cy="5410200"/>
            <a:chOff x="7086600" y="1219200"/>
            <a:chExt cx="4876800" cy="5410200"/>
          </a:xfrm>
        </p:grpSpPr>
        <p:pic>
          <p:nvPicPr>
            <p:cNvPr id="34" name="Picture 11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7086600" y="3622676"/>
              <a:ext cx="560388" cy="568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" name="Picture 1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382000" y="2922589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" name="Picture 1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401048" y="4378326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Line 14"/>
            <p:cNvSpPr>
              <a:spLocks noChangeShapeType="1"/>
            </p:cNvSpPr>
            <p:nvPr/>
          </p:nvSpPr>
          <p:spPr bwMode="auto">
            <a:xfrm flipV="1">
              <a:off x="7772401" y="32273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8" name="Line 15"/>
            <p:cNvSpPr>
              <a:spLocks noChangeShapeType="1"/>
            </p:cNvSpPr>
            <p:nvPr/>
          </p:nvSpPr>
          <p:spPr bwMode="auto">
            <a:xfrm>
              <a:off x="7772400" y="42941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9739122" y="2922588"/>
              <a:ext cx="566928" cy="560388"/>
              <a:chOff x="10634472" y="3581400"/>
              <a:chExt cx="566928" cy="560388"/>
            </a:xfrm>
          </p:grpSpPr>
          <p:pic>
            <p:nvPicPr>
              <p:cNvPr id="42" name="Picture 11"/>
              <p:cNvPicPr preferRelativeResize="0">
                <a:picLocks noChangeArrowheads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 rot="16200000" flipV="1">
                <a:off x="10637742" y="3578130"/>
                <a:ext cx="560388" cy="5669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" name="Rectangle 42"/>
              <p:cNvSpPr/>
              <p:nvPr/>
            </p:nvSpPr>
            <p:spPr>
              <a:xfrm>
                <a:off x="10786872" y="38100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9772650" y="4370388"/>
              <a:ext cx="560388" cy="568325"/>
              <a:chOff x="8534400" y="4918075"/>
              <a:chExt cx="560388" cy="568325"/>
            </a:xfrm>
          </p:grpSpPr>
          <p:pic>
            <p:nvPicPr>
              <p:cNvPr id="44" name="Picture 11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/>
              <a:stretch>
                <a:fillRect/>
              </a:stretch>
            </p:blipFill>
            <p:spPr bwMode="auto">
              <a:xfrm>
                <a:off x="8534400" y="4918075"/>
                <a:ext cx="560388" cy="568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5" name="Rectangle 44"/>
              <p:cNvSpPr/>
              <p:nvPr/>
            </p:nvSpPr>
            <p:spPr>
              <a:xfrm>
                <a:off x="8763000" y="52578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11049000" y="3684588"/>
              <a:ext cx="552451" cy="560387"/>
              <a:chOff x="10572749" y="4849813"/>
              <a:chExt cx="552451" cy="560387"/>
            </a:xfrm>
          </p:grpSpPr>
          <p:pic>
            <p:nvPicPr>
              <p:cNvPr id="46" name="Picture 12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10572749" y="4849813"/>
                <a:ext cx="552451" cy="560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7" name="Rectangle 46"/>
              <p:cNvSpPr/>
              <p:nvPr/>
            </p:nvSpPr>
            <p:spPr>
              <a:xfrm>
                <a:off x="10820400" y="51816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Line 14"/>
            <p:cNvSpPr>
              <a:spLocks noChangeShapeType="1"/>
            </p:cNvSpPr>
            <p:nvPr/>
          </p:nvSpPr>
          <p:spPr bwMode="auto">
            <a:xfrm>
              <a:off x="9067801" y="32273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9067800" y="46751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 flipV="1">
              <a:off x="10515600" y="42941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54" name="Line 14"/>
            <p:cNvSpPr>
              <a:spLocks noChangeShapeType="1"/>
            </p:cNvSpPr>
            <p:nvPr/>
          </p:nvSpPr>
          <p:spPr bwMode="auto">
            <a:xfrm>
              <a:off x="10439400" y="33035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64" name="Line 14"/>
            <p:cNvSpPr>
              <a:spLocks noChangeShapeType="1"/>
            </p:cNvSpPr>
            <p:nvPr/>
          </p:nvSpPr>
          <p:spPr bwMode="auto">
            <a:xfrm flipV="1">
              <a:off x="8686800" y="23129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8382000" y="1676400"/>
              <a:ext cx="3233928" cy="560388"/>
              <a:chOff x="8534400" y="1573212"/>
              <a:chExt cx="3233928" cy="560388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9829800" y="1573213"/>
                <a:ext cx="552451" cy="560387"/>
                <a:chOff x="9201149" y="1447800"/>
                <a:chExt cx="552451" cy="560387"/>
              </a:xfrm>
            </p:grpSpPr>
            <p:pic>
              <p:nvPicPr>
                <p:cNvPr id="55" name="Picture 1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9201149" y="1447800"/>
                  <a:ext cx="552451" cy="5603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6" name="Rectangle 55"/>
                <p:cNvSpPr/>
                <p:nvPr/>
              </p:nvSpPr>
              <p:spPr>
                <a:xfrm>
                  <a:off x="9296400" y="1600200"/>
                  <a:ext cx="152400" cy="762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8" name="Group 57"/>
              <p:cNvGrpSpPr/>
              <p:nvPr/>
            </p:nvGrpSpPr>
            <p:grpSpPr>
              <a:xfrm>
                <a:off x="11201400" y="1573212"/>
                <a:ext cx="566928" cy="560388"/>
                <a:chOff x="10634472" y="3581400"/>
                <a:chExt cx="566928" cy="560388"/>
              </a:xfrm>
            </p:grpSpPr>
            <p:pic>
              <p:nvPicPr>
                <p:cNvPr id="59" name="Picture 11"/>
                <p:cNvPicPr preferRelativeResize="0">
                  <a:picLocks noChangeArrowheads="1"/>
                </p:cNvPicPr>
                <p:nvPr/>
              </p:nvPicPr>
              <p:blipFill>
                <a:blip r:embed="rId1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0" name="Rectangle 59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1" name="Group 60"/>
              <p:cNvGrpSpPr/>
              <p:nvPr/>
            </p:nvGrpSpPr>
            <p:grpSpPr>
              <a:xfrm flipV="1">
                <a:off x="8534400" y="1575816"/>
                <a:ext cx="566928" cy="557784"/>
                <a:chOff x="10634472" y="3581400"/>
                <a:chExt cx="566928" cy="560388"/>
              </a:xfrm>
            </p:grpSpPr>
            <p:pic>
              <p:nvPicPr>
                <p:cNvPr id="62" name="Picture 11"/>
                <p:cNvPicPr preferRelativeResize="0">
                  <a:picLocks noChangeArrowheads="1"/>
                </p:cNvPicPr>
                <p:nvPr/>
              </p:nvPicPr>
              <p:blipFill>
                <a:blip r:embed="rId1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3" name="Rectangle 62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67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68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69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 flipV="1">
              <a:off x="8430540" y="5659922"/>
              <a:ext cx="3223488" cy="568223"/>
              <a:chOff x="8540268" y="1568619"/>
              <a:chExt cx="3223488" cy="570876"/>
            </a:xfrm>
          </p:grpSpPr>
          <p:grpSp>
            <p:nvGrpSpPr>
              <p:cNvPr id="72" name="Group 56"/>
              <p:cNvGrpSpPr/>
              <p:nvPr/>
            </p:nvGrpSpPr>
            <p:grpSpPr>
              <a:xfrm>
                <a:off x="9827134" y="1575890"/>
                <a:ext cx="557783" cy="555030"/>
                <a:chOff x="9198483" y="1450477"/>
                <a:chExt cx="557783" cy="555030"/>
              </a:xfrm>
            </p:grpSpPr>
            <p:pic>
              <p:nvPicPr>
                <p:cNvPr id="83" name="Picture 12"/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rot="5400000">
                  <a:off x="9199860" y="1449100"/>
                  <a:ext cx="555030" cy="5577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4" name="Rectangle 83"/>
                <p:cNvSpPr/>
                <p:nvPr/>
              </p:nvSpPr>
              <p:spPr>
                <a:xfrm>
                  <a:off x="9539477" y="1549210"/>
                  <a:ext cx="152400" cy="1527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7"/>
              <p:cNvGrpSpPr/>
              <p:nvPr/>
            </p:nvGrpSpPr>
            <p:grpSpPr>
              <a:xfrm>
                <a:off x="11205972" y="1568619"/>
                <a:ext cx="557784" cy="569575"/>
                <a:chOff x="10639044" y="3576807"/>
                <a:chExt cx="557784" cy="569575"/>
              </a:xfrm>
            </p:grpSpPr>
            <p:pic>
              <p:nvPicPr>
                <p:cNvPr id="81" name="Picture 11"/>
                <p:cNvPicPr preferRelativeResize="0">
                  <a:picLocks noChangeArrowheads="1"/>
                </p:cNvPicPr>
                <p:nvPr/>
              </p:nvPicPr>
              <p:blipFill>
                <a:blip r:embed="rId1" cstate="print"/>
                <a:srcRect/>
                <a:stretch>
                  <a:fillRect/>
                </a:stretch>
              </p:blipFill>
              <p:spPr bwMode="auto">
                <a:xfrm flipV="1">
                  <a:off x="10639044" y="3576807"/>
                  <a:ext cx="557784" cy="569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2" name="Rectangle 81"/>
                <p:cNvSpPr/>
                <p:nvPr/>
              </p:nvSpPr>
              <p:spPr>
                <a:xfrm>
                  <a:off x="10896600" y="3684590"/>
                  <a:ext cx="152399" cy="15097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60"/>
              <p:cNvGrpSpPr/>
              <p:nvPr/>
            </p:nvGrpSpPr>
            <p:grpSpPr>
              <a:xfrm flipV="1">
                <a:off x="8540268" y="1569920"/>
                <a:ext cx="555192" cy="569575"/>
                <a:chOff x="10640340" y="3575477"/>
                <a:chExt cx="555192" cy="572234"/>
              </a:xfrm>
            </p:grpSpPr>
            <p:pic>
              <p:nvPicPr>
                <p:cNvPr id="79" name="Picture 11"/>
                <p:cNvPicPr preferRelativeResize="0">
                  <a:picLocks noChangeArrowheads="1"/>
                </p:cNvPicPr>
                <p:nvPr/>
              </p:nvPicPr>
              <p:blipFill>
                <a:blip r:embed="rId1" cstate="print"/>
                <a:srcRect/>
                <a:stretch>
                  <a:fillRect/>
                </a:stretch>
              </p:blipFill>
              <p:spPr bwMode="auto">
                <a:xfrm rot="10800000" flipV="1">
                  <a:off x="10640340" y="3575477"/>
                  <a:ext cx="555192" cy="5722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0" name="Rectangle 79"/>
                <p:cNvSpPr/>
                <p:nvPr/>
              </p:nvSpPr>
              <p:spPr>
                <a:xfrm>
                  <a:off x="10744200" y="3889052"/>
                  <a:ext cx="228600" cy="15382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76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77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78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</p:grpSp>
        <p:sp>
          <p:nvSpPr>
            <p:cNvPr id="85" name="Line 14"/>
            <p:cNvSpPr>
              <a:spLocks noChangeShapeType="1"/>
            </p:cNvSpPr>
            <p:nvPr/>
          </p:nvSpPr>
          <p:spPr bwMode="auto">
            <a:xfrm>
              <a:off x="8686800" y="50561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6" name="Line 14"/>
            <p:cNvSpPr>
              <a:spLocks noChangeShapeType="1"/>
            </p:cNvSpPr>
            <p:nvPr/>
          </p:nvSpPr>
          <p:spPr bwMode="auto">
            <a:xfrm flipV="1">
              <a:off x="11353800" y="5132388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7" name="Line 14"/>
            <p:cNvSpPr>
              <a:spLocks noChangeShapeType="1"/>
            </p:cNvSpPr>
            <p:nvPr/>
          </p:nvSpPr>
          <p:spPr bwMode="auto">
            <a:xfrm>
              <a:off x="99822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8" name="Line 14"/>
            <p:cNvSpPr>
              <a:spLocks noChangeShapeType="1"/>
            </p:cNvSpPr>
            <p:nvPr/>
          </p:nvSpPr>
          <p:spPr bwMode="auto">
            <a:xfrm flipV="1">
              <a:off x="99822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9" name="Line 14"/>
            <p:cNvSpPr>
              <a:spLocks noChangeShapeType="1"/>
            </p:cNvSpPr>
            <p:nvPr/>
          </p:nvSpPr>
          <p:spPr bwMode="auto">
            <a:xfrm flipV="1">
              <a:off x="8686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0" name="Line 14"/>
            <p:cNvSpPr>
              <a:spLocks noChangeShapeType="1"/>
            </p:cNvSpPr>
            <p:nvPr/>
          </p:nvSpPr>
          <p:spPr bwMode="auto">
            <a:xfrm flipV="1">
              <a:off x="11353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1" name="Line 14"/>
            <p:cNvSpPr>
              <a:spLocks noChangeShapeType="1"/>
            </p:cNvSpPr>
            <p:nvPr/>
          </p:nvSpPr>
          <p:spPr bwMode="auto">
            <a:xfrm>
              <a:off x="8686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2" name="Line 14"/>
            <p:cNvSpPr>
              <a:spLocks noChangeShapeType="1"/>
            </p:cNvSpPr>
            <p:nvPr/>
          </p:nvSpPr>
          <p:spPr bwMode="auto">
            <a:xfrm>
              <a:off x="11353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3" name="Line 14"/>
            <p:cNvSpPr>
              <a:spLocks noChangeShapeType="1"/>
            </p:cNvSpPr>
            <p:nvPr/>
          </p:nvSpPr>
          <p:spPr bwMode="auto">
            <a:xfrm flipV="1">
              <a:off x="11734800" y="32766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4" name="Line 14"/>
            <p:cNvSpPr>
              <a:spLocks noChangeShapeType="1"/>
            </p:cNvSpPr>
            <p:nvPr/>
          </p:nvSpPr>
          <p:spPr bwMode="auto">
            <a:xfrm>
              <a:off x="11734800" y="4267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5" name="Line 14"/>
            <p:cNvSpPr>
              <a:spLocks noChangeShapeType="1"/>
            </p:cNvSpPr>
            <p:nvPr/>
          </p:nvSpPr>
          <p:spPr bwMode="auto">
            <a:xfrm flipV="1">
              <a:off x="10439400" y="2743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6" name="Line 14"/>
            <p:cNvSpPr>
              <a:spLocks noChangeShapeType="1"/>
            </p:cNvSpPr>
            <p:nvPr/>
          </p:nvSpPr>
          <p:spPr bwMode="auto">
            <a:xfrm>
              <a:off x="10515600" y="48768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7" name="Line 14"/>
            <p:cNvSpPr>
              <a:spLocks noChangeShapeType="1"/>
            </p:cNvSpPr>
            <p:nvPr/>
          </p:nvSpPr>
          <p:spPr bwMode="auto">
            <a:xfrm flipH="1">
              <a:off x="7924800" y="50292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8" name="Line 14"/>
            <p:cNvSpPr>
              <a:spLocks noChangeShapeType="1"/>
            </p:cNvSpPr>
            <p:nvPr/>
          </p:nvSpPr>
          <p:spPr bwMode="auto">
            <a:xfrm flipH="1" flipV="1">
              <a:off x="7696200" y="2667000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Trees</a:t>
            </a: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333500" y="4152900"/>
            <a:ext cx="9525000" cy="23622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搜索树</a:t>
            </a:r>
            <a:r>
              <a:rPr lang="en-US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4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初始状态即为根节点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子节点对应其后</a:t>
            </a:r>
            <a:r>
              <a: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继状态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节点显示的是状态，但对应的是达成这些状态的规划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这是一个关于规划及其结果的 “假设 (What if)” 树</a:t>
            </a:r>
            <a:endParaRPr lang="zh-CN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zh-CN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对于大多数问题，我们永远无法真正构建出整棵树</a:t>
            </a:r>
            <a:endParaRPr lang="zh-CN" altLang="en-US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962403" y="1524000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Line 7"/>
          <p:cNvSpPr>
            <a:spLocks noChangeShapeType="1"/>
          </p:cNvSpPr>
          <p:nvPr/>
        </p:nvSpPr>
        <p:spPr bwMode="auto">
          <a:xfrm>
            <a:off x="4267200" y="22098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 flipH="1">
            <a:off x="3124200" y="2209800"/>
            <a:ext cx="1066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4724400" y="2051051"/>
            <a:ext cx="990600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anose="020F0502020204030204" pitchFamily="34" charset="0"/>
              </a:rPr>
              <a:t>“E”, 1.0</a:t>
            </a:r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2757488" y="2051051"/>
            <a:ext cx="1143000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anose="020F0502020204030204" pitchFamily="34" charset="0"/>
              </a:rPr>
              <a:t>“N”, 1.0</a:t>
            </a:r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3124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 flipH="1">
            <a:off x="2362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30480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5486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 flipH="1">
            <a:off x="4724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54102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7" name="Right Arrow 16"/>
          <p:cNvSpPr/>
          <p:nvPr/>
        </p:nvSpPr>
        <p:spPr>
          <a:xfrm rot="10800000">
            <a:off x="6400800" y="1600199"/>
            <a:ext cx="1371600" cy="381000"/>
          </a:xfrm>
          <a:prstGeom prst="rightArrow">
            <a:avLst/>
          </a:prstGeom>
          <a:solidFill>
            <a:srgbClr val="5152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>
              <a:solidFill>
                <a:srgbClr val="515223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77200" y="1535672"/>
            <a:ext cx="3048000" cy="39751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2000" dirty="0">
                <a:latin typeface="Calibri" panose="020F0502020204030204" pitchFamily="34" charset="0"/>
              </a:rPr>
              <a:t>这是现在</a:t>
            </a:r>
            <a:r>
              <a:rPr lang="en-US" altLang="zh-CN" sz="2000" dirty="0">
                <a:latin typeface="Calibri" panose="020F0502020204030204" pitchFamily="34" charset="0"/>
              </a:rPr>
              <a:t> / </a:t>
            </a:r>
            <a:r>
              <a:rPr lang="zh-CN" altLang="en-US" sz="2000" dirty="0">
                <a:latin typeface="Calibri" panose="020F0502020204030204" pitchFamily="34" charset="0"/>
              </a:rPr>
              <a:t>初始状态</a:t>
            </a:r>
            <a:endParaRPr lang="zh-CN" altLang="en-US" sz="2000" dirty="0">
              <a:latin typeface="Calibri" panose="020F0502020204030204" pitchFamily="34" charset="0"/>
            </a:endParaRPr>
          </a:p>
        </p:txBody>
      </p:sp>
      <p:sp>
        <p:nvSpPr>
          <p:cNvPr id="19" name="Right Arrow 18"/>
          <p:cNvSpPr/>
          <p:nvPr/>
        </p:nvSpPr>
        <p:spPr>
          <a:xfrm rot="10800000">
            <a:off x="6400800" y="2666999"/>
            <a:ext cx="1371600" cy="381000"/>
          </a:xfrm>
          <a:prstGeom prst="rightArrow">
            <a:avLst/>
          </a:prstGeom>
          <a:solidFill>
            <a:srgbClr val="5152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>
              <a:solidFill>
                <a:srgbClr val="51522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77200" y="2602472"/>
            <a:ext cx="3048000" cy="39751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2000" dirty="0">
                <a:latin typeface="Calibri" panose="020F0502020204030204" pitchFamily="34" charset="0"/>
              </a:rPr>
              <a:t>可能的</a:t>
            </a:r>
            <a:r>
              <a:rPr lang="zh-CN" altLang="en-US" sz="2000" dirty="0">
                <a:latin typeface="Calibri" panose="020F0502020204030204" pitchFamily="34" charset="0"/>
              </a:rPr>
              <a:t>结果</a:t>
            </a:r>
            <a:endParaRPr lang="zh-CN" altLang="en-US" sz="20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 animBg="1"/>
      <p:bldP spid="13319" grpId="1" animBg="1"/>
      <p:bldP spid="13320" grpId="0" animBg="1"/>
      <p:bldP spid="13320" grpId="1" animBg="1"/>
      <p:bldP spid="13321" grpId="0"/>
      <p:bldP spid="13321" grpId="1"/>
      <p:bldP spid="13322" grpId="0"/>
      <p:bldP spid="13322" grpId="1"/>
      <p:bldP spid="13323" grpId="0" animBg="1"/>
      <p:bldP spid="13324" grpId="0" animBg="1"/>
      <p:bldP spid="13325" grpId="0" animBg="1"/>
      <p:bldP spid="13326" grpId="0" animBg="1"/>
      <p:bldP spid="13327" grpId="0" animBg="1"/>
      <p:bldP spid="13328" grpId="0" animBg="1"/>
      <p:bldP spid="17" grpId="0" animBg="1"/>
      <p:bldP spid="18" grpId="0"/>
      <p:bldP spid="19" grpId="0" animBg="1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97"/>
          <p:cNvSpPr/>
          <p:nvPr/>
        </p:nvSpPr>
        <p:spPr>
          <a:xfrm>
            <a:off x="6858002" y="1758699"/>
            <a:ext cx="4889500" cy="3880103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sz="1600" dirty="0"/>
          </a:p>
        </p:txBody>
      </p:sp>
      <p:sp>
        <p:nvSpPr>
          <p:cNvPr id="97" name="Rounded Rectangle 96"/>
          <p:cNvSpPr/>
          <p:nvPr/>
        </p:nvSpPr>
        <p:spPr>
          <a:xfrm>
            <a:off x="381000" y="1752600"/>
            <a:ext cx="3886200" cy="3886200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State Space Graphs vs. Search Trees</a:t>
            </a:r>
            <a:endParaRPr lang="en-US" dirty="0"/>
          </a:p>
        </p:txBody>
      </p:sp>
      <p:sp>
        <p:nvSpPr>
          <p:cNvPr id="17446" name="Text Box 4"/>
          <p:cNvSpPr txBox="1">
            <a:spLocks noChangeArrowheads="1"/>
          </p:cNvSpPr>
          <p:nvPr/>
        </p:nvSpPr>
        <p:spPr bwMode="auto">
          <a:xfrm>
            <a:off x="9232902" y="2692717"/>
            <a:ext cx="825500" cy="3231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500" dirty="0"/>
              <a:t>S</a:t>
            </a:r>
            <a:endParaRPr lang="en-US" sz="1500" dirty="0"/>
          </a:p>
        </p:txBody>
      </p:sp>
      <p:sp>
        <p:nvSpPr>
          <p:cNvPr id="17447" name="Text Box 5"/>
          <p:cNvSpPr txBox="1">
            <a:spLocks noChangeArrowheads="1"/>
          </p:cNvSpPr>
          <p:nvPr/>
        </p:nvSpPr>
        <p:spPr bwMode="auto">
          <a:xfrm>
            <a:off x="7010402" y="3976181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  <a:endParaRPr lang="en-US" sz="1600" i="1" dirty="0"/>
          </a:p>
        </p:txBody>
      </p:sp>
      <p:sp>
        <p:nvSpPr>
          <p:cNvPr id="17448" name="Text Box 6"/>
          <p:cNvSpPr txBox="1">
            <a:spLocks noChangeArrowheads="1"/>
          </p:cNvSpPr>
          <p:nvPr/>
        </p:nvSpPr>
        <p:spPr bwMode="auto">
          <a:xfrm>
            <a:off x="7010402" y="3550080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b</a:t>
            </a:r>
            <a:endParaRPr lang="en-US" sz="1600" i="1" dirty="0"/>
          </a:p>
        </p:txBody>
      </p:sp>
      <p:sp>
        <p:nvSpPr>
          <p:cNvPr id="17449" name="Text Box 7"/>
          <p:cNvSpPr txBox="1">
            <a:spLocks noChangeArrowheads="1"/>
          </p:cNvSpPr>
          <p:nvPr/>
        </p:nvSpPr>
        <p:spPr bwMode="auto">
          <a:xfrm>
            <a:off x="7454902" y="3167255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d</a:t>
            </a:r>
            <a:endParaRPr lang="en-US" sz="1600" i="1" dirty="0"/>
          </a:p>
        </p:txBody>
      </p:sp>
      <p:sp>
        <p:nvSpPr>
          <p:cNvPr id="17450" name="Text Box 8"/>
          <p:cNvSpPr txBox="1">
            <a:spLocks noChangeArrowheads="1"/>
          </p:cNvSpPr>
          <p:nvPr/>
        </p:nvSpPr>
        <p:spPr bwMode="auto">
          <a:xfrm>
            <a:off x="11264902" y="3113992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  <a:endParaRPr lang="en-US" sz="1600" i="1" dirty="0"/>
          </a:p>
        </p:txBody>
      </p:sp>
      <p:sp>
        <p:nvSpPr>
          <p:cNvPr id="17451" name="Text Box 9"/>
          <p:cNvSpPr txBox="1">
            <a:spLocks noChangeArrowheads="1"/>
          </p:cNvSpPr>
          <p:nvPr/>
        </p:nvSpPr>
        <p:spPr bwMode="auto">
          <a:xfrm>
            <a:off x="7581902" y="3976181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  <a:endParaRPr lang="en-US" sz="1600" i="1" dirty="0"/>
          </a:p>
        </p:txBody>
      </p:sp>
      <p:sp>
        <p:nvSpPr>
          <p:cNvPr id="17452" name="Text Box 10"/>
          <p:cNvSpPr txBox="1">
            <a:spLocks noChangeArrowheads="1"/>
          </p:cNvSpPr>
          <p:nvPr/>
        </p:nvSpPr>
        <p:spPr bwMode="auto">
          <a:xfrm>
            <a:off x="7581902" y="3550080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  <a:endParaRPr lang="en-US" sz="1600" i="1" dirty="0"/>
          </a:p>
        </p:txBody>
      </p:sp>
      <p:cxnSp>
        <p:nvCxnSpPr>
          <p:cNvPr id="17453" name="AutoShape 11"/>
          <p:cNvCxnSpPr>
            <a:cxnSpLocks noChangeShapeType="1"/>
            <a:stCxn id="17449" idx="2"/>
            <a:endCxn id="17448" idx="0"/>
          </p:cNvCxnSpPr>
          <p:nvPr/>
        </p:nvCxnSpPr>
        <p:spPr bwMode="auto">
          <a:xfrm flipH="1">
            <a:off x="7169151" y="3505693"/>
            <a:ext cx="444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54" name="AutoShape 12"/>
          <p:cNvCxnSpPr>
            <a:cxnSpLocks noChangeShapeType="1"/>
            <a:stCxn id="17449" idx="2"/>
            <a:endCxn id="17452" idx="0"/>
          </p:cNvCxnSpPr>
          <p:nvPr/>
        </p:nvCxnSpPr>
        <p:spPr bwMode="auto">
          <a:xfrm>
            <a:off x="7613651" y="3505693"/>
            <a:ext cx="1270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55" name="AutoShape 13"/>
          <p:cNvCxnSpPr>
            <a:cxnSpLocks noChangeShapeType="1"/>
            <a:stCxn id="17448" idx="2"/>
            <a:endCxn id="17447" idx="0"/>
          </p:cNvCxnSpPr>
          <p:nvPr/>
        </p:nvCxnSpPr>
        <p:spPr bwMode="auto">
          <a:xfrm>
            <a:off x="7169151" y="388852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56" name="AutoShape 14"/>
          <p:cNvCxnSpPr>
            <a:cxnSpLocks noChangeShapeType="1"/>
            <a:stCxn id="17452" idx="2"/>
            <a:endCxn id="17451" idx="0"/>
          </p:cNvCxnSpPr>
          <p:nvPr/>
        </p:nvCxnSpPr>
        <p:spPr bwMode="auto">
          <a:xfrm>
            <a:off x="7740651" y="3888520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sp>
        <p:nvSpPr>
          <p:cNvPr id="17484" name="Text Box 16"/>
          <p:cNvSpPr txBox="1">
            <a:spLocks noChangeArrowheads="1"/>
          </p:cNvSpPr>
          <p:nvPr/>
        </p:nvSpPr>
        <p:spPr bwMode="auto">
          <a:xfrm>
            <a:off x="9753602" y="3113992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e</a:t>
            </a:r>
            <a:endParaRPr lang="en-US" sz="1600" i="1" dirty="0"/>
          </a:p>
        </p:txBody>
      </p:sp>
      <p:sp>
        <p:nvSpPr>
          <p:cNvPr id="17485" name="Text Box 17"/>
          <p:cNvSpPr txBox="1">
            <a:spLocks noChangeArrowheads="1"/>
          </p:cNvSpPr>
          <p:nvPr/>
        </p:nvSpPr>
        <p:spPr bwMode="auto">
          <a:xfrm>
            <a:off x="9296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  <a:endParaRPr lang="en-US" sz="1600" i="1" dirty="0"/>
          </a:p>
        </p:txBody>
      </p:sp>
      <p:sp>
        <p:nvSpPr>
          <p:cNvPr id="17486" name="Text Box 18"/>
          <p:cNvSpPr txBox="1">
            <a:spLocks noChangeArrowheads="1"/>
          </p:cNvSpPr>
          <p:nvPr/>
        </p:nvSpPr>
        <p:spPr bwMode="auto">
          <a:xfrm>
            <a:off x="94869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h</a:t>
            </a:r>
            <a:endParaRPr lang="en-US" sz="1600" i="1" dirty="0"/>
          </a:p>
        </p:txBody>
      </p:sp>
      <p:sp>
        <p:nvSpPr>
          <p:cNvPr id="17487" name="Text Box 19"/>
          <p:cNvSpPr txBox="1">
            <a:spLocks noChangeArrowheads="1"/>
          </p:cNvSpPr>
          <p:nvPr/>
        </p:nvSpPr>
        <p:spPr bwMode="auto">
          <a:xfrm>
            <a:off x="10058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f</a:t>
            </a:r>
            <a:endParaRPr lang="en-US" sz="1600" i="1" dirty="0"/>
          </a:p>
        </p:txBody>
      </p:sp>
      <p:sp>
        <p:nvSpPr>
          <p:cNvPr id="17488" name="Text Box 20"/>
          <p:cNvSpPr txBox="1">
            <a:spLocks noChangeArrowheads="1"/>
          </p:cNvSpPr>
          <p:nvPr/>
        </p:nvSpPr>
        <p:spPr bwMode="auto">
          <a:xfrm>
            <a:off x="100584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r</a:t>
            </a:r>
            <a:endParaRPr lang="en-US" sz="1600" i="1" dirty="0"/>
          </a:p>
        </p:txBody>
      </p:sp>
      <p:sp>
        <p:nvSpPr>
          <p:cNvPr id="17489" name="Text Box 21"/>
          <p:cNvSpPr txBox="1">
            <a:spLocks noChangeArrowheads="1"/>
          </p:cNvSpPr>
          <p:nvPr/>
        </p:nvSpPr>
        <p:spPr bwMode="auto">
          <a:xfrm>
            <a:off x="9677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  <a:endParaRPr lang="en-US" sz="1600" i="1" dirty="0"/>
          </a:p>
        </p:txBody>
      </p:sp>
      <p:sp>
        <p:nvSpPr>
          <p:cNvPr id="17490" name="Text Box 22"/>
          <p:cNvSpPr txBox="1">
            <a:spLocks noChangeArrowheads="1"/>
          </p:cNvSpPr>
          <p:nvPr/>
        </p:nvSpPr>
        <p:spPr bwMode="auto">
          <a:xfrm>
            <a:off x="9296402" y="4349020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  <a:endParaRPr lang="en-US" sz="1600" i="1" dirty="0"/>
          </a:p>
        </p:txBody>
      </p:sp>
      <p:sp>
        <p:nvSpPr>
          <p:cNvPr id="17491" name="Text Box 23"/>
          <p:cNvSpPr txBox="1">
            <a:spLocks noChangeArrowheads="1"/>
          </p:cNvSpPr>
          <p:nvPr/>
        </p:nvSpPr>
        <p:spPr bwMode="auto">
          <a:xfrm>
            <a:off x="9867902" y="4349020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  <a:endParaRPr lang="en-US" sz="1600" i="1" dirty="0"/>
          </a:p>
        </p:txBody>
      </p:sp>
      <p:sp>
        <p:nvSpPr>
          <p:cNvPr id="17492" name="Text Box 24"/>
          <p:cNvSpPr txBox="1">
            <a:spLocks noChangeArrowheads="1"/>
          </p:cNvSpPr>
          <p:nvPr/>
        </p:nvSpPr>
        <p:spPr bwMode="auto">
          <a:xfrm>
            <a:off x="10121900" y="4392297"/>
            <a:ext cx="635000" cy="3231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500" dirty="0"/>
              <a:t>G</a:t>
            </a:r>
            <a:endParaRPr lang="en-US" sz="1500" dirty="0"/>
          </a:p>
        </p:txBody>
      </p:sp>
      <p:sp>
        <p:nvSpPr>
          <p:cNvPr id="17493" name="Text Box 25"/>
          <p:cNvSpPr txBox="1">
            <a:spLocks noChangeArrowheads="1"/>
          </p:cNvSpPr>
          <p:nvPr/>
        </p:nvSpPr>
        <p:spPr bwMode="auto">
          <a:xfrm>
            <a:off x="9867902" y="4721859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  <a:endParaRPr lang="en-US" sz="1600" i="1" dirty="0"/>
          </a:p>
        </p:txBody>
      </p:sp>
      <p:cxnSp>
        <p:nvCxnSpPr>
          <p:cNvPr id="17494" name="AutoShape 26"/>
          <p:cNvCxnSpPr>
            <a:cxnSpLocks noChangeShapeType="1"/>
            <a:stCxn id="17484" idx="2"/>
            <a:endCxn id="17486" idx="0"/>
          </p:cNvCxnSpPr>
          <p:nvPr/>
        </p:nvCxnSpPr>
        <p:spPr bwMode="auto">
          <a:xfrm flipH="1">
            <a:off x="9645651" y="3452432"/>
            <a:ext cx="2667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95" name="AutoShape 27"/>
          <p:cNvCxnSpPr>
            <a:cxnSpLocks noChangeShapeType="1"/>
            <a:stCxn id="17484" idx="2"/>
            <a:endCxn id="17488" idx="0"/>
          </p:cNvCxnSpPr>
          <p:nvPr/>
        </p:nvCxnSpPr>
        <p:spPr bwMode="auto">
          <a:xfrm>
            <a:off x="9912351" y="3452432"/>
            <a:ext cx="3048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96" name="AutoShape 28"/>
          <p:cNvCxnSpPr>
            <a:cxnSpLocks noChangeShapeType="1"/>
            <a:stCxn id="17486" idx="2"/>
            <a:endCxn id="17485" idx="0"/>
          </p:cNvCxnSpPr>
          <p:nvPr/>
        </p:nvCxnSpPr>
        <p:spPr bwMode="auto">
          <a:xfrm flipH="1">
            <a:off x="9455151" y="387853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97" name="AutoShape 29"/>
          <p:cNvCxnSpPr>
            <a:cxnSpLocks noChangeShapeType="1"/>
            <a:stCxn id="17486" idx="2"/>
            <a:endCxn id="17489" idx="0"/>
          </p:cNvCxnSpPr>
          <p:nvPr/>
        </p:nvCxnSpPr>
        <p:spPr bwMode="auto">
          <a:xfrm>
            <a:off x="9645651" y="3878535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98" name="AutoShape 30"/>
          <p:cNvCxnSpPr>
            <a:cxnSpLocks noChangeShapeType="1"/>
            <a:stCxn id="17488" idx="2"/>
            <a:endCxn id="17487" idx="0"/>
          </p:cNvCxnSpPr>
          <p:nvPr/>
        </p:nvCxnSpPr>
        <p:spPr bwMode="auto">
          <a:xfrm>
            <a:off x="10217151" y="3878535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99" name="AutoShape 31"/>
          <p:cNvCxnSpPr>
            <a:cxnSpLocks noChangeShapeType="1"/>
            <a:stCxn id="17485" idx="2"/>
            <a:endCxn id="17490" idx="0"/>
          </p:cNvCxnSpPr>
          <p:nvPr/>
        </p:nvCxnSpPr>
        <p:spPr bwMode="auto">
          <a:xfrm>
            <a:off x="9455151" y="4304636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500" name="AutoShape 32"/>
          <p:cNvCxnSpPr>
            <a:cxnSpLocks noChangeShapeType="1"/>
            <a:stCxn id="17487" idx="2"/>
            <a:endCxn id="17491" idx="0"/>
          </p:cNvCxnSpPr>
          <p:nvPr/>
        </p:nvCxnSpPr>
        <p:spPr bwMode="auto">
          <a:xfrm flipH="1">
            <a:off x="10026651" y="4304636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501" name="AutoShape 33"/>
          <p:cNvCxnSpPr>
            <a:cxnSpLocks noChangeShapeType="1"/>
            <a:stCxn id="17487" idx="2"/>
            <a:endCxn id="17492" idx="0"/>
          </p:cNvCxnSpPr>
          <p:nvPr/>
        </p:nvCxnSpPr>
        <p:spPr bwMode="auto">
          <a:xfrm>
            <a:off x="10217153" y="4304635"/>
            <a:ext cx="222249" cy="876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502" name="AutoShape 34"/>
          <p:cNvCxnSpPr>
            <a:cxnSpLocks noChangeShapeType="1"/>
            <a:stCxn id="17491" idx="2"/>
            <a:endCxn id="17493" idx="0"/>
          </p:cNvCxnSpPr>
          <p:nvPr/>
        </p:nvCxnSpPr>
        <p:spPr bwMode="auto">
          <a:xfrm>
            <a:off x="10026651" y="468746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sp>
        <p:nvSpPr>
          <p:cNvPr id="17458" name="Text Box 35"/>
          <p:cNvSpPr txBox="1">
            <a:spLocks noChangeArrowheads="1"/>
          </p:cNvSpPr>
          <p:nvPr/>
        </p:nvSpPr>
        <p:spPr bwMode="auto">
          <a:xfrm>
            <a:off x="11264902" y="3506804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  <a:endParaRPr lang="en-US" sz="1600" i="1" dirty="0"/>
          </a:p>
        </p:txBody>
      </p:sp>
      <p:cxnSp>
        <p:nvCxnSpPr>
          <p:cNvPr id="17459" name="AutoShape 36"/>
          <p:cNvCxnSpPr>
            <a:cxnSpLocks noChangeShapeType="1"/>
            <a:stCxn id="17450" idx="2"/>
            <a:endCxn id="17458" idx="0"/>
          </p:cNvCxnSpPr>
          <p:nvPr/>
        </p:nvCxnSpPr>
        <p:spPr bwMode="auto">
          <a:xfrm>
            <a:off x="11423651" y="3452434"/>
            <a:ext cx="0" cy="5437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sp>
        <p:nvSpPr>
          <p:cNvPr id="17465" name="Text Box 38"/>
          <p:cNvSpPr txBox="1">
            <a:spLocks noChangeArrowheads="1"/>
          </p:cNvSpPr>
          <p:nvPr/>
        </p:nvSpPr>
        <p:spPr bwMode="auto">
          <a:xfrm>
            <a:off x="8280402" y="3540093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e</a:t>
            </a:r>
            <a:endParaRPr lang="en-US" sz="1600" i="1" dirty="0"/>
          </a:p>
        </p:txBody>
      </p:sp>
      <p:sp>
        <p:nvSpPr>
          <p:cNvPr id="17466" name="Text Box 39"/>
          <p:cNvSpPr txBox="1">
            <a:spLocks noChangeArrowheads="1"/>
          </p:cNvSpPr>
          <p:nvPr/>
        </p:nvSpPr>
        <p:spPr bwMode="auto">
          <a:xfrm>
            <a:off x="7772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  <a:endParaRPr lang="en-US" sz="1600" i="1" dirty="0"/>
          </a:p>
        </p:txBody>
      </p:sp>
      <p:sp>
        <p:nvSpPr>
          <p:cNvPr id="17467" name="Text Box 40"/>
          <p:cNvSpPr txBox="1">
            <a:spLocks noChangeArrowheads="1"/>
          </p:cNvSpPr>
          <p:nvPr/>
        </p:nvSpPr>
        <p:spPr bwMode="auto">
          <a:xfrm>
            <a:off x="79629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h</a:t>
            </a:r>
            <a:endParaRPr lang="en-US" sz="1600" i="1" dirty="0"/>
          </a:p>
        </p:txBody>
      </p:sp>
      <p:sp>
        <p:nvSpPr>
          <p:cNvPr id="17468" name="Text Box 41"/>
          <p:cNvSpPr txBox="1">
            <a:spLocks noChangeArrowheads="1"/>
          </p:cNvSpPr>
          <p:nvPr/>
        </p:nvSpPr>
        <p:spPr bwMode="auto">
          <a:xfrm>
            <a:off x="8534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f</a:t>
            </a:r>
            <a:endParaRPr lang="en-US" sz="1600" i="1" dirty="0"/>
          </a:p>
        </p:txBody>
      </p:sp>
      <p:sp>
        <p:nvSpPr>
          <p:cNvPr id="17469" name="Text Box 42"/>
          <p:cNvSpPr txBox="1">
            <a:spLocks noChangeArrowheads="1"/>
          </p:cNvSpPr>
          <p:nvPr/>
        </p:nvSpPr>
        <p:spPr bwMode="auto">
          <a:xfrm>
            <a:off x="8534402" y="3966195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r</a:t>
            </a:r>
            <a:endParaRPr lang="en-US" sz="1600" i="1" dirty="0"/>
          </a:p>
        </p:txBody>
      </p:sp>
      <p:sp>
        <p:nvSpPr>
          <p:cNvPr id="17470" name="Text Box 43"/>
          <p:cNvSpPr txBox="1">
            <a:spLocks noChangeArrowheads="1"/>
          </p:cNvSpPr>
          <p:nvPr/>
        </p:nvSpPr>
        <p:spPr bwMode="auto">
          <a:xfrm>
            <a:off x="8153402" y="4392296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  <a:endParaRPr lang="en-US" sz="1600" i="1" dirty="0"/>
          </a:p>
        </p:txBody>
      </p:sp>
      <p:sp>
        <p:nvSpPr>
          <p:cNvPr id="17471" name="Text Box 44"/>
          <p:cNvSpPr txBox="1">
            <a:spLocks noChangeArrowheads="1"/>
          </p:cNvSpPr>
          <p:nvPr/>
        </p:nvSpPr>
        <p:spPr bwMode="auto">
          <a:xfrm>
            <a:off x="7772402" y="4775121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  <a:endParaRPr lang="en-US" sz="1600" i="1" dirty="0"/>
          </a:p>
        </p:txBody>
      </p:sp>
      <p:sp>
        <p:nvSpPr>
          <p:cNvPr id="17472" name="Text Box 45"/>
          <p:cNvSpPr txBox="1">
            <a:spLocks noChangeArrowheads="1"/>
          </p:cNvSpPr>
          <p:nvPr/>
        </p:nvSpPr>
        <p:spPr bwMode="auto">
          <a:xfrm>
            <a:off x="8343902" y="4775121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  <a:endParaRPr lang="en-US" sz="1600" i="1" dirty="0"/>
          </a:p>
        </p:txBody>
      </p:sp>
      <p:sp>
        <p:nvSpPr>
          <p:cNvPr id="17473" name="Text Box 46"/>
          <p:cNvSpPr txBox="1">
            <a:spLocks noChangeArrowheads="1"/>
          </p:cNvSpPr>
          <p:nvPr/>
        </p:nvSpPr>
        <p:spPr bwMode="auto">
          <a:xfrm>
            <a:off x="8597900" y="4818397"/>
            <a:ext cx="6350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dirty="0">
                <a:solidFill>
                  <a:srgbClr val="CC0000"/>
                </a:solidFill>
              </a:rPr>
              <a:t>G</a:t>
            </a:r>
            <a:endParaRPr lang="en-US" sz="1600" b="1" dirty="0">
              <a:solidFill>
                <a:srgbClr val="CC0000"/>
              </a:solidFill>
            </a:endParaRPr>
          </a:p>
        </p:txBody>
      </p:sp>
      <p:sp>
        <p:nvSpPr>
          <p:cNvPr id="17474" name="Text Box 47"/>
          <p:cNvSpPr txBox="1">
            <a:spLocks noChangeArrowheads="1"/>
          </p:cNvSpPr>
          <p:nvPr/>
        </p:nvSpPr>
        <p:spPr bwMode="auto">
          <a:xfrm>
            <a:off x="8343902" y="5147960"/>
            <a:ext cx="317500" cy="338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  <a:endParaRPr lang="en-US" sz="1600" i="1" dirty="0"/>
          </a:p>
        </p:txBody>
      </p:sp>
      <p:cxnSp>
        <p:nvCxnSpPr>
          <p:cNvPr id="17475" name="AutoShape 48"/>
          <p:cNvCxnSpPr>
            <a:cxnSpLocks noChangeShapeType="1"/>
            <a:stCxn id="17465" idx="2"/>
            <a:endCxn id="17467" idx="0"/>
          </p:cNvCxnSpPr>
          <p:nvPr/>
        </p:nvCxnSpPr>
        <p:spPr bwMode="auto">
          <a:xfrm flipH="1">
            <a:off x="8121651" y="3878535"/>
            <a:ext cx="317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76" name="AutoShape 49"/>
          <p:cNvCxnSpPr>
            <a:cxnSpLocks noChangeShapeType="1"/>
            <a:stCxn id="17465" idx="2"/>
            <a:endCxn id="17469" idx="0"/>
          </p:cNvCxnSpPr>
          <p:nvPr/>
        </p:nvCxnSpPr>
        <p:spPr bwMode="auto">
          <a:xfrm>
            <a:off x="8439151" y="3878535"/>
            <a:ext cx="2540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77" name="AutoShape 50"/>
          <p:cNvCxnSpPr>
            <a:cxnSpLocks noChangeShapeType="1"/>
            <a:stCxn id="17467" idx="2"/>
            <a:endCxn id="17466" idx="0"/>
          </p:cNvCxnSpPr>
          <p:nvPr/>
        </p:nvCxnSpPr>
        <p:spPr bwMode="auto">
          <a:xfrm flipH="1">
            <a:off x="7931151" y="430463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78" name="AutoShape 51"/>
          <p:cNvCxnSpPr>
            <a:cxnSpLocks noChangeShapeType="1"/>
            <a:stCxn id="17467" idx="2"/>
            <a:endCxn id="17470" idx="0"/>
          </p:cNvCxnSpPr>
          <p:nvPr/>
        </p:nvCxnSpPr>
        <p:spPr bwMode="auto">
          <a:xfrm>
            <a:off x="8121651" y="4304636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79" name="AutoShape 52"/>
          <p:cNvCxnSpPr>
            <a:cxnSpLocks noChangeShapeType="1"/>
            <a:stCxn id="17469" idx="2"/>
            <a:endCxn id="17468" idx="0"/>
          </p:cNvCxnSpPr>
          <p:nvPr/>
        </p:nvCxnSpPr>
        <p:spPr bwMode="auto">
          <a:xfrm>
            <a:off x="8693151" y="4304636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80" name="AutoShape 53"/>
          <p:cNvCxnSpPr>
            <a:cxnSpLocks noChangeShapeType="1"/>
            <a:stCxn id="17466" idx="2"/>
            <a:endCxn id="17471" idx="0"/>
          </p:cNvCxnSpPr>
          <p:nvPr/>
        </p:nvCxnSpPr>
        <p:spPr bwMode="auto">
          <a:xfrm>
            <a:off x="7931151" y="4730737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81" name="AutoShape 54"/>
          <p:cNvCxnSpPr>
            <a:cxnSpLocks noChangeShapeType="1"/>
            <a:stCxn id="17468" idx="2"/>
            <a:endCxn id="17472" idx="0"/>
          </p:cNvCxnSpPr>
          <p:nvPr/>
        </p:nvCxnSpPr>
        <p:spPr bwMode="auto">
          <a:xfrm flipH="1">
            <a:off x="8502651" y="4730737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82" name="AutoShape 55"/>
          <p:cNvCxnSpPr>
            <a:cxnSpLocks noChangeShapeType="1"/>
            <a:stCxn id="17468" idx="2"/>
            <a:endCxn id="17473" idx="0"/>
          </p:cNvCxnSpPr>
          <p:nvPr/>
        </p:nvCxnSpPr>
        <p:spPr bwMode="auto">
          <a:xfrm>
            <a:off x="8693149" y="4730736"/>
            <a:ext cx="222251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83" name="AutoShape 56"/>
          <p:cNvCxnSpPr>
            <a:cxnSpLocks noChangeShapeType="1"/>
            <a:stCxn id="17472" idx="2"/>
            <a:endCxn id="17474" idx="0"/>
          </p:cNvCxnSpPr>
          <p:nvPr/>
        </p:nvCxnSpPr>
        <p:spPr bwMode="auto">
          <a:xfrm>
            <a:off x="8502651" y="5113563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61" name="AutoShape 57"/>
          <p:cNvCxnSpPr>
            <a:cxnSpLocks noChangeShapeType="1"/>
            <a:stCxn id="17449" idx="2"/>
            <a:endCxn id="17465" idx="0"/>
          </p:cNvCxnSpPr>
          <p:nvPr/>
        </p:nvCxnSpPr>
        <p:spPr bwMode="auto">
          <a:xfrm>
            <a:off x="7613651" y="3505697"/>
            <a:ext cx="82550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62" name="AutoShape 58"/>
          <p:cNvCxnSpPr>
            <a:cxnSpLocks noChangeShapeType="1"/>
            <a:stCxn id="17446" idx="2"/>
            <a:endCxn id="17449" idx="0"/>
          </p:cNvCxnSpPr>
          <p:nvPr/>
        </p:nvCxnSpPr>
        <p:spPr bwMode="auto">
          <a:xfrm flipH="1">
            <a:off x="7613651" y="3015882"/>
            <a:ext cx="2032000" cy="1513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63" name="AutoShape 59"/>
          <p:cNvCxnSpPr>
            <a:cxnSpLocks noChangeShapeType="1"/>
            <a:stCxn id="17446" idx="2"/>
            <a:endCxn id="17484" idx="0"/>
          </p:cNvCxnSpPr>
          <p:nvPr/>
        </p:nvCxnSpPr>
        <p:spPr bwMode="auto">
          <a:xfrm>
            <a:off x="9645651" y="3015880"/>
            <a:ext cx="2667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cxnSp>
        <p:nvCxnSpPr>
          <p:cNvPr id="17464" name="AutoShape 60"/>
          <p:cNvCxnSpPr>
            <a:cxnSpLocks noChangeShapeType="1"/>
            <a:stCxn id="17446" idx="2"/>
            <a:endCxn id="17450" idx="0"/>
          </p:cNvCxnSpPr>
          <p:nvPr/>
        </p:nvCxnSpPr>
        <p:spPr bwMode="auto">
          <a:xfrm>
            <a:off x="9645651" y="3015880"/>
            <a:ext cx="17780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</a:ln>
        </p:spPr>
      </p:cxnSp>
      <p:grpSp>
        <p:nvGrpSpPr>
          <p:cNvPr id="17416" name="Group 62"/>
          <p:cNvGrpSpPr/>
          <p:nvPr/>
        </p:nvGrpSpPr>
        <p:grpSpPr bwMode="auto">
          <a:xfrm>
            <a:off x="681037" y="3124200"/>
            <a:ext cx="3205163" cy="1768475"/>
            <a:chOff x="336" y="576"/>
            <a:chExt cx="4848" cy="2784"/>
          </a:xfrm>
        </p:grpSpPr>
        <p:sp>
          <p:nvSpPr>
            <p:cNvPr id="17418" name="AutoShape 63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/>
                <a:t>S</a:t>
              </a:r>
              <a:endParaRPr lang="en-US"/>
            </a:p>
          </p:txBody>
        </p:sp>
        <p:sp>
          <p:nvSpPr>
            <p:cNvPr id="17419" name="AutoShape 64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G</a:t>
              </a:r>
              <a:endParaRPr lang="en-US" dirty="0"/>
            </a:p>
          </p:txBody>
        </p:sp>
        <p:sp>
          <p:nvSpPr>
            <p:cNvPr id="17420" name="AutoShape 65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d</a:t>
              </a:r>
              <a:endParaRPr lang="en-US" sz="1500" i="1" dirty="0"/>
            </a:p>
          </p:txBody>
        </p:sp>
        <p:sp>
          <p:nvSpPr>
            <p:cNvPr id="17421" name="AutoShape 66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b</a:t>
              </a:r>
              <a:endParaRPr lang="en-US" sz="1500" i="1" dirty="0"/>
            </a:p>
          </p:txBody>
        </p:sp>
        <p:sp>
          <p:nvSpPr>
            <p:cNvPr id="17422" name="AutoShape 67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p</a:t>
              </a:r>
              <a:endParaRPr lang="en-US" sz="1500" i="1" dirty="0"/>
            </a:p>
          </p:txBody>
        </p:sp>
        <p:sp>
          <p:nvSpPr>
            <p:cNvPr id="17423" name="AutoShape 68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q</a:t>
              </a:r>
              <a:endParaRPr lang="en-US" sz="1500" i="1" dirty="0"/>
            </a:p>
          </p:txBody>
        </p:sp>
        <p:sp>
          <p:nvSpPr>
            <p:cNvPr id="17424" name="AutoShape 69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c</a:t>
              </a:r>
              <a:endParaRPr lang="en-US" sz="1500" i="1" dirty="0"/>
            </a:p>
          </p:txBody>
        </p:sp>
        <p:sp>
          <p:nvSpPr>
            <p:cNvPr id="17425" name="AutoShape 70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e</a:t>
              </a:r>
              <a:endParaRPr lang="en-US" sz="1500" i="1" dirty="0"/>
            </a:p>
          </p:txBody>
        </p:sp>
        <p:sp>
          <p:nvSpPr>
            <p:cNvPr id="17426" name="AutoShape 71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h</a:t>
              </a:r>
              <a:endParaRPr lang="en-US" sz="1500" i="1" dirty="0"/>
            </a:p>
          </p:txBody>
        </p:sp>
        <p:sp>
          <p:nvSpPr>
            <p:cNvPr id="17427" name="AutoShape 72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a</a:t>
              </a:r>
              <a:endParaRPr lang="en-US" sz="1500" i="1" dirty="0"/>
            </a:p>
          </p:txBody>
        </p:sp>
        <p:sp>
          <p:nvSpPr>
            <p:cNvPr id="17428" name="AutoShape 73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f</a:t>
              </a:r>
              <a:endParaRPr lang="en-US" sz="1500" i="1" dirty="0"/>
            </a:p>
          </p:txBody>
        </p:sp>
        <p:sp>
          <p:nvSpPr>
            <p:cNvPr id="17429" name="AutoShape 74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r</a:t>
              </a:r>
              <a:endParaRPr lang="en-US" sz="1500" i="1" dirty="0"/>
            </a:p>
          </p:txBody>
        </p:sp>
        <p:cxnSp>
          <p:nvCxnSpPr>
            <p:cNvPr id="17430" name="AutoShape 75"/>
            <p:cNvCxnSpPr>
              <a:cxnSpLocks noChangeShapeType="1"/>
              <a:stCxn id="17418" idx="5"/>
              <a:endCxn id="17422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7431" name="AutoShape 76"/>
            <p:cNvCxnSpPr>
              <a:cxnSpLocks noChangeShapeType="1"/>
              <a:stCxn id="17422" idx="5"/>
              <a:endCxn id="17423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7432" name="AutoShape 77"/>
            <p:cNvCxnSpPr>
              <a:cxnSpLocks noChangeShapeType="1"/>
              <a:stCxn id="17426" idx="3"/>
              <a:endCxn id="17423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7433" name="AutoShape 78"/>
            <p:cNvCxnSpPr>
              <a:cxnSpLocks noChangeShapeType="1"/>
              <a:stCxn id="17426" idx="2"/>
              <a:endCxn id="17422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7434" name="AutoShape 79"/>
            <p:cNvCxnSpPr>
              <a:cxnSpLocks noChangeShapeType="1"/>
              <a:stCxn id="17425" idx="4"/>
              <a:endCxn id="17426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7435" name="AutoShape 80"/>
            <p:cNvCxnSpPr>
              <a:cxnSpLocks noChangeShapeType="1"/>
              <a:stCxn id="17425" idx="5"/>
              <a:endCxn id="17429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</p:spPr>
        </p:cxnSp>
        <p:cxnSp>
          <p:nvCxnSpPr>
            <p:cNvPr id="17436" name="AutoShape 81"/>
            <p:cNvCxnSpPr>
              <a:cxnSpLocks noChangeShapeType="1"/>
              <a:stCxn id="17429" idx="0"/>
              <a:endCxn id="17428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</p:spPr>
        </p:cxnSp>
        <p:cxnSp>
          <p:nvCxnSpPr>
            <p:cNvPr id="17437" name="AutoShape 82"/>
            <p:cNvCxnSpPr>
              <a:cxnSpLocks noChangeShapeType="1"/>
              <a:stCxn id="17428" idx="0"/>
              <a:endCxn id="17419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</p:spPr>
        </p:cxnSp>
        <p:cxnSp>
          <p:nvCxnSpPr>
            <p:cNvPr id="17438" name="AutoShape 83"/>
            <p:cNvCxnSpPr>
              <a:cxnSpLocks noChangeShapeType="1"/>
              <a:stCxn id="17418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</p:spPr>
        </p:cxnSp>
        <p:cxnSp>
          <p:nvCxnSpPr>
            <p:cNvPr id="17439" name="AutoShape 84"/>
            <p:cNvCxnSpPr>
              <a:cxnSpLocks noChangeShapeType="1"/>
              <a:stCxn id="17420" idx="1"/>
              <a:endCxn id="17421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7440" name="AutoShape 85"/>
            <p:cNvCxnSpPr>
              <a:cxnSpLocks noChangeShapeType="1"/>
              <a:endCxn id="17427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7441" name="AutoShape 86"/>
            <p:cNvCxnSpPr>
              <a:cxnSpLocks noChangeShapeType="1"/>
              <a:stCxn id="17424" idx="2"/>
              <a:endCxn id="17427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7442" name="AutoShape 87"/>
            <p:cNvCxnSpPr>
              <a:cxnSpLocks noChangeShapeType="1"/>
              <a:stCxn id="17420" idx="7"/>
              <a:endCxn id="17424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7443" name="AutoShape 88"/>
            <p:cNvCxnSpPr>
              <a:cxnSpLocks noChangeShapeType="1"/>
              <a:stCxn id="17420" idx="6"/>
              <a:endCxn id="17425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</p:spPr>
        </p:cxnSp>
        <p:cxnSp>
          <p:nvCxnSpPr>
            <p:cNvPr id="17444" name="AutoShape 89"/>
            <p:cNvCxnSpPr>
              <a:cxnSpLocks noChangeShapeType="1"/>
              <a:stCxn id="17428" idx="1"/>
              <a:endCxn id="17424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17445" name="AutoShape 90"/>
            <p:cNvCxnSpPr>
              <a:cxnSpLocks noChangeShapeType="1"/>
              <a:stCxn id="17418" idx="6"/>
              <a:endCxn id="17425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</p:cxnSp>
      </p:grpSp>
      <p:sp>
        <p:nvSpPr>
          <p:cNvPr id="17413" name="Text Box 92"/>
          <p:cNvSpPr txBox="1">
            <a:spLocks noChangeArrowheads="1"/>
          </p:cNvSpPr>
          <p:nvPr/>
        </p:nvSpPr>
        <p:spPr bwMode="auto">
          <a:xfrm>
            <a:off x="4495800" y="4133678"/>
            <a:ext cx="2068512" cy="920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uFillTx/>
                <a:latin typeface="Calibri" panose="020F0502020204030204" pitchFamily="34" charset="0"/>
              </a:rPr>
              <a:t>我们按需构建这两者</a:t>
            </a:r>
            <a:r>
              <a:rPr lang="en-US" altLang="zh-CN" dirty="0">
                <a:solidFill>
                  <a:schemeClr val="tx1"/>
                </a:solidFill>
                <a:uFillTx/>
                <a:latin typeface="Calibri" panose="020F0502020204030204" pitchFamily="34" charset="0"/>
              </a:rPr>
              <a:t>——</a:t>
            </a:r>
            <a:r>
              <a:rPr lang="zh-CN" altLang="en-US" dirty="0">
                <a:solidFill>
                  <a:schemeClr val="tx1"/>
                </a:solidFill>
                <a:uFillTx/>
                <a:latin typeface="Calibri" panose="020F0502020204030204" pitchFamily="34" charset="0"/>
              </a:rPr>
              <a:t>并且尽可能少地进行构建</a:t>
            </a:r>
            <a:endParaRPr lang="zh-CN" altLang="en-US" dirty="0">
              <a:solidFill>
                <a:schemeClr val="tx1"/>
              </a:solidFill>
              <a:uFillTx/>
              <a:latin typeface="Calibri" panose="020F0502020204030204" pitchFamily="34" charset="0"/>
            </a:endParaRPr>
          </a:p>
        </p:txBody>
      </p:sp>
      <p:sp>
        <p:nvSpPr>
          <p:cNvPr id="17415" name="Text Box 94"/>
          <p:cNvSpPr txBox="1">
            <a:spLocks noChangeArrowheads="1"/>
          </p:cNvSpPr>
          <p:nvPr/>
        </p:nvSpPr>
        <p:spPr bwMode="auto">
          <a:xfrm>
            <a:off x="4572000" y="1905002"/>
            <a:ext cx="1981200" cy="1197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latin typeface="Calibri" panose="020F0502020204030204" pitchFamily="34" charset="0"/>
              </a:rPr>
              <a:t>搜索树中的每个节点</a:t>
            </a:r>
            <a:r>
              <a:rPr lang="en-US" altLang="zh-CN" dirty="0">
                <a:latin typeface="Calibri" panose="020F0502020204030204" pitchFamily="34" charset="0"/>
              </a:rPr>
              <a:t> (NODE) </a:t>
            </a:r>
            <a:r>
              <a:rPr lang="zh-CN" altLang="en-US" dirty="0">
                <a:latin typeface="Calibri" panose="020F0502020204030204" pitchFamily="34" charset="0"/>
              </a:rPr>
              <a:t>都对应状态空间图中的一条完整路径</a:t>
            </a:r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870700" y="2086107"/>
            <a:ext cx="4876800" cy="52070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800" dirty="0">
                <a:latin typeface="Calibri" panose="020F0502020204030204" pitchFamily="34" charset="0"/>
              </a:rPr>
              <a:t>搜索树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09600" y="1981202"/>
            <a:ext cx="3429000" cy="52070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800" dirty="0">
                <a:latin typeface="Calibri" panose="020F0502020204030204" pitchFamily="34" charset="0"/>
              </a:rPr>
              <a:t>状态空间图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Quiz: State Space Graphs vs. Search Trees</a:t>
            </a:r>
            <a:endParaRPr lang="en-US" dirty="0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6002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sz="1600" b="1" dirty="0"/>
              <a:t>S</a:t>
            </a:r>
            <a:endParaRPr lang="en-US" sz="1600" b="1" dirty="0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6576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b="1"/>
              <a:t>G</a:t>
            </a:r>
            <a:endParaRPr lang="en-US" b="1"/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590800" y="43569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b</a:t>
            </a:r>
            <a:endParaRPr lang="en-US" i="1"/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590800" y="26805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a</a:t>
            </a:r>
            <a:endParaRPr lang="en-US" i="1"/>
          </a:p>
        </p:txBody>
      </p:sp>
      <p:cxnSp>
        <p:nvCxnSpPr>
          <p:cNvPr id="17" name="AutoShape 17"/>
          <p:cNvCxnSpPr>
            <a:cxnSpLocks noChangeShapeType="1"/>
            <a:stCxn id="5" idx="5"/>
            <a:endCxn id="8" idx="2"/>
          </p:cNvCxnSpPr>
          <p:nvPr/>
        </p:nvCxnSpPr>
        <p:spPr bwMode="auto">
          <a:xfrm>
            <a:off x="1973701" y="3897425"/>
            <a:ext cx="6170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lg" len="lg"/>
          </a:ln>
        </p:spPr>
      </p:cxnSp>
      <p:cxnSp>
        <p:nvCxnSpPr>
          <p:cNvPr id="21" name="AutoShape 21"/>
          <p:cNvCxnSpPr>
            <a:cxnSpLocks noChangeShapeType="1"/>
            <a:stCxn id="14" idx="3"/>
            <a:endCxn id="8" idx="1"/>
          </p:cNvCxnSpPr>
          <p:nvPr/>
        </p:nvCxnSpPr>
        <p:spPr bwMode="auto">
          <a:xfrm>
            <a:off x="2654883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lg" len="lg"/>
          </a:ln>
        </p:spPr>
      </p:cxnSp>
      <p:cxnSp>
        <p:nvCxnSpPr>
          <p:cNvPr id="23" name="AutoShape 23"/>
          <p:cNvCxnSpPr>
            <a:cxnSpLocks noChangeShapeType="1"/>
            <a:stCxn id="8" idx="7"/>
            <a:endCxn id="14" idx="5"/>
          </p:cNvCxnSpPr>
          <p:nvPr/>
        </p:nvCxnSpPr>
        <p:spPr bwMode="auto">
          <a:xfrm flipV="1">
            <a:off x="2964301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4" idx="6"/>
            <a:endCxn id="6" idx="1"/>
          </p:cNvCxnSpPr>
          <p:nvPr/>
        </p:nvCxnSpPr>
        <p:spPr bwMode="auto">
          <a:xfrm>
            <a:off x="3028385" y="2902363"/>
            <a:ext cx="6932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lg" len="lg"/>
          </a:ln>
        </p:spPr>
      </p:cxnSp>
      <p:cxnSp>
        <p:nvCxnSpPr>
          <p:cNvPr id="26" name="AutoShape 26"/>
          <p:cNvCxnSpPr>
            <a:cxnSpLocks noChangeShapeType="1"/>
            <a:stCxn id="8" idx="6"/>
            <a:endCxn id="6" idx="3"/>
          </p:cNvCxnSpPr>
          <p:nvPr/>
        </p:nvCxnSpPr>
        <p:spPr bwMode="auto">
          <a:xfrm flipV="1">
            <a:off x="3028385" y="3897425"/>
            <a:ext cx="6932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lg" len="lg"/>
          </a:ln>
        </p:spPr>
      </p:cxnSp>
      <p:cxnSp>
        <p:nvCxnSpPr>
          <p:cNvPr id="27" name="AutoShape 27"/>
          <p:cNvCxnSpPr>
            <a:cxnSpLocks noChangeShapeType="1"/>
            <a:stCxn id="5" idx="7"/>
            <a:endCxn id="14" idx="2"/>
          </p:cNvCxnSpPr>
          <p:nvPr/>
        </p:nvCxnSpPr>
        <p:spPr bwMode="auto">
          <a:xfrm flipV="1">
            <a:off x="1973701" y="2902363"/>
            <a:ext cx="6170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triangle" w="lg" len="lg"/>
          </a:ln>
        </p:spPr>
      </p:cxnSp>
      <p:sp>
        <p:nvSpPr>
          <p:cNvPr id="54" name="TextBox 53"/>
          <p:cNvSpPr txBox="1"/>
          <p:nvPr/>
        </p:nvSpPr>
        <p:spPr>
          <a:xfrm>
            <a:off x="1219200" y="1671939"/>
            <a:ext cx="3886200" cy="459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2400" dirty="0">
                <a:latin typeface="Calibri" panose="020F0502020204030204" pitchFamily="34" charset="0"/>
              </a:rPr>
              <a:t>考虑这个包含</a:t>
            </a:r>
            <a:r>
              <a:rPr lang="en-US" altLang="zh-CN" sz="2400" dirty="0">
                <a:latin typeface="Calibri" panose="020F0502020204030204" pitchFamily="34" charset="0"/>
              </a:rPr>
              <a:t> 4 </a:t>
            </a:r>
            <a:r>
              <a:rPr lang="zh-CN" altLang="en-US" sz="2400" dirty="0">
                <a:latin typeface="Calibri" panose="020F0502020204030204" pitchFamily="34" charset="0"/>
              </a:rPr>
              <a:t>个状态的图：</a:t>
            </a:r>
            <a:endParaRPr lang="zh-CN" altLang="en-US" sz="2400" dirty="0">
              <a:latin typeface="Calibri" panose="020F050202020403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0" y="5393009"/>
            <a:ext cx="12192000" cy="52070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800" dirty="0">
                <a:latin typeface="Calibri" panose="020F0502020204030204" pitchFamily="34" charset="0"/>
              </a:rPr>
              <a:t>重要提示：搜索树中存在大量重复结构！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77000" y="1676400"/>
            <a:ext cx="5105400" cy="459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2400" dirty="0">
                <a:latin typeface="Calibri" panose="020F0502020204030204" pitchFamily="34" charset="0"/>
              </a:rPr>
              <a:t>其搜索树（从</a:t>
            </a:r>
            <a:r>
              <a:rPr lang="en-US" altLang="zh-CN" sz="2400" dirty="0">
                <a:latin typeface="Calibri" panose="020F0502020204030204" pitchFamily="34" charset="0"/>
              </a:rPr>
              <a:t> S </a:t>
            </a:r>
            <a:r>
              <a:rPr lang="zh-CN" altLang="en-US" sz="2400" dirty="0">
                <a:latin typeface="Calibri" panose="020F0502020204030204" pitchFamily="34" charset="0"/>
              </a:rPr>
              <a:t>开始）有多大？</a:t>
            </a:r>
            <a:endParaRPr lang="zh-CN" altLang="en-US" sz="2400" dirty="0">
              <a:latin typeface="Calibri" panose="020F0502020204030204" pitchFamily="34" charset="0"/>
            </a:endParaRPr>
          </a:p>
        </p:txBody>
      </p:sp>
      <p:pic>
        <p:nvPicPr>
          <p:cNvPr id="59" name="Picture 5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7848600" y="3124200"/>
            <a:ext cx="1879854" cy="9342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Tree Search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4029" y="1450961"/>
            <a:ext cx="4017746" cy="4260878"/>
          </a:xfrm>
          <a:prstGeom prst="rect">
            <a:avLst/>
          </a:prstGeom>
          <a:noFill/>
        </p:spPr>
      </p:pic>
      <p:sp>
        <p:nvSpPr>
          <p:cNvPr id="7" name="Freeform 6"/>
          <p:cNvSpPr/>
          <p:nvPr/>
        </p:nvSpPr>
        <p:spPr>
          <a:xfrm>
            <a:off x="3669325" y="3614614"/>
            <a:ext cx="5030176" cy="2170723"/>
          </a:xfrm>
          <a:custGeom>
            <a:avLst/>
            <a:gdLst>
              <a:gd name="connsiteX0" fmla="*/ 542192 w 4618893"/>
              <a:gd name="connsiteY0" fmla="*/ 1100505 h 2384182"/>
              <a:gd name="connsiteX1" fmla="*/ 14654 w 4618893"/>
              <a:gd name="connsiteY1" fmla="*/ 1698382 h 2384182"/>
              <a:gd name="connsiteX2" fmla="*/ 454269 w 4618893"/>
              <a:gd name="connsiteY2" fmla="*/ 2287466 h 2384182"/>
              <a:gd name="connsiteX3" fmla="*/ 2036885 w 4618893"/>
              <a:gd name="connsiteY3" fmla="*/ 2225920 h 2384182"/>
              <a:gd name="connsiteX4" fmla="*/ 2256692 w 4618893"/>
              <a:gd name="connsiteY4" fmla="*/ 1337897 h 2384182"/>
              <a:gd name="connsiteX5" fmla="*/ 2916115 w 4618893"/>
              <a:gd name="connsiteY5" fmla="*/ 1170843 h 2384182"/>
              <a:gd name="connsiteX6" fmla="*/ 3223846 w 4618893"/>
              <a:gd name="connsiteY6" fmla="*/ 2155582 h 2384182"/>
              <a:gd name="connsiteX7" fmla="*/ 4437185 w 4618893"/>
              <a:gd name="connsiteY7" fmla="*/ 2111620 h 2384182"/>
              <a:gd name="connsiteX8" fmla="*/ 4314092 w 4618893"/>
              <a:gd name="connsiteY8" fmla="*/ 907074 h 2384182"/>
              <a:gd name="connsiteX9" fmla="*/ 2898531 w 4618893"/>
              <a:gd name="connsiteY9" fmla="*/ 89389 h 2384182"/>
              <a:gd name="connsiteX10" fmla="*/ 1843454 w 4618893"/>
              <a:gd name="connsiteY10" fmla="*/ 370743 h 2384182"/>
              <a:gd name="connsiteX11" fmla="*/ 1852246 w 4618893"/>
              <a:gd name="connsiteY11" fmla="*/ 1100505 h 2384182"/>
              <a:gd name="connsiteX12" fmla="*/ 542192 w 4618893"/>
              <a:gd name="connsiteY12" fmla="*/ 1100505 h 2384182"/>
              <a:gd name="connsiteX0-1" fmla="*/ 542192 w 4618893"/>
              <a:gd name="connsiteY0-2" fmla="*/ 866043 h 2149720"/>
              <a:gd name="connsiteX1-3" fmla="*/ 14654 w 4618893"/>
              <a:gd name="connsiteY1-4" fmla="*/ 1463920 h 2149720"/>
              <a:gd name="connsiteX2-5" fmla="*/ 454269 w 4618893"/>
              <a:gd name="connsiteY2-6" fmla="*/ 2053004 h 2149720"/>
              <a:gd name="connsiteX3-7" fmla="*/ 2036885 w 4618893"/>
              <a:gd name="connsiteY3-8" fmla="*/ 1991458 h 2149720"/>
              <a:gd name="connsiteX4-9" fmla="*/ 2256692 w 4618893"/>
              <a:gd name="connsiteY4-10" fmla="*/ 1103435 h 2149720"/>
              <a:gd name="connsiteX5-11" fmla="*/ 2916115 w 4618893"/>
              <a:gd name="connsiteY5-12" fmla="*/ 936381 h 2149720"/>
              <a:gd name="connsiteX6-13" fmla="*/ 3223846 w 4618893"/>
              <a:gd name="connsiteY6-14" fmla="*/ 1921120 h 2149720"/>
              <a:gd name="connsiteX7-15" fmla="*/ 4437185 w 4618893"/>
              <a:gd name="connsiteY7-16" fmla="*/ 1877158 h 2149720"/>
              <a:gd name="connsiteX8-17" fmla="*/ 4314092 w 4618893"/>
              <a:gd name="connsiteY8-18" fmla="*/ 672612 h 2149720"/>
              <a:gd name="connsiteX9-19" fmla="*/ 2655277 w 4618893"/>
              <a:gd name="connsiteY9-20" fmla="*/ 89389 h 2149720"/>
              <a:gd name="connsiteX10-21" fmla="*/ 1843454 w 4618893"/>
              <a:gd name="connsiteY10-22" fmla="*/ 136281 h 2149720"/>
              <a:gd name="connsiteX11-23" fmla="*/ 1852246 w 4618893"/>
              <a:gd name="connsiteY11-24" fmla="*/ 866043 h 2149720"/>
              <a:gd name="connsiteX12-25" fmla="*/ 542192 w 4618893"/>
              <a:gd name="connsiteY12-26" fmla="*/ 866043 h 2149720"/>
              <a:gd name="connsiteX0-27" fmla="*/ 542192 w 4618893"/>
              <a:gd name="connsiteY0-28" fmla="*/ 866043 h 2149720"/>
              <a:gd name="connsiteX1-29" fmla="*/ 14654 w 4618893"/>
              <a:gd name="connsiteY1-30" fmla="*/ 1463920 h 2149720"/>
              <a:gd name="connsiteX2-31" fmla="*/ 454269 w 4618893"/>
              <a:gd name="connsiteY2-32" fmla="*/ 2053004 h 2149720"/>
              <a:gd name="connsiteX3-33" fmla="*/ 2036885 w 4618893"/>
              <a:gd name="connsiteY3-34" fmla="*/ 1991458 h 2149720"/>
              <a:gd name="connsiteX4-35" fmla="*/ 2256692 w 4618893"/>
              <a:gd name="connsiteY4-36" fmla="*/ 1103435 h 2149720"/>
              <a:gd name="connsiteX5-37" fmla="*/ 2883877 w 4618893"/>
              <a:gd name="connsiteY5-38" fmla="*/ 1384789 h 2149720"/>
              <a:gd name="connsiteX6-39" fmla="*/ 3223846 w 4618893"/>
              <a:gd name="connsiteY6-40" fmla="*/ 1921120 h 2149720"/>
              <a:gd name="connsiteX7-41" fmla="*/ 4437185 w 4618893"/>
              <a:gd name="connsiteY7-42" fmla="*/ 1877158 h 2149720"/>
              <a:gd name="connsiteX8-43" fmla="*/ 4314092 w 4618893"/>
              <a:gd name="connsiteY8-44" fmla="*/ 672612 h 2149720"/>
              <a:gd name="connsiteX9-45" fmla="*/ 2655277 w 4618893"/>
              <a:gd name="connsiteY9-46" fmla="*/ 89389 h 2149720"/>
              <a:gd name="connsiteX10-47" fmla="*/ 1843454 w 4618893"/>
              <a:gd name="connsiteY10-48" fmla="*/ 136281 h 2149720"/>
              <a:gd name="connsiteX11-49" fmla="*/ 1852246 w 4618893"/>
              <a:gd name="connsiteY11-50" fmla="*/ 866043 h 2149720"/>
              <a:gd name="connsiteX12-51" fmla="*/ 542192 w 4618893"/>
              <a:gd name="connsiteY12-52" fmla="*/ 866043 h 2149720"/>
              <a:gd name="connsiteX0-53" fmla="*/ 542192 w 4618893"/>
              <a:gd name="connsiteY0-54" fmla="*/ 866043 h 2140927"/>
              <a:gd name="connsiteX1-55" fmla="*/ 14654 w 4618893"/>
              <a:gd name="connsiteY1-56" fmla="*/ 1463920 h 2140927"/>
              <a:gd name="connsiteX2-57" fmla="*/ 454269 w 4618893"/>
              <a:gd name="connsiteY2-58" fmla="*/ 2053004 h 2140927"/>
              <a:gd name="connsiteX3-59" fmla="*/ 2036885 w 4618893"/>
              <a:gd name="connsiteY3-60" fmla="*/ 1991458 h 2140927"/>
              <a:gd name="connsiteX4-61" fmla="*/ 2350477 w 4618893"/>
              <a:gd name="connsiteY4-62" fmla="*/ 1537189 h 2140927"/>
              <a:gd name="connsiteX5-63" fmla="*/ 2883877 w 4618893"/>
              <a:gd name="connsiteY5-64" fmla="*/ 1384789 h 2140927"/>
              <a:gd name="connsiteX6-65" fmla="*/ 3223846 w 4618893"/>
              <a:gd name="connsiteY6-66" fmla="*/ 1921120 h 2140927"/>
              <a:gd name="connsiteX7-67" fmla="*/ 4437185 w 4618893"/>
              <a:gd name="connsiteY7-68" fmla="*/ 1877158 h 2140927"/>
              <a:gd name="connsiteX8-69" fmla="*/ 4314092 w 4618893"/>
              <a:gd name="connsiteY8-70" fmla="*/ 672612 h 2140927"/>
              <a:gd name="connsiteX9-71" fmla="*/ 2655277 w 4618893"/>
              <a:gd name="connsiteY9-72" fmla="*/ 89389 h 2140927"/>
              <a:gd name="connsiteX10-73" fmla="*/ 1843454 w 4618893"/>
              <a:gd name="connsiteY10-74" fmla="*/ 136281 h 2140927"/>
              <a:gd name="connsiteX11-75" fmla="*/ 1852246 w 4618893"/>
              <a:gd name="connsiteY11-76" fmla="*/ 866043 h 2140927"/>
              <a:gd name="connsiteX12-77" fmla="*/ 542192 w 4618893"/>
              <a:gd name="connsiteY12-78" fmla="*/ 866043 h 2140927"/>
              <a:gd name="connsiteX0-79" fmla="*/ 542192 w 4618893"/>
              <a:gd name="connsiteY0-80" fmla="*/ 866043 h 2140927"/>
              <a:gd name="connsiteX1-81" fmla="*/ 14654 w 4618893"/>
              <a:gd name="connsiteY1-82" fmla="*/ 1463920 h 2140927"/>
              <a:gd name="connsiteX2-83" fmla="*/ 454269 w 4618893"/>
              <a:gd name="connsiteY2-84" fmla="*/ 2053004 h 2140927"/>
              <a:gd name="connsiteX3-85" fmla="*/ 2036885 w 4618893"/>
              <a:gd name="connsiteY3-86" fmla="*/ 1991458 h 2140927"/>
              <a:gd name="connsiteX4-87" fmla="*/ 2350477 w 4618893"/>
              <a:gd name="connsiteY4-88" fmla="*/ 1537189 h 2140927"/>
              <a:gd name="connsiteX5-89" fmla="*/ 2960077 w 4618893"/>
              <a:gd name="connsiteY5-90" fmla="*/ 1537190 h 2140927"/>
              <a:gd name="connsiteX6-91" fmla="*/ 3223846 w 4618893"/>
              <a:gd name="connsiteY6-92" fmla="*/ 1921120 h 2140927"/>
              <a:gd name="connsiteX7-93" fmla="*/ 4437185 w 4618893"/>
              <a:gd name="connsiteY7-94" fmla="*/ 1877158 h 2140927"/>
              <a:gd name="connsiteX8-95" fmla="*/ 4314092 w 4618893"/>
              <a:gd name="connsiteY8-96" fmla="*/ 672612 h 2140927"/>
              <a:gd name="connsiteX9-97" fmla="*/ 2655277 w 4618893"/>
              <a:gd name="connsiteY9-98" fmla="*/ 89389 h 2140927"/>
              <a:gd name="connsiteX10-99" fmla="*/ 1843454 w 4618893"/>
              <a:gd name="connsiteY10-100" fmla="*/ 136281 h 2140927"/>
              <a:gd name="connsiteX11-101" fmla="*/ 1852246 w 4618893"/>
              <a:gd name="connsiteY11-102" fmla="*/ 866043 h 2140927"/>
              <a:gd name="connsiteX12-103" fmla="*/ 542192 w 4618893"/>
              <a:gd name="connsiteY12-104" fmla="*/ 866043 h 2140927"/>
              <a:gd name="connsiteX0-105" fmla="*/ 542192 w 4618893"/>
              <a:gd name="connsiteY0-106" fmla="*/ 895839 h 2170723"/>
              <a:gd name="connsiteX1-107" fmla="*/ 14654 w 4618893"/>
              <a:gd name="connsiteY1-108" fmla="*/ 1493716 h 2170723"/>
              <a:gd name="connsiteX2-109" fmla="*/ 454269 w 4618893"/>
              <a:gd name="connsiteY2-110" fmla="*/ 2082800 h 2170723"/>
              <a:gd name="connsiteX3-111" fmla="*/ 2036885 w 4618893"/>
              <a:gd name="connsiteY3-112" fmla="*/ 2021254 h 2170723"/>
              <a:gd name="connsiteX4-113" fmla="*/ 2350477 w 4618893"/>
              <a:gd name="connsiteY4-114" fmla="*/ 1566985 h 2170723"/>
              <a:gd name="connsiteX5-115" fmla="*/ 2960077 w 4618893"/>
              <a:gd name="connsiteY5-116" fmla="*/ 1566986 h 2170723"/>
              <a:gd name="connsiteX6-117" fmla="*/ 3223846 w 4618893"/>
              <a:gd name="connsiteY6-118" fmla="*/ 1950916 h 2170723"/>
              <a:gd name="connsiteX7-119" fmla="*/ 4437185 w 4618893"/>
              <a:gd name="connsiteY7-120" fmla="*/ 1906954 h 2170723"/>
              <a:gd name="connsiteX8-121" fmla="*/ 4314092 w 4618893"/>
              <a:gd name="connsiteY8-122" fmla="*/ 702408 h 2170723"/>
              <a:gd name="connsiteX9-123" fmla="*/ 2807677 w 4618893"/>
              <a:gd name="connsiteY9-124" fmla="*/ 881186 h 2170723"/>
              <a:gd name="connsiteX10-125" fmla="*/ 2655277 w 4618893"/>
              <a:gd name="connsiteY10-126" fmla="*/ 119185 h 2170723"/>
              <a:gd name="connsiteX11-127" fmla="*/ 1843454 w 4618893"/>
              <a:gd name="connsiteY11-128" fmla="*/ 166077 h 2170723"/>
              <a:gd name="connsiteX12-129" fmla="*/ 1852246 w 4618893"/>
              <a:gd name="connsiteY12-130" fmla="*/ 895839 h 2170723"/>
              <a:gd name="connsiteX13" fmla="*/ 542192 w 4618893"/>
              <a:gd name="connsiteY13" fmla="*/ 895839 h 2170723"/>
              <a:gd name="connsiteX0-131" fmla="*/ 542192 w 4755662"/>
              <a:gd name="connsiteY0-132" fmla="*/ 895839 h 2170723"/>
              <a:gd name="connsiteX1-133" fmla="*/ 14654 w 4755662"/>
              <a:gd name="connsiteY1-134" fmla="*/ 1493716 h 2170723"/>
              <a:gd name="connsiteX2-135" fmla="*/ 454269 w 4755662"/>
              <a:gd name="connsiteY2-136" fmla="*/ 2082800 h 2170723"/>
              <a:gd name="connsiteX3-137" fmla="*/ 2036885 w 4755662"/>
              <a:gd name="connsiteY3-138" fmla="*/ 2021254 h 2170723"/>
              <a:gd name="connsiteX4-139" fmla="*/ 2350477 w 4755662"/>
              <a:gd name="connsiteY4-140" fmla="*/ 1566985 h 2170723"/>
              <a:gd name="connsiteX5-141" fmla="*/ 2960077 w 4755662"/>
              <a:gd name="connsiteY5-142" fmla="*/ 1566986 h 2170723"/>
              <a:gd name="connsiteX6-143" fmla="*/ 3223846 w 4755662"/>
              <a:gd name="connsiteY6-144" fmla="*/ 1950916 h 2170723"/>
              <a:gd name="connsiteX7-145" fmla="*/ 4437185 w 4755662"/>
              <a:gd name="connsiteY7-146" fmla="*/ 1906954 h 2170723"/>
              <a:gd name="connsiteX8-147" fmla="*/ 4484077 w 4755662"/>
              <a:gd name="connsiteY8-148" fmla="*/ 957386 h 2170723"/>
              <a:gd name="connsiteX9-149" fmla="*/ 2807677 w 4755662"/>
              <a:gd name="connsiteY9-150" fmla="*/ 881186 h 2170723"/>
              <a:gd name="connsiteX10-151" fmla="*/ 2655277 w 4755662"/>
              <a:gd name="connsiteY10-152" fmla="*/ 119185 h 2170723"/>
              <a:gd name="connsiteX11-153" fmla="*/ 1843454 w 4755662"/>
              <a:gd name="connsiteY11-154" fmla="*/ 166077 h 2170723"/>
              <a:gd name="connsiteX12-155" fmla="*/ 1852246 w 4755662"/>
              <a:gd name="connsiteY12-156" fmla="*/ 895839 h 2170723"/>
              <a:gd name="connsiteX13-157" fmla="*/ 542192 w 4755662"/>
              <a:gd name="connsiteY13-158" fmla="*/ 895839 h 2170723"/>
              <a:gd name="connsiteX0-159" fmla="*/ 542192 w 4984261"/>
              <a:gd name="connsiteY0-160" fmla="*/ 895839 h 2170723"/>
              <a:gd name="connsiteX1-161" fmla="*/ 14654 w 4984261"/>
              <a:gd name="connsiteY1-162" fmla="*/ 1493716 h 2170723"/>
              <a:gd name="connsiteX2-163" fmla="*/ 454269 w 4984261"/>
              <a:gd name="connsiteY2-164" fmla="*/ 2082800 h 2170723"/>
              <a:gd name="connsiteX3-165" fmla="*/ 2036885 w 4984261"/>
              <a:gd name="connsiteY3-166" fmla="*/ 2021254 h 2170723"/>
              <a:gd name="connsiteX4-167" fmla="*/ 2350477 w 4984261"/>
              <a:gd name="connsiteY4-168" fmla="*/ 1566985 h 2170723"/>
              <a:gd name="connsiteX5-169" fmla="*/ 2960077 w 4984261"/>
              <a:gd name="connsiteY5-170" fmla="*/ 1566986 h 2170723"/>
              <a:gd name="connsiteX6-171" fmla="*/ 3223846 w 4984261"/>
              <a:gd name="connsiteY6-172" fmla="*/ 1950916 h 2170723"/>
              <a:gd name="connsiteX7-173" fmla="*/ 4437185 w 4984261"/>
              <a:gd name="connsiteY7-174" fmla="*/ 1906954 h 2170723"/>
              <a:gd name="connsiteX8-175" fmla="*/ 4712676 w 4984261"/>
              <a:gd name="connsiteY8-176" fmla="*/ 957386 h 2170723"/>
              <a:gd name="connsiteX9-177" fmla="*/ 2807677 w 4984261"/>
              <a:gd name="connsiteY9-178" fmla="*/ 881186 h 2170723"/>
              <a:gd name="connsiteX10-179" fmla="*/ 2655277 w 4984261"/>
              <a:gd name="connsiteY10-180" fmla="*/ 119185 h 2170723"/>
              <a:gd name="connsiteX11-181" fmla="*/ 1843454 w 4984261"/>
              <a:gd name="connsiteY11-182" fmla="*/ 166077 h 2170723"/>
              <a:gd name="connsiteX12-183" fmla="*/ 1852246 w 4984261"/>
              <a:gd name="connsiteY12-184" fmla="*/ 895839 h 2170723"/>
              <a:gd name="connsiteX13-185" fmla="*/ 542192 w 4984261"/>
              <a:gd name="connsiteY13-186" fmla="*/ 895839 h 2170723"/>
              <a:gd name="connsiteX0-187" fmla="*/ 542192 w 5030176"/>
              <a:gd name="connsiteY0-188" fmla="*/ 895839 h 2170723"/>
              <a:gd name="connsiteX1-189" fmla="*/ 14654 w 5030176"/>
              <a:gd name="connsiteY1-190" fmla="*/ 1493716 h 2170723"/>
              <a:gd name="connsiteX2-191" fmla="*/ 454269 w 5030176"/>
              <a:gd name="connsiteY2-192" fmla="*/ 2082800 h 2170723"/>
              <a:gd name="connsiteX3-193" fmla="*/ 2036885 w 5030176"/>
              <a:gd name="connsiteY3-194" fmla="*/ 2021254 h 2170723"/>
              <a:gd name="connsiteX4-195" fmla="*/ 2350477 w 5030176"/>
              <a:gd name="connsiteY4-196" fmla="*/ 1566985 h 2170723"/>
              <a:gd name="connsiteX5-197" fmla="*/ 2960077 w 5030176"/>
              <a:gd name="connsiteY5-198" fmla="*/ 1566986 h 2170723"/>
              <a:gd name="connsiteX6-199" fmla="*/ 3223846 w 5030176"/>
              <a:gd name="connsiteY6-200" fmla="*/ 1950916 h 2170723"/>
              <a:gd name="connsiteX7-201" fmla="*/ 4712676 w 5030176"/>
              <a:gd name="connsiteY7-202" fmla="*/ 1871786 h 2170723"/>
              <a:gd name="connsiteX8-203" fmla="*/ 4712676 w 5030176"/>
              <a:gd name="connsiteY8-204" fmla="*/ 957386 h 2170723"/>
              <a:gd name="connsiteX9-205" fmla="*/ 2807677 w 5030176"/>
              <a:gd name="connsiteY9-206" fmla="*/ 881186 h 2170723"/>
              <a:gd name="connsiteX10-207" fmla="*/ 2655277 w 5030176"/>
              <a:gd name="connsiteY10-208" fmla="*/ 119185 h 2170723"/>
              <a:gd name="connsiteX11-209" fmla="*/ 1843454 w 5030176"/>
              <a:gd name="connsiteY11-210" fmla="*/ 166077 h 2170723"/>
              <a:gd name="connsiteX12-211" fmla="*/ 1852246 w 5030176"/>
              <a:gd name="connsiteY12-212" fmla="*/ 895839 h 2170723"/>
              <a:gd name="connsiteX13-213" fmla="*/ 542192 w 5030176"/>
              <a:gd name="connsiteY13-214" fmla="*/ 895839 h 2170723"/>
              <a:gd name="connsiteX0-215" fmla="*/ 542192 w 5030176"/>
              <a:gd name="connsiteY0-216" fmla="*/ 895839 h 2170723"/>
              <a:gd name="connsiteX1-217" fmla="*/ 14654 w 5030176"/>
              <a:gd name="connsiteY1-218" fmla="*/ 1493716 h 2170723"/>
              <a:gd name="connsiteX2-219" fmla="*/ 454269 w 5030176"/>
              <a:gd name="connsiteY2-220" fmla="*/ 2082800 h 2170723"/>
              <a:gd name="connsiteX3-221" fmla="*/ 2036885 w 5030176"/>
              <a:gd name="connsiteY3-222" fmla="*/ 2021254 h 2170723"/>
              <a:gd name="connsiteX4-223" fmla="*/ 2350475 w 5030176"/>
              <a:gd name="connsiteY4-224" fmla="*/ 1490786 h 2170723"/>
              <a:gd name="connsiteX5-225" fmla="*/ 2960077 w 5030176"/>
              <a:gd name="connsiteY5-226" fmla="*/ 1566986 h 2170723"/>
              <a:gd name="connsiteX6-227" fmla="*/ 3223846 w 5030176"/>
              <a:gd name="connsiteY6-228" fmla="*/ 1950916 h 2170723"/>
              <a:gd name="connsiteX7-229" fmla="*/ 4712676 w 5030176"/>
              <a:gd name="connsiteY7-230" fmla="*/ 1871786 h 2170723"/>
              <a:gd name="connsiteX8-231" fmla="*/ 4712676 w 5030176"/>
              <a:gd name="connsiteY8-232" fmla="*/ 957386 h 2170723"/>
              <a:gd name="connsiteX9-233" fmla="*/ 2807677 w 5030176"/>
              <a:gd name="connsiteY9-234" fmla="*/ 881186 h 2170723"/>
              <a:gd name="connsiteX10-235" fmla="*/ 2655277 w 5030176"/>
              <a:gd name="connsiteY10-236" fmla="*/ 119185 h 2170723"/>
              <a:gd name="connsiteX11-237" fmla="*/ 1843454 w 5030176"/>
              <a:gd name="connsiteY11-238" fmla="*/ 166077 h 2170723"/>
              <a:gd name="connsiteX12-239" fmla="*/ 1852246 w 5030176"/>
              <a:gd name="connsiteY12-240" fmla="*/ 895839 h 2170723"/>
              <a:gd name="connsiteX13-241" fmla="*/ 542192 w 5030176"/>
              <a:gd name="connsiteY13-242" fmla="*/ 895839 h 2170723"/>
              <a:gd name="connsiteX0-243" fmla="*/ 542192 w 5030176"/>
              <a:gd name="connsiteY0-244" fmla="*/ 895839 h 2170723"/>
              <a:gd name="connsiteX1-245" fmla="*/ 14654 w 5030176"/>
              <a:gd name="connsiteY1-246" fmla="*/ 1493716 h 2170723"/>
              <a:gd name="connsiteX2-247" fmla="*/ 454269 w 5030176"/>
              <a:gd name="connsiteY2-248" fmla="*/ 2082800 h 2170723"/>
              <a:gd name="connsiteX3-249" fmla="*/ 2036885 w 5030176"/>
              <a:gd name="connsiteY3-250" fmla="*/ 2021254 h 2170723"/>
              <a:gd name="connsiteX4-251" fmla="*/ 2350475 w 5030176"/>
              <a:gd name="connsiteY4-252" fmla="*/ 1490786 h 2170723"/>
              <a:gd name="connsiteX5-253" fmla="*/ 2960075 w 5030176"/>
              <a:gd name="connsiteY5-254" fmla="*/ 1414586 h 2170723"/>
              <a:gd name="connsiteX6-255" fmla="*/ 3223846 w 5030176"/>
              <a:gd name="connsiteY6-256" fmla="*/ 1950916 h 2170723"/>
              <a:gd name="connsiteX7-257" fmla="*/ 4712676 w 5030176"/>
              <a:gd name="connsiteY7-258" fmla="*/ 1871786 h 2170723"/>
              <a:gd name="connsiteX8-259" fmla="*/ 4712676 w 5030176"/>
              <a:gd name="connsiteY8-260" fmla="*/ 957386 h 2170723"/>
              <a:gd name="connsiteX9-261" fmla="*/ 2807677 w 5030176"/>
              <a:gd name="connsiteY9-262" fmla="*/ 881186 h 2170723"/>
              <a:gd name="connsiteX10-263" fmla="*/ 2655277 w 5030176"/>
              <a:gd name="connsiteY10-264" fmla="*/ 119185 h 2170723"/>
              <a:gd name="connsiteX11-265" fmla="*/ 1843454 w 5030176"/>
              <a:gd name="connsiteY11-266" fmla="*/ 166077 h 2170723"/>
              <a:gd name="connsiteX12-267" fmla="*/ 1852246 w 5030176"/>
              <a:gd name="connsiteY12-268" fmla="*/ 895839 h 2170723"/>
              <a:gd name="connsiteX13-269" fmla="*/ 542192 w 5030176"/>
              <a:gd name="connsiteY13-270" fmla="*/ 895839 h 21707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157" y="connsiteY13-158"/>
              </a:cxn>
            </a:cxnLst>
            <a:rect l="l" t="t" r="r" b="b"/>
            <a:pathLst>
              <a:path w="5030176" h="2170723">
                <a:moveTo>
                  <a:pt x="542192" y="895839"/>
                </a:moveTo>
                <a:cubicBezTo>
                  <a:pt x="235927" y="995485"/>
                  <a:pt x="29308" y="1295889"/>
                  <a:pt x="14654" y="1493716"/>
                </a:cubicBezTo>
                <a:cubicBezTo>
                  <a:pt x="0" y="1691543"/>
                  <a:pt x="117231" y="1994877"/>
                  <a:pt x="454269" y="2082800"/>
                </a:cubicBezTo>
                <a:cubicBezTo>
                  <a:pt x="791307" y="2170723"/>
                  <a:pt x="1720851" y="2119923"/>
                  <a:pt x="2036885" y="2021254"/>
                </a:cubicBezTo>
                <a:cubicBezTo>
                  <a:pt x="2352919" y="1922585"/>
                  <a:pt x="2196610" y="1591897"/>
                  <a:pt x="2350475" y="1490786"/>
                </a:cubicBezTo>
                <a:cubicBezTo>
                  <a:pt x="2504340" y="1389675"/>
                  <a:pt x="2814513" y="1337898"/>
                  <a:pt x="2960075" y="1414586"/>
                </a:cubicBezTo>
                <a:cubicBezTo>
                  <a:pt x="3105637" y="1491274"/>
                  <a:pt x="2931746" y="1874716"/>
                  <a:pt x="3223846" y="1950916"/>
                </a:cubicBezTo>
                <a:cubicBezTo>
                  <a:pt x="3515946" y="2027116"/>
                  <a:pt x="4464538" y="2037374"/>
                  <a:pt x="4712676" y="1871786"/>
                </a:cubicBezTo>
                <a:cubicBezTo>
                  <a:pt x="4960814" y="1706198"/>
                  <a:pt x="5030176" y="1122486"/>
                  <a:pt x="4712676" y="957386"/>
                </a:cubicBezTo>
                <a:cubicBezTo>
                  <a:pt x="4395176" y="792286"/>
                  <a:pt x="3150577" y="1020886"/>
                  <a:pt x="2807677" y="881186"/>
                </a:cubicBezTo>
                <a:cubicBezTo>
                  <a:pt x="2464777" y="741486"/>
                  <a:pt x="2815981" y="238370"/>
                  <a:pt x="2655277" y="119185"/>
                </a:cubicBezTo>
                <a:cubicBezTo>
                  <a:pt x="2494573" y="0"/>
                  <a:pt x="1977292" y="36635"/>
                  <a:pt x="1843454" y="166077"/>
                </a:cubicBezTo>
                <a:cubicBezTo>
                  <a:pt x="1709616" y="295519"/>
                  <a:pt x="2064727" y="775677"/>
                  <a:pt x="1852246" y="895839"/>
                </a:cubicBezTo>
                <a:cubicBezTo>
                  <a:pt x="1639765" y="1016001"/>
                  <a:pt x="848457" y="796193"/>
                  <a:pt x="542192" y="895839"/>
                </a:cubicBezTo>
                <a:close/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Search Example: Romania</a:t>
            </a:r>
            <a:endParaRPr lang="en-US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438400" y="1600200"/>
            <a:ext cx="7315200" cy="4379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Searching with a Search Tree</a:t>
            </a:r>
            <a:endParaRPr 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830388" y="4280647"/>
            <a:ext cx="9067800" cy="1981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搜索</a:t>
            </a:r>
            <a:r>
              <a:rPr lang="en-US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展开潜在规划（即树节点）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维护</a:t>
            </a:r>
            <a:r>
              <a:rPr lang="zh-CN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边缘集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：包含正在考虑中的部分规划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830388" y="1676403"/>
            <a:ext cx="8072437" cy="207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0388" y="1690690"/>
            <a:ext cx="8072437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9780" y="1676403"/>
            <a:ext cx="8072439" cy="200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General Tree Search</a:t>
            </a: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370138" y="4210058"/>
            <a:ext cx="7459663" cy="2362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核心概念</a:t>
            </a:r>
            <a:r>
              <a:rPr lang="en-US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边缘集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节点展开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搜索策略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核心问题：该探索哪些边缘节点？</a:t>
            </a:r>
            <a:endParaRPr lang="zh-CN" altLang="en-US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70139" y="1371603"/>
            <a:ext cx="7459663" cy="2495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Uninformed search strategies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1988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25603" name="Rectangle 3"/>
          <p:cNvSpPr>
            <a:spLocks noGrp="1"/>
          </p:cNvSpPr>
          <p:nvPr>
            <p:ph sz="quarter" idx="4294967295"/>
          </p:nvPr>
        </p:nvSpPr>
        <p:spPr>
          <a:xfrm>
            <a:off x="1091255" y="1406524"/>
            <a:ext cx="9094892" cy="45720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80000"/>
              </a:lnSpc>
            </a:pPr>
            <a:r>
              <a:rPr lang="zh-CN" alt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盲目</a:t>
            </a:r>
            <a:r>
              <a:rPr lang="zh-CN" altLang="en-US" sz="23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搜索策略仅使用问题定义中提供的信息</a:t>
            </a:r>
            <a:endParaRPr lang="zh-CN" altLang="en-US" sz="23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3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3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广度优先搜索</a:t>
            </a:r>
            <a:endParaRPr lang="zh-CN" altLang="en-US" sz="23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3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3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深度优先搜索</a:t>
            </a:r>
            <a:endParaRPr lang="zh-CN" altLang="en-US" sz="23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3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3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深度受限搜索</a:t>
            </a:r>
            <a:endParaRPr lang="zh-CN" altLang="en-US" sz="23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23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3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迭代加深搜索</a:t>
            </a:r>
            <a:endParaRPr lang="en-US" altLang="zh-CN" sz="23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3600" y="457200"/>
            <a:ext cx="7802880" cy="5852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Breadth-first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3012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3014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74240"/>
            <a:ext cx="10453046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shallowest unexpanded node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 fringe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FIFO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queue, i.e., new successors go at end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FIFO: first in first out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3015" name="Picture 4" descr="bfs-progress1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137" y="4027730"/>
            <a:ext cx="3387725" cy="205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086616" y="4204447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3" name="箭头: 下 2"/>
          <p:cNvSpPr/>
          <p:nvPr/>
        </p:nvSpPr>
        <p:spPr>
          <a:xfrm>
            <a:off x="9196433" y="3904128"/>
            <a:ext cx="215153" cy="255495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8943181" y="4724400"/>
            <a:ext cx="864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Breadth-first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3012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3014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74240"/>
            <a:ext cx="10453046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shallowest unexpanded node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 fringe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is a FIFO queue, i.e., new successors go at end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5" descr="bfs-progress2c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440237" y="3916643"/>
            <a:ext cx="3311525" cy="217328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956905" y="4007225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483173" y="4007223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9" name="箭头: 下 8"/>
          <p:cNvSpPr/>
          <p:nvPr/>
        </p:nvSpPr>
        <p:spPr>
          <a:xfrm>
            <a:off x="9066722" y="3742765"/>
            <a:ext cx="215153" cy="23495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8417875" y="4486835"/>
            <a:ext cx="10309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Breadth-first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3012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3014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74240"/>
            <a:ext cx="10453046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shallowest unexpanded node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 fringe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is a FIFO queue, i.e., new successors go at end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5" descr="bfs-progress3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600" y="3941202"/>
            <a:ext cx="3352800" cy="2205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9307926" y="4347883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8" name="箭头: 下 7"/>
          <p:cNvSpPr/>
          <p:nvPr/>
        </p:nvSpPr>
        <p:spPr>
          <a:xfrm>
            <a:off x="9443196" y="4069978"/>
            <a:ext cx="215153" cy="23495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34194" y="4352928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8360462" y="4352926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</a:t>
            </a:r>
            <a:endParaRPr lang="zh-CN" altLang="en-US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8310282" y="4805082"/>
            <a:ext cx="1600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Breadth-first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3012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3014" name="Rectangle 3"/>
          <p:cNvSpPr>
            <a:spLocks noGrp="1"/>
          </p:cNvSpPr>
          <p:nvPr>
            <p:ph sz="quarter" idx="4294967295"/>
          </p:nvPr>
        </p:nvSpPr>
        <p:spPr>
          <a:xfrm>
            <a:off x="1091255" y="1566209"/>
            <a:ext cx="10453046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shallowest unexpanded node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altLang="zh-CN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 fringe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is a FIFO queue, i.e., new successors go at end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5" descr="bfs-progress4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9282" y="3978279"/>
            <a:ext cx="3612776" cy="216796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箭头: 下 6"/>
          <p:cNvSpPr/>
          <p:nvPr/>
        </p:nvSpPr>
        <p:spPr>
          <a:xfrm>
            <a:off x="10132111" y="4102290"/>
            <a:ext cx="215153" cy="23495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022294" y="4384304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9548562" y="4384302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8516471" y="4827494"/>
            <a:ext cx="20307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9074830" y="4384304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8596892" y="4384302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Breadth-First Search</a:t>
            </a:r>
            <a:endParaRPr lang="en-US" dirty="0"/>
          </a:p>
        </p:txBody>
      </p:sp>
      <p:grpSp>
        <p:nvGrpSpPr>
          <p:cNvPr id="20483" name="Group 3"/>
          <p:cNvGrpSpPr/>
          <p:nvPr/>
        </p:nvGrpSpPr>
        <p:grpSpPr bwMode="auto">
          <a:xfrm>
            <a:off x="3480171" y="3502409"/>
            <a:ext cx="5486400" cy="3355591"/>
            <a:chOff x="48" y="2332"/>
            <a:chExt cx="3456" cy="2406"/>
          </a:xfrm>
        </p:grpSpPr>
        <p:sp>
          <p:nvSpPr>
            <p:cNvPr id="20539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  <a:endParaRPr lang="en-US" sz="1600" dirty="0"/>
            </a:p>
          </p:txBody>
        </p:sp>
        <p:sp>
          <p:nvSpPr>
            <p:cNvPr id="20540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  <a:endParaRPr lang="en-US" i="1"/>
            </a:p>
          </p:txBody>
        </p:sp>
        <p:sp>
          <p:nvSpPr>
            <p:cNvPr id="20541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b</a:t>
              </a:r>
              <a:endParaRPr lang="en-US" i="1"/>
            </a:p>
          </p:txBody>
        </p:sp>
        <p:sp>
          <p:nvSpPr>
            <p:cNvPr id="20542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d</a:t>
              </a:r>
              <a:endParaRPr lang="en-US" i="1"/>
            </a:p>
          </p:txBody>
        </p:sp>
        <p:sp>
          <p:nvSpPr>
            <p:cNvPr id="20543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p</a:t>
              </a:r>
              <a:endParaRPr lang="en-US" i="1"/>
            </a:p>
          </p:txBody>
        </p:sp>
        <p:sp>
          <p:nvSpPr>
            <p:cNvPr id="20544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  <a:endParaRPr lang="en-US" i="1"/>
            </a:p>
          </p:txBody>
        </p:sp>
        <p:sp>
          <p:nvSpPr>
            <p:cNvPr id="20545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  <a:endParaRPr lang="en-US" i="1"/>
            </a:p>
          </p:txBody>
        </p:sp>
        <p:cxnSp>
          <p:nvCxnSpPr>
            <p:cNvPr id="20546" name="AutoShape 11"/>
            <p:cNvCxnSpPr>
              <a:cxnSpLocks noChangeShapeType="1"/>
              <a:stCxn id="20542" idx="2"/>
              <a:endCxn id="20541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20547" name="AutoShape 12"/>
            <p:cNvCxnSpPr>
              <a:cxnSpLocks noChangeShapeType="1"/>
              <a:stCxn id="20542" idx="2"/>
              <a:endCxn id="20545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20548" name="AutoShape 13"/>
            <p:cNvCxnSpPr>
              <a:cxnSpLocks noChangeShapeType="1"/>
              <a:stCxn id="20541" idx="2"/>
              <a:endCxn id="20540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20549" name="AutoShape 14"/>
            <p:cNvCxnSpPr>
              <a:cxnSpLocks noChangeShapeType="1"/>
              <a:stCxn id="20545" idx="2"/>
              <a:endCxn id="20544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grpSp>
          <p:nvGrpSpPr>
            <p:cNvPr id="20550" name="Group 15"/>
            <p:cNvGrpSpPr/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20577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  <a:endParaRPr lang="en-US" i="1"/>
              </a:p>
            </p:txBody>
          </p:sp>
          <p:sp>
            <p:nvSpPr>
              <p:cNvPr id="20578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  <a:endParaRPr lang="en-US" i="1"/>
              </a:p>
            </p:txBody>
          </p:sp>
          <p:sp>
            <p:nvSpPr>
              <p:cNvPr id="20579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  <a:endParaRPr lang="en-US" i="1"/>
              </a:p>
            </p:txBody>
          </p:sp>
          <p:sp>
            <p:nvSpPr>
              <p:cNvPr id="20580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  <a:endParaRPr lang="en-US" i="1"/>
              </a:p>
            </p:txBody>
          </p:sp>
          <p:sp>
            <p:nvSpPr>
              <p:cNvPr id="20581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  <a:endParaRPr lang="en-US" i="1"/>
              </a:p>
            </p:txBody>
          </p:sp>
          <p:sp>
            <p:nvSpPr>
              <p:cNvPr id="20582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  <a:endParaRPr lang="en-US" i="1"/>
              </a:p>
            </p:txBody>
          </p:sp>
          <p:sp>
            <p:nvSpPr>
              <p:cNvPr id="20583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  <a:endParaRPr lang="en-US" i="1"/>
              </a:p>
            </p:txBody>
          </p:sp>
          <p:sp>
            <p:nvSpPr>
              <p:cNvPr id="20584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  <a:endParaRPr lang="en-US" i="1"/>
              </a:p>
            </p:txBody>
          </p:sp>
          <p:sp>
            <p:nvSpPr>
              <p:cNvPr id="20585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  <a:endParaRPr lang="en-US" sz="1600" dirty="0"/>
              </a:p>
            </p:txBody>
          </p:sp>
          <p:sp>
            <p:nvSpPr>
              <p:cNvPr id="20586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  <a:endParaRPr lang="en-US" i="1"/>
              </a:p>
            </p:txBody>
          </p:sp>
          <p:cxnSp>
            <p:nvCxnSpPr>
              <p:cNvPr id="20587" name="AutoShape 26"/>
              <p:cNvCxnSpPr>
                <a:cxnSpLocks noChangeShapeType="1"/>
                <a:stCxn id="20577" idx="2"/>
                <a:endCxn id="20579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88" name="AutoShape 27"/>
              <p:cNvCxnSpPr>
                <a:cxnSpLocks noChangeShapeType="1"/>
                <a:stCxn id="20577" idx="2"/>
                <a:endCxn id="20581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89" name="AutoShape 28"/>
              <p:cNvCxnSpPr>
                <a:cxnSpLocks noChangeShapeType="1"/>
                <a:stCxn id="20579" idx="2"/>
                <a:endCxn id="20578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90" name="AutoShape 29"/>
              <p:cNvCxnSpPr>
                <a:cxnSpLocks noChangeShapeType="1"/>
                <a:stCxn id="20579" idx="2"/>
                <a:endCxn id="20582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91" name="AutoShape 30"/>
              <p:cNvCxnSpPr>
                <a:cxnSpLocks noChangeShapeType="1"/>
                <a:stCxn id="20581" idx="2"/>
                <a:endCxn id="20580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92" name="AutoShape 31"/>
              <p:cNvCxnSpPr>
                <a:cxnSpLocks noChangeShapeType="1"/>
                <a:stCxn id="20578" idx="2"/>
                <a:endCxn id="20583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93" name="AutoShape 32"/>
              <p:cNvCxnSpPr>
                <a:cxnSpLocks noChangeShapeType="1"/>
                <a:stCxn id="20580" idx="2"/>
                <a:endCxn id="20584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94" name="AutoShape 33"/>
              <p:cNvCxnSpPr>
                <a:cxnSpLocks noChangeShapeType="1"/>
                <a:stCxn id="20580" idx="2"/>
                <a:endCxn id="20585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95" name="AutoShape 34"/>
              <p:cNvCxnSpPr>
                <a:cxnSpLocks noChangeShapeType="1"/>
                <a:stCxn id="20584" idx="2"/>
                <a:endCxn id="20586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</p:grpSp>
        <p:sp>
          <p:nvSpPr>
            <p:cNvPr id="20551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  <a:endParaRPr lang="en-US" i="1"/>
            </a:p>
          </p:txBody>
        </p:sp>
        <p:cxnSp>
          <p:nvCxnSpPr>
            <p:cNvPr id="20552" name="AutoShape 36"/>
            <p:cNvCxnSpPr>
              <a:cxnSpLocks noChangeShapeType="1"/>
              <a:stCxn id="20543" idx="2"/>
              <a:endCxn id="20551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grpSp>
          <p:nvGrpSpPr>
            <p:cNvPr id="20553" name="Group 37"/>
            <p:cNvGrpSpPr/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20558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  <a:endParaRPr lang="en-US" i="1"/>
              </a:p>
            </p:txBody>
          </p:sp>
          <p:sp>
            <p:nvSpPr>
              <p:cNvPr id="20559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  <a:endParaRPr lang="en-US" i="1"/>
              </a:p>
            </p:txBody>
          </p:sp>
          <p:sp>
            <p:nvSpPr>
              <p:cNvPr id="20560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  <a:endParaRPr lang="en-US" i="1"/>
              </a:p>
            </p:txBody>
          </p:sp>
          <p:sp>
            <p:nvSpPr>
              <p:cNvPr id="20561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  <a:endParaRPr lang="en-US" i="1"/>
              </a:p>
            </p:txBody>
          </p:sp>
          <p:sp>
            <p:nvSpPr>
              <p:cNvPr id="20562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  <a:endParaRPr lang="en-US" i="1"/>
              </a:p>
            </p:txBody>
          </p:sp>
          <p:sp>
            <p:nvSpPr>
              <p:cNvPr id="20563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  <a:endParaRPr lang="en-US" i="1"/>
              </a:p>
            </p:txBody>
          </p:sp>
          <p:sp>
            <p:nvSpPr>
              <p:cNvPr id="20564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  <a:endParaRPr lang="en-US" i="1"/>
              </a:p>
            </p:txBody>
          </p:sp>
          <p:sp>
            <p:nvSpPr>
              <p:cNvPr id="20565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  <a:endParaRPr lang="en-US" i="1"/>
              </a:p>
            </p:txBody>
          </p:sp>
          <p:sp>
            <p:nvSpPr>
              <p:cNvPr id="20566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i="1" dirty="0"/>
                  <a:t>G</a:t>
                </a:r>
                <a:endParaRPr lang="en-US" sz="1600" i="1" dirty="0"/>
              </a:p>
            </p:txBody>
          </p:sp>
          <p:sp>
            <p:nvSpPr>
              <p:cNvPr id="20567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  <a:endParaRPr lang="en-US" i="1"/>
              </a:p>
            </p:txBody>
          </p:sp>
          <p:cxnSp>
            <p:nvCxnSpPr>
              <p:cNvPr id="20568" name="AutoShape 48"/>
              <p:cNvCxnSpPr>
                <a:cxnSpLocks noChangeShapeType="1"/>
                <a:stCxn id="20558" idx="2"/>
                <a:endCxn id="20560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69" name="AutoShape 49"/>
              <p:cNvCxnSpPr>
                <a:cxnSpLocks noChangeShapeType="1"/>
                <a:stCxn id="20558" idx="2"/>
                <a:endCxn id="20562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70" name="AutoShape 50"/>
              <p:cNvCxnSpPr>
                <a:cxnSpLocks noChangeShapeType="1"/>
                <a:stCxn id="20560" idx="2"/>
                <a:endCxn id="20559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71" name="AutoShape 51"/>
              <p:cNvCxnSpPr>
                <a:cxnSpLocks noChangeShapeType="1"/>
                <a:stCxn id="20560" idx="2"/>
                <a:endCxn id="20563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72" name="AutoShape 52"/>
              <p:cNvCxnSpPr>
                <a:cxnSpLocks noChangeShapeType="1"/>
                <a:stCxn id="20562" idx="2"/>
                <a:endCxn id="20561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73" name="AutoShape 53"/>
              <p:cNvCxnSpPr>
                <a:cxnSpLocks noChangeShapeType="1"/>
                <a:stCxn id="20559" idx="2"/>
                <a:endCxn id="20564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74" name="AutoShape 54"/>
              <p:cNvCxnSpPr>
                <a:cxnSpLocks noChangeShapeType="1"/>
                <a:stCxn id="20561" idx="2"/>
                <a:endCxn id="20565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75" name="AutoShape 55"/>
              <p:cNvCxnSpPr>
                <a:cxnSpLocks noChangeShapeType="1"/>
                <a:stCxn id="20561" idx="2"/>
                <a:endCxn id="20566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0576" name="AutoShape 56"/>
              <p:cNvCxnSpPr>
                <a:cxnSpLocks noChangeShapeType="1"/>
                <a:stCxn id="20565" idx="2"/>
                <a:endCxn id="20567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</p:grpSp>
        <p:cxnSp>
          <p:nvCxnSpPr>
            <p:cNvPr id="20554" name="AutoShape 57"/>
            <p:cNvCxnSpPr>
              <a:cxnSpLocks noChangeShapeType="1"/>
              <a:stCxn id="20542" idx="2"/>
              <a:endCxn id="20558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20555" name="AutoShape 58"/>
            <p:cNvCxnSpPr>
              <a:cxnSpLocks noChangeShapeType="1"/>
              <a:stCxn id="20539" idx="2"/>
              <a:endCxn id="20542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20556" name="AutoShape 59"/>
            <p:cNvCxnSpPr>
              <a:cxnSpLocks noChangeShapeType="1"/>
              <a:stCxn id="20539" idx="2"/>
              <a:endCxn id="20577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20557" name="AutoShape 60"/>
            <p:cNvCxnSpPr>
              <a:cxnSpLocks noChangeShapeType="1"/>
              <a:stCxn id="20539" idx="2"/>
              <a:endCxn id="20543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</p:grpSp>
      <p:grpSp>
        <p:nvGrpSpPr>
          <p:cNvPr id="20484" name="Group 61"/>
          <p:cNvGrpSpPr/>
          <p:nvPr/>
        </p:nvGrpSpPr>
        <p:grpSpPr bwMode="auto">
          <a:xfrm>
            <a:off x="4589461" y="1358902"/>
            <a:ext cx="3030539" cy="1765300"/>
            <a:chOff x="624" y="1134"/>
            <a:chExt cx="4368" cy="2544"/>
          </a:xfrm>
        </p:grpSpPr>
        <p:sp>
          <p:nvSpPr>
            <p:cNvPr id="20511" name="AutoShape 62"/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600" dirty="0"/>
                <a:t>S</a:t>
              </a:r>
              <a:endParaRPr lang="en-US" sz="1600" dirty="0"/>
            </a:p>
          </p:txBody>
        </p:sp>
        <p:sp>
          <p:nvSpPr>
            <p:cNvPr id="20512" name="AutoShape 63"/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  <a:endParaRPr lang="en-US"/>
            </a:p>
          </p:txBody>
        </p:sp>
        <p:sp>
          <p:nvSpPr>
            <p:cNvPr id="20513" name="AutoShape 64"/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i="1"/>
                <a:t>d</a:t>
              </a:r>
              <a:endParaRPr lang="en-US" i="1"/>
            </a:p>
          </p:txBody>
        </p:sp>
        <p:sp>
          <p:nvSpPr>
            <p:cNvPr id="20514" name="AutoShape 65"/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i="1"/>
                <a:t>b</a:t>
              </a:r>
              <a:endParaRPr lang="en-US" i="1"/>
            </a:p>
          </p:txBody>
        </p:sp>
        <p:sp>
          <p:nvSpPr>
            <p:cNvPr id="20515" name="AutoShape 66"/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i="1"/>
                <a:t>p</a:t>
              </a:r>
              <a:endParaRPr lang="en-US" i="1"/>
            </a:p>
          </p:txBody>
        </p:sp>
        <p:sp>
          <p:nvSpPr>
            <p:cNvPr id="20516" name="AutoShape 67"/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i="1"/>
                <a:t>q</a:t>
              </a:r>
              <a:endParaRPr lang="en-US" i="1"/>
            </a:p>
          </p:txBody>
        </p:sp>
        <p:sp>
          <p:nvSpPr>
            <p:cNvPr id="20517" name="AutoShape 68"/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i="1"/>
                <a:t>c</a:t>
              </a:r>
              <a:endParaRPr lang="en-US" i="1"/>
            </a:p>
          </p:txBody>
        </p:sp>
        <p:sp>
          <p:nvSpPr>
            <p:cNvPr id="20518" name="AutoShape 69"/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i="1"/>
                <a:t>e</a:t>
              </a:r>
              <a:endParaRPr lang="en-US" i="1"/>
            </a:p>
          </p:txBody>
        </p:sp>
        <p:sp>
          <p:nvSpPr>
            <p:cNvPr id="20519" name="AutoShape 70"/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h</a:t>
              </a:r>
              <a:endParaRPr lang="en-US" i="1" dirty="0"/>
            </a:p>
          </p:txBody>
        </p:sp>
        <p:sp>
          <p:nvSpPr>
            <p:cNvPr id="20520" name="AutoShape 71"/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i="1"/>
                <a:t>a</a:t>
              </a:r>
              <a:endParaRPr lang="en-US" i="1"/>
            </a:p>
          </p:txBody>
        </p:sp>
        <p:sp>
          <p:nvSpPr>
            <p:cNvPr id="20521" name="AutoShape 72"/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i="1"/>
                <a:t>f</a:t>
              </a:r>
              <a:endParaRPr lang="en-US" i="1"/>
            </a:p>
          </p:txBody>
        </p:sp>
        <p:sp>
          <p:nvSpPr>
            <p:cNvPr id="20522" name="AutoShape 73"/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i="1"/>
                <a:t>r</a:t>
              </a:r>
              <a:endParaRPr lang="en-US" i="1"/>
            </a:p>
          </p:txBody>
        </p:sp>
        <p:cxnSp>
          <p:nvCxnSpPr>
            <p:cNvPr id="20523" name="AutoShape 74"/>
            <p:cNvCxnSpPr>
              <a:cxnSpLocks noChangeShapeType="1"/>
              <a:stCxn id="20511" idx="5"/>
              <a:endCxn id="20515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24" name="AutoShape 75"/>
            <p:cNvCxnSpPr>
              <a:cxnSpLocks noChangeShapeType="1"/>
              <a:stCxn id="20515" idx="5"/>
              <a:endCxn id="20516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25" name="AutoShape 76"/>
            <p:cNvCxnSpPr>
              <a:cxnSpLocks noChangeShapeType="1"/>
              <a:stCxn id="20519" idx="3"/>
              <a:endCxn id="20516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26" name="AutoShape 77"/>
            <p:cNvCxnSpPr>
              <a:cxnSpLocks noChangeShapeType="1"/>
              <a:stCxn id="20519" idx="2"/>
              <a:endCxn id="20515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27" name="AutoShape 78"/>
            <p:cNvCxnSpPr>
              <a:cxnSpLocks noChangeShapeType="1"/>
              <a:stCxn id="20518" idx="4"/>
              <a:endCxn id="20519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28" name="AutoShape 79"/>
            <p:cNvCxnSpPr>
              <a:cxnSpLocks noChangeShapeType="1"/>
              <a:stCxn id="20518" idx="5"/>
              <a:endCxn id="20522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29" name="AutoShape 80"/>
            <p:cNvCxnSpPr>
              <a:cxnSpLocks noChangeShapeType="1"/>
              <a:stCxn id="20522" idx="0"/>
              <a:endCxn id="20521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30" name="AutoShape 81"/>
            <p:cNvCxnSpPr>
              <a:cxnSpLocks noChangeShapeType="1"/>
              <a:stCxn id="20521" idx="0"/>
              <a:endCxn id="20512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31" name="AutoShape 82"/>
            <p:cNvCxnSpPr>
              <a:cxnSpLocks noChangeShapeType="1"/>
              <a:stCxn id="20511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32" name="AutoShape 83"/>
            <p:cNvCxnSpPr>
              <a:cxnSpLocks noChangeShapeType="1"/>
              <a:stCxn id="20513" idx="1"/>
              <a:endCxn id="20514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33" name="AutoShape 84"/>
            <p:cNvCxnSpPr>
              <a:cxnSpLocks noChangeShapeType="1"/>
              <a:endCxn id="20520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34" name="AutoShape 85"/>
            <p:cNvCxnSpPr>
              <a:cxnSpLocks noChangeShapeType="1"/>
              <a:stCxn id="20517" idx="2"/>
              <a:endCxn id="20520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35" name="AutoShape 86"/>
            <p:cNvCxnSpPr>
              <a:cxnSpLocks noChangeShapeType="1"/>
              <a:stCxn id="20513" idx="7"/>
              <a:endCxn id="20517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36" name="AutoShape 87"/>
            <p:cNvCxnSpPr>
              <a:cxnSpLocks noChangeShapeType="1"/>
              <a:stCxn id="20513" idx="6"/>
              <a:endCxn id="20518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37" name="AutoShape 88"/>
            <p:cNvCxnSpPr>
              <a:cxnSpLocks noChangeShapeType="1"/>
              <a:stCxn id="20521" idx="1"/>
              <a:endCxn id="20517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  <p:cxnSp>
          <p:nvCxnSpPr>
            <p:cNvPr id="20538" name="AutoShape 89"/>
            <p:cNvCxnSpPr>
              <a:cxnSpLocks noChangeShapeType="1"/>
              <a:stCxn id="20511" idx="6"/>
              <a:endCxn id="20518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</p:cxnSp>
      </p:grpSp>
      <p:grpSp>
        <p:nvGrpSpPr>
          <p:cNvPr id="6" name="Group 90"/>
          <p:cNvGrpSpPr/>
          <p:nvPr/>
        </p:nvGrpSpPr>
        <p:grpSpPr bwMode="auto">
          <a:xfrm>
            <a:off x="1708526" y="3535750"/>
            <a:ext cx="7337425" cy="2325687"/>
            <a:chOff x="132" y="2225"/>
            <a:chExt cx="4622" cy="1465"/>
          </a:xfrm>
        </p:grpSpPr>
        <p:sp>
          <p:nvSpPr>
            <p:cNvPr id="20504" name="Rectangle 91"/>
            <p:cNvSpPr>
              <a:spLocks noChangeArrowheads="1"/>
            </p:cNvSpPr>
            <p:nvPr/>
          </p:nvSpPr>
          <p:spPr bwMode="auto">
            <a:xfrm>
              <a:off x="1142" y="2225"/>
              <a:ext cx="3611" cy="1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5" name="Rectangle 92"/>
            <p:cNvSpPr>
              <a:spLocks noChangeArrowheads="1"/>
            </p:cNvSpPr>
            <p:nvPr/>
          </p:nvSpPr>
          <p:spPr bwMode="auto">
            <a:xfrm>
              <a:off x="1138" y="2516"/>
              <a:ext cx="3611" cy="172"/>
            </a:xfrm>
            <a:prstGeom prst="rect">
              <a:avLst/>
            </a:prstGeom>
            <a:solidFill>
              <a:srgbClr val="FF6600">
                <a:alpha val="20000"/>
              </a:srgbClr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6" name="Rectangle 93"/>
            <p:cNvSpPr>
              <a:spLocks noChangeArrowheads="1"/>
            </p:cNvSpPr>
            <p:nvPr/>
          </p:nvSpPr>
          <p:spPr bwMode="auto">
            <a:xfrm>
              <a:off x="1143" y="2844"/>
              <a:ext cx="3611" cy="172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7" name="Rectangle 94"/>
            <p:cNvSpPr>
              <a:spLocks noChangeArrowheads="1"/>
            </p:cNvSpPr>
            <p:nvPr/>
          </p:nvSpPr>
          <p:spPr bwMode="auto">
            <a:xfrm>
              <a:off x="1139" y="3188"/>
              <a:ext cx="3607" cy="172"/>
            </a:xfrm>
            <a:prstGeom prst="rect">
              <a:avLst/>
            </a:prstGeom>
            <a:solidFill>
              <a:srgbClr val="0000FF">
                <a:alpha val="20000"/>
              </a:srgbClr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8" name="AutoShape 95"/>
            <p:cNvSpPr/>
            <p:nvPr/>
          </p:nvSpPr>
          <p:spPr bwMode="auto">
            <a:xfrm>
              <a:off x="807" y="2236"/>
              <a:ext cx="178" cy="1450"/>
            </a:xfrm>
            <a:prstGeom prst="leftBrace">
              <a:avLst>
                <a:gd name="adj1" fmla="val 6788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9" name="Text Box 96"/>
            <p:cNvSpPr txBox="1">
              <a:spLocks noChangeArrowheads="1"/>
            </p:cNvSpPr>
            <p:nvPr/>
          </p:nvSpPr>
          <p:spPr bwMode="auto">
            <a:xfrm>
              <a:off x="132" y="2693"/>
              <a:ext cx="602" cy="4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/>
                <a:t>Search</a:t>
              </a:r>
              <a:endParaRPr lang="en-US"/>
            </a:p>
            <a:p>
              <a:pPr algn="ctr">
                <a:spcBef>
                  <a:spcPct val="50000"/>
                </a:spcBef>
              </a:pPr>
              <a:r>
                <a:rPr lang="en-US"/>
                <a:t>Tiers</a:t>
              </a:r>
              <a:endParaRPr lang="en-US"/>
            </a:p>
          </p:txBody>
        </p:sp>
        <p:sp>
          <p:nvSpPr>
            <p:cNvPr id="20510" name="Rectangle 97"/>
            <p:cNvSpPr>
              <a:spLocks noChangeArrowheads="1"/>
            </p:cNvSpPr>
            <p:nvPr/>
          </p:nvSpPr>
          <p:spPr bwMode="auto">
            <a:xfrm>
              <a:off x="1143" y="3518"/>
              <a:ext cx="3607" cy="172"/>
            </a:xfrm>
            <a:prstGeom prst="rect">
              <a:avLst/>
            </a:prstGeom>
            <a:solidFill>
              <a:srgbClr val="CC00CC">
                <a:alpha val="20000"/>
              </a:srgbClr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98818" name="Oval 98"/>
          <p:cNvSpPr>
            <a:spLocks noChangeArrowheads="1"/>
          </p:cNvSpPr>
          <p:nvPr/>
        </p:nvSpPr>
        <p:spPr bwMode="auto">
          <a:xfrm>
            <a:off x="6498011" y="3529395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0487" name="Oval 99"/>
          <p:cNvSpPr>
            <a:spLocks noChangeArrowheads="1"/>
          </p:cNvSpPr>
          <p:nvPr/>
        </p:nvSpPr>
        <p:spPr bwMode="auto">
          <a:xfrm>
            <a:off x="6498011" y="352939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0" name="Oval 100"/>
          <p:cNvSpPr>
            <a:spLocks noChangeArrowheads="1"/>
          </p:cNvSpPr>
          <p:nvPr/>
        </p:nvSpPr>
        <p:spPr bwMode="auto">
          <a:xfrm>
            <a:off x="4069135" y="402469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1" name="Oval 101"/>
          <p:cNvSpPr>
            <a:spLocks noChangeArrowheads="1"/>
          </p:cNvSpPr>
          <p:nvPr/>
        </p:nvSpPr>
        <p:spPr bwMode="auto">
          <a:xfrm>
            <a:off x="6890126" y="3980244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2" name="Oval 102"/>
          <p:cNvSpPr>
            <a:spLocks noChangeArrowheads="1"/>
          </p:cNvSpPr>
          <p:nvPr/>
        </p:nvSpPr>
        <p:spPr bwMode="auto">
          <a:xfrm>
            <a:off x="8641135" y="3994537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3" name="Oval 103"/>
          <p:cNvSpPr>
            <a:spLocks noChangeArrowheads="1"/>
          </p:cNvSpPr>
          <p:nvPr/>
        </p:nvSpPr>
        <p:spPr bwMode="auto">
          <a:xfrm>
            <a:off x="3538908" y="452476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4" name="Oval 104"/>
          <p:cNvSpPr>
            <a:spLocks noChangeArrowheads="1"/>
          </p:cNvSpPr>
          <p:nvPr/>
        </p:nvSpPr>
        <p:spPr bwMode="auto">
          <a:xfrm>
            <a:off x="4213602" y="451681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5" name="Oval 105"/>
          <p:cNvSpPr>
            <a:spLocks noChangeArrowheads="1"/>
          </p:cNvSpPr>
          <p:nvPr/>
        </p:nvSpPr>
        <p:spPr bwMode="auto">
          <a:xfrm>
            <a:off x="5059735" y="451681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6" name="Oval 106"/>
          <p:cNvSpPr>
            <a:spLocks noChangeArrowheads="1"/>
          </p:cNvSpPr>
          <p:nvPr/>
        </p:nvSpPr>
        <p:spPr bwMode="auto">
          <a:xfrm>
            <a:off x="6504359" y="4508886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7" name="Oval 107"/>
          <p:cNvSpPr>
            <a:spLocks noChangeArrowheads="1"/>
          </p:cNvSpPr>
          <p:nvPr/>
        </p:nvSpPr>
        <p:spPr bwMode="auto">
          <a:xfrm>
            <a:off x="7206035" y="4508886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8" name="Oval 108"/>
          <p:cNvSpPr>
            <a:spLocks noChangeArrowheads="1"/>
          </p:cNvSpPr>
          <p:nvPr/>
        </p:nvSpPr>
        <p:spPr bwMode="auto">
          <a:xfrm>
            <a:off x="8639552" y="4508886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29" name="Oval 109"/>
          <p:cNvSpPr>
            <a:spLocks noChangeArrowheads="1"/>
          </p:cNvSpPr>
          <p:nvPr/>
        </p:nvSpPr>
        <p:spPr bwMode="auto">
          <a:xfrm>
            <a:off x="3529384" y="5054986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30" name="Oval 110"/>
          <p:cNvSpPr>
            <a:spLocks noChangeArrowheads="1"/>
          </p:cNvSpPr>
          <p:nvPr/>
        </p:nvSpPr>
        <p:spPr bwMode="auto">
          <a:xfrm>
            <a:off x="4069135" y="4023112"/>
            <a:ext cx="290512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31" name="Oval 111"/>
          <p:cNvSpPr>
            <a:spLocks noChangeArrowheads="1"/>
          </p:cNvSpPr>
          <p:nvPr/>
        </p:nvSpPr>
        <p:spPr bwMode="auto">
          <a:xfrm>
            <a:off x="6893302" y="3981837"/>
            <a:ext cx="290513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32" name="Oval 112"/>
          <p:cNvSpPr>
            <a:spLocks noChangeArrowheads="1"/>
          </p:cNvSpPr>
          <p:nvPr/>
        </p:nvSpPr>
        <p:spPr bwMode="auto">
          <a:xfrm>
            <a:off x="8642726" y="3999295"/>
            <a:ext cx="290513" cy="265112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8833" name="Oval 113"/>
          <p:cNvSpPr>
            <a:spLocks noChangeArrowheads="1"/>
          </p:cNvSpPr>
          <p:nvPr/>
        </p:nvSpPr>
        <p:spPr bwMode="auto">
          <a:xfrm>
            <a:off x="3542084" y="4519995"/>
            <a:ext cx="290512" cy="265112"/>
          </a:xfrm>
          <a:prstGeom prst="ellipse">
            <a:avLst/>
          </a:prstGeom>
          <a:solidFill>
            <a:srgbClr val="0080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0502" name="Line 114"/>
          <p:cNvSpPr>
            <a:spLocks noChangeShapeType="1"/>
          </p:cNvSpPr>
          <p:nvPr/>
        </p:nvSpPr>
        <p:spPr bwMode="auto">
          <a:xfrm>
            <a:off x="2" y="3371851"/>
            <a:ext cx="121920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0503" name="Text Box 115"/>
          <p:cNvSpPr txBox="1">
            <a:spLocks noChangeArrowheads="1"/>
          </p:cNvSpPr>
          <p:nvPr/>
        </p:nvSpPr>
        <p:spPr bwMode="auto">
          <a:xfrm>
            <a:off x="376237" y="1371602"/>
            <a:ext cx="2366963" cy="13388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 panose="020F0502020204030204" pitchFamily="34" charset="0"/>
              </a:rPr>
              <a:t>Strategy: expand a shallowest node first</a:t>
            </a:r>
            <a:endParaRPr lang="en-US" i="1" dirty="0">
              <a:latin typeface="Calibri" panose="020F050202020403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i="1" dirty="0">
                <a:latin typeface="Calibri" panose="020F0502020204030204" pitchFamily="34" charset="0"/>
              </a:rPr>
              <a:t>Implementation: Fringe is a FIFO queue</a:t>
            </a:r>
            <a:endParaRPr lang="en-US" i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18" grpId="0" bldLvl="0" animBg="1"/>
      <p:bldP spid="798820" grpId="0" bldLvl="0" animBg="1"/>
      <p:bldP spid="798821" grpId="0" bldLvl="0" animBg="1"/>
      <p:bldP spid="798822" grpId="0" bldLvl="0" animBg="1"/>
      <p:bldP spid="798823" grpId="0" bldLvl="0" animBg="1"/>
      <p:bldP spid="798824" grpId="0" bldLvl="0" animBg="1"/>
      <p:bldP spid="798825" grpId="0" bldLvl="0" animBg="1"/>
      <p:bldP spid="798826" grpId="0" bldLvl="0" animBg="1"/>
      <p:bldP spid="798827" grpId="0" bldLvl="0" animBg="1"/>
      <p:bldP spid="798828" grpId="0" bldLvl="0" animBg="1"/>
      <p:bldP spid="798829" grpId="0" bldLvl="0" animBg="1"/>
      <p:bldP spid="798830" grpId="0" bldLvl="0" animBg="1"/>
      <p:bldP spid="798831" grpId="0" bldLvl="0" animBg="1"/>
      <p:bldP spid="798832" grpId="0" bldLvl="0" animBg="1"/>
      <p:bldP spid="798833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Search strategies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39940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459940"/>
            <a:ext cx="9592433" cy="4572000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search strategy is defined by picking the </a:t>
            </a:r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 of node expansion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Strategies are evaluated along the following dimensions:</a:t>
            </a:r>
            <a:endParaRPr lang="en-US" altLang="zh-CN" sz="24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completeness: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does it always find a solution if one exists?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 complexity: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number of nodes generated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 complexity: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maximum number of nodes in memory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optimality: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does it always find a least-cost solution?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 and space complexity are measured in terms of </a:t>
            </a:r>
            <a:endParaRPr lang="en-US" altLang="zh-CN" sz="24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i="1" dirty="0">
                <a:latin typeface="Calibri" panose="020F0502020204030204" pitchFamily="34" charset="0"/>
                <a:cs typeface="Calibri" panose="020F0502020204030204" pitchFamily="34" charset="0"/>
              </a:rPr>
              <a:t>b: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maximum branching factor of the search tree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i="1" dirty="0">
                <a:latin typeface="Calibri" panose="020F0502020204030204" pitchFamily="34" charset="0"/>
                <a:cs typeface="Calibri" panose="020F0502020204030204" pitchFamily="34" charset="0"/>
              </a:rPr>
              <a:t>d: 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depth of the least-cost solution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i="1" dirty="0"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: maximum depth of the state space (may be ∞)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>
            <a:normAutofit fontScale="90000"/>
          </a:bodyPr>
          <a:lstStyle/>
          <a:p>
            <a:pPr eaLnBrk="1" hangingPunct="1"/>
            <a:r>
              <a:rPr lang="en-US" altLang="zh-CN" sz="4000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Properties of breadth-first search</a:t>
            </a:r>
            <a:endParaRPr lang="en-US" altLang="zh-CN" sz="4000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7108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30723" name="Rectangle 3"/>
          <p:cNvSpPr>
            <a:spLocks noGrp="1"/>
          </p:cNvSpPr>
          <p:nvPr>
            <p:ph sz="quarter" idx="4294967295"/>
          </p:nvPr>
        </p:nvSpPr>
        <p:spPr>
          <a:xfrm>
            <a:off x="1091255" y="1527175"/>
            <a:ext cx="8504238" cy="4572000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eaLnBrk="1" hangingPunct="1">
              <a:lnSpc>
                <a:spcPct val="70000"/>
              </a:lnSpc>
            </a:pPr>
            <a:r>
              <a:rPr lang="en-US" altLang="zh-CN" sz="24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Complete? Time? </a:t>
            </a:r>
            <a:r>
              <a:rPr lang="en-US" altLang="zh-CN" sz="2400" u="sng" dirty="0" err="1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Space?Optimal</a:t>
            </a:r>
            <a:r>
              <a:rPr lang="en-US" altLang="zh-CN" sz="24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altLang="zh-CN" sz="2400" u="sng" dirty="0">
              <a:solidFill>
                <a:srgbClr val="CC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70000"/>
              </a:lnSpc>
            </a:pPr>
            <a:endParaRPr lang="en-US" altLang="zh-CN" sz="2400" u="sng" dirty="0">
              <a:solidFill>
                <a:srgbClr val="CC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en-US" altLang="zh-CN" sz="24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Complete?</a:t>
            </a:r>
            <a:r>
              <a:rPr lang="en-US" altLang="zh-CN" sz="2400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 (if </a:t>
            </a:r>
            <a:r>
              <a:rPr lang="en-US" altLang="zh-CN" sz="24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zh-CN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finite)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en-US" altLang="zh-CN" sz="24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Time?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1+b+b</a:t>
            </a:r>
            <a:r>
              <a:rPr lang="en-US" altLang="zh-CN" sz="2400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zh-CN" sz="24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+b</a:t>
            </a:r>
            <a:r>
              <a:rPr lang="en-US" altLang="zh-CN" sz="2400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altLang="zh-CN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+… +</a:t>
            </a:r>
            <a:r>
              <a:rPr lang="en-US" altLang="zh-CN" sz="24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zh-CN" sz="2400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zh-CN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O(b</a:t>
            </a:r>
            <a:r>
              <a:rPr lang="en-US" altLang="zh-CN" sz="2400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zh-CN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en-US" altLang="zh-CN" sz="24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Space?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O(b</a:t>
            </a:r>
            <a:r>
              <a:rPr lang="en-US" altLang="zh-CN" sz="2400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zh-CN" sz="24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zh-CN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(keeps every node in memory)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en-US" altLang="zh-CN" sz="24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Optimal?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 (if cost = 1 per step)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70000"/>
              </a:lnSpc>
            </a:pPr>
            <a:endParaRPr lang="en-US" altLang="zh-CN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the bigger problem (more than time)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8415" y="320040"/>
            <a:ext cx="7800850" cy="585216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Depth-first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9156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9158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27175"/>
            <a:ext cx="9821033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deepest unexpanded node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sz="2400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LIFO queue, i.e., put successors at front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9159" name="Picture 4" descr="dfs-progress01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0" y="3703637"/>
            <a:ext cx="4343400" cy="2524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9611052" y="5266765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" name="箭头: 右 1"/>
          <p:cNvSpPr/>
          <p:nvPr/>
        </p:nvSpPr>
        <p:spPr>
          <a:xfrm>
            <a:off x="9206753" y="5358653"/>
            <a:ext cx="336176" cy="1792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Depth-first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9156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9158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27175"/>
            <a:ext cx="9821033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deepest unexpanded node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sz="2400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LIFO queue, i.e., put successors at front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5" descr="dfs-progress02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4370" y="3806451"/>
            <a:ext cx="4114800" cy="2390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9530369" y="5082988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525887" y="4675650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9145070" y="4767538"/>
            <a:ext cx="336176" cy="1792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Depth-first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9156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9158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27175"/>
            <a:ext cx="9821033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deepest unexpanded node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sz="2400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LIFO queue, i.e., put successors at front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5" descr="dfs-progress03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2783" y="3715033"/>
            <a:ext cx="4157974" cy="238414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9530369" y="5082988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525887" y="4675650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9160346" y="4360200"/>
            <a:ext cx="336176" cy="1792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525887" y="4268312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Depth-first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9156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9158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27175"/>
            <a:ext cx="9821033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deepest unexpanded node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sz="2400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LIFO queue, i.e., put successors at front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5" descr="dfs-progress04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8811" y="3774609"/>
            <a:ext cx="4364836" cy="245315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9498992" y="5435220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494510" y="5027882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9115414" y="4305094"/>
            <a:ext cx="336176" cy="1792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494510" y="4620544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9494510" y="4213206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Depth-first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9156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9158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27175"/>
            <a:ext cx="9821033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deepest unexpanded node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sz="2400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LIFO queue, i.e., put successors at front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5" descr="dfs-progress05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4917" y="3765550"/>
            <a:ext cx="4133705" cy="240254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9498992" y="5435220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494510" y="5027882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9091375" y="4305094"/>
            <a:ext cx="336176" cy="1792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494510" y="4620544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9494510" y="4213206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Depth-first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9156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9158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27175"/>
            <a:ext cx="9821033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deepest unexpanded node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sz="2400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LIFO queue, i.e., put successors at front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6" descr="dfs-progress06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3947" y="3813208"/>
            <a:ext cx="4164106" cy="243260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9498992" y="5435220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494510" y="5027882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9091375" y="4712432"/>
            <a:ext cx="336176" cy="1792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494510" y="4620544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Depth-first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9156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9158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27175"/>
            <a:ext cx="9821033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deepest unexpanded node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sz="2400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LIFO queue, i.e., put successors at front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6" descr="dfs-progress07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1705" y="3601571"/>
            <a:ext cx="4168589" cy="242125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9498992" y="5435220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494510" y="5027882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9091375" y="4305094"/>
            <a:ext cx="336176" cy="1792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494510" y="4620544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9494510" y="4213206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J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Depth-first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9156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9158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27175"/>
            <a:ext cx="9821033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deepest unexpanded node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sz="2400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LIFO queue, i.e., put successors at front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6" descr="dfs-progress08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0013" y="3646393"/>
            <a:ext cx="4071973" cy="2365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9498992" y="5435220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494510" y="5027882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9091375" y="4305094"/>
            <a:ext cx="336176" cy="1792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494510" y="4620544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9494510" y="4213206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K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Depth-first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9156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9158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27175"/>
            <a:ext cx="9821033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deepest unexpanded node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sz="2400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LIFO queue, i.e., put successors at front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6" descr="dfs-progress09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3728291"/>
            <a:ext cx="4191000" cy="244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9498992" y="5435220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9095857" y="5137145"/>
            <a:ext cx="336176" cy="1792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498992" y="5045257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Depth-first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9156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9158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27175"/>
            <a:ext cx="9821033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deepest unexpanded node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sz="2400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LIFO queue, i.e., put successors at front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6" descr="dfs-progress10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0" y="3708400"/>
            <a:ext cx="4267200" cy="247932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9498992" y="5435220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9091375" y="4721947"/>
            <a:ext cx="336176" cy="1792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494510" y="5037397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9494510" y="4630059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Depth-first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9156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9158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27175"/>
            <a:ext cx="9821033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deepest unexpanded node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sz="2400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LIFO queue, i.e., put successors at front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6" descr="dfs-progress11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3816723"/>
            <a:ext cx="4114800" cy="238989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9498992" y="5435220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494510" y="4223182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9091375" y="4315070"/>
            <a:ext cx="336176" cy="1792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494510" y="5037396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9494510" y="4630058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Depth-first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9156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9158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27175"/>
            <a:ext cx="9821033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Expand deepest unexpanded node</a:t>
            </a:r>
            <a:r>
              <a:rPr lang="en-US" altLang="zh-CN" sz="28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  <a:endParaRPr lang="en-US" altLang="zh-CN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/>
            <a:r>
              <a:rPr lang="en-US" altLang="zh-CN" sz="2400" i="1" dirty="0">
                <a:latin typeface="Calibri" panose="020F0502020204030204" pitchFamily="34" charset="0"/>
                <a:cs typeface="Calibri" panose="020F0502020204030204" pitchFamily="34" charset="0"/>
              </a:rPr>
              <a:t>frontier </a:t>
            </a:r>
            <a:r>
              <a:rPr lang="en-US" altLang="zh-CN" sz="2400" dirty="0">
                <a:latin typeface="Calibri" panose="020F0502020204030204" pitchFamily="34" charset="0"/>
                <a:cs typeface="Calibri" panose="020F0502020204030204" pitchFamily="34" charset="0"/>
              </a:rPr>
              <a:t>= LIFO queue, i.e., put successors at front
</a:t>
            </a:r>
            <a:endParaRPr lang="en-US" altLang="zh-C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6" descr="dfs-progress12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3947" y="3813175"/>
            <a:ext cx="4164106" cy="24341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9498992" y="5435220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494510" y="4223182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</a:t>
            </a:r>
            <a:endParaRPr lang="zh-CN" altLang="en-US" dirty="0"/>
          </a:p>
        </p:txBody>
      </p:sp>
      <p:sp>
        <p:nvSpPr>
          <p:cNvPr id="8" name="箭头: 右 7"/>
          <p:cNvSpPr/>
          <p:nvPr/>
        </p:nvSpPr>
        <p:spPr>
          <a:xfrm>
            <a:off x="9091375" y="4315070"/>
            <a:ext cx="336176" cy="17929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494510" y="5037396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9494510" y="4630058"/>
            <a:ext cx="434788" cy="363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Depth-First Search</a:t>
            </a:r>
            <a:endParaRPr lang="en-US" dirty="0"/>
          </a:p>
        </p:txBody>
      </p:sp>
      <p:grpSp>
        <p:nvGrpSpPr>
          <p:cNvPr id="19459" name="Group 3"/>
          <p:cNvGrpSpPr/>
          <p:nvPr/>
        </p:nvGrpSpPr>
        <p:grpSpPr bwMode="auto">
          <a:xfrm>
            <a:off x="3124200" y="3433765"/>
            <a:ext cx="5486400" cy="3355591"/>
            <a:chOff x="48" y="2332"/>
            <a:chExt cx="3456" cy="2406"/>
          </a:xfrm>
        </p:grpSpPr>
        <p:sp>
          <p:nvSpPr>
            <p:cNvPr id="19594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  <a:endParaRPr lang="en-US" sz="1600" dirty="0"/>
            </a:p>
          </p:txBody>
        </p:sp>
        <p:sp>
          <p:nvSpPr>
            <p:cNvPr id="19595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  <a:endParaRPr lang="en-US" i="1"/>
            </a:p>
          </p:txBody>
        </p:sp>
        <p:sp>
          <p:nvSpPr>
            <p:cNvPr id="19596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b</a:t>
              </a:r>
              <a:endParaRPr lang="en-US" i="1"/>
            </a:p>
          </p:txBody>
        </p:sp>
        <p:sp>
          <p:nvSpPr>
            <p:cNvPr id="19597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d</a:t>
              </a:r>
              <a:endParaRPr lang="en-US" i="1"/>
            </a:p>
          </p:txBody>
        </p:sp>
        <p:sp>
          <p:nvSpPr>
            <p:cNvPr id="19598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p</a:t>
              </a:r>
              <a:endParaRPr lang="en-US" i="1"/>
            </a:p>
          </p:txBody>
        </p:sp>
        <p:sp>
          <p:nvSpPr>
            <p:cNvPr id="19599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  <a:endParaRPr lang="en-US" i="1"/>
            </a:p>
          </p:txBody>
        </p:sp>
        <p:sp>
          <p:nvSpPr>
            <p:cNvPr id="19600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  <a:endParaRPr lang="en-US" i="1"/>
            </a:p>
          </p:txBody>
        </p:sp>
        <p:cxnSp>
          <p:nvCxnSpPr>
            <p:cNvPr id="19601" name="AutoShape 11"/>
            <p:cNvCxnSpPr>
              <a:cxnSpLocks noChangeShapeType="1"/>
              <a:stCxn id="19597" idx="2"/>
              <a:endCxn id="19596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19602" name="AutoShape 12"/>
            <p:cNvCxnSpPr>
              <a:cxnSpLocks noChangeShapeType="1"/>
              <a:stCxn id="19597" idx="2"/>
              <a:endCxn id="19600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19603" name="AutoShape 13"/>
            <p:cNvCxnSpPr>
              <a:cxnSpLocks noChangeShapeType="1"/>
              <a:stCxn id="19596" idx="2"/>
              <a:endCxn id="19595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19604" name="AutoShape 14"/>
            <p:cNvCxnSpPr>
              <a:cxnSpLocks noChangeShapeType="1"/>
              <a:stCxn id="19600" idx="2"/>
              <a:endCxn id="19599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grpSp>
          <p:nvGrpSpPr>
            <p:cNvPr id="19605" name="Group 15"/>
            <p:cNvGrpSpPr/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19632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  <a:endParaRPr lang="en-US" i="1"/>
              </a:p>
            </p:txBody>
          </p:sp>
          <p:sp>
            <p:nvSpPr>
              <p:cNvPr id="19633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  <a:endParaRPr lang="en-US" i="1"/>
              </a:p>
            </p:txBody>
          </p:sp>
          <p:sp>
            <p:nvSpPr>
              <p:cNvPr id="19634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  <a:endParaRPr lang="en-US" i="1"/>
              </a:p>
            </p:txBody>
          </p:sp>
          <p:sp>
            <p:nvSpPr>
              <p:cNvPr id="19635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  <a:endParaRPr lang="en-US" i="1"/>
              </a:p>
            </p:txBody>
          </p:sp>
          <p:sp>
            <p:nvSpPr>
              <p:cNvPr id="19636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  <a:endParaRPr lang="en-US" i="1"/>
              </a:p>
            </p:txBody>
          </p:sp>
          <p:sp>
            <p:nvSpPr>
              <p:cNvPr id="19637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  <a:endParaRPr lang="en-US" i="1"/>
              </a:p>
            </p:txBody>
          </p:sp>
          <p:sp>
            <p:nvSpPr>
              <p:cNvPr id="19638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  <a:endParaRPr lang="en-US" i="1"/>
              </a:p>
            </p:txBody>
          </p:sp>
          <p:sp>
            <p:nvSpPr>
              <p:cNvPr id="19639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  <a:endParaRPr lang="en-US" i="1"/>
              </a:p>
            </p:txBody>
          </p:sp>
          <p:sp>
            <p:nvSpPr>
              <p:cNvPr id="19640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  <a:endParaRPr lang="en-US" sz="1600" dirty="0"/>
              </a:p>
            </p:txBody>
          </p:sp>
          <p:sp>
            <p:nvSpPr>
              <p:cNvPr id="19641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  <a:endParaRPr lang="en-US" i="1"/>
              </a:p>
            </p:txBody>
          </p:sp>
          <p:cxnSp>
            <p:nvCxnSpPr>
              <p:cNvPr id="19642" name="AutoShape 26"/>
              <p:cNvCxnSpPr>
                <a:cxnSpLocks noChangeShapeType="1"/>
                <a:stCxn id="19632" idx="2"/>
                <a:endCxn id="19634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43" name="AutoShape 27"/>
              <p:cNvCxnSpPr>
                <a:cxnSpLocks noChangeShapeType="1"/>
                <a:stCxn id="19632" idx="2"/>
                <a:endCxn id="19636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44" name="AutoShape 28"/>
              <p:cNvCxnSpPr>
                <a:cxnSpLocks noChangeShapeType="1"/>
                <a:stCxn id="19634" idx="2"/>
                <a:endCxn id="19633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45" name="AutoShape 29"/>
              <p:cNvCxnSpPr>
                <a:cxnSpLocks noChangeShapeType="1"/>
                <a:stCxn id="19634" idx="2"/>
                <a:endCxn id="19637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46" name="AutoShape 30"/>
              <p:cNvCxnSpPr>
                <a:cxnSpLocks noChangeShapeType="1"/>
                <a:stCxn id="19636" idx="2"/>
                <a:endCxn id="19635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47" name="AutoShape 31"/>
              <p:cNvCxnSpPr>
                <a:cxnSpLocks noChangeShapeType="1"/>
                <a:stCxn id="19633" idx="2"/>
                <a:endCxn id="19638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48" name="AutoShape 32"/>
              <p:cNvCxnSpPr>
                <a:cxnSpLocks noChangeShapeType="1"/>
                <a:stCxn id="19635" idx="2"/>
                <a:endCxn id="19639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49" name="AutoShape 33"/>
              <p:cNvCxnSpPr>
                <a:cxnSpLocks noChangeShapeType="1"/>
                <a:stCxn id="19635" idx="2"/>
                <a:endCxn id="19640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50" name="AutoShape 34"/>
              <p:cNvCxnSpPr>
                <a:cxnSpLocks noChangeShapeType="1"/>
                <a:stCxn id="19639" idx="2"/>
                <a:endCxn id="19641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</p:grpSp>
        <p:sp>
          <p:nvSpPr>
            <p:cNvPr id="19606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  <a:endParaRPr lang="en-US" i="1"/>
            </a:p>
          </p:txBody>
        </p:sp>
        <p:cxnSp>
          <p:nvCxnSpPr>
            <p:cNvPr id="19607" name="AutoShape 36"/>
            <p:cNvCxnSpPr>
              <a:cxnSpLocks noChangeShapeType="1"/>
              <a:stCxn id="19598" idx="2"/>
              <a:endCxn id="19606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grpSp>
          <p:nvGrpSpPr>
            <p:cNvPr id="19608" name="Group 37"/>
            <p:cNvGrpSpPr/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19613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  <a:endParaRPr lang="en-US" i="1"/>
              </a:p>
            </p:txBody>
          </p:sp>
          <p:sp>
            <p:nvSpPr>
              <p:cNvPr id="19614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  <a:endParaRPr lang="en-US" i="1"/>
              </a:p>
            </p:txBody>
          </p:sp>
          <p:sp>
            <p:nvSpPr>
              <p:cNvPr id="19615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  <a:endParaRPr lang="en-US" i="1"/>
              </a:p>
            </p:txBody>
          </p:sp>
          <p:sp>
            <p:nvSpPr>
              <p:cNvPr id="19616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  <a:endParaRPr lang="en-US" i="1"/>
              </a:p>
            </p:txBody>
          </p:sp>
          <p:sp>
            <p:nvSpPr>
              <p:cNvPr id="19617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  <a:endParaRPr lang="en-US" i="1"/>
              </a:p>
            </p:txBody>
          </p:sp>
          <p:sp>
            <p:nvSpPr>
              <p:cNvPr id="19618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  <a:endParaRPr lang="en-US" i="1"/>
              </a:p>
            </p:txBody>
          </p:sp>
          <p:sp>
            <p:nvSpPr>
              <p:cNvPr id="19619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  <a:endParaRPr lang="en-US" i="1"/>
              </a:p>
            </p:txBody>
          </p:sp>
          <p:sp>
            <p:nvSpPr>
              <p:cNvPr id="19620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  <a:endParaRPr lang="en-US" i="1"/>
              </a:p>
            </p:txBody>
          </p:sp>
          <p:sp>
            <p:nvSpPr>
              <p:cNvPr id="19621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  <a:endParaRPr lang="en-US" sz="1600" dirty="0"/>
              </a:p>
            </p:txBody>
          </p:sp>
          <p:sp>
            <p:nvSpPr>
              <p:cNvPr id="19622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  <a:endParaRPr lang="en-US" i="1"/>
              </a:p>
            </p:txBody>
          </p:sp>
          <p:cxnSp>
            <p:nvCxnSpPr>
              <p:cNvPr id="19623" name="AutoShape 48"/>
              <p:cNvCxnSpPr>
                <a:cxnSpLocks noChangeShapeType="1"/>
                <a:stCxn id="19613" idx="2"/>
                <a:endCxn id="19615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24" name="AutoShape 49"/>
              <p:cNvCxnSpPr>
                <a:cxnSpLocks noChangeShapeType="1"/>
                <a:stCxn id="19613" idx="2"/>
                <a:endCxn id="19617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25" name="AutoShape 50"/>
              <p:cNvCxnSpPr>
                <a:cxnSpLocks noChangeShapeType="1"/>
                <a:stCxn id="19615" idx="2"/>
                <a:endCxn id="19614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26" name="AutoShape 51"/>
              <p:cNvCxnSpPr>
                <a:cxnSpLocks noChangeShapeType="1"/>
                <a:stCxn id="19615" idx="2"/>
                <a:endCxn id="19618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27" name="AutoShape 52"/>
              <p:cNvCxnSpPr>
                <a:cxnSpLocks noChangeShapeType="1"/>
                <a:stCxn id="19617" idx="2"/>
                <a:endCxn id="19616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28" name="AutoShape 53"/>
              <p:cNvCxnSpPr>
                <a:cxnSpLocks noChangeShapeType="1"/>
                <a:stCxn id="19614" idx="2"/>
                <a:endCxn id="19619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29" name="AutoShape 54"/>
              <p:cNvCxnSpPr>
                <a:cxnSpLocks noChangeShapeType="1"/>
                <a:stCxn id="19616" idx="2"/>
                <a:endCxn id="19620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30" name="AutoShape 55"/>
              <p:cNvCxnSpPr>
                <a:cxnSpLocks noChangeShapeType="1"/>
                <a:stCxn id="19616" idx="2"/>
                <a:endCxn id="19621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19631" name="AutoShape 56"/>
              <p:cNvCxnSpPr>
                <a:cxnSpLocks noChangeShapeType="1"/>
                <a:stCxn id="19620" idx="2"/>
                <a:endCxn id="19622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</p:grpSp>
        <p:cxnSp>
          <p:nvCxnSpPr>
            <p:cNvPr id="19609" name="AutoShape 57"/>
            <p:cNvCxnSpPr>
              <a:cxnSpLocks noChangeShapeType="1"/>
              <a:stCxn id="19597" idx="2"/>
              <a:endCxn id="19613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19610" name="AutoShape 58"/>
            <p:cNvCxnSpPr>
              <a:cxnSpLocks noChangeShapeType="1"/>
              <a:stCxn id="19594" idx="2"/>
              <a:endCxn id="19597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19611" name="AutoShape 59"/>
            <p:cNvCxnSpPr>
              <a:cxnSpLocks noChangeShapeType="1"/>
              <a:stCxn id="19594" idx="2"/>
              <a:endCxn id="19632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19612" name="AutoShape 60"/>
            <p:cNvCxnSpPr>
              <a:cxnSpLocks noChangeShapeType="1"/>
              <a:stCxn id="19594" idx="2"/>
              <a:endCxn id="19598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</p:grpSp>
      <p:sp>
        <p:nvSpPr>
          <p:cNvPr id="797757" name="Line 61"/>
          <p:cNvSpPr>
            <a:spLocks noChangeShapeType="1"/>
          </p:cNvSpPr>
          <p:nvPr/>
        </p:nvSpPr>
        <p:spPr bwMode="auto">
          <a:xfrm flipH="1">
            <a:off x="3835400" y="3738563"/>
            <a:ext cx="2489200" cy="177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58" name="Line 62"/>
          <p:cNvSpPr>
            <a:spLocks noChangeShapeType="1"/>
          </p:cNvSpPr>
          <p:nvPr/>
        </p:nvSpPr>
        <p:spPr bwMode="auto">
          <a:xfrm flipH="1">
            <a:off x="3305176" y="4241801"/>
            <a:ext cx="557213" cy="1603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59" name="Line 63"/>
          <p:cNvSpPr>
            <a:spLocks noChangeShapeType="1"/>
          </p:cNvSpPr>
          <p:nvPr/>
        </p:nvSpPr>
        <p:spPr bwMode="auto">
          <a:xfrm>
            <a:off x="3835401" y="4232277"/>
            <a:ext cx="160339" cy="1603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0" name="Line 64"/>
          <p:cNvSpPr>
            <a:spLocks noChangeShapeType="1"/>
          </p:cNvSpPr>
          <p:nvPr/>
        </p:nvSpPr>
        <p:spPr bwMode="auto">
          <a:xfrm flipH="1">
            <a:off x="3309943" y="4725988"/>
            <a:ext cx="3175" cy="2286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1" name="Line 65"/>
          <p:cNvSpPr>
            <a:spLocks noChangeShapeType="1"/>
          </p:cNvSpPr>
          <p:nvPr/>
        </p:nvSpPr>
        <p:spPr bwMode="auto">
          <a:xfrm flipH="1">
            <a:off x="4000506" y="4743451"/>
            <a:ext cx="3175" cy="2286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2" name="Line 66"/>
          <p:cNvSpPr>
            <a:spLocks noChangeShapeType="1"/>
          </p:cNvSpPr>
          <p:nvPr/>
        </p:nvSpPr>
        <p:spPr bwMode="auto">
          <a:xfrm>
            <a:off x="3832225" y="4256089"/>
            <a:ext cx="995363" cy="142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3" name="Line 67"/>
          <p:cNvSpPr>
            <a:spLocks noChangeShapeType="1"/>
          </p:cNvSpPr>
          <p:nvPr/>
        </p:nvSpPr>
        <p:spPr bwMode="auto">
          <a:xfrm flipH="1">
            <a:off x="4432306" y="4732339"/>
            <a:ext cx="398463" cy="2032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4" name="Line 68"/>
          <p:cNvSpPr>
            <a:spLocks noChangeShapeType="1"/>
          </p:cNvSpPr>
          <p:nvPr/>
        </p:nvSpPr>
        <p:spPr bwMode="auto">
          <a:xfrm flipH="1">
            <a:off x="4233865" y="5253044"/>
            <a:ext cx="219075" cy="2111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765" name="Line 69"/>
          <p:cNvSpPr>
            <a:spLocks noChangeShapeType="1"/>
          </p:cNvSpPr>
          <p:nvPr/>
        </p:nvSpPr>
        <p:spPr bwMode="auto">
          <a:xfrm>
            <a:off x="4238630" y="5797551"/>
            <a:ext cx="3175" cy="177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grpSp>
        <p:nvGrpSpPr>
          <p:cNvPr id="19469" name="Group 70"/>
          <p:cNvGrpSpPr/>
          <p:nvPr/>
        </p:nvGrpSpPr>
        <p:grpSpPr bwMode="auto">
          <a:xfrm>
            <a:off x="4491037" y="1371604"/>
            <a:ext cx="3205163" cy="1768475"/>
            <a:chOff x="816" y="1056"/>
            <a:chExt cx="4176" cy="2304"/>
          </a:xfrm>
        </p:grpSpPr>
        <p:grpSp>
          <p:nvGrpSpPr>
            <p:cNvPr id="19564" name="Group 71"/>
            <p:cNvGrpSpPr/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9566" name="AutoShape 72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  <a:endParaRPr lang="en-US"/>
              </a:p>
            </p:txBody>
          </p:sp>
          <p:sp>
            <p:nvSpPr>
              <p:cNvPr id="19567" name="AutoShape 73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  <a:endParaRPr lang="en-US"/>
              </a:p>
            </p:txBody>
          </p:sp>
          <p:sp>
            <p:nvSpPr>
              <p:cNvPr id="19568" name="AutoShape 74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d</a:t>
                </a:r>
                <a:endParaRPr lang="en-US" sz="1500" i="1" dirty="0"/>
              </a:p>
            </p:txBody>
          </p:sp>
          <p:sp>
            <p:nvSpPr>
              <p:cNvPr id="19569" name="AutoShape 75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b</a:t>
                </a:r>
                <a:endParaRPr lang="en-US" sz="1500" i="1" dirty="0"/>
              </a:p>
            </p:txBody>
          </p:sp>
          <p:sp>
            <p:nvSpPr>
              <p:cNvPr id="19570" name="AutoShape 76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p</a:t>
                </a:r>
                <a:endParaRPr lang="en-US" sz="1500" i="1" dirty="0"/>
              </a:p>
            </p:txBody>
          </p:sp>
          <p:sp>
            <p:nvSpPr>
              <p:cNvPr id="19571" name="AutoShape 77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q</a:t>
                </a:r>
                <a:endParaRPr lang="en-US" sz="1500" i="1" dirty="0"/>
              </a:p>
            </p:txBody>
          </p:sp>
          <p:sp>
            <p:nvSpPr>
              <p:cNvPr id="19572" name="AutoShape 78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c</a:t>
                </a:r>
                <a:endParaRPr lang="en-US" sz="1500" i="1" dirty="0"/>
              </a:p>
            </p:txBody>
          </p:sp>
          <p:sp>
            <p:nvSpPr>
              <p:cNvPr id="19573" name="AutoShape 79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e</a:t>
                </a:r>
                <a:endParaRPr lang="en-US" sz="1500" i="1" dirty="0"/>
              </a:p>
            </p:txBody>
          </p:sp>
          <p:sp>
            <p:nvSpPr>
              <p:cNvPr id="19574" name="AutoShape 80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h</a:t>
                </a:r>
                <a:endParaRPr lang="en-US" sz="1500" i="1" dirty="0"/>
              </a:p>
            </p:txBody>
          </p:sp>
          <p:sp>
            <p:nvSpPr>
              <p:cNvPr id="19575" name="AutoShape 81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a</a:t>
                </a:r>
                <a:endParaRPr lang="en-US" sz="1500" i="1" dirty="0"/>
              </a:p>
            </p:txBody>
          </p:sp>
          <p:sp>
            <p:nvSpPr>
              <p:cNvPr id="19576" name="AutoShape 82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f</a:t>
                </a:r>
                <a:endParaRPr lang="en-US" sz="1500" i="1" dirty="0"/>
              </a:p>
            </p:txBody>
          </p:sp>
          <p:sp>
            <p:nvSpPr>
              <p:cNvPr id="19577" name="AutoShape 83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r</a:t>
                </a:r>
                <a:endParaRPr lang="en-US" sz="1500" i="1" dirty="0"/>
              </a:p>
            </p:txBody>
          </p:sp>
          <p:cxnSp>
            <p:nvCxnSpPr>
              <p:cNvPr id="19578" name="AutoShape 84"/>
              <p:cNvCxnSpPr>
                <a:cxnSpLocks noChangeShapeType="1"/>
                <a:stCxn id="19566" idx="5"/>
                <a:endCxn id="19570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79" name="AutoShape 85"/>
              <p:cNvCxnSpPr>
                <a:cxnSpLocks noChangeShapeType="1"/>
                <a:stCxn id="19570" idx="5"/>
                <a:endCxn id="19571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80" name="AutoShape 86"/>
              <p:cNvCxnSpPr>
                <a:cxnSpLocks noChangeShapeType="1"/>
                <a:stCxn id="19574" idx="3"/>
                <a:endCxn id="19571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81" name="AutoShape 87"/>
              <p:cNvCxnSpPr>
                <a:cxnSpLocks noChangeShapeType="1"/>
                <a:stCxn id="19574" idx="2"/>
                <a:endCxn id="19570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82" name="AutoShape 88"/>
              <p:cNvCxnSpPr>
                <a:cxnSpLocks noChangeShapeType="1"/>
                <a:stCxn id="19573" idx="4"/>
                <a:endCxn id="19574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83" name="AutoShape 89"/>
              <p:cNvCxnSpPr>
                <a:cxnSpLocks noChangeShapeType="1"/>
                <a:stCxn id="19573" idx="5"/>
                <a:endCxn id="19577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84" name="AutoShape 90"/>
              <p:cNvCxnSpPr>
                <a:cxnSpLocks noChangeShapeType="1"/>
                <a:stCxn id="19577" idx="0"/>
                <a:endCxn id="19576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85" name="AutoShape 91"/>
              <p:cNvCxnSpPr>
                <a:cxnSpLocks noChangeShapeType="1"/>
                <a:stCxn id="19576" idx="0"/>
                <a:endCxn id="19567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86" name="AutoShape 92"/>
              <p:cNvCxnSpPr>
                <a:cxnSpLocks noChangeShapeType="1"/>
                <a:stCxn id="19566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87" name="AutoShape 93"/>
              <p:cNvCxnSpPr>
                <a:cxnSpLocks noChangeShapeType="1"/>
                <a:stCxn id="19568" idx="1"/>
                <a:endCxn id="19569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88" name="AutoShape 94"/>
              <p:cNvCxnSpPr>
                <a:cxnSpLocks noChangeShapeType="1"/>
                <a:endCxn id="19575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89" name="AutoShape 95"/>
              <p:cNvCxnSpPr>
                <a:cxnSpLocks noChangeShapeType="1"/>
                <a:stCxn id="19572" idx="2"/>
                <a:endCxn id="19575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90" name="AutoShape 96"/>
              <p:cNvCxnSpPr>
                <a:cxnSpLocks noChangeShapeType="1"/>
                <a:stCxn id="19568" idx="7"/>
                <a:endCxn id="19572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91" name="AutoShape 97"/>
              <p:cNvCxnSpPr>
                <a:cxnSpLocks noChangeShapeType="1"/>
                <a:stCxn id="19568" idx="6"/>
                <a:endCxn id="19573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92" name="AutoShape 98"/>
              <p:cNvCxnSpPr>
                <a:cxnSpLocks noChangeShapeType="1"/>
                <a:stCxn id="19576" idx="1"/>
                <a:endCxn id="19572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19593" name="AutoShape 99"/>
              <p:cNvCxnSpPr>
                <a:cxnSpLocks noChangeShapeType="1"/>
                <a:stCxn id="19566" idx="6"/>
                <a:endCxn id="19573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</p:grpSp>
        <p:cxnSp>
          <p:nvCxnSpPr>
            <p:cNvPr id="19565" name="AutoShape 100"/>
            <p:cNvCxnSpPr>
              <a:cxnSpLocks noChangeShapeType="1"/>
              <a:stCxn id="19571" idx="6"/>
              <a:endCxn id="19577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tailEnd type="triangle" w="med" len="med"/>
            </a:ln>
          </p:spPr>
        </p:cxnSp>
      </p:grpSp>
      <p:sp>
        <p:nvSpPr>
          <p:cNvPr id="19470" name="AutoShape 101"/>
          <p:cNvSpPr>
            <a:spLocks noChangeArrowheads="1"/>
          </p:cNvSpPr>
          <p:nvPr/>
        </p:nvSpPr>
        <p:spPr bwMode="auto">
          <a:xfrm>
            <a:off x="4491038" y="2408237"/>
            <a:ext cx="317500" cy="304800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wrap="none" lIns="91432" tIns="45718" rIns="91432" bIns="45718" anchor="ctr"/>
          <a:lstStyle/>
          <a:p>
            <a:pPr algn="ctr"/>
            <a:endParaRPr lang="en-US" sz="1200" dirty="0"/>
          </a:p>
        </p:txBody>
      </p:sp>
      <p:grpSp>
        <p:nvGrpSpPr>
          <p:cNvPr id="7" name="Group 102"/>
          <p:cNvGrpSpPr/>
          <p:nvPr/>
        </p:nvGrpSpPr>
        <p:grpSpPr bwMode="auto">
          <a:xfrm>
            <a:off x="5333180" y="2835275"/>
            <a:ext cx="807272" cy="304800"/>
            <a:chOff x="1914" y="2963"/>
            <a:chExt cx="1052" cy="397"/>
          </a:xfrm>
        </p:grpSpPr>
        <p:sp>
          <p:nvSpPr>
            <p:cNvPr id="19562" name="AutoShape 103"/>
            <p:cNvSpPr>
              <a:spLocks noChangeArrowheads="1"/>
            </p:cNvSpPr>
            <p:nvPr/>
          </p:nvSpPr>
          <p:spPr bwMode="auto">
            <a:xfrm>
              <a:off x="2553" y="296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q</a:t>
              </a:r>
              <a:endParaRPr lang="en-US" sz="1500" i="1" dirty="0"/>
            </a:p>
          </p:txBody>
        </p:sp>
        <p:cxnSp>
          <p:nvCxnSpPr>
            <p:cNvPr id="19563" name="AutoShape 104"/>
            <p:cNvCxnSpPr>
              <a:cxnSpLocks noChangeShapeType="1"/>
              <a:stCxn id="19560" idx="5"/>
              <a:endCxn id="19562" idx="2"/>
            </p:cNvCxnSpPr>
            <p:nvPr/>
          </p:nvCxnSpPr>
          <p:spPr bwMode="auto">
            <a:xfrm flipV="1">
              <a:off x="1914" y="3162"/>
              <a:ext cx="639" cy="2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</p:spPr>
        </p:cxnSp>
      </p:grpSp>
      <p:grpSp>
        <p:nvGrpSpPr>
          <p:cNvPr id="8" name="Group 105"/>
          <p:cNvGrpSpPr/>
          <p:nvPr/>
        </p:nvGrpSpPr>
        <p:grpSpPr bwMode="auto">
          <a:xfrm>
            <a:off x="5062538" y="2591572"/>
            <a:ext cx="1299841" cy="456433"/>
            <a:chOff x="1560" y="2646"/>
            <a:chExt cx="1695" cy="595"/>
          </a:xfrm>
        </p:grpSpPr>
        <p:sp>
          <p:nvSpPr>
            <p:cNvPr id="19560" name="AutoShape 106"/>
            <p:cNvSpPr>
              <a:spLocks noChangeArrowheads="1"/>
            </p:cNvSpPr>
            <p:nvPr/>
          </p:nvSpPr>
          <p:spPr bwMode="auto">
            <a:xfrm>
              <a:off x="1560" y="284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p</a:t>
              </a:r>
              <a:endParaRPr lang="en-US" sz="1500" i="1" dirty="0"/>
            </a:p>
          </p:txBody>
        </p:sp>
        <p:cxnSp>
          <p:nvCxnSpPr>
            <p:cNvPr id="19561" name="AutoShape 107"/>
            <p:cNvCxnSpPr>
              <a:cxnSpLocks noChangeShapeType="1"/>
              <a:stCxn id="19558" idx="2"/>
              <a:endCxn id="19560" idx="6"/>
            </p:cNvCxnSpPr>
            <p:nvPr/>
          </p:nvCxnSpPr>
          <p:spPr bwMode="auto">
            <a:xfrm flipH="1">
              <a:off x="1974" y="2646"/>
              <a:ext cx="1281" cy="39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</p:spPr>
        </p:cxnSp>
      </p:grpSp>
      <p:grpSp>
        <p:nvGrpSpPr>
          <p:cNvPr id="9" name="Group 108"/>
          <p:cNvGrpSpPr/>
          <p:nvPr/>
        </p:nvGrpSpPr>
        <p:grpSpPr bwMode="auto">
          <a:xfrm>
            <a:off x="6362702" y="2316463"/>
            <a:ext cx="412751" cy="428328"/>
            <a:chOff x="3255" y="2287"/>
            <a:chExt cx="538" cy="557"/>
          </a:xfrm>
        </p:grpSpPr>
        <p:sp>
          <p:nvSpPr>
            <p:cNvPr id="19558" name="AutoShape 109"/>
            <p:cNvSpPr>
              <a:spLocks noChangeArrowheads="1"/>
            </p:cNvSpPr>
            <p:nvPr/>
          </p:nvSpPr>
          <p:spPr bwMode="auto">
            <a:xfrm>
              <a:off x="3255" y="2446"/>
              <a:ext cx="414" cy="398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h</a:t>
              </a:r>
              <a:endParaRPr lang="en-US" sz="1500" i="1" dirty="0"/>
            </a:p>
          </p:txBody>
        </p:sp>
        <p:cxnSp>
          <p:nvCxnSpPr>
            <p:cNvPr id="19559" name="AutoShape 110"/>
            <p:cNvCxnSpPr>
              <a:cxnSpLocks noChangeShapeType="1"/>
              <a:stCxn id="19544" idx="4"/>
              <a:endCxn id="19558" idx="7"/>
            </p:cNvCxnSpPr>
            <p:nvPr/>
          </p:nvCxnSpPr>
          <p:spPr bwMode="auto">
            <a:xfrm flipH="1">
              <a:off x="3608" y="2287"/>
              <a:ext cx="185" cy="2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</p:spPr>
        </p:cxnSp>
      </p:grpSp>
      <p:grpSp>
        <p:nvGrpSpPr>
          <p:cNvPr id="10" name="Group 111"/>
          <p:cNvGrpSpPr/>
          <p:nvPr/>
        </p:nvGrpSpPr>
        <p:grpSpPr bwMode="auto">
          <a:xfrm>
            <a:off x="7283450" y="2195514"/>
            <a:ext cx="317500" cy="548964"/>
            <a:chOff x="4454" y="2129"/>
            <a:chExt cx="414" cy="715"/>
          </a:xfrm>
        </p:grpSpPr>
        <p:sp>
          <p:nvSpPr>
            <p:cNvPr id="19556" name="AutoShape 112"/>
            <p:cNvSpPr>
              <a:spLocks noChangeArrowheads="1"/>
            </p:cNvSpPr>
            <p:nvPr/>
          </p:nvSpPr>
          <p:spPr bwMode="auto">
            <a:xfrm>
              <a:off x="4454" y="212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f</a:t>
              </a:r>
              <a:endParaRPr lang="en-US" sz="1500" i="1" dirty="0"/>
            </a:p>
          </p:txBody>
        </p:sp>
        <p:cxnSp>
          <p:nvCxnSpPr>
            <p:cNvPr id="19557" name="AutoShape 113"/>
            <p:cNvCxnSpPr>
              <a:cxnSpLocks noChangeShapeType="1"/>
              <a:stCxn id="797828" idx="0"/>
              <a:endCxn id="19556" idx="4"/>
            </p:cNvCxnSpPr>
            <p:nvPr/>
          </p:nvCxnSpPr>
          <p:spPr bwMode="auto">
            <a:xfrm flipV="1">
              <a:off x="4495" y="2526"/>
              <a:ext cx="166" cy="3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</p:spPr>
        </p:cxnSp>
      </p:grpSp>
      <p:grpSp>
        <p:nvGrpSpPr>
          <p:cNvPr id="11" name="Group 114"/>
          <p:cNvGrpSpPr/>
          <p:nvPr/>
        </p:nvGrpSpPr>
        <p:grpSpPr bwMode="auto">
          <a:xfrm>
            <a:off x="7378702" y="1371602"/>
            <a:ext cx="317500" cy="824137"/>
            <a:chOff x="4579" y="1056"/>
            <a:chExt cx="413" cy="1055"/>
          </a:xfrm>
        </p:grpSpPr>
        <p:sp>
          <p:nvSpPr>
            <p:cNvPr id="19554" name="AutoShape 115"/>
            <p:cNvSpPr>
              <a:spLocks noChangeArrowheads="1"/>
            </p:cNvSpPr>
            <p:nvPr/>
          </p:nvSpPr>
          <p:spPr bwMode="auto">
            <a:xfrm>
              <a:off x="4579" y="105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pPr algn="ctr"/>
              <a:endParaRPr lang="en-US" sz="1200" dirty="0"/>
            </a:p>
          </p:txBody>
        </p:sp>
        <p:cxnSp>
          <p:nvCxnSpPr>
            <p:cNvPr id="19555" name="AutoShape 116"/>
            <p:cNvCxnSpPr>
              <a:cxnSpLocks noChangeShapeType="1"/>
              <a:stCxn id="19556" idx="0"/>
              <a:endCxn id="19554" idx="4"/>
            </p:cNvCxnSpPr>
            <p:nvPr/>
          </p:nvCxnSpPr>
          <p:spPr bwMode="auto">
            <a:xfrm flipV="1">
              <a:off x="4662" y="1453"/>
              <a:ext cx="124" cy="65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</p:spPr>
        </p:cxnSp>
      </p:grpSp>
      <p:grpSp>
        <p:nvGrpSpPr>
          <p:cNvPr id="12" name="Group 117"/>
          <p:cNvGrpSpPr/>
          <p:nvPr/>
        </p:nvGrpSpPr>
        <p:grpSpPr bwMode="auto">
          <a:xfrm>
            <a:off x="4800862" y="2133603"/>
            <a:ext cx="928424" cy="318758"/>
            <a:chOff x="1219" y="2049"/>
            <a:chExt cx="1210" cy="416"/>
          </a:xfrm>
        </p:grpSpPr>
        <p:sp>
          <p:nvSpPr>
            <p:cNvPr id="19552" name="AutoShape 118"/>
            <p:cNvSpPr>
              <a:spLocks noChangeArrowheads="1"/>
            </p:cNvSpPr>
            <p:nvPr/>
          </p:nvSpPr>
          <p:spPr bwMode="auto">
            <a:xfrm>
              <a:off x="2015" y="204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d</a:t>
              </a:r>
              <a:endParaRPr lang="en-US" sz="1500" i="1" dirty="0"/>
            </a:p>
          </p:txBody>
        </p:sp>
        <p:cxnSp>
          <p:nvCxnSpPr>
            <p:cNvPr id="19553" name="AutoShape 119"/>
            <p:cNvCxnSpPr>
              <a:cxnSpLocks noChangeShapeType="1"/>
            </p:cNvCxnSpPr>
            <p:nvPr/>
          </p:nvCxnSpPr>
          <p:spPr bwMode="auto">
            <a:xfrm flipV="1">
              <a:off x="1219" y="2248"/>
              <a:ext cx="846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</p:spPr>
        </p:cxnSp>
      </p:grpSp>
      <p:grpSp>
        <p:nvGrpSpPr>
          <p:cNvPr id="13" name="Group 120"/>
          <p:cNvGrpSpPr/>
          <p:nvPr/>
        </p:nvGrpSpPr>
        <p:grpSpPr bwMode="auto">
          <a:xfrm>
            <a:off x="4745037" y="1676401"/>
            <a:ext cx="712789" cy="502091"/>
            <a:chOff x="1147" y="1453"/>
            <a:chExt cx="929" cy="655"/>
          </a:xfrm>
        </p:grpSpPr>
        <p:sp>
          <p:nvSpPr>
            <p:cNvPr id="19550" name="AutoShape 121"/>
            <p:cNvSpPr>
              <a:spLocks noChangeArrowheads="1"/>
            </p:cNvSpPr>
            <p:nvPr/>
          </p:nvSpPr>
          <p:spPr bwMode="auto">
            <a:xfrm>
              <a:off x="1147" y="145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b</a:t>
              </a:r>
              <a:endParaRPr lang="en-US" sz="1500" i="1" dirty="0"/>
            </a:p>
          </p:txBody>
        </p:sp>
        <p:cxnSp>
          <p:nvCxnSpPr>
            <p:cNvPr id="19551" name="AutoShape 122"/>
            <p:cNvCxnSpPr>
              <a:cxnSpLocks noChangeShapeType="1"/>
              <a:stCxn id="19568" idx="1"/>
              <a:endCxn id="19550" idx="5"/>
            </p:cNvCxnSpPr>
            <p:nvPr/>
          </p:nvCxnSpPr>
          <p:spPr bwMode="auto">
            <a:xfrm flipH="1" flipV="1">
              <a:off x="1500" y="1792"/>
              <a:ext cx="576" cy="31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</p:spPr>
        </p:cxnSp>
      </p:grpSp>
      <p:grpSp>
        <p:nvGrpSpPr>
          <p:cNvPr id="14" name="Group 123"/>
          <p:cNvGrpSpPr/>
          <p:nvPr/>
        </p:nvGrpSpPr>
        <p:grpSpPr bwMode="auto">
          <a:xfrm>
            <a:off x="5021262" y="1401763"/>
            <a:ext cx="611188" cy="319088"/>
            <a:chOff x="1507" y="1096"/>
            <a:chExt cx="797" cy="416"/>
          </a:xfrm>
        </p:grpSpPr>
        <p:sp>
          <p:nvSpPr>
            <p:cNvPr id="19548" name="AutoShape 124"/>
            <p:cNvSpPr>
              <a:spLocks noChangeArrowheads="1"/>
            </p:cNvSpPr>
            <p:nvPr/>
          </p:nvSpPr>
          <p:spPr bwMode="auto">
            <a:xfrm>
              <a:off x="1891" y="109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a</a:t>
              </a:r>
              <a:endParaRPr lang="en-US" sz="1500" i="1" dirty="0"/>
            </a:p>
          </p:txBody>
        </p:sp>
        <p:cxnSp>
          <p:nvCxnSpPr>
            <p:cNvPr id="19549" name="AutoShape 125"/>
            <p:cNvCxnSpPr>
              <a:cxnSpLocks noChangeShapeType="1"/>
              <a:endCxn id="19548" idx="2"/>
            </p:cNvCxnSpPr>
            <p:nvPr/>
          </p:nvCxnSpPr>
          <p:spPr bwMode="auto">
            <a:xfrm flipV="1">
              <a:off x="1507" y="1295"/>
              <a:ext cx="372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</p:spPr>
        </p:cxnSp>
      </p:grpSp>
      <p:grpSp>
        <p:nvGrpSpPr>
          <p:cNvPr id="15" name="Group 126"/>
          <p:cNvGrpSpPr/>
          <p:nvPr/>
        </p:nvGrpSpPr>
        <p:grpSpPr bwMode="auto">
          <a:xfrm>
            <a:off x="5682429" y="1646237"/>
            <a:ext cx="807272" cy="532259"/>
            <a:chOff x="2369" y="1414"/>
            <a:chExt cx="1052" cy="694"/>
          </a:xfrm>
        </p:grpSpPr>
        <p:sp>
          <p:nvSpPr>
            <p:cNvPr id="19546" name="AutoShape 127"/>
            <p:cNvSpPr>
              <a:spLocks noChangeArrowheads="1"/>
            </p:cNvSpPr>
            <p:nvPr/>
          </p:nvSpPr>
          <p:spPr bwMode="auto">
            <a:xfrm>
              <a:off x="3007" y="141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c</a:t>
              </a:r>
              <a:endParaRPr lang="en-US" sz="1500" i="1" dirty="0"/>
            </a:p>
          </p:txBody>
        </p:sp>
        <p:cxnSp>
          <p:nvCxnSpPr>
            <p:cNvPr id="19547" name="AutoShape 128"/>
            <p:cNvCxnSpPr>
              <a:cxnSpLocks noChangeShapeType="1"/>
              <a:stCxn id="19552" idx="7"/>
              <a:endCxn id="19546" idx="3"/>
            </p:cNvCxnSpPr>
            <p:nvPr/>
          </p:nvCxnSpPr>
          <p:spPr bwMode="auto">
            <a:xfrm flipV="1">
              <a:off x="2369" y="1753"/>
              <a:ext cx="698" cy="355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</p:spPr>
        </p:cxnSp>
      </p:grpSp>
      <p:grpSp>
        <p:nvGrpSpPr>
          <p:cNvPr id="16" name="Group 129"/>
          <p:cNvGrpSpPr/>
          <p:nvPr/>
        </p:nvGrpSpPr>
        <p:grpSpPr bwMode="auto">
          <a:xfrm>
            <a:off x="5729611" y="2011363"/>
            <a:ext cx="1204590" cy="304800"/>
            <a:chOff x="2429" y="1890"/>
            <a:chExt cx="1571" cy="397"/>
          </a:xfrm>
        </p:grpSpPr>
        <p:sp>
          <p:nvSpPr>
            <p:cNvPr id="19544" name="AutoShape 130"/>
            <p:cNvSpPr>
              <a:spLocks noChangeArrowheads="1"/>
            </p:cNvSpPr>
            <p:nvPr/>
          </p:nvSpPr>
          <p:spPr bwMode="auto">
            <a:xfrm>
              <a:off x="3586" y="1890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e</a:t>
              </a:r>
              <a:endParaRPr lang="en-US" sz="1500" i="1" dirty="0"/>
            </a:p>
          </p:txBody>
        </p:sp>
        <p:cxnSp>
          <p:nvCxnSpPr>
            <p:cNvPr id="19545" name="AutoShape 131"/>
            <p:cNvCxnSpPr>
              <a:cxnSpLocks noChangeShapeType="1"/>
              <a:stCxn id="19552" idx="6"/>
              <a:endCxn id="19544" idx="2"/>
            </p:cNvCxnSpPr>
            <p:nvPr/>
          </p:nvCxnSpPr>
          <p:spPr bwMode="auto">
            <a:xfrm flipV="1">
              <a:off x="2429" y="2089"/>
              <a:ext cx="1157" cy="159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</p:spPr>
        </p:cxnSp>
      </p:grpSp>
      <p:sp>
        <p:nvSpPr>
          <p:cNvPr id="797828" name="AutoShape 132"/>
          <p:cNvSpPr>
            <a:spLocks noChangeArrowheads="1"/>
          </p:cNvSpPr>
          <p:nvPr/>
        </p:nvSpPr>
        <p:spPr bwMode="auto">
          <a:xfrm>
            <a:off x="7156450" y="2744791"/>
            <a:ext cx="317500" cy="303213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wrap="none" lIns="91432" tIns="45718" rIns="91432" bIns="45718" anchor="ctr"/>
          <a:lstStyle/>
          <a:p>
            <a:pPr algn="ctr"/>
            <a:r>
              <a:rPr lang="en-US" sz="1500" i="1" dirty="0"/>
              <a:t>r</a:t>
            </a:r>
            <a:endParaRPr lang="en-US" sz="1500" i="1" dirty="0"/>
          </a:p>
        </p:txBody>
      </p:sp>
      <p:cxnSp>
        <p:nvCxnSpPr>
          <p:cNvPr id="797829" name="AutoShape 133"/>
          <p:cNvCxnSpPr>
            <a:cxnSpLocks noChangeShapeType="1"/>
            <a:stCxn id="19544" idx="5"/>
            <a:endCxn id="797828" idx="1"/>
          </p:cNvCxnSpPr>
          <p:nvPr/>
        </p:nvCxnSpPr>
        <p:spPr bwMode="auto">
          <a:xfrm>
            <a:off x="6888161" y="2290766"/>
            <a:ext cx="314325" cy="479425"/>
          </a:xfrm>
          <a:prstGeom prst="straightConnector1">
            <a:avLst/>
          </a:prstGeom>
          <a:noFill/>
          <a:ln w="38100">
            <a:solidFill>
              <a:srgbClr val="CC0000"/>
            </a:solidFill>
            <a:round/>
            <a:tailEnd type="triangle" w="med" len="med"/>
          </a:ln>
        </p:spPr>
      </p:cxnSp>
      <p:grpSp>
        <p:nvGrpSpPr>
          <p:cNvPr id="17" name="Group 134"/>
          <p:cNvGrpSpPr/>
          <p:nvPr/>
        </p:nvGrpSpPr>
        <p:grpSpPr bwMode="auto">
          <a:xfrm>
            <a:off x="5316538" y="1408117"/>
            <a:ext cx="855337" cy="389758"/>
            <a:chOff x="1891" y="1104"/>
            <a:chExt cx="1116" cy="508"/>
          </a:xfrm>
        </p:grpSpPr>
        <p:cxnSp>
          <p:nvCxnSpPr>
            <p:cNvPr id="19542" name="AutoShape 135"/>
            <p:cNvCxnSpPr>
              <a:cxnSpLocks noChangeShapeType="1"/>
              <a:stCxn id="19546" idx="2"/>
              <a:endCxn id="19543" idx="6"/>
            </p:cNvCxnSpPr>
            <p:nvPr/>
          </p:nvCxnSpPr>
          <p:spPr bwMode="auto">
            <a:xfrm flipH="1" flipV="1">
              <a:off x="2304" y="1302"/>
              <a:ext cx="703" cy="31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</p:spPr>
        </p:cxnSp>
        <p:sp>
          <p:nvSpPr>
            <p:cNvPr id="19543" name="AutoShape 136"/>
            <p:cNvSpPr>
              <a:spLocks noChangeArrowheads="1"/>
            </p:cNvSpPr>
            <p:nvPr/>
          </p:nvSpPr>
          <p:spPr bwMode="auto">
            <a:xfrm>
              <a:off x="1891" y="1104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pPr algn="ctr"/>
              <a:endParaRPr lang="en-US" sz="1500" i="1" dirty="0"/>
            </a:p>
          </p:txBody>
        </p:sp>
      </p:grpSp>
      <p:grpSp>
        <p:nvGrpSpPr>
          <p:cNvPr id="18" name="Group 137"/>
          <p:cNvGrpSpPr/>
          <p:nvPr/>
        </p:nvGrpSpPr>
        <p:grpSpPr bwMode="auto">
          <a:xfrm>
            <a:off x="6186488" y="1655767"/>
            <a:ext cx="1143767" cy="583895"/>
            <a:chOff x="3024" y="1427"/>
            <a:chExt cx="1492" cy="760"/>
          </a:xfrm>
        </p:grpSpPr>
        <p:cxnSp>
          <p:nvCxnSpPr>
            <p:cNvPr id="19540" name="AutoShape 138"/>
            <p:cNvCxnSpPr>
              <a:cxnSpLocks noChangeShapeType="1"/>
              <a:stCxn id="19556" idx="1"/>
              <a:endCxn id="19546" idx="6"/>
            </p:cNvCxnSpPr>
            <p:nvPr/>
          </p:nvCxnSpPr>
          <p:spPr bwMode="auto">
            <a:xfrm rot="16200000" flipV="1">
              <a:off x="3680" y="1352"/>
              <a:ext cx="575" cy="1096"/>
            </a:xfrm>
            <a:prstGeom prst="curvedConnector2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</p:spPr>
        </p:cxnSp>
        <p:sp>
          <p:nvSpPr>
            <p:cNvPr id="19541" name="AutoShape 139"/>
            <p:cNvSpPr>
              <a:spLocks noChangeArrowheads="1"/>
            </p:cNvSpPr>
            <p:nvPr/>
          </p:nvSpPr>
          <p:spPr bwMode="auto">
            <a:xfrm>
              <a:off x="3024" y="1427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pPr algn="ctr"/>
              <a:endParaRPr lang="en-US" sz="1500" i="1" dirty="0"/>
            </a:p>
          </p:txBody>
        </p:sp>
      </p:grpSp>
      <p:sp>
        <p:nvSpPr>
          <p:cNvPr id="19485" name="Line 140"/>
          <p:cNvSpPr>
            <a:spLocks noChangeShapeType="1"/>
          </p:cNvSpPr>
          <p:nvPr/>
        </p:nvSpPr>
        <p:spPr bwMode="auto">
          <a:xfrm>
            <a:off x="3" y="3371851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37" name="Oval 141"/>
          <p:cNvSpPr>
            <a:spLocks noChangeArrowheads="1"/>
          </p:cNvSpPr>
          <p:nvPr/>
        </p:nvSpPr>
        <p:spPr bwMode="auto">
          <a:xfrm>
            <a:off x="6140455" y="3478213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38" name="Oval 142"/>
          <p:cNvSpPr>
            <a:spLocks noChangeArrowheads="1"/>
          </p:cNvSpPr>
          <p:nvPr/>
        </p:nvSpPr>
        <p:spPr bwMode="auto">
          <a:xfrm>
            <a:off x="3729039" y="3971930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39" name="Oval 143"/>
          <p:cNvSpPr>
            <a:spLocks noChangeArrowheads="1"/>
          </p:cNvSpPr>
          <p:nvPr/>
        </p:nvSpPr>
        <p:spPr bwMode="auto">
          <a:xfrm>
            <a:off x="3165481" y="445135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0" name="Oval 144"/>
          <p:cNvSpPr>
            <a:spLocks noChangeArrowheads="1"/>
          </p:cNvSpPr>
          <p:nvPr/>
        </p:nvSpPr>
        <p:spPr bwMode="auto">
          <a:xfrm>
            <a:off x="3865563" y="44513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1" name="Oval 145"/>
          <p:cNvSpPr>
            <a:spLocks noChangeArrowheads="1"/>
          </p:cNvSpPr>
          <p:nvPr/>
        </p:nvSpPr>
        <p:spPr bwMode="auto">
          <a:xfrm>
            <a:off x="4686305" y="44338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2" name="Oval 146"/>
          <p:cNvSpPr>
            <a:spLocks noChangeArrowheads="1"/>
          </p:cNvSpPr>
          <p:nvPr/>
        </p:nvSpPr>
        <p:spPr bwMode="auto">
          <a:xfrm>
            <a:off x="3163888" y="50069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3" name="Oval 147"/>
          <p:cNvSpPr>
            <a:spLocks noChangeArrowheads="1"/>
          </p:cNvSpPr>
          <p:nvPr/>
        </p:nvSpPr>
        <p:spPr bwMode="auto">
          <a:xfrm>
            <a:off x="3856039" y="49990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4" name="Oval 148"/>
          <p:cNvSpPr>
            <a:spLocks noChangeArrowheads="1"/>
          </p:cNvSpPr>
          <p:nvPr/>
        </p:nvSpPr>
        <p:spPr bwMode="auto">
          <a:xfrm>
            <a:off x="4325939" y="49815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5" name="Oval 149"/>
          <p:cNvSpPr>
            <a:spLocks noChangeArrowheads="1"/>
          </p:cNvSpPr>
          <p:nvPr/>
        </p:nvSpPr>
        <p:spPr bwMode="auto">
          <a:xfrm>
            <a:off x="5002213" y="49720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6" name="Oval 150"/>
          <p:cNvSpPr>
            <a:spLocks noChangeArrowheads="1"/>
          </p:cNvSpPr>
          <p:nvPr/>
        </p:nvSpPr>
        <p:spPr bwMode="auto">
          <a:xfrm>
            <a:off x="4087813" y="5510213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7" name="Oval 151"/>
          <p:cNvSpPr>
            <a:spLocks noChangeArrowheads="1"/>
          </p:cNvSpPr>
          <p:nvPr/>
        </p:nvSpPr>
        <p:spPr bwMode="auto">
          <a:xfrm>
            <a:off x="4532313" y="55181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8" name="Oval 152"/>
          <p:cNvSpPr>
            <a:spLocks noChangeArrowheads="1"/>
          </p:cNvSpPr>
          <p:nvPr/>
        </p:nvSpPr>
        <p:spPr bwMode="auto">
          <a:xfrm>
            <a:off x="4105281" y="6015039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49" name="Oval 153"/>
          <p:cNvSpPr>
            <a:spLocks noChangeArrowheads="1"/>
          </p:cNvSpPr>
          <p:nvPr/>
        </p:nvSpPr>
        <p:spPr bwMode="auto">
          <a:xfrm>
            <a:off x="4992688" y="55197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0" name="Oval 154"/>
          <p:cNvSpPr>
            <a:spLocks noChangeArrowheads="1"/>
          </p:cNvSpPr>
          <p:nvPr/>
        </p:nvSpPr>
        <p:spPr bwMode="auto">
          <a:xfrm>
            <a:off x="4772030" y="60071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1" name="Oval 155"/>
          <p:cNvSpPr>
            <a:spLocks noChangeArrowheads="1"/>
          </p:cNvSpPr>
          <p:nvPr/>
        </p:nvSpPr>
        <p:spPr bwMode="auto">
          <a:xfrm>
            <a:off x="5254630" y="60340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2" name="Oval 156"/>
          <p:cNvSpPr>
            <a:spLocks noChangeArrowheads="1"/>
          </p:cNvSpPr>
          <p:nvPr/>
        </p:nvSpPr>
        <p:spPr bwMode="auto">
          <a:xfrm>
            <a:off x="4787905" y="64770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53" name="Line 157"/>
          <p:cNvSpPr>
            <a:spLocks noChangeShapeType="1"/>
          </p:cNvSpPr>
          <p:nvPr/>
        </p:nvSpPr>
        <p:spPr bwMode="auto">
          <a:xfrm flipH="1" flipV="1">
            <a:off x="4824413" y="4733930"/>
            <a:ext cx="309563" cy="1809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4" name="Line 158"/>
          <p:cNvSpPr>
            <a:spLocks noChangeShapeType="1"/>
          </p:cNvSpPr>
          <p:nvPr/>
        </p:nvSpPr>
        <p:spPr bwMode="auto">
          <a:xfrm flipH="1" flipV="1">
            <a:off x="4438653" y="5254630"/>
            <a:ext cx="258763" cy="21431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5" name="Line 159"/>
          <p:cNvSpPr>
            <a:spLocks noChangeShapeType="1"/>
          </p:cNvSpPr>
          <p:nvPr/>
        </p:nvSpPr>
        <p:spPr bwMode="auto">
          <a:xfrm flipH="1" flipV="1">
            <a:off x="5138743" y="5253040"/>
            <a:ext cx="3175" cy="22383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6" name="Line 160"/>
          <p:cNvSpPr>
            <a:spLocks noChangeShapeType="1"/>
          </p:cNvSpPr>
          <p:nvPr/>
        </p:nvSpPr>
        <p:spPr bwMode="auto">
          <a:xfrm flipH="1" flipV="1">
            <a:off x="5129213" y="5791201"/>
            <a:ext cx="258763" cy="196851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7" name="Line 161"/>
          <p:cNvSpPr>
            <a:spLocks noChangeShapeType="1"/>
          </p:cNvSpPr>
          <p:nvPr/>
        </p:nvSpPr>
        <p:spPr bwMode="auto">
          <a:xfrm flipV="1">
            <a:off x="4918076" y="5792788"/>
            <a:ext cx="212725" cy="1635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797858" name="Line 162"/>
          <p:cNvSpPr>
            <a:spLocks noChangeShapeType="1"/>
          </p:cNvSpPr>
          <p:nvPr/>
        </p:nvSpPr>
        <p:spPr bwMode="auto">
          <a:xfrm flipV="1">
            <a:off x="4900618" y="6280154"/>
            <a:ext cx="7937" cy="17303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9508" name="Oval 163"/>
          <p:cNvSpPr>
            <a:spLocks noChangeArrowheads="1"/>
          </p:cNvSpPr>
          <p:nvPr/>
        </p:nvSpPr>
        <p:spPr bwMode="auto">
          <a:xfrm>
            <a:off x="6142037" y="3479805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0" name="Oval 164"/>
          <p:cNvSpPr>
            <a:spLocks noChangeArrowheads="1"/>
          </p:cNvSpPr>
          <p:nvPr/>
        </p:nvSpPr>
        <p:spPr bwMode="auto">
          <a:xfrm>
            <a:off x="3730630" y="397351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1" name="Oval 165"/>
          <p:cNvSpPr>
            <a:spLocks noChangeArrowheads="1"/>
          </p:cNvSpPr>
          <p:nvPr/>
        </p:nvSpPr>
        <p:spPr bwMode="auto">
          <a:xfrm>
            <a:off x="6524630" y="39068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2" name="Oval 166"/>
          <p:cNvSpPr>
            <a:spLocks noChangeArrowheads="1"/>
          </p:cNvSpPr>
          <p:nvPr/>
        </p:nvSpPr>
        <p:spPr bwMode="auto">
          <a:xfrm>
            <a:off x="8269288" y="3922713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3" name="Oval 167"/>
          <p:cNvSpPr>
            <a:spLocks noChangeArrowheads="1"/>
          </p:cNvSpPr>
          <p:nvPr/>
        </p:nvSpPr>
        <p:spPr bwMode="auto">
          <a:xfrm>
            <a:off x="3167063" y="4452939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4" name="Oval 168"/>
          <p:cNvSpPr>
            <a:spLocks noChangeArrowheads="1"/>
          </p:cNvSpPr>
          <p:nvPr/>
        </p:nvSpPr>
        <p:spPr bwMode="auto">
          <a:xfrm>
            <a:off x="3867156" y="44529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5" name="Oval 169"/>
          <p:cNvSpPr>
            <a:spLocks noChangeArrowheads="1"/>
          </p:cNvSpPr>
          <p:nvPr/>
        </p:nvSpPr>
        <p:spPr bwMode="auto">
          <a:xfrm>
            <a:off x="4687888" y="44354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6" name="Oval 170"/>
          <p:cNvSpPr>
            <a:spLocks noChangeArrowheads="1"/>
          </p:cNvSpPr>
          <p:nvPr/>
        </p:nvSpPr>
        <p:spPr bwMode="auto">
          <a:xfrm>
            <a:off x="3165481" y="50085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7" name="Oval 171"/>
          <p:cNvSpPr>
            <a:spLocks noChangeArrowheads="1"/>
          </p:cNvSpPr>
          <p:nvPr/>
        </p:nvSpPr>
        <p:spPr bwMode="auto">
          <a:xfrm>
            <a:off x="3857630" y="4992688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8" name="Oval 172"/>
          <p:cNvSpPr>
            <a:spLocks noChangeArrowheads="1"/>
          </p:cNvSpPr>
          <p:nvPr/>
        </p:nvSpPr>
        <p:spPr bwMode="auto">
          <a:xfrm>
            <a:off x="4327530" y="4983163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69" name="Oval 173"/>
          <p:cNvSpPr>
            <a:spLocks noChangeArrowheads="1"/>
          </p:cNvSpPr>
          <p:nvPr/>
        </p:nvSpPr>
        <p:spPr bwMode="auto">
          <a:xfrm>
            <a:off x="5003805" y="49736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0" name="Oval 174"/>
          <p:cNvSpPr>
            <a:spLocks noChangeArrowheads="1"/>
          </p:cNvSpPr>
          <p:nvPr/>
        </p:nvSpPr>
        <p:spPr bwMode="auto">
          <a:xfrm>
            <a:off x="4089405" y="5511805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1" name="Oval 175"/>
          <p:cNvSpPr>
            <a:spLocks noChangeArrowheads="1"/>
          </p:cNvSpPr>
          <p:nvPr/>
        </p:nvSpPr>
        <p:spPr bwMode="auto">
          <a:xfrm>
            <a:off x="4533905" y="5519739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2" name="Oval 176"/>
          <p:cNvSpPr>
            <a:spLocks noChangeArrowheads="1"/>
          </p:cNvSpPr>
          <p:nvPr/>
        </p:nvSpPr>
        <p:spPr bwMode="auto">
          <a:xfrm>
            <a:off x="4114805" y="60166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3" name="Oval 177"/>
          <p:cNvSpPr>
            <a:spLocks noChangeArrowheads="1"/>
          </p:cNvSpPr>
          <p:nvPr/>
        </p:nvSpPr>
        <p:spPr bwMode="auto">
          <a:xfrm>
            <a:off x="4994281" y="5521330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4" name="Oval 178"/>
          <p:cNvSpPr>
            <a:spLocks noChangeArrowheads="1"/>
          </p:cNvSpPr>
          <p:nvPr/>
        </p:nvSpPr>
        <p:spPr bwMode="auto">
          <a:xfrm>
            <a:off x="4773613" y="6008688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5" name="Oval 179"/>
          <p:cNvSpPr>
            <a:spLocks noChangeArrowheads="1"/>
          </p:cNvSpPr>
          <p:nvPr/>
        </p:nvSpPr>
        <p:spPr bwMode="auto">
          <a:xfrm>
            <a:off x="5256213" y="603568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6" name="Oval 180"/>
          <p:cNvSpPr>
            <a:spLocks noChangeArrowheads="1"/>
          </p:cNvSpPr>
          <p:nvPr/>
        </p:nvSpPr>
        <p:spPr bwMode="auto">
          <a:xfrm>
            <a:off x="4789488" y="6478588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7" name="Oval 181"/>
          <p:cNvSpPr>
            <a:spLocks noChangeArrowheads="1"/>
          </p:cNvSpPr>
          <p:nvPr/>
        </p:nvSpPr>
        <p:spPr bwMode="auto">
          <a:xfrm>
            <a:off x="3165481" y="5000630"/>
            <a:ext cx="290513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8" name="Oval 182"/>
          <p:cNvSpPr>
            <a:spLocks noChangeArrowheads="1"/>
          </p:cNvSpPr>
          <p:nvPr/>
        </p:nvSpPr>
        <p:spPr bwMode="auto">
          <a:xfrm>
            <a:off x="3167063" y="4445005"/>
            <a:ext cx="290512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79" name="Oval 183"/>
          <p:cNvSpPr>
            <a:spLocks noChangeArrowheads="1"/>
          </p:cNvSpPr>
          <p:nvPr/>
        </p:nvSpPr>
        <p:spPr bwMode="auto">
          <a:xfrm>
            <a:off x="3857630" y="4992688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0" name="Oval 184"/>
          <p:cNvSpPr>
            <a:spLocks noChangeArrowheads="1"/>
          </p:cNvSpPr>
          <p:nvPr/>
        </p:nvSpPr>
        <p:spPr bwMode="auto">
          <a:xfrm>
            <a:off x="3867156" y="4445005"/>
            <a:ext cx="290513" cy="265113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1" name="Oval 185"/>
          <p:cNvSpPr>
            <a:spLocks noChangeArrowheads="1"/>
          </p:cNvSpPr>
          <p:nvPr/>
        </p:nvSpPr>
        <p:spPr bwMode="auto">
          <a:xfrm>
            <a:off x="4089405" y="5503863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2" name="Oval 186"/>
          <p:cNvSpPr>
            <a:spLocks noChangeArrowheads="1"/>
          </p:cNvSpPr>
          <p:nvPr/>
        </p:nvSpPr>
        <p:spPr bwMode="auto">
          <a:xfrm>
            <a:off x="4106863" y="60086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grpSp>
        <p:nvGrpSpPr>
          <p:cNvPr id="19" name="Group 187"/>
          <p:cNvGrpSpPr/>
          <p:nvPr/>
        </p:nvGrpSpPr>
        <p:grpSpPr bwMode="auto">
          <a:xfrm>
            <a:off x="5821364" y="2698751"/>
            <a:ext cx="588963" cy="431800"/>
            <a:chOff x="2762" y="1745"/>
            <a:chExt cx="371" cy="272"/>
          </a:xfrm>
        </p:grpSpPr>
        <p:cxnSp>
          <p:nvCxnSpPr>
            <p:cNvPr id="19538" name="AutoShape 188"/>
            <p:cNvCxnSpPr>
              <a:cxnSpLocks noChangeShapeType="1"/>
            </p:cNvCxnSpPr>
            <p:nvPr/>
          </p:nvCxnSpPr>
          <p:spPr bwMode="auto">
            <a:xfrm flipH="1">
              <a:off x="2934" y="1745"/>
              <a:ext cx="199" cy="114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tailEnd type="triangle" w="med" len="med"/>
            </a:ln>
          </p:spPr>
        </p:cxnSp>
        <p:sp>
          <p:nvSpPr>
            <p:cNvPr id="19539" name="AutoShape 189"/>
            <p:cNvSpPr>
              <a:spLocks noChangeArrowheads="1"/>
            </p:cNvSpPr>
            <p:nvPr/>
          </p:nvSpPr>
          <p:spPr bwMode="auto">
            <a:xfrm>
              <a:off x="2762" y="1825"/>
              <a:ext cx="200" cy="192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pPr algn="ctr"/>
              <a:endParaRPr lang="en-US" sz="1500" i="1" dirty="0"/>
            </a:p>
          </p:txBody>
        </p:sp>
      </p:grpSp>
      <p:sp>
        <p:nvSpPr>
          <p:cNvPr id="797886" name="Oval 190"/>
          <p:cNvSpPr>
            <a:spLocks noChangeArrowheads="1"/>
          </p:cNvSpPr>
          <p:nvPr/>
        </p:nvSpPr>
        <p:spPr bwMode="auto">
          <a:xfrm>
            <a:off x="4327530" y="4983163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7" name="Oval 191"/>
          <p:cNvSpPr>
            <a:spLocks noChangeArrowheads="1"/>
          </p:cNvSpPr>
          <p:nvPr/>
        </p:nvSpPr>
        <p:spPr bwMode="auto">
          <a:xfrm>
            <a:off x="4533905" y="5519739"/>
            <a:ext cx="290513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8" name="Oval 192"/>
          <p:cNvSpPr>
            <a:spLocks noChangeArrowheads="1"/>
          </p:cNvSpPr>
          <p:nvPr/>
        </p:nvSpPr>
        <p:spPr bwMode="auto">
          <a:xfrm>
            <a:off x="4773613" y="60086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797889" name="Oval 193"/>
          <p:cNvSpPr>
            <a:spLocks noChangeArrowheads="1"/>
          </p:cNvSpPr>
          <p:nvPr/>
        </p:nvSpPr>
        <p:spPr bwMode="auto">
          <a:xfrm>
            <a:off x="4789488" y="6478588"/>
            <a:ext cx="290512" cy="265112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19537" name="Text Box 194"/>
          <p:cNvSpPr txBox="1">
            <a:spLocks noChangeArrowheads="1"/>
          </p:cNvSpPr>
          <p:nvPr/>
        </p:nvSpPr>
        <p:spPr bwMode="auto">
          <a:xfrm>
            <a:off x="695776" y="1424809"/>
            <a:ext cx="2281237" cy="13388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latin typeface="Calibri" panose="020F0502020204030204" pitchFamily="34" charset="0"/>
              </a:rPr>
              <a:t>Strategy: expand a deepest node first</a:t>
            </a:r>
            <a:endParaRPr lang="en-US" i="1" dirty="0">
              <a:latin typeface="Calibri" panose="020F050202020403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i="1" dirty="0">
                <a:latin typeface="Calibri" panose="020F0502020204030204" pitchFamily="34" charset="0"/>
              </a:rPr>
              <a:t>Implementation: Fringe is a LIFO stack</a:t>
            </a:r>
            <a:endParaRPr lang="en-US" i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57" grpId="0" animBg="1"/>
      <p:bldP spid="797758" grpId="0" animBg="1"/>
      <p:bldP spid="797758" grpId="1" animBg="1"/>
      <p:bldP spid="797759" grpId="0" animBg="1"/>
      <p:bldP spid="797759" grpId="1" animBg="1"/>
      <p:bldP spid="797760" grpId="0" animBg="1"/>
      <p:bldP spid="797760" grpId="1" animBg="1"/>
      <p:bldP spid="797761" grpId="0" animBg="1"/>
      <p:bldP spid="797761" grpId="1" animBg="1"/>
      <p:bldP spid="797762" grpId="0" animBg="1"/>
      <p:bldP spid="797763" grpId="0" animBg="1"/>
      <p:bldP spid="797763" grpId="1" animBg="1"/>
      <p:bldP spid="797764" grpId="0" animBg="1"/>
      <p:bldP spid="797764" grpId="1" animBg="1"/>
      <p:bldP spid="797765" grpId="0" animBg="1"/>
      <p:bldP spid="797765" grpId="1" animBg="1"/>
      <p:bldP spid="797765" grpId="2" animBg="1"/>
      <p:bldP spid="797828" grpId="0" animBg="1"/>
      <p:bldP spid="797837" grpId="0" animBg="1"/>
      <p:bldP spid="797838" grpId="0" animBg="1"/>
      <p:bldP spid="797839" grpId="0" animBg="1"/>
      <p:bldP spid="797839" grpId="1" animBg="1"/>
      <p:bldP spid="797840" grpId="0" animBg="1"/>
      <p:bldP spid="797840" grpId="1" animBg="1"/>
      <p:bldP spid="797841" grpId="0" animBg="1"/>
      <p:bldP spid="797842" grpId="0" animBg="1"/>
      <p:bldP spid="797842" grpId="1" animBg="1"/>
      <p:bldP spid="797843" grpId="0" animBg="1"/>
      <p:bldP spid="797843" grpId="1" animBg="1"/>
      <p:bldP spid="797844" grpId="0" animBg="1"/>
      <p:bldP spid="797844" grpId="1" animBg="1"/>
      <p:bldP spid="797845" grpId="0" animBg="1"/>
      <p:bldP spid="797846" grpId="0" animBg="1"/>
      <p:bldP spid="797846" grpId="1" animBg="1"/>
      <p:bldP spid="797847" grpId="0" animBg="1"/>
      <p:bldP spid="797847" grpId="1" animBg="1"/>
      <p:bldP spid="797848" grpId="0" animBg="1"/>
      <p:bldP spid="797848" grpId="1" animBg="1"/>
      <p:bldP spid="797849" grpId="0" animBg="1"/>
      <p:bldP spid="797850" grpId="0" animBg="1"/>
      <p:bldP spid="797850" grpId="1" animBg="1"/>
      <p:bldP spid="797851" grpId="0" animBg="1"/>
      <p:bldP spid="797852" grpId="0" animBg="1"/>
      <p:bldP spid="797852" grpId="1" animBg="1"/>
      <p:bldP spid="797853" grpId="0" animBg="1"/>
      <p:bldP spid="797854" grpId="0" animBg="1"/>
      <p:bldP spid="797854" grpId="1" animBg="1"/>
      <p:bldP spid="797855" grpId="0" animBg="1"/>
      <p:bldP spid="797856" grpId="0" animBg="1"/>
      <p:bldP spid="797857" grpId="0" animBg="1"/>
      <p:bldP spid="797857" grpId="1" animBg="1"/>
      <p:bldP spid="797858" grpId="0" animBg="1"/>
      <p:bldP spid="797858" grpId="1" animBg="1"/>
      <p:bldP spid="797860" grpId="0" animBg="1"/>
      <p:bldP spid="797861" grpId="0" animBg="1"/>
      <p:bldP spid="797862" grpId="0" animBg="1"/>
      <p:bldP spid="797863" grpId="0" animBg="1"/>
      <p:bldP spid="797864" grpId="0" animBg="1"/>
      <p:bldP spid="797865" grpId="0" animBg="1"/>
      <p:bldP spid="797866" grpId="0" animBg="1"/>
      <p:bldP spid="797867" grpId="0" animBg="1"/>
      <p:bldP spid="797868" grpId="0" animBg="1"/>
      <p:bldP spid="797869" grpId="0" animBg="1"/>
      <p:bldP spid="797870" grpId="0" animBg="1"/>
      <p:bldP spid="797871" grpId="0" animBg="1"/>
      <p:bldP spid="797872" grpId="0" animBg="1"/>
      <p:bldP spid="797873" grpId="0" animBg="1"/>
      <p:bldP spid="797874" grpId="0" animBg="1"/>
      <p:bldP spid="797875" grpId="0" animBg="1"/>
      <p:bldP spid="797876" grpId="0" animBg="1"/>
      <p:bldP spid="797877" grpId="0" animBg="1"/>
      <p:bldP spid="797878" grpId="0" animBg="1"/>
      <p:bldP spid="797879" grpId="0" animBg="1"/>
      <p:bldP spid="797880" grpId="0" animBg="1"/>
      <p:bldP spid="797881" grpId="0" animBg="1"/>
      <p:bldP spid="797882" grpId="0" animBg="1"/>
      <p:bldP spid="797886" grpId="0" animBg="1"/>
      <p:bldP spid="797887" grpId="0" animBg="1"/>
      <p:bldP spid="797888" grpId="0" animBg="1"/>
      <p:bldP spid="79788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4000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Properties of depth-first search</a:t>
            </a:r>
            <a:endParaRPr lang="en-US" altLang="zh-CN" sz="4000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62468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486833"/>
            <a:ext cx="10022739" cy="4572000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eaLnBrk="1" hangingPunct="1">
              <a:lnSpc>
                <a:spcPct val="70000"/>
              </a:lnSpc>
            </a:pPr>
            <a:r>
              <a:rPr lang="en-US" altLang="zh-CN" sz="20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Complete? Time? </a:t>
            </a:r>
            <a:r>
              <a:rPr lang="en-US" altLang="zh-CN" sz="2000" u="sng" dirty="0" err="1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Space?Optimal</a:t>
            </a:r>
            <a:r>
              <a:rPr lang="en-US" altLang="zh-CN" sz="20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altLang="zh-CN" sz="2000" u="sng" dirty="0">
              <a:solidFill>
                <a:srgbClr val="CC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70000"/>
              </a:lnSpc>
            </a:pPr>
            <a:endParaRPr lang="en-US" altLang="zh-CN" sz="2000" u="sng" dirty="0">
              <a:solidFill>
                <a:srgbClr val="CC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en-US" altLang="zh-CN" sz="20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Complete?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No: fails in infinite-depth spaces, spaces with loops</a:t>
            </a:r>
            <a:endParaRPr lang="en-US" altLang="zh-CN" sz="20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70000"/>
              </a:lnSpc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Modify to avoid repeated states along path (graph search)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15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1500" dirty="0">
                <a:latin typeface="Calibri" panose="020F0502020204030204" pitchFamily="34" charset="0"/>
                <a:cs typeface="Calibri" panose="020F0502020204030204" pitchFamily="34" charset="0"/>
              </a:rPr>
              <a:t> complete in finite spaces
</a:t>
            </a:r>
            <a:endParaRPr lang="en-US" altLang="zh-CN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en-US" altLang="zh-CN" sz="20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Time?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i="1" dirty="0">
                <a:latin typeface="Calibri" panose="020F0502020204030204" pitchFamily="34" charset="0"/>
                <a:cs typeface="Calibri" panose="020F0502020204030204" pitchFamily="34" charset="0"/>
              </a:rPr>
              <a:t>O(b</a:t>
            </a:r>
            <a:r>
              <a:rPr lang="en-US" altLang="zh-CN" sz="2000" i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altLang="zh-CN" sz="2000" i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zh-CN" sz="2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terrible if maximum depth </a:t>
            </a:r>
            <a:r>
              <a:rPr lang="en-US" altLang="zh-CN" sz="20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altLang="zh-CN" sz="2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much larger than solution depth </a:t>
            </a:r>
            <a:r>
              <a:rPr lang="en-US" altLang="zh-CN" sz="20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endParaRPr lang="en-US" altLang="zh-CN" sz="2000" i="1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70000"/>
              </a:lnSpc>
            </a:pPr>
            <a:r>
              <a:rPr lang="en-US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 but if solutions are dense, may be much faster than breadth-first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en-US" altLang="zh-CN" sz="20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Space?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O(bm), </a:t>
            </a:r>
            <a:r>
              <a:rPr lang="en-US" altLang="zh-CN" sz="2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i.e., linear space! Store single path with unexpanded siblings.</a:t>
            </a:r>
            <a:endParaRPr lang="en-US" altLang="zh-CN" sz="20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70000"/>
              </a:lnSpc>
            </a:pP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Seems to be common in animals and humans.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en-US" altLang="zh-CN" sz="20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Optimal?</a:t>
            </a: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No.</a:t>
            </a:r>
            <a:b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70000"/>
              </a:lnSpc>
            </a:pPr>
            <a:r>
              <a:rPr lang="en-US" altLang="zh-CN" sz="2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Important for exploration (on-line search).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Depth-limited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6083" name="Rectangle 3"/>
          <p:cNvSpPr>
            <a:spLocks noGrp="1"/>
          </p:cNvSpPr>
          <p:nvPr>
            <p:ph sz="quarter" idx="4294967295"/>
          </p:nvPr>
        </p:nvSpPr>
        <p:spPr>
          <a:xfrm>
            <a:off x="1091254" y="1507004"/>
            <a:ext cx="10427645" cy="4572000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depth-first search with depth limit </a:t>
            </a: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US" altLang="zh-CN" sz="22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1900" dirty="0">
                <a:latin typeface="Calibri" panose="020F0502020204030204" pitchFamily="34" charset="0"/>
                <a:cs typeface="Calibri" panose="020F0502020204030204" pitchFamily="34" charset="0"/>
              </a:rPr>
              <a:t>i.e., nodes at depth </a:t>
            </a:r>
            <a:r>
              <a:rPr lang="en-US" altLang="zh-CN" sz="1900" i="1" dirty="0"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altLang="zh-CN" sz="1900" dirty="0">
                <a:latin typeface="Calibri" panose="020F0502020204030204" pitchFamily="34" charset="0"/>
                <a:cs typeface="Calibri" panose="020F0502020204030204" pitchFamily="34" charset="0"/>
              </a:rPr>
              <a:t> have no successors</a:t>
            </a:r>
            <a:endParaRPr lang="en-US" altLang="zh-CN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1900" dirty="0">
                <a:latin typeface="Calibri" panose="020F0502020204030204" pitchFamily="34" charset="0"/>
                <a:cs typeface="Calibri" panose="020F0502020204030204" pitchFamily="34" charset="0"/>
              </a:rPr>
              <a:t>Solves infinite loop problem</a:t>
            </a:r>
            <a:endParaRPr lang="en-US" altLang="zh-CN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Common AI strategy: let user choose search/resource bound.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r>
              <a:rPr lang="en-US" altLang="zh-CN" sz="26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Complete?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if l &lt; d:</a:t>
            </a:r>
            <a:endParaRPr lang="en-US" altLang="zh-CN" sz="22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600" u="sng" dirty="0">
              <a:solidFill>
                <a:srgbClr val="CC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6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Time?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O(b</a:t>
            </a:r>
            <a:r>
              <a:rPr lang="en-US" altLang="zh-CN" sz="2600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altLang="zh-CN" sz="26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zh-CN" sz="26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US" altLang="zh-CN" sz="26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600" u="sng" dirty="0">
              <a:solidFill>
                <a:srgbClr val="CC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6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Space?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O(bl), </a:t>
            </a:r>
            <a:r>
              <a:rPr lang="en-US" altLang="zh-CN" sz="26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i.e., linear space!</a:t>
            </a:r>
            <a:endParaRPr lang="en-US" altLang="zh-CN" sz="26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600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Optimal?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if l &gt; b</a:t>
            </a:r>
            <a:endParaRPr lang="en-US" altLang="zh-CN" sz="22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4" eaLnBrk="1" hangingPunct="1">
              <a:lnSpc>
                <a:spcPct val="90000"/>
              </a:lnSpc>
            </a:pPr>
            <a:endParaRPr lang="en-US" altLang="zh-CN" sz="15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Freeform 2"/>
          <p:cNvSpPr/>
          <p:nvPr/>
        </p:nvSpPr>
        <p:spPr bwMode="auto">
          <a:xfrm>
            <a:off x="9250359" y="2112965"/>
            <a:ext cx="965200" cy="82867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21251" name="Freeform 3"/>
          <p:cNvSpPr/>
          <p:nvPr/>
        </p:nvSpPr>
        <p:spPr bwMode="auto">
          <a:xfrm>
            <a:off x="8866184" y="2112968"/>
            <a:ext cx="1725613" cy="1470025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21252" name="Freeform 4"/>
          <p:cNvSpPr/>
          <p:nvPr/>
        </p:nvSpPr>
        <p:spPr bwMode="auto">
          <a:xfrm>
            <a:off x="9070978" y="2119313"/>
            <a:ext cx="1323975" cy="1162051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Iterative Deepening</a:t>
            </a:r>
            <a:endParaRPr lang="en-US"/>
          </a:p>
        </p:txBody>
      </p:sp>
      <p:sp>
        <p:nvSpPr>
          <p:cNvPr id="30" name="Content Placeholder 29"/>
          <p:cNvSpPr>
            <a:spLocks noGrp="1"/>
          </p:cNvSpPr>
          <p:nvPr>
            <p:ph idx="4294967295"/>
          </p:nvPr>
        </p:nvSpPr>
        <p:spPr>
          <a:xfrm>
            <a:off x="1086647" y="1383553"/>
            <a:ext cx="6908800" cy="4729163"/>
          </a:xfrm>
        </p:spPr>
        <p:txBody>
          <a:bodyPr/>
          <a:lstStyle/>
          <a:p>
            <a:r>
              <a:rPr lang="en-US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Idea: get DFS’s space advantage with BFS’s time / shallow-solution advantages</a:t>
            </a:r>
            <a:endParaRPr lang="en-US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Run a DFS with depth limit 1.  If no solution…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Run a DFS with depth limit 2.  If no solution…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Run a DFS with depth limit 3.  …..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Isn’t that wastefully redundant?</a:t>
            </a:r>
            <a:endParaRPr lang="en-US" sz="28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Generally most work happens in the lowest level searched, so not so bad!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679" name="Freeform 55"/>
          <p:cNvSpPr/>
          <p:nvPr/>
        </p:nvSpPr>
        <p:spPr bwMode="auto">
          <a:xfrm>
            <a:off x="8274051" y="2093912"/>
            <a:ext cx="2927351" cy="2554288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680" name="Oval 56"/>
          <p:cNvSpPr>
            <a:spLocks noChangeArrowheads="1"/>
          </p:cNvSpPr>
          <p:nvPr/>
        </p:nvSpPr>
        <p:spPr bwMode="auto">
          <a:xfrm>
            <a:off x="9628187" y="2024063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6681" name="Oval 57"/>
          <p:cNvSpPr>
            <a:spLocks noChangeArrowheads="1"/>
          </p:cNvSpPr>
          <p:nvPr/>
        </p:nvSpPr>
        <p:spPr bwMode="auto">
          <a:xfrm>
            <a:off x="9396411" y="2449515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6682" name="Oval 58"/>
          <p:cNvSpPr>
            <a:spLocks noChangeArrowheads="1"/>
          </p:cNvSpPr>
          <p:nvPr/>
        </p:nvSpPr>
        <p:spPr bwMode="auto">
          <a:xfrm>
            <a:off x="9872659" y="2439987"/>
            <a:ext cx="179388" cy="1793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6683" name="Text Box 59"/>
          <p:cNvSpPr txBox="1">
            <a:spLocks noChangeArrowheads="1"/>
          </p:cNvSpPr>
          <p:nvPr/>
        </p:nvSpPr>
        <p:spPr bwMode="auto">
          <a:xfrm>
            <a:off x="9526589" y="2300291"/>
            <a:ext cx="274639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…</a:t>
            </a:r>
            <a:endParaRPr lang="en-US"/>
          </a:p>
        </p:txBody>
      </p:sp>
      <p:sp>
        <p:nvSpPr>
          <p:cNvPr id="26684" name="Freeform 60"/>
          <p:cNvSpPr/>
          <p:nvPr/>
        </p:nvSpPr>
        <p:spPr bwMode="auto">
          <a:xfrm>
            <a:off x="9509123" y="2254251"/>
            <a:ext cx="444500" cy="88900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sm" len="sm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26685" name="Text Box 61"/>
          <p:cNvSpPr txBox="1">
            <a:spLocks noChangeArrowheads="1"/>
          </p:cNvSpPr>
          <p:nvPr/>
        </p:nvSpPr>
        <p:spPr bwMode="auto">
          <a:xfrm>
            <a:off x="9910761" y="2052639"/>
            <a:ext cx="298451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</a:t>
            </a:r>
            <a:endParaRPr lang="en-US"/>
          </a:p>
        </p:txBody>
      </p:sp>
      <p:sp>
        <p:nvSpPr>
          <p:cNvPr id="26686" name="Oval 62"/>
          <p:cNvSpPr>
            <a:spLocks noChangeArrowheads="1"/>
          </p:cNvSpPr>
          <p:nvPr/>
        </p:nvSpPr>
        <p:spPr bwMode="auto">
          <a:xfrm>
            <a:off x="10120311" y="3489325"/>
            <a:ext cx="179388" cy="179387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21312" name="Freeform 64"/>
          <p:cNvSpPr/>
          <p:nvPr/>
        </p:nvSpPr>
        <p:spPr bwMode="auto">
          <a:xfrm>
            <a:off x="9472614" y="2119315"/>
            <a:ext cx="511175" cy="419100"/>
          </a:xfrm>
          <a:custGeom>
            <a:avLst/>
            <a:gdLst>
              <a:gd name="T0" fmla="*/ 2147483647 w 1087"/>
              <a:gd name="T1" fmla="*/ 0 h 926"/>
              <a:gd name="T2" fmla="*/ 0 w 1087"/>
              <a:gd name="T3" fmla="*/ 2147483647 h 926"/>
              <a:gd name="T4" fmla="*/ 2147483647 w 1087"/>
              <a:gd name="T5" fmla="*/ 2147483647 h 926"/>
              <a:gd name="T6" fmla="*/ 2147483647 w 1087"/>
              <a:gd name="T7" fmla="*/ 0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1087"/>
              <a:gd name="T13" fmla="*/ 0 h 926"/>
              <a:gd name="T14" fmla="*/ 1087 w 1087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7" h="926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250" grpId="0" animBg="1"/>
      <p:bldP spid="821251" grpId="0" animBg="1"/>
      <p:bldP spid="821252" grpId="0" animBg="1"/>
      <p:bldP spid="8213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Iterative deepening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64516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pic>
        <p:nvPicPr>
          <p:cNvPr id="64518" name="Picture 4"/>
          <p:cNvPicPr>
            <a:picLocks noChangeAspect="1"/>
          </p:cNvPicPr>
          <p:nvPr/>
        </p:nvPicPr>
        <p:blipFill>
          <a:blip r:embed="rId1"/>
          <a:srcRect l="14844" t="18750" r="3125" b="51042"/>
          <a:stretch>
            <a:fillRect/>
          </a:stretch>
        </p:blipFill>
        <p:spPr>
          <a:xfrm>
            <a:off x="2095500" y="1687606"/>
            <a:ext cx="8001000" cy="2209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4000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Iterative deepening search </a:t>
            </a:r>
            <a:r>
              <a:rPr lang="en-US" altLang="zh-CN" sz="4000" i="1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l </a:t>
            </a:r>
            <a:r>
              <a:rPr lang="en-US" altLang="zh-CN" sz="4000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=0</a:t>
            </a:r>
            <a:endParaRPr lang="en-US" altLang="zh-CN" sz="4000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65540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pic>
        <p:nvPicPr>
          <p:cNvPr id="65542" name="Picture 4" descr="ids-progress1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657350"/>
            <a:ext cx="7620000" cy="3543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4000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Iterative deepening search </a:t>
            </a:r>
            <a:r>
              <a:rPr lang="en-US" altLang="zh-CN" sz="4000" i="1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l </a:t>
            </a:r>
            <a:r>
              <a:rPr lang="en-US" altLang="zh-CN" sz="4000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=1</a:t>
            </a:r>
            <a:endParaRPr lang="en-US" altLang="zh-CN" sz="4000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66564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pic>
        <p:nvPicPr>
          <p:cNvPr id="66566" name="Picture 4" descr="ids-progress2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657350"/>
            <a:ext cx="7620000" cy="3543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4000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Iterative deepening search </a:t>
            </a:r>
            <a:r>
              <a:rPr lang="en-US" altLang="zh-CN" sz="4000" i="1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l </a:t>
            </a:r>
            <a:r>
              <a:rPr lang="en-US" altLang="zh-CN" sz="4000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=2</a:t>
            </a:r>
            <a:endParaRPr lang="en-US" altLang="zh-CN" sz="4000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67588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pic>
        <p:nvPicPr>
          <p:cNvPr id="67590" name="Picture 4" descr="ids-progress3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652588"/>
            <a:ext cx="7620000" cy="3552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sz="4000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Iterative deepening search </a:t>
            </a:r>
            <a:r>
              <a:rPr lang="en-US" altLang="zh-CN" sz="4000" i="1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l </a:t>
            </a:r>
            <a:r>
              <a:rPr lang="en-US" altLang="zh-CN" sz="4000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=3</a:t>
            </a:r>
            <a:endParaRPr lang="en-US" altLang="zh-CN" sz="4000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68612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pic>
        <p:nvPicPr>
          <p:cNvPr id="68614" name="Picture 4" descr="ids-progress4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657350"/>
            <a:ext cx="7620000" cy="3543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Iterative deepening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70660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70662" name="Rectangle 3"/>
          <p:cNvSpPr>
            <a:spLocks noGrp="1"/>
          </p:cNvSpPr>
          <p:nvPr>
            <p:ph sz="quarter" idx="4294967295"/>
          </p:nvPr>
        </p:nvSpPr>
        <p:spPr>
          <a:xfrm>
            <a:off x="1091255" y="1567515"/>
            <a:ext cx="10352192" cy="4853455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eaLnBrk="1" hangingPunct="1">
              <a:lnSpc>
                <a:spcPct val="60000"/>
              </a:lnSpc>
            </a:pP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Number of nodes generated in a depth-limited search to depth </a:t>
            </a: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with branching factor </a:t>
            </a: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US" altLang="zh-CN" sz="22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N</a:t>
            </a:r>
            <a:r>
              <a:rPr lang="en-US" altLang="zh-CN" sz="2200" i="1" baseline="-25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DLS</a:t>
            </a: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b</a:t>
            </a:r>
            <a:r>
              <a:rPr lang="en-US" altLang="zh-CN" sz="2200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b</a:t>
            </a:r>
            <a:r>
              <a:rPr lang="en-US" altLang="zh-CN" sz="2200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b</a:t>
            </a:r>
            <a:r>
              <a:rPr lang="en-US" altLang="zh-CN" sz="2200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… + b</a:t>
            </a:r>
            <a:r>
              <a:rPr lang="en-US" altLang="zh-CN" sz="2200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d-2</a:t>
            </a: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b</a:t>
            </a:r>
            <a:r>
              <a:rPr lang="en-US" altLang="zh-CN" sz="2200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d-1</a:t>
            </a: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b</a:t>
            </a:r>
            <a:r>
              <a:rPr lang="en-US" altLang="zh-CN" sz="2200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sz="22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60000"/>
              </a:lnSpc>
              <a:buChar char="•"/>
            </a:pPr>
            <a:endParaRPr lang="en-US" altLang="zh-CN" sz="22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60000"/>
              </a:lnSpc>
              <a:buChar char="•"/>
            </a:pP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Number of nodes generated in an iterative deepening search to depth </a:t>
            </a: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with branching factor </a:t>
            </a: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US" altLang="zh-CN" sz="22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sz="2200" baseline="-25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IDS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(d+1)b</a:t>
            </a:r>
            <a:r>
              <a:rPr lang="en-US" altLang="zh-CN" sz="2200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d b</a:t>
            </a:r>
            <a:r>
              <a:rPr lang="en-US" altLang="zh-CN" sz="2200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(d-1)b</a:t>
            </a:r>
            <a:r>
              <a:rPr lang="en-US" altLang="zh-CN" sz="2200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… + 3b</a:t>
            </a:r>
            <a:r>
              <a:rPr lang="en-US" altLang="zh-CN" sz="2200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d-2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+2b</a:t>
            </a:r>
            <a:r>
              <a:rPr lang="en-US" altLang="zh-CN" sz="2200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d-1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+ 1b</a:t>
            </a:r>
            <a:r>
              <a:rPr lang="en-US" altLang="zh-CN" sz="2200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sz="22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60000"/>
              </a:lnSpc>
              <a:buChar char="•"/>
            </a:pPr>
            <a:endParaRPr lang="en-US" altLang="zh-CN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60000"/>
              </a:lnSpc>
            </a:pP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 = 10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sz="2200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 = 5</a:t>
            </a:r>
            <a:r>
              <a:rPr lang="en-US" altLang="zh-CN" sz="22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altLang="zh-CN" sz="2200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60000"/>
              </a:lnSpc>
            </a:pPr>
            <a:r>
              <a:rPr lang="en-US" altLang="zh-CN" sz="1900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sz="19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DLS </a:t>
            </a:r>
            <a:r>
              <a:rPr lang="en-US" altLang="zh-CN" sz="1900" dirty="0">
                <a:latin typeface="Calibri" panose="020F0502020204030204" pitchFamily="34" charset="0"/>
                <a:cs typeface="Calibri" panose="020F0502020204030204" pitchFamily="34" charset="0"/>
              </a:rPr>
              <a:t>= 1 + 10 + 100 + 1,000 + 10,000 + 100,000 = 111,111
</a:t>
            </a:r>
            <a:endParaRPr lang="en-US" altLang="zh-CN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60000"/>
              </a:lnSpc>
            </a:pPr>
            <a:r>
              <a:rPr lang="en-US" altLang="zh-CN" sz="1900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zh-CN" sz="19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IDS</a:t>
            </a:r>
            <a:r>
              <a:rPr lang="en-US" altLang="zh-CN" sz="1900" dirty="0">
                <a:latin typeface="Calibri" panose="020F0502020204030204" pitchFamily="34" charset="0"/>
                <a:cs typeface="Calibri" panose="020F0502020204030204" pitchFamily="34" charset="0"/>
              </a:rPr>
              <a:t> = 6 + 50 + 400 + 3,000 + 20,000 + 100,000 = 123,456
</a:t>
            </a:r>
            <a:endParaRPr lang="en-US" altLang="zh-CN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lnSpc>
                <a:spcPct val="60000"/>
              </a:lnSpc>
              <a:buNone/>
            </a:pPr>
            <a:endParaRPr lang="en-US" altLang="zh-CN" sz="2200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>
            <a:normAutofit fontScale="90000"/>
          </a:bodyPr>
          <a:lstStyle/>
          <a:p>
            <a:pPr eaLnBrk="1" hangingPunct="1"/>
            <a:r>
              <a:rPr lang="en-US" altLang="zh-CN" kern="1200" dirty="0">
                <a:solidFill>
                  <a:srgbClr val="515223"/>
                </a:solidFill>
                <a:latin typeface="+mj-lt"/>
                <a:ea typeface="MS PGothic" panose="020B0600070205080204" charset="-128"/>
                <a:cs typeface="MS PGothic" panose="020B0600070205080204" charset="-128"/>
              </a:rPr>
              <a:t>Properties of iterative deepening search</a:t>
            </a:r>
            <a:endParaRPr lang="en-US" altLang="zh-CN" kern="1200" dirty="0">
              <a:solidFill>
                <a:srgbClr val="515223"/>
              </a:solidFill>
              <a:latin typeface="+mj-lt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71684" name="Footer Placeholder 4"/>
          <p:cNvSpPr txBox="1">
            <a:spLocks noGrp="1"/>
          </p:cNvSpPr>
          <p:nvPr>
            <p:ph type="ftr" sz="quarter" idx="11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  <a:cs typeface="+mn-cs"/>
              </a:defRPr>
            </a:lvl5pPr>
          </a:lstStyle>
          <a:p>
            <a:pPr lvl="0" eaLnBrk="1" hangingPunct="1">
              <a:buClrTx/>
            </a:pPr>
            <a:r>
              <a:rPr lang="en-US" altLang="zh-CN" sz="1200">
                <a:solidFill>
                  <a:srgbClr val="FFFFFF"/>
                </a:solidFill>
              </a:rPr>
              <a:t>CMPT 310 - Blind Search</a:t>
            </a:r>
            <a:endParaRPr lang="en-US" altLang="zh-CN" sz="1200">
              <a:solidFill>
                <a:srgbClr val="FFFFFF"/>
              </a:solidFill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sz="quarter" idx="4294967295"/>
          </p:nvPr>
        </p:nvSpPr>
        <p:spPr>
          <a:xfrm>
            <a:off x="1091255" y="1540622"/>
            <a:ext cx="10405980" cy="45720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Complete?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Time?</a:t>
            </a:r>
            <a:r>
              <a:rPr lang="en-US" altLang="zh-CN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(d+1)b</a:t>
            </a:r>
            <a:r>
              <a:rPr lang="en-US" altLang="zh-CN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altLang="zh-CN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d b</a:t>
            </a:r>
            <a:r>
              <a:rPr lang="en-US" altLang="zh-CN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zh-CN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(d-1)b</a:t>
            </a:r>
            <a:r>
              <a:rPr lang="en-US" altLang="zh-CN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zh-CN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… + b</a:t>
            </a:r>
            <a:r>
              <a:rPr lang="en-US" altLang="zh-CN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zh-CN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O(b</a:t>
            </a:r>
            <a:r>
              <a:rPr lang="en-US" altLang="zh-CN" i="1" baseline="30000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zh-CN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Space?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i="1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O(bd)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u="sng" dirty="0">
                <a:solidFill>
                  <a:srgbClr val="CC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Optimal?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51522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Yes, if step cost = 1</a:t>
            </a:r>
            <a:endParaRPr lang="en-US" altLang="zh-CN" dirty="0">
              <a:solidFill>
                <a:srgbClr val="51522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Cost Search</a:t>
            </a:r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55520" y="548640"/>
            <a:ext cx="7802880" cy="58521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441580" y="3408366"/>
            <a:ext cx="6716713" cy="3349625"/>
            <a:chOff x="657" y="2180"/>
            <a:chExt cx="4231" cy="2110"/>
          </a:xfrm>
        </p:grpSpPr>
        <p:sp>
          <p:nvSpPr>
            <p:cNvPr id="28823" name="Freeform 3"/>
            <p:cNvSpPr/>
            <p:nvPr/>
          </p:nvSpPr>
          <p:spPr bwMode="auto">
            <a:xfrm>
              <a:off x="2261" y="2180"/>
              <a:ext cx="1938" cy="221"/>
            </a:xfrm>
            <a:custGeom>
              <a:avLst/>
              <a:gdLst>
                <a:gd name="T0" fmla="*/ 1938 w 1938"/>
                <a:gd name="T1" fmla="*/ 0 h 221"/>
                <a:gd name="T2" fmla="*/ 1066 w 1938"/>
                <a:gd name="T3" fmla="*/ 210 h 221"/>
                <a:gd name="T4" fmla="*/ 662 w 1938"/>
                <a:gd name="T5" fmla="*/ 221 h 221"/>
                <a:gd name="T6" fmla="*/ 0 w 1938"/>
                <a:gd name="T7" fmla="*/ 32 h 2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38"/>
                <a:gd name="T13" fmla="*/ 0 h 221"/>
                <a:gd name="T14" fmla="*/ 1938 w 1938"/>
                <a:gd name="T15" fmla="*/ 221 h 2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38" h="221">
                  <a:moveTo>
                    <a:pt x="1938" y="0"/>
                  </a:moveTo>
                  <a:lnTo>
                    <a:pt x="1066" y="210"/>
                  </a:lnTo>
                  <a:lnTo>
                    <a:pt x="662" y="221"/>
                  </a:lnTo>
                  <a:lnTo>
                    <a:pt x="0" y="32"/>
                  </a:lnTo>
                </a:path>
              </a:pathLst>
            </a:custGeom>
            <a:solidFill>
              <a:srgbClr val="FF3300">
                <a:alpha val="20000"/>
              </a:srgbClr>
            </a:soli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4" name="Freeform 4"/>
            <p:cNvSpPr/>
            <p:nvPr/>
          </p:nvSpPr>
          <p:spPr bwMode="auto">
            <a:xfrm>
              <a:off x="657" y="2180"/>
              <a:ext cx="4231" cy="1271"/>
            </a:xfrm>
            <a:custGeom>
              <a:avLst/>
              <a:gdLst>
                <a:gd name="T0" fmla="*/ 4231 w 4231"/>
                <a:gd name="T1" fmla="*/ 32 h 1271"/>
                <a:gd name="T2" fmla="*/ 4150 w 4231"/>
                <a:gd name="T3" fmla="*/ 479 h 1271"/>
                <a:gd name="T4" fmla="*/ 3510 w 4231"/>
                <a:gd name="T5" fmla="*/ 544 h 1271"/>
                <a:gd name="T6" fmla="*/ 2853 w 4231"/>
                <a:gd name="T7" fmla="*/ 232 h 1271"/>
                <a:gd name="T8" fmla="*/ 2212 w 4231"/>
                <a:gd name="T9" fmla="*/ 285 h 1271"/>
                <a:gd name="T10" fmla="*/ 1846 w 4231"/>
                <a:gd name="T11" fmla="*/ 818 h 1271"/>
                <a:gd name="T12" fmla="*/ 1405 w 4231"/>
                <a:gd name="T13" fmla="*/ 824 h 1271"/>
                <a:gd name="T14" fmla="*/ 1259 w 4231"/>
                <a:gd name="T15" fmla="*/ 608 h 1271"/>
                <a:gd name="T16" fmla="*/ 942 w 4231"/>
                <a:gd name="T17" fmla="*/ 598 h 1271"/>
                <a:gd name="T18" fmla="*/ 845 w 4231"/>
                <a:gd name="T19" fmla="*/ 1179 h 1271"/>
                <a:gd name="T20" fmla="*/ 350 w 4231"/>
                <a:gd name="T21" fmla="*/ 1271 h 1271"/>
                <a:gd name="T22" fmla="*/ 0 w 4231"/>
                <a:gd name="T23" fmla="*/ 189 h 1271"/>
                <a:gd name="T24" fmla="*/ 1604 w 4231"/>
                <a:gd name="T25" fmla="*/ 27 h 1271"/>
                <a:gd name="T26" fmla="*/ 2234 w 4231"/>
                <a:gd name="T27" fmla="*/ 210 h 1271"/>
                <a:gd name="T28" fmla="*/ 2654 w 4231"/>
                <a:gd name="T29" fmla="*/ 216 h 1271"/>
                <a:gd name="T30" fmla="*/ 3526 w 4231"/>
                <a:gd name="T31" fmla="*/ 0 h 1271"/>
                <a:gd name="T32" fmla="*/ 4226 w 4231"/>
                <a:gd name="T33" fmla="*/ 27 h 12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231"/>
                <a:gd name="T52" fmla="*/ 0 h 1271"/>
                <a:gd name="T53" fmla="*/ 4231 w 4231"/>
                <a:gd name="T54" fmla="*/ 1271 h 127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231" h="1271">
                  <a:moveTo>
                    <a:pt x="4231" y="32"/>
                  </a:moveTo>
                  <a:lnTo>
                    <a:pt x="4150" y="479"/>
                  </a:lnTo>
                  <a:lnTo>
                    <a:pt x="3510" y="544"/>
                  </a:lnTo>
                  <a:lnTo>
                    <a:pt x="2853" y="232"/>
                  </a:lnTo>
                  <a:lnTo>
                    <a:pt x="2212" y="285"/>
                  </a:lnTo>
                  <a:lnTo>
                    <a:pt x="1846" y="818"/>
                  </a:lnTo>
                  <a:lnTo>
                    <a:pt x="1405" y="824"/>
                  </a:lnTo>
                  <a:lnTo>
                    <a:pt x="1259" y="608"/>
                  </a:lnTo>
                  <a:lnTo>
                    <a:pt x="942" y="598"/>
                  </a:lnTo>
                  <a:lnTo>
                    <a:pt x="845" y="1179"/>
                  </a:lnTo>
                  <a:lnTo>
                    <a:pt x="350" y="1271"/>
                  </a:lnTo>
                  <a:lnTo>
                    <a:pt x="0" y="189"/>
                  </a:lnTo>
                  <a:lnTo>
                    <a:pt x="1604" y="27"/>
                  </a:lnTo>
                  <a:lnTo>
                    <a:pt x="2234" y="210"/>
                  </a:lnTo>
                  <a:lnTo>
                    <a:pt x="2654" y="216"/>
                  </a:lnTo>
                  <a:lnTo>
                    <a:pt x="3526" y="0"/>
                  </a:lnTo>
                  <a:lnTo>
                    <a:pt x="4226" y="27"/>
                  </a:lnTo>
                </a:path>
              </a:pathLst>
            </a:custGeom>
            <a:solidFill>
              <a:srgbClr val="FF9900">
                <a:alpha val="20000"/>
              </a:srgbClr>
            </a:soli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5" name="Freeform 5"/>
            <p:cNvSpPr/>
            <p:nvPr/>
          </p:nvSpPr>
          <p:spPr bwMode="auto">
            <a:xfrm>
              <a:off x="1007" y="2396"/>
              <a:ext cx="3789" cy="1313"/>
            </a:xfrm>
            <a:custGeom>
              <a:avLst/>
              <a:gdLst>
                <a:gd name="T0" fmla="*/ 3789 w 3789"/>
                <a:gd name="T1" fmla="*/ 269 h 1313"/>
                <a:gd name="T2" fmla="*/ 3784 w 3789"/>
                <a:gd name="T3" fmla="*/ 323 h 1313"/>
                <a:gd name="T4" fmla="*/ 3160 w 3789"/>
                <a:gd name="T5" fmla="*/ 387 h 1313"/>
                <a:gd name="T6" fmla="*/ 2072 w 3789"/>
                <a:gd name="T7" fmla="*/ 312 h 1313"/>
                <a:gd name="T8" fmla="*/ 1733 w 3789"/>
                <a:gd name="T9" fmla="*/ 635 h 1313"/>
                <a:gd name="T10" fmla="*/ 1668 w 3789"/>
                <a:gd name="T11" fmla="*/ 1302 h 1313"/>
                <a:gd name="T12" fmla="*/ 1270 w 3789"/>
                <a:gd name="T13" fmla="*/ 1313 h 1313"/>
                <a:gd name="T14" fmla="*/ 1152 w 3789"/>
                <a:gd name="T15" fmla="*/ 683 h 1313"/>
                <a:gd name="T16" fmla="*/ 920 w 3789"/>
                <a:gd name="T17" fmla="*/ 602 h 1313"/>
                <a:gd name="T18" fmla="*/ 818 w 3789"/>
                <a:gd name="T19" fmla="*/ 403 h 1313"/>
                <a:gd name="T20" fmla="*/ 608 w 3789"/>
                <a:gd name="T21" fmla="*/ 398 h 1313"/>
                <a:gd name="T22" fmla="*/ 516 w 3789"/>
                <a:gd name="T23" fmla="*/ 1012 h 1313"/>
                <a:gd name="T24" fmla="*/ 0 w 3789"/>
                <a:gd name="T25" fmla="*/ 1125 h 1313"/>
                <a:gd name="T26" fmla="*/ 0 w 3789"/>
                <a:gd name="T27" fmla="*/ 1049 h 1313"/>
                <a:gd name="T28" fmla="*/ 490 w 3789"/>
                <a:gd name="T29" fmla="*/ 958 h 1313"/>
                <a:gd name="T30" fmla="*/ 592 w 3789"/>
                <a:gd name="T31" fmla="*/ 376 h 1313"/>
                <a:gd name="T32" fmla="*/ 920 w 3789"/>
                <a:gd name="T33" fmla="*/ 387 h 1313"/>
                <a:gd name="T34" fmla="*/ 1049 w 3789"/>
                <a:gd name="T35" fmla="*/ 608 h 1313"/>
                <a:gd name="T36" fmla="*/ 1496 w 3789"/>
                <a:gd name="T37" fmla="*/ 597 h 1313"/>
                <a:gd name="T38" fmla="*/ 1857 w 3789"/>
                <a:gd name="T39" fmla="*/ 69 h 1313"/>
                <a:gd name="T40" fmla="*/ 2497 w 3789"/>
                <a:gd name="T41" fmla="*/ 0 h 1313"/>
                <a:gd name="T42" fmla="*/ 3170 w 3789"/>
                <a:gd name="T43" fmla="*/ 328 h 1313"/>
                <a:gd name="T44" fmla="*/ 3789 w 3789"/>
                <a:gd name="T45" fmla="*/ 269 h 13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789"/>
                <a:gd name="T70" fmla="*/ 0 h 1313"/>
                <a:gd name="T71" fmla="*/ 3789 w 3789"/>
                <a:gd name="T72" fmla="*/ 1313 h 131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789" h="1313">
                  <a:moveTo>
                    <a:pt x="3789" y="269"/>
                  </a:moveTo>
                  <a:lnTo>
                    <a:pt x="3784" y="323"/>
                  </a:lnTo>
                  <a:lnTo>
                    <a:pt x="3160" y="387"/>
                  </a:lnTo>
                  <a:lnTo>
                    <a:pt x="2072" y="312"/>
                  </a:lnTo>
                  <a:lnTo>
                    <a:pt x="1733" y="635"/>
                  </a:lnTo>
                  <a:lnTo>
                    <a:pt x="1668" y="1302"/>
                  </a:lnTo>
                  <a:lnTo>
                    <a:pt x="1270" y="1313"/>
                  </a:lnTo>
                  <a:lnTo>
                    <a:pt x="1152" y="683"/>
                  </a:lnTo>
                  <a:lnTo>
                    <a:pt x="920" y="602"/>
                  </a:lnTo>
                  <a:lnTo>
                    <a:pt x="818" y="403"/>
                  </a:lnTo>
                  <a:lnTo>
                    <a:pt x="608" y="398"/>
                  </a:lnTo>
                  <a:lnTo>
                    <a:pt x="516" y="1012"/>
                  </a:lnTo>
                  <a:lnTo>
                    <a:pt x="0" y="1125"/>
                  </a:lnTo>
                  <a:lnTo>
                    <a:pt x="0" y="1049"/>
                  </a:lnTo>
                  <a:lnTo>
                    <a:pt x="490" y="958"/>
                  </a:lnTo>
                  <a:lnTo>
                    <a:pt x="592" y="376"/>
                  </a:lnTo>
                  <a:lnTo>
                    <a:pt x="920" y="387"/>
                  </a:lnTo>
                  <a:lnTo>
                    <a:pt x="1049" y="608"/>
                  </a:lnTo>
                  <a:lnTo>
                    <a:pt x="1496" y="597"/>
                  </a:lnTo>
                  <a:lnTo>
                    <a:pt x="1857" y="69"/>
                  </a:lnTo>
                  <a:lnTo>
                    <a:pt x="2497" y="0"/>
                  </a:lnTo>
                  <a:lnTo>
                    <a:pt x="3170" y="328"/>
                  </a:lnTo>
                  <a:lnTo>
                    <a:pt x="3789" y="269"/>
                  </a:lnTo>
                  <a:close/>
                </a:path>
              </a:pathLst>
            </a:custGeom>
            <a:solidFill>
              <a:srgbClr val="008000">
                <a:alpha val="20000"/>
              </a:srgbClr>
            </a:soli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6" name="Freeform 6"/>
            <p:cNvSpPr/>
            <p:nvPr/>
          </p:nvSpPr>
          <p:spPr bwMode="auto">
            <a:xfrm>
              <a:off x="996" y="2697"/>
              <a:ext cx="3784" cy="1330"/>
            </a:xfrm>
            <a:custGeom>
              <a:avLst/>
              <a:gdLst>
                <a:gd name="T0" fmla="*/ 3784 w 3784"/>
                <a:gd name="T1" fmla="*/ 27 h 1330"/>
                <a:gd name="T2" fmla="*/ 3768 w 3784"/>
                <a:gd name="T3" fmla="*/ 75 h 1330"/>
                <a:gd name="T4" fmla="*/ 3208 w 3784"/>
                <a:gd name="T5" fmla="*/ 113 h 1330"/>
                <a:gd name="T6" fmla="*/ 2094 w 3784"/>
                <a:gd name="T7" fmla="*/ 43 h 1330"/>
                <a:gd name="T8" fmla="*/ 1787 w 3784"/>
                <a:gd name="T9" fmla="*/ 350 h 1330"/>
                <a:gd name="T10" fmla="*/ 1723 w 3784"/>
                <a:gd name="T11" fmla="*/ 1287 h 1330"/>
                <a:gd name="T12" fmla="*/ 1400 w 3784"/>
                <a:gd name="T13" fmla="*/ 1330 h 1330"/>
                <a:gd name="T14" fmla="*/ 1378 w 3784"/>
                <a:gd name="T15" fmla="*/ 1055 h 1330"/>
                <a:gd name="T16" fmla="*/ 1216 w 3784"/>
                <a:gd name="T17" fmla="*/ 1039 h 1330"/>
                <a:gd name="T18" fmla="*/ 1120 w 3784"/>
                <a:gd name="T19" fmla="*/ 393 h 1330"/>
                <a:gd name="T20" fmla="*/ 899 w 3784"/>
                <a:gd name="T21" fmla="*/ 323 h 1330"/>
                <a:gd name="T22" fmla="*/ 791 w 3784"/>
                <a:gd name="T23" fmla="*/ 102 h 1330"/>
                <a:gd name="T24" fmla="*/ 630 w 3784"/>
                <a:gd name="T25" fmla="*/ 118 h 1330"/>
                <a:gd name="T26" fmla="*/ 549 w 3784"/>
                <a:gd name="T27" fmla="*/ 770 h 1330"/>
                <a:gd name="T28" fmla="*/ 21 w 3784"/>
                <a:gd name="T29" fmla="*/ 883 h 1330"/>
                <a:gd name="T30" fmla="*/ 0 w 3784"/>
                <a:gd name="T31" fmla="*/ 813 h 1330"/>
                <a:gd name="T32" fmla="*/ 517 w 3784"/>
                <a:gd name="T33" fmla="*/ 711 h 1330"/>
                <a:gd name="T34" fmla="*/ 619 w 3784"/>
                <a:gd name="T35" fmla="*/ 75 h 1330"/>
                <a:gd name="T36" fmla="*/ 840 w 3784"/>
                <a:gd name="T37" fmla="*/ 102 h 1330"/>
                <a:gd name="T38" fmla="*/ 931 w 3784"/>
                <a:gd name="T39" fmla="*/ 307 h 1330"/>
                <a:gd name="T40" fmla="*/ 1157 w 3784"/>
                <a:gd name="T41" fmla="*/ 377 h 1330"/>
                <a:gd name="T42" fmla="*/ 1276 w 3784"/>
                <a:gd name="T43" fmla="*/ 1001 h 1330"/>
                <a:gd name="T44" fmla="*/ 1674 w 3784"/>
                <a:gd name="T45" fmla="*/ 996 h 1330"/>
                <a:gd name="T46" fmla="*/ 1749 w 3784"/>
                <a:gd name="T47" fmla="*/ 328 h 1330"/>
                <a:gd name="T48" fmla="*/ 2089 w 3784"/>
                <a:gd name="T49" fmla="*/ 0 h 1330"/>
                <a:gd name="T50" fmla="*/ 3181 w 3784"/>
                <a:gd name="T51" fmla="*/ 81 h 1330"/>
                <a:gd name="T52" fmla="*/ 3784 w 3784"/>
                <a:gd name="T53" fmla="*/ 27 h 133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784"/>
                <a:gd name="T82" fmla="*/ 0 h 1330"/>
                <a:gd name="T83" fmla="*/ 3784 w 3784"/>
                <a:gd name="T84" fmla="*/ 1330 h 133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784" h="1330">
                  <a:moveTo>
                    <a:pt x="3784" y="27"/>
                  </a:moveTo>
                  <a:lnTo>
                    <a:pt x="3768" y="75"/>
                  </a:lnTo>
                  <a:lnTo>
                    <a:pt x="3208" y="113"/>
                  </a:lnTo>
                  <a:lnTo>
                    <a:pt x="2094" y="43"/>
                  </a:lnTo>
                  <a:lnTo>
                    <a:pt x="1787" y="350"/>
                  </a:lnTo>
                  <a:lnTo>
                    <a:pt x="1723" y="1287"/>
                  </a:lnTo>
                  <a:lnTo>
                    <a:pt x="1400" y="1330"/>
                  </a:lnTo>
                  <a:lnTo>
                    <a:pt x="1378" y="1055"/>
                  </a:lnTo>
                  <a:lnTo>
                    <a:pt x="1216" y="1039"/>
                  </a:lnTo>
                  <a:lnTo>
                    <a:pt x="1120" y="393"/>
                  </a:lnTo>
                  <a:lnTo>
                    <a:pt x="899" y="323"/>
                  </a:lnTo>
                  <a:lnTo>
                    <a:pt x="791" y="102"/>
                  </a:lnTo>
                  <a:lnTo>
                    <a:pt x="630" y="118"/>
                  </a:lnTo>
                  <a:lnTo>
                    <a:pt x="549" y="770"/>
                  </a:lnTo>
                  <a:lnTo>
                    <a:pt x="21" y="883"/>
                  </a:lnTo>
                  <a:lnTo>
                    <a:pt x="0" y="813"/>
                  </a:lnTo>
                  <a:lnTo>
                    <a:pt x="517" y="711"/>
                  </a:lnTo>
                  <a:lnTo>
                    <a:pt x="619" y="75"/>
                  </a:lnTo>
                  <a:lnTo>
                    <a:pt x="840" y="102"/>
                  </a:lnTo>
                  <a:lnTo>
                    <a:pt x="931" y="307"/>
                  </a:lnTo>
                  <a:lnTo>
                    <a:pt x="1157" y="377"/>
                  </a:lnTo>
                  <a:lnTo>
                    <a:pt x="1276" y="1001"/>
                  </a:lnTo>
                  <a:lnTo>
                    <a:pt x="1674" y="996"/>
                  </a:lnTo>
                  <a:lnTo>
                    <a:pt x="1749" y="328"/>
                  </a:lnTo>
                  <a:lnTo>
                    <a:pt x="2089" y="0"/>
                  </a:lnTo>
                  <a:lnTo>
                    <a:pt x="3181" y="81"/>
                  </a:lnTo>
                  <a:lnTo>
                    <a:pt x="3784" y="2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27" name="Freeform 7"/>
            <p:cNvSpPr/>
            <p:nvPr/>
          </p:nvSpPr>
          <p:spPr bwMode="auto">
            <a:xfrm>
              <a:off x="1012" y="2735"/>
              <a:ext cx="3736" cy="1555"/>
            </a:xfrm>
            <a:custGeom>
              <a:avLst/>
              <a:gdLst>
                <a:gd name="T0" fmla="*/ 3736 w 3736"/>
                <a:gd name="T1" fmla="*/ 43 h 1555"/>
                <a:gd name="T2" fmla="*/ 3709 w 3736"/>
                <a:gd name="T3" fmla="*/ 350 h 1555"/>
                <a:gd name="T4" fmla="*/ 2460 w 3736"/>
                <a:gd name="T5" fmla="*/ 1410 h 1555"/>
                <a:gd name="T6" fmla="*/ 942 w 3736"/>
                <a:gd name="T7" fmla="*/ 1555 h 1555"/>
                <a:gd name="T8" fmla="*/ 70 w 3736"/>
                <a:gd name="T9" fmla="*/ 1405 h 1555"/>
                <a:gd name="T10" fmla="*/ 0 w 3736"/>
                <a:gd name="T11" fmla="*/ 845 h 1555"/>
                <a:gd name="T12" fmla="*/ 538 w 3736"/>
                <a:gd name="T13" fmla="*/ 732 h 1555"/>
                <a:gd name="T14" fmla="*/ 619 w 3736"/>
                <a:gd name="T15" fmla="*/ 59 h 1555"/>
                <a:gd name="T16" fmla="*/ 791 w 3736"/>
                <a:gd name="T17" fmla="*/ 70 h 1555"/>
                <a:gd name="T18" fmla="*/ 872 w 3736"/>
                <a:gd name="T19" fmla="*/ 290 h 1555"/>
                <a:gd name="T20" fmla="*/ 1109 w 3736"/>
                <a:gd name="T21" fmla="*/ 360 h 1555"/>
                <a:gd name="T22" fmla="*/ 1195 w 3736"/>
                <a:gd name="T23" fmla="*/ 990 h 1555"/>
                <a:gd name="T24" fmla="*/ 1362 w 3736"/>
                <a:gd name="T25" fmla="*/ 1017 h 1555"/>
                <a:gd name="T26" fmla="*/ 1389 w 3736"/>
                <a:gd name="T27" fmla="*/ 1275 h 1555"/>
                <a:gd name="T28" fmla="*/ 1696 w 3736"/>
                <a:gd name="T29" fmla="*/ 1259 h 1555"/>
                <a:gd name="T30" fmla="*/ 1776 w 3736"/>
                <a:gd name="T31" fmla="*/ 306 h 1555"/>
                <a:gd name="T32" fmla="*/ 2089 w 3736"/>
                <a:gd name="T33" fmla="*/ 0 h 1555"/>
                <a:gd name="T34" fmla="*/ 3208 w 3736"/>
                <a:gd name="T35" fmla="*/ 75 h 1555"/>
                <a:gd name="T36" fmla="*/ 3736 w 3736"/>
                <a:gd name="T37" fmla="*/ 43 h 15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736"/>
                <a:gd name="T58" fmla="*/ 0 h 1555"/>
                <a:gd name="T59" fmla="*/ 3736 w 3736"/>
                <a:gd name="T60" fmla="*/ 1555 h 155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736" h="1555">
                  <a:moveTo>
                    <a:pt x="3736" y="43"/>
                  </a:moveTo>
                  <a:lnTo>
                    <a:pt x="3709" y="350"/>
                  </a:lnTo>
                  <a:lnTo>
                    <a:pt x="2460" y="1410"/>
                  </a:lnTo>
                  <a:lnTo>
                    <a:pt x="942" y="1555"/>
                  </a:lnTo>
                  <a:lnTo>
                    <a:pt x="70" y="1405"/>
                  </a:lnTo>
                  <a:lnTo>
                    <a:pt x="0" y="845"/>
                  </a:lnTo>
                  <a:lnTo>
                    <a:pt x="538" y="732"/>
                  </a:lnTo>
                  <a:lnTo>
                    <a:pt x="619" y="59"/>
                  </a:lnTo>
                  <a:lnTo>
                    <a:pt x="791" y="70"/>
                  </a:lnTo>
                  <a:lnTo>
                    <a:pt x="872" y="290"/>
                  </a:lnTo>
                  <a:lnTo>
                    <a:pt x="1109" y="360"/>
                  </a:lnTo>
                  <a:lnTo>
                    <a:pt x="1195" y="990"/>
                  </a:lnTo>
                  <a:lnTo>
                    <a:pt x="1362" y="1017"/>
                  </a:lnTo>
                  <a:lnTo>
                    <a:pt x="1389" y="1275"/>
                  </a:lnTo>
                  <a:lnTo>
                    <a:pt x="1696" y="1259"/>
                  </a:lnTo>
                  <a:lnTo>
                    <a:pt x="1776" y="306"/>
                  </a:lnTo>
                  <a:lnTo>
                    <a:pt x="2089" y="0"/>
                  </a:lnTo>
                  <a:lnTo>
                    <a:pt x="3208" y="75"/>
                  </a:lnTo>
                  <a:lnTo>
                    <a:pt x="3736" y="43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 w="9525">
              <a:noFill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7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Uniform Cost Search</a:t>
            </a:r>
            <a:endParaRPr lang="en-US" dirty="0"/>
          </a:p>
        </p:txBody>
      </p:sp>
      <p:grpSp>
        <p:nvGrpSpPr>
          <p:cNvPr id="28676" name="Group 9"/>
          <p:cNvGrpSpPr/>
          <p:nvPr/>
        </p:nvGrpSpPr>
        <p:grpSpPr bwMode="auto">
          <a:xfrm>
            <a:off x="3227388" y="3381373"/>
            <a:ext cx="5486400" cy="3355591"/>
            <a:chOff x="48" y="2332"/>
            <a:chExt cx="3456" cy="2406"/>
          </a:xfrm>
        </p:grpSpPr>
        <p:sp>
          <p:nvSpPr>
            <p:cNvPr id="28766" name="Text Box 10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4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/>
                <a:t>S</a:t>
              </a:r>
              <a:endParaRPr lang="en-US" sz="1600" dirty="0"/>
            </a:p>
          </p:txBody>
        </p:sp>
        <p:sp>
          <p:nvSpPr>
            <p:cNvPr id="28767" name="Text Box 11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  <a:endParaRPr lang="en-US" i="1"/>
            </a:p>
          </p:txBody>
        </p:sp>
        <p:sp>
          <p:nvSpPr>
            <p:cNvPr id="28768" name="Text Box 12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b</a:t>
              </a:r>
              <a:endParaRPr lang="en-US" i="1"/>
            </a:p>
          </p:txBody>
        </p:sp>
        <p:sp>
          <p:nvSpPr>
            <p:cNvPr id="28769" name="Text Box 13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d</a:t>
              </a:r>
              <a:endParaRPr lang="en-US" i="1"/>
            </a:p>
          </p:txBody>
        </p:sp>
        <p:sp>
          <p:nvSpPr>
            <p:cNvPr id="28770" name="Text Box 14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p</a:t>
              </a:r>
              <a:endParaRPr lang="en-US" i="1"/>
            </a:p>
          </p:txBody>
        </p:sp>
        <p:sp>
          <p:nvSpPr>
            <p:cNvPr id="28771" name="Text Box 15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a</a:t>
              </a:r>
              <a:endParaRPr lang="en-US" i="1"/>
            </a:p>
          </p:txBody>
        </p:sp>
        <p:sp>
          <p:nvSpPr>
            <p:cNvPr id="28772" name="Text Box 16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c</a:t>
              </a:r>
              <a:endParaRPr lang="en-US" i="1"/>
            </a:p>
          </p:txBody>
        </p:sp>
        <p:cxnSp>
          <p:nvCxnSpPr>
            <p:cNvPr id="28773" name="AutoShape 17"/>
            <p:cNvCxnSpPr>
              <a:cxnSpLocks noChangeShapeType="1"/>
              <a:stCxn id="28769" idx="2"/>
              <a:endCxn id="28768" idx="0"/>
            </p:cNvCxnSpPr>
            <p:nvPr/>
          </p:nvCxnSpPr>
          <p:spPr bwMode="auto">
            <a:xfrm flipH="1">
              <a:off x="168" y="2953"/>
              <a:ext cx="33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28774" name="AutoShape 18"/>
            <p:cNvCxnSpPr>
              <a:cxnSpLocks noChangeShapeType="1"/>
              <a:stCxn id="28769" idx="2"/>
              <a:endCxn id="28772" idx="0"/>
            </p:cNvCxnSpPr>
            <p:nvPr/>
          </p:nvCxnSpPr>
          <p:spPr bwMode="auto">
            <a:xfrm>
              <a:off x="504" y="2953"/>
              <a:ext cx="96" cy="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28775" name="AutoShape 19"/>
            <p:cNvCxnSpPr>
              <a:cxnSpLocks noChangeShapeType="1"/>
              <a:stCxn id="28768" idx="2"/>
              <a:endCxn id="28767" idx="0"/>
            </p:cNvCxnSpPr>
            <p:nvPr/>
          </p:nvCxnSpPr>
          <p:spPr bwMode="auto">
            <a:xfrm>
              <a:off x="168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28776" name="AutoShape 20"/>
            <p:cNvCxnSpPr>
              <a:cxnSpLocks noChangeShapeType="1"/>
              <a:stCxn id="28772" idx="2"/>
              <a:endCxn id="28771" idx="0"/>
            </p:cNvCxnSpPr>
            <p:nvPr/>
          </p:nvCxnSpPr>
          <p:spPr bwMode="auto">
            <a:xfrm>
              <a:off x="600" y="3298"/>
              <a:ext cx="0" cy="11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grpSp>
          <p:nvGrpSpPr>
            <p:cNvPr id="28777" name="Group 21"/>
            <p:cNvGrpSpPr/>
            <p:nvPr/>
          </p:nvGrpSpPr>
          <p:grpSpPr bwMode="auto"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28804" name="Text Box 22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  <a:endParaRPr lang="en-US" i="1"/>
              </a:p>
            </p:txBody>
          </p:sp>
          <p:sp>
            <p:nvSpPr>
              <p:cNvPr id="28805" name="Text Box 23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  <a:endParaRPr lang="en-US" i="1"/>
              </a:p>
            </p:txBody>
          </p:sp>
          <p:sp>
            <p:nvSpPr>
              <p:cNvPr id="28806" name="Text Box 24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  <a:endParaRPr lang="en-US" i="1"/>
              </a:p>
            </p:txBody>
          </p:sp>
          <p:sp>
            <p:nvSpPr>
              <p:cNvPr id="28807" name="Text Box 25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  <a:endParaRPr lang="en-US" i="1"/>
              </a:p>
            </p:txBody>
          </p:sp>
          <p:sp>
            <p:nvSpPr>
              <p:cNvPr id="28808" name="Text Box 26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  <a:endParaRPr lang="en-US" i="1"/>
              </a:p>
            </p:txBody>
          </p:sp>
          <p:sp>
            <p:nvSpPr>
              <p:cNvPr id="28809" name="Text Box 27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  <a:endParaRPr lang="en-US" i="1"/>
              </a:p>
            </p:txBody>
          </p:sp>
          <p:sp>
            <p:nvSpPr>
              <p:cNvPr id="28810" name="Text Box 28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  <a:endParaRPr lang="en-US" i="1"/>
              </a:p>
            </p:txBody>
          </p:sp>
          <p:sp>
            <p:nvSpPr>
              <p:cNvPr id="28811" name="Text Box 29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  <a:endParaRPr lang="en-US" i="1"/>
              </a:p>
            </p:txBody>
          </p:sp>
          <p:sp>
            <p:nvSpPr>
              <p:cNvPr id="28812" name="Text Box 30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  <a:endParaRPr lang="en-US" sz="1600" dirty="0"/>
              </a:p>
            </p:txBody>
          </p:sp>
          <p:sp>
            <p:nvSpPr>
              <p:cNvPr id="28813" name="Text Box 31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  <a:endParaRPr lang="en-US" i="1"/>
              </a:p>
            </p:txBody>
          </p:sp>
          <p:cxnSp>
            <p:nvCxnSpPr>
              <p:cNvPr id="28814" name="AutoShape 32"/>
              <p:cNvCxnSpPr>
                <a:cxnSpLocks noChangeShapeType="1"/>
                <a:stCxn id="28804" idx="2"/>
                <a:endCxn id="28806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815" name="AutoShape 33"/>
              <p:cNvCxnSpPr>
                <a:cxnSpLocks noChangeShapeType="1"/>
                <a:stCxn id="28804" idx="2"/>
                <a:endCxn id="28808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816" name="AutoShape 34"/>
              <p:cNvCxnSpPr>
                <a:cxnSpLocks noChangeShapeType="1"/>
                <a:stCxn id="28806" idx="2"/>
                <a:endCxn id="28805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817" name="AutoShape 35"/>
              <p:cNvCxnSpPr>
                <a:cxnSpLocks noChangeShapeType="1"/>
                <a:stCxn id="28806" idx="2"/>
                <a:endCxn id="28809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818" name="AutoShape 36"/>
              <p:cNvCxnSpPr>
                <a:cxnSpLocks noChangeShapeType="1"/>
                <a:stCxn id="28808" idx="2"/>
                <a:endCxn id="28807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819" name="AutoShape 37"/>
              <p:cNvCxnSpPr>
                <a:cxnSpLocks noChangeShapeType="1"/>
                <a:stCxn id="28805" idx="2"/>
                <a:endCxn id="28810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820" name="AutoShape 38"/>
              <p:cNvCxnSpPr>
                <a:cxnSpLocks noChangeShapeType="1"/>
                <a:stCxn id="28807" idx="2"/>
                <a:endCxn id="28811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821" name="AutoShape 39"/>
              <p:cNvCxnSpPr>
                <a:cxnSpLocks noChangeShapeType="1"/>
                <a:stCxn id="28807" idx="2"/>
                <a:endCxn id="28812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822" name="AutoShape 40"/>
              <p:cNvCxnSpPr>
                <a:cxnSpLocks noChangeShapeType="1"/>
                <a:stCxn id="28811" idx="2"/>
                <a:endCxn id="28813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</p:grpSp>
        <p:sp>
          <p:nvSpPr>
            <p:cNvPr id="28778" name="Text Box 41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q</a:t>
              </a:r>
              <a:endParaRPr lang="en-US" i="1"/>
            </a:p>
          </p:txBody>
        </p:sp>
        <p:cxnSp>
          <p:nvCxnSpPr>
            <p:cNvPr id="28779" name="AutoShape 42"/>
            <p:cNvCxnSpPr>
              <a:cxnSpLocks noChangeShapeType="1"/>
              <a:stCxn id="28770" idx="2"/>
              <a:endCxn id="28778" idx="0"/>
            </p:cNvCxnSpPr>
            <p:nvPr/>
          </p:nvCxnSpPr>
          <p:spPr bwMode="auto">
            <a:xfrm>
              <a:off x="3384" y="2905"/>
              <a:ext cx="0" cy="8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grpSp>
          <p:nvGrpSpPr>
            <p:cNvPr id="28780" name="Group 43"/>
            <p:cNvGrpSpPr/>
            <p:nvPr/>
          </p:nvGrpSpPr>
          <p:grpSpPr bwMode="auto"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28785" name="Text Box 44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e</a:t>
                </a:r>
                <a:endParaRPr lang="en-US" i="1"/>
              </a:p>
            </p:txBody>
          </p:sp>
          <p:sp>
            <p:nvSpPr>
              <p:cNvPr id="28786" name="Text Box 45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p</a:t>
                </a:r>
                <a:endParaRPr lang="en-US" i="1"/>
              </a:p>
            </p:txBody>
          </p:sp>
          <p:sp>
            <p:nvSpPr>
              <p:cNvPr id="28787" name="Text Box 46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h</a:t>
                </a:r>
                <a:endParaRPr lang="en-US" i="1"/>
              </a:p>
            </p:txBody>
          </p:sp>
          <p:sp>
            <p:nvSpPr>
              <p:cNvPr id="28788" name="Text Box 47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f</a:t>
                </a:r>
                <a:endParaRPr lang="en-US" i="1"/>
              </a:p>
            </p:txBody>
          </p:sp>
          <p:sp>
            <p:nvSpPr>
              <p:cNvPr id="28789" name="Text Box 48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r</a:t>
                </a:r>
                <a:endParaRPr lang="en-US" i="1"/>
              </a:p>
            </p:txBody>
          </p:sp>
          <p:sp>
            <p:nvSpPr>
              <p:cNvPr id="28790" name="Text Box 49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  <a:endParaRPr lang="en-US" i="1"/>
              </a:p>
            </p:txBody>
          </p:sp>
          <p:sp>
            <p:nvSpPr>
              <p:cNvPr id="28791" name="Text Box 50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q</a:t>
                </a:r>
                <a:endParaRPr lang="en-US" i="1"/>
              </a:p>
            </p:txBody>
          </p:sp>
          <p:sp>
            <p:nvSpPr>
              <p:cNvPr id="28792" name="Text Box 51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c</a:t>
                </a:r>
                <a:endParaRPr lang="en-US" i="1"/>
              </a:p>
            </p:txBody>
          </p:sp>
          <p:sp>
            <p:nvSpPr>
              <p:cNvPr id="28793" name="Text Box 52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4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dirty="0"/>
                  <a:t>G</a:t>
                </a:r>
                <a:endParaRPr lang="en-US" sz="1600" dirty="0"/>
              </a:p>
            </p:txBody>
          </p:sp>
          <p:sp>
            <p:nvSpPr>
              <p:cNvPr id="28794" name="Text Box 53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i="1"/>
                  <a:t>a</a:t>
                </a:r>
                <a:endParaRPr lang="en-US" i="1"/>
              </a:p>
            </p:txBody>
          </p:sp>
          <p:cxnSp>
            <p:nvCxnSpPr>
              <p:cNvPr id="28795" name="AutoShape 54"/>
              <p:cNvCxnSpPr>
                <a:cxnSpLocks noChangeShapeType="1"/>
                <a:stCxn id="28785" idx="2"/>
                <a:endCxn id="28787" idx="0"/>
              </p:cNvCxnSpPr>
              <p:nvPr/>
            </p:nvCxnSpPr>
            <p:spPr bwMode="auto">
              <a:xfrm flipH="1">
                <a:off x="1416" y="2905"/>
                <a:ext cx="24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796" name="AutoShape 55"/>
              <p:cNvCxnSpPr>
                <a:cxnSpLocks noChangeShapeType="1"/>
                <a:stCxn id="28785" idx="2"/>
                <a:endCxn id="28789" idx="0"/>
              </p:cNvCxnSpPr>
              <p:nvPr/>
            </p:nvCxnSpPr>
            <p:spPr bwMode="auto">
              <a:xfrm>
                <a:off x="1656" y="2905"/>
                <a:ext cx="192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797" name="AutoShape 56"/>
              <p:cNvCxnSpPr>
                <a:cxnSpLocks noChangeShapeType="1"/>
                <a:stCxn id="28787" idx="2"/>
                <a:endCxn id="28786" idx="0"/>
              </p:cNvCxnSpPr>
              <p:nvPr/>
            </p:nvCxnSpPr>
            <p:spPr bwMode="auto">
              <a:xfrm flipH="1">
                <a:off x="1272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798" name="AutoShape 57"/>
              <p:cNvCxnSpPr>
                <a:cxnSpLocks noChangeShapeType="1"/>
                <a:stCxn id="28787" idx="2"/>
                <a:endCxn id="28790" idx="0"/>
              </p:cNvCxnSpPr>
              <p:nvPr/>
            </p:nvCxnSpPr>
            <p:spPr bwMode="auto">
              <a:xfrm>
                <a:off x="1416" y="3289"/>
                <a:ext cx="144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799" name="AutoShape 58"/>
              <p:cNvCxnSpPr>
                <a:cxnSpLocks noChangeShapeType="1"/>
                <a:stCxn id="28789" idx="2"/>
                <a:endCxn id="28788" idx="0"/>
              </p:cNvCxnSpPr>
              <p:nvPr/>
            </p:nvCxnSpPr>
            <p:spPr bwMode="auto">
              <a:xfrm>
                <a:off x="1848" y="3289"/>
                <a:ext cx="0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800" name="AutoShape 59"/>
              <p:cNvCxnSpPr>
                <a:cxnSpLocks noChangeShapeType="1"/>
                <a:stCxn id="28786" idx="2"/>
                <a:endCxn id="28791" idx="0"/>
              </p:cNvCxnSpPr>
              <p:nvPr/>
            </p:nvCxnSpPr>
            <p:spPr bwMode="auto">
              <a:xfrm>
                <a:off x="1272" y="3673"/>
                <a:ext cx="0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801" name="AutoShape 60"/>
              <p:cNvCxnSpPr>
                <a:cxnSpLocks noChangeShapeType="1"/>
                <a:stCxn id="28788" idx="2"/>
                <a:endCxn id="28792" idx="0"/>
              </p:cNvCxnSpPr>
              <p:nvPr/>
            </p:nvCxnSpPr>
            <p:spPr bwMode="auto">
              <a:xfrm flipH="1">
                <a:off x="1704" y="3673"/>
                <a:ext cx="144" cy="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802" name="AutoShape 61"/>
              <p:cNvCxnSpPr>
                <a:cxnSpLocks noChangeShapeType="1"/>
                <a:stCxn id="28788" idx="2"/>
                <a:endCxn id="28793" idx="0"/>
              </p:cNvCxnSpPr>
              <p:nvPr/>
            </p:nvCxnSpPr>
            <p:spPr bwMode="auto">
              <a:xfrm>
                <a:off x="1848" y="3673"/>
                <a:ext cx="168" cy="11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  <p:cxnSp>
            <p:nvCxnSpPr>
              <p:cNvPr id="28803" name="AutoShape 62"/>
              <p:cNvCxnSpPr>
                <a:cxnSpLocks noChangeShapeType="1"/>
                <a:stCxn id="28792" idx="2"/>
                <a:endCxn id="28794" idx="0"/>
              </p:cNvCxnSpPr>
              <p:nvPr/>
            </p:nvCxnSpPr>
            <p:spPr bwMode="auto">
              <a:xfrm>
                <a:off x="1704" y="4018"/>
                <a:ext cx="0" cy="7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</p:cxnSp>
        </p:grpSp>
        <p:cxnSp>
          <p:nvCxnSpPr>
            <p:cNvPr id="28781" name="AutoShape 63"/>
            <p:cNvCxnSpPr>
              <a:cxnSpLocks noChangeShapeType="1"/>
              <a:stCxn id="28769" idx="2"/>
              <a:endCxn id="28785" idx="0"/>
            </p:cNvCxnSpPr>
            <p:nvPr/>
          </p:nvCxnSpPr>
          <p:spPr bwMode="auto">
            <a:xfrm>
              <a:off x="504" y="2953"/>
              <a:ext cx="624" cy="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28782" name="AutoShape 64"/>
            <p:cNvCxnSpPr>
              <a:cxnSpLocks noChangeShapeType="1"/>
              <a:stCxn id="28766" idx="2"/>
              <a:endCxn id="28769" idx="0"/>
            </p:cNvCxnSpPr>
            <p:nvPr/>
          </p:nvCxnSpPr>
          <p:spPr bwMode="auto">
            <a:xfrm flipH="1">
              <a:off x="504" y="2575"/>
              <a:ext cx="1536" cy="1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28783" name="AutoShape 65"/>
            <p:cNvCxnSpPr>
              <a:cxnSpLocks noChangeShapeType="1"/>
              <a:stCxn id="28766" idx="2"/>
              <a:endCxn id="28804" idx="0"/>
            </p:cNvCxnSpPr>
            <p:nvPr/>
          </p:nvCxnSpPr>
          <p:spPr bwMode="auto">
            <a:xfrm>
              <a:off x="2040" y="2575"/>
              <a:ext cx="240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  <p:cxnSp>
          <p:nvCxnSpPr>
            <p:cNvPr id="28784" name="AutoShape 66"/>
            <p:cNvCxnSpPr>
              <a:cxnSpLocks noChangeShapeType="1"/>
              <a:stCxn id="28766" idx="2"/>
              <a:endCxn id="28770" idx="0"/>
            </p:cNvCxnSpPr>
            <p:nvPr/>
          </p:nvCxnSpPr>
          <p:spPr bwMode="auto">
            <a:xfrm>
              <a:off x="2040" y="2575"/>
              <a:ext cx="1344" cy="6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</a:ln>
          </p:spPr>
        </p:cxnSp>
      </p:grpSp>
      <p:sp>
        <p:nvSpPr>
          <p:cNvPr id="28677" name="Line 67"/>
          <p:cNvSpPr>
            <a:spLocks noChangeShapeType="1"/>
          </p:cNvSpPr>
          <p:nvPr/>
        </p:nvSpPr>
        <p:spPr bwMode="auto">
          <a:xfrm>
            <a:off x="3" y="3276600"/>
            <a:ext cx="12191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805956" name="Oval 68"/>
          <p:cNvSpPr>
            <a:spLocks noChangeArrowheads="1"/>
          </p:cNvSpPr>
          <p:nvPr/>
        </p:nvSpPr>
        <p:spPr bwMode="auto">
          <a:xfrm>
            <a:off x="6243639" y="34258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8679" name="Oval 69"/>
          <p:cNvSpPr>
            <a:spLocks noChangeArrowheads="1"/>
          </p:cNvSpPr>
          <p:nvPr/>
        </p:nvSpPr>
        <p:spPr bwMode="auto">
          <a:xfrm>
            <a:off x="6245230" y="342741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58" name="Oval 70"/>
          <p:cNvSpPr>
            <a:spLocks noChangeArrowheads="1"/>
          </p:cNvSpPr>
          <p:nvPr/>
        </p:nvSpPr>
        <p:spPr bwMode="auto">
          <a:xfrm>
            <a:off x="3833815" y="3921126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59" name="Oval 71"/>
          <p:cNvSpPr>
            <a:spLocks noChangeArrowheads="1"/>
          </p:cNvSpPr>
          <p:nvPr/>
        </p:nvSpPr>
        <p:spPr bwMode="auto">
          <a:xfrm>
            <a:off x="6627815" y="3854451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60" name="Oval 72"/>
          <p:cNvSpPr>
            <a:spLocks noChangeArrowheads="1"/>
          </p:cNvSpPr>
          <p:nvPr/>
        </p:nvSpPr>
        <p:spPr bwMode="auto">
          <a:xfrm>
            <a:off x="8372480" y="3870326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8683" name="Text Box 73"/>
          <p:cNvSpPr txBox="1">
            <a:spLocks noChangeArrowheads="1"/>
          </p:cNvSpPr>
          <p:nvPr/>
        </p:nvSpPr>
        <p:spPr bwMode="auto">
          <a:xfrm>
            <a:off x="826445" y="1446870"/>
            <a:ext cx="2928937" cy="13388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/>
              <a:t>Strategy: expand a cheapest node first:</a:t>
            </a:r>
            <a:endParaRPr lang="en-US" i="1" dirty="0"/>
          </a:p>
          <a:p>
            <a:pPr>
              <a:spcBef>
                <a:spcPct val="50000"/>
              </a:spcBef>
            </a:pPr>
            <a:r>
              <a:rPr lang="en-US" i="1" dirty="0"/>
              <a:t>Fringe is a priority queue (priority: cumulative cost)</a:t>
            </a:r>
            <a:endParaRPr lang="en-US" i="1" dirty="0"/>
          </a:p>
        </p:txBody>
      </p:sp>
      <p:grpSp>
        <p:nvGrpSpPr>
          <p:cNvPr id="28684" name="Group 74"/>
          <p:cNvGrpSpPr/>
          <p:nvPr/>
        </p:nvGrpSpPr>
        <p:grpSpPr bwMode="auto">
          <a:xfrm>
            <a:off x="4598988" y="1269855"/>
            <a:ext cx="3205163" cy="1768475"/>
            <a:chOff x="816" y="1056"/>
            <a:chExt cx="4176" cy="2304"/>
          </a:xfrm>
        </p:grpSpPr>
        <p:grpSp>
          <p:nvGrpSpPr>
            <p:cNvPr id="28736" name="Group 75"/>
            <p:cNvGrpSpPr/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28738" name="AutoShape 7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S</a:t>
                </a:r>
                <a:endParaRPr lang="en-US"/>
              </a:p>
            </p:txBody>
          </p:sp>
          <p:sp>
            <p:nvSpPr>
              <p:cNvPr id="28739" name="AutoShape 7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  <a:endParaRPr lang="en-US"/>
              </a:p>
            </p:txBody>
          </p:sp>
          <p:sp>
            <p:nvSpPr>
              <p:cNvPr id="28740" name="AutoShape 7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d</a:t>
                </a:r>
                <a:endParaRPr lang="en-US" sz="1500" i="1" dirty="0"/>
              </a:p>
            </p:txBody>
          </p:sp>
          <p:sp>
            <p:nvSpPr>
              <p:cNvPr id="28741" name="AutoShape 7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b</a:t>
                </a:r>
                <a:endParaRPr lang="en-US" sz="1500" i="1" dirty="0"/>
              </a:p>
            </p:txBody>
          </p:sp>
          <p:sp>
            <p:nvSpPr>
              <p:cNvPr id="28742" name="AutoShape 8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p</a:t>
                </a:r>
                <a:endParaRPr lang="en-US" sz="1500" i="1" dirty="0"/>
              </a:p>
            </p:txBody>
          </p:sp>
          <p:sp>
            <p:nvSpPr>
              <p:cNvPr id="28743" name="AutoShape 8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q</a:t>
                </a:r>
                <a:endParaRPr lang="en-US" sz="1500" i="1" dirty="0"/>
              </a:p>
            </p:txBody>
          </p:sp>
          <p:sp>
            <p:nvSpPr>
              <p:cNvPr id="28744" name="AutoShape 8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c</a:t>
                </a:r>
                <a:endParaRPr lang="en-US" sz="1500" i="1" dirty="0"/>
              </a:p>
            </p:txBody>
          </p:sp>
          <p:sp>
            <p:nvSpPr>
              <p:cNvPr id="28745" name="AutoShape 8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e</a:t>
                </a:r>
                <a:endParaRPr lang="en-US" sz="1500" i="1" dirty="0"/>
              </a:p>
            </p:txBody>
          </p:sp>
          <p:sp>
            <p:nvSpPr>
              <p:cNvPr id="28746" name="AutoShape 8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h</a:t>
                </a:r>
                <a:endParaRPr lang="en-US" sz="1500" i="1" dirty="0"/>
              </a:p>
            </p:txBody>
          </p:sp>
          <p:sp>
            <p:nvSpPr>
              <p:cNvPr id="28747" name="AutoShape 8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a</a:t>
                </a:r>
                <a:endParaRPr lang="en-US" sz="1500" i="1" dirty="0"/>
              </a:p>
            </p:txBody>
          </p:sp>
          <p:sp>
            <p:nvSpPr>
              <p:cNvPr id="28748" name="AutoShape 8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f</a:t>
                </a:r>
                <a:endParaRPr lang="en-US" sz="1500" i="1" dirty="0"/>
              </a:p>
            </p:txBody>
          </p:sp>
          <p:sp>
            <p:nvSpPr>
              <p:cNvPr id="28749" name="AutoShape 8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algn="ctr"/>
                <a:r>
                  <a:rPr lang="en-US" sz="1500" i="1" dirty="0"/>
                  <a:t>r</a:t>
                </a:r>
                <a:endParaRPr lang="en-US" sz="1500" i="1" dirty="0"/>
              </a:p>
            </p:txBody>
          </p:sp>
          <p:cxnSp>
            <p:nvCxnSpPr>
              <p:cNvPr id="28750" name="AutoShape 88"/>
              <p:cNvCxnSpPr>
                <a:cxnSpLocks noChangeShapeType="1"/>
                <a:stCxn id="28738" idx="5"/>
                <a:endCxn id="28742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51" name="AutoShape 89"/>
              <p:cNvCxnSpPr>
                <a:cxnSpLocks noChangeShapeType="1"/>
                <a:stCxn id="28742" idx="5"/>
                <a:endCxn id="28743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52" name="AutoShape 90"/>
              <p:cNvCxnSpPr>
                <a:cxnSpLocks noChangeShapeType="1"/>
                <a:stCxn id="28746" idx="3"/>
                <a:endCxn id="28743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53" name="AutoShape 91"/>
              <p:cNvCxnSpPr>
                <a:cxnSpLocks noChangeShapeType="1"/>
                <a:stCxn id="28746" idx="2"/>
                <a:endCxn id="28742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54" name="AutoShape 92"/>
              <p:cNvCxnSpPr>
                <a:cxnSpLocks noChangeShapeType="1"/>
                <a:stCxn id="28745" idx="4"/>
                <a:endCxn id="28746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55" name="AutoShape 93"/>
              <p:cNvCxnSpPr>
                <a:cxnSpLocks noChangeShapeType="1"/>
                <a:stCxn id="28745" idx="5"/>
                <a:endCxn id="28749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56" name="AutoShape 94"/>
              <p:cNvCxnSpPr>
                <a:cxnSpLocks noChangeShapeType="1"/>
                <a:stCxn id="28749" idx="0"/>
                <a:endCxn id="28748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57" name="AutoShape 95"/>
              <p:cNvCxnSpPr>
                <a:cxnSpLocks noChangeShapeType="1"/>
                <a:stCxn id="28748" idx="0"/>
                <a:endCxn id="28739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58" name="AutoShape 96"/>
              <p:cNvCxnSpPr>
                <a:cxnSpLocks noChangeShapeType="1"/>
                <a:stCxn id="28738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59" name="AutoShape 97"/>
              <p:cNvCxnSpPr>
                <a:cxnSpLocks noChangeShapeType="1"/>
                <a:stCxn id="28740" idx="1"/>
                <a:endCxn id="28741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60" name="AutoShape 98"/>
              <p:cNvCxnSpPr>
                <a:cxnSpLocks noChangeShapeType="1"/>
                <a:endCxn id="28747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61" name="AutoShape 99"/>
              <p:cNvCxnSpPr>
                <a:cxnSpLocks noChangeShapeType="1"/>
                <a:stCxn id="28744" idx="2"/>
                <a:endCxn id="28747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62" name="AutoShape 100"/>
              <p:cNvCxnSpPr>
                <a:cxnSpLocks noChangeShapeType="1"/>
                <a:stCxn id="28740" idx="7"/>
                <a:endCxn id="28744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63" name="AutoShape 101"/>
              <p:cNvCxnSpPr>
                <a:cxnSpLocks noChangeShapeType="1"/>
                <a:stCxn id="28740" idx="6"/>
                <a:endCxn id="28745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64" name="AutoShape 102"/>
              <p:cNvCxnSpPr>
                <a:cxnSpLocks noChangeShapeType="1"/>
                <a:stCxn id="28748" idx="1"/>
                <a:endCxn id="28744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  <p:cxnSp>
            <p:nvCxnSpPr>
              <p:cNvPr id="28765" name="AutoShape 103"/>
              <p:cNvCxnSpPr>
                <a:cxnSpLocks noChangeShapeType="1"/>
                <a:stCxn id="28738" idx="6"/>
                <a:endCxn id="28745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</p:spPr>
          </p:cxnSp>
        </p:grpSp>
        <p:cxnSp>
          <p:nvCxnSpPr>
            <p:cNvPr id="28737" name="AutoShape 104"/>
            <p:cNvCxnSpPr>
              <a:cxnSpLocks noChangeShapeType="1"/>
              <a:stCxn id="28743" idx="6"/>
              <a:endCxn id="28749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tailEnd type="triangle" w="med" len="med"/>
            </a:ln>
          </p:spPr>
        </p:cxnSp>
      </p:grpSp>
      <p:sp>
        <p:nvSpPr>
          <p:cNvPr id="805993" name="Text Box 105"/>
          <p:cNvSpPr txBox="1">
            <a:spLocks noChangeArrowheads="1"/>
          </p:cNvSpPr>
          <p:nvPr/>
        </p:nvSpPr>
        <p:spPr bwMode="auto">
          <a:xfrm>
            <a:off x="4267201" y="3868738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</a:t>
            </a:r>
            <a:endParaRPr lang="en-US"/>
          </a:p>
        </p:txBody>
      </p:sp>
      <p:sp>
        <p:nvSpPr>
          <p:cNvPr id="805994" name="Text Box 106"/>
          <p:cNvSpPr txBox="1">
            <a:spLocks noChangeArrowheads="1"/>
          </p:cNvSpPr>
          <p:nvPr/>
        </p:nvSpPr>
        <p:spPr bwMode="auto">
          <a:xfrm>
            <a:off x="7024689" y="3798887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9</a:t>
            </a:r>
            <a:endParaRPr lang="en-US"/>
          </a:p>
        </p:txBody>
      </p:sp>
      <p:sp>
        <p:nvSpPr>
          <p:cNvPr id="805995" name="Text Box 107"/>
          <p:cNvSpPr txBox="1">
            <a:spLocks noChangeArrowheads="1"/>
          </p:cNvSpPr>
          <p:nvPr/>
        </p:nvSpPr>
        <p:spPr bwMode="auto">
          <a:xfrm>
            <a:off x="8734429" y="3795714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  <a:endParaRPr lang="en-US"/>
          </a:p>
        </p:txBody>
      </p:sp>
      <p:sp>
        <p:nvSpPr>
          <p:cNvPr id="805996" name="Oval 108"/>
          <p:cNvSpPr>
            <a:spLocks noChangeArrowheads="1"/>
          </p:cNvSpPr>
          <p:nvPr/>
        </p:nvSpPr>
        <p:spPr bwMode="auto">
          <a:xfrm>
            <a:off x="8370888" y="3868735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97" name="Oval 109"/>
          <p:cNvSpPr>
            <a:spLocks noChangeArrowheads="1"/>
          </p:cNvSpPr>
          <p:nvPr/>
        </p:nvSpPr>
        <p:spPr bwMode="auto">
          <a:xfrm>
            <a:off x="8388356" y="4381502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5998" name="Text Box 110"/>
          <p:cNvSpPr txBox="1">
            <a:spLocks noChangeArrowheads="1"/>
          </p:cNvSpPr>
          <p:nvPr/>
        </p:nvSpPr>
        <p:spPr bwMode="auto">
          <a:xfrm>
            <a:off x="8759829" y="4303714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16</a:t>
            </a:r>
            <a:endParaRPr lang="en-US"/>
          </a:p>
        </p:txBody>
      </p:sp>
      <p:sp>
        <p:nvSpPr>
          <p:cNvPr id="805999" name="Oval 111"/>
          <p:cNvSpPr>
            <a:spLocks noChangeArrowheads="1"/>
          </p:cNvSpPr>
          <p:nvPr/>
        </p:nvSpPr>
        <p:spPr bwMode="auto">
          <a:xfrm>
            <a:off x="3276606" y="43989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0" name="Oval 112"/>
          <p:cNvSpPr>
            <a:spLocks noChangeArrowheads="1"/>
          </p:cNvSpPr>
          <p:nvPr/>
        </p:nvSpPr>
        <p:spPr bwMode="auto">
          <a:xfrm>
            <a:off x="3960815" y="43973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1" name="Oval 113"/>
          <p:cNvSpPr>
            <a:spLocks noChangeArrowheads="1"/>
          </p:cNvSpPr>
          <p:nvPr/>
        </p:nvSpPr>
        <p:spPr bwMode="auto">
          <a:xfrm>
            <a:off x="4789488" y="438943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2" name="Text Box 114"/>
          <p:cNvSpPr txBox="1">
            <a:spLocks noChangeArrowheads="1"/>
          </p:cNvSpPr>
          <p:nvPr/>
        </p:nvSpPr>
        <p:spPr bwMode="auto">
          <a:xfrm>
            <a:off x="3565529" y="4354514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</a:t>
            </a:r>
            <a:endParaRPr lang="en-US"/>
          </a:p>
        </p:txBody>
      </p:sp>
      <p:sp>
        <p:nvSpPr>
          <p:cNvPr id="806003" name="Text Box 115"/>
          <p:cNvSpPr txBox="1">
            <a:spLocks noChangeArrowheads="1"/>
          </p:cNvSpPr>
          <p:nvPr/>
        </p:nvSpPr>
        <p:spPr bwMode="auto">
          <a:xfrm>
            <a:off x="4154489" y="4506914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</a:t>
            </a:r>
            <a:endParaRPr lang="en-US"/>
          </a:p>
        </p:txBody>
      </p:sp>
      <p:sp>
        <p:nvSpPr>
          <p:cNvPr id="806004" name="Text Box 116"/>
          <p:cNvSpPr txBox="1">
            <a:spLocks noChangeArrowheads="1"/>
          </p:cNvSpPr>
          <p:nvPr/>
        </p:nvSpPr>
        <p:spPr bwMode="auto">
          <a:xfrm>
            <a:off x="5084765" y="4327526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5</a:t>
            </a:r>
            <a:endParaRPr lang="en-US"/>
          </a:p>
        </p:txBody>
      </p:sp>
      <p:sp>
        <p:nvSpPr>
          <p:cNvPr id="806005" name="Oval 117"/>
          <p:cNvSpPr>
            <a:spLocks noChangeArrowheads="1"/>
          </p:cNvSpPr>
          <p:nvPr/>
        </p:nvSpPr>
        <p:spPr bwMode="auto">
          <a:xfrm>
            <a:off x="3833815" y="39211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6" name="Oval 118"/>
          <p:cNvSpPr>
            <a:spLocks noChangeArrowheads="1"/>
          </p:cNvSpPr>
          <p:nvPr/>
        </p:nvSpPr>
        <p:spPr bwMode="auto">
          <a:xfrm>
            <a:off x="3276606" y="4398961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7" name="Oval 119"/>
          <p:cNvSpPr>
            <a:spLocks noChangeArrowheads="1"/>
          </p:cNvSpPr>
          <p:nvPr/>
        </p:nvSpPr>
        <p:spPr bwMode="auto">
          <a:xfrm>
            <a:off x="3257556" y="49450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8" name="Oval 120"/>
          <p:cNvSpPr>
            <a:spLocks noChangeArrowheads="1"/>
          </p:cNvSpPr>
          <p:nvPr/>
        </p:nvSpPr>
        <p:spPr bwMode="auto">
          <a:xfrm>
            <a:off x="3259139" y="4945061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09" name="Oval 121"/>
          <p:cNvSpPr>
            <a:spLocks noChangeArrowheads="1"/>
          </p:cNvSpPr>
          <p:nvPr/>
        </p:nvSpPr>
        <p:spPr bwMode="auto">
          <a:xfrm>
            <a:off x="4787906" y="439102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0" name="Oval 122"/>
          <p:cNvSpPr>
            <a:spLocks noChangeArrowheads="1"/>
          </p:cNvSpPr>
          <p:nvPr/>
        </p:nvSpPr>
        <p:spPr bwMode="auto">
          <a:xfrm>
            <a:off x="4437063" y="49180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1" name="Oval 123"/>
          <p:cNvSpPr>
            <a:spLocks noChangeArrowheads="1"/>
          </p:cNvSpPr>
          <p:nvPr/>
        </p:nvSpPr>
        <p:spPr bwMode="auto">
          <a:xfrm>
            <a:off x="5113339" y="4926011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2" name="Text Box 124"/>
          <p:cNvSpPr txBox="1">
            <a:spLocks noChangeArrowheads="1"/>
          </p:cNvSpPr>
          <p:nvPr/>
        </p:nvSpPr>
        <p:spPr bwMode="auto">
          <a:xfrm>
            <a:off x="5387977" y="4862514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7</a:t>
            </a:r>
            <a:endParaRPr lang="en-US"/>
          </a:p>
        </p:txBody>
      </p:sp>
      <p:sp>
        <p:nvSpPr>
          <p:cNvPr id="806013" name="Text Box 125"/>
          <p:cNvSpPr txBox="1">
            <a:spLocks noChangeArrowheads="1"/>
          </p:cNvSpPr>
          <p:nvPr/>
        </p:nvSpPr>
        <p:spPr bwMode="auto">
          <a:xfrm>
            <a:off x="4686301" y="4868863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13</a:t>
            </a:r>
            <a:endParaRPr lang="en-US"/>
          </a:p>
        </p:txBody>
      </p:sp>
      <p:sp>
        <p:nvSpPr>
          <p:cNvPr id="806014" name="Oval 126"/>
          <p:cNvSpPr>
            <a:spLocks noChangeArrowheads="1"/>
          </p:cNvSpPr>
          <p:nvPr/>
        </p:nvSpPr>
        <p:spPr bwMode="auto">
          <a:xfrm>
            <a:off x="5114930" y="4927602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5" name="Oval 127"/>
          <p:cNvSpPr>
            <a:spLocks noChangeArrowheads="1"/>
          </p:cNvSpPr>
          <p:nvPr/>
        </p:nvSpPr>
        <p:spPr bwMode="auto">
          <a:xfrm>
            <a:off x="5111756" y="5453061"/>
            <a:ext cx="290513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6" name="Text Box 128"/>
          <p:cNvSpPr txBox="1">
            <a:spLocks noChangeArrowheads="1"/>
          </p:cNvSpPr>
          <p:nvPr/>
        </p:nvSpPr>
        <p:spPr bwMode="auto">
          <a:xfrm>
            <a:off x="5376865" y="5397502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8</a:t>
            </a:r>
            <a:endParaRPr lang="en-US"/>
          </a:p>
        </p:txBody>
      </p:sp>
      <p:sp>
        <p:nvSpPr>
          <p:cNvPr id="806017" name="Oval 129"/>
          <p:cNvSpPr>
            <a:spLocks noChangeArrowheads="1"/>
          </p:cNvSpPr>
          <p:nvPr/>
        </p:nvSpPr>
        <p:spPr bwMode="auto">
          <a:xfrm>
            <a:off x="5113339" y="5454653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8" name="Oval 130"/>
          <p:cNvSpPr>
            <a:spLocks noChangeArrowheads="1"/>
          </p:cNvSpPr>
          <p:nvPr/>
        </p:nvSpPr>
        <p:spPr bwMode="auto">
          <a:xfrm>
            <a:off x="5375280" y="5981702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19" name="Text Box 131"/>
          <p:cNvSpPr txBox="1">
            <a:spLocks noChangeArrowheads="1"/>
          </p:cNvSpPr>
          <p:nvPr/>
        </p:nvSpPr>
        <p:spPr bwMode="auto">
          <a:xfrm>
            <a:off x="5641977" y="5924550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10</a:t>
            </a:r>
            <a:endParaRPr lang="en-US"/>
          </a:p>
        </p:txBody>
      </p:sp>
      <p:sp>
        <p:nvSpPr>
          <p:cNvPr id="806020" name="Text Box 132"/>
          <p:cNvSpPr txBox="1">
            <a:spLocks noChangeArrowheads="1"/>
          </p:cNvSpPr>
          <p:nvPr/>
        </p:nvSpPr>
        <p:spPr bwMode="auto">
          <a:xfrm>
            <a:off x="4481513" y="5924550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</a:t>
            </a:r>
            <a:endParaRPr lang="en-US"/>
          </a:p>
        </p:txBody>
      </p:sp>
      <p:sp>
        <p:nvSpPr>
          <p:cNvPr id="806021" name="Oval 133"/>
          <p:cNvSpPr>
            <a:spLocks noChangeArrowheads="1"/>
          </p:cNvSpPr>
          <p:nvPr/>
        </p:nvSpPr>
        <p:spPr bwMode="auto">
          <a:xfrm>
            <a:off x="4860930" y="5962653"/>
            <a:ext cx="290513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2" name="Oval 134"/>
          <p:cNvSpPr>
            <a:spLocks noChangeArrowheads="1"/>
          </p:cNvSpPr>
          <p:nvPr/>
        </p:nvSpPr>
        <p:spPr bwMode="auto">
          <a:xfrm>
            <a:off x="6623056" y="385603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3" name="Oval 135"/>
          <p:cNvSpPr>
            <a:spLocks noChangeArrowheads="1"/>
          </p:cNvSpPr>
          <p:nvPr/>
        </p:nvSpPr>
        <p:spPr bwMode="auto">
          <a:xfrm>
            <a:off x="6954839" y="4384678"/>
            <a:ext cx="290512" cy="2651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4" name="Oval 136"/>
          <p:cNvSpPr>
            <a:spLocks noChangeArrowheads="1"/>
          </p:cNvSpPr>
          <p:nvPr/>
        </p:nvSpPr>
        <p:spPr bwMode="auto">
          <a:xfrm>
            <a:off x="6253163" y="4383085"/>
            <a:ext cx="290512" cy="2651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25" name="Text Box 137"/>
          <p:cNvSpPr txBox="1">
            <a:spLocks noChangeArrowheads="1"/>
          </p:cNvSpPr>
          <p:nvPr/>
        </p:nvSpPr>
        <p:spPr bwMode="auto">
          <a:xfrm>
            <a:off x="6488113" y="4327526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17</a:t>
            </a:r>
            <a:endParaRPr lang="en-US"/>
          </a:p>
        </p:txBody>
      </p:sp>
      <p:sp>
        <p:nvSpPr>
          <p:cNvPr id="806026" name="Text Box 138"/>
          <p:cNvSpPr txBox="1">
            <a:spLocks noChangeArrowheads="1"/>
          </p:cNvSpPr>
          <p:nvPr/>
        </p:nvSpPr>
        <p:spPr bwMode="auto">
          <a:xfrm>
            <a:off x="7204077" y="4316414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11</a:t>
            </a:r>
            <a:endParaRPr lang="en-US"/>
          </a:p>
        </p:txBody>
      </p:sp>
      <p:sp>
        <p:nvSpPr>
          <p:cNvPr id="806027" name="Oval 139"/>
          <p:cNvSpPr>
            <a:spLocks noChangeArrowheads="1"/>
          </p:cNvSpPr>
          <p:nvPr/>
        </p:nvSpPr>
        <p:spPr bwMode="auto">
          <a:xfrm>
            <a:off x="5375280" y="598328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28720" name="Text Box 140"/>
          <p:cNvSpPr txBox="1">
            <a:spLocks noChangeArrowheads="1"/>
          </p:cNvSpPr>
          <p:nvPr/>
        </p:nvSpPr>
        <p:spPr bwMode="auto">
          <a:xfrm>
            <a:off x="6550029" y="3352802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0</a:t>
            </a:r>
            <a:endParaRPr lang="en-US" dirty="0"/>
          </a:p>
        </p:txBody>
      </p:sp>
      <p:sp>
        <p:nvSpPr>
          <p:cNvPr id="806029" name="Text Box 141"/>
          <p:cNvSpPr txBox="1">
            <a:spLocks noChangeArrowheads="1"/>
          </p:cNvSpPr>
          <p:nvPr/>
        </p:nvSpPr>
        <p:spPr bwMode="auto">
          <a:xfrm>
            <a:off x="3554413" y="4867275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6</a:t>
            </a:r>
            <a:endParaRPr lang="en-US"/>
          </a:p>
        </p:txBody>
      </p:sp>
      <p:sp>
        <p:nvSpPr>
          <p:cNvPr id="28722" name="Text Box 142"/>
          <p:cNvSpPr txBox="1">
            <a:spLocks noChangeArrowheads="1"/>
          </p:cNvSpPr>
          <p:nvPr/>
        </p:nvSpPr>
        <p:spPr bwMode="auto">
          <a:xfrm>
            <a:off x="4884737" y="1974854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3</a:t>
            </a:r>
            <a:endParaRPr lang="en-US"/>
          </a:p>
        </p:txBody>
      </p:sp>
      <p:sp>
        <p:nvSpPr>
          <p:cNvPr id="28723" name="Text Box 143"/>
          <p:cNvSpPr txBox="1">
            <a:spLocks noChangeArrowheads="1"/>
          </p:cNvSpPr>
          <p:nvPr/>
        </p:nvSpPr>
        <p:spPr bwMode="auto">
          <a:xfrm>
            <a:off x="5878513" y="2128839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9</a:t>
            </a:r>
            <a:endParaRPr lang="en-US"/>
          </a:p>
        </p:txBody>
      </p:sp>
      <p:sp>
        <p:nvSpPr>
          <p:cNvPr id="28724" name="Text Box 144"/>
          <p:cNvSpPr txBox="1">
            <a:spLocks noChangeArrowheads="1"/>
          </p:cNvSpPr>
          <p:nvPr/>
        </p:nvSpPr>
        <p:spPr bwMode="auto">
          <a:xfrm>
            <a:off x="4735513" y="2622554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  <a:endParaRPr lang="en-US"/>
          </a:p>
        </p:txBody>
      </p:sp>
      <p:sp>
        <p:nvSpPr>
          <p:cNvPr id="28725" name="Text Box 145"/>
          <p:cNvSpPr txBox="1">
            <a:spLocks noChangeArrowheads="1"/>
          </p:cNvSpPr>
          <p:nvPr/>
        </p:nvSpPr>
        <p:spPr bwMode="auto">
          <a:xfrm>
            <a:off x="5224461" y="1657354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  <a:endParaRPr lang="en-US"/>
          </a:p>
        </p:txBody>
      </p:sp>
      <p:sp>
        <p:nvSpPr>
          <p:cNvPr id="28726" name="Text Box 146"/>
          <p:cNvSpPr txBox="1">
            <a:spLocks noChangeArrowheads="1"/>
          </p:cNvSpPr>
          <p:nvPr/>
        </p:nvSpPr>
        <p:spPr bwMode="auto">
          <a:xfrm>
            <a:off x="5035549" y="1219202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  <a:endParaRPr lang="en-US"/>
          </a:p>
        </p:txBody>
      </p:sp>
      <p:sp>
        <p:nvSpPr>
          <p:cNvPr id="28727" name="Text Box 147"/>
          <p:cNvSpPr txBox="1">
            <a:spLocks noChangeArrowheads="1"/>
          </p:cNvSpPr>
          <p:nvPr/>
        </p:nvSpPr>
        <p:spPr bwMode="auto">
          <a:xfrm>
            <a:off x="5753101" y="1639890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8</a:t>
            </a:r>
            <a:endParaRPr lang="en-US"/>
          </a:p>
        </p:txBody>
      </p:sp>
      <p:sp>
        <p:nvSpPr>
          <p:cNvPr id="28728" name="Text Box 148"/>
          <p:cNvSpPr txBox="1">
            <a:spLocks noChangeArrowheads="1"/>
          </p:cNvSpPr>
          <p:nvPr/>
        </p:nvSpPr>
        <p:spPr bwMode="auto">
          <a:xfrm>
            <a:off x="6683377" y="2252666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8</a:t>
            </a:r>
            <a:endParaRPr lang="en-US"/>
          </a:p>
        </p:txBody>
      </p:sp>
      <p:sp>
        <p:nvSpPr>
          <p:cNvPr id="28729" name="Text Box 149"/>
          <p:cNvSpPr txBox="1">
            <a:spLocks noChangeArrowheads="1"/>
          </p:cNvSpPr>
          <p:nvPr/>
        </p:nvSpPr>
        <p:spPr bwMode="auto">
          <a:xfrm>
            <a:off x="7013573" y="2125666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  <a:endParaRPr lang="en-US"/>
          </a:p>
        </p:txBody>
      </p:sp>
      <p:sp>
        <p:nvSpPr>
          <p:cNvPr id="28730" name="Text Box 150"/>
          <p:cNvSpPr txBox="1">
            <a:spLocks noChangeArrowheads="1"/>
          </p:cNvSpPr>
          <p:nvPr/>
        </p:nvSpPr>
        <p:spPr bwMode="auto">
          <a:xfrm>
            <a:off x="5467353" y="2851154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15</a:t>
            </a:r>
            <a:endParaRPr lang="en-US"/>
          </a:p>
        </p:txBody>
      </p:sp>
      <p:sp>
        <p:nvSpPr>
          <p:cNvPr id="28731" name="Text Box 151"/>
          <p:cNvSpPr txBox="1">
            <a:spLocks noChangeArrowheads="1"/>
          </p:cNvSpPr>
          <p:nvPr/>
        </p:nvSpPr>
        <p:spPr bwMode="auto">
          <a:xfrm>
            <a:off x="7540625" y="2371727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  <a:endParaRPr lang="en-US"/>
          </a:p>
        </p:txBody>
      </p:sp>
      <p:sp>
        <p:nvSpPr>
          <p:cNvPr id="28732" name="Text Box 152"/>
          <p:cNvSpPr txBox="1">
            <a:spLocks noChangeArrowheads="1"/>
          </p:cNvSpPr>
          <p:nvPr/>
        </p:nvSpPr>
        <p:spPr bwMode="auto">
          <a:xfrm>
            <a:off x="7556501" y="1720854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  <a:endParaRPr lang="en-US"/>
          </a:p>
        </p:txBody>
      </p:sp>
      <p:sp>
        <p:nvSpPr>
          <p:cNvPr id="806041" name="AutoShape 153"/>
          <p:cNvSpPr/>
          <p:nvPr/>
        </p:nvSpPr>
        <p:spPr bwMode="auto">
          <a:xfrm>
            <a:off x="1909765" y="3613147"/>
            <a:ext cx="396875" cy="2986088"/>
          </a:xfrm>
          <a:prstGeom prst="leftBrace">
            <a:avLst>
              <a:gd name="adj1" fmla="val 627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</p:spPr>
        <p:txBody>
          <a:bodyPr wrap="none" lIns="91432" tIns="45718" rIns="91432" bIns="45718" anchor="ctr"/>
          <a:lstStyle/>
          <a:p>
            <a:endParaRPr lang="en-US"/>
          </a:p>
        </p:txBody>
      </p:sp>
      <p:sp>
        <p:nvSpPr>
          <p:cNvPr id="806042" name="Text Box 154"/>
          <p:cNvSpPr txBox="1">
            <a:spLocks noChangeArrowheads="1"/>
          </p:cNvSpPr>
          <p:nvPr/>
        </p:nvSpPr>
        <p:spPr bwMode="auto">
          <a:xfrm>
            <a:off x="914401" y="4827588"/>
            <a:ext cx="1158875" cy="6463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Cost contours</a:t>
            </a:r>
            <a:endParaRPr lang="en-US"/>
          </a:p>
        </p:txBody>
      </p:sp>
      <p:sp>
        <p:nvSpPr>
          <p:cNvPr id="28735" name="Text Box 155"/>
          <p:cNvSpPr txBox="1">
            <a:spLocks noChangeArrowheads="1"/>
          </p:cNvSpPr>
          <p:nvPr/>
        </p:nvSpPr>
        <p:spPr bwMode="auto">
          <a:xfrm>
            <a:off x="6134101" y="1827215"/>
            <a:ext cx="538163" cy="3693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956" grpId="0" animBg="1"/>
      <p:bldP spid="805958" grpId="0" animBg="1"/>
      <p:bldP spid="805959" grpId="0" animBg="1"/>
      <p:bldP spid="805960" grpId="0" animBg="1"/>
      <p:bldP spid="805993" grpId="0"/>
      <p:bldP spid="805994" grpId="0"/>
      <p:bldP spid="805995" grpId="0"/>
      <p:bldP spid="805996" grpId="0" animBg="1"/>
      <p:bldP spid="805997" grpId="0" animBg="1"/>
      <p:bldP spid="805998" grpId="0"/>
      <p:bldP spid="805999" grpId="0" animBg="1"/>
      <p:bldP spid="806000" grpId="0" animBg="1"/>
      <p:bldP spid="806001" grpId="0" animBg="1"/>
      <p:bldP spid="806002" grpId="0"/>
      <p:bldP spid="806003" grpId="0"/>
      <p:bldP spid="806004" grpId="0"/>
      <p:bldP spid="806005" grpId="0" animBg="1"/>
      <p:bldP spid="806006" grpId="0" animBg="1"/>
      <p:bldP spid="806007" grpId="0" animBg="1"/>
      <p:bldP spid="806008" grpId="0" animBg="1"/>
      <p:bldP spid="806009" grpId="0" animBg="1"/>
      <p:bldP spid="806010" grpId="0" animBg="1"/>
      <p:bldP spid="806011" grpId="0" animBg="1"/>
      <p:bldP spid="806012" grpId="0"/>
      <p:bldP spid="806013" grpId="0"/>
      <p:bldP spid="806014" grpId="0" animBg="1"/>
      <p:bldP spid="806015" grpId="0" animBg="1"/>
      <p:bldP spid="806016" grpId="0"/>
      <p:bldP spid="806017" grpId="0" animBg="1"/>
      <p:bldP spid="806018" grpId="0" animBg="1"/>
      <p:bldP spid="806019" grpId="0"/>
      <p:bldP spid="806020" grpId="0"/>
      <p:bldP spid="806021" grpId="0" animBg="1"/>
      <p:bldP spid="806022" grpId="0" animBg="1"/>
      <p:bldP spid="806023" grpId="0" animBg="1"/>
      <p:bldP spid="806024" grpId="0" animBg="1"/>
      <p:bldP spid="806025" grpId="0"/>
      <p:bldP spid="806026" grpId="0"/>
      <p:bldP spid="806027" grpId="0" animBg="1"/>
      <p:bldP spid="806029" grpId="0"/>
      <p:bldP spid="806041" grpId="0" animBg="1"/>
      <p:bldP spid="806042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125.08110236220473,&quot;left&quot;:546,&quot;top&quot;:252,&quot;width&quot;:132}"/>
</p:tagLst>
</file>

<file path=ppt/tags/tag2.xml><?xml version="1.0" encoding="utf-8"?>
<p:tagLst xmlns:p="http://schemas.openxmlformats.org/presentationml/2006/main">
  <p:tag name="KSO_WM_DIAGRAM_VIRTUALLY_FRAME" val="{&quot;height&quot;:125.08110236220473,&quot;left&quot;:546,&quot;top&quot;:252,&quot;width&quot;:132}"/>
</p:tagLst>
</file>

<file path=ppt/tags/tag3.xml><?xml version="1.0" encoding="utf-8"?>
<p:tagLst xmlns:p="http://schemas.openxmlformats.org/presentationml/2006/main">
  <p:tag name="KSO_WM_DIAGRAM_VIRTUALLY_FRAME" val="{&quot;height&quot;:125.08110236220473,&quot;left&quot;:546,&quot;top&quot;:252,&quot;width&quot;:132}"/>
</p:tagLst>
</file>

<file path=ppt/tags/tag4.xml><?xml version="1.0" encoding="utf-8"?>
<p:tagLst xmlns:p="http://schemas.openxmlformats.org/presentationml/2006/main">
  <p:tag name="KSO_WM_DIAGRAM_VIRTUALLY_FRAME" val="{&quot;height&quot;:125.08110236220473,&quot;left&quot;:546,&quot;top&quot;:252,&quot;width&quot;:132}"/>
</p:tagLst>
</file>

<file path=ppt/tags/tag5.xml><?xml version="1.0" encoding="utf-8"?>
<p:tagLst xmlns:p="http://schemas.openxmlformats.org/presentationml/2006/main">
  <p:tag name="KSO_WM_DIAGRAM_VIRTUALLY_FRAME" val="{&quot;height&quot;:125.08110236220473,&quot;left&quot;:546,&quot;top&quot;:252,&quot;width&quot;:132}"/>
</p:tagLst>
</file>

<file path=ppt/tags/tag6.xml><?xml version="1.0" encoding="utf-8"?>
<p:tagLst xmlns:p="http://schemas.openxmlformats.org/presentationml/2006/main">
  <p:tag name="KSO_WM_DIAGRAM_VIRTUALLY_FRAME" val="{&quot;height&quot;:125.08110236220473,&quot;left&quot;:546,&quot;top&quot;:252,&quot;width&quot;:132}"/>
</p:tagLst>
</file>

<file path=ppt/tags/tag7.xml><?xml version="1.0" encoding="utf-8"?>
<p:tagLst xmlns:p="http://schemas.openxmlformats.org/presentationml/2006/main">
  <p:tag name="TEXPOINT" val="template"/>
  <p:tag name="SOURCE" val="TPT1  equation \infty  template TPT1  env TPENV1  fore 0  back 16777215  eqnno 1"/>
  <p:tag name="FILENAME" val="TP_tmp"/>
  <p:tag name="ORIGWIDTH" val="10"/>
  <p:tag name="PICTUREFILESIZE" val="1058"/>
</p:tagLst>
</file>

<file path=ppt/tags/tag8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6889</Words>
  <Application>WPS 演示</Application>
  <PresentationFormat>宽屏</PresentationFormat>
  <Paragraphs>907</Paragraphs>
  <Slides>49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6" baseType="lpstr">
      <vt:lpstr>Arial</vt:lpstr>
      <vt:lpstr>宋体</vt:lpstr>
      <vt:lpstr>Wingdings</vt:lpstr>
      <vt:lpstr>Helvetica Regular</vt:lpstr>
      <vt:lpstr>Segoe Print</vt:lpstr>
      <vt:lpstr>微软雅黑</vt:lpstr>
      <vt:lpstr>Helvetica</vt:lpstr>
      <vt:lpstr>Calibri</vt:lpstr>
      <vt:lpstr>Calibri</vt:lpstr>
      <vt:lpstr>Arial Unicode MS</vt:lpstr>
      <vt:lpstr>黑体</vt:lpstr>
      <vt:lpstr>等线</vt:lpstr>
      <vt:lpstr>MS PGothic</vt:lpstr>
      <vt:lpstr>Tahoma</vt:lpstr>
      <vt:lpstr>Wingdings</vt:lpstr>
      <vt:lpstr>Office 主题​​</vt:lpstr>
      <vt:lpstr>1_OfficePLUS</vt:lpstr>
      <vt:lpstr>Artificial Intelligence </vt:lpstr>
      <vt:lpstr>Today</vt:lpstr>
      <vt:lpstr>Search Problems</vt:lpstr>
      <vt:lpstr>Search Problems</vt:lpstr>
      <vt:lpstr>Example: Traveling in Romania</vt:lpstr>
      <vt:lpstr>State Space Graphs and Search Trees</vt:lpstr>
      <vt:lpstr>State Space Graphs</vt:lpstr>
      <vt:lpstr>Search Trees</vt:lpstr>
      <vt:lpstr>State Space Graphs vs. Search Trees</vt:lpstr>
      <vt:lpstr>Quiz: State Space Graphs vs. Search Trees</vt:lpstr>
      <vt:lpstr>Tree Search</vt:lpstr>
      <vt:lpstr>Search Example: Romania</vt:lpstr>
      <vt:lpstr>Searching with a Search Tree</vt:lpstr>
      <vt:lpstr>General Tree Search</vt:lpstr>
      <vt:lpstr>Uninformed search strategies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Search strategies</vt:lpstr>
      <vt:lpstr>Properties of breadth-first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Properties of depth-first search</vt:lpstr>
      <vt:lpstr>Depth-limited search</vt:lpstr>
      <vt:lpstr>Iterative Deepening</vt:lpstr>
      <vt:lpstr>Iterative deepening search</vt:lpstr>
      <vt:lpstr>Iterative deepening search l =0</vt:lpstr>
      <vt:lpstr>Iterative deepening search l =1</vt:lpstr>
      <vt:lpstr>Iterative deepening search l =2</vt:lpstr>
      <vt:lpstr>Iterative deepening search l =3</vt:lpstr>
      <vt:lpstr>Iterative deepening search</vt:lpstr>
      <vt:lpstr>Properties of iterative deepening search</vt:lpstr>
      <vt:lpstr>Uniform Cost Search</vt:lpstr>
      <vt:lpstr>Uniform Cost Search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叶 丁</dc:creator>
  <cp:lastModifiedBy>企业用户_1545036734</cp:lastModifiedBy>
  <cp:revision>3324</cp:revision>
  <dcterms:created xsi:type="dcterms:W3CDTF">2018-12-16T05:38:00Z</dcterms:created>
  <dcterms:modified xsi:type="dcterms:W3CDTF">2026-03-09T02:55:19Z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2019-04-13T06:32:31.4153976Z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d5228a63-67d4-4fd6-959f-d3cab9a76c24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2052-12.1.0.25225</vt:lpwstr>
  </property>
  <property fmtid="{D5CDD505-2E9C-101B-9397-08002B2CF9AE}" pid="12" name="ICV">
    <vt:lpwstr>D89607E9EAD847DA9C144AF36E9A05D9_13</vt:lpwstr>
  </property>
</Properties>
</file>