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256" r:id="rId2"/>
    <p:sldId id="267" r:id="rId3"/>
    <p:sldId id="268" r:id="rId4"/>
    <p:sldId id="261" r:id="rId5"/>
    <p:sldId id="262" r:id="rId6"/>
    <p:sldId id="269" r:id="rId7"/>
    <p:sldId id="270" r:id="rId8"/>
    <p:sldId id="271" r:id="rId9"/>
    <p:sldId id="272" r:id="rId10"/>
    <p:sldId id="273" r:id="rId11"/>
    <p:sldId id="274" r:id="rId12"/>
    <p:sldId id="275" r:id="rId13"/>
    <p:sldId id="383" r:id="rId14"/>
    <p:sldId id="276" r:id="rId15"/>
    <p:sldId id="277" r:id="rId16"/>
    <p:sldId id="278" r:id="rId17"/>
    <p:sldId id="279" r:id="rId18"/>
    <p:sldId id="280" r:id="rId19"/>
    <p:sldId id="281" r:id="rId20"/>
    <p:sldId id="282" r:id="rId21"/>
    <p:sldId id="283" r:id="rId22"/>
    <p:sldId id="295" r:id="rId23"/>
    <p:sldId id="296" r:id="rId24"/>
    <p:sldId id="301" r:id="rId25"/>
    <p:sldId id="302" r:id="rId26"/>
    <p:sldId id="304" r:id="rId27"/>
    <p:sldId id="305" r:id="rId28"/>
    <p:sldId id="307" r:id="rId29"/>
    <p:sldId id="308" r:id="rId30"/>
    <p:sldId id="309" r:id="rId31"/>
    <p:sldId id="310" r:id="rId32"/>
    <p:sldId id="311" r:id="rId33"/>
    <p:sldId id="312" r:id="rId34"/>
    <p:sldId id="869" r:id="rId35"/>
    <p:sldId id="574" r:id="rId36"/>
    <p:sldId id="575" r:id="rId37"/>
    <p:sldId id="561" r:id="rId38"/>
    <p:sldId id="622" r:id="rId39"/>
    <p:sldId id="384" r:id="rId40"/>
    <p:sldId id="633" r:id="rId41"/>
    <p:sldId id="389" r:id="rId42"/>
    <p:sldId id="319" r:id="rId43"/>
    <p:sldId id="330" r:id="rId44"/>
    <p:sldId id="331" r:id="rId45"/>
    <p:sldId id="321" r:id="rId46"/>
    <p:sldId id="350" r:id="rId47"/>
    <p:sldId id="351" r:id="rId48"/>
    <p:sldId id="291" r:id="rId49"/>
    <p:sldId id="355" r:id="rId50"/>
    <p:sldId id="263" r:id="rId51"/>
    <p:sldId id="284" r:id="rId52"/>
    <p:sldId id="368" r:id="rId53"/>
    <p:sldId id="313" r:id="rId54"/>
    <p:sldId id="369" r:id="rId55"/>
    <p:sldId id="370" r:id="rId56"/>
    <p:sldId id="371" r:id="rId57"/>
    <p:sldId id="318" r:id="rId58"/>
    <p:sldId id="448" r:id="rId59"/>
    <p:sldId id="388" r:id="rId60"/>
    <p:sldId id="459" r:id="rId61"/>
    <p:sldId id="460" r:id="rId62"/>
    <p:sldId id="461" r:id="rId63"/>
    <p:sldId id="390" r:id="rId64"/>
    <p:sldId id="452" r:id="rId65"/>
    <p:sldId id="363" r:id="rId66"/>
    <p:sldId id="402" r:id="rId67"/>
    <p:sldId id="364" r:id="rId68"/>
    <p:sldId id="365" r:id="rId69"/>
    <p:sldId id="366" r:id="rId70"/>
    <p:sldId id="870" r:id="rId71"/>
    <p:sldId id="635" r:id="rId72"/>
    <p:sldId id="636" r:id="rId73"/>
    <p:sldId id="637" r:id="rId74"/>
    <p:sldId id="864" r:id="rId75"/>
    <p:sldId id="638" r:id="rId76"/>
    <p:sldId id="865" r:id="rId77"/>
    <p:sldId id="866" r:id="rId78"/>
    <p:sldId id="867" r:id="rId79"/>
    <p:sldId id="643" r:id="rId80"/>
    <p:sldId id="640" r:id="rId81"/>
    <p:sldId id="863" r:id="rId82"/>
    <p:sldId id="299" r:id="rId83"/>
    <p:sldId id="300" r:id="rId84"/>
    <p:sldId id="306" r:id="rId85"/>
    <p:sldId id="316" r:id="rId86"/>
    <p:sldId id="641" r:id="rId87"/>
    <p:sldId id="642" r:id="rId8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4" d="100"/>
          <a:sy n="154" d="100"/>
        </p:scale>
        <p:origin x="52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C3DB4-C453-4425-9AEF-789C7EF0A00B}" type="datetimeFigureOut">
              <a:rPr lang="zh-CN" altLang="en-US" smtClean="0"/>
              <a:t>2026/6/1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5257F1-03EC-46C7-BFCF-AAF045D3BD0C}" type="slidenum">
              <a:rPr lang="zh-CN" altLang="en-US" smtClean="0"/>
              <a:t>‹#›</a:t>
            </a:fld>
            <a:endParaRPr lang="zh-CN" altLang="en-US"/>
          </a:p>
        </p:txBody>
      </p:sp>
    </p:spTree>
    <p:extLst>
      <p:ext uri="{BB962C8B-B14F-4D97-AF65-F5344CB8AC3E}">
        <p14:creationId xmlns:p14="http://schemas.microsoft.com/office/powerpoint/2010/main" val="4012130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a typeface="ＭＳ Ｐゴシック" panose="020B0600070205080204" pitchFamily="34" charset="-128"/>
              </a:rPr>
              <a:t>预计的</a:t>
            </a:r>
            <a:r>
              <a:rPr lang="en-US" altLang="zh-CN" dirty="0">
                <a:ea typeface="ＭＳ Ｐゴシック" panose="020B0600070205080204" pitchFamily="34" charset="-128"/>
              </a:rPr>
              <a:t>cost</a:t>
            </a:r>
            <a:r>
              <a:rPr lang="zh-CN" altLang="en-US" dirty="0">
                <a:ea typeface="ＭＳ Ｐゴシック" panose="020B0600070205080204" pitchFamily="34" charset="-128"/>
              </a:rPr>
              <a:t>要比真实的</a:t>
            </a:r>
            <a:r>
              <a:rPr lang="en-US" altLang="zh-CN" dirty="0">
                <a:ea typeface="ＭＳ Ｐゴシック" panose="020B0600070205080204" pitchFamily="34" charset="-128"/>
              </a:rPr>
              <a:t>cost</a:t>
            </a:r>
            <a:r>
              <a:rPr lang="zh-CN" altLang="en-US" dirty="0">
                <a:ea typeface="ＭＳ Ｐゴシック" panose="020B0600070205080204" pitchFamily="34" charset="-128"/>
              </a:rPr>
              <a:t>要小才行</a:t>
            </a:r>
          </a:p>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37</a:t>
            </a:fld>
            <a:endParaRPr lang="zh-CN" altLang="en-US"/>
          </a:p>
        </p:txBody>
      </p:sp>
    </p:spTree>
    <p:extLst>
      <p:ext uri="{BB962C8B-B14F-4D97-AF65-F5344CB8AC3E}">
        <p14:creationId xmlns:p14="http://schemas.microsoft.com/office/powerpoint/2010/main" val="4264698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Semantics</a:t>
            </a:r>
            <a:r>
              <a:rPr lang="zh-CN" altLang="en-US" dirty="0"/>
              <a:t>：语义</a:t>
            </a:r>
            <a:endParaRPr lang="en-US" altLang="zh-CN" dirty="0"/>
          </a:p>
          <a:p>
            <a:r>
              <a:rPr lang="zh-CN" altLang="en-US" dirty="0"/>
              <a:t>语义定义了用于判定特定模型中的语句真值的规则。</a:t>
            </a:r>
            <a:endParaRPr lang="en-US" altLang="zh-CN" dirty="0"/>
          </a:p>
          <a:p>
            <a:endParaRPr lang="en-US" altLang="zh-CN" dirty="0"/>
          </a:p>
          <a:p>
            <a:r>
              <a:rPr lang="zh-CN" altLang="en-US" dirty="0"/>
              <a:t>每个模型中的</a:t>
            </a:r>
            <a:r>
              <a:rPr lang="en-US" altLang="zh-CN" dirty="0"/>
              <a:t>true</a:t>
            </a:r>
            <a:r>
              <a:rPr lang="zh-CN" altLang="en-US" dirty="0"/>
              <a:t>都为真，</a:t>
            </a:r>
            <a:r>
              <a:rPr lang="en-US" altLang="zh-CN" dirty="0"/>
              <a:t>false</a:t>
            </a:r>
            <a:r>
              <a:rPr lang="zh-CN" altLang="en-US" dirty="0"/>
              <a:t>都为假。</a:t>
            </a:r>
            <a:endParaRPr lang="en-US" altLang="zh-CN" dirty="0"/>
          </a:p>
          <a:p>
            <a:r>
              <a:rPr lang="zh-CN" altLang="en-US" dirty="0"/>
              <a:t>每个命题词的真值必须在模型中直接指定。</a:t>
            </a:r>
            <a:endParaRPr lang="en-US" altLang="zh-CN"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40</a:t>
            </a:fld>
            <a:endParaRPr lang="zh-CN" altLang="en-US"/>
          </a:p>
        </p:txBody>
      </p:sp>
    </p:spTree>
    <p:extLst>
      <p:ext uri="{BB962C8B-B14F-4D97-AF65-F5344CB8AC3E}">
        <p14:creationId xmlns:p14="http://schemas.microsoft.com/office/powerpoint/2010/main" val="622498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9EFB35C-A96C-4DD1-A5EC-05220B083522}" type="slidenum">
              <a:rPr lang="zh-CN" altLang="en-US" smtClean="0"/>
              <a:t>45</a:t>
            </a:fld>
            <a:endParaRPr lang="zh-CN" altLang="en-US"/>
          </a:p>
        </p:txBody>
      </p:sp>
    </p:spTree>
    <p:extLst>
      <p:ext uri="{BB962C8B-B14F-4D97-AF65-F5344CB8AC3E}">
        <p14:creationId xmlns:p14="http://schemas.microsoft.com/office/powerpoint/2010/main" val="3245335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9225" y="781050"/>
            <a:ext cx="6938963" cy="3903663"/>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D7DE18D-B477-5540-A418-45080CBABEBE}" type="slidenum">
              <a:rPr lang="en-US" smtClean="0"/>
              <a:pPr/>
              <a:t>61</a:t>
            </a:fld>
            <a:endParaRPr lang="en-US"/>
          </a:p>
        </p:txBody>
      </p:sp>
    </p:spTree>
    <p:extLst>
      <p:ext uri="{BB962C8B-B14F-4D97-AF65-F5344CB8AC3E}">
        <p14:creationId xmlns:p14="http://schemas.microsoft.com/office/powerpoint/2010/main" val="2861144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9225" y="781050"/>
            <a:ext cx="6938963" cy="3903663"/>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D7DE18D-B477-5540-A418-45080CBABEBE}" type="slidenum">
              <a:rPr lang="en-US" smtClean="0"/>
              <a:pPr/>
              <a:t>62</a:t>
            </a:fld>
            <a:endParaRPr lang="en-US"/>
          </a:p>
        </p:txBody>
      </p:sp>
    </p:spTree>
    <p:extLst>
      <p:ext uri="{BB962C8B-B14F-4D97-AF65-F5344CB8AC3E}">
        <p14:creationId xmlns:p14="http://schemas.microsoft.com/office/powerpoint/2010/main" val="2372963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9225" y="781050"/>
            <a:ext cx="6938963" cy="3903663"/>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D7DE18D-B477-5540-A418-45080CBABEBE}" type="slidenum">
              <a:rPr lang="en-US" smtClean="0"/>
              <a:pPr/>
              <a:t>63</a:t>
            </a:fld>
            <a:endParaRPr lang="en-US"/>
          </a:p>
        </p:txBody>
      </p:sp>
    </p:spTree>
    <p:extLst>
      <p:ext uri="{BB962C8B-B14F-4D97-AF65-F5344CB8AC3E}">
        <p14:creationId xmlns:p14="http://schemas.microsoft.com/office/powerpoint/2010/main" val="2168565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65</a:t>
            </a:fld>
            <a:endParaRPr lang="zh-CN" altLang="en-US"/>
          </a:p>
        </p:txBody>
      </p:sp>
    </p:spTree>
    <p:extLst>
      <p:ext uri="{BB962C8B-B14F-4D97-AF65-F5344CB8AC3E}">
        <p14:creationId xmlns:p14="http://schemas.microsoft.com/office/powerpoint/2010/main" val="3520238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p:cNvSpPr>
            <a:spLocks noGrp="1" noRot="1" noChangeAspect="1" noTextEdit="1"/>
          </p:cNvSpPr>
          <p:nvPr>
            <p:ph type="sldImg"/>
          </p:nvPr>
        </p:nvSpPr>
        <p:spPr>
          <a:xfrm>
            <a:off x="152400" y="782638"/>
            <a:ext cx="6945313" cy="3908425"/>
          </a:xfrm>
          <a:ln/>
        </p:spPr>
      </p:sp>
      <p:sp>
        <p:nvSpPr>
          <p:cNvPr id="62466"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Arial" pitchFamily="34" charset="0"/>
                <a:ea typeface="ＭＳ Ｐゴシック" pitchFamily="34" charset="-128"/>
              </a:rPr>
              <a:t>T</a:t>
            </a:r>
            <a:r>
              <a:rPr lang="en-US" altLang="en-US">
                <a:latin typeface="Arial" pitchFamily="34" charset="0"/>
                <a:ea typeface="ＭＳ Ｐゴシック" pitchFamily="34" charset="-128"/>
              </a:rPr>
              <a:t>’</a:t>
            </a:r>
            <a:r>
              <a:rPr lang="en-US">
                <a:latin typeface="Arial" pitchFamily="34" charset="0"/>
                <a:ea typeface="ＭＳ Ｐゴシック" pitchFamily="34" charset="-128"/>
              </a:rPr>
              <a:t>: traffic report</a:t>
            </a:r>
          </a:p>
        </p:txBody>
      </p:sp>
      <p:sp>
        <p:nvSpPr>
          <p:cNvPr id="62467"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eaLnBrk="0" hangingPunct="0">
              <a:defRPr sz="2400">
                <a:solidFill>
                  <a:schemeClr val="tx1"/>
                </a:solidFill>
                <a:latin typeface="Arial" pitchFamily="34" charset="0"/>
                <a:ea typeface="ＭＳ Ｐゴシック" pitchFamily="34" charset="-128"/>
              </a:defRPr>
            </a:lvl1pPr>
            <a:lvl2pPr marL="742950" indent="-285750" defTabSz="966788" eaLnBrk="0" hangingPunct="0">
              <a:defRPr sz="2400">
                <a:solidFill>
                  <a:schemeClr val="tx1"/>
                </a:solidFill>
                <a:latin typeface="Arial" pitchFamily="34" charset="0"/>
                <a:ea typeface="ＭＳ Ｐゴシック" pitchFamily="34" charset="-128"/>
              </a:defRPr>
            </a:lvl2pPr>
            <a:lvl3pPr marL="1143000" indent="-228600" defTabSz="966788" eaLnBrk="0" hangingPunct="0">
              <a:defRPr sz="2400">
                <a:solidFill>
                  <a:schemeClr val="tx1"/>
                </a:solidFill>
                <a:latin typeface="Arial" pitchFamily="34" charset="0"/>
                <a:ea typeface="ＭＳ Ｐゴシック" pitchFamily="34" charset="-128"/>
              </a:defRPr>
            </a:lvl3pPr>
            <a:lvl4pPr marL="1600200" indent="-228600" defTabSz="966788" eaLnBrk="0" hangingPunct="0">
              <a:defRPr sz="2400">
                <a:solidFill>
                  <a:schemeClr val="tx1"/>
                </a:solidFill>
                <a:latin typeface="Arial" pitchFamily="34" charset="0"/>
                <a:ea typeface="ＭＳ Ｐゴシック" pitchFamily="34" charset="-128"/>
              </a:defRPr>
            </a:lvl4pPr>
            <a:lvl5pPr marL="2057400" indent="-228600" defTabSz="966788" eaLnBrk="0" hangingPunct="0">
              <a:defRPr sz="2400">
                <a:solidFill>
                  <a:schemeClr val="tx1"/>
                </a:solidFill>
                <a:latin typeface="Arial" pitchFamily="34" charset="0"/>
                <a:ea typeface="ＭＳ Ｐゴシック" pitchFamily="34" charset="-128"/>
              </a:defRPr>
            </a:lvl5pPr>
            <a:lvl6pPr marL="25146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C75A3D32-6BA7-4A1F-917C-754422230827}" type="slidenum">
              <a:rPr lang="en-US" sz="1300"/>
              <a:pPr eaLnBrk="1" hangingPunct="1"/>
              <a:t>67</a:t>
            </a:fld>
            <a:endParaRPr lang="en-US"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84C7023-1648-4F51-874D-1B6680E39D27}" type="slidenum">
              <a:rPr lang="en-US" smtClean="0"/>
              <a:pPr>
                <a:defRPr/>
              </a:pPr>
              <a:t>76</a:t>
            </a:fld>
            <a:endParaRPr lang="en-US"/>
          </a:p>
        </p:txBody>
      </p:sp>
    </p:spTree>
    <p:extLst>
      <p:ext uri="{BB962C8B-B14F-4D97-AF65-F5344CB8AC3E}">
        <p14:creationId xmlns:p14="http://schemas.microsoft.com/office/powerpoint/2010/main" val="3045678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84C7023-1648-4F51-874D-1B6680E39D27}" type="slidenum">
              <a:rPr lang="en-US" smtClean="0"/>
              <a:pPr>
                <a:defRPr/>
              </a:pPr>
              <a:t>77</a:t>
            </a:fld>
            <a:endParaRPr lang="en-US"/>
          </a:p>
        </p:txBody>
      </p:sp>
    </p:spTree>
    <p:extLst>
      <p:ext uri="{BB962C8B-B14F-4D97-AF65-F5344CB8AC3E}">
        <p14:creationId xmlns:p14="http://schemas.microsoft.com/office/powerpoint/2010/main" val="32443329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84C7023-1648-4F51-874D-1B6680E39D27}" type="slidenum">
              <a:rPr lang="en-US" smtClean="0"/>
              <a:pPr>
                <a:defRPr/>
              </a:pPr>
              <a:t>78</a:t>
            </a:fld>
            <a:endParaRPr lang="en-US"/>
          </a:p>
        </p:txBody>
      </p:sp>
    </p:spTree>
    <p:extLst>
      <p:ext uri="{BB962C8B-B14F-4D97-AF65-F5344CB8AC3E}">
        <p14:creationId xmlns:p14="http://schemas.microsoft.com/office/powerpoint/2010/main" val="379567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84C7023-1648-4F51-874D-1B6680E39D27}" type="slidenum">
              <a:rPr lang="en-US" smtClean="0"/>
              <a:pPr>
                <a:defRPr/>
              </a:pPr>
              <a:t>79</a:t>
            </a:fld>
            <a:endParaRPr lang="en-US"/>
          </a:p>
        </p:txBody>
      </p:sp>
    </p:spTree>
    <p:extLst>
      <p:ext uri="{BB962C8B-B14F-4D97-AF65-F5344CB8AC3E}">
        <p14:creationId xmlns:p14="http://schemas.microsoft.com/office/powerpoint/2010/main" val="3705008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81</a:t>
            </a:fld>
            <a:endParaRPr lang="zh-CN" altLang="en-US"/>
          </a:p>
        </p:txBody>
      </p:sp>
    </p:spTree>
    <p:extLst>
      <p:ext uri="{BB962C8B-B14F-4D97-AF65-F5344CB8AC3E}">
        <p14:creationId xmlns:p14="http://schemas.microsoft.com/office/powerpoint/2010/main" val="607143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1AD38E9-17DB-491A-B7FF-7D994B6DD3FB}" type="datetimeFigureOut">
              <a:rPr lang="zh-CN" altLang="en-US" smtClean="0"/>
              <a:t>2026/6/1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D8CA6C-7ED1-400F-818F-F27B623D292C}" type="slidenum">
              <a:rPr lang="zh-CN" altLang="en-US" smtClean="0"/>
              <a:t>‹#›</a:t>
            </a:fld>
            <a:endParaRPr lang="zh-CN" altLang="en-US"/>
          </a:p>
        </p:txBody>
      </p:sp>
    </p:spTree>
    <p:extLst>
      <p:ext uri="{BB962C8B-B14F-4D97-AF65-F5344CB8AC3E}">
        <p14:creationId xmlns:p14="http://schemas.microsoft.com/office/powerpoint/2010/main" val="2091249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1AD38E9-17DB-491A-B7FF-7D994B6DD3FB}" type="datetimeFigureOut">
              <a:rPr lang="zh-CN" altLang="en-US" smtClean="0"/>
              <a:t>2026/6/1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D8CA6C-7ED1-400F-818F-F27B623D292C}" type="slidenum">
              <a:rPr lang="zh-CN" altLang="en-US" smtClean="0"/>
              <a:t>‹#›</a:t>
            </a:fld>
            <a:endParaRPr lang="zh-CN" altLang="en-US"/>
          </a:p>
        </p:txBody>
      </p:sp>
    </p:spTree>
    <p:extLst>
      <p:ext uri="{BB962C8B-B14F-4D97-AF65-F5344CB8AC3E}">
        <p14:creationId xmlns:p14="http://schemas.microsoft.com/office/powerpoint/2010/main" val="1332796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1AD38E9-17DB-491A-B7FF-7D994B6DD3FB}" type="datetimeFigureOut">
              <a:rPr lang="zh-CN" altLang="en-US" smtClean="0"/>
              <a:t>2026/6/1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D8CA6C-7ED1-400F-818F-F27B623D292C}" type="slidenum">
              <a:rPr lang="zh-CN" altLang="en-US" smtClean="0"/>
              <a:t>‹#›</a:t>
            </a:fld>
            <a:endParaRPr lang="zh-CN" altLang="en-US"/>
          </a:p>
        </p:txBody>
      </p:sp>
    </p:spTree>
    <p:extLst>
      <p:ext uri="{BB962C8B-B14F-4D97-AF65-F5344CB8AC3E}">
        <p14:creationId xmlns:p14="http://schemas.microsoft.com/office/powerpoint/2010/main" val="3726070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1AD38E9-17DB-491A-B7FF-7D994B6DD3FB}" type="datetimeFigureOut">
              <a:rPr lang="zh-CN" altLang="en-US" smtClean="0"/>
              <a:t>2026/6/1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D8CA6C-7ED1-400F-818F-F27B623D292C}" type="slidenum">
              <a:rPr lang="zh-CN" altLang="en-US" smtClean="0"/>
              <a:t>‹#›</a:t>
            </a:fld>
            <a:endParaRPr lang="zh-CN" altLang="en-US"/>
          </a:p>
        </p:txBody>
      </p:sp>
    </p:spTree>
    <p:extLst>
      <p:ext uri="{BB962C8B-B14F-4D97-AF65-F5344CB8AC3E}">
        <p14:creationId xmlns:p14="http://schemas.microsoft.com/office/powerpoint/2010/main" val="3327763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1AD38E9-17DB-491A-B7FF-7D994B6DD3FB}" type="datetimeFigureOut">
              <a:rPr lang="zh-CN" altLang="en-US" smtClean="0"/>
              <a:t>2026/6/1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3D8CA6C-7ED1-400F-818F-F27B623D292C}" type="slidenum">
              <a:rPr lang="zh-CN" altLang="en-US" smtClean="0"/>
              <a:t>‹#›</a:t>
            </a:fld>
            <a:endParaRPr lang="zh-CN" altLang="en-US"/>
          </a:p>
        </p:txBody>
      </p:sp>
    </p:spTree>
    <p:extLst>
      <p:ext uri="{BB962C8B-B14F-4D97-AF65-F5344CB8AC3E}">
        <p14:creationId xmlns:p14="http://schemas.microsoft.com/office/powerpoint/2010/main" val="3401899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AD38E9-17DB-491A-B7FF-7D994B6DD3FB}" type="datetimeFigureOut">
              <a:rPr lang="zh-CN" altLang="en-US" smtClean="0"/>
              <a:t>2026/6/1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3D8CA6C-7ED1-400F-818F-F27B623D292C}" type="slidenum">
              <a:rPr lang="zh-CN" altLang="en-US" smtClean="0"/>
              <a:t>‹#›</a:t>
            </a:fld>
            <a:endParaRPr lang="zh-CN" altLang="en-US"/>
          </a:p>
        </p:txBody>
      </p:sp>
    </p:spTree>
    <p:extLst>
      <p:ext uri="{BB962C8B-B14F-4D97-AF65-F5344CB8AC3E}">
        <p14:creationId xmlns:p14="http://schemas.microsoft.com/office/powerpoint/2010/main" val="3618401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1AD38E9-17DB-491A-B7FF-7D994B6DD3FB}" type="datetimeFigureOut">
              <a:rPr lang="zh-CN" altLang="en-US" smtClean="0"/>
              <a:t>2026/6/1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3D8CA6C-7ED1-400F-818F-F27B623D292C}" type="slidenum">
              <a:rPr lang="zh-CN" altLang="en-US" smtClean="0"/>
              <a:t>‹#›</a:t>
            </a:fld>
            <a:endParaRPr lang="zh-CN" altLang="en-US"/>
          </a:p>
        </p:txBody>
      </p:sp>
    </p:spTree>
    <p:extLst>
      <p:ext uri="{BB962C8B-B14F-4D97-AF65-F5344CB8AC3E}">
        <p14:creationId xmlns:p14="http://schemas.microsoft.com/office/powerpoint/2010/main" val="1669711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1AD38E9-17DB-491A-B7FF-7D994B6DD3FB}" type="datetimeFigureOut">
              <a:rPr lang="zh-CN" altLang="en-US" smtClean="0"/>
              <a:t>2026/6/1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D8CA6C-7ED1-400F-818F-F27B623D292C}" type="slidenum">
              <a:rPr lang="zh-CN" altLang="en-US" smtClean="0"/>
              <a:t>‹#›</a:t>
            </a:fld>
            <a:endParaRPr lang="zh-CN" altLang="en-US"/>
          </a:p>
        </p:txBody>
      </p:sp>
    </p:spTree>
    <p:extLst>
      <p:ext uri="{BB962C8B-B14F-4D97-AF65-F5344CB8AC3E}">
        <p14:creationId xmlns:p14="http://schemas.microsoft.com/office/powerpoint/2010/main" val="391245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1AD38E9-17DB-491A-B7FF-7D994B6DD3FB}" type="datetimeFigureOut">
              <a:rPr lang="zh-CN" altLang="en-US" smtClean="0"/>
              <a:t>2026/6/1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D8CA6C-7ED1-400F-818F-F27B623D292C}" type="slidenum">
              <a:rPr lang="zh-CN" altLang="en-US" smtClean="0"/>
              <a:t>‹#›</a:t>
            </a:fld>
            <a:endParaRPr lang="zh-CN" altLang="en-US"/>
          </a:p>
        </p:txBody>
      </p:sp>
    </p:spTree>
    <p:extLst>
      <p:ext uri="{BB962C8B-B14F-4D97-AF65-F5344CB8AC3E}">
        <p14:creationId xmlns:p14="http://schemas.microsoft.com/office/powerpoint/2010/main" val="1071029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1AD38E9-17DB-491A-B7FF-7D994B6DD3FB}" type="datetimeFigureOut">
              <a:rPr lang="zh-CN" altLang="en-US" smtClean="0"/>
              <a:t>2026/6/1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D8CA6C-7ED1-400F-818F-F27B623D292C}" type="slidenum">
              <a:rPr lang="zh-CN" altLang="en-US" smtClean="0"/>
              <a:t>‹#›</a:t>
            </a:fld>
            <a:endParaRPr lang="zh-CN" altLang="en-US"/>
          </a:p>
        </p:txBody>
      </p:sp>
    </p:spTree>
    <p:extLst>
      <p:ext uri="{BB962C8B-B14F-4D97-AF65-F5344CB8AC3E}">
        <p14:creationId xmlns:p14="http://schemas.microsoft.com/office/powerpoint/2010/main" val="1712031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1AD38E9-17DB-491A-B7FF-7D994B6DD3FB}" type="datetimeFigureOut">
              <a:rPr lang="zh-CN" altLang="en-US" smtClean="0"/>
              <a:t>2026/6/1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D8CA6C-7ED1-400F-818F-F27B623D292C}" type="slidenum">
              <a:rPr lang="zh-CN" altLang="en-US" smtClean="0"/>
              <a:t>‹#›</a:t>
            </a:fld>
            <a:endParaRPr lang="zh-CN" altLang="en-US"/>
          </a:p>
        </p:txBody>
      </p:sp>
    </p:spTree>
    <p:extLst>
      <p:ext uri="{BB962C8B-B14F-4D97-AF65-F5344CB8AC3E}">
        <p14:creationId xmlns:p14="http://schemas.microsoft.com/office/powerpoint/2010/main" val="594699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a:extLst>
              <a:ext uri="{FF2B5EF4-FFF2-40B4-BE49-F238E27FC236}">
                <a16:creationId xmlns:a16="http://schemas.microsoft.com/office/drawing/2014/main" id="{053D6D2E-F110-4473-8442-17B28C05A741}"/>
              </a:ext>
            </a:extLst>
          </p:cNvPr>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a:extLst>
              <a:ext uri="{FF2B5EF4-FFF2-40B4-BE49-F238E27FC236}">
                <a16:creationId xmlns:a16="http://schemas.microsoft.com/office/drawing/2014/main" id="{E6BEB427-D252-4942-9F34-301C642191A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a:extLst>
              <a:ext uri="{FF2B5EF4-FFF2-40B4-BE49-F238E27FC236}">
                <a16:creationId xmlns:a16="http://schemas.microsoft.com/office/drawing/2014/main" id="{17358D7B-1DA9-9E4B-AFF1-9A13B20D43F0}"/>
              </a:ext>
            </a:extLst>
          </p:cNvPr>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a:extLst>
              <a:ext uri="{FF2B5EF4-FFF2-40B4-BE49-F238E27FC236}">
                <a16:creationId xmlns:a16="http://schemas.microsoft.com/office/drawing/2014/main" id="{ACA3C166-80E6-1B4A-AD5B-C8D47456872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2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a:extLst>
              <a:ext uri="{FF2B5EF4-FFF2-40B4-BE49-F238E27FC236}">
                <a16:creationId xmlns:a16="http://schemas.microsoft.com/office/drawing/2014/main" id="{4B77A5BA-0111-5844-9F86-5926B121D3FB}"/>
              </a:ext>
            </a:extLst>
          </p:cNvPr>
          <p:cNvSpPr>
            <a:spLocks noGrp="1"/>
          </p:cNvSpPr>
          <p:nvPr>
            <p:ph type="dt" sz="half" idx="10"/>
          </p:nvPr>
        </p:nvSpPr>
        <p:spPr/>
        <p:txBody>
          <a:bodyPr/>
          <a:lstStyle/>
          <a:p>
            <a:endParaRPr lang="zh-CN" altLang="en-US"/>
          </a:p>
        </p:txBody>
      </p:sp>
      <p:sp>
        <p:nvSpPr>
          <p:cNvPr id="14" name="页脚占位符 13">
            <a:extLst>
              <a:ext uri="{FF2B5EF4-FFF2-40B4-BE49-F238E27FC236}">
                <a16:creationId xmlns:a16="http://schemas.microsoft.com/office/drawing/2014/main" id="{44B829B2-7BD2-9948-8F21-7182730A06BA}"/>
              </a:ext>
            </a:extLst>
          </p:cNvPr>
          <p:cNvSpPr>
            <a:spLocks noGrp="1"/>
          </p:cNvSpPr>
          <p:nvPr>
            <p:ph type="ftr" sz="quarter" idx="11"/>
          </p:nvPr>
        </p:nvSpPr>
        <p:spPr/>
        <p:txBody>
          <a:bodyPr/>
          <a:lstStyle/>
          <a:p>
            <a:endParaRPr lang="zh-CN" altLang="en-US" dirty="0"/>
          </a:p>
        </p:txBody>
      </p:sp>
      <p:sp>
        <p:nvSpPr>
          <p:cNvPr id="15" name="灯片编号占位符 14">
            <a:extLst>
              <a:ext uri="{FF2B5EF4-FFF2-40B4-BE49-F238E27FC236}">
                <a16:creationId xmlns:a16="http://schemas.microsoft.com/office/drawing/2014/main" id="{6280651B-EA0A-1E41-B81D-87E3C43E66B9}"/>
              </a:ext>
            </a:extLst>
          </p:cNvPr>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Tree>
    <p:extLst>
      <p:ext uri="{BB962C8B-B14F-4D97-AF65-F5344CB8AC3E}">
        <p14:creationId xmlns:p14="http://schemas.microsoft.com/office/powerpoint/2010/main" val="700644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AD38E9-17DB-491A-B7FF-7D994B6DD3FB}" type="datetimeFigureOut">
              <a:rPr lang="zh-CN" altLang="en-US" smtClean="0"/>
              <a:t>2026/6/1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D8CA6C-7ED1-400F-818F-F27B623D292C}" type="slidenum">
              <a:rPr lang="zh-CN" altLang="en-US" smtClean="0"/>
              <a:t>‹#›</a:t>
            </a:fld>
            <a:endParaRPr lang="zh-CN" altLang="en-US"/>
          </a:p>
        </p:txBody>
      </p:sp>
    </p:spTree>
    <p:extLst>
      <p:ext uri="{BB962C8B-B14F-4D97-AF65-F5344CB8AC3E}">
        <p14:creationId xmlns:p14="http://schemas.microsoft.com/office/powerpoint/2010/main" val="3562487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2.xml"/><Relationship Id="rId1" Type="http://schemas.openxmlformats.org/officeDocument/2006/relationships/tags" Target="../tags/tag1.xml"/><Relationship Id="rId4" Type="http://schemas.openxmlformats.org/officeDocument/2006/relationships/image" Target="../media/image7.png"/></Relationships>
</file>

<file path=ppt/slides/_rels/slide6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4.xml"/><Relationship Id="rId7" Type="http://schemas.openxmlformats.org/officeDocument/2006/relationships/image" Target="../media/image7.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slideLayout" Target="../slideLayouts/slideLayout12.xml"/><Relationship Id="rId10" Type="http://schemas.openxmlformats.org/officeDocument/2006/relationships/image" Target="../media/image10.png"/><Relationship Id="rId4" Type="http://schemas.openxmlformats.org/officeDocument/2006/relationships/tags" Target="../tags/tag5.xml"/><Relationship Id="rId9" Type="http://schemas.openxmlformats.org/officeDocument/2006/relationships/image" Target="../media/image9.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6.xml"/><Relationship Id="rId5" Type="http://schemas.openxmlformats.org/officeDocument/2006/relationships/image" Target="../media/image16.png"/><Relationship Id="rId4" Type="http://schemas.openxmlformats.org/officeDocument/2006/relationships/image" Target="../media/image13.png"/></Relationships>
</file>

<file path=ppt/slides/_rels/slide6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9.xml"/><Relationship Id="rId7" Type="http://schemas.openxmlformats.org/officeDocument/2006/relationships/image" Target="../media/image8.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notesSlide" Target="../notesSlides/notesSlide5.xml"/><Relationship Id="rId11" Type="http://schemas.openxmlformats.org/officeDocument/2006/relationships/image" Target="../media/image16.png"/><Relationship Id="rId5" Type="http://schemas.openxmlformats.org/officeDocument/2006/relationships/slideLayout" Target="../slideLayouts/slideLayout12.xml"/><Relationship Id="rId10" Type="http://schemas.openxmlformats.org/officeDocument/2006/relationships/image" Target="../media/image13.png"/><Relationship Id="rId4" Type="http://schemas.openxmlformats.org/officeDocument/2006/relationships/tags" Target="../tags/tag10.xml"/><Relationship Id="rId9" Type="http://schemas.openxmlformats.org/officeDocument/2006/relationships/image" Target="../media/image17.png"/></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25.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24.png"/><Relationship Id="rId5" Type="http://schemas.openxmlformats.org/officeDocument/2006/relationships/image" Target="../media/image21.emf"/><Relationship Id="rId4" Type="http://schemas.openxmlformats.org/officeDocument/2006/relationships/image" Target="../media/image20.png"/></Relationships>
</file>

<file path=ppt/slides/_rels/slide6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15.xml"/><Relationship Id="rId7" Type="http://schemas.openxmlformats.org/officeDocument/2006/relationships/image" Target="../media/image27.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26.png"/><Relationship Id="rId5" Type="http://schemas.openxmlformats.org/officeDocument/2006/relationships/notesSlide" Target="../notesSlides/notesSlide8.xml"/><Relationship Id="rId4"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tags" Target="../tags/tag18.xml"/><Relationship Id="rId7" Type="http://schemas.openxmlformats.org/officeDocument/2006/relationships/image" Target="../media/image29.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12.xml"/><Relationship Id="rId11" Type="http://schemas.openxmlformats.org/officeDocument/2006/relationships/image" Target="../media/image33.png"/><Relationship Id="rId5" Type="http://schemas.openxmlformats.org/officeDocument/2006/relationships/tags" Target="../tags/tag20.xml"/><Relationship Id="rId10" Type="http://schemas.openxmlformats.org/officeDocument/2006/relationships/image" Target="../media/image32.png"/><Relationship Id="rId4" Type="http://schemas.openxmlformats.org/officeDocument/2006/relationships/tags" Target="../tags/tag19.xml"/><Relationship Id="rId9" Type="http://schemas.openxmlformats.org/officeDocument/2006/relationships/image" Target="../media/image31.png"/></Relationships>
</file>

<file path=ppt/slides/_rels/slide69.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image" Target="../media/image36.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47.jpeg"/></Relationships>
</file>

<file path=ppt/slides/_rels/slide82.xml.rels><?xml version="1.0" encoding="UTF-8" standalone="yes"?>
<Relationships xmlns="http://schemas.openxmlformats.org/package/2006/relationships"><Relationship Id="rId3" Type="http://schemas.openxmlformats.org/officeDocument/2006/relationships/hyperlink" Target="https://zhuanlan.zhihu.com/p/607605399" TargetMode="External"/><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arxiv.org/pdf/2205.11916.pdf"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a:t>复习提示</a:t>
            </a:r>
          </a:p>
        </p:txBody>
      </p:sp>
      <p:sp>
        <p:nvSpPr>
          <p:cNvPr id="3" name="副标题 2"/>
          <p:cNvSpPr>
            <a:spLocks noGrp="1"/>
          </p:cNvSpPr>
          <p:nvPr>
            <p:ph type="subTitle" idx="1"/>
          </p:nvPr>
        </p:nvSpPr>
        <p:spPr/>
        <p:txBody>
          <a:bodyPr/>
          <a:lstStyle/>
          <a:p>
            <a:endParaRPr lang="zh-CN"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4431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1.1 </a:t>
            </a:r>
            <a:r>
              <a:rPr lang="zh-CN" altLang="en-US" b="1" dirty="0">
                <a:latin typeface="Times New Roman" panose="02020603050405020304" pitchFamily="18" charset="0"/>
                <a:cs typeface="Times New Roman" panose="02020603050405020304" pitchFamily="18" charset="0"/>
              </a:rPr>
              <a:t>什么是人工智能</a:t>
            </a:r>
          </a:p>
        </p:txBody>
      </p:sp>
      <p:sp>
        <p:nvSpPr>
          <p:cNvPr id="3" name="内容占位符 2"/>
          <p:cNvSpPr>
            <a:spLocks noGrp="1"/>
          </p:cNvSpPr>
          <p:nvPr>
            <p:ph idx="1"/>
          </p:nvPr>
        </p:nvSpPr>
        <p:spPr/>
        <p:txBody>
          <a:bodyPr/>
          <a:lstStyle/>
          <a:p>
            <a:r>
              <a:rPr lang="zh-CN" altLang="en-US" b="1" dirty="0"/>
              <a:t>首先要区分</a:t>
            </a:r>
            <a:r>
              <a:rPr lang="zh-CN" altLang="en-US" b="1" dirty="0">
                <a:solidFill>
                  <a:srgbClr val="FF0000"/>
                </a:solidFill>
              </a:rPr>
              <a:t>人类</a:t>
            </a:r>
            <a:r>
              <a:rPr lang="zh-CN" altLang="en-US" b="1" dirty="0"/>
              <a:t>与</a:t>
            </a:r>
            <a:r>
              <a:rPr lang="zh-CN" altLang="en-US" b="1" dirty="0">
                <a:solidFill>
                  <a:srgbClr val="FF0000"/>
                </a:solidFill>
              </a:rPr>
              <a:t>理性</a:t>
            </a:r>
            <a:r>
              <a:rPr lang="zh-CN" altLang="en-US" b="1" dirty="0"/>
              <a:t>。</a:t>
            </a:r>
            <a:endParaRPr lang="en-US" altLang="zh-CN" b="1" dirty="0"/>
          </a:p>
          <a:p>
            <a:r>
              <a:rPr lang="zh-CN" altLang="en-US" b="1" dirty="0">
                <a:solidFill>
                  <a:srgbClr val="FF0000"/>
                </a:solidFill>
              </a:rPr>
              <a:t>思考</a:t>
            </a:r>
            <a:r>
              <a:rPr lang="zh-CN" altLang="en-US" b="1" dirty="0"/>
              <a:t>与</a:t>
            </a:r>
            <a:r>
              <a:rPr lang="zh-CN" altLang="en-US" b="1" dirty="0">
                <a:solidFill>
                  <a:srgbClr val="FF0000"/>
                </a:solidFill>
              </a:rPr>
              <a:t>行动</a:t>
            </a:r>
            <a:endParaRPr lang="en-US" altLang="zh-CN" b="1" dirty="0">
              <a:solidFill>
                <a:srgbClr val="FF0000"/>
              </a:solidFill>
            </a:endParaRPr>
          </a:p>
        </p:txBody>
      </p:sp>
    </p:spTree>
    <p:extLst>
      <p:ext uri="{BB962C8B-B14F-4D97-AF65-F5344CB8AC3E}">
        <p14:creationId xmlns:p14="http://schemas.microsoft.com/office/powerpoint/2010/main" val="4054766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1.1 </a:t>
            </a:r>
            <a:r>
              <a:rPr lang="zh-CN" altLang="en-US" b="1" dirty="0">
                <a:latin typeface="Times New Roman" panose="02020603050405020304" pitchFamily="18" charset="0"/>
                <a:cs typeface="Times New Roman" panose="02020603050405020304" pitchFamily="18" charset="0"/>
              </a:rPr>
              <a:t>什么是人工智能</a:t>
            </a:r>
            <a:endParaRPr lang="zh-CN" altLang="en-US" dirty="0"/>
          </a:p>
        </p:txBody>
      </p:sp>
      <p:sp>
        <p:nvSpPr>
          <p:cNvPr id="3" name="内容占位符 2"/>
          <p:cNvSpPr>
            <a:spLocks noGrp="1"/>
          </p:cNvSpPr>
          <p:nvPr>
            <p:ph idx="1"/>
          </p:nvPr>
        </p:nvSpPr>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定义一：像人一样思考的系统（</a:t>
            </a:r>
            <a:r>
              <a:rPr lang="zh-CN" altLang="en-US" b="1" dirty="0">
                <a:solidFill>
                  <a:srgbClr val="C00000"/>
                </a:solidFill>
                <a:latin typeface="Times New Roman" panose="02020603050405020304" pitchFamily="18" charset="0"/>
                <a:cs typeface="Times New Roman" panose="02020603050405020304" pitchFamily="18" charset="0"/>
              </a:rPr>
              <a:t>评价：计算机从定义开始</a:t>
            </a:r>
            <a:r>
              <a:rPr lang="zh-CN" altLang="en-US" b="1" dirty="0">
                <a:solidFill>
                  <a:srgbClr val="002060"/>
                </a:solidFill>
                <a:latin typeface="Times New Roman" panose="02020603050405020304" pitchFamily="18" charset="0"/>
                <a:cs typeface="Times New Roman" panose="02020603050405020304" pitchFamily="18" charset="0"/>
              </a:rPr>
              <a:t>）</a:t>
            </a:r>
            <a:endParaRPr lang="en-US" altLang="zh-CN" b="1" dirty="0">
              <a:solidFill>
                <a:srgbClr val="002060"/>
              </a:solidFill>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“新的令人激动的努力，要使计算机能够思考</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从字面上完整的意思就是：有头脑的机器。”</a:t>
            </a:r>
            <a:r>
              <a:rPr lang="en-US" altLang="zh-CN"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Haugeland</a:t>
            </a:r>
            <a:r>
              <a:rPr lang="en-US" altLang="zh-CN" b="1" dirty="0">
                <a:latin typeface="Times New Roman" panose="02020603050405020304" pitchFamily="18" charset="0"/>
                <a:cs typeface="Times New Roman" panose="02020603050405020304" pitchFamily="18" charset="0"/>
              </a:rPr>
              <a:t>, 1985)</a:t>
            </a:r>
          </a:p>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使之自动化</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与人类的思维相关的活动，诸如决策、问题求解、学习等活动”</a:t>
            </a:r>
            <a:r>
              <a:rPr lang="en-US" altLang="zh-CN" b="1" dirty="0">
                <a:latin typeface="Times New Roman" panose="02020603050405020304" pitchFamily="18" charset="0"/>
                <a:cs typeface="Times New Roman" panose="02020603050405020304" pitchFamily="18" charset="0"/>
              </a:rPr>
              <a:t>(Bellman,1978)</a:t>
            </a:r>
          </a:p>
          <a:p>
            <a:r>
              <a:rPr lang="zh-CN" altLang="en-US" b="1" dirty="0">
                <a:solidFill>
                  <a:srgbClr val="002060"/>
                </a:solidFill>
                <a:latin typeface="Times New Roman" panose="02020603050405020304" pitchFamily="18" charset="0"/>
                <a:cs typeface="Times New Roman" panose="02020603050405020304" pitchFamily="18" charset="0"/>
              </a:rPr>
              <a:t>（</a:t>
            </a:r>
            <a:r>
              <a:rPr lang="zh-CN" altLang="en-US" b="1" dirty="0">
                <a:solidFill>
                  <a:srgbClr val="FF0000"/>
                </a:solidFill>
                <a:latin typeface="Times New Roman" panose="02020603050405020304" pitchFamily="18" charset="0"/>
                <a:cs typeface="Times New Roman" panose="02020603050405020304" pitchFamily="18" charset="0"/>
              </a:rPr>
              <a:t>评价：汽车可以自动化生产，思维也可以吗？</a:t>
            </a:r>
            <a:r>
              <a:rPr lang="zh-CN" altLang="en-US" b="1" dirty="0">
                <a:solidFill>
                  <a:srgbClr val="002060"/>
                </a:solidFill>
                <a:latin typeface="Times New Roman" panose="02020603050405020304" pitchFamily="18" charset="0"/>
                <a:cs typeface="Times New Roman" panose="02020603050405020304" pitchFamily="18" charset="0"/>
              </a:rPr>
              <a:t>）</a:t>
            </a:r>
            <a:endParaRPr lang="en-US" altLang="zh-CN" b="1" dirty="0">
              <a:solidFill>
                <a:srgbClr val="002060"/>
              </a:solidFill>
              <a:latin typeface="Times New Roman" panose="02020603050405020304" pitchFamily="18" charset="0"/>
              <a:cs typeface="Times New Roman" panose="02020603050405020304" pitchFamily="18" charset="0"/>
            </a:endParaRPr>
          </a:p>
          <a:p>
            <a:pPr marL="0" indent="0">
              <a:buNone/>
            </a:pPr>
            <a:endParaRPr lang="zh-CN" altLang="en-US" dirty="0"/>
          </a:p>
        </p:txBody>
      </p:sp>
    </p:spTree>
    <p:extLst>
      <p:ext uri="{BB962C8B-B14F-4D97-AF65-F5344CB8AC3E}">
        <p14:creationId xmlns:p14="http://schemas.microsoft.com/office/powerpoint/2010/main" val="2436997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1.1 </a:t>
            </a:r>
            <a:r>
              <a:rPr lang="zh-CN" altLang="en-US" b="1" dirty="0">
                <a:latin typeface="Times New Roman" panose="02020603050405020304" pitchFamily="18" charset="0"/>
                <a:cs typeface="Times New Roman" panose="02020603050405020304" pitchFamily="18" charset="0"/>
              </a:rPr>
              <a:t>什么是人工智能</a:t>
            </a:r>
            <a:endParaRPr lang="zh-CN" altLang="en-US" dirty="0"/>
          </a:p>
        </p:txBody>
      </p:sp>
      <p:sp>
        <p:nvSpPr>
          <p:cNvPr id="3" name="内容占位符 2"/>
          <p:cNvSpPr>
            <a:spLocks noGrp="1"/>
          </p:cNvSpPr>
          <p:nvPr>
            <p:ph idx="1"/>
          </p:nvPr>
        </p:nvSpPr>
        <p:spPr>
          <a:xfrm>
            <a:off x="838199" y="1825625"/>
            <a:ext cx="10615863" cy="4351338"/>
          </a:xfrm>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定义二：理性地思考的系统</a:t>
            </a:r>
            <a:endParaRPr lang="en-US" altLang="zh-CN" b="1" dirty="0">
              <a:solidFill>
                <a:srgbClr val="002060"/>
              </a:solidFill>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“通过对计算模型的使用来进行心智能力的研究。”</a:t>
            </a:r>
            <a:r>
              <a:rPr lang="en-US" altLang="zh-CN"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Charniak</a:t>
            </a:r>
            <a:r>
              <a:rPr lang="en-US" altLang="zh-CN" b="1" dirty="0">
                <a:latin typeface="Times New Roman" panose="02020603050405020304" pitchFamily="18" charset="0"/>
                <a:cs typeface="Times New Roman" panose="02020603050405020304" pitchFamily="18" charset="0"/>
              </a:rPr>
              <a:t>, &amp; McDermott, 1985)</a:t>
            </a:r>
          </a:p>
          <a:p>
            <a:r>
              <a:rPr lang="zh-CN" altLang="en-US" b="1" dirty="0">
                <a:latin typeface="Times New Roman" panose="02020603050405020304" pitchFamily="18" charset="0"/>
                <a:cs typeface="Times New Roman" panose="02020603050405020304" pitchFamily="18" charset="0"/>
              </a:rPr>
              <a:t>“对使得知觉、推理和行动成为可能的计算的研究” </a:t>
            </a:r>
            <a:r>
              <a:rPr lang="en-US" altLang="zh-CN" b="1" dirty="0">
                <a:latin typeface="Times New Roman" panose="02020603050405020304" pitchFamily="18" charset="0"/>
                <a:cs typeface="Times New Roman" panose="02020603050405020304" pitchFamily="18" charset="0"/>
              </a:rPr>
              <a:t>(Winston, 1992)</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9406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1.1 </a:t>
            </a:r>
            <a:r>
              <a:rPr lang="zh-CN" altLang="en-US" b="1" dirty="0">
                <a:latin typeface="Times New Roman" panose="02020603050405020304" pitchFamily="18" charset="0"/>
                <a:cs typeface="Times New Roman" panose="02020603050405020304" pitchFamily="18" charset="0"/>
              </a:rPr>
              <a:t>什么是人工智能</a:t>
            </a:r>
            <a:endParaRPr lang="zh-CN" altLang="en-US" dirty="0"/>
          </a:p>
        </p:txBody>
      </p:sp>
      <p:sp>
        <p:nvSpPr>
          <p:cNvPr id="3" name="内容占位符 2"/>
          <p:cNvSpPr>
            <a:spLocks noGrp="1"/>
          </p:cNvSpPr>
          <p:nvPr>
            <p:ph idx="1"/>
          </p:nvPr>
        </p:nvSpPr>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定义三：像人一样行动的系统</a:t>
            </a:r>
            <a:endParaRPr lang="en-US" altLang="zh-CN" b="1" dirty="0">
              <a:solidFill>
                <a:srgbClr val="002060"/>
              </a:solidFill>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“一种技艺，创造机器来执行人需要智能才能完成的功能。”</a:t>
            </a:r>
            <a:r>
              <a:rPr lang="en-US" altLang="zh-CN" b="1" dirty="0">
                <a:latin typeface="Times New Roman" panose="02020603050405020304" pitchFamily="18" charset="0"/>
                <a:cs typeface="Times New Roman" panose="02020603050405020304" pitchFamily="18" charset="0"/>
              </a:rPr>
              <a:t>(Kurzweil, 1990)</a:t>
            </a:r>
          </a:p>
          <a:p>
            <a:r>
              <a:rPr lang="zh-CN" altLang="en-US" b="1" dirty="0">
                <a:latin typeface="Times New Roman" panose="02020603050405020304" pitchFamily="18" charset="0"/>
                <a:cs typeface="Times New Roman" panose="02020603050405020304" pitchFamily="18" charset="0"/>
              </a:rPr>
              <a:t>“研究如何让计算机能够做到那些目前人比计算机做得更好的事情。”</a:t>
            </a:r>
            <a:r>
              <a:rPr lang="en-US" altLang="zh-CN" b="1" dirty="0">
                <a:latin typeface="Times New Roman" panose="02020603050405020304" pitchFamily="18" charset="0"/>
                <a:cs typeface="Times New Roman" panose="02020603050405020304" pitchFamily="18" charset="0"/>
              </a:rPr>
              <a:t>(Rich &amp; Knight, 1991)</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2312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1.1 </a:t>
            </a:r>
            <a:r>
              <a:rPr lang="zh-CN" altLang="en-US" b="1" dirty="0">
                <a:latin typeface="Times New Roman" panose="02020603050405020304" pitchFamily="18" charset="0"/>
                <a:cs typeface="Times New Roman" panose="02020603050405020304" pitchFamily="18" charset="0"/>
              </a:rPr>
              <a:t>什么是人工智能</a:t>
            </a:r>
            <a:endParaRPr lang="zh-CN" altLang="en-US" dirty="0"/>
          </a:p>
        </p:txBody>
      </p:sp>
      <p:sp>
        <p:nvSpPr>
          <p:cNvPr id="3" name="内容占位符 2"/>
          <p:cNvSpPr>
            <a:spLocks noGrp="1"/>
          </p:cNvSpPr>
          <p:nvPr>
            <p:ph idx="1"/>
          </p:nvPr>
        </p:nvSpPr>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定义四：理性地行动的系统</a:t>
            </a:r>
            <a:endParaRPr lang="en-US" altLang="zh-CN" b="1" dirty="0">
              <a:solidFill>
                <a:srgbClr val="002060"/>
              </a:solidFill>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“计算智能是对设计智能化</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的研究。”</a:t>
            </a:r>
            <a:r>
              <a:rPr lang="en-US" altLang="zh-CN" b="1" dirty="0">
                <a:latin typeface="Times New Roman" panose="02020603050405020304" pitchFamily="18" charset="0"/>
                <a:cs typeface="Times New Roman" panose="02020603050405020304" pitchFamily="18" charset="0"/>
              </a:rPr>
              <a:t>(Poole</a:t>
            </a:r>
            <a:r>
              <a:rPr lang="zh-CN" altLang="en-US" b="1" dirty="0">
                <a:latin typeface="Times New Roman" panose="02020603050405020304" pitchFamily="18" charset="0"/>
                <a:cs typeface="Times New Roman" panose="02020603050405020304" pitchFamily="18" charset="0"/>
              </a:rPr>
              <a:t>等</a:t>
            </a:r>
            <a:r>
              <a:rPr lang="en-US" altLang="zh-CN" b="1" dirty="0">
                <a:latin typeface="Times New Roman" panose="02020603050405020304" pitchFamily="18" charset="0"/>
                <a:cs typeface="Times New Roman" panose="02020603050405020304" pitchFamily="18" charset="0"/>
              </a:rPr>
              <a:t>, 1998)</a:t>
            </a:r>
          </a:p>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AI……	</a:t>
            </a:r>
            <a:r>
              <a:rPr lang="zh-CN" altLang="en-US" b="1" dirty="0">
                <a:latin typeface="Times New Roman" panose="02020603050405020304" pitchFamily="18" charset="0"/>
                <a:cs typeface="Times New Roman" panose="02020603050405020304" pitchFamily="18" charset="0"/>
              </a:rPr>
              <a:t>关心的是人工制品中的智能行为。”</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尼尔森</a:t>
            </a:r>
            <a:r>
              <a:rPr lang="en-US" altLang="zh-CN" b="1" dirty="0">
                <a:latin typeface="Times New Roman" panose="02020603050405020304" pitchFamily="18" charset="0"/>
                <a:cs typeface="Times New Roman" panose="02020603050405020304" pitchFamily="18" charset="0"/>
              </a:rPr>
              <a:t>, 1998)</a:t>
            </a:r>
          </a:p>
          <a:p>
            <a:r>
              <a:rPr lang="zh-CN" altLang="en-US" b="1" dirty="0">
                <a:latin typeface="Times New Roman" panose="02020603050405020304" pitchFamily="18" charset="0"/>
                <a:cs typeface="Times New Roman" panose="02020603050405020304" pitchFamily="18" charset="0"/>
              </a:rPr>
              <a:t>（</a:t>
            </a:r>
            <a:r>
              <a:rPr lang="zh-CN" altLang="en-US" b="1" dirty="0">
                <a:solidFill>
                  <a:srgbClr val="FF0000"/>
                </a:solidFill>
                <a:latin typeface="Times New Roman" panose="02020603050405020304" pitchFamily="18" charset="0"/>
                <a:cs typeface="Times New Roman" panose="02020603050405020304" pitchFamily="18" charset="0"/>
              </a:rPr>
              <a:t>评价：我的观点：人工智能</a:t>
            </a:r>
            <a:r>
              <a:rPr lang="en-US" altLang="zh-CN" b="1" dirty="0">
                <a:solidFill>
                  <a:srgbClr val="FF0000"/>
                </a:solidFill>
                <a:latin typeface="Times New Roman" panose="02020603050405020304" pitchFamily="18" charset="0"/>
                <a:cs typeface="Times New Roman" panose="02020603050405020304" pitchFamily="18" charset="0"/>
              </a:rPr>
              <a:t>≈Agent </a:t>
            </a:r>
            <a:r>
              <a:rPr lang="zh-CN" altLang="en-US" b="1" dirty="0">
                <a:solidFill>
                  <a:srgbClr val="FF0000"/>
                </a:solidFill>
                <a:latin typeface="Times New Roman" panose="02020603050405020304" pitchFamily="18" charset="0"/>
                <a:cs typeface="Times New Roman" panose="02020603050405020304" pitchFamily="18" charset="0"/>
              </a:rPr>
              <a:t>人工智能</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err="1">
                <a:solidFill>
                  <a:srgbClr val="FF0000"/>
                </a:solidFill>
                <a:latin typeface="Times New Roman" panose="02020603050405020304" pitchFamily="18" charset="0"/>
                <a:cs typeface="Times New Roman" panose="02020603050405020304" pitchFamily="18" charset="0"/>
              </a:rPr>
              <a:t>Multiagent</a:t>
            </a:r>
            <a:r>
              <a:rPr lang="en-US" altLang="zh-CN" b="1" dirty="0">
                <a:solidFill>
                  <a:srgbClr val="FF0000"/>
                </a:solidFill>
                <a:latin typeface="Times New Roman" panose="02020603050405020304" pitchFamily="18" charset="0"/>
                <a:cs typeface="Times New Roman" panose="02020603050405020304" pitchFamily="18" charset="0"/>
              </a:rPr>
              <a:t> System (MAS)</a:t>
            </a:r>
            <a:r>
              <a:rPr lang="zh-CN" altLang="en-US" b="1"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1370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1.1.4 </a:t>
            </a:r>
            <a:r>
              <a:rPr lang="zh-CN" altLang="en-US" b="1" dirty="0">
                <a:latin typeface="Times New Roman" panose="02020603050405020304" pitchFamily="18" charset="0"/>
                <a:cs typeface="Times New Roman" panose="02020603050405020304" pitchFamily="18" charset="0"/>
              </a:rPr>
              <a:t>理性地行动：理性</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方法</a:t>
            </a:r>
            <a:endParaRPr lang="zh-CN" altLang="en-US" dirty="0"/>
          </a:p>
        </p:txBody>
      </p:sp>
      <p:sp>
        <p:nvSpPr>
          <p:cNvPr id="3" name="内容占位符 2"/>
          <p:cNvSpPr>
            <a:spLocks noGrp="1"/>
          </p:cNvSpPr>
          <p:nvPr>
            <p:ph idx="1"/>
          </p:nvPr>
        </p:nvSpPr>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智能体（</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就是某种能够行动的东西。不同于简单程序，它可以实现：自主控制的操作、感知环境、持续能力、适应变化、以及有能力承担其它</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的目标。（</a:t>
            </a:r>
            <a:r>
              <a:rPr lang="zh-CN" altLang="en-US" b="1" dirty="0">
                <a:solidFill>
                  <a:srgbClr val="C00000"/>
                </a:solidFill>
                <a:latin typeface="Times New Roman" panose="02020603050405020304" pitchFamily="18" charset="0"/>
                <a:cs typeface="Times New Roman" panose="02020603050405020304" pitchFamily="18" charset="0"/>
              </a:rPr>
              <a:t>评价：多</a:t>
            </a:r>
            <a:r>
              <a:rPr lang="en-US" altLang="zh-CN" b="1" dirty="0">
                <a:solidFill>
                  <a:srgbClr val="C00000"/>
                </a:solidFill>
                <a:latin typeface="Times New Roman" panose="02020603050405020304" pitchFamily="18" charset="0"/>
                <a:cs typeface="Times New Roman" panose="02020603050405020304" pitchFamily="18" charset="0"/>
              </a:rPr>
              <a:t>Agent</a:t>
            </a:r>
            <a:r>
              <a:rPr lang="zh-CN" altLang="en-US" b="1" dirty="0">
                <a:solidFill>
                  <a:srgbClr val="C00000"/>
                </a:solidFill>
                <a:latin typeface="Times New Roman" panose="02020603050405020304" pitchFamily="18" charset="0"/>
                <a:cs typeface="Times New Roman" panose="02020603050405020304" pitchFamily="18" charset="0"/>
              </a:rPr>
              <a:t>协同</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理性智能体（</a:t>
            </a:r>
            <a:r>
              <a:rPr lang="en-US" altLang="zh-CN" b="1" dirty="0">
                <a:solidFill>
                  <a:srgbClr val="002060"/>
                </a:solidFill>
                <a:latin typeface="Times New Roman" panose="02020603050405020304" pitchFamily="18" charset="0"/>
                <a:cs typeface="Times New Roman" panose="02020603050405020304" pitchFamily="18" charset="0"/>
              </a:rPr>
              <a:t>Rational Agent</a:t>
            </a:r>
            <a:r>
              <a:rPr lang="zh-CN" altLang="en-US" b="1" dirty="0">
                <a:solidFill>
                  <a:srgbClr val="002060"/>
                </a:solidFill>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可以通过自己的行动获得</a:t>
            </a:r>
            <a:r>
              <a:rPr lang="zh-CN" altLang="en-US" b="1" dirty="0">
                <a:solidFill>
                  <a:srgbClr val="002060"/>
                </a:solidFill>
                <a:latin typeface="Times New Roman" panose="02020603050405020304" pitchFamily="18" charset="0"/>
                <a:cs typeface="Times New Roman" panose="02020603050405020304" pitchFamily="18" charset="0"/>
              </a:rPr>
              <a:t>最佳结果。</a:t>
            </a:r>
            <a:r>
              <a:rPr lang="zh-CN" altLang="en-US" b="1" dirty="0">
                <a:latin typeface="Times New Roman" panose="02020603050405020304" pitchFamily="18" charset="0"/>
                <a:cs typeface="Times New Roman" panose="02020603050405020304" pitchFamily="18" charset="0"/>
              </a:rPr>
              <a:t>或者在不确定的情况下，获得</a:t>
            </a:r>
            <a:r>
              <a:rPr lang="zh-CN" altLang="en-US" b="1" dirty="0">
                <a:solidFill>
                  <a:srgbClr val="002060"/>
                </a:solidFill>
                <a:latin typeface="Times New Roman" panose="02020603050405020304" pitchFamily="18" charset="0"/>
                <a:cs typeface="Times New Roman" panose="02020603050405020304" pitchFamily="18" charset="0"/>
              </a:rPr>
              <a:t>最佳期望的结果</a:t>
            </a:r>
            <a:r>
              <a:rPr lang="zh-CN" altLang="en-US"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7383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1.1.4 </a:t>
            </a:r>
            <a:r>
              <a:rPr lang="zh-CN" altLang="en-US" b="1" dirty="0">
                <a:latin typeface="Times New Roman" panose="02020603050405020304" pitchFamily="18" charset="0"/>
                <a:cs typeface="Times New Roman" panose="02020603050405020304" pitchFamily="18" charset="0"/>
              </a:rPr>
              <a:t>理性地行动：理性</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方法</a:t>
            </a:r>
            <a:endParaRPr lang="zh-CN" altLang="en-US" dirty="0"/>
          </a:p>
        </p:txBody>
      </p:sp>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一方面，做出正确推论是理性智能体的</a:t>
            </a:r>
            <a:r>
              <a:rPr lang="zh-CN" altLang="en-US" b="1" dirty="0">
                <a:solidFill>
                  <a:srgbClr val="002060"/>
                </a:solidFill>
                <a:latin typeface="Times New Roman" panose="02020603050405020304" pitchFamily="18" charset="0"/>
                <a:cs typeface="Times New Roman" panose="02020603050405020304" pitchFamily="18" charset="0"/>
              </a:rPr>
              <a:t>部分</a:t>
            </a:r>
            <a:r>
              <a:rPr lang="zh-CN" altLang="en-US" b="1" dirty="0">
                <a:latin typeface="Times New Roman" panose="02020603050405020304" pitchFamily="18" charset="0"/>
                <a:cs typeface="Times New Roman" panose="02020603050405020304" pitchFamily="18" charset="0"/>
              </a:rPr>
              <a:t>功能。因为实现理性行动的一个途径就是通过逻辑推理得出指定行动能达成目标的结论，再付诸实施。</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另一方面，正确的推论并不是理性的</a:t>
            </a:r>
            <a:r>
              <a:rPr lang="zh-CN" altLang="en-US" b="1" dirty="0">
                <a:solidFill>
                  <a:srgbClr val="002060"/>
                </a:solidFill>
                <a:latin typeface="Times New Roman" panose="02020603050405020304" pitchFamily="18" charset="0"/>
                <a:cs typeface="Times New Roman" panose="02020603050405020304" pitchFamily="18" charset="0"/>
              </a:rPr>
              <a:t>全部</a:t>
            </a:r>
            <a:r>
              <a:rPr lang="zh-CN" altLang="en-US" b="1" dirty="0">
                <a:latin typeface="Times New Roman" panose="02020603050405020304" pitchFamily="18" charset="0"/>
                <a:cs typeface="Times New Roman" panose="02020603050405020304" pitchFamily="18" charset="0"/>
              </a:rPr>
              <a:t>内容。因为在许多情况下，没有能证明正确性的事情可做，但是仍然必须有所行动。（</a:t>
            </a:r>
            <a:r>
              <a:rPr lang="zh-CN" altLang="en-US" b="1" dirty="0">
                <a:solidFill>
                  <a:srgbClr val="C00000"/>
                </a:solidFill>
                <a:latin typeface="Times New Roman" panose="02020603050405020304" pitchFamily="18" charset="0"/>
                <a:cs typeface="Times New Roman" panose="02020603050405020304" pitchFamily="18" charset="0"/>
              </a:rPr>
              <a:t>评价：有时需要立即采取行动</a:t>
            </a:r>
            <a:r>
              <a:rPr lang="zh-CN" altLang="en-US"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54801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1.1.4 </a:t>
            </a:r>
            <a:r>
              <a:rPr lang="zh-CN" altLang="en-US" b="1" dirty="0">
                <a:latin typeface="Times New Roman" panose="02020603050405020304" pitchFamily="18" charset="0"/>
                <a:cs typeface="Times New Roman" panose="02020603050405020304" pitchFamily="18" charset="0"/>
              </a:rPr>
              <a:t>理性地行动：理性</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方法</a:t>
            </a:r>
            <a:endParaRPr lang="zh-CN" altLang="en-US" dirty="0"/>
          </a:p>
        </p:txBody>
      </p:sp>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部分完成理性行动的方式和推论过程无关。例如：从灼热的火炉上把手拿开，是一种</a:t>
            </a:r>
            <a:r>
              <a:rPr lang="zh-CN" altLang="en-US" b="1" dirty="0">
                <a:solidFill>
                  <a:srgbClr val="002060"/>
                </a:solidFill>
                <a:latin typeface="Times New Roman" panose="02020603050405020304" pitchFamily="18" charset="0"/>
                <a:cs typeface="Times New Roman" panose="02020603050405020304" pitchFamily="18" charset="0"/>
              </a:rPr>
              <a:t>反射活动</a:t>
            </a:r>
            <a:r>
              <a:rPr lang="zh-CN" altLang="en-US" b="1" dirty="0">
                <a:latin typeface="Times New Roman" panose="02020603050405020304" pitchFamily="18" charset="0"/>
                <a:cs typeface="Times New Roman" panose="02020603050405020304" pitchFamily="18" charset="0"/>
              </a:rPr>
              <a:t>。比经过仔细思考后采取的相对缓慢的行动更有效。</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图灵测试需要的所有技能都是为了做出</a:t>
            </a:r>
            <a:r>
              <a:rPr lang="zh-CN" altLang="en-US" b="1" dirty="0">
                <a:solidFill>
                  <a:srgbClr val="002060"/>
                </a:solidFill>
                <a:latin typeface="Times New Roman" panose="02020603050405020304" pitchFamily="18" charset="0"/>
                <a:cs typeface="Times New Roman" panose="02020603050405020304" pitchFamily="18" charset="0"/>
              </a:rPr>
              <a:t>理性行为</a:t>
            </a:r>
            <a:r>
              <a:rPr lang="zh-CN" altLang="en-US" b="1" dirty="0">
                <a:latin typeface="Times New Roman" panose="02020603050405020304" pitchFamily="18" charset="0"/>
                <a:cs typeface="Times New Roman" panose="02020603050405020304" pitchFamily="18" charset="0"/>
              </a:rPr>
              <a:t>。需要表示知识并推理的能力，以便在多种不同的环境中指定好的策略。</a:t>
            </a:r>
          </a:p>
        </p:txBody>
      </p:sp>
    </p:spTree>
    <p:extLst>
      <p:ext uri="{BB962C8B-B14F-4D97-AF65-F5344CB8AC3E}">
        <p14:creationId xmlns:p14="http://schemas.microsoft.com/office/powerpoint/2010/main" val="2589024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1.1.4 </a:t>
            </a:r>
            <a:r>
              <a:rPr lang="zh-CN" altLang="en-US" b="1" dirty="0">
                <a:latin typeface="Times New Roman" panose="02020603050405020304" pitchFamily="18" charset="0"/>
                <a:cs typeface="Times New Roman" panose="02020603050405020304" pitchFamily="18" charset="0"/>
              </a:rPr>
              <a:t>理性地行动：理性</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方法</a:t>
            </a:r>
            <a:endParaRPr lang="zh-CN" altLang="en-US" dirty="0"/>
          </a:p>
        </p:txBody>
      </p:sp>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理性智能体</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的设计有以下好处：</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）比“思维法则”方法通用，</a:t>
            </a:r>
            <a:r>
              <a:rPr lang="zh-CN" altLang="en-US" b="1" dirty="0">
                <a:solidFill>
                  <a:srgbClr val="002060"/>
                </a:solidFill>
                <a:latin typeface="Times New Roman" panose="02020603050405020304" pitchFamily="18" charset="0"/>
                <a:cs typeface="Times New Roman" panose="02020603050405020304" pitchFamily="18" charset="0"/>
              </a:rPr>
              <a:t>因为正确的推论只是实现理性的机制之一</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）比建立在人类行为、或思维基础上的方法更经得起科学发展的检验。</a:t>
            </a:r>
            <a:r>
              <a:rPr lang="zh-CN" altLang="en-US" b="1" dirty="0">
                <a:solidFill>
                  <a:srgbClr val="002060"/>
                </a:solidFill>
                <a:latin typeface="Times New Roman" panose="02020603050405020304" pitchFamily="18" charset="0"/>
                <a:cs typeface="Times New Roman" panose="02020603050405020304" pitchFamily="18" charset="0"/>
              </a:rPr>
              <a:t>因为理性的标准有清晰定义、且非常普遍</a:t>
            </a:r>
            <a:r>
              <a:rPr lang="zh-CN" altLang="en-US"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37457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1.1.4 </a:t>
            </a:r>
            <a:r>
              <a:rPr lang="zh-CN" altLang="en-US" b="1" dirty="0">
                <a:latin typeface="Times New Roman" panose="02020603050405020304" pitchFamily="18" charset="0"/>
                <a:cs typeface="Times New Roman" panose="02020603050405020304" pitchFamily="18" charset="0"/>
              </a:rPr>
              <a:t>理性地行动：理性智能体方法</a:t>
            </a:r>
            <a:endParaRPr lang="zh-CN" altLang="en-US" dirty="0"/>
          </a:p>
        </p:txBody>
      </p:sp>
      <p:sp>
        <p:nvSpPr>
          <p:cNvPr id="3" name="内容占位符 2"/>
          <p:cNvSpPr>
            <a:spLocks noGrp="1"/>
          </p:cNvSpPr>
          <p:nvPr>
            <p:ph idx="1"/>
          </p:nvPr>
        </p:nvSpPr>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人类行为</a:t>
            </a:r>
            <a:r>
              <a:rPr lang="zh-CN" altLang="en-US" b="1" dirty="0">
                <a:latin typeface="Times New Roman" panose="02020603050405020304" pitchFamily="18" charset="0"/>
                <a:cs typeface="Times New Roman" panose="02020603050405020304" pitchFamily="18" charset="0"/>
              </a:rPr>
              <a:t>可以很好地适应特定环境。并且部分取决于还未完善的、复杂的、且未知的进化过程。</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因此，需要着重讨论</a:t>
            </a:r>
            <a:r>
              <a:rPr lang="zh-CN" altLang="en-US" b="1" dirty="0">
                <a:solidFill>
                  <a:srgbClr val="002060"/>
                </a:solidFill>
                <a:latin typeface="Times New Roman" panose="02020603050405020304" pitchFamily="18" charset="0"/>
                <a:cs typeface="Times New Roman" panose="02020603050405020304" pitchFamily="18" charset="0"/>
              </a:rPr>
              <a:t>理性</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的通用原则、以及构造此类</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所需的组成部分。</a:t>
            </a:r>
          </a:p>
        </p:txBody>
      </p:sp>
    </p:spTree>
    <p:extLst>
      <p:ext uri="{BB962C8B-B14F-4D97-AF65-F5344CB8AC3E}">
        <p14:creationId xmlns:p14="http://schemas.microsoft.com/office/powerpoint/2010/main" val="1504679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1.1.4 </a:t>
            </a:r>
            <a:r>
              <a:rPr lang="zh-CN" altLang="en-US" b="1" dirty="0">
                <a:latin typeface="Times New Roman" panose="02020603050405020304" pitchFamily="18" charset="0"/>
                <a:cs typeface="Times New Roman" panose="02020603050405020304" pitchFamily="18" charset="0"/>
              </a:rPr>
              <a:t>理性地行动：理性智能体方法</a:t>
            </a:r>
            <a:endParaRPr lang="zh-CN" altLang="en-US" dirty="0"/>
          </a:p>
        </p:txBody>
      </p:sp>
      <p:sp>
        <p:nvSpPr>
          <p:cNvPr id="3" name="内容占位符 2"/>
          <p:cNvSpPr>
            <a:spLocks noGrp="1"/>
          </p:cNvSpPr>
          <p:nvPr>
            <p:ph idx="1"/>
          </p:nvPr>
        </p:nvSpPr>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理性包括完美理性、和有限理性。其中：</a:t>
            </a:r>
            <a:endParaRPr lang="en-US" altLang="zh-CN" b="1" dirty="0">
              <a:solidFill>
                <a:srgbClr val="002060"/>
              </a:solidFill>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完美理性：</a:t>
            </a:r>
            <a:r>
              <a:rPr lang="zh-CN" altLang="en-US" b="1" dirty="0">
                <a:latin typeface="Times New Roman" panose="02020603050405020304" pitchFamily="18" charset="0"/>
                <a:cs typeface="Times New Roman" panose="02020603050405020304" pitchFamily="18" charset="0"/>
              </a:rPr>
              <a:t>总能做正确的事情，这在复杂环境下是不可行的。但完美理性是分析的出发点，这样可以简化问题。</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有限理性：</a:t>
            </a:r>
            <a:r>
              <a:rPr lang="zh-CN" altLang="en-US" b="1" dirty="0">
                <a:latin typeface="Times New Roman" panose="02020603050405020304" pitchFamily="18" charset="0"/>
                <a:cs typeface="Times New Roman" panose="02020603050405020304" pitchFamily="18" charset="0"/>
              </a:rPr>
              <a:t>要求在没有足够计算时间的前提下采取正确的行动。</a:t>
            </a:r>
            <a:endParaRPr lang="en-US" altLang="zh-CN" b="1" dirty="0">
              <a:latin typeface="Times New Roman" panose="02020603050405020304" pitchFamily="18" charset="0"/>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1393681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智能化</a:t>
            </a:r>
            <a:r>
              <a:rPr lang="en-US" altLang="zh-CN" b="1" dirty="0">
                <a:latin typeface="Times New Roman" panose="02020603050405020304" pitchFamily="18" charset="0"/>
                <a:cs typeface="Times New Roman" panose="02020603050405020304" pitchFamily="18" charset="0"/>
              </a:rPr>
              <a:t>Agent</a:t>
            </a:r>
            <a:endParaRPr lang="zh-CN" altLang="en-US" dirty="0"/>
          </a:p>
        </p:txBody>
      </p:sp>
      <p:sp>
        <p:nvSpPr>
          <p:cNvPr id="3" name="内容占位符 2"/>
          <p:cNvSpPr>
            <a:spLocks noGrp="1"/>
          </p:cNvSpPr>
          <p:nvPr>
            <p:ph idx="1"/>
          </p:nvPr>
        </p:nvSpPr>
        <p:spPr/>
        <p:txBody>
          <a:bodyPr/>
          <a:lstStyle/>
          <a:p>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8403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2.1 Agent</a:t>
            </a:r>
            <a:r>
              <a:rPr lang="zh-CN" altLang="en-US" b="1" dirty="0">
                <a:latin typeface="Times New Roman" panose="02020603050405020304" pitchFamily="18" charset="0"/>
                <a:cs typeface="Times New Roman" panose="02020603050405020304" pitchFamily="18" charset="0"/>
              </a:rPr>
              <a:t>和环境</a:t>
            </a:r>
          </a:p>
        </p:txBody>
      </p:sp>
      <p:sp>
        <p:nvSpPr>
          <p:cNvPr id="3" name="内容占位符 2"/>
          <p:cNvSpPr>
            <a:spLocks noGrp="1"/>
          </p:cNvSpPr>
          <p:nvPr>
            <p:ph idx="1"/>
          </p:nvPr>
        </p:nvSpPr>
        <p:spPr/>
        <p:txBody>
          <a:bodyPr/>
          <a:lstStyle/>
          <a:p>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：通过</a:t>
            </a:r>
            <a:r>
              <a:rPr lang="zh-CN" altLang="en-US" b="1" dirty="0">
                <a:solidFill>
                  <a:srgbClr val="002060"/>
                </a:solidFill>
                <a:latin typeface="Times New Roman" panose="02020603050405020304" pitchFamily="18" charset="0"/>
                <a:cs typeface="Times New Roman" panose="02020603050405020304" pitchFamily="18" charset="0"/>
              </a:rPr>
              <a:t>传感器</a:t>
            </a:r>
            <a:r>
              <a:rPr lang="zh-CN" altLang="en-US" b="1" dirty="0">
                <a:latin typeface="Times New Roman" panose="02020603050405020304" pitchFamily="18" charset="0"/>
                <a:cs typeface="Times New Roman" panose="02020603050405020304" pitchFamily="18" charset="0"/>
              </a:rPr>
              <a:t>感知所处环境、通过</a:t>
            </a:r>
            <a:r>
              <a:rPr lang="zh-CN" altLang="en-US" b="1" dirty="0">
                <a:solidFill>
                  <a:srgbClr val="002060"/>
                </a:solidFill>
                <a:latin typeface="Times New Roman" panose="02020603050405020304" pitchFamily="18" charset="0"/>
                <a:cs typeface="Times New Roman" panose="02020603050405020304" pitchFamily="18" charset="0"/>
              </a:rPr>
              <a:t>执行器</a:t>
            </a:r>
            <a:r>
              <a:rPr lang="zh-CN" altLang="en-US" b="1" dirty="0">
                <a:latin typeface="Times New Roman" panose="02020603050405020304" pitchFamily="18" charset="0"/>
                <a:cs typeface="Times New Roman" panose="02020603050405020304" pitchFamily="18" charset="0"/>
              </a:rPr>
              <a:t>对环境产生作用的东西。如图</a:t>
            </a:r>
            <a:r>
              <a:rPr lang="en-US" altLang="zh-CN" b="1" dirty="0">
                <a:latin typeface="Times New Roman" panose="02020603050405020304" pitchFamily="18" charset="0"/>
                <a:cs typeface="Times New Roman" panose="02020603050405020304" pitchFamily="18" charset="0"/>
              </a:rPr>
              <a:t>2.1</a:t>
            </a:r>
            <a:r>
              <a:rPr lang="zh-CN" altLang="en-US" b="1" dirty="0">
                <a:latin typeface="Times New Roman" panose="02020603050405020304" pitchFamily="18" charset="0"/>
                <a:cs typeface="Times New Roman" panose="02020603050405020304" pitchFamily="18" charset="0"/>
              </a:rPr>
              <a:t>所示。</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人类</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具有眼睛、耳朵、其它器官作为传感器，具有手、腿、身体的其他部位作为执行器。</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机器人</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可用摄像头、红外测距仪作为传感器，马达作为执行器。</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软件</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接受键盘敲击、文件内容、网络数据包作为传感器输入，通过屏幕显示、写文件和发送网络数据作用于环境。</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zh-CN" altLang="en-US" b="1" dirty="0">
                <a:solidFill>
                  <a:srgbClr val="C00000"/>
                </a:solidFill>
                <a:latin typeface="Times New Roman" panose="02020603050405020304" pitchFamily="18" charset="0"/>
                <a:cs typeface="Times New Roman" panose="02020603050405020304" pitchFamily="18" charset="0"/>
              </a:rPr>
              <a:t>评价：对应于函数，有输入和输出</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9371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85073" y="5322992"/>
            <a:ext cx="7511827" cy="680035"/>
          </a:xfrm>
        </p:spPr>
        <p:txBody>
          <a:bodyPr>
            <a:normAutofit/>
          </a:bodyPr>
          <a:lstStyle/>
          <a:p>
            <a:pPr algn="ctr"/>
            <a:r>
              <a:rPr lang="zh-CN" altLang="en-US" sz="2000" b="1" dirty="0">
                <a:latin typeface="Times New Roman" panose="02020603050405020304" pitchFamily="18" charset="0"/>
                <a:cs typeface="Times New Roman" panose="02020603050405020304" pitchFamily="18" charset="0"/>
              </a:rPr>
              <a:t>图</a:t>
            </a:r>
            <a:r>
              <a:rPr lang="en-US" altLang="zh-CN" sz="2000" b="1" dirty="0">
                <a:latin typeface="Times New Roman" panose="02020603050405020304" pitchFamily="18" charset="0"/>
                <a:cs typeface="Times New Roman" panose="02020603050405020304" pitchFamily="18" charset="0"/>
              </a:rPr>
              <a:t>2.1 </a:t>
            </a:r>
            <a:r>
              <a:rPr lang="en-US" altLang="zh-CN" sz="2000" dirty="0">
                <a:latin typeface="Times New Roman" panose="02020603050405020304" pitchFamily="18" charset="0"/>
                <a:cs typeface="Times New Roman" panose="02020603050405020304" pitchFamily="18" charset="0"/>
              </a:rPr>
              <a:t>Agent</a:t>
            </a:r>
            <a:r>
              <a:rPr lang="zh-CN" altLang="en-US" sz="2000" dirty="0">
                <a:latin typeface="Times New Roman" panose="02020603050405020304" pitchFamily="18" charset="0"/>
                <a:cs typeface="Times New Roman" panose="02020603050405020304" pitchFamily="18" charset="0"/>
              </a:rPr>
              <a:t>通过传感器、执行器与环境交互。问号表示从感知到动作的映射函数</a:t>
            </a:r>
          </a:p>
        </p:txBody>
      </p:sp>
      <p:grpSp>
        <p:nvGrpSpPr>
          <p:cNvPr id="34" name="组合 33"/>
          <p:cNvGrpSpPr/>
          <p:nvPr/>
        </p:nvGrpSpPr>
        <p:grpSpPr>
          <a:xfrm>
            <a:off x="1655098" y="1156040"/>
            <a:ext cx="9019655" cy="3474720"/>
            <a:chOff x="1645920" y="1135782"/>
            <a:chExt cx="9019655" cy="3474720"/>
          </a:xfrm>
        </p:grpSpPr>
        <p:sp>
          <p:nvSpPr>
            <p:cNvPr id="4" name="流程图: 可选过程 3"/>
            <p:cNvSpPr/>
            <p:nvPr/>
          </p:nvSpPr>
          <p:spPr>
            <a:xfrm>
              <a:off x="1645920" y="1135782"/>
              <a:ext cx="4032985" cy="3474720"/>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流程图: 可选过程 4"/>
            <p:cNvSpPr/>
            <p:nvPr/>
          </p:nvSpPr>
          <p:spPr>
            <a:xfrm>
              <a:off x="8995144" y="1135782"/>
              <a:ext cx="1670431" cy="3474720"/>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290272" y="2304300"/>
              <a:ext cx="1084521" cy="11376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p:cNvCxnSpPr>
              <a:endCxn id="10" idx="3"/>
            </p:cNvCxnSpPr>
            <p:nvPr/>
          </p:nvCxnSpPr>
          <p:spPr>
            <a:xfrm flipH="1" flipV="1">
              <a:off x="4452916" y="1465330"/>
              <a:ext cx="4675694" cy="6155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endCxn id="6" idx="0"/>
            </p:cNvCxnSpPr>
            <p:nvPr/>
          </p:nvCxnSpPr>
          <p:spPr>
            <a:xfrm>
              <a:off x="3832532" y="1718396"/>
              <a:ext cx="1" cy="5859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3832532" y="3456264"/>
              <a:ext cx="1" cy="5859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4452916" y="4218087"/>
              <a:ext cx="469477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1645920" y="1265275"/>
              <a:ext cx="8886188" cy="3091312"/>
              <a:chOff x="1645920" y="1265275"/>
              <a:chExt cx="8886188" cy="3091312"/>
            </a:xfrm>
          </p:grpSpPr>
          <p:sp>
            <p:nvSpPr>
              <p:cNvPr id="7" name="文本框 6"/>
              <p:cNvSpPr txBox="1"/>
              <p:nvPr/>
            </p:nvSpPr>
            <p:spPr>
              <a:xfrm>
                <a:off x="1645920" y="1265275"/>
                <a:ext cx="1403498" cy="400110"/>
              </a:xfrm>
              <a:prstGeom prst="rect">
                <a:avLst/>
              </a:prstGeom>
              <a:noFill/>
            </p:spPr>
            <p:txBody>
              <a:bodyPr wrap="square" rtlCol="0">
                <a:spAutoFit/>
              </a:bodyPr>
              <a:lstStyle/>
              <a:p>
                <a:pPr algn="ctr"/>
                <a:r>
                  <a:rPr lang="en-US" altLang="zh-CN" sz="2000" b="1" dirty="0">
                    <a:latin typeface="Times New Roman" panose="02020603050405020304" pitchFamily="18" charset="0"/>
                    <a:cs typeface="Times New Roman" panose="02020603050405020304" pitchFamily="18" charset="0"/>
                  </a:rPr>
                  <a:t>Agent</a:t>
                </a:r>
                <a:endParaRPr lang="zh-CN" altLang="en-US" sz="2000" b="1" dirty="0">
                  <a:latin typeface="Times New Roman" panose="02020603050405020304" pitchFamily="18" charset="0"/>
                  <a:cs typeface="Times New Roman" panose="02020603050405020304" pitchFamily="18" charset="0"/>
                </a:endParaRPr>
              </a:p>
            </p:txBody>
          </p:sp>
          <p:sp>
            <p:nvSpPr>
              <p:cNvPr id="8" name="文本框 7"/>
              <p:cNvSpPr txBox="1"/>
              <p:nvPr/>
            </p:nvSpPr>
            <p:spPr>
              <a:xfrm>
                <a:off x="9128610" y="2611532"/>
                <a:ext cx="1403498" cy="400110"/>
              </a:xfrm>
              <a:prstGeom prst="rect">
                <a:avLst/>
              </a:prstGeom>
              <a:noFill/>
            </p:spPr>
            <p:txBody>
              <a:bodyPr wrap="square" rtlCol="0">
                <a:spAutoFit/>
              </a:bodyPr>
              <a:lstStyle/>
              <a:p>
                <a:pPr algn="ctr"/>
                <a:r>
                  <a:rPr lang="zh-CN" altLang="en-US" sz="2000" b="1" dirty="0"/>
                  <a:t>环境</a:t>
                </a:r>
              </a:p>
            </p:txBody>
          </p:sp>
          <p:sp>
            <p:nvSpPr>
              <p:cNvPr id="9" name="文本框 8"/>
              <p:cNvSpPr txBox="1"/>
              <p:nvPr/>
            </p:nvSpPr>
            <p:spPr>
              <a:xfrm>
                <a:off x="3403480" y="2611532"/>
                <a:ext cx="517861" cy="400110"/>
              </a:xfrm>
              <a:prstGeom prst="rect">
                <a:avLst/>
              </a:prstGeom>
              <a:noFill/>
            </p:spPr>
            <p:txBody>
              <a:bodyPr wrap="square" rtlCol="0">
                <a:spAutoFit/>
              </a:bodyPr>
              <a:lstStyle/>
              <a:p>
                <a:pPr algn="ctr"/>
                <a:r>
                  <a:rPr lang="zh-CN" altLang="en-US" sz="2000" b="1" dirty="0"/>
                  <a:t>？</a:t>
                </a:r>
              </a:p>
            </p:txBody>
          </p:sp>
          <p:sp>
            <p:nvSpPr>
              <p:cNvPr id="10" name="文本框 9"/>
              <p:cNvSpPr txBox="1"/>
              <p:nvPr/>
            </p:nvSpPr>
            <p:spPr>
              <a:xfrm>
                <a:off x="3049418" y="1265275"/>
                <a:ext cx="1403498" cy="400110"/>
              </a:xfrm>
              <a:prstGeom prst="rect">
                <a:avLst/>
              </a:prstGeom>
              <a:noFill/>
            </p:spPr>
            <p:txBody>
              <a:bodyPr wrap="square" rtlCol="0">
                <a:spAutoFit/>
              </a:bodyPr>
              <a:lstStyle/>
              <a:p>
                <a:pPr algn="ctr"/>
                <a:r>
                  <a:rPr lang="zh-CN" altLang="en-US" sz="2000" b="1" dirty="0"/>
                  <a:t>传感器</a:t>
                </a:r>
              </a:p>
            </p:txBody>
          </p:sp>
          <p:sp>
            <p:nvSpPr>
              <p:cNvPr id="11" name="文本框 10"/>
              <p:cNvSpPr txBox="1"/>
              <p:nvPr/>
            </p:nvSpPr>
            <p:spPr>
              <a:xfrm>
                <a:off x="3130783" y="3956477"/>
                <a:ext cx="1403498" cy="400110"/>
              </a:xfrm>
              <a:prstGeom prst="rect">
                <a:avLst/>
              </a:prstGeom>
              <a:noFill/>
            </p:spPr>
            <p:txBody>
              <a:bodyPr wrap="square" rtlCol="0">
                <a:spAutoFit/>
              </a:bodyPr>
              <a:lstStyle/>
              <a:p>
                <a:pPr algn="ctr"/>
                <a:r>
                  <a:rPr lang="zh-CN" altLang="en-US" sz="2000" b="1" dirty="0"/>
                  <a:t>执行器</a:t>
                </a:r>
              </a:p>
            </p:txBody>
          </p:sp>
          <p:sp>
            <p:nvSpPr>
              <p:cNvPr id="31" name="文本框 30"/>
              <p:cNvSpPr txBox="1"/>
              <p:nvPr/>
            </p:nvSpPr>
            <p:spPr>
              <a:xfrm>
                <a:off x="6480039" y="1526885"/>
                <a:ext cx="1403498" cy="400110"/>
              </a:xfrm>
              <a:prstGeom prst="rect">
                <a:avLst/>
              </a:prstGeom>
              <a:noFill/>
            </p:spPr>
            <p:txBody>
              <a:bodyPr wrap="square" rtlCol="0">
                <a:spAutoFit/>
              </a:bodyPr>
              <a:lstStyle/>
              <a:p>
                <a:pPr algn="ctr"/>
                <a:r>
                  <a:rPr lang="zh-CN" altLang="en-US" sz="2000" b="1" dirty="0"/>
                  <a:t>感知</a:t>
                </a:r>
              </a:p>
            </p:txBody>
          </p:sp>
          <p:sp>
            <p:nvSpPr>
              <p:cNvPr id="32" name="文本框 31"/>
              <p:cNvSpPr txBox="1"/>
              <p:nvPr/>
            </p:nvSpPr>
            <p:spPr>
              <a:xfrm>
                <a:off x="6447023" y="3680031"/>
                <a:ext cx="1403498" cy="400110"/>
              </a:xfrm>
              <a:prstGeom prst="rect">
                <a:avLst/>
              </a:prstGeom>
              <a:noFill/>
            </p:spPr>
            <p:txBody>
              <a:bodyPr wrap="square" rtlCol="0">
                <a:spAutoFit/>
              </a:bodyPr>
              <a:lstStyle/>
              <a:p>
                <a:pPr algn="ctr"/>
                <a:r>
                  <a:rPr lang="zh-CN" altLang="en-US" sz="2000" b="1" dirty="0"/>
                  <a:t>动作</a:t>
                </a:r>
              </a:p>
            </p:txBody>
          </p:sp>
        </p:grpSp>
      </p:grpSp>
    </p:spTree>
    <p:extLst>
      <p:ext uri="{BB962C8B-B14F-4D97-AF65-F5344CB8AC3E}">
        <p14:creationId xmlns:p14="http://schemas.microsoft.com/office/powerpoint/2010/main" val="1921899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2.1 Agent</a:t>
            </a:r>
            <a:r>
              <a:rPr lang="zh-CN" altLang="en-US" b="1" dirty="0">
                <a:latin typeface="Times New Roman" panose="02020603050405020304" pitchFamily="18" charset="0"/>
                <a:cs typeface="Times New Roman" panose="02020603050405020304" pitchFamily="18" charset="0"/>
              </a:rPr>
              <a:t>和环境</a:t>
            </a:r>
            <a:endParaRPr lang="zh-CN" altLang="en-US" dirty="0"/>
          </a:p>
        </p:txBody>
      </p:sp>
      <p:sp>
        <p:nvSpPr>
          <p:cNvPr id="3" name="内容占位符 2"/>
          <p:cNvSpPr>
            <a:spLocks noGrp="1"/>
          </p:cNvSpPr>
          <p:nvPr>
            <p:ph idx="1"/>
          </p:nvPr>
        </p:nvSpPr>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感知信息</a:t>
            </a:r>
            <a:r>
              <a:rPr lang="zh-CN" altLang="en-US" b="1" dirty="0">
                <a:latin typeface="Times New Roman" panose="02020603050405020304" pitchFamily="18" charset="0"/>
                <a:cs typeface="Times New Roman" panose="02020603050405020304" pitchFamily="18" charset="0"/>
              </a:rPr>
              <a:t>：表示任何时刻</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的感知输入。</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感知序列</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收到的所有输入数据的完整历史。</a:t>
            </a:r>
            <a:endParaRPr lang="en-US" altLang="zh-CN" b="1" dirty="0">
              <a:latin typeface="Times New Roman" panose="02020603050405020304" pitchFamily="18" charset="0"/>
              <a:cs typeface="Times New Roman" panose="02020603050405020304" pitchFamily="18" charset="0"/>
            </a:endParaRPr>
          </a:p>
          <a:p>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在任何时刻的行动选择，取决于到该时刻为止的整个感知序列</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函数</a:t>
            </a:r>
            <a:r>
              <a:rPr lang="zh-CN" altLang="en-US" b="1" dirty="0">
                <a:latin typeface="Times New Roman" panose="02020603050405020304" pitchFamily="18" charset="0"/>
                <a:cs typeface="Times New Roman" panose="02020603050405020304" pitchFamily="18" charset="0"/>
              </a:rPr>
              <a:t>：将任意给定感知序列映射到</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的动作。可以描述</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的行为。</a:t>
            </a:r>
          </a:p>
        </p:txBody>
      </p:sp>
    </p:spTree>
    <p:extLst>
      <p:ext uri="{BB962C8B-B14F-4D97-AF65-F5344CB8AC3E}">
        <p14:creationId xmlns:p14="http://schemas.microsoft.com/office/powerpoint/2010/main" val="3639505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2.1 Agent</a:t>
            </a:r>
            <a:r>
              <a:rPr lang="zh-CN" altLang="en-US" b="1" dirty="0">
                <a:latin typeface="Times New Roman" panose="02020603050405020304" pitchFamily="18" charset="0"/>
                <a:cs typeface="Times New Roman" panose="02020603050405020304" pitchFamily="18" charset="0"/>
              </a:rPr>
              <a:t>和环境</a:t>
            </a:r>
            <a:endParaRPr lang="zh-CN" altLang="en-US" dirty="0"/>
          </a:p>
        </p:txBody>
      </p:sp>
      <p:sp>
        <p:nvSpPr>
          <p:cNvPr id="3" name="内容占位符 2"/>
          <p:cNvSpPr>
            <a:spLocks noGrp="1"/>
          </p:cNvSpPr>
          <p:nvPr>
            <p:ph idx="1"/>
          </p:nvPr>
        </p:nvSpPr>
        <p:spPr>
          <a:xfrm>
            <a:off x="838200" y="1825625"/>
            <a:ext cx="10515600" cy="3930282"/>
          </a:xfrm>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可以采用列表表示</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函数</a:t>
            </a:r>
            <a:r>
              <a:rPr lang="zh-CN" altLang="en-US" b="1" dirty="0">
                <a:latin typeface="Times New Roman" panose="02020603050405020304" pitchFamily="18" charset="0"/>
                <a:cs typeface="Times New Roman" panose="02020603050405020304" pitchFamily="18" charset="0"/>
              </a:rPr>
              <a:t>。该表可能很大，甚至无限大。除非要考虑的感知序列长度有限。原则上，</a:t>
            </a:r>
            <a:r>
              <a:rPr lang="zh-CN" altLang="en-US" b="1" dirty="0">
                <a:solidFill>
                  <a:srgbClr val="002060"/>
                </a:solidFill>
                <a:latin typeface="Times New Roman" panose="02020603050405020304" pitchFamily="18" charset="0"/>
                <a:cs typeface="Times New Roman" panose="02020603050405020304" pitchFamily="18" charset="0"/>
              </a:rPr>
              <a:t>可以通过实验找出感知序列、并记录</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的行动，来构造该表</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该表从</a:t>
            </a:r>
            <a:r>
              <a:rPr lang="zh-CN" altLang="en-US" b="1" dirty="0">
                <a:solidFill>
                  <a:srgbClr val="002060"/>
                </a:solidFill>
                <a:latin typeface="Times New Roman" panose="02020603050405020304" pitchFamily="18" charset="0"/>
                <a:cs typeface="Times New Roman" panose="02020603050405020304" pitchFamily="18" charset="0"/>
              </a:rPr>
              <a:t>外部</a:t>
            </a:r>
            <a:r>
              <a:rPr lang="zh-CN" altLang="en-US" b="1" dirty="0">
                <a:latin typeface="Times New Roman" panose="02020603050405020304" pitchFamily="18" charset="0"/>
                <a:cs typeface="Times New Roman" panose="02020603050405020304" pitchFamily="18" charset="0"/>
              </a:rPr>
              <a:t>反映了</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的特性。但从</a:t>
            </a:r>
            <a:r>
              <a:rPr lang="en-US" altLang="zh-CN" b="1" dirty="0">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内部</a:t>
            </a:r>
            <a:r>
              <a:rPr lang="zh-CN" altLang="en-US" b="1" dirty="0">
                <a:latin typeface="Times New Roman" panose="02020603050405020304" pitchFamily="18" charset="0"/>
                <a:cs typeface="Times New Roman" panose="02020603050405020304" pitchFamily="18" charset="0"/>
              </a:rPr>
              <a:t>来看，</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函数是通过</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程序实现的。</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注意：</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函数是抽象的数学表示。</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程序是具体实现。该程序在</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自身的结构上运行。</a:t>
            </a:r>
            <a:endParaRPr lang="en-US" altLang="zh-CN"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2686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2.2 </a:t>
            </a:r>
            <a:r>
              <a:rPr lang="zh-CN" altLang="en-US" b="1" dirty="0">
                <a:latin typeface="Times New Roman" panose="02020603050405020304" pitchFamily="18" charset="0"/>
                <a:cs typeface="Times New Roman" panose="02020603050405020304" pitchFamily="18" charset="0"/>
              </a:rPr>
              <a:t>好的行为表现：理性的概念</a:t>
            </a:r>
            <a:endParaRPr lang="zh-CN" altLang="en-US" dirty="0"/>
          </a:p>
        </p:txBody>
      </p:sp>
      <p:sp>
        <p:nvSpPr>
          <p:cNvPr id="3" name="内容占位符 2"/>
          <p:cNvSpPr>
            <a:spLocks noGrp="1"/>
          </p:cNvSpPr>
          <p:nvPr>
            <p:ph idx="1"/>
          </p:nvPr>
        </p:nvSpPr>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理性</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是做事正确的智能体</a:t>
            </a:r>
            <a:r>
              <a:rPr lang="zh-CN" altLang="en-US" b="1" dirty="0">
                <a:latin typeface="Times New Roman" panose="02020603050405020304" pitchFamily="18" charset="0"/>
                <a:cs typeface="Times New Roman" panose="02020603050405020304" pitchFamily="18" charset="0"/>
              </a:rPr>
              <a:t>。即</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函数表格的右边都填写正确。</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需要某种方法度量</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成功与否？连同对环境、传感器、执行器的描述，为</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面临的任务提供一个完整的规范说明。</a:t>
            </a:r>
          </a:p>
        </p:txBody>
      </p:sp>
    </p:spTree>
    <p:extLst>
      <p:ext uri="{BB962C8B-B14F-4D97-AF65-F5344CB8AC3E}">
        <p14:creationId xmlns:p14="http://schemas.microsoft.com/office/powerpoint/2010/main" val="578563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2.2.1 </a:t>
            </a:r>
            <a:r>
              <a:rPr lang="zh-CN" altLang="en-US" b="1" dirty="0">
                <a:latin typeface="Times New Roman" panose="02020603050405020304" pitchFamily="18" charset="0"/>
                <a:cs typeface="Times New Roman" panose="02020603050405020304" pitchFamily="18" charset="0"/>
              </a:rPr>
              <a:t>性能度量</a:t>
            </a:r>
            <a:endParaRPr lang="zh-CN" altLang="en-US" dirty="0"/>
          </a:p>
        </p:txBody>
      </p:sp>
      <p:sp>
        <p:nvSpPr>
          <p:cNvPr id="3" name="内容占位符 2"/>
          <p:cNvSpPr>
            <a:spLocks noGrp="1"/>
          </p:cNvSpPr>
          <p:nvPr>
            <p:ph idx="1"/>
          </p:nvPr>
        </p:nvSpPr>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性能度量</a:t>
            </a:r>
            <a:r>
              <a:rPr lang="zh-CN" altLang="en-US" b="1" dirty="0">
                <a:latin typeface="Times New Roman" panose="02020603050405020304" pitchFamily="18" charset="0"/>
                <a:cs typeface="Times New Roman" panose="02020603050405020304" pitchFamily="18" charset="0"/>
              </a:rPr>
              <a:t>：</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成功程度的标准</a:t>
            </a:r>
            <a:r>
              <a:rPr lang="zh-CN" altLang="en-US" b="1" dirty="0">
                <a:latin typeface="Times New Roman" panose="02020603050405020304" pitchFamily="18" charset="0"/>
                <a:cs typeface="Times New Roman" panose="02020603050405020304" pitchFamily="18" charset="0"/>
              </a:rPr>
              <a:t>。当把</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置于一个环境中后，它将针对收到的感知信息产生动作序列。该动作序列引起环境历经一个状态序列。如果该状态序列是想要的，则</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的性能良好。</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因此，需要</a:t>
            </a:r>
            <a:r>
              <a:rPr lang="zh-CN" altLang="en-US" b="1" dirty="0">
                <a:solidFill>
                  <a:srgbClr val="002060"/>
                </a:solidFill>
                <a:latin typeface="Times New Roman" panose="02020603050405020304" pitchFamily="18" charset="0"/>
                <a:cs typeface="Times New Roman" panose="02020603050405020304" pitchFamily="18" charset="0"/>
              </a:rPr>
              <a:t>客观</a:t>
            </a:r>
            <a:r>
              <a:rPr lang="zh-CN" altLang="en-US" b="1" dirty="0">
                <a:latin typeface="Times New Roman" panose="02020603050405020304" pitchFamily="18" charset="0"/>
                <a:cs typeface="Times New Roman" panose="02020603050405020304" pitchFamily="18" charset="0"/>
              </a:rPr>
              <a:t>的性能度量。该性能度量</a:t>
            </a:r>
            <a:r>
              <a:rPr lang="zh-CN" altLang="en-US" b="1" dirty="0">
                <a:solidFill>
                  <a:srgbClr val="002060"/>
                </a:solidFill>
                <a:latin typeface="Times New Roman" panose="02020603050405020304" pitchFamily="18" charset="0"/>
                <a:cs typeface="Times New Roman" panose="02020603050405020304" pitchFamily="18" charset="0"/>
              </a:rPr>
              <a:t>往往由</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设计者给出</a:t>
            </a:r>
            <a:r>
              <a:rPr lang="zh-CN" altLang="en-US"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39932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2.2.2 </a:t>
            </a:r>
            <a:r>
              <a:rPr lang="zh-CN" altLang="en-US" b="1" dirty="0">
                <a:latin typeface="Times New Roman" panose="02020603050405020304" pitchFamily="18" charset="0"/>
                <a:cs typeface="Times New Roman" panose="02020603050405020304" pitchFamily="18" charset="0"/>
              </a:rPr>
              <a:t>理性</a:t>
            </a:r>
            <a:endParaRPr lang="zh-CN" altLang="en-US" dirty="0"/>
          </a:p>
        </p:txBody>
      </p:sp>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理性的判断包括：</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a:t>
            </a:r>
            <a:r>
              <a:rPr lang="zh-CN" altLang="en-US" b="1" dirty="0">
                <a:solidFill>
                  <a:srgbClr val="002060"/>
                </a:solidFill>
                <a:latin typeface="Times New Roman" panose="02020603050405020304" pitchFamily="18" charset="0"/>
                <a:cs typeface="Times New Roman" panose="02020603050405020304" pitchFamily="18" charset="0"/>
              </a:rPr>
              <a:t>定义成功标准的性能度量</a:t>
            </a:r>
            <a:endParaRPr lang="en-US" altLang="zh-CN" b="1" dirty="0">
              <a:solidFill>
                <a:srgbClr val="002060"/>
              </a:solidFill>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对环境的先验知识</a:t>
            </a:r>
            <a:endParaRPr lang="en-US" altLang="zh-CN" b="1" dirty="0">
              <a:solidFill>
                <a:srgbClr val="002060"/>
              </a:solidFill>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3</a:t>
            </a:r>
            <a:r>
              <a:rPr lang="zh-CN" altLang="en-US" b="1" dirty="0">
                <a:latin typeface="Times New Roman" panose="02020603050405020304" pitchFamily="18" charset="0"/>
                <a:cs typeface="Times New Roman" panose="02020603050405020304" pitchFamily="18" charset="0"/>
              </a:rPr>
              <a:t>）</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可以执行的动作</a:t>
            </a:r>
            <a:endParaRPr lang="en-US" altLang="zh-CN" b="1" dirty="0">
              <a:solidFill>
                <a:srgbClr val="002060"/>
              </a:solidFill>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4</a:t>
            </a:r>
            <a:r>
              <a:rPr lang="zh-CN" altLang="en-US" b="1" dirty="0">
                <a:latin typeface="Times New Roman" panose="02020603050405020304" pitchFamily="18" charset="0"/>
                <a:cs typeface="Times New Roman" panose="02020603050405020304" pitchFamily="18" charset="0"/>
              </a:rPr>
              <a:t>）</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的感知序列</a:t>
            </a:r>
          </a:p>
        </p:txBody>
      </p:sp>
    </p:spTree>
    <p:extLst>
      <p:ext uri="{BB962C8B-B14F-4D97-AF65-F5344CB8AC3E}">
        <p14:creationId xmlns:p14="http://schemas.microsoft.com/office/powerpoint/2010/main" val="14096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2.2.2 </a:t>
            </a:r>
            <a:r>
              <a:rPr lang="zh-CN" altLang="en-US" b="1" dirty="0">
                <a:latin typeface="Times New Roman" panose="02020603050405020304" pitchFamily="18" charset="0"/>
                <a:cs typeface="Times New Roman" panose="02020603050405020304" pitchFamily="18" charset="0"/>
              </a:rPr>
              <a:t>理性</a:t>
            </a:r>
            <a:endParaRPr lang="zh-CN" altLang="en-US" dirty="0"/>
          </a:p>
        </p:txBody>
      </p:sp>
      <p:sp>
        <p:nvSpPr>
          <p:cNvPr id="3" name="内容占位符 2"/>
          <p:cNvSpPr>
            <a:spLocks noGrp="1"/>
          </p:cNvSpPr>
          <p:nvPr>
            <p:ph idx="1"/>
          </p:nvPr>
        </p:nvSpPr>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理性</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的定义</a:t>
            </a:r>
            <a:r>
              <a:rPr lang="zh-CN" altLang="en-US" b="1" dirty="0">
                <a:latin typeface="Times New Roman" panose="02020603050405020304" pitchFamily="18" charset="0"/>
                <a:cs typeface="Times New Roman" panose="02020603050405020304" pitchFamily="18" charset="0"/>
              </a:rPr>
              <a:t>如下（</a:t>
            </a:r>
            <a:r>
              <a:rPr lang="zh-CN" altLang="en-US" b="1" dirty="0">
                <a:solidFill>
                  <a:srgbClr val="C00000"/>
                </a:solidFill>
                <a:latin typeface="Times New Roman" panose="02020603050405020304" pitchFamily="18" charset="0"/>
                <a:cs typeface="Times New Roman" panose="02020603050405020304" pitchFamily="18" charset="0"/>
              </a:rPr>
              <a:t>评价：这是一个重要、且比较严谨的定义</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对于每个可能的感知序列，根据已知的感知序列提供的证据和</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内建的先验知识，理性</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应该选择期望能使其性能度量最大化的行动。</a:t>
            </a:r>
          </a:p>
        </p:txBody>
      </p:sp>
    </p:spTree>
    <p:extLst>
      <p:ext uri="{BB962C8B-B14F-4D97-AF65-F5344CB8AC3E}">
        <p14:creationId xmlns:p14="http://schemas.microsoft.com/office/powerpoint/2010/main" val="2293779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2.4.2 </a:t>
            </a:r>
            <a:r>
              <a:rPr lang="zh-CN" altLang="en-US" b="1" dirty="0">
                <a:latin typeface="Times New Roman" panose="02020603050405020304" pitchFamily="18" charset="0"/>
                <a:cs typeface="Times New Roman" panose="02020603050405020304" pitchFamily="18" charset="0"/>
              </a:rPr>
              <a:t>简单反射型</a:t>
            </a:r>
            <a:r>
              <a:rPr lang="en-US" altLang="zh-CN" b="1" dirty="0">
                <a:latin typeface="Times New Roman" panose="02020603050405020304" pitchFamily="18" charset="0"/>
                <a:cs typeface="Times New Roman" panose="02020603050405020304" pitchFamily="18" charset="0"/>
              </a:rPr>
              <a:t>Agent</a:t>
            </a:r>
            <a:endParaRPr lang="zh-CN" altLang="en-US" dirty="0"/>
          </a:p>
        </p:txBody>
      </p:sp>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可以</a:t>
            </a:r>
            <a:r>
              <a:rPr lang="zh-CN" altLang="en-US" b="1" dirty="0">
                <a:solidFill>
                  <a:srgbClr val="002060"/>
                </a:solidFill>
                <a:latin typeface="Times New Roman" panose="02020603050405020304" pitchFamily="18" charset="0"/>
                <a:cs typeface="Times New Roman" panose="02020603050405020304" pitchFamily="18" charset="0"/>
              </a:rPr>
              <a:t>建造一个通用的条件</a:t>
            </a:r>
            <a:r>
              <a:rPr lang="en-US" altLang="zh-CN" b="1" dirty="0">
                <a:solidFill>
                  <a:srgbClr val="002060"/>
                </a:solidFill>
                <a:latin typeface="Times New Roman" panose="02020603050405020304" pitchFamily="18" charset="0"/>
                <a:cs typeface="Times New Roman" panose="02020603050405020304" pitchFamily="18" charset="0"/>
              </a:rPr>
              <a:t>-</a:t>
            </a:r>
            <a:r>
              <a:rPr lang="zh-CN" altLang="en-US" b="1" dirty="0">
                <a:solidFill>
                  <a:srgbClr val="002060"/>
                </a:solidFill>
                <a:latin typeface="Times New Roman" panose="02020603050405020304" pitchFamily="18" charset="0"/>
                <a:cs typeface="Times New Roman" panose="02020603050405020304" pitchFamily="18" charset="0"/>
              </a:rPr>
              <a:t>行动规则解释器</a:t>
            </a:r>
            <a:r>
              <a:rPr lang="zh-CN" altLang="en-US" b="1" dirty="0">
                <a:latin typeface="Times New Roman" panose="02020603050405020304" pitchFamily="18" charset="0"/>
                <a:cs typeface="Times New Roman" panose="02020603050405020304" pitchFamily="18" charset="0"/>
              </a:rPr>
              <a:t>，然后对</a:t>
            </a:r>
            <a:r>
              <a:rPr lang="zh-CN" altLang="en-US" b="1" dirty="0">
                <a:solidFill>
                  <a:srgbClr val="002060"/>
                </a:solidFill>
                <a:latin typeface="Times New Roman" panose="02020603050405020304" pitchFamily="18" charset="0"/>
                <a:cs typeface="Times New Roman" panose="02020603050405020304" pitchFamily="18" charset="0"/>
              </a:rPr>
              <a:t>特定任务环境</a:t>
            </a:r>
            <a:r>
              <a:rPr lang="zh-CN" altLang="en-US" b="1" dirty="0">
                <a:latin typeface="Times New Roman" panose="02020603050405020304" pitchFamily="18" charset="0"/>
                <a:cs typeface="Times New Roman" panose="02020603050405020304" pitchFamily="18" charset="0"/>
              </a:rPr>
              <a:t>创建规则集合。</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图</a:t>
            </a:r>
            <a:r>
              <a:rPr lang="en-US" altLang="zh-CN" b="1" dirty="0">
                <a:latin typeface="Times New Roman" panose="02020603050405020304" pitchFamily="18" charset="0"/>
                <a:cs typeface="Times New Roman" panose="02020603050405020304" pitchFamily="18" charset="0"/>
              </a:rPr>
              <a:t>2.9</a:t>
            </a:r>
            <a:r>
              <a:rPr lang="zh-CN" altLang="en-US" b="1" dirty="0">
                <a:latin typeface="Times New Roman" panose="02020603050405020304" pitchFamily="18" charset="0"/>
                <a:cs typeface="Times New Roman" panose="02020603050405020304" pitchFamily="18" charset="0"/>
              </a:rPr>
              <a:t>显示了条件</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行为规则如何允许</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建立从感知信息到动作的联系。</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直角矩形</a:t>
            </a:r>
            <a:r>
              <a:rPr lang="zh-CN" altLang="en-US" b="1" dirty="0">
                <a:latin typeface="Times New Roman" panose="02020603050405020304" pitchFamily="18" charset="0"/>
                <a:cs typeface="Times New Roman" panose="02020603050405020304" pitchFamily="18" charset="0"/>
              </a:rPr>
              <a:t>表示决策过程的内部状态，</a:t>
            </a:r>
            <a:r>
              <a:rPr lang="zh-CN" altLang="en-US" b="1" dirty="0">
                <a:solidFill>
                  <a:srgbClr val="002060"/>
                </a:solidFill>
                <a:latin typeface="Times New Roman" panose="02020603050405020304" pitchFamily="18" charset="0"/>
                <a:cs typeface="Times New Roman" panose="02020603050405020304" pitchFamily="18" charset="0"/>
              </a:rPr>
              <a:t>圆角矩形</a:t>
            </a:r>
            <a:r>
              <a:rPr lang="zh-CN" altLang="en-US" b="1" dirty="0">
                <a:latin typeface="Times New Roman" panose="02020603050405020304" pitchFamily="18" charset="0"/>
                <a:cs typeface="Times New Roman" panose="02020603050405020304" pitchFamily="18" charset="0"/>
              </a:rPr>
              <a:t>表示用到的背景信息。</a:t>
            </a:r>
          </a:p>
        </p:txBody>
      </p:sp>
    </p:spTree>
    <p:extLst>
      <p:ext uri="{BB962C8B-B14F-4D97-AF65-F5344CB8AC3E}">
        <p14:creationId xmlns:p14="http://schemas.microsoft.com/office/powerpoint/2010/main" val="396410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7569" y="6031974"/>
            <a:ext cx="10515600" cy="680035"/>
          </a:xfrm>
        </p:spPr>
        <p:txBody>
          <a:bodyPr>
            <a:normAutofit/>
          </a:bodyPr>
          <a:lstStyle/>
          <a:p>
            <a:pPr algn="ctr"/>
            <a:r>
              <a:rPr lang="zh-CN" altLang="en-US" sz="2000" b="1" dirty="0">
                <a:latin typeface="Times New Roman" panose="02020603050405020304" pitchFamily="18" charset="0"/>
                <a:cs typeface="Times New Roman" panose="02020603050405020304" pitchFamily="18" charset="0"/>
              </a:rPr>
              <a:t>图</a:t>
            </a:r>
            <a:r>
              <a:rPr lang="en-US" altLang="zh-CN" sz="2000" b="1" dirty="0">
                <a:latin typeface="Times New Roman" panose="02020603050405020304" pitchFamily="18" charset="0"/>
                <a:cs typeface="Times New Roman" panose="02020603050405020304" pitchFamily="18" charset="0"/>
              </a:rPr>
              <a:t>2.9 </a:t>
            </a:r>
            <a:r>
              <a:rPr lang="zh-CN" altLang="en-US" sz="2000" dirty="0">
                <a:latin typeface="Times New Roman" panose="02020603050405020304" pitchFamily="18" charset="0"/>
                <a:cs typeface="Times New Roman" panose="02020603050405020304" pitchFamily="18" charset="0"/>
              </a:rPr>
              <a:t>简单反射型</a:t>
            </a:r>
            <a:r>
              <a:rPr lang="en-US" altLang="zh-CN" sz="2000" dirty="0">
                <a:latin typeface="Times New Roman" panose="02020603050405020304" pitchFamily="18" charset="0"/>
                <a:cs typeface="Times New Roman" panose="02020603050405020304" pitchFamily="18" charset="0"/>
              </a:rPr>
              <a:t>Agent</a:t>
            </a:r>
            <a:r>
              <a:rPr lang="zh-CN" altLang="en-US" sz="2000" dirty="0">
                <a:latin typeface="Times New Roman" panose="02020603050405020304" pitchFamily="18" charset="0"/>
                <a:cs typeface="Times New Roman" panose="02020603050405020304" pitchFamily="18" charset="0"/>
              </a:rPr>
              <a:t>示意图</a:t>
            </a:r>
          </a:p>
        </p:txBody>
      </p:sp>
      <p:sp>
        <p:nvSpPr>
          <p:cNvPr id="4" name="流程图: 可选过程 3"/>
          <p:cNvSpPr/>
          <p:nvPr/>
        </p:nvSpPr>
        <p:spPr>
          <a:xfrm>
            <a:off x="597569" y="413887"/>
            <a:ext cx="6582875" cy="5515275"/>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流程图: 可选过程 4"/>
          <p:cNvSpPr/>
          <p:nvPr/>
        </p:nvSpPr>
        <p:spPr>
          <a:xfrm>
            <a:off x="9870594" y="413887"/>
            <a:ext cx="1670431" cy="5515275"/>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670767" y="1795932"/>
            <a:ext cx="2213809" cy="11376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p:cNvCxnSpPr/>
          <p:nvPr/>
        </p:nvCxnSpPr>
        <p:spPr>
          <a:xfrm flipH="1">
            <a:off x="6728058" y="903656"/>
            <a:ext cx="3289989" cy="1074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5793338" y="1239318"/>
            <a:ext cx="1" cy="5859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5827026" y="4666347"/>
            <a:ext cx="1" cy="5859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6554803" y="5556687"/>
            <a:ext cx="3535718" cy="1483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945191" y="469298"/>
            <a:ext cx="1403498" cy="400110"/>
          </a:xfrm>
          <a:prstGeom prst="rect">
            <a:avLst/>
          </a:prstGeom>
          <a:noFill/>
        </p:spPr>
        <p:txBody>
          <a:bodyPr wrap="square" rtlCol="0">
            <a:spAutoFit/>
          </a:bodyPr>
          <a:lstStyle/>
          <a:p>
            <a:pPr algn="ctr"/>
            <a:r>
              <a:rPr lang="en-US" altLang="zh-CN" sz="2000" b="1" dirty="0">
                <a:latin typeface="Times New Roman" panose="02020603050405020304" pitchFamily="18" charset="0"/>
                <a:cs typeface="Times New Roman" panose="02020603050405020304" pitchFamily="18" charset="0"/>
              </a:rPr>
              <a:t>Agent</a:t>
            </a:r>
            <a:endParaRPr lang="zh-CN" altLang="en-US" sz="2000" b="1" dirty="0">
              <a:latin typeface="Times New Roman" panose="02020603050405020304" pitchFamily="18" charset="0"/>
              <a:cs typeface="Times New Roman" panose="02020603050405020304" pitchFamily="18" charset="0"/>
            </a:endParaRPr>
          </a:p>
        </p:txBody>
      </p:sp>
      <p:sp>
        <p:nvSpPr>
          <p:cNvPr id="8" name="文本框 7"/>
          <p:cNvSpPr txBox="1"/>
          <p:nvPr/>
        </p:nvSpPr>
        <p:spPr>
          <a:xfrm>
            <a:off x="10004060" y="2651040"/>
            <a:ext cx="1403498" cy="400110"/>
          </a:xfrm>
          <a:prstGeom prst="rect">
            <a:avLst/>
          </a:prstGeom>
          <a:noFill/>
        </p:spPr>
        <p:txBody>
          <a:bodyPr wrap="square" rtlCol="0">
            <a:spAutoFit/>
          </a:bodyPr>
          <a:lstStyle/>
          <a:p>
            <a:pPr algn="ctr"/>
            <a:r>
              <a:rPr lang="zh-CN" altLang="en-US" sz="2000" b="1" dirty="0"/>
              <a:t>环境</a:t>
            </a:r>
          </a:p>
        </p:txBody>
      </p:sp>
      <p:sp>
        <p:nvSpPr>
          <p:cNvPr id="9" name="文本框 8"/>
          <p:cNvSpPr txBox="1"/>
          <p:nvPr/>
        </p:nvSpPr>
        <p:spPr>
          <a:xfrm>
            <a:off x="4757609" y="1847225"/>
            <a:ext cx="2116272" cy="707886"/>
          </a:xfrm>
          <a:prstGeom prst="rect">
            <a:avLst/>
          </a:prstGeom>
          <a:noFill/>
        </p:spPr>
        <p:txBody>
          <a:bodyPr wrap="square" rtlCol="0">
            <a:spAutoFit/>
          </a:bodyPr>
          <a:lstStyle/>
          <a:p>
            <a:pPr algn="ctr"/>
            <a:r>
              <a:rPr lang="zh-CN" altLang="en-US" sz="2000" b="1" dirty="0"/>
              <a:t>现在的世界是怎样的</a:t>
            </a:r>
          </a:p>
        </p:txBody>
      </p:sp>
      <p:sp>
        <p:nvSpPr>
          <p:cNvPr id="10" name="文本框 9"/>
          <p:cNvSpPr txBox="1"/>
          <p:nvPr/>
        </p:nvSpPr>
        <p:spPr>
          <a:xfrm>
            <a:off x="5208692" y="682295"/>
            <a:ext cx="1403498" cy="400110"/>
          </a:xfrm>
          <a:prstGeom prst="rect">
            <a:avLst/>
          </a:prstGeom>
          <a:noFill/>
        </p:spPr>
        <p:txBody>
          <a:bodyPr wrap="square" rtlCol="0">
            <a:spAutoFit/>
          </a:bodyPr>
          <a:lstStyle/>
          <a:p>
            <a:pPr algn="ctr"/>
            <a:r>
              <a:rPr lang="zh-CN" altLang="en-US" sz="2000" b="1" dirty="0"/>
              <a:t>传感器</a:t>
            </a:r>
          </a:p>
        </p:txBody>
      </p:sp>
      <p:sp>
        <p:nvSpPr>
          <p:cNvPr id="11" name="文本框 10"/>
          <p:cNvSpPr txBox="1"/>
          <p:nvPr/>
        </p:nvSpPr>
        <p:spPr>
          <a:xfrm>
            <a:off x="5151305" y="5292967"/>
            <a:ext cx="1403498" cy="400110"/>
          </a:xfrm>
          <a:prstGeom prst="rect">
            <a:avLst/>
          </a:prstGeom>
          <a:noFill/>
        </p:spPr>
        <p:txBody>
          <a:bodyPr wrap="square" rtlCol="0">
            <a:spAutoFit/>
          </a:bodyPr>
          <a:lstStyle/>
          <a:p>
            <a:pPr algn="ctr"/>
            <a:r>
              <a:rPr lang="zh-CN" altLang="en-US" sz="2000" b="1" dirty="0"/>
              <a:t>执行器</a:t>
            </a:r>
          </a:p>
        </p:txBody>
      </p:sp>
      <p:sp>
        <p:nvSpPr>
          <p:cNvPr id="31" name="文本框 30"/>
          <p:cNvSpPr txBox="1"/>
          <p:nvPr/>
        </p:nvSpPr>
        <p:spPr>
          <a:xfrm>
            <a:off x="7255094" y="992518"/>
            <a:ext cx="1403498" cy="400110"/>
          </a:xfrm>
          <a:prstGeom prst="rect">
            <a:avLst/>
          </a:prstGeom>
          <a:noFill/>
        </p:spPr>
        <p:txBody>
          <a:bodyPr wrap="square" rtlCol="0">
            <a:spAutoFit/>
          </a:bodyPr>
          <a:lstStyle/>
          <a:p>
            <a:pPr algn="ctr"/>
            <a:r>
              <a:rPr lang="zh-CN" altLang="en-US" sz="2000" b="1" dirty="0"/>
              <a:t>感知</a:t>
            </a:r>
          </a:p>
        </p:txBody>
      </p:sp>
      <p:sp>
        <p:nvSpPr>
          <p:cNvPr id="32" name="文本框 31"/>
          <p:cNvSpPr txBox="1"/>
          <p:nvPr/>
        </p:nvSpPr>
        <p:spPr>
          <a:xfrm>
            <a:off x="7389849" y="5033467"/>
            <a:ext cx="1403498" cy="400110"/>
          </a:xfrm>
          <a:prstGeom prst="rect">
            <a:avLst/>
          </a:prstGeom>
          <a:noFill/>
        </p:spPr>
        <p:txBody>
          <a:bodyPr wrap="square" rtlCol="0">
            <a:spAutoFit/>
          </a:bodyPr>
          <a:lstStyle/>
          <a:p>
            <a:pPr algn="ctr"/>
            <a:r>
              <a:rPr lang="zh-CN" altLang="en-US" sz="2000" b="1" dirty="0"/>
              <a:t>动作</a:t>
            </a:r>
          </a:p>
        </p:txBody>
      </p:sp>
      <p:cxnSp>
        <p:nvCxnSpPr>
          <p:cNvPr id="19" name="直接箭头连接符 18"/>
          <p:cNvCxnSpPr/>
          <p:nvPr/>
        </p:nvCxnSpPr>
        <p:spPr>
          <a:xfrm>
            <a:off x="5845049" y="2941683"/>
            <a:ext cx="1" cy="5859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4670767" y="3506660"/>
            <a:ext cx="2213809" cy="11376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4768890" y="3624700"/>
            <a:ext cx="2116272" cy="707886"/>
          </a:xfrm>
          <a:prstGeom prst="rect">
            <a:avLst/>
          </a:prstGeom>
          <a:noFill/>
        </p:spPr>
        <p:txBody>
          <a:bodyPr wrap="square" rtlCol="0">
            <a:spAutoFit/>
          </a:bodyPr>
          <a:lstStyle/>
          <a:p>
            <a:pPr algn="ctr"/>
            <a:r>
              <a:rPr lang="zh-CN" altLang="en-US" sz="2000" b="1" dirty="0"/>
              <a:t>现在应该采取什么动作</a:t>
            </a:r>
          </a:p>
        </p:txBody>
      </p:sp>
      <p:sp>
        <p:nvSpPr>
          <p:cNvPr id="25" name="流程图: 可选过程 24"/>
          <p:cNvSpPr/>
          <p:nvPr/>
        </p:nvSpPr>
        <p:spPr>
          <a:xfrm>
            <a:off x="1058463" y="3745435"/>
            <a:ext cx="2560696" cy="640257"/>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1057876" y="3800846"/>
            <a:ext cx="2548291" cy="400110"/>
          </a:xfrm>
          <a:prstGeom prst="rect">
            <a:avLst/>
          </a:prstGeom>
          <a:noFill/>
        </p:spPr>
        <p:txBody>
          <a:bodyPr wrap="square" rtlCol="0">
            <a:spAutoFit/>
          </a:bodyPr>
          <a:lstStyle/>
          <a:p>
            <a:pPr algn="ctr"/>
            <a:r>
              <a:rPr lang="zh-CN" altLang="en-US" sz="2000" b="1" dirty="0"/>
              <a:t>条件</a:t>
            </a:r>
            <a:r>
              <a:rPr lang="en-US" altLang="zh-CN" sz="2000" b="1" dirty="0"/>
              <a:t>-</a:t>
            </a:r>
            <a:r>
              <a:rPr lang="zh-CN" altLang="en-US" sz="2000" b="1" dirty="0"/>
              <a:t>行动准则</a:t>
            </a:r>
          </a:p>
        </p:txBody>
      </p:sp>
      <p:cxnSp>
        <p:nvCxnSpPr>
          <p:cNvPr id="27" name="直接箭头连接符 26"/>
          <p:cNvCxnSpPr/>
          <p:nvPr/>
        </p:nvCxnSpPr>
        <p:spPr>
          <a:xfrm>
            <a:off x="3687486" y="4062456"/>
            <a:ext cx="98328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12343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2.4.3 </a:t>
            </a:r>
            <a:r>
              <a:rPr lang="zh-CN" altLang="en-US" b="1" dirty="0">
                <a:latin typeface="Times New Roman" panose="02020603050405020304" pitchFamily="18" charset="0"/>
                <a:cs typeface="Times New Roman" panose="02020603050405020304" pitchFamily="18" charset="0"/>
              </a:rPr>
              <a:t>基于模型的反射型</a:t>
            </a:r>
            <a:r>
              <a:rPr lang="en-US" altLang="zh-CN" b="1" dirty="0">
                <a:latin typeface="Times New Roman" panose="02020603050405020304" pitchFamily="18" charset="0"/>
                <a:cs typeface="Times New Roman" panose="02020603050405020304" pitchFamily="18" charset="0"/>
              </a:rPr>
              <a:t>Agent</a:t>
            </a:r>
            <a:endParaRPr lang="zh-CN" altLang="en-US" dirty="0"/>
          </a:p>
        </p:txBody>
      </p:sp>
      <p:sp>
        <p:nvSpPr>
          <p:cNvPr id="3" name="内容占位符 2"/>
          <p:cNvSpPr>
            <a:spLocks noGrp="1"/>
          </p:cNvSpPr>
          <p:nvPr>
            <p:ph idx="1"/>
          </p:nvPr>
        </p:nvSpPr>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图</a:t>
            </a:r>
            <a:r>
              <a:rPr lang="en-US" altLang="zh-CN" b="1" dirty="0">
                <a:solidFill>
                  <a:srgbClr val="002060"/>
                </a:solidFill>
                <a:latin typeface="Times New Roman" panose="02020603050405020304" pitchFamily="18" charset="0"/>
                <a:cs typeface="Times New Roman" panose="02020603050405020304" pitchFamily="18" charset="0"/>
              </a:rPr>
              <a:t>2.11</a:t>
            </a:r>
            <a:r>
              <a:rPr lang="zh-CN" altLang="en-US" b="1" dirty="0">
                <a:solidFill>
                  <a:srgbClr val="002060"/>
                </a:solidFill>
                <a:latin typeface="Times New Roman" panose="02020603050405020304" pitchFamily="18" charset="0"/>
                <a:cs typeface="Times New Roman" panose="02020603050405020304" pitchFamily="18" charset="0"/>
              </a:rPr>
              <a:t>给出了使用内部状态的反射型</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的结构。</a:t>
            </a:r>
            <a:r>
              <a:rPr lang="zh-CN" altLang="en-US" b="1" dirty="0">
                <a:latin typeface="Times New Roman" panose="02020603050405020304" pitchFamily="18" charset="0"/>
                <a:cs typeface="Times New Roman" panose="02020603050405020304" pitchFamily="18" charset="0"/>
              </a:rPr>
              <a:t>显示出如何把当前的感知信息与过去的内部状态结合，来产生当前状态的更新描述。</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图</a:t>
            </a:r>
            <a:r>
              <a:rPr lang="en-US" altLang="zh-CN" b="1" dirty="0">
                <a:solidFill>
                  <a:srgbClr val="002060"/>
                </a:solidFill>
                <a:latin typeface="Times New Roman" panose="02020603050405020304" pitchFamily="18" charset="0"/>
                <a:cs typeface="Times New Roman" panose="02020603050405020304" pitchFamily="18" charset="0"/>
              </a:rPr>
              <a:t>2.12</a:t>
            </a:r>
            <a:r>
              <a:rPr lang="zh-CN" altLang="en-US" b="1" dirty="0">
                <a:solidFill>
                  <a:srgbClr val="002060"/>
                </a:solidFill>
                <a:latin typeface="Times New Roman" panose="02020603050405020304" pitchFamily="18" charset="0"/>
                <a:cs typeface="Times New Roman" panose="02020603050405020304" pitchFamily="18" charset="0"/>
              </a:rPr>
              <a:t>显示了该</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的程序</a:t>
            </a:r>
            <a:r>
              <a:rPr lang="zh-CN" altLang="en-US" b="1" dirty="0">
                <a:latin typeface="Times New Roman" panose="02020603050405020304" pitchFamily="18" charset="0"/>
                <a:cs typeface="Times New Roman" panose="02020603050405020304" pitchFamily="18" charset="0"/>
              </a:rPr>
              <a:t>。其中</a:t>
            </a:r>
            <a:r>
              <a:rPr lang="en-US" altLang="zh-CN" b="1" dirty="0">
                <a:latin typeface="Times New Roman" panose="02020603050405020304" pitchFamily="18" charset="0"/>
                <a:cs typeface="Times New Roman" panose="02020603050405020304" pitchFamily="18" charset="0"/>
              </a:rPr>
              <a:t>UPDATE-STATE</a:t>
            </a:r>
            <a:r>
              <a:rPr lang="zh-CN" altLang="en-US" b="1" dirty="0">
                <a:latin typeface="Times New Roman" panose="02020603050405020304" pitchFamily="18" charset="0"/>
                <a:cs typeface="Times New Roman" panose="02020603050405020304" pitchFamily="18" charset="0"/>
              </a:rPr>
              <a:t>函数负责创建新的内部状态描述。和用已有的知识解释新的感知信息一样，它利用关于世界如何发展的信息来把握世界的不可见部分，并且还需要了解</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的动作对世界状态有什么作用。</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zh-CN" altLang="en-US" b="1" dirty="0">
                <a:solidFill>
                  <a:srgbClr val="C00000"/>
                </a:solidFill>
                <a:latin typeface="Times New Roman" panose="02020603050405020304" pitchFamily="18" charset="0"/>
                <a:cs typeface="Times New Roman" panose="02020603050405020304" pitchFamily="18" charset="0"/>
              </a:rPr>
              <a:t>评价：模型</a:t>
            </a:r>
            <a:r>
              <a:rPr lang="zh-CN" altLang="zh-CN" b="1" dirty="0">
                <a:solidFill>
                  <a:srgbClr val="C00000"/>
                </a:solidFill>
                <a:latin typeface="Times New Roman" panose="02020603050405020304" pitchFamily="18" charset="0"/>
                <a:cs typeface="Times New Roman" panose="02020603050405020304" pitchFamily="18" charset="0"/>
              </a:rPr>
              <a:t>可以采用条件行动规则，也可以通过机器学习的方法获得。</a:t>
            </a:r>
            <a:r>
              <a:rPr lang="zh-CN" altLang="en-US" b="1" dirty="0">
                <a:solidFill>
                  <a:srgbClr val="C00000"/>
                </a:solidFill>
                <a:latin typeface="Times New Roman" panose="02020603050405020304" pitchFamily="18" charset="0"/>
                <a:cs typeface="Times New Roman" panose="02020603050405020304" pitchFamily="18" charset="0"/>
              </a:rPr>
              <a:t>深度学习中的</a:t>
            </a:r>
            <a:r>
              <a:rPr lang="en-US" altLang="zh-CN" b="1" dirty="0">
                <a:solidFill>
                  <a:srgbClr val="C00000"/>
                </a:solidFill>
                <a:latin typeface="Times New Roman" panose="02020603050405020304" pitchFamily="18" charset="0"/>
                <a:cs typeface="Times New Roman" panose="02020603050405020304" pitchFamily="18" charset="0"/>
              </a:rPr>
              <a:t>LSTM</a:t>
            </a:r>
            <a:r>
              <a:rPr lang="zh-CN" altLang="en-US" b="1" dirty="0">
                <a:solidFill>
                  <a:srgbClr val="C00000"/>
                </a:solidFill>
                <a:latin typeface="Times New Roman" panose="02020603050405020304" pitchFamily="18" charset="0"/>
                <a:cs typeface="Times New Roman" panose="02020603050405020304" pitchFamily="18" charset="0"/>
              </a:rPr>
              <a:t>、和注意力机制等属于基于模型的反射型</a:t>
            </a:r>
            <a:r>
              <a:rPr lang="en-US" altLang="zh-CN" b="1" dirty="0">
                <a:solidFill>
                  <a:srgbClr val="C00000"/>
                </a:solidFill>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165965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97569" y="6031974"/>
            <a:ext cx="10515600" cy="680035"/>
          </a:xfrm>
        </p:spPr>
        <p:txBody>
          <a:bodyPr>
            <a:normAutofit/>
          </a:bodyPr>
          <a:lstStyle/>
          <a:p>
            <a:pPr algn="ctr"/>
            <a:r>
              <a:rPr lang="zh-CN" altLang="en-US" sz="2000" b="1" dirty="0">
                <a:latin typeface="Times New Roman" panose="02020603050405020304" pitchFamily="18" charset="0"/>
                <a:cs typeface="Times New Roman" panose="02020603050405020304" pitchFamily="18" charset="0"/>
              </a:rPr>
              <a:t>图</a:t>
            </a:r>
            <a:r>
              <a:rPr lang="en-US" altLang="zh-CN" sz="2000" b="1" dirty="0">
                <a:latin typeface="Times New Roman" panose="02020603050405020304" pitchFamily="18" charset="0"/>
                <a:cs typeface="Times New Roman" panose="02020603050405020304" pitchFamily="18" charset="0"/>
              </a:rPr>
              <a:t>2.11 </a:t>
            </a:r>
            <a:r>
              <a:rPr lang="zh-CN" altLang="en-US" sz="2000" dirty="0">
                <a:latin typeface="Times New Roman" panose="02020603050405020304" pitchFamily="18" charset="0"/>
                <a:cs typeface="Times New Roman" panose="02020603050405020304" pitchFamily="18" charset="0"/>
              </a:rPr>
              <a:t>基于模型的反射型</a:t>
            </a:r>
            <a:r>
              <a:rPr lang="en-US" altLang="zh-CN" sz="2000" dirty="0">
                <a:latin typeface="Times New Roman" panose="02020603050405020304" pitchFamily="18" charset="0"/>
                <a:cs typeface="Times New Roman" panose="02020603050405020304" pitchFamily="18" charset="0"/>
              </a:rPr>
              <a:t>Agent</a:t>
            </a:r>
            <a:endParaRPr lang="zh-CN" altLang="en-US" sz="2000" dirty="0">
              <a:latin typeface="Times New Roman" panose="02020603050405020304" pitchFamily="18" charset="0"/>
              <a:cs typeface="Times New Roman" panose="02020603050405020304" pitchFamily="18" charset="0"/>
            </a:endParaRPr>
          </a:p>
        </p:txBody>
      </p:sp>
      <p:sp>
        <p:nvSpPr>
          <p:cNvPr id="5" name="流程图: 可选过程 4"/>
          <p:cNvSpPr/>
          <p:nvPr/>
        </p:nvSpPr>
        <p:spPr>
          <a:xfrm>
            <a:off x="597569" y="413887"/>
            <a:ext cx="6582875" cy="5515275"/>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流程图: 可选过程 5"/>
          <p:cNvSpPr/>
          <p:nvPr/>
        </p:nvSpPr>
        <p:spPr>
          <a:xfrm>
            <a:off x="9870594" y="413887"/>
            <a:ext cx="1670431" cy="5515275"/>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670767" y="1795932"/>
            <a:ext cx="2213809" cy="11376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p:cNvCxnSpPr/>
          <p:nvPr/>
        </p:nvCxnSpPr>
        <p:spPr>
          <a:xfrm flipH="1">
            <a:off x="6728058" y="903656"/>
            <a:ext cx="3289989" cy="1074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5793338" y="1239318"/>
            <a:ext cx="1" cy="5859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5827026" y="4666347"/>
            <a:ext cx="1" cy="5859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6554803" y="5556687"/>
            <a:ext cx="3535718" cy="1483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1057876" y="467870"/>
            <a:ext cx="1403498" cy="400110"/>
          </a:xfrm>
          <a:prstGeom prst="rect">
            <a:avLst/>
          </a:prstGeom>
          <a:noFill/>
        </p:spPr>
        <p:txBody>
          <a:bodyPr wrap="square" rtlCol="0">
            <a:spAutoFit/>
          </a:bodyPr>
          <a:lstStyle/>
          <a:p>
            <a:pPr algn="ctr"/>
            <a:r>
              <a:rPr lang="en-US" altLang="zh-CN" sz="2000" b="1" dirty="0">
                <a:latin typeface="Times New Roman" panose="02020603050405020304" pitchFamily="18" charset="0"/>
                <a:cs typeface="Times New Roman" panose="02020603050405020304" pitchFamily="18" charset="0"/>
              </a:rPr>
              <a:t>Agent</a:t>
            </a:r>
            <a:endParaRPr lang="zh-CN" altLang="en-US" sz="2000" b="1" dirty="0">
              <a:latin typeface="Times New Roman" panose="02020603050405020304" pitchFamily="18" charset="0"/>
              <a:cs typeface="Times New Roman" panose="02020603050405020304" pitchFamily="18" charset="0"/>
            </a:endParaRPr>
          </a:p>
        </p:txBody>
      </p:sp>
      <p:sp>
        <p:nvSpPr>
          <p:cNvPr id="13" name="文本框 12"/>
          <p:cNvSpPr txBox="1"/>
          <p:nvPr/>
        </p:nvSpPr>
        <p:spPr>
          <a:xfrm>
            <a:off x="10004060" y="2651040"/>
            <a:ext cx="1403498" cy="400110"/>
          </a:xfrm>
          <a:prstGeom prst="rect">
            <a:avLst/>
          </a:prstGeom>
          <a:noFill/>
        </p:spPr>
        <p:txBody>
          <a:bodyPr wrap="square" rtlCol="0">
            <a:spAutoFit/>
          </a:bodyPr>
          <a:lstStyle/>
          <a:p>
            <a:pPr algn="ctr"/>
            <a:r>
              <a:rPr lang="zh-CN" altLang="en-US" sz="2000" b="1" dirty="0"/>
              <a:t>环境</a:t>
            </a:r>
          </a:p>
        </p:txBody>
      </p:sp>
      <p:sp>
        <p:nvSpPr>
          <p:cNvPr id="14" name="文本框 13"/>
          <p:cNvSpPr txBox="1"/>
          <p:nvPr/>
        </p:nvSpPr>
        <p:spPr>
          <a:xfrm>
            <a:off x="4757609" y="1847225"/>
            <a:ext cx="2116272" cy="707886"/>
          </a:xfrm>
          <a:prstGeom prst="rect">
            <a:avLst/>
          </a:prstGeom>
          <a:noFill/>
        </p:spPr>
        <p:txBody>
          <a:bodyPr wrap="square" rtlCol="0">
            <a:spAutoFit/>
          </a:bodyPr>
          <a:lstStyle/>
          <a:p>
            <a:pPr algn="ctr"/>
            <a:r>
              <a:rPr lang="zh-CN" altLang="en-US" sz="2000" b="1" dirty="0"/>
              <a:t>现在的世界是怎样的</a:t>
            </a:r>
          </a:p>
        </p:txBody>
      </p:sp>
      <p:sp>
        <p:nvSpPr>
          <p:cNvPr id="15" name="文本框 14"/>
          <p:cNvSpPr txBox="1"/>
          <p:nvPr/>
        </p:nvSpPr>
        <p:spPr>
          <a:xfrm>
            <a:off x="5208692" y="682295"/>
            <a:ext cx="1403498" cy="400110"/>
          </a:xfrm>
          <a:prstGeom prst="rect">
            <a:avLst/>
          </a:prstGeom>
          <a:noFill/>
        </p:spPr>
        <p:txBody>
          <a:bodyPr wrap="square" rtlCol="0">
            <a:spAutoFit/>
          </a:bodyPr>
          <a:lstStyle/>
          <a:p>
            <a:pPr algn="ctr"/>
            <a:r>
              <a:rPr lang="zh-CN" altLang="en-US" sz="2000" b="1" dirty="0"/>
              <a:t>传感器</a:t>
            </a:r>
          </a:p>
        </p:txBody>
      </p:sp>
      <p:sp>
        <p:nvSpPr>
          <p:cNvPr id="16" name="文本框 15"/>
          <p:cNvSpPr txBox="1"/>
          <p:nvPr/>
        </p:nvSpPr>
        <p:spPr>
          <a:xfrm>
            <a:off x="5151305" y="5292967"/>
            <a:ext cx="1403498" cy="400110"/>
          </a:xfrm>
          <a:prstGeom prst="rect">
            <a:avLst/>
          </a:prstGeom>
          <a:noFill/>
        </p:spPr>
        <p:txBody>
          <a:bodyPr wrap="square" rtlCol="0">
            <a:spAutoFit/>
          </a:bodyPr>
          <a:lstStyle/>
          <a:p>
            <a:pPr algn="ctr"/>
            <a:r>
              <a:rPr lang="zh-CN" altLang="en-US" sz="2000" b="1" dirty="0"/>
              <a:t>执行器</a:t>
            </a:r>
          </a:p>
        </p:txBody>
      </p:sp>
      <p:sp>
        <p:nvSpPr>
          <p:cNvPr id="17" name="文本框 16"/>
          <p:cNvSpPr txBox="1"/>
          <p:nvPr/>
        </p:nvSpPr>
        <p:spPr>
          <a:xfrm>
            <a:off x="7373564" y="1020978"/>
            <a:ext cx="1403498" cy="400110"/>
          </a:xfrm>
          <a:prstGeom prst="rect">
            <a:avLst/>
          </a:prstGeom>
          <a:noFill/>
        </p:spPr>
        <p:txBody>
          <a:bodyPr wrap="square" rtlCol="0">
            <a:spAutoFit/>
          </a:bodyPr>
          <a:lstStyle/>
          <a:p>
            <a:pPr algn="ctr"/>
            <a:r>
              <a:rPr lang="zh-CN" altLang="en-US" sz="2000" b="1" dirty="0"/>
              <a:t>感知</a:t>
            </a:r>
          </a:p>
        </p:txBody>
      </p:sp>
      <p:sp>
        <p:nvSpPr>
          <p:cNvPr id="18" name="文本框 17"/>
          <p:cNvSpPr txBox="1"/>
          <p:nvPr/>
        </p:nvSpPr>
        <p:spPr>
          <a:xfrm>
            <a:off x="7389849" y="5033467"/>
            <a:ext cx="1403498" cy="400110"/>
          </a:xfrm>
          <a:prstGeom prst="rect">
            <a:avLst/>
          </a:prstGeom>
          <a:noFill/>
        </p:spPr>
        <p:txBody>
          <a:bodyPr wrap="square" rtlCol="0">
            <a:spAutoFit/>
          </a:bodyPr>
          <a:lstStyle/>
          <a:p>
            <a:pPr algn="ctr"/>
            <a:r>
              <a:rPr lang="zh-CN" altLang="en-US" sz="2000" b="1" dirty="0"/>
              <a:t>动作</a:t>
            </a:r>
          </a:p>
        </p:txBody>
      </p:sp>
      <p:cxnSp>
        <p:nvCxnSpPr>
          <p:cNvPr id="19" name="直接箭头连接符 18"/>
          <p:cNvCxnSpPr/>
          <p:nvPr/>
        </p:nvCxnSpPr>
        <p:spPr>
          <a:xfrm>
            <a:off x="5845049" y="2941683"/>
            <a:ext cx="1" cy="5859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4670767" y="3506660"/>
            <a:ext cx="2213809" cy="11376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4768890" y="3624700"/>
            <a:ext cx="2116272" cy="707886"/>
          </a:xfrm>
          <a:prstGeom prst="rect">
            <a:avLst/>
          </a:prstGeom>
          <a:noFill/>
        </p:spPr>
        <p:txBody>
          <a:bodyPr wrap="square" rtlCol="0">
            <a:spAutoFit/>
          </a:bodyPr>
          <a:lstStyle/>
          <a:p>
            <a:pPr algn="ctr"/>
            <a:r>
              <a:rPr lang="zh-CN" altLang="en-US" sz="2000" b="1" dirty="0"/>
              <a:t>现在应该采取什么行动</a:t>
            </a:r>
          </a:p>
        </p:txBody>
      </p:sp>
      <p:sp>
        <p:nvSpPr>
          <p:cNvPr id="22" name="流程图: 可选过程 21"/>
          <p:cNvSpPr/>
          <p:nvPr/>
        </p:nvSpPr>
        <p:spPr>
          <a:xfrm>
            <a:off x="1058463" y="3745435"/>
            <a:ext cx="2560696" cy="640257"/>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1057876" y="3800846"/>
            <a:ext cx="2548291" cy="400110"/>
          </a:xfrm>
          <a:prstGeom prst="rect">
            <a:avLst/>
          </a:prstGeom>
          <a:noFill/>
        </p:spPr>
        <p:txBody>
          <a:bodyPr wrap="square" rtlCol="0">
            <a:spAutoFit/>
          </a:bodyPr>
          <a:lstStyle/>
          <a:p>
            <a:pPr algn="ctr"/>
            <a:r>
              <a:rPr lang="zh-CN" altLang="en-US" sz="2000" b="1" dirty="0"/>
              <a:t>条件</a:t>
            </a:r>
            <a:r>
              <a:rPr lang="en-US" altLang="zh-CN" sz="2000" b="1" dirty="0"/>
              <a:t>-</a:t>
            </a:r>
            <a:r>
              <a:rPr lang="zh-CN" altLang="en-US" sz="2000" b="1" dirty="0"/>
              <a:t>行动准则</a:t>
            </a:r>
          </a:p>
        </p:txBody>
      </p:sp>
      <p:cxnSp>
        <p:nvCxnSpPr>
          <p:cNvPr id="24" name="直接箭头连接符 23"/>
          <p:cNvCxnSpPr/>
          <p:nvPr/>
        </p:nvCxnSpPr>
        <p:spPr>
          <a:xfrm>
            <a:off x="3687486" y="4062456"/>
            <a:ext cx="98328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流程图: 可选过程 24"/>
          <p:cNvSpPr/>
          <p:nvPr/>
        </p:nvSpPr>
        <p:spPr>
          <a:xfrm>
            <a:off x="1045471" y="2010783"/>
            <a:ext cx="2560696" cy="640257"/>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p:cNvCxnSpPr/>
          <p:nvPr/>
        </p:nvCxnSpPr>
        <p:spPr>
          <a:xfrm>
            <a:off x="3674494" y="2327804"/>
            <a:ext cx="98328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032479" y="2062668"/>
            <a:ext cx="2548291" cy="400110"/>
          </a:xfrm>
          <a:prstGeom prst="rect">
            <a:avLst/>
          </a:prstGeom>
          <a:noFill/>
        </p:spPr>
        <p:txBody>
          <a:bodyPr wrap="square" rtlCol="0">
            <a:spAutoFit/>
          </a:bodyPr>
          <a:lstStyle/>
          <a:p>
            <a:pPr algn="ctr"/>
            <a:r>
              <a:rPr lang="zh-CN" altLang="en-US" sz="2000" b="1" dirty="0"/>
              <a:t>世界如何演变</a:t>
            </a:r>
          </a:p>
        </p:txBody>
      </p:sp>
      <p:sp>
        <p:nvSpPr>
          <p:cNvPr id="28" name="流程图: 可选过程 27"/>
          <p:cNvSpPr/>
          <p:nvPr/>
        </p:nvSpPr>
        <p:spPr>
          <a:xfrm>
            <a:off x="1045471" y="2860765"/>
            <a:ext cx="2560696" cy="640257"/>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1126203" y="2932900"/>
            <a:ext cx="2548291" cy="400110"/>
          </a:xfrm>
          <a:prstGeom prst="rect">
            <a:avLst/>
          </a:prstGeom>
          <a:noFill/>
        </p:spPr>
        <p:txBody>
          <a:bodyPr wrap="square" rtlCol="0">
            <a:spAutoFit/>
          </a:bodyPr>
          <a:lstStyle/>
          <a:p>
            <a:pPr algn="ctr"/>
            <a:r>
              <a:rPr lang="zh-CN" altLang="en-US" sz="2000" b="1" dirty="0"/>
              <a:t>我做过什么？</a:t>
            </a:r>
          </a:p>
        </p:txBody>
      </p:sp>
      <p:sp>
        <p:nvSpPr>
          <p:cNvPr id="30" name="流程图: 可选过程 29"/>
          <p:cNvSpPr/>
          <p:nvPr/>
        </p:nvSpPr>
        <p:spPr>
          <a:xfrm>
            <a:off x="1045471" y="1119863"/>
            <a:ext cx="2560696" cy="640257"/>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1126203" y="1191998"/>
            <a:ext cx="2548291" cy="400110"/>
          </a:xfrm>
          <a:prstGeom prst="rect">
            <a:avLst/>
          </a:prstGeom>
          <a:noFill/>
        </p:spPr>
        <p:txBody>
          <a:bodyPr wrap="square" rtlCol="0">
            <a:spAutoFit/>
          </a:bodyPr>
          <a:lstStyle/>
          <a:p>
            <a:pPr algn="ctr"/>
            <a:r>
              <a:rPr lang="zh-CN" altLang="en-US" sz="2000" b="1" dirty="0"/>
              <a:t>状态</a:t>
            </a:r>
          </a:p>
        </p:txBody>
      </p:sp>
      <p:cxnSp>
        <p:nvCxnSpPr>
          <p:cNvPr id="32" name="直接箭头连接符 31"/>
          <p:cNvCxnSpPr/>
          <p:nvPr/>
        </p:nvCxnSpPr>
        <p:spPr>
          <a:xfrm flipV="1">
            <a:off x="3619159" y="2585888"/>
            <a:ext cx="1038616" cy="5883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3619159" y="1431130"/>
            <a:ext cx="1064255" cy="638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5043638" y="818147"/>
            <a:ext cx="9625" cy="977785"/>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2696311" y="761404"/>
            <a:ext cx="2342528" cy="10736"/>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696311" y="772140"/>
            <a:ext cx="0" cy="347723"/>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2643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2.4.4 </a:t>
            </a:r>
            <a:r>
              <a:rPr lang="zh-CN" altLang="en-US" b="1" dirty="0">
                <a:latin typeface="Times New Roman" panose="02020603050405020304" pitchFamily="18" charset="0"/>
                <a:cs typeface="Times New Roman" panose="02020603050405020304" pitchFamily="18" charset="0"/>
              </a:rPr>
              <a:t>基于目标的</a:t>
            </a:r>
            <a:r>
              <a:rPr lang="en-US" altLang="zh-CN" b="1" dirty="0">
                <a:latin typeface="Times New Roman" panose="02020603050405020304" pitchFamily="18" charset="0"/>
                <a:cs typeface="Times New Roman" panose="02020603050405020304" pitchFamily="18" charset="0"/>
              </a:rPr>
              <a:t>Agent</a:t>
            </a:r>
            <a:endParaRPr lang="zh-CN" altLang="en-US" dirty="0"/>
          </a:p>
        </p:txBody>
      </p:sp>
      <p:sp>
        <p:nvSpPr>
          <p:cNvPr id="3" name="内容占位符 2"/>
          <p:cNvSpPr>
            <a:spLocks noGrp="1"/>
          </p:cNvSpPr>
          <p:nvPr>
            <p:ph idx="1"/>
          </p:nvPr>
        </p:nvSpPr>
        <p:spPr/>
        <p:txBody>
          <a:bodyPr/>
          <a:lstStyle/>
          <a:p>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不仅需要当前状态的描述，而且需要某种</a:t>
            </a:r>
            <a:r>
              <a:rPr lang="zh-CN" altLang="en-US" b="1" dirty="0">
                <a:solidFill>
                  <a:srgbClr val="002060"/>
                </a:solidFill>
                <a:latin typeface="Times New Roman" panose="02020603050405020304" pitchFamily="18" charset="0"/>
                <a:cs typeface="Times New Roman" panose="02020603050405020304" pitchFamily="18" charset="0"/>
              </a:rPr>
              <a:t>目标</a:t>
            </a:r>
            <a:r>
              <a:rPr lang="zh-CN" altLang="en-US" b="1" dirty="0">
                <a:latin typeface="Times New Roman" panose="02020603050405020304" pitchFamily="18" charset="0"/>
                <a:cs typeface="Times New Roman" panose="02020603050405020304" pitchFamily="18" charset="0"/>
              </a:rPr>
              <a:t>信息来描述想要达到的状况。例如：乘客的目的地。</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程序会把这种信息和可能动作的结果结合起来。以选择</a:t>
            </a:r>
            <a:r>
              <a:rPr lang="zh-CN" altLang="en-US" b="1" dirty="0">
                <a:solidFill>
                  <a:srgbClr val="002060"/>
                </a:solidFill>
                <a:latin typeface="Times New Roman" panose="02020603050405020304" pitchFamily="18" charset="0"/>
                <a:cs typeface="Times New Roman" panose="02020603050405020304" pitchFamily="18" charset="0"/>
              </a:rPr>
              <a:t>达到目标的动作</a:t>
            </a:r>
            <a:r>
              <a:rPr lang="zh-CN" altLang="en-US" b="1" dirty="0">
                <a:latin typeface="Times New Roman" panose="02020603050405020304" pitchFamily="18" charset="0"/>
                <a:cs typeface="Times New Roman" panose="02020603050405020304" pitchFamily="18" charset="0"/>
              </a:rPr>
              <a:t>。图</a:t>
            </a:r>
            <a:r>
              <a:rPr lang="en-US" altLang="zh-CN" b="1" dirty="0">
                <a:latin typeface="Times New Roman" panose="02020603050405020304" pitchFamily="18" charset="0"/>
                <a:cs typeface="Times New Roman" panose="02020603050405020304" pitchFamily="18" charset="0"/>
              </a:rPr>
              <a:t>2.13</a:t>
            </a:r>
            <a:r>
              <a:rPr lang="zh-CN" altLang="en-US" b="1" dirty="0">
                <a:latin typeface="Times New Roman" panose="02020603050405020304" pitchFamily="18" charset="0"/>
                <a:cs typeface="Times New Roman" panose="02020603050405020304" pitchFamily="18" charset="0"/>
              </a:rPr>
              <a:t>展示了基于目标的</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结构。</a:t>
            </a:r>
          </a:p>
        </p:txBody>
      </p:sp>
    </p:spTree>
    <p:extLst>
      <p:ext uri="{BB962C8B-B14F-4D97-AF65-F5344CB8AC3E}">
        <p14:creationId xmlns:p14="http://schemas.microsoft.com/office/powerpoint/2010/main" val="3323711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97569" y="6031974"/>
            <a:ext cx="10515600" cy="680035"/>
          </a:xfrm>
        </p:spPr>
        <p:txBody>
          <a:bodyPr>
            <a:normAutofit/>
          </a:bodyPr>
          <a:lstStyle/>
          <a:p>
            <a:pPr algn="ctr"/>
            <a:r>
              <a:rPr lang="zh-CN" altLang="en-US" sz="2000" b="1" dirty="0">
                <a:latin typeface="Times New Roman" panose="02020603050405020304" pitchFamily="18" charset="0"/>
                <a:cs typeface="Times New Roman" panose="02020603050405020304" pitchFamily="18" charset="0"/>
              </a:rPr>
              <a:t>图</a:t>
            </a:r>
            <a:r>
              <a:rPr lang="en-US" altLang="zh-CN" sz="2000" b="1" dirty="0">
                <a:latin typeface="Times New Roman" panose="02020603050405020304" pitchFamily="18" charset="0"/>
                <a:cs typeface="Times New Roman" panose="02020603050405020304" pitchFamily="18" charset="0"/>
              </a:rPr>
              <a:t>2.13 </a:t>
            </a:r>
            <a:r>
              <a:rPr lang="zh-CN" altLang="en-US" sz="2000" dirty="0">
                <a:latin typeface="Times New Roman" panose="02020603050405020304" pitchFamily="18" charset="0"/>
                <a:cs typeface="Times New Roman" panose="02020603050405020304" pitchFamily="18" charset="0"/>
              </a:rPr>
              <a:t>基于模型和目标的</a:t>
            </a:r>
            <a:r>
              <a:rPr lang="en-US" altLang="zh-CN" sz="2000" dirty="0">
                <a:latin typeface="Times New Roman" panose="02020603050405020304" pitchFamily="18" charset="0"/>
                <a:cs typeface="Times New Roman" panose="02020603050405020304" pitchFamily="18" charset="0"/>
              </a:rPr>
              <a:t>Agent</a:t>
            </a:r>
            <a:r>
              <a:rPr lang="zh-CN" altLang="en-US" sz="2000" dirty="0">
                <a:latin typeface="Times New Roman" panose="02020603050405020304" pitchFamily="18" charset="0"/>
                <a:cs typeface="Times New Roman" panose="02020603050405020304" pitchFamily="18" charset="0"/>
              </a:rPr>
              <a:t>。它既要追踪记录世界的状态，又要记录要达到的目标集，并选择能（最终）达到目标的动作</a:t>
            </a:r>
          </a:p>
        </p:txBody>
      </p:sp>
      <p:sp>
        <p:nvSpPr>
          <p:cNvPr id="5" name="流程图: 可选过程 4"/>
          <p:cNvSpPr/>
          <p:nvPr/>
        </p:nvSpPr>
        <p:spPr>
          <a:xfrm>
            <a:off x="597569" y="106327"/>
            <a:ext cx="6582875" cy="5822836"/>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流程图: 可选过程 5"/>
          <p:cNvSpPr/>
          <p:nvPr/>
        </p:nvSpPr>
        <p:spPr>
          <a:xfrm>
            <a:off x="9870594" y="106327"/>
            <a:ext cx="1670431" cy="5822835"/>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729766" y="1353385"/>
            <a:ext cx="2213809" cy="11376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p:cNvCxnSpPr/>
          <p:nvPr/>
        </p:nvCxnSpPr>
        <p:spPr>
          <a:xfrm flipH="1">
            <a:off x="6714071" y="446412"/>
            <a:ext cx="3289989" cy="1074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5852337" y="796771"/>
            <a:ext cx="1" cy="5859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5849577" y="5147337"/>
            <a:ext cx="5572" cy="2655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6589485" y="5616957"/>
            <a:ext cx="3535718" cy="1483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1017182" y="180956"/>
            <a:ext cx="1403498" cy="400110"/>
          </a:xfrm>
          <a:prstGeom prst="rect">
            <a:avLst/>
          </a:prstGeom>
          <a:noFill/>
        </p:spPr>
        <p:txBody>
          <a:bodyPr wrap="square" rtlCol="0">
            <a:spAutoFit/>
          </a:bodyPr>
          <a:lstStyle/>
          <a:p>
            <a:pPr algn="ctr"/>
            <a:r>
              <a:rPr lang="en-US" altLang="zh-CN" sz="2000" b="1" dirty="0">
                <a:latin typeface="Times New Roman" panose="02020603050405020304" pitchFamily="18" charset="0"/>
                <a:cs typeface="Times New Roman" panose="02020603050405020304" pitchFamily="18" charset="0"/>
              </a:rPr>
              <a:t>Agent</a:t>
            </a:r>
            <a:endParaRPr lang="zh-CN" altLang="en-US" sz="2000" b="1" dirty="0">
              <a:latin typeface="Times New Roman" panose="02020603050405020304" pitchFamily="18" charset="0"/>
              <a:cs typeface="Times New Roman" panose="02020603050405020304" pitchFamily="18" charset="0"/>
            </a:endParaRPr>
          </a:p>
        </p:txBody>
      </p:sp>
      <p:sp>
        <p:nvSpPr>
          <p:cNvPr id="13" name="文本框 12"/>
          <p:cNvSpPr txBox="1"/>
          <p:nvPr/>
        </p:nvSpPr>
        <p:spPr>
          <a:xfrm>
            <a:off x="10004060" y="2651040"/>
            <a:ext cx="1403498" cy="400110"/>
          </a:xfrm>
          <a:prstGeom prst="rect">
            <a:avLst/>
          </a:prstGeom>
          <a:noFill/>
        </p:spPr>
        <p:txBody>
          <a:bodyPr wrap="square" rtlCol="0">
            <a:spAutoFit/>
          </a:bodyPr>
          <a:lstStyle/>
          <a:p>
            <a:pPr algn="ctr"/>
            <a:r>
              <a:rPr lang="zh-CN" altLang="en-US" sz="2000" b="1" dirty="0"/>
              <a:t>环境</a:t>
            </a:r>
          </a:p>
        </p:txBody>
      </p:sp>
      <p:sp>
        <p:nvSpPr>
          <p:cNvPr id="14" name="文本框 13"/>
          <p:cNvSpPr txBox="1"/>
          <p:nvPr/>
        </p:nvSpPr>
        <p:spPr>
          <a:xfrm>
            <a:off x="4816608" y="1404678"/>
            <a:ext cx="2116272" cy="707886"/>
          </a:xfrm>
          <a:prstGeom prst="rect">
            <a:avLst/>
          </a:prstGeom>
          <a:noFill/>
        </p:spPr>
        <p:txBody>
          <a:bodyPr wrap="square" rtlCol="0">
            <a:spAutoFit/>
          </a:bodyPr>
          <a:lstStyle/>
          <a:p>
            <a:pPr algn="ctr"/>
            <a:r>
              <a:rPr lang="zh-CN" altLang="en-US" sz="2000" b="1" dirty="0"/>
              <a:t>现在的世界是怎样的</a:t>
            </a:r>
          </a:p>
        </p:txBody>
      </p:sp>
      <p:sp>
        <p:nvSpPr>
          <p:cNvPr id="15" name="文本框 14"/>
          <p:cNvSpPr txBox="1"/>
          <p:nvPr/>
        </p:nvSpPr>
        <p:spPr>
          <a:xfrm>
            <a:off x="5267691" y="239748"/>
            <a:ext cx="1403498" cy="400110"/>
          </a:xfrm>
          <a:prstGeom prst="rect">
            <a:avLst/>
          </a:prstGeom>
          <a:noFill/>
        </p:spPr>
        <p:txBody>
          <a:bodyPr wrap="square" rtlCol="0">
            <a:spAutoFit/>
          </a:bodyPr>
          <a:lstStyle/>
          <a:p>
            <a:pPr algn="ctr"/>
            <a:r>
              <a:rPr lang="zh-CN" altLang="en-US" sz="2000" b="1" dirty="0"/>
              <a:t>传感器</a:t>
            </a:r>
          </a:p>
        </p:txBody>
      </p:sp>
      <p:sp>
        <p:nvSpPr>
          <p:cNvPr id="16" name="文本框 15"/>
          <p:cNvSpPr txBox="1"/>
          <p:nvPr/>
        </p:nvSpPr>
        <p:spPr>
          <a:xfrm>
            <a:off x="5144598" y="5321852"/>
            <a:ext cx="1403498" cy="400110"/>
          </a:xfrm>
          <a:prstGeom prst="rect">
            <a:avLst/>
          </a:prstGeom>
          <a:noFill/>
        </p:spPr>
        <p:txBody>
          <a:bodyPr wrap="square" rtlCol="0">
            <a:spAutoFit/>
          </a:bodyPr>
          <a:lstStyle/>
          <a:p>
            <a:pPr algn="ctr"/>
            <a:r>
              <a:rPr lang="zh-CN" altLang="en-US" sz="2000" b="1" dirty="0"/>
              <a:t>执行器</a:t>
            </a:r>
          </a:p>
        </p:txBody>
      </p:sp>
      <p:sp>
        <p:nvSpPr>
          <p:cNvPr id="17" name="文本框 16"/>
          <p:cNvSpPr txBox="1"/>
          <p:nvPr/>
        </p:nvSpPr>
        <p:spPr>
          <a:xfrm>
            <a:off x="7734885" y="547665"/>
            <a:ext cx="1403498" cy="400110"/>
          </a:xfrm>
          <a:prstGeom prst="rect">
            <a:avLst/>
          </a:prstGeom>
          <a:noFill/>
        </p:spPr>
        <p:txBody>
          <a:bodyPr wrap="square" rtlCol="0">
            <a:spAutoFit/>
          </a:bodyPr>
          <a:lstStyle/>
          <a:p>
            <a:pPr algn="ctr"/>
            <a:r>
              <a:rPr lang="zh-CN" altLang="en-US" sz="2000" b="1" dirty="0"/>
              <a:t>感知</a:t>
            </a:r>
          </a:p>
        </p:txBody>
      </p:sp>
      <p:sp>
        <p:nvSpPr>
          <p:cNvPr id="18" name="文本框 17"/>
          <p:cNvSpPr txBox="1"/>
          <p:nvPr/>
        </p:nvSpPr>
        <p:spPr>
          <a:xfrm>
            <a:off x="7655595" y="5130237"/>
            <a:ext cx="1403498" cy="400110"/>
          </a:xfrm>
          <a:prstGeom prst="rect">
            <a:avLst/>
          </a:prstGeom>
          <a:noFill/>
        </p:spPr>
        <p:txBody>
          <a:bodyPr wrap="square" rtlCol="0">
            <a:spAutoFit/>
          </a:bodyPr>
          <a:lstStyle/>
          <a:p>
            <a:pPr algn="ctr"/>
            <a:r>
              <a:rPr lang="zh-CN" altLang="en-US" sz="2000" b="1" dirty="0"/>
              <a:t>动作</a:t>
            </a:r>
          </a:p>
        </p:txBody>
      </p:sp>
      <p:cxnSp>
        <p:nvCxnSpPr>
          <p:cNvPr id="19" name="直接箭头连接符 18"/>
          <p:cNvCxnSpPr/>
          <p:nvPr/>
        </p:nvCxnSpPr>
        <p:spPr>
          <a:xfrm>
            <a:off x="5862308" y="2490353"/>
            <a:ext cx="12436" cy="26161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4865962" y="4131721"/>
            <a:ext cx="2116272" cy="707886"/>
          </a:xfrm>
          <a:prstGeom prst="rect">
            <a:avLst/>
          </a:prstGeom>
          <a:noFill/>
        </p:spPr>
        <p:txBody>
          <a:bodyPr wrap="square" rtlCol="0">
            <a:spAutoFit/>
          </a:bodyPr>
          <a:lstStyle/>
          <a:p>
            <a:pPr algn="ctr"/>
            <a:r>
              <a:rPr lang="zh-CN" altLang="en-US" sz="2000" b="1" dirty="0"/>
              <a:t>现在应该采取什么行动</a:t>
            </a:r>
          </a:p>
        </p:txBody>
      </p:sp>
      <p:sp>
        <p:nvSpPr>
          <p:cNvPr id="22" name="流程图: 可选过程 21"/>
          <p:cNvSpPr/>
          <p:nvPr/>
        </p:nvSpPr>
        <p:spPr>
          <a:xfrm>
            <a:off x="1155535" y="4252456"/>
            <a:ext cx="2560696" cy="640257"/>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1154948" y="4307867"/>
            <a:ext cx="2548291" cy="400110"/>
          </a:xfrm>
          <a:prstGeom prst="rect">
            <a:avLst/>
          </a:prstGeom>
          <a:noFill/>
        </p:spPr>
        <p:txBody>
          <a:bodyPr wrap="square" rtlCol="0">
            <a:spAutoFit/>
          </a:bodyPr>
          <a:lstStyle/>
          <a:p>
            <a:pPr algn="ctr"/>
            <a:r>
              <a:rPr lang="zh-CN" altLang="en-US" sz="2000" b="1" dirty="0"/>
              <a:t>目标</a:t>
            </a:r>
          </a:p>
        </p:txBody>
      </p:sp>
      <p:cxnSp>
        <p:nvCxnSpPr>
          <p:cNvPr id="24" name="直接箭头连接符 23"/>
          <p:cNvCxnSpPr/>
          <p:nvPr/>
        </p:nvCxnSpPr>
        <p:spPr>
          <a:xfrm>
            <a:off x="3718644" y="4556321"/>
            <a:ext cx="98328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流程图: 可选过程 24"/>
          <p:cNvSpPr/>
          <p:nvPr/>
        </p:nvSpPr>
        <p:spPr>
          <a:xfrm>
            <a:off x="1104470" y="1568236"/>
            <a:ext cx="2560696" cy="640257"/>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p:cNvCxnSpPr>
            <a:stCxn id="25" idx="3"/>
          </p:cNvCxnSpPr>
          <p:nvPr/>
        </p:nvCxnSpPr>
        <p:spPr>
          <a:xfrm flipV="1">
            <a:off x="3665166" y="1885257"/>
            <a:ext cx="1051608" cy="31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091478" y="1620121"/>
            <a:ext cx="2548291" cy="400110"/>
          </a:xfrm>
          <a:prstGeom prst="rect">
            <a:avLst/>
          </a:prstGeom>
          <a:noFill/>
        </p:spPr>
        <p:txBody>
          <a:bodyPr wrap="square" rtlCol="0">
            <a:spAutoFit/>
          </a:bodyPr>
          <a:lstStyle/>
          <a:p>
            <a:pPr algn="ctr"/>
            <a:r>
              <a:rPr lang="zh-CN" altLang="en-US" sz="2000" b="1" dirty="0"/>
              <a:t>世界如何演变</a:t>
            </a:r>
          </a:p>
        </p:txBody>
      </p:sp>
      <p:sp>
        <p:nvSpPr>
          <p:cNvPr id="28" name="流程图: 可选过程 27"/>
          <p:cNvSpPr/>
          <p:nvPr/>
        </p:nvSpPr>
        <p:spPr>
          <a:xfrm>
            <a:off x="1104470" y="2418218"/>
            <a:ext cx="2560696" cy="640257"/>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1185202" y="2490353"/>
            <a:ext cx="2548291" cy="400110"/>
          </a:xfrm>
          <a:prstGeom prst="rect">
            <a:avLst/>
          </a:prstGeom>
          <a:noFill/>
        </p:spPr>
        <p:txBody>
          <a:bodyPr wrap="square" rtlCol="0">
            <a:spAutoFit/>
          </a:bodyPr>
          <a:lstStyle/>
          <a:p>
            <a:pPr algn="ctr"/>
            <a:r>
              <a:rPr lang="zh-CN" altLang="en-US" sz="2000" b="1" dirty="0"/>
              <a:t>我做过什么？</a:t>
            </a:r>
          </a:p>
        </p:txBody>
      </p:sp>
      <p:sp>
        <p:nvSpPr>
          <p:cNvPr id="30" name="流程图: 可选过程 29"/>
          <p:cNvSpPr/>
          <p:nvPr/>
        </p:nvSpPr>
        <p:spPr>
          <a:xfrm>
            <a:off x="1104470" y="677316"/>
            <a:ext cx="2560696" cy="640257"/>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1185202" y="749451"/>
            <a:ext cx="2548291" cy="400110"/>
          </a:xfrm>
          <a:prstGeom prst="rect">
            <a:avLst/>
          </a:prstGeom>
          <a:noFill/>
        </p:spPr>
        <p:txBody>
          <a:bodyPr wrap="square" rtlCol="0">
            <a:spAutoFit/>
          </a:bodyPr>
          <a:lstStyle/>
          <a:p>
            <a:pPr algn="ctr"/>
            <a:r>
              <a:rPr lang="zh-CN" altLang="en-US" sz="2000" b="1" dirty="0"/>
              <a:t>状态</a:t>
            </a:r>
          </a:p>
        </p:txBody>
      </p:sp>
      <p:cxnSp>
        <p:nvCxnSpPr>
          <p:cNvPr id="32" name="直接箭头连接符 31"/>
          <p:cNvCxnSpPr/>
          <p:nvPr/>
        </p:nvCxnSpPr>
        <p:spPr>
          <a:xfrm flipV="1">
            <a:off x="3678158" y="2143341"/>
            <a:ext cx="1038616" cy="5883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3678158" y="988583"/>
            <a:ext cx="1064255" cy="638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5102637" y="375600"/>
            <a:ext cx="9625" cy="977785"/>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2755310" y="318857"/>
            <a:ext cx="2342528" cy="10736"/>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2755310" y="329593"/>
            <a:ext cx="0" cy="347723"/>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4253024" y="2723020"/>
            <a:ext cx="2800060" cy="92549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4699512" y="4013681"/>
            <a:ext cx="2213809" cy="113768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4383269" y="2706426"/>
            <a:ext cx="2810167" cy="707886"/>
          </a:xfrm>
          <a:prstGeom prst="rect">
            <a:avLst/>
          </a:prstGeom>
          <a:noFill/>
        </p:spPr>
        <p:txBody>
          <a:bodyPr wrap="square" rtlCol="0">
            <a:spAutoFit/>
          </a:bodyPr>
          <a:lstStyle/>
          <a:p>
            <a:pPr algn="ctr"/>
            <a:r>
              <a:rPr lang="zh-CN" altLang="en-US" sz="2000" b="1" dirty="0"/>
              <a:t>如果采用某行动，世界会怎样？</a:t>
            </a:r>
          </a:p>
        </p:txBody>
      </p:sp>
      <p:cxnSp>
        <p:nvCxnSpPr>
          <p:cNvPr id="47" name="直接箭头连接符 46"/>
          <p:cNvCxnSpPr>
            <a:endCxn id="37" idx="1"/>
          </p:cNvCxnSpPr>
          <p:nvPr/>
        </p:nvCxnSpPr>
        <p:spPr>
          <a:xfrm>
            <a:off x="3667454" y="1901852"/>
            <a:ext cx="585570" cy="128391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flipH="1">
            <a:off x="5840775" y="3648108"/>
            <a:ext cx="5572" cy="2655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8395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2.4.5 </a:t>
            </a:r>
            <a:r>
              <a:rPr lang="zh-CN" altLang="en-US" b="1" dirty="0">
                <a:latin typeface="Times New Roman" panose="02020603050405020304" pitchFamily="18" charset="0"/>
                <a:cs typeface="Times New Roman" panose="02020603050405020304" pitchFamily="18" charset="0"/>
              </a:rPr>
              <a:t>基于效用的</a:t>
            </a:r>
            <a:r>
              <a:rPr lang="en-US" altLang="zh-CN" b="1" dirty="0">
                <a:latin typeface="Times New Roman" panose="02020603050405020304" pitchFamily="18" charset="0"/>
                <a:cs typeface="Times New Roman" panose="02020603050405020304" pitchFamily="18" charset="0"/>
              </a:rPr>
              <a:t>Agent</a:t>
            </a:r>
            <a:endParaRPr lang="zh-CN" altLang="en-US" dirty="0"/>
          </a:p>
        </p:txBody>
      </p:sp>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单靠</a:t>
            </a:r>
            <a:r>
              <a:rPr lang="zh-CN" altLang="en-US" b="1" dirty="0">
                <a:solidFill>
                  <a:srgbClr val="002060"/>
                </a:solidFill>
                <a:latin typeface="Times New Roman" panose="02020603050405020304" pitchFamily="18" charset="0"/>
                <a:cs typeface="Times New Roman" panose="02020603050405020304" pitchFamily="18" charset="0"/>
              </a:rPr>
              <a:t>目标</a:t>
            </a:r>
            <a:r>
              <a:rPr lang="zh-CN" altLang="en-US" b="1" dirty="0">
                <a:latin typeface="Times New Roman" panose="02020603050405020304" pitchFamily="18" charset="0"/>
                <a:cs typeface="Times New Roman" panose="02020603050405020304" pitchFamily="18" charset="0"/>
              </a:rPr>
              <a:t>难以在多数环境中产生好的行为。例如：有很多路线可以令出租车到达目的地。但是有的</a:t>
            </a:r>
            <a:r>
              <a:rPr lang="zh-CN" altLang="en-US" b="1" dirty="0">
                <a:solidFill>
                  <a:srgbClr val="002060"/>
                </a:solidFill>
                <a:latin typeface="Times New Roman" panose="02020603050405020304" pitchFamily="18" charset="0"/>
                <a:cs typeface="Times New Roman" panose="02020603050405020304" pitchFamily="18" charset="0"/>
              </a:rPr>
              <a:t>更快、更安全、更可靠、或者更便宜</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如果一个世界状态比另一个更受</a:t>
            </a:r>
            <a:r>
              <a:rPr lang="zh-CN" altLang="en-US" b="1" dirty="0">
                <a:solidFill>
                  <a:srgbClr val="002060"/>
                </a:solidFill>
                <a:latin typeface="Times New Roman" panose="02020603050405020304" pitchFamily="18" charset="0"/>
                <a:cs typeface="Times New Roman" panose="02020603050405020304" pitchFamily="18" charset="0"/>
              </a:rPr>
              <a:t>偏好</a:t>
            </a:r>
            <a:r>
              <a:rPr lang="zh-CN" altLang="en-US" b="1" dirty="0">
                <a:latin typeface="Times New Roman" panose="02020603050405020304" pitchFamily="18" charset="0"/>
                <a:cs typeface="Times New Roman" panose="02020603050405020304" pitchFamily="18" charset="0"/>
              </a:rPr>
              <a:t>，则对</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来说有更高的</a:t>
            </a:r>
            <a:r>
              <a:rPr lang="zh-CN" altLang="en-US" b="1" dirty="0">
                <a:solidFill>
                  <a:srgbClr val="002060"/>
                </a:solidFill>
                <a:latin typeface="Times New Roman" panose="02020603050405020304" pitchFamily="18" charset="0"/>
                <a:cs typeface="Times New Roman" panose="02020603050405020304" pitchFamily="18" charset="0"/>
              </a:rPr>
              <a:t>效用（</a:t>
            </a:r>
            <a:r>
              <a:rPr lang="en-US" altLang="zh-CN" b="1" dirty="0">
                <a:solidFill>
                  <a:srgbClr val="002060"/>
                </a:solidFill>
                <a:latin typeface="Times New Roman" panose="02020603050405020304" pitchFamily="18" charset="0"/>
                <a:cs typeface="Times New Roman" panose="02020603050405020304" pitchFamily="18" charset="0"/>
              </a:rPr>
              <a:t>utility</a:t>
            </a:r>
            <a:r>
              <a:rPr lang="zh-CN" altLang="en-US" b="1" dirty="0">
                <a:solidFill>
                  <a:srgbClr val="002060"/>
                </a:solidFill>
                <a:latin typeface="Times New Roman" panose="02020603050405020304" pitchFamily="18" charset="0"/>
                <a:cs typeface="Times New Roman" panose="02020603050405020304" pitchFamily="18" charset="0"/>
              </a:rPr>
              <a:t>）</a:t>
            </a:r>
            <a:endParaRPr lang="en-US" altLang="zh-CN" b="1" dirty="0">
              <a:solidFill>
                <a:srgbClr val="002060"/>
              </a:solidFill>
              <a:latin typeface="Times New Roman" panose="02020603050405020304" pitchFamily="18" charset="0"/>
              <a:cs typeface="Times New Roman" panose="02020603050405020304" pitchFamily="18" charset="0"/>
            </a:endParaRPr>
          </a:p>
          <a:p>
            <a:endParaRPr lang="zh-CN"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71215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2.4.5 </a:t>
            </a:r>
            <a:r>
              <a:rPr lang="zh-CN" altLang="en-US" b="1" dirty="0">
                <a:latin typeface="Times New Roman" panose="02020603050405020304" pitchFamily="18" charset="0"/>
                <a:cs typeface="Times New Roman" panose="02020603050405020304" pitchFamily="18" charset="0"/>
              </a:rPr>
              <a:t>基于效用的</a:t>
            </a:r>
            <a:r>
              <a:rPr lang="en-US" altLang="zh-CN" b="1" dirty="0">
                <a:latin typeface="Times New Roman" panose="02020603050405020304" pitchFamily="18" charset="0"/>
                <a:cs typeface="Times New Roman" panose="02020603050405020304" pitchFamily="18" charset="0"/>
              </a:rPr>
              <a:t>Agent</a:t>
            </a:r>
            <a:endParaRPr lang="zh-CN" altLang="en-US" dirty="0"/>
          </a:p>
        </p:txBody>
      </p:sp>
      <p:sp>
        <p:nvSpPr>
          <p:cNvPr id="3" name="内容占位符 2"/>
          <p:cNvSpPr>
            <a:spLocks noGrp="1"/>
          </p:cNvSpPr>
          <p:nvPr>
            <p:ph idx="1"/>
          </p:nvPr>
        </p:nvSpPr>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效用函数把状态、或状态序列映射到实数。</a:t>
            </a:r>
            <a:r>
              <a:rPr lang="zh-CN" altLang="en-US" b="1" dirty="0">
                <a:latin typeface="Times New Roman" panose="02020603050405020304" pitchFamily="18" charset="0"/>
                <a:cs typeface="Times New Roman" panose="02020603050405020304" pitchFamily="18" charset="0"/>
              </a:rPr>
              <a:t>该实数描述了</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与状态相关的偏好程度。完整的效用函数在目标不充分的情况下有助于理性决策：</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a:t>
            </a:r>
            <a:r>
              <a:rPr lang="en-US" altLang="zh-CN" b="1" dirty="0">
                <a:solidFill>
                  <a:srgbClr val="002060"/>
                </a:solidFill>
                <a:latin typeface="Times New Roman" panose="02020603050405020304" pitchFamily="18" charset="0"/>
                <a:cs typeface="Times New Roman" panose="02020603050405020304" pitchFamily="18" charset="0"/>
              </a:rPr>
              <a:t>1</a:t>
            </a:r>
            <a:r>
              <a:rPr lang="zh-CN" altLang="en-US" b="1" dirty="0">
                <a:solidFill>
                  <a:srgbClr val="002060"/>
                </a:solidFill>
                <a:latin typeface="Times New Roman" panose="02020603050405020304" pitchFamily="18" charset="0"/>
                <a:cs typeface="Times New Roman" panose="02020603050405020304" pitchFamily="18" charset="0"/>
              </a:rPr>
              <a:t>）当有多个互相冲突的目标，当只有其中一部分可达时，例如速度、安全性，效用函数可以进行适当折中。</a:t>
            </a:r>
            <a:endParaRPr lang="en-US" altLang="zh-CN" b="1" dirty="0">
              <a:solidFill>
                <a:srgbClr val="002060"/>
              </a:solidFill>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a:t>
            </a:r>
            <a:r>
              <a:rPr lang="en-US" altLang="zh-CN" b="1" dirty="0">
                <a:solidFill>
                  <a:srgbClr val="002060"/>
                </a:solidFill>
                <a:latin typeface="Times New Roman" panose="02020603050405020304" pitchFamily="18" charset="0"/>
                <a:cs typeface="Times New Roman" panose="02020603050405020304" pitchFamily="18" charset="0"/>
              </a:rPr>
              <a:t>2</a:t>
            </a:r>
            <a:r>
              <a:rPr lang="zh-CN" altLang="en-US" b="1" dirty="0">
                <a:solidFill>
                  <a:srgbClr val="002060"/>
                </a:solidFill>
                <a:latin typeface="Times New Roman" panose="02020603050405020304" pitchFamily="18" charset="0"/>
                <a:cs typeface="Times New Roman" panose="02020603050405020304" pitchFamily="18" charset="0"/>
              </a:rPr>
              <a:t>）当有多个目标，而没有一个有把握到达时，效用函数提供了一种根据目标的重要性对成功的似然率加权的方式。</a:t>
            </a:r>
          </a:p>
        </p:txBody>
      </p:sp>
    </p:spTree>
    <p:extLst>
      <p:ext uri="{BB962C8B-B14F-4D97-AF65-F5344CB8AC3E}">
        <p14:creationId xmlns:p14="http://schemas.microsoft.com/office/powerpoint/2010/main" val="2803730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2.4.5 </a:t>
            </a:r>
            <a:r>
              <a:rPr lang="zh-CN" altLang="en-US" b="1" dirty="0">
                <a:latin typeface="Times New Roman" panose="02020603050405020304" pitchFamily="18" charset="0"/>
                <a:cs typeface="Times New Roman" panose="02020603050405020304" pitchFamily="18" charset="0"/>
              </a:rPr>
              <a:t>基于效用的</a:t>
            </a:r>
            <a:r>
              <a:rPr lang="en-US" altLang="zh-CN" b="1" dirty="0">
                <a:latin typeface="Times New Roman" panose="02020603050405020304" pitchFamily="18" charset="0"/>
                <a:cs typeface="Times New Roman" panose="02020603050405020304" pitchFamily="18" charset="0"/>
              </a:rPr>
              <a:t>Agent</a:t>
            </a:r>
            <a:endParaRPr lang="zh-CN" altLang="en-US" dirty="0"/>
          </a:p>
        </p:txBody>
      </p:sp>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第十六章展示理性的</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，表现得如同有一个效用函数，并试图使其期望值最大化。</a:t>
            </a:r>
            <a:r>
              <a:rPr lang="zh-CN" altLang="en-US" b="1" dirty="0">
                <a:solidFill>
                  <a:srgbClr val="002060"/>
                </a:solidFill>
                <a:latin typeface="Times New Roman" panose="02020603050405020304" pitchFamily="18" charset="0"/>
                <a:cs typeface="Times New Roman" panose="02020603050405020304" pitchFamily="18" charset="0"/>
              </a:rPr>
              <a:t>拥有显式的效用函数的</a:t>
            </a:r>
            <a:r>
              <a:rPr lang="en-US" altLang="zh-CN" b="1" dirty="0">
                <a:solidFill>
                  <a:srgbClr val="002060"/>
                </a:solidFill>
                <a:latin typeface="Times New Roman" panose="02020603050405020304" pitchFamily="18" charset="0"/>
                <a:cs typeface="Times New Roman" panose="02020603050405020304" pitchFamily="18" charset="0"/>
              </a:rPr>
              <a:t>Agent</a:t>
            </a:r>
            <a:r>
              <a:rPr lang="zh-CN" altLang="en-US" b="1" dirty="0">
                <a:solidFill>
                  <a:srgbClr val="002060"/>
                </a:solidFill>
                <a:latin typeface="Times New Roman" panose="02020603050405020304" pitchFamily="18" charset="0"/>
                <a:cs typeface="Times New Roman" panose="02020603050405020304" pitchFamily="18" charset="0"/>
              </a:rPr>
              <a:t>因此可以做出理性决策</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基于效用的</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如图</a:t>
            </a:r>
            <a:r>
              <a:rPr lang="en-US" altLang="zh-CN" b="1" dirty="0">
                <a:latin typeface="Times New Roman" panose="02020603050405020304" pitchFamily="18" charset="0"/>
                <a:cs typeface="Times New Roman" panose="02020603050405020304" pitchFamily="18" charset="0"/>
              </a:rPr>
              <a:t>2.14</a:t>
            </a:r>
            <a:r>
              <a:rPr lang="zh-CN" altLang="en-US" b="1" dirty="0">
                <a:latin typeface="Times New Roman" panose="02020603050405020304" pitchFamily="18" charset="0"/>
                <a:cs typeface="Times New Roman" panose="02020603050405020304" pitchFamily="18" charset="0"/>
              </a:rPr>
              <a:t>所示。最佳期望效用是通过计算所有可能结果状态的加权平均值得到，其权值由结果的概率确定。</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zh-CN" altLang="en-US" b="1" dirty="0">
                <a:solidFill>
                  <a:srgbClr val="C00000"/>
                </a:solidFill>
                <a:latin typeface="Times New Roman" panose="02020603050405020304" pitchFamily="18" charset="0"/>
                <a:cs typeface="Times New Roman" panose="02020603050405020304" pitchFamily="18" charset="0"/>
              </a:rPr>
              <a:t>评价：机场选址、雄安新区、高铁路线等决策，属于基于效用</a:t>
            </a:r>
            <a:r>
              <a:rPr lang="en-US" altLang="zh-CN" b="1" dirty="0">
                <a:solidFill>
                  <a:srgbClr val="C00000"/>
                </a:solidFill>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26886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97569" y="6031974"/>
            <a:ext cx="10515600" cy="680035"/>
          </a:xfrm>
        </p:spPr>
        <p:txBody>
          <a:bodyPr>
            <a:normAutofit/>
          </a:bodyPr>
          <a:lstStyle/>
          <a:p>
            <a:pPr algn="ctr"/>
            <a:r>
              <a:rPr lang="zh-CN" altLang="en-US" sz="2000" b="1" dirty="0">
                <a:latin typeface="Times New Roman" panose="02020603050405020304" pitchFamily="18" charset="0"/>
                <a:cs typeface="Times New Roman" panose="02020603050405020304" pitchFamily="18" charset="0"/>
              </a:rPr>
              <a:t>图</a:t>
            </a:r>
            <a:r>
              <a:rPr lang="en-US" altLang="zh-CN" sz="2000" b="1" dirty="0">
                <a:latin typeface="Times New Roman" panose="02020603050405020304" pitchFamily="18" charset="0"/>
                <a:cs typeface="Times New Roman" panose="02020603050405020304" pitchFamily="18" charset="0"/>
              </a:rPr>
              <a:t>2.14 </a:t>
            </a:r>
            <a:r>
              <a:rPr lang="zh-CN" altLang="en-US" sz="2000" dirty="0">
                <a:latin typeface="Times New Roman" panose="02020603050405020304" pitchFamily="18" charset="0"/>
                <a:cs typeface="Times New Roman" panose="02020603050405020304" pitchFamily="18" charset="0"/>
              </a:rPr>
              <a:t>基于模型和效用的</a:t>
            </a:r>
            <a:r>
              <a:rPr lang="en-US" altLang="zh-CN" sz="2000" dirty="0">
                <a:latin typeface="Times New Roman" panose="02020603050405020304" pitchFamily="18" charset="0"/>
                <a:cs typeface="Times New Roman" panose="02020603050405020304" pitchFamily="18" charset="0"/>
              </a:rPr>
              <a:t>Agent</a:t>
            </a:r>
            <a:r>
              <a:rPr lang="zh-CN" altLang="en-US" sz="2000" dirty="0">
                <a:latin typeface="Times New Roman" panose="02020603050405020304" pitchFamily="18" charset="0"/>
                <a:cs typeface="Times New Roman" panose="02020603050405020304" pitchFamily="18" charset="0"/>
              </a:rPr>
              <a:t>。它使用模型、及效用函数，选择导致最佳期望效用的动作</a:t>
            </a:r>
          </a:p>
        </p:txBody>
      </p:sp>
      <p:sp>
        <p:nvSpPr>
          <p:cNvPr id="5" name="流程图: 可选过程 4"/>
          <p:cNvSpPr/>
          <p:nvPr/>
        </p:nvSpPr>
        <p:spPr>
          <a:xfrm>
            <a:off x="597569" y="106327"/>
            <a:ext cx="7990669" cy="5822836"/>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流程图: 可选过程 5"/>
          <p:cNvSpPr/>
          <p:nvPr/>
        </p:nvSpPr>
        <p:spPr>
          <a:xfrm>
            <a:off x="9870594" y="106327"/>
            <a:ext cx="1670431" cy="5822835"/>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729766" y="1353385"/>
            <a:ext cx="3616792" cy="58759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p:cNvCxnSpPr/>
          <p:nvPr/>
        </p:nvCxnSpPr>
        <p:spPr>
          <a:xfrm flipH="1">
            <a:off x="8114507" y="446412"/>
            <a:ext cx="1889554" cy="1118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5852337" y="796771"/>
            <a:ext cx="1" cy="5859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5849577" y="5147337"/>
            <a:ext cx="5572" cy="2655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8155172" y="5631793"/>
            <a:ext cx="1970031" cy="216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913864" y="5222750"/>
            <a:ext cx="1403498" cy="400110"/>
          </a:xfrm>
          <a:prstGeom prst="rect">
            <a:avLst/>
          </a:prstGeom>
          <a:noFill/>
        </p:spPr>
        <p:txBody>
          <a:bodyPr wrap="square" rtlCol="0">
            <a:spAutoFit/>
          </a:bodyPr>
          <a:lstStyle/>
          <a:p>
            <a:pPr algn="ctr"/>
            <a:r>
              <a:rPr lang="en-US" altLang="zh-CN" sz="2000" b="1" dirty="0">
                <a:latin typeface="Times New Roman" panose="02020603050405020304" pitchFamily="18" charset="0"/>
                <a:cs typeface="Times New Roman" panose="02020603050405020304" pitchFamily="18" charset="0"/>
              </a:rPr>
              <a:t>Agent</a:t>
            </a:r>
            <a:endParaRPr lang="zh-CN" altLang="en-US" sz="2000" b="1" dirty="0">
              <a:latin typeface="Times New Roman" panose="02020603050405020304" pitchFamily="18" charset="0"/>
              <a:cs typeface="Times New Roman" panose="02020603050405020304" pitchFamily="18" charset="0"/>
            </a:endParaRPr>
          </a:p>
        </p:txBody>
      </p:sp>
      <p:sp>
        <p:nvSpPr>
          <p:cNvPr id="13" name="文本框 12"/>
          <p:cNvSpPr txBox="1"/>
          <p:nvPr/>
        </p:nvSpPr>
        <p:spPr>
          <a:xfrm>
            <a:off x="10004060" y="2651040"/>
            <a:ext cx="1403498" cy="400110"/>
          </a:xfrm>
          <a:prstGeom prst="rect">
            <a:avLst/>
          </a:prstGeom>
          <a:noFill/>
        </p:spPr>
        <p:txBody>
          <a:bodyPr wrap="square" rtlCol="0">
            <a:spAutoFit/>
          </a:bodyPr>
          <a:lstStyle/>
          <a:p>
            <a:pPr algn="ctr"/>
            <a:r>
              <a:rPr lang="zh-CN" altLang="en-US" sz="2000" b="1" dirty="0"/>
              <a:t>环境</a:t>
            </a:r>
          </a:p>
        </p:txBody>
      </p:sp>
      <p:sp>
        <p:nvSpPr>
          <p:cNvPr id="14" name="文本框 13"/>
          <p:cNvSpPr txBox="1"/>
          <p:nvPr/>
        </p:nvSpPr>
        <p:spPr>
          <a:xfrm>
            <a:off x="4816608" y="1404678"/>
            <a:ext cx="3529950" cy="400110"/>
          </a:xfrm>
          <a:prstGeom prst="rect">
            <a:avLst/>
          </a:prstGeom>
          <a:noFill/>
        </p:spPr>
        <p:txBody>
          <a:bodyPr wrap="square" rtlCol="0">
            <a:spAutoFit/>
          </a:bodyPr>
          <a:lstStyle/>
          <a:p>
            <a:pPr algn="ctr"/>
            <a:r>
              <a:rPr lang="zh-CN" altLang="en-US" sz="2000" b="1" dirty="0"/>
              <a:t>现在的世界是怎样的</a:t>
            </a:r>
          </a:p>
        </p:txBody>
      </p:sp>
      <p:sp>
        <p:nvSpPr>
          <p:cNvPr id="15" name="文本框 14"/>
          <p:cNvSpPr txBox="1"/>
          <p:nvPr/>
        </p:nvSpPr>
        <p:spPr>
          <a:xfrm>
            <a:off x="5267691" y="239748"/>
            <a:ext cx="1403498" cy="400110"/>
          </a:xfrm>
          <a:prstGeom prst="rect">
            <a:avLst/>
          </a:prstGeom>
          <a:noFill/>
        </p:spPr>
        <p:txBody>
          <a:bodyPr wrap="square" rtlCol="0">
            <a:spAutoFit/>
          </a:bodyPr>
          <a:lstStyle/>
          <a:p>
            <a:pPr algn="ctr"/>
            <a:r>
              <a:rPr lang="zh-CN" altLang="en-US" sz="2000" b="1" dirty="0"/>
              <a:t>传感器</a:t>
            </a:r>
          </a:p>
        </p:txBody>
      </p:sp>
      <p:sp>
        <p:nvSpPr>
          <p:cNvPr id="16" name="文本框 15"/>
          <p:cNvSpPr txBox="1"/>
          <p:nvPr/>
        </p:nvSpPr>
        <p:spPr>
          <a:xfrm>
            <a:off x="5144598" y="5321852"/>
            <a:ext cx="1403498" cy="400110"/>
          </a:xfrm>
          <a:prstGeom prst="rect">
            <a:avLst/>
          </a:prstGeom>
          <a:noFill/>
        </p:spPr>
        <p:txBody>
          <a:bodyPr wrap="square" rtlCol="0">
            <a:spAutoFit/>
          </a:bodyPr>
          <a:lstStyle/>
          <a:p>
            <a:pPr algn="ctr"/>
            <a:r>
              <a:rPr lang="zh-CN" altLang="en-US" sz="2000" b="1" dirty="0"/>
              <a:t>执行器</a:t>
            </a:r>
          </a:p>
        </p:txBody>
      </p:sp>
      <p:sp>
        <p:nvSpPr>
          <p:cNvPr id="17" name="文本框 16"/>
          <p:cNvSpPr txBox="1"/>
          <p:nvPr/>
        </p:nvSpPr>
        <p:spPr>
          <a:xfrm>
            <a:off x="8457000" y="487841"/>
            <a:ext cx="1403498" cy="400110"/>
          </a:xfrm>
          <a:prstGeom prst="rect">
            <a:avLst/>
          </a:prstGeom>
          <a:noFill/>
        </p:spPr>
        <p:txBody>
          <a:bodyPr wrap="square" rtlCol="0">
            <a:spAutoFit/>
          </a:bodyPr>
          <a:lstStyle/>
          <a:p>
            <a:pPr algn="ctr"/>
            <a:r>
              <a:rPr lang="zh-CN" altLang="en-US" sz="2000" b="1" dirty="0"/>
              <a:t>感知</a:t>
            </a:r>
          </a:p>
        </p:txBody>
      </p:sp>
      <p:sp>
        <p:nvSpPr>
          <p:cNvPr id="18" name="文本框 17"/>
          <p:cNvSpPr txBox="1"/>
          <p:nvPr/>
        </p:nvSpPr>
        <p:spPr>
          <a:xfrm>
            <a:off x="8513671" y="5147337"/>
            <a:ext cx="1403498" cy="400110"/>
          </a:xfrm>
          <a:prstGeom prst="rect">
            <a:avLst/>
          </a:prstGeom>
          <a:noFill/>
        </p:spPr>
        <p:txBody>
          <a:bodyPr wrap="square" rtlCol="0">
            <a:spAutoFit/>
          </a:bodyPr>
          <a:lstStyle/>
          <a:p>
            <a:pPr algn="ctr"/>
            <a:r>
              <a:rPr lang="zh-CN" altLang="en-US" sz="2000" b="1" dirty="0"/>
              <a:t>动作</a:t>
            </a:r>
          </a:p>
        </p:txBody>
      </p:sp>
      <p:cxnSp>
        <p:nvCxnSpPr>
          <p:cNvPr id="19" name="直接箭头连接符 18"/>
          <p:cNvCxnSpPr/>
          <p:nvPr/>
        </p:nvCxnSpPr>
        <p:spPr>
          <a:xfrm flipH="1">
            <a:off x="5846347" y="2001323"/>
            <a:ext cx="3741" cy="2771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4158898" y="4559200"/>
            <a:ext cx="4338083" cy="400110"/>
          </a:xfrm>
          <a:prstGeom prst="rect">
            <a:avLst/>
          </a:prstGeom>
          <a:noFill/>
        </p:spPr>
        <p:txBody>
          <a:bodyPr wrap="square" rtlCol="0">
            <a:spAutoFit/>
          </a:bodyPr>
          <a:lstStyle/>
          <a:p>
            <a:pPr algn="ctr"/>
            <a:r>
              <a:rPr lang="zh-CN" altLang="en-US" sz="2000" b="1" dirty="0"/>
              <a:t>现在应该采取什么动作</a:t>
            </a:r>
          </a:p>
        </p:txBody>
      </p:sp>
      <p:sp>
        <p:nvSpPr>
          <p:cNvPr id="21" name="流程图: 可选过程 20"/>
          <p:cNvSpPr/>
          <p:nvPr/>
        </p:nvSpPr>
        <p:spPr>
          <a:xfrm>
            <a:off x="1088930" y="3461146"/>
            <a:ext cx="2560696" cy="640257"/>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101335" y="3530048"/>
            <a:ext cx="2548291" cy="400110"/>
          </a:xfrm>
          <a:prstGeom prst="rect">
            <a:avLst/>
          </a:prstGeom>
          <a:noFill/>
        </p:spPr>
        <p:txBody>
          <a:bodyPr wrap="square" rtlCol="0">
            <a:spAutoFit/>
          </a:bodyPr>
          <a:lstStyle/>
          <a:p>
            <a:pPr algn="ctr"/>
            <a:r>
              <a:rPr lang="zh-CN" altLang="en-US" sz="2000" b="1" dirty="0"/>
              <a:t>效用</a:t>
            </a:r>
          </a:p>
        </p:txBody>
      </p:sp>
      <p:cxnSp>
        <p:nvCxnSpPr>
          <p:cNvPr id="23" name="直接箭头连接符 22"/>
          <p:cNvCxnSpPr/>
          <p:nvPr/>
        </p:nvCxnSpPr>
        <p:spPr>
          <a:xfrm>
            <a:off x="3675262" y="3810918"/>
            <a:ext cx="54529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流程图: 可选过程 23"/>
          <p:cNvSpPr/>
          <p:nvPr/>
        </p:nvSpPr>
        <p:spPr>
          <a:xfrm>
            <a:off x="1104470" y="1568236"/>
            <a:ext cx="2560696" cy="640257"/>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p:cNvCxnSpPr/>
          <p:nvPr/>
        </p:nvCxnSpPr>
        <p:spPr>
          <a:xfrm flipV="1">
            <a:off x="3649626" y="1800340"/>
            <a:ext cx="1051608" cy="31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091478" y="1620121"/>
            <a:ext cx="2548291" cy="400110"/>
          </a:xfrm>
          <a:prstGeom prst="rect">
            <a:avLst/>
          </a:prstGeom>
          <a:noFill/>
        </p:spPr>
        <p:txBody>
          <a:bodyPr wrap="square" rtlCol="0">
            <a:spAutoFit/>
          </a:bodyPr>
          <a:lstStyle/>
          <a:p>
            <a:pPr algn="ctr"/>
            <a:r>
              <a:rPr lang="zh-CN" altLang="en-US" sz="2000" b="1" dirty="0"/>
              <a:t>世界如何演变</a:t>
            </a:r>
          </a:p>
        </p:txBody>
      </p:sp>
      <p:sp>
        <p:nvSpPr>
          <p:cNvPr id="27" name="流程图: 可选过程 26"/>
          <p:cNvSpPr/>
          <p:nvPr/>
        </p:nvSpPr>
        <p:spPr>
          <a:xfrm>
            <a:off x="1104470" y="2418218"/>
            <a:ext cx="2560696" cy="640257"/>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1185202" y="2490353"/>
            <a:ext cx="2548291" cy="400110"/>
          </a:xfrm>
          <a:prstGeom prst="rect">
            <a:avLst/>
          </a:prstGeom>
          <a:noFill/>
        </p:spPr>
        <p:txBody>
          <a:bodyPr wrap="square" rtlCol="0">
            <a:spAutoFit/>
          </a:bodyPr>
          <a:lstStyle/>
          <a:p>
            <a:pPr algn="ctr"/>
            <a:r>
              <a:rPr lang="zh-CN" altLang="en-US" sz="2000" b="1" dirty="0"/>
              <a:t>我做过什么？</a:t>
            </a:r>
          </a:p>
        </p:txBody>
      </p:sp>
      <p:sp>
        <p:nvSpPr>
          <p:cNvPr id="29" name="流程图: 可选过程 28"/>
          <p:cNvSpPr/>
          <p:nvPr/>
        </p:nvSpPr>
        <p:spPr>
          <a:xfrm>
            <a:off x="1104470" y="677316"/>
            <a:ext cx="2560696" cy="640257"/>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1185202" y="749451"/>
            <a:ext cx="2548291" cy="400110"/>
          </a:xfrm>
          <a:prstGeom prst="rect">
            <a:avLst/>
          </a:prstGeom>
          <a:noFill/>
        </p:spPr>
        <p:txBody>
          <a:bodyPr wrap="square" rtlCol="0">
            <a:spAutoFit/>
          </a:bodyPr>
          <a:lstStyle/>
          <a:p>
            <a:pPr algn="ctr"/>
            <a:r>
              <a:rPr lang="zh-CN" altLang="en-US" sz="2000" b="1" dirty="0"/>
              <a:t>状态</a:t>
            </a:r>
          </a:p>
        </p:txBody>
      </p:sp>
      <p:cxnSp>
        <p:nvCxnSpPr>
          <p:cNvPr id="31" name="直接箭头连接符 30"/>
          <p:cNvCxnSpPr>
            <a:endCxn id="36" idx="1"/>
          </p:cNvCxnSpPr>
          <p:nvPr/>
        </p:nvCxnSpPr>
        <p:spPr>
          <a:xfrm flipV="1">
            <a:off x="3678158" y="2728739"/>
            <a:ext cx="1053334" cy="29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3678158" y="988583"/>
            <a:ext cx="1064255" cy="638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5102637" y="375600"/>
            <a:ext cx="9625" cy="977785"/>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2755310" y="318857"/>
            <a:ext cx="2342528" cy="10736"/>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2755310" y="329593"/>
            <a:ext cx="0" cy="347723"/>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4731492" y="2265992"/>
            <a:ext cx="3615066" cy="92549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4253025" y="3488603"/>
            <a:ext cx="4093533" cy="64746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4728663" y="2288871"/>
            <a:ext cx="3502726" cy="707886"/>
          </a:xfrm>
          <a:prstGeom prst="rect">
            <a:avLst/>
          </a:prstGeom>
          <a:noFill/>
        </p:spPr>
        <p:txBody>
          <a:bodyPr wrap="square" rtlCol="0">
            <a:spAutoFit/>
          </a:bodyPr>
          <a:lstStyle/>
          <a:p>
            <a:pPr algn="ctr"/>
            <a:r>
              <a:rPr lang="zh-CN" altLang="en-US" sz="2000" b="1" dirty="0"/>
              <a:t>如果采用某行动，世界会怎样？</a:t>
            </a:r>
          </a:p>
        </p:txBody>
      </p:sp>
      <p:cxnSp>
        <p:nvCxnSpPr>
          <p:cNvPr id="39" name="直接箭头连接符 38"/>
          <p:cNvCxnSpPr>
            <a:endCxn id="36" idx="1"/>
          </p:cNvCxnSpPr>
          <p:nvPr/>
        </p:nvCxnSpPr>
        <p:spPr>
          <a:xfrm>
            <a:off x="3655085" y="2070016"/>
            <a:ext cx="1076407" cy="65872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H="1">
            <a:off x="5852363" y="4234653"/>
            <a:ext cx="5572" cy="2655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4268023" y="4499875"/>
            <a:ext cx="4093533" cy="64746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 name="直接箭头连接符 47"/>
          <p:cNvCxnSpPr/>
          <p:nvPr/>
        </p:nvCxnSpPr>
        <p:spPr>
          <a:xfrm flipH="1">
            <a:off x="5839215" y="3190575"/>
            <a:ext cx="5572" cy="2655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4094434" y="3549308"/>
            <a:ext cx="4338083" cy="400110"/>
          </a:xfrm>
          <a:prstGeom prst="rect">
            <a:avLst/>
          </a:prstGeom>
          <a:noFill/>
        </p:spPr>
        <p:txBody>
          <a:bodyPr wrap="square" rtlCol="0">
            <a:spAutoFit/>
          </a:bodyPr>
          <a:lstStyle/>
          <a:p>
            <a:pPr algn="ctr"/>
            <a:r>
              <a:rPr lang="zh-CN" altLang="en-US" sz="2000" b="1" dirty="0"/>
              <a:t>我偏好这样的状态</a:t>
            </a:r>
          </a:p>
        </p:txBody>
      </p:sp>
      <p:cxnSp>
        <p:nvCxnSpPr>
          <p:cNvPr id="55" name="直接箭头连接符 54"/>
          <p:cNvCxnSpPr/>
          <p:nvPr/>
        </p:nvCxnSpPr>
        <p:spPr>
          <a:xfrm flipV="1">
            <a:off x="3666621" y="1858361"/>
            <a:ext cx="1075792" cy="745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37521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rPr>
              <a:t>2.4.5 </a:t>
            </a:r>
            <a:r>
              <a:rPr lang="zh-CN" altLang="en-US" b="1" dirty="0">
                <a:latin typeface="Times New Roman" panose="02020603050405020304" pitchFamily="18" charset="0"/>
                <a:cs typeface="Times New Roman" panose="02020603050405020304" pitchFamily="18" charset="0"/>
              </a:rPr>
              <a:t>学习</a:t>
            </a:r>
            <a:r>
              <a:rPr lang="en-US" altLang="zh-CN" b="1" dirty="0">
                <a:latin typeface="Times New Roman" panose="02020603050405020304" pitchFamily="18" charset="0"/>
                <a:cs typeface="Times New Roman" panose="02020603050405020304" pitchFamily="18" charset="0"/>
              </a:rPr>
              <a:t>Agent</a:t>
            </a:r>
            <a:endParaRPr lang="zh-CN" altLang="en-US" dirty="0"/>
          </a:p>
        </p:txBody>
      </p:sp>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学习</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可以被划分为四个概念上的组件。如图</a:t>
            </a:r>
            <a:r>
              <a:rPr lang="en-US" altLang="zh-CN" b="1" dirty="0">
                <a:latin typeface="Times New Roman" panose="02020603050405020304" pitchFamily="18" charset="0"/>
                <a:cs typeface="Times New Roman" panose="02020603050405020304" pitchFamily="18" charset="0"/>
              </a:rPr>
              <a:t>2.15</a:t>
            </a:r>
            <a:r>
              <a:rPr lang="zh-CN" altLang="en-US" b="1" dirty="0">
                <a:latin typeface="Times New Roman" panose="02020603050405020304" pitchFamily="18" charset="0"/>
                <a:cs typeface="Times New Roman" panose="02020603050405020304" pitchFamily="18" charset="0"/>
              </a:rPr>
              <a:t>所示（以下西洋跳棋的</a:t>
            </a:r>
            <a:r>
              <a:rPr lang="zh-CN" altLang="en-US" b="1" dirty="0">
                <a:solidFill>
                  <a:srgbClr val="002060"/>
                </a:solidFill>
                <a:latin typeface="Times New Roman" panose="02020603050405020304" pitchFamily="18" charset="0"/>
                <a:cs typeface="Times New Roman" panose="02020603050405020304" pitchFamily="18" charset="0"/>
              </a:rPr>
              <a:t>强化学习（</a:t>
            </a:r>
            <a:r>
              <a:rPr lang="en-US" altLang="zh-CN" b="1" dirty="0">
                <a:solidFill>
                  <a:srgbClr val="002060"/>
                </a:solidFill>
                <a:latin typeface="Times New Roman" panose="02020603050405020304" pitchFamily="18" charset="0"/>
                <a:cs typeface="Times New Roman" panose="02020603050405020304" pitchFamily="18" charset="0"/>
              </a:rPr>
              <a:t>Reinforcement Learning</a:t>
            </a:r>
            <a:r>
              <a:rPr lang="zh-CN" altLang="en-US" b="1" dirty="0">
                <a:solidFill>
                  <a:srgbClr val="002060"/>
                </a:solidFill>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为例）。其中：</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学习元件</a:t>
            </a:r>
            <a:r>
              <a:rPr lang="zh-CN" altLang="en-US" b="1" dirty="0">
                <a:latin typeface="Times New Roman" panose="02020603050405020304" pitchFamily="18" charset="0"/>
                <a:cs typeface="Times New Roman" panose="02020603050405020304" pitchFamily="18" charset="0"/>
              </a:rPr>
              <a:t>负责改进。而</a:t>
            </a:r>
            <a:r>
              <a:rPr lang="zh-CN" altLang="en-US" b="1" dirty="0">
                <a:solidFill>
                  <a:srgbClr val="002060"/>
                </a:solidFill>
                <a:latin typeface="Times New Roman" panose="02020603050405020304" pitchFamily="18" charset="0"/>
                <a:cs typeface="Times New Roman" panose="02020603050405020304" pitchFamily="18" charset="0"/>
              </a:rPr>
              <a:t>执行元件</a:t>
            </a:r>
            <a:r>
              <a:rPr lang="zh-CN" altLang="en-US" b="1" dirty="0">
                <a:latin typeface="Times New Roman" panose="02020603050405020304" pitchFamily="18" charset="0"/>
                <a:cs typeface="Times New Roman" panose="02020603050405020304" pitchFamily="18" charset="0"/>
              </a:rPr>
              <a:t>负责选择外部动作。</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学习元件利用来自</a:t>
            </a:r>
            <a:r>
              <a:rPr lang="zh-CN" altLang="en-US" b="1" dirty="0">
                <a:solidFill>
                  <a:srgbClr val="002060"/>
                </a:solidFill>
                <a:latin typeface="Times New Roman" panose="02020603050405020304" pitchFamily="18" charset="0"/>
                <a:cs typeface="Times New Roman" panose="02020603050405020304" pitchFamily="18" charset="0"/>
              </a:rPr>
              <a:t>评价元件</a:t>
            </a:r>
            <a:r>
              <a:rPr lang="zh-CN" altLang="en-US" b="1" dirty="0">
                <a:latin typeface="Times New Roman" panose="02020603050405020304" pitchFamily="18" charset="0"/>
                <a:cs typeface="Times New Roman" panose="02020603050405020304" pitchFamily="18" charset="0"/>
              </a:rPr>
              <a:t>的反馈，评价</a:t>
            </a:r>
            <a:r>
              <a:rPr lang="en-US" altLang="zh-CN" b="1" dirty="0">
                <a:latin typeface="Times New Roman" panose="02020603050405020304" pitchFamily="18" charset="0"/>
                <a:cs typeface="Times New Roman" panose="02020603050405020304" pitchFamily="18" charset="0"/>
              </a:rPr>
              <a:t>Agent</a:t>
            </a:r>
            <a:r>
              <a:rPr lang="zh-CN" altLang="en-US" b="1" dirty="0">
                <a:latin typeface="Times New Roman" panose="02020603050405020304" pitchFamily="18" charset="0"/>
                <a:cs typeface="Times New Roman" panose="02020603050405020304" pitchFamily="18" charset="0"/>
              </a:rPr>
              <a:t>做得如何，并决定应该如何修改执行元件以在未来做得更好。</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问题产生器</a:t>
            </a:r>
            <a:r>
              <a:rPr lang="zh-CN" altLang="en-US" b="1" dirty="0">
                <a:latin typeface="Times New Roman" panose="02020603050405020304" pitchFamily="18" charset="0"/>
                <a:cs typeface="Times New Roman" panose="02020603050405020304" pitchFamily="18" charset="0"/>
              </a:rPr>
              <a:t>负责提议可以产生新的、有启发式价值的经验的动作。</a:t>
            </a:r>
            <a:endParaRPr lang="en-US" altLang="zh-CN" b="1" dirty="0">
              <a:latin typeface="Times New Roman" panose="02020603050405020304" pitchFamily="18" charset="0"/>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1882661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97569" y="6031974"/>
            <a:ext cx="10515600" cy="680035"/>
          </a:xfrm>
        </p:spPr>
        <p:txBody>
          <a:bodyPr>
            <a:normAutofit/>
          </a:bodyPr>
          <a:lstStyle/>
          <a:p>
            <a:pPr algn="ctr"/>
            <a:r>
              <a:rPr lang="zh-CN" altLang="en-US" sz="2000" b="1" dirty="0">
                <a:latin typeface="Times New Roman" panose="02020603050405020304" pitchFamily="18" charset="0"/>
                <a:cs typeface="Times New Roman" panose="02020603050405020304" pitchFamily="18" charset="0"/>
              </a:rPr>
              <a:t>图</a:t>
            </a:r>
            <a:r>
              <a:rPr lang="en-US" altLang="zh-CN" sz="2000" b="1" dirty="0">
                <a:latin typeface="Times New Roman" panose="02020603050405020304" pitchFamily="18" charset="0"/>
                <a:cs typeface="Times New Roman" panose="02020603050405020304" pitchFamily="18" charset="0"/>
              </a:rPr>
              <a:t>2.15 </a:t>
            </a:r>
            <a:r>
              <a:rPr lang="zh-CN" altLang="en-US" sz="2000" dirty="0">
                <a:latin typeface="Times New Roman" panose="02020603050405020304" pitchFamily="18" charset="0"/>
                <a:cs typeface="Times New Roman" panose="02020603050405020304" pitchFamily="18" charset="0"/>
              </a:rPr>
              <a:t>学习</a:t>
            </a:r>
            <a:r>
              <a:rPr lang="en-US" altLang="zh-CN" sz="2000" dirty="0">
                <a:latin typeface="Times New Roman" panose="02020603050405020304" pitchFamily="18" charset="0"/>
                <a:cs typeface="Times New Roman" panose="02020603050405020304" pitchFamily="18" charset="0"/>
              </a:rPr>
              <a:t>Agent</a:t>
            </a:r>
            <a:r>
              <a:rPr lang="zh-CN" altLang="en-US" sz="2000" dirty="0">
                <a:latin typeface="Times New Roman" panose="02020603050405020304" pitchFamily="18" charset="0"/>
                <a:cs typeface="Times New Roman" panose="02020603050405020304" pitchFamily="18" charset="0"/>
              </a:rPr>
              <a:t>的一般模型</a:t>
            </a:r>
          </a:p>
        </p:txBody>
      </p:sp>
      <p:sp>
        <p:nvSpPr>
          <p:cNvPr id="5" name="流程图: 可选过程 4"/>
          <p:cNvSpPr/>
          <p:nvPr/>
        </p:nvSpPr>
        <p:spPr>
          <a:xfrm>
            <a:off x="597569" y="106327"/>
            <a:ext cx="7383471" cy="5822836"/>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流程图: 可选过程 5"/>
          <p:cNvSpPr/>
          <p:nvPr/>
        </p:nvSpPr>
        <p:spPr>
          <a:xfrm>
            <a:off x="9678818" y="106327"/>
            <a:ext cx="1862207" cy="5822835"/>
          </a:xfrm>
          <a:prstGeom prst="flowChartAlternateProcess">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p:cNvCxnSpPr/>
          <p:nvPr/>
        </p:nvCxnSpPr>
        <p:spPr>
          <a:xfrm flipH="1">
            <a:off x="7485321" y="446412"/>
            <a:ext cx="2518740" cy="3583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a:off x="5849577" y="1110499"/>
            <a:ext cx="4166" cy="13010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5849577" y="3198385"/>
            <a:ext cx="4166" cy="22145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7602279" y="5571460"/>
            <a:ext cx="2530549" cy="212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1168391" y="5267620"/>
            <a:ext cx="1403498" cy="400110"/>
          </a:xfrm>
          <a:prstGeom prst="rect">
            <a:avLst/>
          </a:prstGeom>
          <a:noFill/>
        </p:spPr>
        <p:txBody>
          <a:bodyPr wrap="square" rtlCol="0">
            <a:spAutoFit/>
          </a:bodyPr>
          <a:lstStyle/>
          <a:p>
            <a:pPr algn="ctr"/>
            <a:r>
              <a:rPr lang="en-US" altLang="zh-CN" sz="2000" b="1" dirty="0">
                <a:latin typeface="Times New Roman" panose="02020603050405020304" pitchFamily="18" charset="0"/>
                <a:cs typeface="Times New Roman" panose="02020603050405020304" pitchFamily="18" charset="0"/>
              </a:rPr>
              <a:t>Agent</a:t>
            </a:r>
            <a:endParaRPr lang="zh-CN" altLang="en-US" sz="2000" b="1" dirty="0">
              <a:latin typeface="Times New Roman" panose="02020603050405020304" pitchFamily="18" charset="0"/>
              <a:cs typeface="Times New Roman" panose="02020603050405020304" pitchFamily="18" charset="0"/>
            </a:endParaRPr>
          </a:p>
        </p:txBody>
      </p:sp>
      <p:sp>
        <p:nvSpPr>
          <p:cNvPr id="13" name="文本框 12"/>
          <p:cNvSpPr txBox="1"/>
          <p:nvPr/>
        </p:nvSpPr>
        <p:spPr>
          <a:xfrm>
            <a:off x="10004060" y="2651040"/>
            <a:ext cx="1403498" cy="400110"/>
          </a:xfrm>
          <a:prstGeom prst="rect">
            <a:avLst/>
          </a:prstGeom>
          <a:noFill/>
        </p:spPr>
        <p:txBody>
          <a:bodyPr wrap="square" rtlCol="0">
            <a:spAutoFit/>
          </a:bodyPr>
          <a:lstStyle/>
          <a:p>
            <a:pPr algn="ctr"/>
            <a:r>
              <a:rPr lang="zh-CN" altLang="en-US" sz="2000" b="1" dirty="0"/>
              <a:t>环境</a:t>
            </a:r>
          </a:p>
        </p:txBody>
      </p:sp>
      <p:sp>
        <p:nvSpPr>
          <p:cNvPr id="15" name="文本框 14"/>
          <p:cNvSpPr txBox="1"/>
          <p:nvPr/>
        </p:nvSpPr>
        <p:spPr>
          <a:xfrm>
            <a:off x="5323020" y="529480"/>
            <a:ext cx="1403498" cy="400110"/>
          </a:xfrm>
          <a:prstGeom prst="rect">
            <a:avLst/>
          </a:prstGeom>
          <a:noFill/>
        </p:spPr>
        <p:txBody>
          <a:bodyPr wrap="square" rtlCol="0">
            <a:spAutoFit/>
          </a:bodyPr>
          <a:lstStyle/>
          <a:p>
            <a:pPr algn="ctr"/>
            <a:r>
              <a:rPr lang="zh-CN" altLang="en-US" sz="2000" b="1" dirty="0"/>
              <a:t>传感器</a:t>
            </a:r>
          </a:p>
        </p:txBody>
      </p:sp>
      <p:sp>
        <p:nvSpPr>
          <p:cNvPr id="16" name="文本框 15"/>
          <p:cNvSpPr txBox="1"/>
          <p:nvPr/>
        </p:nvSpPr>
        <p:spPr>
          <a:xfrm>
            <a:off x="5144598" y="5321852"/>
            <a:ext cx="1403498" cy="400110"/>
          </a:xfrm>
          <a:prstGeom prst="rect">
            <a:avLst/>
          </a:prstGeom>
          <a:noFill/>
        </p:spPr>
        <p:txBody>
          <a:bodyPr wrap="square" rtlCol="0">
            <a:spAutoFit/>
          </a:bodyPr>
          <a:lstStyle/>
          <a:p>
            <a:pPr algn="ctr"/>
            <a:r>
              <a:rPr lang="zh-CN" altLang="en-US" sz="2000" b="1" dirty="0"/>
              <a:t>执行器</a:t>
            </a:r>
          </a:p>
        </p:txBody>
      </p:sp>
      <p:sp>
        <p:nvSpPr>
          <p:cNvPr id="17" name="文本框 16"/>
          <p:cNvSpPr txBox="1"/>
          <p:nvPr/>
        </p:nvSpPr>
        <p:spPr>
          <a:xfrm>
            <a:off x="8181041" y="464330"/>
            <a:ext cx="1403498" cy="400110"/>
          </a:xfrm>
          <a:prstGeom prst="rect">
            <a:avLst/>
          </a:prstGeom>
          <a:noFill/>
        </p:spPr>
        <p:txBody>
          <a:bodyPr wrap="square" rtlCol="0">
            <a:spAutoFit/>
          </a:bodyPr>
          <a:lstStyle/>
          <a:p>
            <a:pPr algn="ctr"/>
            <a:r>
              <a:rPr lang="zh-CN" altLang="en-US" sz="2000" b="1" dirty="0"/>
              <a:t>感知</a:t>
            </a:r>
          </a:p>
        </p:txBody>
      </p:sp>
      <p:sp>
        <p:nvSpPr>
          <p:cNvPr id="18" name="文本框 17"/>
          <p:cNvSpPr txBox="1"/>
          <p:nvPr/>
        </p:nvSpPr>
        <p:spPr>
          <a:xfrm>
            <a:off x="8075319" y="5004448"/>
            <a:ext cx="1403498" cy="400110"/>
          </a:xfrm>
          <a:prstGeom prst="rect">
            <a:avLst/>
          </a:prstGeom>
          <a:noFill/>
        </p:spPr>
        <p:txBody>
          <a:bodyPr wrap="square" rtlCol="0">
            <a:spAutoFit/>
          </a:bodyPr>
          <a:lstStyle/>
          <a:p>
            <a:pPr algn="ctr"/>
            <a:r>
              <a:rPr lang="zh-CN" altLang="en-US" sz="2000" b="1" dirty="0"/>
              <a:t>动作</a:t>
            </a:r>
          </a:p>
        </p:txBody>
      </p:sp>
      <p:sp>
        <p:nvSpPr>
          <p:cNvPr id="22" name="文本框 21"/>
          <p:cNvSpPr txBox="1"/>
          <p:nvPr/>
        </p:nvSpPr>
        <p:spPr>
          <a:xfrm>
            <a:off x="1237620" y="4382237"/>
            <a:ext cx="2548291" cy="400110"/>
          </a:xfrm>
          <a:prstGeom prst="rect">
            <a:avLst/>
          </a:prstGeom>
          <a:noFill/>
        </p:spPr>
        <p:txBody>
          <a:bodyPr wrap="square" rtlCol="0">
            <a:spAutoFit/>
          </a:bodyPr>
          <a:lstStyle/>
          <a:p>
            <a:pPr algn="ctr"/>
            <a:r>
              <a:rPr lang="zh-CN" altLang="en-US" sz="2000" b="1" dirty="0"/>
              <a:t>问题产生器</a:t>
            </a:r>
          </a:p>
        </p:txBody>
      </p:sp>
      <p:cxnSp>
        <p:nvCxnSpPr>
          <p:cNvPr id="25" name="直接箭头连接符 24"/>
          <p:cNvCxnSpPr/>
          <p:nvPr/>
        </p:nvCxnSpPr>
        <p:spPr>
          <a:xfrm>
            <a:off x="2511765" y="3174260"/>
            <a:ext cx="0" cy="11199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3632046" y="1924326"/>
            <a:ext cx="939341" cy="400110"/>
          </a:xfrm>
          <a:prstGeom prst="rect">
            <a:avLst/>
          </a:prstGeom>
          <a:noFill/>
        </p:spPr>
        <p:txBody>
          <a:bodyPr wrap="square" rtlCol="0">
            <a:spAutoFit/>
          </a:bodyPr>
          <a:lstStyle/>
          <a:p>
            <a:pPr algn="ctr"/>
            <a:r>
              <a:rPr lang="zh-CN" altLang="en-US" sz="2000" b="1" dirty="0"/>
              <a:t>反馈</a:t>
            </a:r>
          </a:p>
        </p:txBody>
      </p:sp>
      <p:sp>
        <p:nvSpPr>
          <p:cNvPr id="28" name="文本框 27"/>
          <p:cNvSpPr txBox="1"/>
          <p:nvPr/>
        </p:nvSpPr>
        <p:spPr>
          <a:xfrm>
            <a:off x="1185202" y="2490353"/>
            <a:ext cx="2548291" cy="400110"/>
          </a:xfrm>
          <a:prstGeom prst="rect">
            <a:avLst/>
          </a:prstGeom>
          <a:noFill/>
        </p:spPr>
        <p:txBody>
          <a:bodyPr wrap="square" rtlCol="0">
            <a:spAutoFit/>
          </a:bodyPr>
          <a:lstStyle/>
          <a:p>
            <a:pPr algn="ctr"/>
            <a:r>
              <a:rPr lang="zh-CN" altLang="en-US" sz="2000" b="1" dirty="0"/>
              <a:t>学习元件</a:t>
            </a:r>
          </a:p>
        </p:txBody>
      </p:sp>
      <p:sp>
        <p:nvSpPr>
          <p:cNvPr id="30" name="文本框 29"/>
          <p:cNvSpPr txBox="1"/>
          <p:nvPr/>
        </p:nvSpPr>
        <p:spPr>
          <a:xfrm>
            <a:off x="1185201" y="685599"/>
            <a:ext cx="2548291" cy="400110"/>
          </a:xfrm>
          <a:prstGeom prst="rect">
            <a:avLst/>
          </a:prstGeom>
          <a:noFill/>
        </p:spPr>
        <p:txBody>
          <a:bodyPr wrap="square" rtlCol="0">
            <a:spAutoFit/>
          </a:bodyPr>
          <a:lstStyle/>
          <a:p>
            <a:pPr algn="ctr"/>
            <a:r>
              <a:rPr lang="zh-CN" altLang="en-US" sz="2000" b="1" dirty="0"/>
              <a:t>评价元件</a:t>
            </a:r>
          </a:p>
        </p:txBody>
      </p:sp>
      <p:cxnSp>
        <p:nvCxnSpPr>
          <p:cNvPr id="31" name="直接箭头连接符 30"/>
          <p:cNvCxnSpPr/>
          <p:nvPr/>
        </p:nvCxnSpPr>
        <p:spPr>
          <a:xfrm flipV="1">
            <a:off x="3676703" y="2656829"/>
            <a:ext cx="1053334" cy="29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4731492" y="2521474"/>
            <a:ext cx="3125968" cy="56701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4730037" y="2521475"/>
            <a:ext cx="3502726" cy="400110"/>
          </a:xfrm>
          <a:prstGeom prst="rect">
            <a:avLst/>
          </a:prstGeom>
          <a:noFill/>
        </p:spPr>
        <p:txBody>
          <a:bodyPr wrap="square" rtlCol="0">
            <a:spAutoFit/>
          </a:bodyPr>
          <a:lstStyle/>
          <a:p>
            <a:pPr algn="ctr"/>
            <a:r>
              <a:rPr lang="zh-CN" altLang="en-US" sz="2000" b="1" dirty="0"/>
              <a:t>执行元件</a:t>
            </a:r>
          </a:p>
        </p:txBody>
      </p:sp>
      <p:cxnSp>
        <p:nvCxnSpPr>
          <p:cNvPr id="39" name="直接箭头连接符 38"/>
          <p:cNvCxnSpPr/>
          <p:nvPr/>
        </p:nvCxnSpPr>
        <p:spPr>
          <a:xfrm flipH="1">
            <a:off x="3676703" y="2948032"/>
            <a:ext cx="107450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1387873" y="4375139"/>
            <a:ext cx="2232732" cy="588756"/>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387873" y="2499731"/>
            <a:ext cx="2232732" cy="588756"/>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1455523" y="636842"/>
            <a:ext cx="2232732" cy="588756"/>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箭头连接符 52"/>
          <p:cNvCxnSpPr/>
          <p:nvPr/>
        </p:nvCxnSpPr>
        <p:spPr>
          <a:xfrm>
            <a:off x="2511765" y="1370381"/>
            <a:ext cx="0" cy="11199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597569" y="3527914"/>
            <a:ext cx="1816022" cy="400110"/>
          </a:xfrm>
          <a:prstGeom prst="rect">
            <a:avLst/>
          </a:prstGeom>
          <a:noFill/>
        </p:spPr>
        <p:txBody>
          <a:bodyPr wrap="square" rtlCol="0">
            <a:spAutoFit/>
          </a:bodyPr>
          <a:lstStyle/>
          <a:p>
            <a:pPr algn="ctr"/>
            <a:r>
              <a:rPr lang="zh-CN" altLang="en-US" sz="2000" b="1" dirty="0"/>
              <a:t>学习目标</a:t>
            </a:r>
          </a:p>
        </p:txBody>
      </p:sp>
      <p:sp>
        <p:nvSpPr>
          <p:cNvPr id="61" name="文本框 60"/>
          <p:cNvSpPr txBox="1"/>
          <p:nvPr/>
        </p:nvSpPr>
        <p:spPr>
          <a:xfrm>
            <a:off x="3703222" y="3118432"/>
            <a:ext cx="939341" cy="400110"/>
          </a:xfrm>
          <a:prstGeom prst="rect">
            <a:avLst/>
          </a:prstGeom>
          <a:noFill/>
        </p:spPr>
        <p:txBody>
          <a:bodyPr wrap="square" rtlCol="0">
            <a:spAutoFit/>
          </a:bodyPr>
          <a:lstStyle/>
          <a:p>
            <a:pPr algn="ctr"/>
            <a:r>
              <a:rPr lang="zh-CN" altLang="en-US" sz="2000" b="1" dirty="0"/>
              <a:t>知识</a:t>
            </a:r>
          </a:p>
        </p:txBody>
      </p:sp>
      <p:cxnSp>
        <p:nvCxnSpPr>
          <p:cNvPr id="62" name="直接箭头连接符 61"/>
          <p:cNvCxnSpPr/>
          <p:nvPr/>
        </p:nvCxnSpPr>
        <p:spPr>
          <a:xfrm flipH="1">
            <a:off x="3733492" y="912767"/>
            <a:ext cx="1632609"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flipV="1">
            <a:off x="3645160" y="3088487"/>
            <a:ext cx="1958198" cy="155536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50595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搜索</a:t>
            </a:r>
            <a:endParaRPr lang="zh-CN" altLang="en-US" dirty="0"/>
          </a:p>
        </p:txBody>
      </p:sp>
      <p:sp>
        <p:nvSpPr>
          <p:cNvPr id="3" name="内容占位符 2"/>
          <p:cNvSpPr>
            <a:spLocks noGrp="1"/>
          </p:cNvSpPr>
          <p:nvPr>
            <p:ph idx="1"/>
          </p:nvPr>
        </p:nvSpPr>
        <p:spPr/>
        <p:txBody>
          <a:bodyPr/>
          <a:lstStyle/>
          <a:p>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36653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dirty="0"/>
              <a:t>Tree Search</a:t>
            </a:r>
          </a:p>
        </p:txBody>
      </p:sp>
      <p:sp>
        <p:nvSpPr>
          <p:cNvPr id="5" name="Text Box 194">
            <a:extLst>
              <a:ext uri="{FF2B5EF4-FFF2-40B4-BE49-F238E27FC236}">
                <a16:creationId xmlns:a16="http://schemas.microsoft.com/office/drawing/2014/main" id="{C68587E2-5A6E-4EC0-9923-94A8AE1A1745}"/>
              </a:ext>
            </a:extLst>
          </p:cNvPr>
          <p:cNvSpPr txBox="1">
            <a:spLocks noChangeArrowheads="1"/>
          </p:cNvSpPr>
          <p:nvPr/>
        </p:nvSpPr>
        <p:spPr bwMode="auto">
          <a:xfrm>
            <a:off x="3992884" y="1564764"/>
            <a:ext cx="2778755"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latin typeface="Calibri" pitchFamily="34" charset="0"/>
              </a:rPr>
              <a:t>Uninformed Tree Search</a:t>
            </a:r>
          </a:p>
        </p:txBody>
      </p:sp>
      <p:sp>
        <p:nvSpPr>
          <p:cNvPr id="6" name="Text Box 194">
            <a:extLst>
              <a:ext uri="{FF2B5EF4-FFF2-40B4-BE49-F238E27FC236}">
                <a16:creationId xmlns:a16="http://schemas.microsoft.com/office/drawing/2014/main" id="{AAA6BE1B-08AA-495D-B63C-94D185FC7603}"/>
              </a:ext>
            </a:extLst>
          </p:cNvPr>
          <p:cNvSpPr txBox="1">
            <a:spLocks noChangeArrowheads="1"/>
          </p:cNvSpPr>
          <p:nvPr/>
        </p:nvSpPr>
        <p:spPr bwMode="auto">
          <a:xfrm>
            <a:off x="2418804" y="2569654"/>
            <a:ext cx="1360452"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latin typeface="Calibri" pitchFamily="34" charset="0"/>
              </a:rPr>
              <a:t>Shallowest</a:t>
            </a:r>
          </a:p>
        </p:txBody>
      </p:sp>
      <p:sp>
        <p:nvSpPr>
          <p:cNvPr id="7" name="Text Box 194">
            <a:extLst>
              <a:ext uri="{FF2B5EF4-FFF2-40B4-BE49-F238E27FC236}">
                <a16:creationId xmlns:a16="http://schemas.microsoft.com/office/drawing/2014/main" id="{4AFBE4E1-86B8-42AC-836F-46C368181FB5}"/>
              </a:ext>
            </a:extLst>
          </p:cNvPr>
          <p:cNvSpPr txBox="1">
            <a:spLocks noChangeArrowheads="1"/>
          </p:cNvSpPr>
          <p:nvPr/>
        </p:nvSpPr>
        <p:spPr bwMode="auto">
          <a:xfrm>
            <a:off x="4305467" y="2569655"/>
            <a:ext cx="1360452"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latin typeface="Calibri" pitchFamily="34" charset="0"/>
              </a:rPr>
              <a:t>Deepest</a:t>
            </a:r>
          </a:p>
        </p:txBody>
      </p:sp>
      <p:sp>
        <p:nvSpPr>
          <p:cNvPr id="8" name="Text Box 194">
            <a:extLst>
              <a:ext uri="{FF2B5EF4-FFF2-40B4-BE49-F238E27FC236}">
                <a16:creationId xmlns:a16="http://schemas.microsoft.com/office/drawing/2014/main" id="{1D95F17E-8580-4BBA-AAA0-19DAC549188A}"/>
              </a:ext>
            </a:extLst>
          </p:cNvPr>
          <p:cNvSpPr txBox="1">
            <a:spLocks noChangeArrowheads="1"/>
          </p:cNvSpPr>
          <p:nvPr/>
        </p:nvSpPr>
        <p:spPr bwMode="auto">
          <a:xfrm>
            <a:off x="5812613" y="2557801"/>
            <a:ext cx="1360452"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latin typeface="Calibri" pitchFamily="34" charset="0"/>
              </a:rPr>
              <a:t>Cheapest</a:t>
            </a:r>
          </a:p>
        </p:txBody>
      </p:sp>
      <p:sp>
        <p:nvSpPr>
          <p:cNvPr id="9" name="Text Box 194">
            <a:extLst>
              <a:ext uri="{FF2B5EF4-FFF2-40B4-BE49-F238E27FC236}">
                <a16:creationId xmlns:a16="http://schemas.microsoft.com/office/drawing/2014/main" id="{B9CAB4F8-6E7A-4842-A91C-2458509E68B8}"/>
              </a:ext>
            </a:extLst>
          </p:cNvPr>
          <p:cNvSpPr txBox="1">
            <a:spLocks noChangeArrowheads="1"/>
          </p:cNvSpPr>
          <p:nvPr/>
        </p:nvSpPr>
        <p:spPr bwMode="auto">
          <a:xfrm>
            <a:off x="3721085" y="3228946"/>
            <a:ext cx="584382"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latin typeface="Calibri" pitchFamily="34" charset="0"/>
              </a:rPr>
              <a:t>BFS</a:t>
            </a:r>
          </a:p>
        </p:txBody>
      </p:sp>
      <p:sp>
        <p:nvSpPr>
          <p:cNvPr id="10" name="Text Box 194">
            <a:extLst>
              <a:ext uri="{FF2B5EF4-FFF2-40B4-BE49-F238E27FC236}">
                <a16:creationId xmlns:a16="http://schemas.microsoft.com/office/drawing/2014/main" id="{CEB99555-9887-41DF-B5A1-409A3CEFEE1F}"/>
              </a:ext>
            </a:extLst>
          </p:cNvPr>
          <p:cNvSpPr txBox="1">
            <a:spLocks noChangeArrowheads="1"/>
          </p:cNvSpPr>
          <p:nvPr/>
        </p:nvSpPr>
        <p:spPr bwMode="auto">
          <a:xfrm>
            <a:off x="5065699" y="3228947"/>
            <a:ext cx="584382"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latin typeface="Calibri" pitchFamily="34" charset="0"/>
              </a:rPr>
              <a:t>DFS</a:t>
            </a:r>
          </a:p>
        </p:txBody>
      </p:sp>
      <p:sp>
        <p:nvSpPr>
          <p:cNvPr id="11" name="Text Box 194">
            <a:extLst>
              <a:ext uri="{FF2B5EF4-FFF2-40B4-BE49-F238E27FC236}">
                <a16:creationId xmlns:a16="http://schemas.microsoft.com/office/drawing/2014/main" id="{16E8B93A-5CE4-4A2E-8024-1F98E83D7B77}"/>
              </a:ext>
            </a:extLst>
          </p:cNvPr>
          <p:cNvSpPr txBox="1">
            <a:spLocks noChangeArrowheads="1"/>
          </p:cNvSpPr>
          <p:nvPr/>
        </p:nvSpPr>
        <p:spPr bwMode="auto">
          <a:xfrm>
            <a:off x="6638493" y="3252435"/>
            <a:ext cx="826762"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latin typeface="Calibri" pitchFamily="34" charset="0"/>
              </a:rPr>
              <a:t>UCS</a:t>
            </a:r>
          </a:p>
        </p:txBody>
      </p:sp>
      <p:cxnSp>
        <p:nvCxnSpPr>
          <p:cNvPr id="3" name="直接箭头连接符 2">
            <a:extLst>
              <a:ext uri="{FF2B5EF4-FFF2-40B4-BE49-F238E27FC236}">
                <a16:creationId xmlns:a16="http://schemas.microsoft.com/office/drawing/2014/main" id="{A1DC4E8A-F109-4485-B1D0-D16C4B5D30FE}"/>
              </a:ext>
            </a:extLst>
          </p:cNvPr>
          <p:cNvCxnSpPr>
            <a:cxnSpLocks/>
            <a:stCxn id="5" idx="2"/>
            <a:endCxn id="10" idx="0"/>
          </p:cNvCxnSpPr>
          <p:nvPr/>
        </p:nvCxnSpPr>
        <p:spPr>
          <a:xfrm flipH="1">
            <a:off x="5357890" y="1964869"/>
            <a:ext cx="24372" cy="1264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6C2B5C1-B06C-4CF2-98FD-6C9643E3BC36}"/>
              </a:ext>
            </a:extLst>
          </p:cNvPr>
          <p:cNvCxnSpPr>
            <a:cxnSpLocks/>
          </p:cNvCxnSpPr>
          <p:nvPr/>
        </p:nvCxnSpPr>
        <p:spPr>
          <a:xfrm>
            <a:off x="4013277" y="2424332"/>
            <a:ext cx="295960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914AB530-B26F-40AD-942E-FB2A7166A0E8}"/>
              </a:ext>
            </a:extLst>
          </p:cNvPr>
          <p:cNvCxnSpPr>
            <a:cxnSpLocks/>
          </p:cNvCxnSpPr>
          <p:nvPr/>
        </p:nvCxnSpPr>
        <p:spPr>
          <a:xfrm flipH="1">
            <a:off x="4017965" y="2419642"/>
            <a:ext cx="2" cy="8046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83822556-5987-4116-8D44-F7E522580293}"/>
              </a:ext>
            </a:extLst>
          </p:cNvPr>
          <p:cNvCxnSpPr>
            <a:cxnSpLocks/>
          </p:cNvCxnSpPr>
          <p:nvPr/>
        </p:nvCxnSpPr>
        <p:spPr>
          <a:xfrm>
            <a:off x="6968197" y="2410264"/>
            <a:ext cx="0" cy="8946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连接符: 曲线 25">
            <a:extLst>
              <a:ext uri="{FF2B5EF4-FFF2-40B4-BE49-F238E27FC236}">
                <a16:creationId xmlns:a16="http://schemas.microsoft.com/office/drawing/2014/main" id="{34F2829A-26AD-4351-B575-1DE6C471796A}"/>
              </a:ext>
            </a:extLst>
          </p:cNvPr>
          <p:cNvCxnSpPr>
            <a:cxnSpLocks/>
            <a:stCxn id="11" idx="2"/>
            <a:endCxn id="9" idx="2"/>
          </p:cNvCxnSpPr>
          <p:nvPr/>
        </p:nvCxnSpPr>
        <p:spPr>
          <a:xfrm rot="5400000" flipH="1">
            <a:off x="5520830" y="2121497"/>
            <a:ext cx="23489" cy="3038598"/>
          </a:xfrm>
          <a:prstGeom prst="curvedConnector3">
            <a:avLst>
              <a:gd name="adj1" fmla="val -1632024"/>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4" name="Text Box 194">
            <a:extLst>
              <a:ext uri="{FF2B5EF4-FFF2-40B4-BE49-F238E27FC236}">
                <a16:creationId xmlns:a16="http://schemas.microsoft.com/office/drawing/2014/main" id="{6FE9B18F-DB83-4116-B015-4E1F8287481D}"/>
              </a:ext>
            </a:extLst>
          </p:cNvPr>
          <p:cNvSpPr txBox="1">
            <a:spLocks noChangeArrowheads="1"/>
          </p:cNvSpPr>
          <p:nvPr/>
        </p:nvSpPr>
        <p:spPr bwMode="auto">
          <a:xfrm>
            <a:off x="4926789" y="4135943"/>
            <a:ext cx="1553727"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latin typeface="Calibri" pitchFamily="34" charset="0"/>
              </a:rPr>
              <a:t>All Cost=1</a:t>
            </a:r>
          </a:p>
        </p:txBody>
      </p:sp>
      <p:cxnSp>
        <p:nvCxnSpPr>
          <p:cNvPr id="32" name="直接箭头连接符 31">
            <a:extLst>
              <a:ext uri="{FF2B5EF4-FFF2-40B4-BE49-F238E27FC236}">
                <a16:creationId xmlns:a16="http://schemas.microsoft.com/office/drawing/2014/main" id="{28EFE96D-264D-4574-8FAE-DDF001342F30}"/>
              </a:ext>
            </a:extLst>
          </p:cNvPr>
          <p:cNvCxnSpPr>
            <a:stCxn id="9" idx="3"/>
            <a:endCxn id="10" idx="1"/>
          </p:cNvCxnSpPr>
          <p:nvPr/>
        </p:nvCxnSpPr>
        <p:spPr>
          <a:xfrm>
            <a:off x="4305467" y="3428999"/>
            <a:ext cx="760232" cy="1"/>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 Box 194">
            <a:extLst>
              <a:ext uri="{FF2B5EF4-FFF2-40B4-BE49-F238E27FC236}">
                <a16:creationId xmlns:a16="http://schemas.microsoft.com/office/drawing/2014/main" id="{905F249A-B606-4687-8C49-1A4939D247EB}"/>
              </a:ext>
            </a:extLst>
          </p:cNvPr>
          <p:cNvSpPr txBox="1">
            <a:spLocks noChangeArrowheads="1"/>
          </p:cNvSpPr>
          <p:nvPr/>
        </p:nvSpPr>
        <p:spPr bwMode="auto">
          <a:xfrm>
            <a:off x="4071604" y="3383267"/>
            <a:ext cx="1456138"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latin typeface="Calibri" pitchFamily="34" charset="0"/>
              </a:rPr>
              <a:t>Space-Time</a:t>
            </a:r>
          </a:p>
        </p:txBody>
      </p:sp>
    </p:spTree>
    <p:extLst>
      <p:ext uri="{BB962C8B-B14F-4D97-AF65-F5344CB8AC3E}">
        <p14:creationId xmlns:p14="http://schemas.microsoft.com/office/powerpoint/2010/main" val="12752123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9A843-D829-49C2-A01A-4B7D9BD528C1}"/>
              </a:ext>
            </a:extLst>
          </p:cNvPr>
          <p:cNvSpPr>
            <a:spLocks noGrp="1"/>
          </p:cNvSpPr>
          <p:nvPr>
            <p:ph type="title"/>
          </p:nvPr>
        </p:nvSpPr>
        <p:spPr>
          <a:xfrm>
            <a:off x="1091255" y="237834"/>
            <a:ext cx="8168208" cy="790865"/>
          </a:xfrm>
        </p:spPr>
        <p:txBody>
          <a:bodyPr/>
          <a:lstStyle/>
          <a:p>
            <a:r>
              <a:rPr lang="en-US" altLang="zh-CN" dirty="0">
                <a:cs typeface="+mn-ea"/>
                <a:sym typeface="+mn-lt"/>
              </a:rPr>
              <a:t>Informed vs. Uninformed</a:t>
            </a:r>
            <a:endParaRPr lang="zh-CN" altLang="en-US" dirty="0">
              <a:latin typeface="Helvetica Regular" pitchFamily="2" charset="0"/>
              <a:ea typeface="+mn-ea"/>
              <a:cs typeface="+mn-ea"/>
              <a:sym typeface="+mn-lt"/>
            </a:endParaRPr>
          </a:p>
        </p:txBody>
      </p:sp>
      <p:sp>
        <p:nvSpPr>
          <p:cNvPr id="5" name="灯片编号占位符 4">
            <a:extLst>
              <a:ext uri="{FF2B5EF4-FFF2-40B4-BE49-F238E27FC236}">
                <a16:creationId xmlns:a16="http://schemas.microsoft.com/office/drawing/2014/main" id="{75A21381-93E7-4696-AA8D-3C561D27722F}"/>
              </a:ext>
            </a:extLst>
          </p:cNvPr>
          <p:cNvSpPr>
            <a:spLocks noGrp="1"/>
          </p:cNvSpPr>
          <p:nvPr>
            <p:ph type="sldNum" sz="quarter" idx="12"/>
          </p:nvPr>
        </p:nvSpPr>
        <p:spPr>
          <a:xfrm>
            <a:off x="8746825" y="6356349"/>
            <a:ext cx="2743200" cy="365125"/>
          </a:xfrm>
        </p:spPr>
        <p:txBody>
          <a:bodyPr/>
          <a:lstStyle/>
          <a:p>
            <a:fld id="{2515AB8F-1C56-49E9-90C8-78D22B0C1B97}" type="slidenum">
              <a:rPr lang="zh-CN" altLang="en-US" smtClean="0">
                <a:cs typeface="+mn-ea"/>
                <a:sym typeface="+mn-lt"/>
              </a:rPr>
              <a:t>36</a:t>
            </a:fld>
            <a:endParaRPr lang="zh-CN" altLang="en-US">
              <a:cs typeface="+mn-ea"/>
              <a:sym typeface="+mn-lt"/>
            </a:endParaRPr>
          </a:p>
        </p:txBody>
      </p:sp>
      <p:sp>
        <p:nvSpPr>
          <p:cNvPr id="8" name="Rectangle 3">
            <a:extLst>
              <a:ext uri="{FF2B5EF4-FFF2-40B4-BE49-F238E27FC236}">
                <a16:creationId xmlns:a16="http://schemas.microsoft.com/office/drawing/2014/main" id="{CFD40B1F-FA0B-5CA6-2C14-DF3A0AE48B78}"/>
              </a:ext>
            </a:extLst>
          </p:cNvPr>
          <p:cNvSpPr txBox="1">
            <a:spLocks/>
          </p:cNvSpPr>
          <p:nvPr/>
        </p:nvSpPr>
        <p:spPr>
          <a:xfrm>
            <a:off x="1158281" y="1476325"/>
            <a:ext cx="9875438" cy="45615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Georgia" panose="02040502050405020303" pitchFamily="18" charset="0"/>
                <a:ea typeface="ＭＳ Ｐゴシック" panose="020B0600070205080204" pitchFamily="34" charset="-128"/>
              </a:rPr>
              <a:t>Uninformed: no clue about how close a state is to the goal</a:t>
            </a:r>
          </a:p>
          <a:p>
            <a:r>
              <a:rPr lang="en-US" altLang="zh-CN" sz="2400" dirty="0">
                <a:latin typeface="Georgia" panose="02040502050405020303" pitchFamily="18" charset="0"/>
                <a:ea typeface="ＭＳ Ｐゴシック" panose="020B0600070205080204" pitchFamily="34" charset="-128"/>
              </a:rPr>
              <a:t>Informed: some clues about how close a state is to the goal</a:t>
            </a:r>
          </a:p>
          <a:p>
            <a:pPr lvl="1"/>
            <a:r>
              <a:rPr lang="en-US" altLang="zh-CN" sz="2000" dirty="0">
                <a:cs typeface="+mn-ea"/>
                <a:sym typeface="+mn-lt"/>
              </a:rPr>
              <a:t>Greedy best-first search</a:t>
            </a:r>
          </a:p>
          <a:p>
            <a:pPr marL="457200" lvl="1" indent="0">
              <a:buNone/>
            </a:pPr>
            <a:r>
              <a:rPr lang="en-US" altLang="zh-CN" sz="2000" i="1" dirty="0">
                <a:latin typeface="Georgia" panose="02040502050405020303" pitchFamily="18" charset="0"/>
                <a:ea typeface="ＭＳ Ｐゴシック" panose="020B0600070205080204" pitchFamily="34" charset="-128"/>
              </a:rPr>
              <a:t>             f(n) = h(n) </a:t>
            </a:r>
          </a:p>
          <a:p>
            <a:pPr marL="457200" lvl="1" indent="0">
              <a:buNone/>
            </a:pPr>
            <a:r>
              <a:rPr lang="en-US" altLang="zh-CN" sz="2000" i="1" dirty="0">
                <a:latin typeface="Georgia" panose="02040502050405020303" pitchFamily="18" charset="0"/>
                <a:ea typeface="ＭＳ Ｐゴシック" panose="020B0600070205080204" pitchFamily="34" charset="-128"/>
              </a:rPr>
              <a:t>             </a:t>
            </a:r>
            <a:r>
              <a:rPr lang="en-US" altLang="zh-CN" sz="2000" dirty="0">
                <a:cs typeface="+mn-ea"/>
              </a:rPr>
              <a:t>h(n) = estimated cost from n to goal </a:t>
            </a:r>
            <a:endParaRPr lang="en-US" altLang="zh-CN" sz="2000" dirty="0">
              <a:cs typeface="+mn-ea"/>
              <a:sym typeface="+mn-lt"/>
            </a:endParaRPr>
          </a:p>
          <a:p>
            <a:pPr lvl="1"/>
            <a:r>
              <a:rPr lang="en-US" altLang="zh-CN" sz="2000" dirty="0">
                <a:cs typeface="+mn-ea"/>
                <a:sym typeface="+mn-lt"/>
              </a:rPr>
              <a:t>A</a:t>
            </a:r>
            <a:r>
              <a:rPr lang="en-US" altLang="zh-CN" sz="2000" baseline="30000" dirty="0">
                <a:cs typeface="+mn-ea"/>
                <a:sym typeface="+mn-lt"/>
              </a:rPr>
              <a:t>*</a:t>
            </a:r>
            <a:r>
              <a:rPr lang="en-US" altLang="zh-CN" sz="2000" dirty="0">
                <a:cs typeface="+mn-ea"/>
                <a:sym typeface="+mn-lt"/>
              </a:rPr>
              <a:t> search</a:t>
            </a:r>
          </a:p>
          <a:p>
            <a:pPr marL="457200" lvl="1" indent="0">
              <a:buNone/>
            </a:pPr>
            <a:r>
              <a:rPr lang="en-US" altLang="zh-CN" sz="2000" dirty="0">
                <a:cs typeface="+mn-ea"/>
                <a:sym typeface="+mn-lt"/>
              </a:rPr>
              <a:t>           </a:t>
            </a:r>
            <a:r>
              <a:rPr lang="en-US" altLang="zh-CN" sz="2000" dirty="0">
                <a:latin typeface="Georgia" panose="02040502050405020303" pitchFamily="18" charset="0"/>
                <a:ea typeface="ＭＳ Ｐゴシック" panose="020B0600070205080204" pitchFamily="34" charset="-128"/>
              </a:rPr>
              <a:t> </a:t>
            </a:r>
            <a:r>
              <a:rPr lang="en-US" altLang="zh-CN" sz="2000" i="1" dirty="0">
                <a:latin typeface="Georgia" panose="02040502050405020303" pitchFamily="18" charset="0"/>
                <a:ea typeface="ＭＳ Ｐゴシック" panose="020B0600070205080204" pitchFamily="34" charset="-128"/>
              </a:rPr>
              <a:t>f(n) = g(n) + h(n)</a:t>
            </a:r>
          </a:p>
          <a:p>
            <a:pPr marL="457200" lvl="1" indent="0">
              <a:buNone/>
            </a:pPr>
            <a:r>
              <a:rPr lang="en-US" altLang="zh-CN" sz="2000" i="1" dirty="0">
                <a:latin typeface="Georgia" panose="02040502050405020303" pitchFamily="18" charset="0"/>
                <a:ea typeface="ＭＳ Ｐゴシック" panose="020B0600070205080204" pitchFamily="34" charset="-128"/>
                <a:cs typeface="+mn-ea"/>
                <a:sym typeface="+mn-lt"/>
              </a:rPr>
              <a:t>             </a:t>
            </a:r>
            <a:r>
              <a:rPr lang="en-US" altLang="zh-CN" sz="2000" dirty="0">
                <a:cs typeface="+mn-ea"/>
              </a:rPr>
              <a:t>g(n) = cost so far to reach n</a:t>
            </a:r>
          </a:p>
          <a:p>
            <a:pPr marL="457200" lvl="1" indent="0">
              <a:buNone/>
            </a:pPr>
            <a:r>
              <a:rPr lang="en-US" altLang="zh-CN" sz="2000" dirty="0">
                <a:cs typeface="+mn-ea"/>
              </a:rPr>
              <a:t>            h(n) = estimated cost from n to goal</a:t>
            </a:r>
          </a:p>
          <a:p>
            <a:pPr marL="457200" lvl="1" indent="0">
              <a:buNone/>
            </a:pPr>
            <a:r>
              <a:rPr lang="en-US" altLang="zh-CN" sz="2000" dirty="0">
                <a:cs typeface="+mn-ea"/>
              </a:rPr>
              <a:t>            f(n) = estimated total cost of path through n to goal</a:t>
            </a:r>
          </a:p>
          <a:p>
            <a:pPr marL="457200" lvl="1" indent="0">
              <a:buNone/>
            </a:pPr>
            <a:endParaRPr lang="en-US" altLang="zh-CN" sz="2000" dirty="0">
              <a:cs typeface="+mn-ea"/>
              <a:sym typeface="+mn-lt"/>
            </a:endParaRPr>
          </a:p>
          <a:p>
            <a:pPr marL="457200" lvl="1" indent="0">
              <a:buNone/>
            </a:pPr>
            <a:endParaRPr lang="en-US" altLang="zh-CN" sz="2000" dirty="0">
              <a:solidFill>
                <a:srgbClr val="0070C0"/>
              </a:solidFill>
              <a:latin typeface="Georgia" panose="02040502050405020303" pitchFamily="18" charset="0"/>
              <a:ea typeface="ＭＳ Ｐゴシック" panose="020B0600070205080204" pitchFamily="34" charset="-128"/>
            </a:endParaRPr>
          </a:p>
        </p:txBody>
      </p:sp>
    </p:spTree>
    <p:extLst>
      <p:ext uri="{BB962C8B-B14F-4D97-AF65-F5344CB8AC3E}">
        <p14:creationId xmlns:p14="http://schemas.microsoft.com/office/powerpoint/2010/main" val="45643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9A843-D829-49C2-A01A-4B7D9BD528C1}"/>
              </a:ext>
            </a:extLst>
          </p:cNvPr>
          <p:cNvSpPr>
            <a:spLocks noGrp="1"/>
          </p:cNvSpPr>
          <p:nvPr>
            <p:ph type="title"/>
          </p:nvPr>
        </p:nvSpPr>
        <p:spPr>
          <a:xfrm>
            <a:off x="1091255" y="237834"/>
            <a:ext cx="8168208" cy="790865"/>
          </a:xfrm>
        </p:spPr>
        <p:txBody>
          <a:bodyPr>
            <a:normAutofit/>
          </a:bodyPr>
          <a:lstStyle/>
          <a:p>
            <a:r>
              <a:rPr lang="en-US" altLang="zh-CN" dirty="0">
                <a:cs typeface="+mn-ea"/>
                <a:sym typeface="+mn-lt"/>
              </a:rPr>
              <a:t>Admissible heuristics</a:t>
            </a:r>
            <a:endParaRPr lang="zh-CN" altLang="en-US" dirty="0">
              <a:latin typeface="Helvetica Regular" pitchFamily="2" charset="0"/>
              <a:ea typeface="+mn-ea"/>
              <a:cs typeface="+mn-ea"/>
              <a:sym typeface="+mn-lt"/>
            </a:endParaRPr>
          </a:p>
        </p:txBody>
      </p:sp>
      <p:sp>
        <p:nvSpPr>
          <p:cNvPr id="5" name="灯片编号占位符 4">
            <a:extLst>
              <a:ext uri="{FF2B5EF4-FFF2-40B4-BE49-F238E27FC236}">
                <a16:creationId xmlns:a16="http://schemas.microsoft.com/office/drawing/2014/main" id="{75A21381-93E7-4696-AA8D-3C561D27722F}"/>
              </a:ext>
            </a:extLst>
          </p:cNvPr>
          <p:cNvSpPr>
            <a:spLocks noGrp="1"/>
          </p:cNvSpPr>
          <p:nvPr>
            <p:ph type="sldNum" sz="quarter" idx="12"/>
          </p:nvPr>
        </p:nvSpPr>
        <p:spPr>
          <a:xfrm>
            <a:off x="8746825" y="6356349"/>
            <a:ext cx="2743200" cy="365125"/>
          </a:xfrm>
        </p:spPr>
        <p:txBody>
          <a:bodyPr/>
          <a:lstStyle/>
          <a:p>
            <a:fld id="{2515AB8F-1C56-49E9-90C8-78D22B0C1B97}" type="slidenum">
              <a:rPr lang="zh-CN" altLang="en-US" smtClean="0">
                <a:cs typeface="+mn-ea"/>
                <a:sym typeface="+mn-lt"/>
              </a:rPr>
              <a:t>37</a:t>
            </a:fld>
            <a:endParaRPr lang="zh-CN" altLang="en-US">
              <a:cs typeface="+mn-ea"/>
              <a:sym typeface="+mn-lt"/>
            </a:endParaRPr>
          </a:p>
        </p:txBody>
      </p:sp>
      <p:sp>
        <p:nvSpPr>
          <p:cNvPr id="7" name="Rectangle 3">
            <a:extLst>
              <a:ext uri="{FF2B5EF4-FFF2-40B4-BE49-F238E27FC236}">
                <a16:creationId xmlns:a16="http://schemas.microsoft.com/office/drawing/2014/main" id="{50A775E4-3F1D-2FD6-A1CE-867986FBAB98}"/>
              </a:ext>
            </a:extLst>
          </p:cNvPr>
          <p:cNvSpPr txBox="1">
            <a:spLocks/>
          </p:cNvSpPr>
          <p:nvPr/>
        </p:nvSpPr>
        <p:spPr>
          <a:xfrm>
            <a:off x="1091255" y="1600200"/>
            <a:ext cx="10648461"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zh-CN" sz="2600" dirty="0">
                <a:latin typeface="Georgia" panose="02040502050405020303" pitchFamily="18" charset="0"/>
                <a:ea typeface="ＭＳ Ｐゴシック" panose="020B0600070205080204" pitchFamily="34" charset="-128"/>
              </a:rPr>
              <a:t>A heuristic </a:t>
            </a:r>
            <a:r>
              <a:rPr lang="en-US" altLang="zh-CN" sz="2600" i="1" dirty="0">
                <a:latin typeface="Georgia" panose="02040502050405020303" pitchFamily="18" charset="0"/>
                <a:ea typeface="ＭＳ Ｐゴシック" panose="020B0600070205080204" pitchFamily="34" charset="-128"/>
              </a:rPr>
              <a:t>h(n)</a:t>
            </a:r>
            <a:r>
              <a:rPr lang="en-US" altLang="zh-CN" sz="2600" dirty="0">
                <a:latin typeface="Georgia" panose="02040502050405020303" pitchFamily="18" charset="0"/>
                <a:ea typeface="ＭＳ Ｐゴシック" panose="020B0600070205080204" pitchFamily="34" charset="-128"/>
              </a:rPr>
              <a:t> is </a:t>
            </a:r>
            <a:r>
              <a:rPr lang="en-US" altLang="zh-CN" sz="2600" dirty="0">
                <a:solidFill>
                  <a:srgbClr val="FF0000"/>
                </a:solidFill>
                <a:latin typeface="Georgia" panose="02040502050405020303" pitchFamily="18" charset="0"/>
                <a:ea typeface="ＭＳ Ｐゴシック" panose="020B0600070205080204" pitchFamily="34" charset="-128"/>
              </a:rPr>
              <a:t>admissible</a:t>
            </a:r>
            <a:r>
              <a:rPr lang="en-US" altLang="zh-CN" sz="2600" dirty="0">
                <a:latin typeface="Georgia" panose="02040502050405020303" pitchFamily="18" charset="0"/>
                <a:ea typeface="ＭＳ Ｐゴシック" panose="020B0600070205080204" pitchFamily="34" charset="-128"/>
              </a:rPr>
              <a:t> if for every node </a:t>
            </a:r>
            <a:r>
              <a:rPr lang="en-US" altLang="zh-CN" sz="2600" i="1" dirty="0">
                <a:latin typeface="Georgia" panose="02040502050405020303" pitchFamily="18" charset="0"/>
                <a:ea typeface="ＭＳ Ｐゴシック" panose="020B0600070205080204" pitchFamily="34" charset="-128"/>
              </a:rPr>
              <a:t>n</a:t>
            </a:r>
            <a:r>
              <a:rPr lang="en-US" altLang="zh-CN" sz="2600" dirty="0">
                <a:latin typeface="Georgia" panose="02040502050405020303" pitchFamily="18" charset="0"/>
                <a:ea typeface="ＭＳ Ｐゴシック" panose="020B0600070205080204" pitchFamily="34" charset="-128"/>
              </a:rPr>
              <a:t>,</a:t>
            </a:r>
          </a:p>
          <a:p>
            <a:pPr>
              <a:lnSpc>
                <a:spcPct val="80000"/>
              </a:lnSpc>
              <a:buFontTx/>
              <a:buNone/>
            </a:pPr>
            <a:r>
              <a:rPr lang="en-US" altLang="zh-CN" sz="2600" i="1" dirty="0">
                <a:latin typeface="Georgia" panose="02040502050405020303" pitchFamily="18" charset="0"/>
                <a:ea typeface="ＭＳ Ｐゴシック" panose="020B0600070205080204" pitchFamily="34" charset="-128"/>
              </a:rPr>
              <a:t>	h(n) </a:t>
            </a:r>
            <a:r>
              <a:rPr lang="en-US" altLang="zh-CN" sz="2600" i="1" dirty="0">
                <a:latin typeface="Georgia" panose="02040502050405020303" pitchFamily="18" charset="0"/>
                <a:ea typeface="ＭＳ Ｐゴシック" panose="020B0600070205080204" pitchFamily="34" charset="-128"/>
                <a:cs typeface="Arial" panose="020B0604020202020204" pitchFamily="34" charset="0"/>
              </a:rPr>
              <a:t>≤</a:t>
            </a:r>
            <a:r>
              <a:rPr lang="en-US" altLang="zh-CN" sz="2600" i="1" dirty="0">
                <a:latin typeface="Georgia" panose="02040502050405020303" pitchFamily="18" charset="0"/>
                <a:ea typeface="ＭＳ Ｐゴシック" panose="020B0600070205080204" pitchFamily="34" charset="-128"/>
              </a:rPr>
              <a:t> h</a:t>
            </a:r>
            <a:r>
              <a:rPr lang="en-US" altLang="zh-CN" sz="2600" i="1" baseline="30000" dirty="0">
                <a:latin typeface="Georgia" panose="02040502050405020303" pitchFamily="18" charset="0"/>
                <a:ea typeface="ＭＳ Ｐゴシック" panose="020B0600070205080204" pitchFamily="34" charset="-128"/>
              </a:rPr>
              <a:t>*</a:t>
            </a:r>
            <a:r>
              <a:rPr lang="en-US" altLang="zh-CN" sz="2600" i="1" dirty="0">
                <a:latin typeface="Georgia" panose="02040502050405020303" pitchFamily="18" charset="0"/>
                <a:ea typeface="ＭＳ Ｐゴシック" panose="020B0600070205080204" pitchFamily="34" charset="-128"/>
              </a:rPr>
              <a:t>(n), </a:t>
            </a:r>
            <a:r>
              <a:rPr lang="en-US" altLang="zh-CN" sz="2600" dirty="0">
                <a:latin typeface="Georgia" panose="02040502050405020303" pitchFamily="18" charset="0"/>
                <a:ea typeface="ＭＳ Ｐゴシック" panose="020B0600070205080204" pitchFamily="34" charset="-128"/>
              </a:rPr>
              <a:t>where </a:t>
            </a:r>
            <a:r>
              <a:rPr lang="en-US" altLang="zh-CN" sz="2600" i="1" dirty="0">
                <a:latin typeface="Georgia" panose="02040502050405020303" pitchFamily="18" charset="0"/>
                <a:ea typeface="ＭＳ Ｐゴシック" panose="020B0600070205080204" pitchFamily="34" charset="-128"/>
              </a:rPr>
              <a:t>h</a:t>
            </a:r>
            <a:r>
              <a:rPr lang="en-US" altLang="zh-CN" sz="2600" i="1" baseline="30000" dirty="0">
                <a:latin typeface="Georgia" panose="02040502050405020303" pitchFamily="18" charset="0"/>
                <a:ea typeface="ＭＳ Ｐゴシック" panose="020B0600070205080204" pitchFamily="34" charset="-128"/>
              </a:rPr>
              <a:t>*</a:t>
            </a:r>
            <a:r>
              <a:rPr lang="en-US" altLang="zh-CN" sz="2600" i="1" dirty="0">
                <a:latin typeface="Georgia" panose="02040502050405020303" pitchFamily="18" charset="0"/>
                <a:ea typeface="ＭＳ Ｐゴシック" panose="020B0600070205080204" pitchFamily="34" charset="-128"/>
              </a:rPr>
              <a:t>(n)</a:t>
            </a:r>
            <a:r>
              <a:rPr lang="en-US" altLang="zh-CN" sz="2600" dirty="0">
                <a:latin typeface="Georgia" panose="02040502050405020303" pitchFamily="18" charset="0"/>
                <a:ea typeface="ＭＳ Ｐゴシック" panose="020B0600070205080204" pitchFamily="34" charset="-128"/>
              </a:rPr>
              <a:t> is the </a:t>
            </a:r>
            <a:r>
              <a:rPr lang="en-US" altLang="zh-CN" sz="2600" dirty="0">
                <a:solidFill>
                  <a:srgbClr val="FF0000"/>
                </a:solidFill>
                <a:latin typeface="Georgia" panose="02040502050405020303" pitchFamily="18" charset="0"/>
                <a:ea typeface="ＭＳ Ｐゴシック" panose="020B0600070205080204" pitchFamily="34" charset="-128"/>
              </a:rPr>
              <a:t>true </a:t>
            </a:r>
            <a:r>
              <a:rPr lang="en-US" altLang="zh-CN" sz="2600" dirty="0">
                <a:latin typeface="Georgia" panose="02040502050405020303" pitchFamily="18" charset="0"/>
                <a:ea typeface="ＭＳ Ｐゴシック" panose="020B0600070205080204" pitchFamily="34" charset="-128"/>
              </a:rPr>
              <a:t>cost to reach the goal state from </a:t>
            </a:r>
            <a:r>
              <a:rPr lang="en-US" altLang="zh-CN" sz="2600" i="1" dirty="0">
                <a:latin typeface="Georgia" panose="02040502050405020303" pitchFamily="18" charset="0"/>
                <a:ea typeface="ＭＳ Ｐゴシック" panose="020B0600070205080204" pitchFamily="34" charset="-128"/>
              </a:rPr>
              <a:t>n</a:t>
            </a:r>
            <a:r>
              <a:rPr lang="en-US" altLang="zh-CN" sz="2600" dirty="0">
                <a:latin typeface="Georgia" panose="02040502050405020303" pitchFamily="18" charset="0"/>
                <a:ea typeface="ＭＳ Ｐゴシック" panose="020B0600070205080204" pitchFamily="34" charset="-128"/>
              </a:rPr>
              <a:t>.</a:t>
            </a:r>
          </a:p>
          <a:p>
            <a:pPr>
              <a:lnSpc>
                <a:spcPct val="80000"/>
              </a:lnSpc>
            </a:pPr>
            <a:r>
              <a:rPr lang="en-US" altLang="zh-CN" sz="2600" dirty="0">
                <a:latin typeface="Georgia" panose="02040502050405020303" pitchFamily="18" charset="0"/>
                <a:ea typeface="ＭＳ Ｐゴシック" panose="020B0600070205080204" pitchFamily="34" charset="-128"/>
              </a:rPr>
              <a:t>An admissible heuristic </a:t>
            </a:r>
            <a:r>
              <a:rPr lang="en-US" altLang="zh-CN" sz="2600" dirty="0">
                <a:solidFill>
                  <a:srgbClr val="FF0000"/>
                </a:solidFill>
                <a:latin typeface="Georgia" panose="02040502050405020303" pitchFamily="18" charset="0"/>
                <a:ea typeface="ＭＳ Ｐゴシック" panose="020B0600070205080204" pitchFamily="34" charset="-128"/>
              </a:rPr>
              <a:t>never overestimates</a:t>
            </a:r>
            <a:r>
              <a:rPr lang="en-US" altLang="zh-CN" sz="2600" dirty="0">
                <a:latin typeface="Georgia" panose="02040502050405020303" pitchFamily="18" charset="0"/>
                <a:ea typeface="ＭＳ Ｐゴシック" panose="020B0600070205080204" pitchFamily="34" charset="-128"/>
              </a:rPr>
              <a:t> the cost to reach the goal, i.e., it is </a:t>
            </a:r>
            <a:r>
              <a:rPr lang="en-US" altLang="zh-CN" sz="2600" dirty="0">
                <a:solidFill>
                  <a:srgbClr val="FF0000"/>
                </a:solidFill>
                <a:latin typeface="Georgia" panose="02040502050405020303" pitchFamily="18" charset="0"/>
                <a:ea typeface="ＭＳ Ｐゴシック" panose="020B0600070205080204" pitchFamily="34" charset="-128"/>
              </a:rPr>
              <a:t>optimistic</a:t>
            </a:r>
            <a:r>
              <a:rPr lang="en-US" altLang="zh-CN" sz="2600" dirty="0">
                <a:latin typeface="Georgia" panose="02040502050405020303" pitchFamily="18" charset="0"/>
                <a:ea typeface="ＭＳ Ｐゴシック" panose="020B0600070205080204" pitchFamily="34" charset="-128"/>
              </a:rPr>
              <a:t>.</a:t>
            </a:r>
            <a:br>
              <a:rPr lang="en-US" altLang="zh-CN" sz="2600" dirty="0">
                <a:latin typeface="Georgia" panose="02040502050405020303" pitchFamily="18" charset="0"/>
                <a:ea typeface="ＭＳ Ｐゴシック" panose="020B0600070205080204" pitchFamily="34" charset="-128"/>
              </a:rPr>
            </a:br>
            <a:endParaRPr lang="en-US" altLang="zh-CN" sz="2600" dirty="0">
              <a:latin typeface="Georgia" panose="02040502050405020303" pitchFamily="18" charset="0"/>
              <a:ea typeface="ＭＳ Ｐゴシック" panose="020B0600070205080204" pitchFamily="34" charset="-128"/>
            </a:endParaRPr>
          </a:p>
          <a:p>
            <a:pPr>
              <a:lnSpc>
                <a:spcPct val="80000"/>
              </a:lnSpc>
            </a:pPr>
            <a:r>
              <a:rPr lang="en-US" altLang="zh-CN" sz="2600" dirty="0">
                <a:latin typeface="Georgia" panose="02040502050405020303" pitchFamily="18" charset="0"/>
                <a:ea typeface="ＭＳ Ｐゴシック" panose="020B0600070205080204" pitchFamily="34" charset="-128"/>
              </a:rPr>
              <a:t>Example: </a:t>
            </a:r>
            <a:r>
              <a:rPr lang="en-US" altLang="zh-CN" sz="2600" i="1" dirty="0" err="1">
                <a:latin typeface="Georgia" panose="02040502050405020303" pitchFamily="18" charset="0"/>
                <a:ea typeface="ＭＳ Ｐゴシック" panose="020B0600070205080204" pitchFamily="34" charset="-128"/>
              </a:rPr>
              <a:t>h</a:t>
            </a:r>
            <a:r>
              <a:rPr lang="en-US" altLang="zh-CN" sz="2600" i="1" baseline="-25000" dirty="0" err="1">
                <a:latin typeface="Georgia" panose="02040502050405020303" pitchFamily="18" charset="0"/>
                <a:ea typeface="ＭＳ Ｐゴシック" panose="020B0600070205080204" pitchFamily="34" charset="-128"/>
              </a:rPr>
              <a:t>SLD</a:t>
            </a:r>
            <a:r>
              <a:rPr lang="en-US" altLang="zh-CN" sz="2600" i="1" dirty="0">
                <a:latin typeface="Georgia" panose="02040502050405020303" pitchFamily="18" charset="0"/>
                <a:ea typeface="ＭＳ Ｐゴシック" panose="020B0600070205080204" pitchFamily="34" charset="-128"/>
              </a:rPr>
              <a:t>(n) </a:t>
            </a:r>
            <a:r>
              <a:rPr lang="en-US" altLang="zh-CN" sz="2600" dirty="0">
                <a:latin typeface="Georgia" panose="02040502050405020303" pitchFamily="18" charset="0"/>
                <a:ea typeface="ＭＳ Ｐゴシック" panose="020B0600070205080204" pitchFamily="34" charset="-128"/>
              </a:rPr>
              <a:t>(never overestimates the actual road distance)</a:t>
            </a:r>
          </a:p>
          <a:p>
            <a:pPr marL="0" indent="0">
              <a:lnSpc>
                <a:spcPct val="80000"/>
              </a:lnSpc>
              <a:buNone/>
            </a:pPr>
            <a:br>
              <a:rPr lang="en-US" altLang="zh-CN" sz="2600" dirty="0">
                <a:latin typeface="Georgia" panose="02040502050405020303" pitchFamily="18" charset="0"/>
                <a:ea typeface="ＭＳ Ｐゴシック" panose="020B0600070205080204" pitchFamily="34" charset="-128"/>
              </a:rPr>
            </a:br>
            <a:endParaRPr lang="en-US" altLang="zh-CN" sz="2600" dirty="0">
              <a:latin typeface="Georgia" panose="02040502050405020303" pitchFamily="18" charset="0"/>
              <a:ea typeface="ＭＳ Ｐゴシック" panose="020B0600070205080204" pitchFamily="34" charset="-128"/>
            </a:endParaRPr>
          </a:p>
          <a:p>
            <a:pPr>
              <a:lnSpc>
                <a:spcPct val="80000"/>
              </a:lnSpc>
            </a:pPr>
            <a:r>
              <a:rPr lang="en-US" altLang="zh-CN" sz="2600" dirty="0">
                <a:solidFill>
                  <a:schemeClr val="accent2"/>
                </a:solidFill>
                <a:latin typeface="Georgia" panose="02040502050405020303" pitchFamily="18" charset="0"/>
                <a:ea typeface="ＭＳ Ｐゴシック" panose="020B0600070205080204" pitchFamily="34" charset="-128"/>
              </a:rPr>
              <a:t>Theorem</a:t>
            </a:r>
            <a:r>
              <a:rPr lang="en-US" altLang="zh-CN" sz="2600" dirty="0">
                <a:latin typeface="Georgia" panose="02040502050405020303" pitchFamily="18" charset="0"/>
                <a:ea typeface="ＭＳ Ｐゴシック" panose="020B0600070205080204" pitchFamily="34" charset="-128"/>
              </a:rPr>
              <a:t>: If </a:t>
            </a:r>
            <a:r>
              <a:rPr lang="en-US" altLang="zh-CN" sz="2600" i="1" dirty="0">
                <a:latin typeface="Georgia" panose="02040502050405020303" pitchFamily="18" charset="0"/>
                <a:ea typeface="ＭＳ Ｐゴシック" panose="020B0600070205080204" pitchFamily="34" charset="-128"/>
              </a:rPr>
              <a:t>h(n) </a:t>
            </a:r>
            <a:r>
              <a:rPr lang="en-US" altLang="zh-CN" sz="2600" dirty="0">
                <a:latin typeface="Georgia" panose="02040502050405020303" pitchFamily="18" charset="0"/>
                <a:ea typeface="ＭＳ Ｐゴシック" panose="020B0600070205080204" pitchFamily="34" charset="-128"/>
              </a:rPr>
              <a:t>is admissible, A</a:t>
            </a:r>
            <a:r>
              <a:rPr lang="en-US" altLang="zh-CN" sz="2600" baseline="30000" dirty="0">
                <a:latin typeface="Georgia" panose="02040502050405020303" pitchFamily="18" charset="0"/>
                <a:ea typeface="ＭＳ Ｐゴシック" panose="020B0600070205080204" pitchFamily="34" charset="-128"/>
              </a:rPr>
              <a:t>*</a:t>
            </a:r>
            <a:r>
              <a:rPr lang="en-US" altLang="zh-CN" sz="2600" dirty="0">
                <a:latin typeface="Georgia" panose="02040502050405020303" pitchFamily="18" charset="0"/>
                <a:ea typeface="ＭＳ Ｐゴシック" panose="020B0600070205080204" pitchFamily="34" charset="-128"/>
              </a:rPr>
              <a:t>  is optimal</a:t>
            </a:r>
          </a:p>
        </p:txBody>
      </p:sp>
    </p:spTree>
    <p:extLst>
      <p:ext uri="{BB962C8B-B14F-4D97-AF65-F5344CB8AC3E}">
        <p14:creationId xmlns:p14="http://schemas.microsoft.com/office/powerpoint/2010/main" val="829206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en-US" altLang="zh-CN" dirty="0">
                <a:cs typeface="+mn-ea"/>
                <a:sym typeface="+mn-lt"/>
              </a:rPr>
              <a:t>A</a:t>
            </a:r>
            <a:r>
              <a:rPr lang="en-US" altLang="zh-CN" baseline="30000" dirty="0">
                <a:cs typeface="+mn-ea"/>
                <a:sym typeface="+mn-lt"/>
              </a:rPr>
              <a:t>*</a:t>
            </a:r>
            <a:r>
              <a:rPr lang="en-US" altLang="zh-CN" dirty="0">
                <a:cs typeface="+mn-ea"/>
                <a:sym typeface="+mn-lt"/>
              </a:rPr>
              <a:t> search example</a:t>
            </a:r>
            <a:endParaRPr lang="zh-CN" altLang="en-US" dirty="0">
              <a:latin typeface="Helvetica Regular" pitchFamily="2" charset="0"/>
              <a:ea typeface="+mn-ea"/>
              <a:cs typeface="+mn-ea"/>
              <a:sym typeface="+mn-lt"/>
            </a:endParaRPr>
          </a:p>
        </p:txBody>
      </p:sp>
      <p:sp>
        <p:nvSpPr>
          <p:cNvPr id="5" name="灯片编号占位符 4"/>
          <p:cNvSpPr>
            <a:spLocks noGrp="1"/>
          </p:cNvSpPr>
          <p:nvPr>
            <p:ph type="sldNum" sz="quarter" idx="12"/>
          </p:nvPr>
        </p:nvSpPr>
        <p:spPr>
          <a:xfrm>
            <a:off x="8746825" y="6356349"/>
            <a:ext cx="2743200" cy="365125"/>
          </a:xfrm>
        </p:spPr>
        <p:txBody>
          <a:bodyPr/>
          <a:lstStyle/>
          <a:p>
            <a:fld id="{2515AB8F-1C56-49E9-90C8-78D22B0C1B97}" type="slidenum">
              <a:rPr lang="zh-CN" altLang="en-US" smtClean="0">
                <a:cs typeface="+mn-ea"/>
                <a:sym typeface="+mn-lt"/>
              </a:rPr>
              <a:t>38</a:t>
            </a:fld>
            <a:endParaRPr lang="zh-CN" altLang="en-US">
              <a:cs typeface="+mn-ea"/>
              <a:sym typeface="+mn-lt"/>
            </a:endParaRPr>
          </a:p>
        </p:txBody>
      </p:sp>
      <p:sp>
        <p:nvSpPr>
          <p:cNvPr id="3" name="椭圆 2"/>
          <p:cNvSpPr/>
          <p:nvPr/>
        </p:nvSpPr>
        <p:spPr>
          <a:xfrm>
            <a:off x="1490345" y="1933575"/>
            <a:ext cx="702945" cy="719455"/>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5744845" y="4223385"/>
            <a:ext cx="702945" cy="719455"/>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744210" y="1933575"/>
            <a:ext cx="702945" cy="719455"/>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3617595" y="1933575"/>
            <a:ext cx="702945" cy="719455"/>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3617595" y="4223385"/>
            <a:ext cx="702945" cy="719455"/>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v</a:t>
            </a:r>
          </a:p>
        </p:txBody>
      </p:sp>
      <p:sp>
        <p:nvSpPr>
          <p:cNvPr id="13" name="椭圆 12"/>
          <p:cNvSpPr/>
          <p:nvPr/>
        </p:nvSpPr>
        <p:spPr>
          <a:xfrm>
            <a:off x="1490345" y="4223385"/>
            <a:ext cx="702945" cy="719455"/>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680210" y="2109470"/>
            <a:ext cx="887730" cy="368300"/>
          </a:xfrm>
          <a:prstGeom prst="rect">
            <a:avLst/>
          </a:prstGeom>
          <a:noFill/>
        </p:spPr>
        <p:txBody>
          <a:bodyPr wrap="square" rtlCol="0">
            <a:spAutoFit/>
          </a:bodyPr>
          <a:lstStyle/>
          <a:p>
            <a:r>
              <a:rPr lang="en-US" altLang="zh-CN"/>
              <a:t>A</a:t>
            </a:r>
          </a:p>
        </p:txBody>
      </p:sp>
      <p:sp>
        <p:nvSpPr>
          <p:cNvPr id="15" name="文本框 14"/>
          <p:cNvSpPr txBox="1"/>
          <p:nvPr/>
        </p:nvSpPr>
        <p:spPr>
          <a:xfrm>
            <a:off x="3821430" y="2109470"/>
            <a:ext cx="645795" cy="368300"/>
          </a:xfrm>
          <a:prstGeom prst="rect">
            <a:avLst/>
          </a:prstGeom>
          <a:noFill/>
        </p:spPr>
        <p:txBody>
          <a:bodyPr wrap="square" rtlCol="0">
            <a:spAutoFit/>
          </a:bodyPr>
          <a:lstStyle/>
          <a:p>
            <a:r>
              <a:rPr lang="en-US" altLang="zh-CN"/>
              <a:t>B</a:t>
            </a:r>
          </a:p>
        </p:txBody>
      </p:sp>
      <p:sp>
        <p:nvSpPr>
          <p:cNvPr id="16" name="文本框 15"/>
          <p:cNvSpPr txBox="1"/>
          <p:nvPr/>
        </p:nvSpPr>
        <p:spPr>
          <a:xfrm>
            <a:off x="5962650" y="2109470"/>
            <a:ext cx="640715" cy="368300"/>
          </a:xfrm>
          <a:prstGeom prst="rect">
            <a:avLst/>
          </a:prstGeom>
          <a:noFill/>
        </p:spPr>
        <p:txBody>
          <a:bodyPr wrap="square" rtlCol="0">
            <a:spAutoFit/>
          </a:bodyPr>
          <a:lstStyle/>
          <a:p>
            <a:r>
              <a:rPr lang="en-US" altLang="zh-CN"/>
              <a:t>D</a:t>
            </a:r>
          </a:p>
        </p:txBody>
      </p:sp>
      <p:sp>
        <p:nvSpPr>
          <p:cNvPr id="17" name="文本框 16"/>
          <p:cNvSpPr txBox="1"/>
          <p:nvPr/>
        </p:nvSpPr>
        <p:spPr>
          <a:xfrm>
            <a:off x="1680210" y="4399280"/>
            <a:ext cx="666750" cy="368300"/>
          </a:xfrm>
          <a:prstGeom prst="rect">
            <a:avLst/>
          </a:prstGeom>
          <a:noFill/>
        </p:spPr>
        <p:txBody>
          <a:bodyPr wrap="square" rtlCol="0">
            <a:spAutoFit/>
          </a:bodyPr>
          <a:lstStyle/>
          <a:p>
            <a:r>
              <a:rPr lang="en-US" altLang="zh-CN"/>
              <a:t>C</a:t>
            </a:r>
          </a:p>
        </p:txBody>
      </p:sp>
      <p:sp>
        <p:nvSpPr>
          <p:cNvPr id="18" name="文本框 17"/>
          <p:cNvSpPr txBox="1"/>
          <p:nvPr/>
        </p:nvSpPr>
        <p:spPr>
          <a:xfrm>
            <a:off x="3821430" y="4399280"/>
            <a:ext cx="711835" cy="368300"/>
          </a:xfrm>
          <a:prstGeom prst="rect">
            <a:avLst/>
          </a:prstGeom>
          <a:noFill/>
        </p:spPr>
        <p:txBody>
          <a:bodyPr wrap="square" rtlCol="0">
            <a:spAutoFit/>
          </a:bodyPr>
          <a:lstStyle/>
          <a:p>
            <a:r>
              <a:rPr lang="en-US" altLang="zh-CN"/>
              <a:t>E</a:t>
            </a:r>
          </a:p>
        </p:txBody>
      </p:sp>
      <p:sp>
        <p:nvSpPr>
          <p:cNvPr id="19" name="文本框 18"/>
          <p:cNvSpPr txBox="1"/>
          <p:nvPr/>
        </p:nvSpPr>
        <p:spPr>
          <a:xfrm>
            <a:off x="5962650" y="4399280"/>
            <a:ext cx="835660" cy="368300"/>
          </a:xfrm>
          <a:prstGeom prst="rect">
            <a:avLst/>
          </a:prstGeom>
          <a:noFill/>
        </p:spPr>
        <p:txBody>
          <a:bodyPr wrap="square" rtlCol="0">
            <a:spAutoFit/>
          </a:bodyPr>
          <a:lstStyle/>
          <a:p>
            <a:r>
              <a:rPr lang="en-US" altLang="zh-CN"/>
              <a:t>F</a:t>
            </a:r>
          </a:p>
        </p:txBody>
      </p:sp>
      <p:cxnSp>
        <p:nvCxnSpPr>
          <p:cNvPr id="24" name="曲线连接符 23"/>
          <p:cNvCxnSpPr>
            <a:stCxn id="14" idx="0"/>
            <a:endCxn id="11" idx="2"/>
          </p:cNvCxnSpPr>
          <p:nvPr/>
        </p:nvCxnSpPr>
        <p:spPr>
          <a:xfrm rot="16200000" flipH="1">
            <a:off x="2778760" y="1454785"/>
            <a:ext cx="184150" cy="1493520"/>
          </a:xfrm>
          <a:prstGeom prst="curvedConnector4">
            <a:avLst>
              <a:gd name="adj1" fmla="val -224828"/>
              <a:gd name="adj2" fmla="val 64881"/>
            </a:avLst>
          </a:prstGeom>
        </p:spPr>
        <p:style>
          <a:lnRef idx="2">
            <a:schemeClr val="accent1"/>
          </a:lnRef>
          <a:fillRef idx="0">
            <a:srgbClr val="FFFFFF"/>
          </a:fillRef>
          <a:effectRef idx="0">
            <a:srgbClr val="FFFFFF"/>
          </a:effectRef>
          <a:fontRef idx="minor">
            <a:schemeClr val="tx1"/>
          </a:fontRef>
        </p:style>
      </p:cxnSp>
      <p:cxnSp>
        <p:nvCxnSpPr>
          <p:cNvPr id="25" name="曲线连接符 24"/>
          <p:cNvCxnSpPr/>
          <p:nvPr/>
        </p:nvCxnSpPr>
        <p:spPr>
          <a:xfrm>
            <a:off x="4281805" y="2081530"/>
            <a:ext cx="1503680" cy="327660"/>
          </a:xfrm>
          <a:prstGeom prst="curvedConnector3">
            <a:avLst>
              <a:gd name="adj1" fmla="val 50042"/>
            </a:avLst>
          </a:prstGeom>
        </p:spPr>
        <p:style>
          <a:lnRef idx="2">
            <a:schemeClr val="accent1"/>
          </a:lnRef>
          <a:fillRef idx="0">
            <a:srgbClr val="FFFFFF"/>
          </a:fillRef>
          <a:effectRef idx="0">
            <a:srgbClr val="FFFFFF"/>
          </a:effectRef>
          <a:fontRef idx="minor">
            <a:schemeClr val="tx1"/>
          </a:fontRef>
        </p:style>
      </p:cxnSp>
      <p:cxnSp>
        <p:nvCxnSpPr>
          <p:cNvPr id="26" name="曲线连接符 25"/>
          <p:cNvCxnSpPr>
            <a:stCxn id="11" idx="4"/>
            <a:endCxn id="12" idx="2"/>
          </p:cNvCxnSpPr>
          <p:nvPr/>
        </p:nvCxnSpPr>
        <p:spPr>
          <a:xfrm rot="5400000">
            <a:off x="2828290" y="3442335"/>
            <a:ext cx="1930400" cy="351790"/>
          </a:xfrm>
          <a:prstGeom prst="curvedConnector4">
            <a:avLst>
              <a:gd name="adj1" fmla="val 40691"/>
              <a:gd name="adj2" fmla="val 167690"/>
            </a:avLst>
          </a:prstGeom>
        </p:spPr>
        <p:style>
          <a:lnRef idx="2">
            <a:schemeClr val="accent1"/>
          </a:lnRef>
          <a:fillRef idx="0">
            <a:srgbClr val="FFFFFF"/>
          </a:fillRef>
          <a:effectRef idx="0">
            <a:srgbClr val="FFFFFF"/>
          </a:effectRef>
          <a:fontRef idx="minor">
            <a:schemeClr val="tx1"/>
          </a:fontRef>
        </p:style>
      </p:cxnSp>
      <p:cxnSp>
        <p:nvCxnSpPr>
          <p:cNvPr id="27" name="曲线连接符 26"/>
          <p:cNvCxnSpPr>
            <a:endCxn id="12" idx="4"/>
          </p:cNvCxnSpPr>
          <p:nvPr/>
        </p:nvCxnSpPr>
        <p:spPr>
          <a:xfrm>
            <a:off x="2211070" y="4576445"/>
            <a:ext cx="1758315" cy="366395"/>
          </a:xfrm>
          <a:prstGeom prst="curvedConnector4">
            <a:avLst>
              <a:gd name="adj1" fmla="val 40014"/>
              <a:gd name="adj2" fmla="val 164991"/>
            </a:avLst>
          </a:prstGeom>
        </p:spPr>
        <p:style>
          <a:lnRef idx="2">
            <a:schemeClr val="accent1"/>
          </a:lnRef>
          <a:fillRef idx="0">
            <a:srgbClr val="FFFFFF"/>
          </a:fillRef>
          <a:effectRef idx="0">
            <a:srgbClr val="FFFFFF"/>
          </a:effectRef>
          <a:fontRef idx="minor">
            <a:schemeClr val="tx1"/>
          </a:fontRef>
        </p:style>
      </p:cxnSp>
      <p:cxnSp>
        <p:nvCxnSpPr>
          <p:cNvPr id="28" name="曲线连接符 27"/>
          <p:cNvCxnSpPr>
            <a:endCxn id="13" idx="1"/>
          </p:cNvCxnSpPr>
          <p:nvPr/>
        </p:nvCxnSpPr>
        <p:spPr>
          <a:xfrm rot="5400000">
            <a:off x="942975" y="3148965"/>
            <a:ext cx="1830070" cy="529590"/>
          </a:xfrm>
          <a:prstGeom prst="curvedConnector3">
            <a:avLst>
              <a:gd name="adj1" fmla="val 47155"/>
            </a:avLst>
          </a:prstGeom>
        </p:spPr>
        <p:style>
          <a:lnRef idx="2">
            <a:schemeClr val="accent1"/>
          </a:lnRef>
          <a:fillRef idx="0">
            <a:srgbClr val="FFFFFF"/>
          </a:fillRef>
          <a:effectRef idx="0">
            <a:srgbClr val="FFFFFF"/>
          </a:effectRef>
          <a:fontRef idx="minor">
            <a:schemeClr val="tx1"/>
          </a:fontRef>
        </p:style>
      </p:cxnSp>
      <p:cxnSp>
        <p:nvCxnSpPr>
          <p:cNvPr id="30" name="曲线连接符 29"/>
          <p:cNvCxnSpPr>
            <a:endCxn id="6" idx="3"/>
          </p:cNvCxnSpPr>
          <p:nvPr/>
        </p:nvCxnSpPr>
        <p:spPr>
          <a:xfrm>
            <a:off x="4281805" y="4399280"/>
            <a:ext cx="1565910" cy="438150"/>
          </a:xfrm>
          <a:prstGeom prst="curvedConnector4">
            <a:avLst>
              <a:gd name="adj1" fmla="val 46756"/>
              <a:gd name="adj2" fmla="val 178406"/>
            </a:avLst>
          </a:prstGeom>
        </p:spPr>
        <p:style>
          <a:lnRef idx="2">
            <a:schemeClr val="accent1"/>
          </a:lnRef>
          <a:fillRef idx="0">
            <a:srgbClr val="FFFFFF"/>
          </a:fillRef>
          <a:effectRef idx="0">
            <a:srgbClr val="FFFFFF"/>
          </a:effectRef>
          <a:fontRef idx="minor">
            <a:schemeClr val="tx1"/>
          </a:fontRef>
        </p:style>
      </p:cxnSp>
      <p:cxnSp>
        <p:nvCxnSpPr>
          <p:cNvPr id="31" name="曲线连接符 30"/>
          <p:cNvCxnSpPr>
            <a:stCxn id="9" idx="5"/>
            <a:endCxn id="6" idx="1"/>
          </p:cNvCxnSpPr>
          <p:nvPr/>
        </p:nvCxnSpPr>
        <p:spPr>
          <a:xfrm rot="5400000">
            <a:off x="5205730" y="3189605"/>
            <a:ext cx="1781175" cy="496570"/>
          </a:xfrm>
          <a:prstGeom prst="curvedConnector3">
            <a:avLst>
              <a:gd name="adj1" fmla="val 50000"/>
            </a:avLst>
          </a:prstGeom>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3078480" y="1713230"/>
            <a:ext cx="339725" cy="368300"/>
          </a:xfrm>
          <a:prstGeom prst="rect">
            <a:avLst/>
          </a:prstGeom>
          <a:noFill/>
        </p:spPr>
        <p:txBody>
          <a:bodyPr wrap="square" rtlCol="0">
            <a:spAutoFit/>
          </a:bodyPr>
          <a:lstStyle/>
          <a:p>
            <a:r>
              <a:rPr lang="en-US" altLang="zh-CN"/>
              <a:t>8</a:t>
            </a:r>
          </a:p>
        </p:txBody>
      </p:sp>
      <p:sp>
        <p:nvSpPr>
          <p:cNvPr id="33" name="文本框 32"/>
          <p:cNvSpPr txBox="1"/>
          <p:nvPr/>
        </p:nvSpPr>
        <p:spPr>
          <a:xfrm>
            <a:off x="4945380" y="1925320"/>
            <a:ext cx="489585" cy="368300"/>
          </a:xfrm>
          <a:prstGeom prst="rect">
            <a:avLst/>
          </a:prstGeom>
          <a:noFill/>
        </p:spPr>
        <p:txBody>
          <a:bodyPr wrap="square" rtlCol="0">
            <a:spAutoFit/>
          </a:bodyPr>
          <a:lstStyle/>
          <a:p>
            <a:r>
              <a:rPr lang="en-US" altLang="zh-CN"/>
              <a:t>10</a:t>
            </a:r>
          </a:p>
        </p:txBody>
      </p:sp>
      <p:sp>
        <p:nvSpPr>
          <p:cNvPr id="34" name="文本框 33"/>
          <p:cNvSpPr txBox="1"/>
          <p:nvPr/>
        </p:nvSpPr>
        <p:spPr>
          <a:xfrm>
            <a:off x="1591945" y="3060700"/>
            <a:ext cx="609600" cy="368300"/>
          </a:xfrm>
          <a:prstGeom prst="rect">
            <a:avLst/>
          </a:prstGeom>
          <a:noFill/>
        </p:spPr>
        <p:txBody>
          <a:bodyPr wrap="square" rtlCol="0">
            <a:spAutoFit/>
          </a:bodyPr>
          <a:lstStyle/>
          <a:p>
            <a:r>
              <a:rPr lang="en-US" altLang="zh-CN"/>
              <a:t>5</a:t>
            </a:r>
          </a:p>
        </p:txBody>
      </p:sp>
      <p:sp>
        <p:nvSpPr>
          <p:cNvPr id="35" name="文本框 34"/>
          <p:cNvSpPr txBox="1"/>
          <p:nvPr/>
        </p:nvSpPr>
        <p:spPr>
          <a:xfrm>
            <a:off x="3511550" y="3108960"/>
            <a:ext cx="568960" cy="368300"/>
          </a:xfrm>
          <a:prstGeom prst="rect">
            <a:avLst/>
          </a:prstGeom>
          <a:noFill/>
        </p:spPr>
        <p:txBody>
          <a:bodyPr wrap="square" rtlCol="0">
            <a:spAutoFit/>
          </a:bodyPr>
          <a:lstStyle/>
          <a:p>
            <a:r>
              <a:rPr lang="en-US" altLang="zh-CN"/>
              <a:t>4</a:t>
            </a:r>
          </a:p>
        </p:txBody>
      </p:sp>
      <p:sp>
        <p:nvSpPr>
          <p:cNvPr id="36" name="文本框 35"/>
          <p:cNvSpPr txBox="1"/>
          <p:nvPr/>
        </p:nvSpPr>
        <p:spPr>
          <a:xfrm>
            <a:off x="5848350" y="3108960"/>
            <a:ext cx="626745" cy="368300"/>
          </a:xfrm>
          <a:prstGeom prst="rect">
            <a:avLst/>
          </a:prstGeom>
          <a:noFill/>
        </p:spPr>
        <p:txBody>
          <a:bodyPr wrap="square" rtlCol="0">
            <a:spAutoFit/>
          </a:bodyPr>
          <a:lstStyle/>
          <a:p>
            <a:r>
              <a:rPr lang="en-US" altLang="zh-CN"/>
              <a:t>6</a:t>
            </a:r>
          </a:p>
        </p:txBody>
      </p:sp>
      <p:sp>
        <p:nvSpPr>
          <p:cNvPr id="37" name="文本框 36"/>
          <p:cNvSpPr txBox="1"/>
          <p:nvPr/>
        </p:nvSpPr>
        <p:spPr>
          <a:xfrm>
            <a:off x="2698115" y="4418330"/>
            <a:ext cx="430530" cy="368300"/>
          </a:xfrm>
          <a:prstGeom prst="rect">
            <a:avLst/>
          </a:prstGeom>
          <a:noFill/>
        </p:spPr>
        <p:txBody>
          <a:bodyPr wrap="square" rtlCol="0">
            <a:spAutoFit/>
          </a:bodyPr>
          <a:lstStyle/>
          <a:p>
            <a:r>
              <a:rPr lang="en-US" altLang="zh-CN"/>
              <a:t>3</a:t>
            </a:r>
          </a:p>
        </p:txBody>
      </p:sp>
      <p:sp>
        <p:nvSpPr>
          <p:cNvPr id="38" name="文本框 37"/>
          <p:cNvSpPr txBox="1"/>
          <p:nvPr/>
        </p:nvSpPr>
        <p:spPr>
          <a:xfrm>
            <a:off x="4954270" y="4285615"/>
            <a:ext cx="353695" cy="368300"/>
          </a:xfrm>
          <a:prstGeom prst="rect">
            <a:avLst/>
          </a:prstGeom>
          <a:noFill/>
        </p:spPr>
        <p:txBody>
          <a:bodyPr wrap="square" rtlCol="0">
            <a:spAutoFit/>
          </a:bodyPr>
          <a:lstStyle/>
          <a:p>
            <a:r>
              <a:rPr lang="en-US" altLang="zh-CN"/>
              <a:t>9</a:t>
            </a:r>
          </a:p>
        </p:txBody>
      </p:sp>
      <p:sp>
        <p:nvSpPr>
          <p:cNvPr id="39" name="文本框 38"/>
          <p:cNvSpPr txBox="1"/>
          <p:nvPr/>
        </p:nvSpPr>
        <p:spPr>
          <a:xfrm>
            <a:off x="8014970" y="1967865"/>
            <a:ext cx="2251075" cy="2027555"/>
          </a:xfrm>
          <a:prstGeom prst="rect">
            <a:avLst/>
          </a:prstGeom>
          <a:noFill/>
        </p:spPr>
        <p:txBody>
          <a:bodyPr wrap="square" rtlCol="0">
            <a:spAutoFit/>
          </a:bodyPr>
          <a:lstStyle/>
          <a:p>
            <a:pPr marL="285750" indent="-285750">
              <a:lnSpc>
                <a:spcPct val="140000"/>
              </a:lnSpc>
              <a:buFont typeface="Arial" panose="020B0604020202020204" pitchFamily="34" charset="0"/>
              <a:buChar char="•"/>
            </a:pPr>
            <a:r>
              <a:rPr lang="en-US" altLang="zh-CN" dirty="0"/>
              <a:t>A - F     </a:t>
            </a:r>
            <a:r>
              <a:rPr lang="en-US" altLang="zh-CN" dirty="0">
                <a:sym typeface="+mn-ea"/>
              </a:rPr>
              <a:t>9</a:t>
            </a:r>
            <a:endParaRPr lang="en-US" altLang="zh-CN" dirty="0"/>
          </a:p>
          <a:p>
            <a:pPr marL="285750" indent="-285750">
              <a:lnSpc>
                <a:spcPct val="140000"/>
              </a:lnSpc>
              <a:buFont typeface="Arial" panose="020B0604020202020204" pitchFamily="34" charset="0"/>
              <a:buChar char="•"/>
            </a:pPr>
            <a:r>
              <a:rPr lang="en-US" altLang="zh-CN" dirty="0">
                <a:sym typeface="+mn-ea"/>
              </a:rPr>
              <a:t>B - F     5</a:t>
            </a:r>
            <a:endParaRPr lang="en-US" altLang="zh-CN" dirty="0"/>
          </a:p>
          <a:p>
            <a:pPr marL="285750" indent="-285750">
              <a:lnSpc>
                <a:spcPct val="140000"/>
              </a:lnSpc>
              <a:buFont typeface="Arial" panose="020B0604020202020204" pitchFamily="34" charset="0"/>
              <a:buChar char="•"/>
            </a:pPr>
            <a:r>
              <a:rPr lang="en-US" altLang="zh-CN" dirty="0">
                <a:sym typeface="+mn-ea"/>
              </a:rPr>
              <a:t>C - F     6</a:t>
            </a:r>
            <a:endParaRPr lang="en-US" altLang="zh-CN" dirty="0"/>
          </a:p>
          <a:p>
            <a:pPr marL="285750" indent="-285750">
              <a:lnSpc>
                <a:spcPct val="140000"/>
              </a:lnSpc>
              <a:buFont typeface="Arial" panose="020B0604020202020204" pitchFamily="34" charset="0"/>
              <a:buChar char="•"/>
            </a:pPr>
            <a:r>
              <a:rPr lang="en-US" altLang="zh-CN" dirty="0">
                <a:sym typeface="+mn-ea"/>
              </a:rPr>
              <a:t>D - F     5</a:t>
            </a:r>
            <a:endParaRPr lang="en-US" altLang="zh-CN" dirty="0"/>
          </a:p>
          <a:p>
            <a:pPr marL="285750" indent="-285750">
              <a:lnSpc>
                <a:spcPct val="140000"/>
              </a:lnSpc>
              <a:buFont typeface="Arial" panose="020B0604020202020204" pitchFamily="34" charset="0"/>
              <a:buChar char="•"/>
            </a:pPr>
            <a:r>
              <a:rPr lang="en-US" altLang="zh-CN" dirty="0">
                <a:sym typeface="+mn-ea"/>
              </a:rPr>
              <a:t>E - F     4</a:t>
            </a:r>
            <a:endParaRPr lang="en-US" altLang="zh-CN" dirty="0"/>
          </a:p>
        </p:txBody>
      </p:sp>
      <p:sp>
        <p:nvSpPr>
          <p:cNvPr id="40" name="文本框 39"/>
          <p:cNvSpPr txBox="1"/>
          <p:nvPr/>
        </p:nvSpPr>
        <p:spPr>
          <a:xfrm>
            <a:off x="8032115" y="4634865"/>
            <a:ext cx="4064000" cy="368300"/>
          </a:xfrm>
          <a:prstGeom prst="rect">
            <a:avLst/>
          </a:prstGeom>
          <a:noFill/>
        </p:spPr>
        <p:txBody>
          <a:bodyPr wrap="square" rtlCol="0">
            <a:spAutoFit/>
          </a:bodyPr>
          <a:lstStyle/>
          <a:p>
            <a:r>
              <a:rPr lang="en-US" altLang="zh-CN"/>
              <a:t>Find the path from A to F</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4423" y="988398"/>
            <a:ext cx="10515600" cy="1325563"/>
          </a:xfrm>
        </p:spPr>
        <p:txBody>
          <a:bodyPr/>
          <a:lstStyle/>
          <a:p>
            <a:pPr algn="ctr"/>
            <a:r>
              <a:rPr lang="zh-CN" altLang="en-US" b="1" dirty="0">
                <a:latin typeface="Times New Roman" panose="02020603050405020304" pitchFamily="18" charset="0"/>
                <a:cs typeface="Times New Roman" panose="02020603050405020304" pitchFamily="18" charset="0"/>
              </a:rPr>
              <a:t>逻辑</a:t>
            </a:r>
            <a:r>
              <a:rPr lang="en-US" altLang="zh-CN" b="1" dirty="0">
                <a:latin typeface="Times New Roman" panose="02020603050405020304" pitchFamily="18" charset="0"/>
                <a:cs typeface="Times New Roman" panose="02020603050405020304" pitchFamily="18" charset="0"/>
              </a:rPr>
              <a:t>Agent</a:t>
            </a:r>
            <a:endParaRPr lang="zh-CN" altLang="en-US" dirty="0"/>
          </a:p>
        </p:txBody>
      </p:sp>
      <p:sp>
        <p:nvSpPr>
          <p:cNvPr id="7" name="Footer Placeholder 4">
            <a:extLst>
              <a:ext uri="{FF2B5EF4-FFF2-40B4-BE49-F238E27FC236}">
                <a16:creationId xmlns:a16="http://schemas.microsoft.com/office/drawing/2014/main" id="{4806CA45-6700-47CF-BC3F-21BFF5179890}"/>
              </a:ext>
            </a:extLst>
          </p:cNvPr>
          <p:cNvSpPr>
            <a:spLocks noGrp="1" noChangeArrowheads="1"/>
          </p:cNvSpPr>
          <p:nvPr>
            <p:ph type="ftr" sz="quarter" idx="11"/>
          </p:nvPr>
        </p:nvSpPr>
        <p:spPr bwMode="auto">
          <a:xfrm>
            <a:off x="4038600" y="6356350"/>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ea typeface="宋体" panose="02010600030101010101" pitchFamily="2" charset="-122"/>
              </a:rPr>
              <a:t>Artificial Intelligence a modern approach</a:t>
            </a:r>
          </a:p>
        </p:txBody>
      </p:sp>
      <p:sp>
        <p:nvSpPr>
          <p:cNvPr id="8" name="内容占位符 2">
            <a:extLst>
              <a:ext uri="{FF2B5EF4-FFF2-40B4-BE49-F238E27FC236}">
                <a16:creationId xmlns:a16="http://schemas.microsoft.com/office/drawing/2014/main" id="{C02DCDD6-AEEB-41BC-9022-ABC07AE73657}"/>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a:p>
        </p:txBody>
      </p:sp>
    </p:spTree>
    <p:extLst>
      <p:ext uri="{BB962C8B-B14F-4D97-AF65-F5344CB8AC3E}">
        <p14:creationId xmlns:p14="http://schemas.microsoft.com/office/powerpoint/2010/main" val="1741153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DCBCB435-963E-06E6-8C18-E9FE46D127DA}"/>
              </a:ext>
            </a:extLst>
          </p:cNvPr>
          <p:cNvSpPr>
            <a:spLocks noGrp="1" noChangeArrowheads="1"/>
          </p:cNvSpPr>
          <p:nvPr>
            <p:ph type="title"/>
          </p:nvPr>
        </p:nvSpPr>
        <p:spPr/>
        <p:txBody>
          <a:bodyPr/>
          <a:lstStyle/>
          <a:p>
            <a:pPr eaLnBrk="1" hangingPunct="1"/>
            <a:r>
              <a:rPr lang="en-US" altLang="zh-CN" dirty="0">
                <a:solidFill>
                  <a:schemeClr val="tx1"/>
                </a:solidFill>
              </a:rPr>
              <a:t>Propositional Logic Truth Table</a:t>
            </a:r>
            <a:endParaRPr lang="en-US" altLang="zh-CN" dirty="0">
              <a:solidFill>
                <a:srgbClr val="515223"/>
              </a:solidFill>
              <a:ea typeface="MS PGothic" panose="020B0600070205080204" pitchFamily="34" charset="-128"/>
            </a:endParaRPr>
          </a:p>
        </p:txBody>
      </p:sp>
      <p:sp>
        <p:nvSpPr>
          <p:cNvPr id="21506" name="Footer Placeholder 4">
            <a:extLst>
              <a:ext uri="{FF2B5EF4-FFF2-40B4-BE49-F238E27FC236}">
                <a16:creationId xmlns:a16="http://schemas.microsoft.com/office/drawing/2014/main" id="{D86961A7-2E54-A165-593B-D45A0EF497F7}"/>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ea typeface="宋体" panose="02010600030101010101" pitchFamily="2" charset="-122"/>
              </a:rPr>
              <a:t>Artificial Intelligence a modern approach</a:t>
            </a:r>
          </a:p>
        </p:txBody>
      </p:sp>
      <p:sp>
        <p:nvSpPr>
          <p:cNvPr id="5" name="内容占位符 2">
            <a:extLst>
              <a:ext uri="{FF2B5EF4-FFF2-40B4-BE49-F238E27FC236}">
                <a16:creationId xmlns:a16="http://schemas.microsoft.com/office/drawing/2014/main" id="{E8F7629D-1552-44E5-AD5B-0382645833C6}"/>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olidFill>
                  <a:schemeClr val="accent3"/>
                </a:solidFill>
              </a:rPr>
              <a:t>Semantics</a:t>
            </a:r>
          </a:p>
          <a:p>
            <a:pPr lvl="1"/>
            <a:r>
              <a:rPr lang="en-US" altLang="zh-CN" dirty="0"/>
              <a:t>Defines the truth of a sentence </a:t>
            </a:r>
            <a:r>
              <a:rPr lang="en-US" altLang="zh-CN" dirty="0" err="1"/>
              <a:t>w.r.t.</a:t>
            </a:r>
            <a:r>
              <a:rPr lang="en-US" altLang="zh-CN" dirty="0"/>
              <a:t> a model.</a:t>
            </a:r>
          </a:p>
          <a:p>
            <a:pPr lvl="1"/>
            <a:r>
              <a:rPr lang="en-US" altLang="zh-CN" b="1" dirty="0">
                <a:solidFill>
                  <a:srgbClr val="FF0000"/>
                </a:solidFill>
              </a:rPr>
              <a:t>True</a:t>
            </a:r>
            <a:r>
              <a:rPr lang="en-US" altLang="zh-CN" dirty="0">
                <a:solidFill>
                  <a:srgbClr val="FF0000"/>
                </a:solidFill>
              </a:rPr>
              <a:t> is true </a:t>
            </a:r>
            <a:r>
              <a:rPr lang="en-US" altLang="zh-CN" dirty="0"/>
              <a:t>and </a:t>
            </a:r>
            <a:r>
              <a:rPr lang="en-US" altLang="zh-CN" b="1" dirty="0">
                <a:solidFill>
                  <a:srgbClr val="FF0000"/>
                </a:solidFill>
              </a:rPr>
              <a:t>False</a:t>
            </a:r>
            <a:r>
              <a:rPr lang="en-US" altLang="zh-CN" dirty="0">
                <a:solidFill>
                  <a:srgbClr val="FF0000"/>
                </a:solidFill>
              </a:rPr>
              <a:t> is false </a:t>
            </a:r>
            <a:r>
              <a:rPr lang="en-US" altLang="zh-CN" dirty="0"/>
              <a:t>in every model.</a:t>
            </a:r>
          </a:p>
          <a:p>
            <a:pPr lvl="1"/>
            <a:r>
              <a:rPr lang="en-US" altLang="zh-CN" dirty="0"/>
              <a:t>The truth value of every symbol must be specified in the </a:t>
            </a:r>
            <a:r>
              <a:rPr lang="en-US" altLang="zh-CN" sz="2800" dirty="0"/>
              <a:t>model.</a:t>
            </a:r>
            <a:endParaRPr lang="zh-CN" altLang="en-US" sz="2800" dirty="0"/>
          </a:p>
        </p:txBody>
      </p:sp>
      <p:pic>
        <p:nvPicPr>
          <p:cNvPr id="6" name="图片 5">
            <a:extLst>
              <a:ext uri="{FF2B5EF4-FFF2-40B4-BE49-F238E27FC236}">
                <a16:creationId xmlns:a16="http://schemas.microsoft.com/office/drawing/2014/main" id="{2A70CA67-F83C-4D7B-9DC8-24107C12FEC4}"/>
              </a:ext>
            </a:extLst>
          </p:cNvPr>
          <p:cNvPicPr>
            <a:picLocks noChangeAspect="1"/>
          </p:cNvPicPr>
          <p:nvPr/>
        </p:nvPicPr>
        <p:blipFill>
          <a:blip r:embed="rId3"/>
          <a:stretch>
            <a:fillRect/>
          </a:stretch>
        </p:blipFill>
        <p:spPr>
          <a:xfrm>
            <a:off x="181714" y="3926972"/>
            <a:ext cx="11828571" cy="2314286"/>
          </a:xfrm>
          <a:prstGeom prst="rect">
            <a:avLst/>
          </a:prstGeom>
        </p:spPr>
      </p:pic>
    </p:spTree>
    <p:extLst>
      <p:ext uri="{BB962C8B-B14F-4D97-AF65-F5344CB8AC3E}">
        <p14:creationId xmlns:p14="http://schemas.microsoft.com/office/powerpoint/2010/main" val="329831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逻辑</a:t>
            </a:r>
            <a:r>
              <a:rPr lang="en-US" altLang="zh-CN" b="1" dirty="0">
                <a:latin typeface="Times New Roman" panose="02020603050405020304" pitchFamily="18" charset="0"/>
                <a:cs typeface="Times New Roman" panose="02020603050405020304" pitchFamily="18" charset="0"/>
              </a:rPr>
              <a:t>Agent</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题目范围：能够回答命题逻辑的语法、语义、命题逻辑的推理模式或推理方法、理解书中怪兽世界任务的推理，包括</a:t>
                </a:r>
                <a14:m>
                  <m:oMath xmlns:m="http://schemas.openxmlformats.org/officeDocument/2006/math">
                    <m:sSub>
                      <m:sSubPr>
                        <m:ctrlPr>
                          <a:rPr lang="en-US" altLang="zh-CN" b="1" i="1" smtClean="0">
                            <a:latin typeface="Cambria Math" panose="02040503050406030204" pitchFamily="18" charset="0"/>
                            <a:cs typeface="Times New Roman" panose="02020603050405020304" pitchFamily="18" charset="0"/>
                          </a:rPr>
                        </m:ctrlPr>
                      </m:sSubPr>
                      <m:e>
                        <m:r>
                          <a:rPr lang="en-US" altLang="zh-CN" b="1" i="1" smtClean="0">
                            <a:latin typeface="Cambria Math" panose="02040503050406030204" pitchFamily="18" charset="0"/>
                            <a:cs typeface="Times New Roman" panose="02020603050405020304" pitchFamily="18" charset="0"/>
                          </a:rPr>
                          <m:t>𝑹</m:t>
                        </m:r>
                      </m:e>
                      <m:sub>
                        <m:r>
                          <a:rPr lang="en-US" altLang="zh-CN" b="1" i="1" smtClean="0">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𝑹</m:t>
                        </m:r>
                      </m:e>
                      <m:sub>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𝟏𝟎</m:t>
                        </m:r>
                      </m:sub>
                    </m:sSub>
                  </m:oMath>
                </a14:m>
                <a:r>
                  <a:rPr lang="zh-CN" altLang="en-US" b="1" dirty="0">
                    <a:latin typeface="Times New Roman" panose="02020603050405020304" pitchFamily="18" charset="0"/>
                    <a:cs typeface="Times New Roman" panose="02020603050405020304" pitchFamily="18" charset="0"/>
                  </a:rPr>
                  <a:t>的证明，以及</a:t>
                </a:r>
                <a14:m>
                  <m:oMath xmlns:m="http://schemas.openxmlformats.org/officeDocument/2006/math">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𝑹</m:t>
                        </m:r>
                      </m:e>
                      <m:sub>
                        <m:r>
                          <a:rPr lang="en-US" altLang="zh-CN" b="1" i="1" smtClean="0">
                            <a:latin typeface="Cambria Math" panose="02040503050406030204" pitchFamily="18" charset="0"/>
                            <a:cs typeface="Times New Roman" panose="02020603050405020304" pitchFamily="18" charset="0"/>
                          </a:rPr>
                          <m:t>𝟏</m:t>
                        </m:r>
                        <m:r>
                          <a:rPr lang="en-US" altLang="zh-CN" b="1" i="1">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ea typeface="Cambria Math" panose="02040503050406030204" pitchFamily="18" charset="0"/>
                            <a:cs typeface="Times New Roman" panose="02020603050405020304" pitchFamily="18" charset="0"/>
                          </a:rPr>
                          <m:t>𝑹</m:t>
                        </m:r>
                      </m:e>
                      <m:sub>
                        <m:r>
                          <a:rPr lang="en-US" altLang="zh-CN" b="1" i="1">
                            <a:latin typeface="Cambria Math" panose="02040503050406030204" pitchFamily="18" charset="0"/>
                            <a:ea typeface="Cambria Math" panose="02040503050406030204" pitchFamily="18" charset="0"/>
                            <a:cs typeface="Times New Roman" panose="02020603050405020304" pitchFamily="18" charset="0"/>
                          </a:rPr>
                          <m:t>𝟏</m:t>
                        </m:r>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𝟓</m:t>
                        </m:r>
                      </m:sub>
                    </m:sSub>
                  </m:oMath>
                </a14:m>
                <a:r>
                  <a:rPr lang="zh-CN" altLang="en-US" b="1" dirty="0">
                    <a:latin typeface="Times New Roman" panose="02020603050405020304" pitchFamily="18" charset="0"/>
                    <a:cs typeface="Times New Roman" panose="02020603050405020304" pitchFamily="18" charset="0"/>
                  </a:rPr>
                  <a:t>的将句子转换成合取范式，然后基于归结或反证法的证明。理解推理规则及公理，以便用于命题逻辑的推理。基于真值表的命题逻辑的连接符及其语义。</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043" t="-2381" r="-35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258734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标题 1"/>
              <p:cNvSpPr>
                <a:spLocks noGrp="1"/>
              </p:cNvSpPr>
              <p:nvPr>
                <p:ph type="title"/>
              </p:nvPr>
            </p:nvSpPr>
            <p:spPr>
              <a:xfrm>
                <a:off x="952901" y="5380523"/>
                <a:ext cx="10308657" cy="1155032"/>
              </a:xfrm>
            </p:spPr>
            <p:txBody>
              <a:bodyPr>
                <a:normAutofit/>
              </a:bodyPr>
              <a:lstStyle/>
              <a:p>
                <a:r>
                  <a:rPr lang="zh-CN" altLang="en-US" sz="2000" b="1" dirty="0">
                    <a:latin typeface="Times New Roman" panose="02020603050405020304" pitchFamily="18" charset="0"/>
                    <a:cs typeface="Times New Roman" panose="02020603050405020304" pitchFamily="18" charset="0"/>
                  </a:rPr>
                  <a:t>图</a:t>
                </a:r>
                <a:r>
                  <a:rPr lang="en-US" altLang="zh-CN" sz="2000" b="1" dirty="0">
                    <a:latin typeface="Times New Roman" panose="02020603050405020304" pitchFamily="18" charset="0"/>
                    <a:cs typeface="Times New Roman" panose="02020603050405020304" pitchFamily="18" charset="0"/>
                  </a:rPr>
                  <a:t>7.9</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为教材中给出的知识库构建的真值表。如果</a:t>
                </a:r>
                <a14:m>
                  <m:oMath xmlns:m="http://schemas.openxmlformats.org/officeDocument/2006/math">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𝑅</m:t>
                        </m:r>
                      </m:e>
                      <m:sub>
                        <m:r>
                          <a:rPr lang="en-US" altLang="zh-CN" sz="2000" b="0" i="1" smtClean="0">
                            <a:latin typeface="Cambria Math" panose="02040503050406030204" pitchFamily="18" charset="0"/>
                            <a:cs typeface="Times New Roman" panose="02020603050405020304" pitchFamily="18" charset="0"/>
                          </a:rPr>
                          <m:t>1</m:t>
                        </m:r>
                      </m:sub>
                    </m:sSub>
                  </m:oMath>
                </a14:m>
                <a:r>
                  <a:rPr lang="zh-CN" altLang="en-US" sz="2000" dirty="0">
                    <a:latin typeface="Times New Roman" panose="02020603050405020304" pitchFamily="18" charset="0"/>
                    <a:cs typeface="Times New Roman" panose="02020603050405020304" pitchFamily="18" charset="0"/>
                  </a:rPr>
                  <a:t>到</a:t>
                </a:r>
                <a14:m>
                  <m:oMath xmlns:m="http://schemas.openxmlformats.org/officeDocument/2006/math">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𝑅</m:t>
                        </m:r>
                      </m:e>
                      <m:sub>
                        <m:r>
                          <a:rPr lang="en-US" altLang="zh-CN" sz="2000" b="0" i="1" smtClean="0">
                            <a:latin typeface="Cambria Math" panose="02040503050406030204" pitchFamily="18" charset="0"/>
                            <a:cs typeface="Times New Roman" panose="02020603050405020304" pitchFamily="18" charset="0"/>
                          </a:rPr>
                          <m:t>5</m:t>
                        </m:r>
                      </m:sub>
                    </m:sSub>
                  </m:oMath>
                </a14:m>
                <a:r>
                  <a:rPr lang="zh-CN" altLang="en-US" sz="2000" dirty="0">
                    <a:latin typeface="Times New Roman" panose="02020603050405020304" pitchFamily="18" charset="0"/>
                    <a:cs typeface="Times New Roman" panose="02020603050405020304" pitchFamily="18" charset="0"/>
                  </a:rPr>
                  <a:t>都为真，则</a:t>
                </a:r>
                <a:r>
                  <a:rPr lang="en-US" altLang="zh-CN" sz="2000" i="1" dirty="0">
                    <a:latin typeface="Times New Roman" panose="02020603050405020304" pitchFamily="18" charset="0"/>
                    <a:cs typeface="Times New Roman" panose="02020603050405020304" pitchFamily="18" charset="0"/>
                  </a:rPr>
                  <a:t>KB</a:t>
                </a:r>
                <a:r>
                  <a:rPr lang="zh-CN" altLang="en-US" sz="2000" dirty="0">
                    <a:latin typeface="Times New Roman" panose="02020603050405020304" pitchFamily="18" charset="0"/>
                    <a:cs typeface="Times New Roman" panose="02020603050405020304" pitchFamily="18" charset="0"/>
                  </a:rPr>
                  <a:t>为真。这种情况只在</a:t>
                </a:r>
                <a:r>
                  <a:rPr lang="en-US" altLang="zh-CN" sz="2000" dirty="0">
                    <a:latin typeface="Times New Roman" panose="02020603050405020304" pitchFamily="18" charset="0"/>
                    <a:cs typeface="Times New Roman" panose="02020603050405020304" pitchFamily="18" charset="0"/>
                  </a:rPr>
                  <a:t>128</a:t>
                </a:r>
                <a:r>
                  <a:rPr lang="zh-CN" altLang="en-US" sz="2000" dirty="0">
                    <a:latin typeface="Times New Roman" panose="02020603050405020304" pitchFamily="18" charset="0"/>
                    <a:cs typeface="Times New Roman" panose="02020603050405020304" pitchFamily="18" charset="0"/>
                  </a:rPr>
                  <a:t>行的</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行中出现。在所有这</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行中，</a:t>
                </a:r>
                <a14:m>
                  <m:oMath xmlns:m="http://schemas.openxmlformats.org/officeDocument/2006/math">
                    <m:sSub>
                      <m:sSubPr>
                        <m:ctrlPr>
                          <a:rPr lang="en-US" altLang="zh-CN" sz="2000" i="1">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𝑃</m:t>
                        </m:r>
                      </m:e>
                      <m:sub>
                        <m:r>
                          <a:rPr lang="en-US" altLang="zh-CN" sz="2000" i="1">
                            <a:latin typeface="Cambria Math" panose="02040503050406030204" pitchFamily="18" charset="0"/>
                            <a:cs typeface="Times New Roman" panose="02020603050405020304" pitchFamily="18" charset="0"/>
                          </a:rPr>
                          <m:t>1</m:t>
                        </m:r>
                        <m:r>
                          <a:rPr lang="en-US" altLang="zh-CN" sz="2000" b="0" i="1" smtClean="0">
                            <a:latin typeface="Cambria Math" panose="02040503050406030204" pitchFamily="18" charset="0"/>
                            <a:cs typeface="Times New Roman" panose="02020603050405020304" pitchFamily="18" charset="0"/>
                          </a:rPr>
                          <m:t>,2</m:t>
                        </m:r>
                      </m:sub>
                    </m:sSub>
                  </m:oMath>
                </a14:m>
                <a:r>
                  <a:rPr lang="zh-CN" altLang="en-US" sz="2000" dirty="0">
                    <a:latin typeface="Times New Roman" panose="02020603050405020304" pitchFamily="18" charset="0"/>
                    <a:cs typeface="Times New Roman" panose="02020603050405020304" pitchFamily="18" charset="0"/>
                  </a:rPr>
                  <a:t>为假，因此</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[1,2]</m:t>
                    </m:r>
                  </m:oMath>
                </a14:m>
                <a:r>
                  <a:rPr lang="zh-CN" altLang="en-US" sz="2000" dirty="0">
                    <a:latin typeface="Times New Roman" panose="02020603050405020304" pitchFamily="18" charset="0"/>
                    <a:cs typeface="Times New Roman" panose="02020603050405020304" pitchFamily="18" charset="0"/>
                  </a:rPr>
                  <a:t>中没有陷阱。另一方面</a:t>
                </a:r>
                <a14:m>
                  <m:oMath xmlns:m="http://schemas.openxmlformats.org/officeDocument/2006/math">
                    <m:r>
                      <a:rPr lang="en-US" altLang="zh-CN" sz="2000" i="1">
                        <a:latin typeface="Cambria Math" panose="02040503050406030204" pitchFamily="18" charset="0"/>
                        <a:cs typeface="Times New Roman" panose="02020603050405020304" pitchFamily="18" charset="0"/>
                      </a:rPr>
                      <m:t>[</m:t>
                    </m:r>
                    <m:r>
                      <a:rPr lang="en-US" altLang="zh-CN" sz="2000" i="1" smtClean="0">
                        <a:latin typeface="Cambria Math" panose="02040503050406030204" pitchFamily="18" charset="0"/>
                        <a:cs typeface="Times New Roman" panose="02020603050405020304" pitchFamily="18" charset="0"/>
                      </a:rPr>
                      <m:t>2</m:t>
                    </m:r>
                    <m:r>
                      <a:rPr lang="en-US" altLang="zh-CN" sz="2000" i="1">
                        <a:latin typeface="Cambria Math" panose="02040503050406030204" pitchFamily="18" charset="0"/>
                        <a:cs typeface="Times New Roman" panose="02020603050405020304" pitchFamily="18" charset="0"/>
                      </a:rPr>
                      <m:t>,2]</m:t>
                    </m:r>
                  </m:oMath>
                </a14:m>
                <a:r>
                  <a:rPr lang="zh-CN" altLang="en-US" sz="2000" dirty="0">
                    <a:latin typeface="Times New Roman" panose="02020603050405020304" pitchFamily="18" charset="0"/>
                    <a:cs typeface="Times New Roman" panose="02020603050405020304" pitchFamily="18" charset="0"/>
                  </a:rPr>
                  <a:t>中可能有，也可能没有陷阱</a:t>
                </a:r>
              </a:p>
            </p:txBody>
          </p:sp>
        </mc:Choice>
        <mc:Fallback xmlns="">
          <p:sp>
            <p:nvSpPr>
              <p:cNvPr id="4" name="标题 1"/>
              <p:cNvSpPr>
                <a:spLocks noGrp="1" noRot="1" noChangeAspect="1" noMove="1" noResize="1" noEditPoints="1" noAdjustHandles="1" noChangeArrowheads="1" noChangeShapeType="1" noTextEdit="1"/>
              </p:cNvSpPr>
              <p:nvPr>
                <p:ph type="title"/>
              </p:nvPr>
            </p:nvSpPr>
            <p:spPr>
              <a:xfrm>
                <a:off x="952901" y="5380523"/>
                <a:ext cx="10308657" cy="1155032"/>
              </a:xfrm>
              <a:blipFill rotWithShape="0">
                <a:blip r:embed="rId2"/>
                <a:stretch>
                  <a:fillRect l="-591"/>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1407744" y="1065647"/>
            <a:ext cx="9045097" cy="4016492"/>
          </a:xfrm>
          <a:prstGeom prst="rect">
            <a:avLst/>
          </a:prstGeom>
        </p:spPr>
      </p:pic>
    </p:spTree>
    <p:extLst>
      <p:ext uri="{BB962C8B-B14F-4D97-AF65-F5344CB8AC3E}">
        <p14:creationId xmlns:p14="http://schemas.microsoft.com/office/powerpoint/2010/main" val="42322476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等价、合法性和可满足性</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14:m>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smtClean="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smtClean="0">
                        <a:latin typeface="Cambria Math" panose="02040503050406030204" pitchFamily="18" charset="0"/>
                        <a:cs typeface="Times New Roman" panose="02020603050405020304" pitchFamily="18" charset="0"/>
                      </a:rPr>
                      <m:t>)</m:t>
                    </m:r>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b="1" dirty="0">
                    <a:cs typeface="Times New Roman" panose="02020603050405020304" pitchFamily="18" charset="0"/>
                  </a:rPr>
                  <a:t> </a:t>
                </a:r>
                <a14:m>
                  <m:oMath xmlns:m="http://schemas.openxmlformats.org/officeDocument/2006/math">
                    <m:r>
                      <a:rPr lang="en-US" altLang="zh-CN" b="1" i="1" dirty="0">
                        <a:latin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cs typeface="Times New Roman" panose="02020603050405020304" pitchFamily="18" charset="0"/>
                      </a:rPr>
                      <m:t>)</m:t>
                    </m:r>
                  </m:oMath>
                </a14:m>
                <a:r>
                  <a:rPr lang="zh-CN" altLang="en-US" dirty="0"/>
                  <a:t> </a:t>
                </a:r>
                <a14:m>
                  <m:oMath xmlns:m="http://schemas.openxmlformats.org/officeDocument/2006/math">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的</a:t>
                </a:r>
                <a:r>
                  <a:rPr lang="zh-CN" altLang="en-US" b="1" dirty="0">
                    <a:solidFill>
                      <a:srgbClr val="002060"/>
                    </a:solidFill>
                    <a:latin typeface="Times New Roman" panose="02020603050405020304" pitchFamily="18" charset="0"/>
                    <a:cs typeface="Times New Roman" panose="02020603050405020304" pitchFamily="18" charset="0"/>
                  </a:rPr>
                  <a:t>可交换性</a:t>
                </a:r>
                <a:endParaRPr lang="en-US" altLang="zh-CN" b="1" dirty="0">
                  <a:solidFill>
                    <a:srgbClr val="002060"/>
                  </a:solidFill>
                  <a:latin typeface="Times New Roman" panose="02020603050405020304" pitchFamily="18" charset="0"/>
                  <a:cs typeface="Times New Roman" panose="02020603050405020304" pitchFamily="18" charset="0"/>
                </a:endParaRPr>
              </a:p>
              <a:p>
                <a14:m>
                  <m:oMath xmlns:m="http://schemas.openxmlformats.org/officeDocument/2006/math">
                    <m:r>
                      <a:rPr lang="en-US" altLang="zh-CN" b="1" i="1" dirty="0">
                        <a:latin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a:latin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b="1" dirty="0">
                    <a:cs typeface="Times New Roman" panose="02020603050405020304" pitchFamily="18" charset="0"/>
                  </a:rPr>
                  <a:t> </a:t>
                </a:r>
                <a14:m>
                  <m:oMath xmlns:m="http://schemas.openxmlformats.org/officeDocument/2006/math">
                    <m:d>
                      <m:dPr>
                        <m:ctrlPr>
                          <a:rPr lang="en-US" altLang="zh-CN" b="1" i="1" dirty="0">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e>
                    </m:d>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的</a:t>
                </a:r>
                <a:r>
                  <a:rPr lang="zh-CN" altLang="en-US" b="1" dirty="0">
                    <a:solidFill>
                      <a:srgbClr val="002060"/>
                    </a:solidFill>
                    <a:latin typeface="Times New Roman" panose="02020603050405020304" pitchFamily="18" charset="0"/>
                    <a:cs typeface="Times New Roman" panose="02020603050405020304" pitchFamily="18" charset="0"/>
                  </a:rPr>
                  <a:t>可交换性</a:t>
                </a:r>
                <a:endParaRPr lang="en-US" altLang="zh-CN" b="1" dirty="0">
                  <a:solidFill>
                    <a:srgbClr val="002060"/>
                  </a:solidFill>
                  <a:latin typeface="Times New Roman" panose="02020603050405020304" pitchFamily="18" charset="0"/>
                  <a:cs typeface="Times New Roman" panose="02020603050405020304" pitchFamily="18" charset="0"/>
                </a:endParaRPr>
              </a:p>
              <a:p>
                <a14:m>
                  <m:oMath xmlns:m="http://schemas.openxmlformats.org/officeDocument/2006/math">
                    <m:r>
                      <a:rPr lang="en-US" altLang="zh-CN" b="1" i="1" dirty="0">
                        <a:latin typeface="Cambria Math" panose="02040503050406030204" pitchFamily="18" charset="0"/>
                        <a:cs typeface="Times New Roman" panose="02020603050405020304" pitchFamily="18" charset="0"/>
                      </a:rPr>
                      <m:t>(</m:t>
                    </m:r>
                    <m:r>
                      <a:rPr lang="en-US" altLang="zh-CN" b="1" i="1" dirty="0" smtClean="0">
                        <a:latin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smtClean="0">
                        <a:latin typeface="Cambria Math" panose="02040503050406030204" pitchFamily="18" charset="0"/>
                        <a:ea typeface="Cambria Math" panose="02040503050406030204" pitchFamily="18" charset="0"/>
                        <a:cs typeface="Times New Roman" panose="02020603050405020304" pitchFamily="18" charset="0"/>
                      </a:rPr>
                      <m:t>𝜸</m:t>
                    </m:r>
                    <m:r>
                      <a:rPr lang="en-US" altLang="zh-CN" b="1" i="1" dirty="0">
                        <a:latin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𝜸</m:t>
                        </m:r>
                      </m:e>
                    </m:d>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 </a:t>
                </a:r>
                <a14:m>
                  <m:oMath xmlns:m="http://schemas.openxmlformats.org/officeDocument/2006/math">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的</a:t>
                </a:r>
                <a:r>
                  <a:rPr lang="zh-CN" altLang="en-US" b="1" dirty="0">
                    <a:solidFill>
                      <a:srgbClr val="002060"/>
                    </a:solidFill>
                    <a:latin typeface="Times New Roman" panose="02020603050405020304" pitchFamily="18" charset="0"/>
                    <a:cs typeface="Times New Roman" panose="02020603050405020304" pitchFamily="18" charset="0"/>
                  </a:rPr>
                  <a:t>结合律</a:t>
                </a:r>
                <a:endParaRPr lang="en-US" altLang="zh-CN" b="1" dirty="0">
                  <a:solidFill>
                    <a:srgbClr val="002060"/>
                  </a:solidFill>
                  <a:latin typeface="Times New Roman" panose="02020603050405020304" pitchFamily="18" charset="0"/>
                  <a:cs typeface="Times New Roman" panose="02020603050405020304" pitchFamily="18" charset="0"/>
                </a:endParaRPr>
              </a:p>
              <a:p>
                <a14:m>
                  <m:oMath xmlns:m="http://schemas.openxmlformats.org/officeDocument/2006/math">
                    <m:d>
                      <m:dPr>
                        <m:ctrlPr>
                          <a:rPr lang="en-US" altLang="zh-CN" b="1" i="1" dirty="0">
                            <a:latin typeface="Cambria Math" panose="02040503050406030204" pitchFamily="18" charset="0"/>
                            <a:ea typeface="Cambria Math" panose="02040503050406030204" pitchFamily="18" charset="0"/>
                            <a:cs typeface="Times New Roman" panose="02020603050405020304" pitchFamily="18" charset="0"/>
                          </a:rPr>
                        </m:ctrlPr>
                      </m:dPr>
                      <m:e>
                        <m:d>
                          <m:dPr>
                            <m:ctrlPr>
                              <a:rPr lang="en-US" altLang="zh-CN" b="1" i="1" dirty="0">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e>
                        </m:d>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𝜸</m:t>
                        </m:r>
                      </m:e>
                    </m:d>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b="1" i="1" dirty="0">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b="1" i="1" dirty="0">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𝜸</m:t>
                            </m:r>
                          </m:e>
                        </m:d>
                      </m:e>
                    </m:d>
                  </m:oMath>
                </a14:m>
                <a:r>
                  <a:rPr lang="zh-CN" altLang="en-US" b="1" dirty="0">
                    <a:latin typeface="Times New Roman" panose="02020603050405020304" pitchFamily="18" charset="0"/>
                    <a:cs typeface="Times New Roman" panose="02020603050405020304" pitchFamily="18" charset="0"/>
                  </a:rPr>
                  <a:t> </a:t>
                </a:r>
                <a14:m>
                  <m:oMath xmlns:m="http://schemas.openxmlformats.org/officeDocument/2006/math">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的</a:t>
                </a:r>
                <a:r>
                  <a:rPr lang="zh-CN" altLang="en-US" b="1" dirty="0">
                    <a:solidFill>
                      <a:srgbClr val="002060"/>
                    </a:solidFill>
                    <a:latin typeface="Times New Roman" panose="02020603050405020304" pitchFamily="18" charset="0"/>
                    <a:cs typeface="Times New Roman" panose="02020603050405020304" pitchFamily="18" charset="0"/>
                  </a:rPr>
                  <a:t>结合律</a:t>
                </a:r>
                <a:endParaRPr lang="en-US" altLang="zh-CN" b="1" dirty="0">
                  <a:solidFill>
                    <a:srgbClr val="002060"/>
                  </a:solidFill>
                  <a:latin typeface="Times New Roman" panose="02020603050405020304" pitchFamily="18" charset="0"/>
                  <a:cs typeface="Times New Roman" panose="02020603050405020304" pitchFamily="18" charset="0"/>
                </a:endParaRPr>
              </a:p>
              <a:p>
                <a14:m>
                  <m:oMath xmlns:m="http://schemas.openxmlformats.org/officeDocument/2006/math">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smtClean="0">
                            <a:latin typeface="Cambria Math" panose="02040503050406030204" pitchFamily="18" charset="0"/>
                            <a:ea typeface="Cambria Math" panose="02040503050406030204" pitchFamily="18" charset="0"/>
                            <a:cs typeface="Times New Roman" panose="02020603050405020304" pitchFamily="18" charset="0"/>
                          </a:rPr>
                          <m:t>𝜶</m:t>
                        </m:r>
                      </m:e>
                    </m:d>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 </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oMath>
                </a14:m>
                <a:r>
                  <a:rPr lang="zh-CN" altLang="en-US" b="1" dirty="0">
                    <a:solidFill>
                      <a:srgbClr val="002060"/>
                    </a:solidFill>
                    <a:latin typeface="Times New Roman" panose="02020603050405020304" pitchFamily="18" charset="0"/>
                    <a:cs typeface="Times New Roman" panose="02020603050405020304" pitchFamily="18" charset="0"/>
                  </a:rPr>
                  <a:t>双重否定消去</a:t>
                </a:r>
                <a:endParaRPr lang="en-US" altLang="zh-CN" b="1" dirty="0">
                  <a:solidFill>
                    <a:srgbClr val="002060"/>
                  </a:solidFill>
                  <a:latin typeface="Times New Roman" panose="02020603050405020304" pitchFamily="18" charset="0"/>
                  <a:cs typeface="Times New Roman" panose="02020603050405020304" pitchFamily="18" charset="0"/>
                </a:endParaRPr>
              </a:p>
              <a:p>
                <a14:m>
                  <m:oMath xmlns:m="http://schemas.openxmlformats.org/officeDocument/2006/math">
                    <m:d>
                      <m:dPr>
                        <m:ctrlPr>
                          <a:rPr lang="en-US" altLang="zh-CN" b="1" i="1" dirty="0">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e>
                    </m:d>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  </a:t>
                </a:r>
                <a:r>
                  <a:rPr lang="zh-CN" altLang="en-US" b="1" dirty="0">
                    <a:solidFill>
                      <a:srgbClr val="002060"/>
                    </a:solidFill>
                    <a:latin typeface="Times New Roman" panose="02020603050405020304" pitchFamily="18" charset="0"/>
                    <a:cs typeface="Times New Roman" panose="02020603050405020304" pitchFamily="18" charset="0"/>
                  </a:rPr>
                  <a:t>逆否命题</a:t>
                </a:r>
                <a:endParaRPr lang="en-US" altLang="zh-CN" b="1" dirty="0">
                  <a:solidFill>
                    <a:srgbClr val="002060"/>
                  </a:solidFill>
                  <a:latin typeface="Times New Roman" panose="02020603050405020304" pitchFamily="18" charset="0"/>
                  <a:cs typeface="Times New Roman" panose="02020603050405020304" pitchFamily="18" charset="0"/>
                </a:endParaRPr>
              </a:p>
              <a:p>
                <a14:m>
                  <m:oMath xmlns:m="http://schemas.openxmlformats.org/officeDocument/2006/math">
                    <m:d>
                      <m:dPr>
                        <m:ctrlPr>
                          <a:rPr lang="en-US" altLang="zh-CN" b="1" i="1" dirty="0">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e>
                    </m:d>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  </a:t>
                </a:r>
                <a:r>
                  <a:rPr lang="zh-CN" altLang="en-US" b="1" dirty="0">
                    <a:solidFill>
                      <a:srgbClr val="002060"/>
                    </a:solidFill>
                    <a:latin typeface="Times New Roman" panose="02020603050405020304" pitchFamily="18" charset="0"/>
                    <a:cs typeface="Times New Roman" panose="02020603050405020304" pitchFamily="18" charset="0"/>
                  </a:rPr>
                  <a:t>蕴涵消去</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t="-29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898628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等价、合法性和可满足性</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14:m>
                  <m:oMath xmlns:m="http://schemas.openxmlformats.org/officeDocument/2006/math">
                    <m:d>
                      <m:dPr>
                        <m:ctrlP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e>
                    </m:d>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b="1" dirty="0">
                    <a:solidFill>
                      <a:srgbClr val="002060"/>
                    </a:solidFill>
                    <a:latin typeface="Times New Roman" panose="02020603050405020304" pitchFamily="18" charset="0"/>
                    <a:cs typeface="Times New Roman" panose="02020603050405020304" pitchFamily="18" charset="0"/>
                  </a:rPr>
                  <a:t>双向蕴涵消去</a:t>
                </a:r>
                <a:endParaRPr lang="en-US" altLang="zh-CN" b="1" dirty="0">
                  <a:solidFill>
                    <a:srgbClr val="002060"/>
                  </a:solidFill>
                  <a:latin typeface="Times New Roman" panose="02020603050405020304" pitchFamily="18" charset="0"/>
                  <a:cs typeface="Times New Roman" panose="02020603050405020304" pitchFamily="18" charset="0"/>
                </a:endParaRPr>
              </a:p>
              <a:p>
                <a14:m>
                  <m:oMath xmlns:m="http://schemas.openxmlformats.org/officeDocument/2006/math">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a:latin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0"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0" dirty="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b="1" dirty="0">
                    <a:latin typeface="Times New Roman" panose="02020603050405020304" pitchFamily="18" charset="0"/>
                    <a:cs typeface="Times New Roman" panose="02020603050405020304" pitchFamily="18" charset="0"/>
                  </a:rPr>
                  <a:t>  </a:t>
                </a:r>
                <a:r>
                  <a:rPr lang="zh-CN" altLang="en-US" b="1" dirty="0">
                    <a:solidFill>
                      <a:srgbClr val="002060"/>
                    </a:solidFill>
                    <a:latin typeface="Times New Roman" panose="02020603050405020304" pitchFamily="18" charset="0"/>
                    <a:cs typeface="Times New Roman" panose="02020603050405020304" pitchFamily="18" charset="0"/>
                  </a:rPr>
                  <a:t>摩根律</a:t>
                </a:r>
                <a:endParaRPr lang="en-US" altLang="zh-CN" b="1" dirty="0">
                  <a:solidFill>
                    <a:srgbClr val="002060"/>
                  </a:solidFill>
                  <a:latin typeface="Times New Roman" panose="02020603050405020304" pitchFamily="18" charset="0"/>
                  <a:cs typeface="Times New Roman" panose="02020603050405020304" pitchFamily="18" charset="0"/>
                </a:endParaRPr>
              </a:p>
              <a:p>
                <a14:m>
                  <m:oMath xmlns:m="http://schemas.openxmlformats.org/officeDocument/2006/math">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a:latin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dirty="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b="1" dirty="0">
                    <a:latin typeface="Times New Roman" panose="02020603050405020304" pitchFamily="18" charset="0"/>
                    <a:cs typeface="Times New Roman" panose="02020603050405020304" pitchFamily="18" charset="0"/>
                  </a:rPr>
                  <a:t>  </a:t>
                </a:r>
                <a:r>
                  <a:rPr lang="zh-CN" altLang="en-US" b="1" dirty="0">
                    <a:solidFill>
                      <a:srgbClr val="002060"/>
                    </a:solidFill>
                    <a:latin typeface="Times New Roman" panose="02020603050405020304" pitchFamily="18" charset="0"/>
                    <a:cs typeface="Times New Roman" panose="02020603050405020304" pitchFamily="18" charset="0"/>
                  </a:rPr>
                  <a:t>摩根律</a:t>
                </a:r>
                <a:endParaRPr lang="en-US" altLang="zh-CN" b="1" dirty="0">
                  <a:solidFill>
                    <a:srgbClr val="002060"/>
                  </a:solidFill>
                  <a:latin typeface="Times New Roman" panose="02020603050405020304" pitchFamily="18" charset="0"/>
                  <a:cs typeface="Times New Roman" panose="02020603050405020304" pitchFamily="18" charset="0"/>
                </a:endParaRPr>
              </a:p>
              <a:p>
                <a14:m>
                  <m:oMath xmlns:m="http://schemas.openxmlformats.org/officeDocument/2006/math">
                    <m:r>
                      <a:rPr lang="en-US" altLang="zh-CN" b="1" i="1" dirty="0">
                        <a:latin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smtClean="0">
                        <a:latin typeface="Cambria Math" panose="02040503050406030204" pitchFamily="18" charset="0"/>
                        <a:ea typeface="Cambria Math" panose="02040503050406030204" pitchFamily="18" charset="0"/>
                        <a:cs typeface="Times New Roman" panose="02020603050405020304" pitchFamily="18" charset="0"/>
                      </a:rPr>
                      <m:t>𝜸</m:t>
                    </m:r>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𝜸</m:t>
                    </m:r>
                    <m:r>
                      <a:rPr lang="en-US" altLang="zh-CN" b="1" dirty="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 </a:t>
                </a:r>
                <a14:m>
                  <m:oMath xmlns:m="http://schemas.openxmlformats.org/officeDocument/2006/math">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smtClean="0">
                        <a:latin typeface="Cambria Math" panose="02040503050406030204" pitchFamily="18" charset="0"/>
                        <a:ea typeface="Cambria Math" panose="02040503050406030204" pitchFamily="18" charset="0"/>
                        <a:cs typeface="Times New Roman" panose="02020603050405020304" pitchFamily="18" charset="0"/>
                      </a:rPr>
                      <m:t>对</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的</a:t>
                </a:r>
                <a:r>
                  <a:rPr lang="zh-CN" altLang="en-US" b="1" dirty="0">
                    <a:solidFill>
                      <a:srgbClr val="002060"/>
                    </a:solidFill>
                    <a:latin typeface="Times New Roman" panose="02020603050405020304" pitchFamily="18" charset="0"/>
                    <a:cs typeface="Times New Roman" panose="02020603050405020304" pitchFamily="18" charset="0"/>
                  </a:rPr>
                  <a:t>分配律</a:t>
                </a:r>
                <a:endParaRPr lang="en-US" altLang="zh-CN" b="1" dirty="0">
                  <a:solidFill>
                    <a:srgbClr val="002060"/>
                  </a:solidFill>
                  <a:latin typeface="Times New Roman" panose="02020603050405020304" pitchFamily="18" charset="0"/>
                  <a:cs typeface="Times New Roman" panose="02020603050405020304" pitchFamily="18" charset="0"/>
                </a:endParaRPr>
              </a:p>
              <a:p>
                <a14:m>
                  <m:oMath xmlns:m="http://schemas.openxmlformats.org/officeDocument/2006/math">
                    <m:r>
                      <a:rPr lang="en-US" altLang="zh-CN" b="1" i="1" dirty="0">
                        <a:latin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𝜸</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𝜷</m:t>
                    </m:r>
                    <m:r>
                      <a:rPr lang="en-US" altLang="zh-CN" b="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𝜸</m:t>
                    </m:r>
                    <m:r>
                      <a:rPr lang="en-US" altLang="zh-CN" b="1" dirty="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 </a:t>
                </a:r>
                <a14:m>
                  <m:oMath xmlns:m="http://schemas.openxmlformats.org/officeDocument/2006/math">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 </m:t>
                    </m:r>
                    <m:r>
                      <a:rPr lang="zh-CN" altLang="en-US" b="1" i="1" dirty="0">
                        <a:latin typeface="Cambria Math" panose="02040503050406030204" pitchFamily="18" charset="0"/>
                        <a:ea typeface="Cambria Math" panose="02040503050406030204" pitchFamily="18" charset="0"/>
                        <a:cs typeface="Times New Roman" panose="02020603050405020304" pitchFamily="18" charset="0"/>
                      </a:rPr>
                      <m:t>对</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b="1" dirty="0">
                    <a:latin typeface="Times New Roman" panose="02020603050405020304" pitchFamily="18" charset="0"/>
                    <a:cs typeface="Times New Roman" panose="02020603050405020304" pitchFamily="18" charset="0"/>
                  </a:rPr>
                  <a:t>的</a:t>
                </a:r>
                <a:r>
                  <a:rPr lang="zh-CN" altLang="en-US" b="1" dirty="0">
                    <a:solidFill>
                      <a:srgbClr val="002060"/>
                    </a:solidFill>
                    <a:latin typeface="Times New Roman" panose="02020603050405020304" pitchFamily="18" charset="0"/>
                    <a:cs typeface="Times New Roman" panose="02020603050405020304" pitchFamily="18" charset="0"/>
                  </a:rPr>
                  <a:t>分配律</a:t>
                </a:r>
                <a:endParaRPr lang="en-US" altLang="zh-CN" b="1" dirty="0">
                  <a:solidFill>
                    <a:srgbClr val="002060"/>
                  </a:solidFill>
                  <a:latin typeface="Times New Roman" panose="02020603050405020304" pitchFamily="18" charset="0"/>
                  <a:cs typeface="Times New Roman" panose="02020603050405020304" pitchFamily="18" charset="0"/>
                </a:endParaRPr>
              </a:p>
              <a:p>
                <a:endParaRPr lang="en-US" altLang="zh-CN" b="1" dirty="0">
                  <a:latin typeface="Times New Roman" panose="02020603050405020304" pitchFamily="18" charset="0"/>
                  <a:cs typeface="Times New Roman" panose="02020603050405020304" pitchFamily="18" charset="0"/>
                </a:endParaRPr>
              </a:p>
              <a:p>
                <a:endParaRPr lang="en-US" altLang="zh-CN" b="1" dirty="0">
                  <a:latin typeface="Times New Roman" panose="02020603050405020304" pitchFamily="18" charset="0"/>
                  <a:cs typeface="Times New Roman" panose="02020603050405020304" pitchFamily="18" charset="0"/>
                </a:endParaRPr>
              </a:p>
              <a:p>
                <a:endParaRPr lang="en-US" altLang="zh-CN" b="1" dirty="0">
                  <a:latin typeface="Times New Roman" panose="02020603050405020304" pitchFamily="18" charset="0"/>
                  <a:cs typeface="Times New Roman" panose="02020603050405020304" pitchFamily="18" charset="0"/>
                </a:endParaRPr>
              </a:p>
              <a:p>
                <a:endParaRPr lang="en-US" altLang="zh-CN" b="1"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t="-2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433561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归结</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14:m>
                  <m:oMath xmlns:m="http://schemas.openxmlformats.org/officeDocument/2006/math">
                    <m:sSub>
                      <m:sSubPr>
                        <m:ctrlPr>
                          <a:rPr lang="en-US" altLang="zh-CN" b="1" i="1" smtClean="0">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𝑹</m:t>
                        </m:r>
                      </m:e>
                      <m:sub>
                        <m:r>
                          <a:rPr lang="en-US" altLang="zh-CN" b="1" i="1">
                            <a:latin typeface="Cambria Math" panose="02040503050406030204" pitchFamily="18" charset="0"/>
                            <a:cs typeface="Times New Roman" panose="02020603050405020304" pitchFamily="18" charset="0"/>
                          </a:rPr>
                          <m:t>𝟏</m:t>
                        </m:r>
                        <m:r>
                          <a:rPr lang="en-US" altLang="zh-CN" b="1" i="1" smtClean="0">
                            <a:latin typeface="Cambria Math" panose="02040503050406030204" pitchFamily="18" charset="0"/>
                            <a:cs typeface="Times New Roman" panose="02020603050405020304" pitchFamily="18" charset="0"/>
                          </a:rPr>
                          <m:t>𝟕</m:t>
                        </m:r>
                      </m:sub>
                    </m:sSub>
                    <m:r>
                      <a:rPr lang="en-US" altLang="zh-CN" b="1" i="1">
                        <a:latin typeface="Cambria Math" panose="02040503050406030204" pitchFamily="18" charset="0"/>
                        <a:cs typeface="Times New Roman" panose="02020603050405020304" pitchFamily="18" charset="0"/>
                      </a:rPr>
                      <m:t>:    </m:t>
                    </m:r>
                    <m:sSub>
                      <m:sSubPr>
                        <m:ctrlPr>
                          <a:rPr lang="en-US" altLang="zh-CN"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ea typeface="Cambria Math" panose="02040503050406030204" pitchFamily="18" charset="0"/>
                            <a:cs typeface="Times New Roman" panose="02020603050405020304" pitchFamily="18" charset="0"/>
                          </a:rPr>
                          <m:t>𝑷</m:t>
                        </m:r>
                      </m:e>
                      <m:sub>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𝟑</m:t>
                        </m:r>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𝟏</m:t>
                        </m:r>
                      </m:sub>
                    </m:sSub>
                  </m:oMath>
                </a14:m>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用自然语言描述，如果</a:t>
                </a:r>
                <a:r>
                  <a:rPr lang="en-US" altLang="zh-CN" b="1" dirty="0">
                    <a:latin typeface="Times New Roman" panose="02020603050405020304" pitchFamily="18" charset="0"/>
                    <a:cs typeface="Times New Roman" panose="02020603050405020304" pitchFamily="18" charset="0"/>
                  </a:rPr>
                  <a:t>[1, 1]</a:t>
                </a:r>
                <a:r>
                  <a:rPr lang="zh-CN" altLang="en-US" b="1" dirty="0">
                    <a:latin typeface="Times New Roman" panose="02020603050405020304" pitchFamily="18" charset="0"/>
                    <a:cs typeface="Times New Roman" panose="02020603050405020304" pitchFamily="18" charset="0"/>
                  </a:rPr>
                  <a:t>、或</a:t>
                </a:r>
                <a:r>
                  <a:rPr lang="en-US" altLang="zh-CN" b="1" dirty="0">
                    <a:latin typeface="Times New Roman" panose="02020603050405020304" pitchFamily="18" charset="0"/>
                    <a:cs typeface="Times New Roman" panose="02020603050405020304" pitchFamily="18" charset="0"/>
                  </a:rPr>
                  <a:t>[3, 1]</a:t>
                </a:r>
                <a:r>
                  <a:rPr lang="zh-CN" altLang="en-US" b="1" dirty="0">
                    <a:latin typeface="Times New Roman" panose="02020603050405020304" pitchFamily="18" charset="0"/>
                    <a:cs typeface="Times New Roman" panose="02020603050405020304" pitchFamily="18" charset="0"/>
                  </a:rPr>
                  <a:t>中的某个有陷阱，而且它不在</a:t>
                </a:r>
                <a:r>
                  <a:rPr lang="en-US" altLang="zh-CN" b="1" dirty="0">
                    <a:latin typeface="Times New Roman" panose="02020603050405020304" pitchFamily="18" charset="0"/>
                    <a:cs typeface="Times New Roman" panose="02020603050405020304" pitchFamily="18" charset="0"/>
                  </a:rPr>
                  <a:t>[1, 1]</a:t>
                </a:r>
                <a:r>
                  <a:rPr lang="zh-CN" altLang="en-US" b="1" dirty="0">
                    <a:latin typeface="Times New Roman" panose="02020603050405020304" pitchFamily="18" charset="0"/>
                    <a:cs typeface="Times New Roman" panose="02020603050405020304" pitchFamily="18" charset="0"/>
                  </a:rPr>
                  <a:t>中，那么它在</a:t>
                </a:r>
                <a:r>
                  <a:rPr lang="en-US" altLang="zh-CN" b="1" dirty="0">
                    <a:latin typeface="Times New Roman" panose="02020603050405020304" pitchFamily="18" charset="0"/>
                    <a:cs typeface="Times New Roman" panose="02020603050405020304" pitchFamily="18" charset="0"/>
                  </a:rPr>
                  <a:t>[3, 1]</a:t>
                </a:r>
                <a:r>
                  <a:rPr lang="zh-CN" altLang="en-US" b="1" dirty="0">
                    <a:latin typeface="Times New Roman" panose="02020603050405020304" pitchFamily="18" charset="0"/>
                    <a:cs typeface="Times New Roman" panose="02020603050405020304" pitchFamily="18" charset="0"/>
                  </a:rPr>
                  <a:t>中。最后这两个推理步骤是</a:t>
                </a:r>
                <a:r>
                  <a:rPr lang="zh-CN" altLang="en-US" b="1" dirty="0">
                    <a:solidFill>
                      <a:srgbClr val="002060"/>
                    </a:solidFill>
                    <a:latin typeface="Times New Roman" panose="02020603050405020304" pitchFamily="18" charset="0"/>
                    <a:cs typeface="Times New Roman" panose="02020603050405020304" pitchFamily="18" charset="0"/>
                  </a:rPr>
                  <a:t>单元归结</a:t>
                </a:r>
                <a:r>
                  <a:rPr lang="zh-CN" altLang="en-US" b="1" dirty="0">
                    <a:latin typeface="Times New Roman" panose="02020603050405020304" pitchFamily="18" charset="0"/>
                    <a:cs typeface="Times New Roman" panose="02020603050405020304" pitchFamily="18" charset="0"/>
                  </a:rPr>
                  <a:t>推理规则的范例。</a:t>
                </a:r>
                <a:endParaRPr lang="en-US" altLang="zh-CN" b="1" dirty="0">
                  <a:latin typeface="Times New Roman" panose="02020603050405020304" pitchFamily="18" charset="0"/>
                  <a:cs typeface="Times New Roman" panose="02020603050405020304" pitchFamily="18" charset="0"/>
                </a:endParaRPr>
              </a:p>
              <a:p>
                <a14:m>
                  <m:oMath xmlns:m="http://schemas.openxmlformats.org/officeDocument/2006/math">
                    <m:f>
                      <m:fPr>
                        <m:ctrlPr>
                          <a:rPr lang="en-US" altLang="zh-CN" b="1" i="1" smtClean="0">
                            <a:latin typeface="Cambria Math" panose="02040503050406030204" pitchFamily="18" charset="0"/>
                            <a:cs typeface="Times New Roman" panose="02020603050405020304" pitchFamily="18" charset="0"/>
                          </a:rPr>
                        </m:ctrlPr>
                      </m:fPr>
                      <m:num>
                        <m:sSub>
                          <m:sSubPr>
                            <m:ctrlPr>
                              <a:rPr lang="en-US" altLang="zh-CN" b="1" i="1" smtClean="0">
                                <a:latin typeface="Cambria Math" panose="02040503050406030204" pitchFamily="18" charset="0"/>
                                <a:cs typeface="Times New Roman" panose="02020603050405020304" pitchFamily="18" charset="0"/>
                              </a:rPr>
                            </m:ctrlPr>
                          </m:sSubPr>
                          <m:e>
                            <m:r>
                              <a:rPr lang="en-US" altLang="zh-CN" b="1" i="1" smtClean="0">
                                <a:latin typeface="Cambria Math" panose="02040503050406030204" pitchFamily="18" charset="0"/>
                                <a:cs typeface="Times New Roman" panose="02020603050405020304" pitchFamily="18" charset="0"/>
                              </a:rPr>
                              <m:t>𝒍</m:t>
                            </m:r>
                          </m:e>
                          <m:sub>
                            <m:r>
                              <a:rPr lang="en-US" altLang="zh-CN" b="1" i="1" smtClean="0">
                                <a:latin typeface="Cambria Math" panose="02040503050406030204" pitchFamily="18" charset="0"/>
                                <a:cs typeface="Times New Roman" panose="02020603050405020304" pitchFamily="18" charset="0"/>
                              </a:rPr>
                              <m:t>𝟏</m:t>
                            </m:r>
                          </m:sub>
                        </m:sSub>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𝒍</m:t>
                            </m:r>
                          </m:e>
                          <m:sub>
                            <m:r>
                              <a:rPr lang="en-US" altLang="zh-CN" b="1" i="1" smtClean="0">
                                <a:latin typeface="Cambria Math" panose="02040503050406030204" pitchFamily="18" charset="0"/>
                                <a:cs typeface="Times New Roman" panose="02020603050405020304" pitchFamily="18" charset="0"/>
                              </a:rPr>
                              <m:t>𝒌</m:t>
                            </m:r>
                          </m:sub>
                        </m:sSub>
                        <m:r>
                          <a:rPr lang="en-US" altLang="zh-CN" b="1" i="1" smtClean="0">
                            <a:latin typeface="Cambria Math" panose="02040503050406030204" pitchFamily="18" charset="0"/>
                            <a:cs typeface="Times New Roman" panose="02020603050405020304" pitchFamily="18" charset="0"/>
                          </a:rPr>
                          <m:t>      </m:t>
                        </m:r>
                        <m:r>
                          <a:rPr lang="en-US" altLang="zh-CN" b="1" i="1" smtClean="0">
                            <a:latin typeface="Cambria Math" panose="02040503050406030204" pitchFamily="18" charset="0"/>
                            <a:cs typeface="Times New Roman" panose="02020603050405020304" pitchFamily="18" charset="0"/>
                          </a:rPr>
                          <m:t>𝒎</m:t>
                        </m:r>
                      </m:num>
                      <m:den>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𝒍</m:t>
                                </m:r>
                              </m:e>
                              <m:sub>
                                <m:r>
                                  <a:rPr lang="en-US" altLang="zh-CN" b="1" i="1" smtClean="0">
                                    <a:latin typeface="Cambria Math" panose="02040503050406030204" pitchFamily="18" charset="0"/>
                                    <a:cs typeface="Times New Roman" panose="02020603050405020304" pitchFamily="18" charset="0"/>
                                  </a:rPr>
                                  <m:t>𝒊</m:t>
                                </m:r>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𝟏</m:t>
                                </m:r>
                              </m:sub>
                            </m:sSub>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𝒍</m:t>
                                </m:r>
                              </m:e>
                              <m:sub>
                                <m:r>
                                  <a:rPr lang="en-US" altLang="zh-CN" b="1" i="1" smtClean="0">
                                    <a:latin typeface="Cambria Math" panose="02040503050406030204" pitchFamily="18" charset="0"/>
                                    <a:cs typeface="Times New Roman" panose="02020603050405020304" pitchFamily="18" charset="0"/>
                                  </a:rPr>
                                  <m:t>𝒊</m:t>
                                </m:r>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𝟏</m:t>
                                </m:r>
                              </m:sub>
                            </m:sSub>
                            <m:r>
                              <a:rPr lang="en-US" altLang="zh-CN" b="1" i="1" smtClean="0">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𝒌</m:t>
                            </m:r>
                          </m:sub>
                        </m:sSub>
                      </m:den>
                    </m:f>
                  </m:oMath>
                </a14:m>
                <a:endParaRPr lang="en-US" altLang="zh-CN" b="1"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10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303589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归结</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其中，每个</a:t>
                </a:r>
                <a14:m>
                  <m:oMath xmlns:m="http://schemas.openxmlformats.org/officeDocument/2006/math">
                    <m:r>
                      <a:rPr lang="en-US" altLang="zh-CN" b="1" i="1">
                        <a:latin typeface="Cambria Math" panose="02040503050406030204" pitchFamily="18" charset="0"/>
                        <a:cs typeface="Times New Roman" panose="02020603050405020304" pitchFamily="18" charset="0"/>
                      </a:rPr>
                      <m:t>𝒍</m:t>
                    </m:r>
                  </m:oMath>
                </a14:m>
                <a:r>
                  <a:rPr lang="zh-CN" altLang="en-US" b="1" dirty="0">
                    <a:latin typeface="Times New Roman" panose="02020603050405020304" pitchFamily="18" charset="0"/>
                    <a:cs typeface="Times New Roman" panose="02020603050405020304" pitchFamily="18" charset="0"/>
                  </a:rPr>
                  <a:t>是一个文字，而且</a:t>
                </a:r>
                <a14:m>
                  <m:oMath xmlns:m="http://schemas.openxmlformats.org/officeDocument/2006/math">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𝒊</m:t>
                        </m:r>
                      </m:sub>
                    </m:sSub>
                  </m:oMath>
                </a14:m>
                <a:r>
                  <a:rPr lang="zh-CN" altLang="en-US" b="1" dirty="0">
                    <a:latin typeface="Times New Roman" panose="02020603050405020304" pitchFamily="18" charset="0"/>
                    <a:cs typeface="Times New Roman" panose="02020603050405020304" pitchFamily="18" charset="0"/>
                  </a:rPr>
                  <a:t>和</a:t>
                </a:r>
                <a14:m>
                  <m:oMath xmlns:m="http://schemas.openxmlformats.org/officeDocument/2006/math">
                    <m:r>
                      <a:rPr lang="en-US" altLang="zh-CN" b="1" i="1">
                        <a:latin typeface="Cambria Math" panose="02040503050406030204" pitchFamily="18" charset="0"/>
                        <a:cs typeface="Times New Roman" panose="02020603050405020304" pitchFamily="18" charset="0"/>
                      </a:rPr>
                      <m:t>𝒎</m:t>
                    </m:r>
                  </m:oMath>
                </a14:m>
                <a:r>
                  <a:rPr lang="zh-CN" altLang="en-US" b="1" dirty="0">
                    <a:latin typeface="Times New Roman" panose="02020603050405020304" pitchFamily="18" charset="0"/>
                    <a:cs typeface="Times New Roman" panose="02020603050405020304" pitchFamily="18" charset="0"/>
                  </a:rPr>
                  <a:t>是</a:t>
                </a:r>
                <a:r>
                  <a:rPr lang="zh-CN" altLang="en-US" b="1" dirty="0">
                    <a:solidFill>
                      <a:srgbClr val="002060"/>
                    </a:solidFill>
                    <a:latin typeface="Times New Roman" panose="02020603050405020304" pitchFamily="18" charset="0"/>
                    <a:cs typeface="Times New Roman" panose="02020603050405020304" pitchFamily="18" charset="0"/>
                  </a:rPr>
                  <a:t>互补文字</a:t>
                </a:r>
                <a:r>
                  <a:rPr lang="zh-CN" altLang="en-US" b="1" dirty="0">
                    <a:latin typeface="Times New Roman" panose="02020603050405020304" pitchFamily="18" charset="0"/>
                    <a:cs typeface="Times New Roman" panose="02020603050405020304" pitchFamily="18" charset="0"/>
                  </a:rPr>
                  <a:t>。</a:t>
                </a:r>
                <a:r>
                  <a:rPr lang="zh-CN" altLang="en-US" b="1" dirty="0">
                    <a:solidFill>
                      <a:srgbClr val="002060"/>
                    </a:solidFill>
                    <a:latin typeface="Times New Roman" panose="02020603050405020304" pitchFamily="18" charset="0"/>
                    <a:cs typeface="Times New Roman" panose="02020603050405020304" pitchFamily="18" charset="0"/>
                  </a:rPr>
                  <a:t>即一个文字是另一个文字的否定式</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单元归结规则选择一个</a:t>
                </a:r>
                <a:r>
                  <a:rPr lang="zh-CN" altLang="en-US" b="1" dirty="0">
                    <a:solidFill>
                      <a:srgbClr val="002060"/>
                    </a:solidFill>
                    <a:latin typeface="Times New Roman" panose="02020603050405020304" pitchFamily="18" charset="0"/>
                    <a:cs typeface="Times New Roman" panose="02020603050405020304" pitchFamily="18" charset="0"/>
                  </a:rPr>
                  <a:t>子句</a:t>
                </a:r>
                <a:r>
                  <a:rPr lang="en-US" altLang="zh-CN" b="1" dirty="0">
                    <a:solidFill>
                      <a:srgbClr val="002060"/>
                    </a:solidFill>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文字的析取式</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和一个文字，并生成一个新的子句。</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注意：单个文字可以被视为只有一个文字的析取式，也称为</a:t>
                </a:r>
                <a:r>
                  <a:rPr lang="zh-CN" altLang="en-US" b="1" dirty="0">
                    <a:solidFill>
                      <a:srgbClr val="002060"/>
                    </a:solidFill>
                    <a:latin typeface="Times New Roman" panose="02020603050405020304" pitchFamily="18" charset="0"/>
                    <a:cs typeface="Times New Roman" panose="02020603050405020304" pitchFamily="18" charset="0"/>
                  </a:rPr>
                  <a:t>单元子句</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zh-CN" altLang="en-US" b="1" dirty="0">
                    <a:solidFill>
                      <a:srgbClr val="C00000"/>
                    </a:solidFill>
                    <a:latin typeface="Times New Roman" panose="02020603050405020304" pitchFamily="18" charset="0"/>
                    <a:cs typeface="Times New Roman" panose="02020603050405020304" pitchFamily="18" charset="0"/>
                  </a:rPr>
                  <a:t>评价：注意归结是基于子句的，不是针对任意命题逻辑语句或公式的</a:t>
                </a:r>
                <a:r>
                  <a:rPr lang="zh-CN" altLang="en-US" b="1" dirty="0">
                    <a:latin typeface="Times New Roman" panose="02020603050405020304" pitchFamily="18" charset="0"/>
                    <a:cs typeface="Times New Roman" panose="02020603050405020304" pitchFamily="18" charset="0"/>
                  </a:rPr>
                  <a:t>）</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661" r="-4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512972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归结</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单元归结规则可以推广为</a:t>
                </a:r>
                <a:r>
                  <a:rPr lang="zh-CN" altLang="en-US" b="1" dirty="0">
                    <a:solidFill>
                      <a:srgbClr val="002060"/>
                    </a:solidFill>
                    <a:latin typeface="Times New Roman" panose="02020603050405020304" pitchFamily="18" charset="0"/>
                    <a:cs typeface="Times New Roman" panose="02020603050405020304" pitchFamily="18" charset="0"/>
                  </a:rPr>
                  <a:t>全归结规则</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14:m>
                  <m:oMath xmlns:m="http://schemas.openxmlformats.org/officeDocument/2006/math">
                    <m:f>
                      <m:fPr>
                        <m:ctrlPr>
                          <a:rPr lang="en-US" altLang="zh-CN" b="1" i="1">
                            <a:latin typeface="Cambria Math" panose="02040503050406030204" pitchFamily="18" charset="0"/>
                            <a:cs typeface="Times New Roman" panose="02020603050405020304" pitchFamily="18" charset="0"/>
                          </a:rPr>
                        </m:ctrlPr>
                      </m:fPr>
                      <m:num>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𝒌</m:t>
                            </m:r>
                          </m:sub>
                        </m:sSub>
                        <m:sSub>
                          <m:sSubPr>
                            <m:ctrlPr>
                              <a:rPr lang="en-US" altLang="zh-CN" b="1" i="1">
                                <a:latin typeface="Cambria Math" panose="02040503050406030204" pitchFamily="18" charset="0"/>
                                <a:cs typeface="Times New Roman" panose="02020603050405020304" pitchFamily="18" charset="0"/>
                              </a:rPr>
                            </m:ctrlPr>
                          </m:sSubPr>
                          <m:e>
                            <m:r>
                              <a:rPr lang="en-US" altLang="zh-CN" b="1" i="1" smtClean="0">
                                <a:latin typeface="Cambria Math" panose="02040503050406030204" pitchFamily="18" charset="0"/>
                                <a:cs typeface="Times New Roman" panose="02020603050405020304" pitchFamily="18" charset="0"/>
                              </a:rPr>
                              <m:t>     </m:t>
                            </m:r>
                            <m:r>
                              <a:rPr lang="en-US" altLang="zh-CN" b="1" i="1" smtClean="0">
                                <a:latin typeface="Cambria Math" panose="02040503050406030204" pitchFamily="18" charset="0"/>
                                <a:cs typeface="Times New Roman" panose="02020603050405020304" pitchFamily="18" charset="0"/>
                              </a:rPr>
                              <m:t>𝒎</m:t>
                            </m:r>
                          </m:e>
                          <m:sub>
                            <m:r>
                              <a:rPr lang="en-US" altLang="zh-CN" b="1" i="1">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𝒎</m:t>
                            </m:r>
                          </m:e>
                          <m:sub>
                            <m:r>
                              <a:rPr lang="en-US" altLang="zh-CN" b="1" i="1" smtClean="0">
                                <a:latin typeface="Cambria Math" panose="02040503050406030204" pitchFamily="18" charset="0"/>
                                <a:cs typeface="Times New Roman" panose="02020603050405020304" pitchFamily="18" charset="0"/>
                              </a:rPr>
                              <m:t>𝒏</m:t>
                            </m:r>
                          </m:sub>
                        </m:sSub>
                      </m:num>
                      <m:den>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𝒊</m:t>
                                </m:r>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𝟏</m:t>
                                </m:r>
                              </m:sub>
                            </m:sSub>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𝒊</m:t>
                                </m:r>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𝒌</m:t>
                            </m:r>
                          </m:sub>
                        </m:sSub>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smtClean="0">
                                <a:latin typeface="Cambria Math" panose="02040503050406030204" pitchFamily="18" charset="0"/>
                                <a:cs typeface="Times New Roman" panose="02020603050405020304" pitchFamily="18" charset="0"/>
                              </a:rPr>
                              <m:t>𝒎</m:t>
                            </m:r>
                          </m:e>
                          <m:sub>
                            <m:r>
                              <a:rPr lang="en-US" altLang="zh-CN" b="1" i="1">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𝒎</m:t>
                                </m:r>
                              </m:e>
                              <m:sub>
                                <m:r>
                                  <a:rPr lang="en-US" altLang="zh-CN" b="1" i="1" smtClean="0">
                                    <a:latin typeface="Cambria Math" panose="02040503050406030204" pitchFamily="18" charset="0"/>
                                    <a:cs typeface="Times New Roman" panose="02020603050405020304" pitchFamily="18" charset="0"/>
                                  </a:rPr>
                                  <m:t>𝒋</m:t>
                                </m:r>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𝟏</m:t>
                                </m:r>
                              </m:sub>
                            </m:sSub>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𝒎</m:t>
                                </m:r>
                              </m:e>
                              <m:sub>
                                <m:r>
                                  <a:rPr lang="en-US" altLang="zh-CN" b="1" i="1" smtClean="0">
                                    <a:latin typeface="Cambria Math" panose="02040503050406030204" pitchFamily="18" charset="0"/>
                                    <a:cs typeface="Times New Roman" panose="02020603050405020304" pitchFamily="18" charset="0"/>
                                  </a:rPr>
                                  <m:t>𝒋</m:t>
                                </m:r>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𝒎</m:t>
                            </m:r>
                          </m:e>
                          <m:sub>
                            <m:r>
                              <a:rPr lang="en-US" altLang="zh-CN" b="1" i="1" smtClean="0">
                                <a:latin typeface="Cambria Math" panose="02040503050406030204" pitchFamily="18" charset="0"/>
                                <a:cs typeface="Times New Roman" panose="02020603050405020304" pitchFamily="18" charset="0"/>
                              </a:rPr>
                              <m:t>𝒏</m:t>
                            </m:r>
                          </m:sub>
                        </m:sSub>
                      </m:den>
                    </m:f>
                  </m:oMath>
                </a14:m>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en-US" altLang="zh-CN" b="1" i="1" smtClean="0">
                            <a:solidFill>
                              <a:srgbClr val="002060"/>
                            </a:solidFill>
                            <a:latin typeface="Cambria Math" panose="02040503050406030204" pitchFamily="18" charset="0"/>
                            <a:cs typeface="Times New Roman" panose="02020603050405020304" pitchFamily="18" charset="0"/>
                          </a:rPr>
                        </m:ctrlPr>
                      </m:sSubPr>
                      <m:e>
                        <m:r>
                          <a:rPr lang="en-US" altLang="zh-CN" b="1" i="1">
                            <a:solidFill>
                              <a:srgbClr val="002060"/>
                            </a:solidFill>
                            <a:latin typeface="Cambria Math" panose="02040503050406030204" pitchFamily="18" charset="0"/>
                            <a:cs typeface="Times New Roman" panose="02020603050405020304" pitchFamily="18" charset="0"/>
                          </a:rPr>
                          <m:t>𝒍</m:t>
                        </m:r>
                      </m:e>
                      <m:sub>
                        <m:r>
                          <a:rPr lang="en-US" altLang="zh-CN" b="1" i="1" smtClean="0">
                            <a:solidFill>
                              <a:srgbClr val="002060"/>
                            </a:solidFill>
                            <a:latin typeface="Cambria Math" panose="02040503050406030204" pitchFamily="18" charset="0"/>
                            <a:cs typeface="Times New Roman" panose="02020603050405020304" pitchFamily="18" charset="0"/>
                          </a:rPr>
                          <m:t>𝒊</m:t>
                        </m:r>
                      </m:sub>
                    </m:sSub>
                  </m:oMath>
                </a14:m>
                <a:r>
                  <a:rPr lang="zh-CN" altLang="en-US" b="1" dirty="0">
                    <a:solidFill>
                      <a:srgbClr val="002060"/>
                    </a:solidFill>
                    <a:latin typeface="Times New Roman" panose="02020603050405020304" pitchFamily="18" charset="0"/>
                    <a:cs typeface="Times New Roman" panose="02020603050405020304" pitchFamily="18" charset="0"/>
                  </a:rPr>
                  <a:t>和</a:t>
                </a:r>
                <a14:m>
                  <m:oMath xmlns:m="http://schemas.openxmlformats.org/officeDocument/2006/math">
                    <m:sSub>
                      <m:sSubPr>
                        <m:ctrlPr>
                          <a:rPr lang="en-US" altLang="zh-CN" b="1" i="1">
                            <a:solidFill>
                              <a:srgbClr val="002060"/>
                            </a:solidFill>
                            <a:latin typeface="Cambria Math" panose="02040503050406030204" pitchFamily="18" charset="0"/>
                            <a:cs typeface="Times New Roman" panose="02020603050405020304" pitchFamily="18" charset="0"/>
                          </a:rPr>
                        </m:ctrlPr>
                      </m:sSubPr>
                      <m:e>
                        <m:r>
                          <a:rPr lang="en-US" altLang="zh-CN" b="1" i="1" smtClean="0">
                            <a:solidFill>
                              <a:srgbClr val="002060"/>
                            </a:solidFill>
                            <a:latin typeface="Cambria Math" panose="02040503050406030204" pitchFamily="18" charset="0"/>
                            <a:cs typeface="Times New Roman" panose="02020603050405020304" pitchFamily="18" charset="0"/>
                          </a:rPr>
                          <m:t>𝒎</m:t>
                        </m:r>
                      </m:e>
                      <m:sub>
                        <m:r>
                          <a:rPr lang="en-US" altLang="zh-CN" b="1" i="1" smtClean="0">
                            <a:solidFill>
                              <a:srgbClr val="002060"/>
                            </a:solidFill>
                            <a:latin typeface="Cambria Math" panose="02040503050406030204" pitchFamily="18" charset="0"/>
                            <a:cs typeface="Times New Roman" panose="02020603050405020304" pitchFamily="18" charset="0"/>
                          </a:rPr>
                          <m:t>𝒋</m:t>
                        </m:r>
                      </m:sub>
                    </m:sSub>
                  </m:oMath>
                </a14:m>
                <a:r>
                  <a:rPr lang="zh-CN" altLang="en-US" b="1" dirty="0">
                    <a:solidFill>
                      <a:srgbClr val="002060"/>
                    </a:solidFill>
                    <a:latin typeface="Times New Roman" panose="02020603050405020304" pitchFamily="18" charset="0"/>
                    <a:cs typeface="Times New Roman" panose="02020603050405020304" pitchFamily="18" charset="0"/>
                  </a:rPr>
                  <a:t>是互补文字</a:t>
                </a:r>
                <a:r>
                  <a:rPr lang="zh-CN" altLang="en-US" b="1" dirty="0">
                    <a:latin typeface="Times New Roman" panose="02020603050405020304" pitchFamily="18" charset="0"/>
                    <a:cs typeface="Times New Roman" panose="02020603050405020304" pitchFamily="18" charset="0"/>
                  </a:rPr>
                  <a:t>。如果只处理长度为</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的子句，可以写成</a:t>
                </a:r>
                <a:endParaRPr lang="en-US" altLang="zh-CN" b="1" dirty="0">
                  <a:latin typeface="Times New Roman" panose="02020603050405020304" pitchFamily="18" charset="0"/>
                  <a:cs typeface="Times New Roman" panose="02020603050405020304" pitchFamily="18" charset="0"/>
                </a:endParaRPr>
              </a:p>
              <a:p>
                <a14:m>
                  <m:oMath xmlns:m="http://schemas.openxmlformats.org/officeDocument/2006/math">
                    <m:f>
                      <m:fPr>
                        <m:ctrlPr>
                          <a:rPr lang="en-US" altLang="zh-CN" b="1" i="1">
                            <a:latin typeface="Cambria Math" panose="02040503050406030204" pitchFamily="18" charset="0"/>
                            <a:cs typeface="Times New Roman" panose="02020603050405020304" pitchFamily="18" charset="0"/>
                          </a:rPr>
                        </m:ctrlPr>
                      </m:fPr>
                      <m:num>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2</m:t>
                            </m:r>
                          </m:sub>
                        </m:sSub>
                        <m:r>
                          <a:rPr lang="en-US" altLang="zh-CN" b="1" i="1" smtClean="0">
                            <a:latin typeface="Cambria Math" panose="02040503050406030204" pitchFamily="18" charset="0"/>
                            <a:cs typeface="Times New Roman" panose="02020603050405020304" pitchFamily="18" charset="0"/>
                          </a:rPr>
                          <m:t>     </m:t>
                        </m:r>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smtClean="0">
                                <a:latin typeface="Cambria Math" panose="02040503050406030204" pitchFamily="18" charset="0"/>
                                <a:cs typeface="Times New Roman" panose="02020603050405020304" pitchFamily="18" charset="0"/>
                              </a:rPr>
                              <m:t>𝟐</m:t>
                            </m:r>
                          </m:sub>
                        </m:sSub>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smtClean="0">
                                <a:latin typeface="Cambria Math" panose="02040503050406030204" pitchFamily="18" charset="0"/>
                                <a:cs typeface="Times New Roman" panose="02020603050405020304" pitchFamily="18" charset="0"/>
                              </a:rPr>
                              <m:t>𝟑</m:t>
                            </m:r>
                          </m:sub>
                        </m:sSub>
                      </m:num>
                      <m:den>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𝟏</m:t>
                            </m:r>
                          </m:sub>
                        </m:sSub>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smtClean="0">
                                <a:latin typeface="Cambria Math" panose="02040503050406030204" pitchFamily="18" charset="0"/>
                                <a:cs typeface="Times New Roman" panose="02020603050405020304" pitchFamily="18" charset="0"/>
                              </a:rPr>
                              <m:t>𝟑</m:t>
                            </m:r>
                          </m:sub>
                        </m:sSub>
                      </m:den>
                    </m:f>
                  </m:oMath>
                </a14:m>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也就是说，</a:t>
                </a:r>
                <a:r>
                  <a:rPr lang="zh-CN" altLang="en-US" b="1" dirty="0">
                    <a:solidFill>
                      <a:srgbClr val="002060"/>
                    </a:solidFill>
                    <a:latin typeface="Times New Roman" panose="02020603050405020304" pitchFamily="18" charset="0"/>
                    <a:cs typeface="Times New Roman" panose="02020603050405020304" pitchFamily="18" charset="0"/>
                  </a:rPr>
                  <a:t>归结选择两个子句，并生成一个新的子句。该新子句包含除了两个互补文字以外的原始子句的所有文字</a:t>
                </a:r>
                <a:r>
                  <a:rPr lang="zh-CN" altLang="en-US" b="1" dirty="0">
                    <a:latin typeface="Times New Roman" panose="02020603050405020304" pitchFamily="18" charset="0"/>
                    <a:cs typeface="Times New Roman" panose="02020603050405020304" pitchFamily="18" charset="0"/>
                  </a:rPr>
                  <a:t>。示例如下：</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801" r="-4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077606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合取范式</a:t>
            </a:r>
            <a:endParaRPr lang="zh-CN" altLang="en-US" dirty="0"/>
          </a:p>
        </p:txBody>
      </p:sp>
      <p:sp>
        <p:nvSpPr>
          <p:cNvPr id="3" name="内容占位符 2"/>
          <p:cNvSpPr>
            <a:spLocks noGrp="1"/>
          </p:cNvSpPr>
          <p:nvPr>
            <p:ph idx="1"/>
          </p:nvPr>
        </p:nvSpPr>
        <p:spPr/>
        <p:txBody>
          <a:bodyPr>
            <a:normAutofit/>
          </a:bodyPr>
          <a:lstStyle/>
          <a:p>
            <a:r>
              <a:rPr lang="zh-CN" altLang="en-US" b="1" dirty="0">
                <a:latin typeface="Times New Roman" panose="02020603050405020304" pitchFamily="18" charset="0"/>
                <a:cs typeface="Times New Roman" panose="02020603050405020304" pitchFamily="18" charset="0"/>
              </a:rPr>
              <a:t>归结规则只适用于文字的析取式，看来只和知识库、以及这样的析取式组成的查询有关。</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对于所有的命题逻辑，如何实现完备的推理过程？答案是：</a:t>
            </a:r>
            <a:r>
              <a:rPr lang="zh-CN" altLang="en-US" b="1" dirty="0">
                <a:solidFill>
                  <a:srgbClr val="002060"/>
                </a:solidFill>
                <a:latin typeface="Times New Roman" panose="02020603050405020304" pitchFamily="18" charset="0"/>
                <a:cs typeface="Times New Roman" panose="02020603050405020304" pitchFamily="18" charset="0"/>
              </a:rPr>
              <a:t>命题逻辑的每个语句，逻辑等价于文字析取式的合取式</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33223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合取范式</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以文字析取式的合取形式表达的语句称为</a:t>
                </a:r>
                <a:r>
                  <a:rPr lang="zh-CN" altLang="en-US" b="1" dirty="0">
                    <a:solidFill>
                      <a:srgbClr val="002060"/>
                    </a:solidFill>
                    <a:latin typeface="Times New Roman" panose="02020603050405020304" pitchFamily="18" charset="0"/>
                    <a:cs typeface="Times New Roman" panose="02020603050405020304" pitchFamily="18" charset="0"/>
                  </a:rPr>
                  <a:t>合取范式</a:t>
                </a:r>
                <a:r>
                  <a:rPr lang="zh-CN" altLang="en-US" b="1" dirty="0">
                    <a:latin typeface="Times New Roman" panose="02020603050405020304" pitchFamily="18" charset="0"/>
                    <a:cs typeface="Times New Roman" panose="02020603050405020304" pitchFamily="18" charset="0"/>
                  </a:rPr>
                  <a:t>或者</a:t>
                </a:r>
                <a:r>
                  <a:rPr lang="en-US" altLang="zh-CN" b="1" dirty="0">
                    <a:solidFill>
                      <a:srgbClr val="002060"/>
                    </a:solidFill>
                    <a:latin typeface="Times New Roman" panose="02020603050405020304" pitchFamily="18" charset="0"/>
                    <a:cs typeface="Times New Roman" panose="02020603050405020304" pitchFamily="18" charset="0"/>
                  </a:rPr>
                  <a:t>CNF</a:t>
                </a:r>
                <a:r>
                  <a:rPr lang="zh-CN" altLang="en-US" b="1" dirty="0">
                    <a:latin typeface="Times New Roman" panose="02020603050405020304" pitchFamily="18" charset="0"/>
                    <a:cs typeface="Times New Roman" panose="02020603050405020304" pitchFamily="18" charset="0"/>
                  </a:rPr>
                  <a:t>。它在处理</a:t>
                </a:r>
                <a:r>
                  <a:rPr lang="en-US" altLang="zh-CN" b="1" dirty="0">
                    <a:latin typeface="Times New Roman" panose="02020603050405020304" pitchFamily="18" charset="0"/>
                    <a:cs typeface="Times New Roman" panose="02020603050405020304" pitchFamily="18" charset="0"/>
                  </a:rPr>
                  <a:t>k-CNF</a:t>
                </a:r>
                <a:r>
                  <a:rPr lang="zh-CN" altLang="en-US" b="1" dirty="0">
                    <a:latin typeface="Times New Roman" panose="02020603050405020304" pitchFamily="18" charset="0"/>
                    <a:cs typeface="Times New Roman" panose="02020603050405020304" pitchFamily="18" charset="0"/>
                  </a:rPr>
                  <a:t>语句的受限族时很有用。以</a:t>
                </a:r>
                <a:r>
                  <a:rPr lang="en-US" altLang="zh-CN" b="1" dirty="0">
                    <a:latin typeface="Times New Roman" panose="02020603050405020304" pitchFamily="18" charset="0"/>
                    <a:cs typeface="Times New Roman" panose="02020603050405020304" pitchFamily="18" charset="0"/>
                  </a:rPr>
                  <a:t>k-CNF</a:t>
                </a:r>
                <a:r>
                  <a:rPr lang="zh-CN" altLang="en-US" b="1" dirty="0">
                    <a:latin typeface="Times New Roman" panose="02020603050405020304" pitchFamily="18" charset="0"/>
                    <a:cs typeface="Times New Roman" panose="02020603050405020304" pitchFamily="18" charset="0"/>
                  </a:rPr>
                  <a:t>形式表示的语句每个子句正好有</a:t>
                </a:r>
                <a:r>
                  <a:rPr lang="en-US" altLang="zh-CN" b="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个文字。</a:t>
                </a:r>
                <a:endParaRPr lang="en-US" altLang="zh-CN" b="1" dirty="0">
                  <a:latin typeface="Times New Roman" panose="02020603050405020304" pitchFamily="18" charset="0"/>
                  <a:cs typeface="Times New Roman" panose="02020603050405020304" pitchFamily="18" charset="0"/>
                </a:endParaRPr>
              </a:p>
              <a:p>
                <a14:m>
                  <m:oMath xmlns:m="http://schemas.openxmlformats.org/officeDocument/2006/math">
                    <m:d>
                      <m:dPr>
                        <m:ctrlPr>
                          <a:rPr lang="en-US" altLang="zh-CN" b="1" i="1">
                            <a:latin typeface="Cambria Math" panose="02040503050406030204" pitchFamily="18" charset="0"/>
                            <a:cs typeface="Times New Roman" panose="02020603050405020304" pitchFamily="18" charset="0"/>
                          </a:rPr>
                        </m:ctrlPr>
                      </m:dPr>
                      <m:e>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𝟏</m:t>
                            </m:r>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𝟏</m:t>
                            </m:r>
                          </m:sub>
                        </m:sSub>
                        <m:nary>
                          <m:naryPr>
                            <m:chr m:val="⋁"/>
                            <m:subHide m:val="on"/>
                            <m:supHide m:val="on"/>
                            <m:ctrlPr>
                              <a:rPr lang="en-US" altLang="zh-CN" b="1" i="1">
                                <a:latin typeface="Cambria Math" panose="02040503050406030204" pitchFamily="18" charset="0"/>
                                <a:ea typeface="Cambria Math" panose="02040503050406030204" pitchFamily="18" charset="0"/>
                                <a:cs typeface="Times New Roman" panose="02020603050405020304" pitchFamily="18" charset="0"/>
                              </a:rPr>
                            </m:ctrlPr>
                          </m:naryPr>
                          <m:sub/>
                          <m:sup/>
                          <m:e>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e>
                        </m:nary>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𝟏</m:t>
                            </m:r>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𝒌</m:t>
                            </m:r>
                          </m:sub>
                        </m:sSub>
                      </m:e>
                    </m:d>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𝒏</m:t>
                        </m:r>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𝟏</m:t>
                        </m:r>
                      </m:sub>
                    </m:sSub>
                    <m:nary>
                      <m:naryPr>
                        <m:chr m:val="⋁"/>
                        <m:subHide m:val="on"/>
                        <m:supHide m:val="on"/>
                        <m:ctrlPr>
                          <a:rPr lang="en-US" altLang="zh-CN" b="1" i="1">
                            <a:latin typeface="Cambria Math" panose="02040503050406030204" pitchFamily="18" charset="0"/>
                            <a:ea typeface="Cambria Math" panose="02040503050406030204" pitchFamily="18" charset="0"/>
                            <a:cs typeface="Times New Roman" panose="02020603050405020304" pitchFamily="18" charset="0"/>
                          </a:rPr>
                        </m:ctrlPr>
                      </m:naryPr>
                      <m:sub/>
                      <m:sup/>
                      <m:e>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e>
                    </m:nary>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𝒍</m:t>
                        </m:r>
                      </m:e>
                      <m:sub>
                        <m:r>
                          <a:rPr lang="en-US" altLang="zh-CN" b="1" i="1">
                            <a:latin typeface="Cambria Math" panose="02040503050406030204" pitchFamily="18" charset="0"/>
                            <a:cs typeface="Times New Roman" panose="02020603050405020304" pitchFamily="18" charset="0"/>
                          </a:rPr>
                          <m:t>𝒏</m:t>
                        </m:r>
                        <m:r>
                          <a:rPr lang="en-US" altLang="zh-CN" b="1" i="1">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𝒌</m:t>
                        </m:r>
                      </m:sub>
                    </m:sSub>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其实每个语句都可以变换成具有等价模型集合的</a:t>
                </a:r>
                <a:r>
                  <a:rPr lang="en-US" altLang="zh-CN" b="1" dirty="0">
                    <a:latin typeface="Times New Roman" panose="02020603050405020304" pitchFamily="18" charset="0"/>
                    <a:cs typeface="Times New Roman" panose="02020603050405020304" pitchFamily="18" charset="0"/>
                  </a:rPr>
                  <a:t>3-CNF</a:t>
                </a:r>
                <a:r>
                  <a:rPr lang="zh-CN" altLang="en-US" b="1" dirty="0">
                    <a:latin typeface="Times New Roman" panose="02020603050405020304" pitchFamily="18" charset="0"/>
                    <a:cs typeface="Times New Roman" panose="02020603050405020304" pitchFamily="18" charset="0"/>
                  </a:rPr>
                  <a:t>语句。</a:t>
                </a:r>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801" r="-5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735556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概率推理</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题目范围：贝叶斯网络的定义、贝叶斯网络的语义。给定贝叶斯网络，要求能够写出相应的联合概率分布。针对书中的盗贼警报任务，理解贝叶斯网络的精确推理，并且能够在给定证据的情况下进行推理。</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23925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概率推理</a:t>
            </a:r>
            <a:endParaRPr lang="zh-CN" altLang="en-US" dirty="0"/>
          </a:p>
        </p:txBody>
      </p:sp>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前面给出了概率理论的语法和语义。</a:t>
            </a:r>
            <a:r>
              <a:rPr lang="zh-CN" altLang="en-US" b="1" dirty="0">
                <a:solidFill>
                  <a:srgbClr val="002060"/>
                </a:solidFill>
                <a:latin typeface="Times New Roman" panose="02020603050405020304" pitchFamily="18" charset="0"/>
                <a:cs typeface="Times New Roman" panose="02020603050405020304" pitchFamily="18" charset="0"/>
              </a:rPr>
              <a:t>强调了独立性以及条件独立性对于简化世界的概率表示的重要性</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本章以</a:t>
            </a:r>
            <a:r>
              <a:rPr lang="zh-CN" altLang="en-US" b="1" dirty="0">
                <a:solidFill>
                  <a:srgbClr val="002060"/>
                </a:solidFill>
                <a:latin typeface="Times New Roman" panose="02020603050405020304" pitchFamily="18" charset="0"/>
                <a:cs typeface="Times New Roman" panose="02020603050405020304" pitchFamily="18" charset="0"/>
              </a:rPr>
              <a:t>贝叶斯网络</a:t>
            </a:r>
            <a:r>
              <a:rPr lang="zh-CN" altLang="en-US" b="1" dirty="0">
                <a:latin typeface="Times New Roman" panose="02020603050405020304" pitchFamily="18" charset="0"/>
                <a:cs typeface="Times New Roman" panose="02020603050405020304" pitchFamily="18" charset="0"/>
              </a:rPr>
              <a:t>（</a:t>
            </a:r>
            <a:r>
              <a:rPr lang="en-US" altLang="zh-CN" b="1" dirty="0">
                <a:solidFill>
                  <a:srgbClr val="002060"/>
                </a:solidFill>
                <a:latin typeface="Times New Roman" panose="02020603050405020304" pitchFamily="18" charset="0"/>
                <a:cs typeface="Times New Roman" panose="02020603050405020304" pitchFamily="18" charset="0"/>
              </a:rPr>
              <a:t>Bayesian Network</a:t>
            </a:r>
            <a:r>
              <a:rPr lang="zh-CN" altLang="en-US" b="1" dirty="0">
                <a:latin typeface="Times New Roman" panose="02020603050405020304" pitchFamily="18" charset="0"/>
                <a:cs typeface="Times New Roman" panose="02020603050405020304" pitchFamily="18" charset="0"/>
              </a:rPr>
              <a:t>）的形式明确表示这些关系。定义这些网络的语法和语义，并通过一种</a:t>
            </a:r>
            <a:r>
              <a:rPr lang="zh-CN" altLang="en-US" b="1" dirty="0">
                <a:solidFill>
                  <a:srgbClr val="002060"/>
                </a:solidFill>
                <a:latin typeface="Times New Roman" panose="02020603050405020304" pitchFamily="18" charset="0"/>
                <a:cs typeface="Times New Roman" panose="02020603050405020304" pitchFamily="18" charset="0"/>
              </a:rPr>
              <a:t>非常自然和有效</a:t>
            </a:r>
            <a:r>
              <a:rPr lang="zh-CN" altLang="en-US" b="1" dirty="0">
                <a:latin typeface="Times New Roman" panose="02020603050405020304" pitchFamily="18" charset="0"/>
                <a:cs typeface="Times New Roman" panose="02020603050405020304" pitchFamily="18" charset="0"/>
              </a:rPr>
              <a:t>的方式捕捉不确定知识。</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37753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不确定域中的知识表示</a:t>
            </a:r>
            <a:endParaRPr lang="zh-CN" altLang="en-US" dirty="0"/>
          </a:p>
        </p:txBody>
      </p:sp>
      <p:sp>
        <p:nvSpPr>
          <p:cNvPr id="3" name="内容占位符 2"/>
          <p:cNvSpPr>
            <a:spLocks noGrp="1"/>
          </p:cNvSpPr>
          <p:nvPr>
            <p:ph idx="1"/>
          </p:nvPr>
        </p:nvSpPr>
        <p:spPr/>
        <p:txBody>
          <a:bodyPr>
            <a:normAutofit/>
          </a:bodyPr>
          <a:lstStyle/>
          <a:p>
            <a:r>
              <a:rPr lang="zh-CN" altLang="en-US" b="1" dirty="0">
                <a:latin typeface="Times New Roman" panose="02020603050405020304" pitchFamily="18" charset="0"/>
                <a:cs typeface="Times New Roman" panose="02020603050405020304" pitchFamily="18" charset="0"/>
              </a:rPr>
              <a:t>全联合概率分布能够回答关于域的任何问题，但是当变量数目增多时，域的规模会增大到不可操作的程度。</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为每个原子事件指定概率是很不自然的，而且可能是非常困难的。除非有大量的可用数据，能够从中收集信息进行统计估计</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zh-CN" altLang="en-US" b="1" dirty="0">
                <a:solidFill>
                  <a:srgbClr val="C00000"/>
                </a:solidFill>
                <a:latin typeface="Times New Roman" panose="02020603050405020304" pitchFamily="18" charset="0"/>
                <a:cs typeface="Times New Roman" panose="02020603050405020304" pitchFamily="18" charset="0"/>
              </a:rPr>
              <a:t>评价：概率数量和变量规模呈指数关系，且没有那么多的数据去估计这些概率。且存在长尾效应</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25301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不确定域中的知识表示</a:t>
            </a:r>
            <a:endParaRPr lang="zh-CN" altLang="en-US" dirty="0"/>
          </a:p>
        </p:txBody>
      </p:sp>
      <p:sp>
        <p:nvSpPr>
          <p:cNvPr id="3" name="内容占位符 2"/>
          <p:cNvSpPr>
            <a:spLocks noGrp="1"/>
          </p:cNvSpPr>
          <p:nvPr>
            <p:ph idx="1"/>
          </p:nvPr>
        </p:nvSpPr>
        <p:spPr/>
        <p:txBody>
          <a:bodyPr>
            <a:normAutofit/>
          </a:bodyPr>
          <a:lstStyle/>
          <a:p>
            <a:r>
              <a:rPr lang="zh-CN" altLang="en-US" b="1" dirty="0">
                <a:solidFill>
                  <a:schemeClr val="tx1"/>
                </a:solidFill>
                <a:latin typeface="Times New Roman" panose="02020603050405020304" pitchFamily="18" charset="0"/>
                <a:cs typeface="Times New Roman" panose="02020603050405020304" pitchFamily="18" charset="0"/>
              </a:rPr>
              <a:t>变量之间的独立性和条件独立性可以大大减少为了定义全联合概率分布所需指定的概率数目</a:t>
            </a:r>
            <a:r>
              <a:rPr lang="zh-CN" altLang="en-US" b="1" dirty="0">
                <a:latin typeface="Times New Roman" panose="02020603050405020304" pitchFamily="18" charset="0"/>
                <a:cs typeface="Times New Roman" panose="02020603050405020304" pitchFamily="18" charset="0"/>
              </a:rPr>
              <a:t>。介绍贝叶斯网络的数据结构，用于表示变量之间的依赖关系，并为全概率分布提供一种简明的规范。</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rPr>
              <a:t>贝叶斯网络又称为：信念网（</a:t>
            </a:r>
            <a:r>
              <a:rPr lang="en-US" altLang="zh-CN" b="1" dirty="0">
                <a:solidFill>
                  <a:srgbClr val="002060"/>
                </a:solidFill>
                <a:latin typeface="Times New Roman" panose="02020603050405020304" pitchFamily="18" charset="0"/>
                <a:cs typeface="Times New Roman" panose="02020603050405020304" pitchFamily="18" charset="0"/>
              </a:rPr>
              <a:t>belief network</a:t>
            </a:r>
            <a:r>
              <a:rPr lang="zh-CN" altLang="en-US" b="1" dirty="0">
                <a:solidFill>
                  <a:srgbClr val="002060"/>
                </a:solidFill>
                <a:latin typeface="Times New Roman" panose="02020603050405020304" pitchFamily="18" charset="0"/>
                <a:cs typeface="Times New Roman" panose="02020603050405020304" pitchFamily="18" charset="0"/>
              </a:rPr>
              <a:t>）、概率网络（</a:t>
            </a:r>
            <a:r>
              <a:rPr lang="en-US" altLang="zh-CN" b="1" dirty="0">
                <a:solidFill>
                  <a:srgbClr val="002060"/>
                </a:solidFill>
                <a:latin typeface="Times New Roman" panose="02020603050405020304" pitchFamily="18" charset="0"/>
                <a:cs typeface="Times New Roman" panose="02020603050405020304" pitchFamily="18" charset="0"/>
              </a:rPr>
              <a:t>probability network</a:t>
            </a:r>
            <a:r>
              <a:rPr lang="zh-CN" altLang="en-US" b="1" dirty="0">
                <a:solidFill>
                  <a:srgbClr val="002060"/>
                </a:solidFill>
                <a:latin typeface="Times New Roman" panose="02020603050405020304" pitchFamily="18" charset="0"/>
                <a:cs typeface="Times New Roman" panose="02020603050405020304" pitchFamily="18" charset="0"/>
              </a:rPr>
              <a:t>）、因果网（</a:t>
            </a:r>
            <a:r>
              <a:rPr lang="en-US" altLang="zh-CN" b="1" dirty="0">
                <a:solidFill>
                  <a:srgbClr val="002060"/>
                </a:solidFill>
                <a:latin typeface="Times New Roman" panose="02020603050405020304" pitchFamily="18" charset="0"/>
                <a:cs typeface="Times New Roman" panose="02020603050405020304" pitchFamily="18" charset="0"/>
              </a:rPr>
              <a:t>causal network</a:t>
            </a:r>
            <a:r>
              <a:rPr lang="zh-CN" altLang="en-US" b="1" dirty="0">
                <a:solidFill>
                  <a:srgbClr val="002060"/>
                </a:solidFill>
                <a:latin typeface="Times New Roman" panose="02020603050405020304" pitchFamily="18" charset="0"/>
                <a:cs typeface="Times New Roman" panose="02020603050405020304" pitchFamily="18" charset="0"/>
              </a:rPr>
              <a:t>）、知识图（</a:t>
            </a:r>
            <a:r>
              <a:rPr lang="en-US" altLang="zh-CN" b="1" dirty="0">
                <a:solidFill>
                  <a:srgbClr val="002060"/>
                </a:solidFill>
                <a:latin typeface="Times New Roman" panose="02020603050405020304" pitchFamily="18" charset="0"/>
                <a:cs typeface="Times New Roman" panose="02020603050405020304" pitchFamily="18" charset="0"/>
              </a:rPr>
              <a:t>knowledge map</a:t>
            </a:r>
            <a:r>
              <a:rPr lang="zh-CN" altLang="en-US" b="1" dirty="0">
                <a:solidFill>
                  <a:srgbClr val="002060"/>
                </a:solidFill>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41867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不确定域中的知识表示</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lnSpcReduction="10000"/>
              </a:bodyPr>
              <a:lstStyle/>
              <a:p>
                <a:r>
                  <a:rPr lang="zh-CN" altLang="en-US" b="1" dirty="0">
                    <a:solidFill>
                      <a:srgbClr val="002060"/>
                    </a:solidFill>
                    <a:latin typeface="Times New Roman" panose="02020603050405020304" pitchFamily="18" charset="0"/>
                    <a:cs typeface="Times New Roman" panose="02020603050405020304" pitchFamily="18" charset="0"/>
                  </a:rPr>
                  <a:t>贝叶斯网络是一个有向图，其中每个节点都标注了定量概率信息</a:t>
                </a:r>
                <a:r>
                  <a:rPr lang="zh-CN" altLang="en-US" b="1" dirty="0">
                    <a:latin typeface="Times New Roman" panose="02020603050405020304" pitchFamily="18" charset="0"/>
                    <a:cs typeface="Times New Roman" panose="02020603050405020304" pitchFamily="18" charset="0"/>
                  </a:rPr>
                  <a:t>。其完整的详细描述如下：</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a:t>
                </a:r>
                <a:r>
                  <a:rPr lang="zh-CN" altLang="en-US" b="1" dirty="0">
                    <a:solidFill>
                      <a:srgbClr val="002060"/>
                    </a:solidFill>
                    <a:latin typeface="Times New Roman" panose="02020603050405020304" pitchFamily="18" charset="0"/>
                    <a:cs typeface="Times New Roman" panose="02020603050405020304" pitchFamily="18" charset="0"/>
                  </a:rPr>
                  <a:t>一个随机变量集组成网络节点</a:t>
                </a:r>
                <a:r>
                  <a:rPr lang="zh-CN" altLang="en-US" b="1" dirty="0">
                    <a:latin typeface="Times New Roman" panose="02020603050405020304" pitchFamily="18" charset="0"/>
                    <a:cs typeface="Times New Roman" panose="02020603050405020304" pitchFamily="18" charset="0"/>
                  </a:rPr>
                  <a:t>。变量可以是离散的或者连续的。</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a:t>
                </a:r>
                <a:r>
                  <a:rPr lang="zh-CN" altLang="en-US" b="1" dirty="0">
                    <a:solidFill>
                      <a:srgbClr val="002060"/>
                    </a:solidFill>
                    <a:latin typeface="Times New Roman" panose="02020603050405020304" pitchFamily="18" charset="0"/>
                    <a:cs typeface="Times New Roman" panose="02020603050405020304" pitchFamily="18" charset="0"/>
                  </a:rPr>
                  <a:t>一个连接节点对的有向边集合</a:t>
                </a:r>
                <a:r>
                  <a:rPr lang="zh-CN" altLang="en-US" b="1" dirty="0">
                    <a:latin typeface="Times New Roman" panose="02020603050405020304" pitchFamily="18" charset="0"/>
                    <a:cs typeface="Times New Roman" panose="02020603050405020304" pitchFamily="18" charset="0"/>
                  </a:rPr>
                  <a:t>。如果存在从节点</a:t>
                </a:r>
                <a14:m>
                  <m:oMath xmlns:m="http://schemas.openxmlformats.org/officeDocument/2006/math">
                    <m:r>
                      <a:rPr lang="en-US" altLang="zh-CN" b="1" i="1" smtClean="0">
                        <a:latin typeface="Cambria Math" panose="02040503050406030204" pitchFamily="18" charset="0"/>
                        <a:cs typeface="Times New Roman" panose="02020603050405020304" pitchFamily="18" charset="0"/>
                      </a:rPr>
                      <m:t>𝑿</m:t>
                    </m:r>
                  </m:oMath>
                </a14:m>
                <a:r>
                  <a:rPr lang="zh-CN" altLang="en-US" b="1" dirty="0">
                    <a:latin typeface="Times New Roman" panose="02020603050405020304" pitchFamily="18" charset="0"/>
                    <a:cs typeface="Times New Roman" panose="02020603050405020304" pitchFamily="18" charset="0"/>
                  </a:rPr>
                  <a:t>指向节点</a:t>
                </a:r>
                <a14:m>
                  <m:oMath xmlns:m="http://schemas.openxmlformats.org/officeDocument/2006/math">
                    <m:r>
                      <a:rPr lang="en-US" altLang="zh-CN" b="1" i="1" smtClean="0">
                        <a:latin typeface="Cambria Math" panose="02040503050406030204" pitchFamily="18" charset="0"/>
                        <a:cs typeface="Times New Roman" panose="02020603050405020304" pitchFamily="18" charset="0"/>
                      </a:rPr>
                      <m:t>𝒀</m:t>
                    </m:r>
                  </m:oMath>
                </a14:m>
                <a:r>
                  <a:rPr lang="zh-CN" altLang="en-US" b="1" dirty="0">
                    <a:latin typeface="Times New Roman" panose="02020603050405020304" pitchFamily="18" charset="0"/>
                    <a:cs typeface="Times New Roman" panose="02020603050405020304" pitchFamily="18" charset="0"/>
                  </a:rPr>
                  <a:t>的有向边，则称</a:t>
                </a:r>
                <a14:m>
                  <m:oMath xmlns:m="http://schemas.openxmlformats.org/officeDocument/2006/math">
                    <m:r>
                      <a:rPr lang="en-US" altLang="zh-CN" b="1" i="1">
                        <a:latin typeface="Cambria Math" panose="02040503050406030204" pitchFamily="18" charset="0"/>
                        <a:cs typeface="Times New Roman" panose="02020603050405020304" pitchFamily="18" charset="0"/>
                      </a:rPr>
                      <m:t>𝑿</m:t>
                    </m:r>
                  </m:oMath>
                </a14:m>
                <a:r>
                  <a:rPr lang="zh-CN" altLang="en-US" b="1" dirty="0">
                    <a:latin typeface="Times New Roman" panose="02020603050405020304" pitchFamily="18" charset="0"/>
                    <a:cs typeface="Times New Roman" panose="02020603050405020304" pitchFamily="18" charset="0"/>
                  </a:rPr>
                  <a:t>是</a:t>
                </a:r>
                <a14:m>
                  <m:oMath xmlns:m="http://schemas.openxmlformats.org/officeDocument/2006/math">
                    <m:r>
                      <a:rPr lang="en-US" altLang="zh-CN" b="1" i="1" smtClean="0">
                        <a:latin typeface="Cambria Math" panose="02040503050406030204" pitchFamily="18" charset="0"/>
                        <a:cs typeface="Times New Roman" panose="02020603050405020304" pitchFamily="18" charset="0"/>
                      </a:rPr>
                      <m:t>𝒀</m:t>
                    </m:r>
                  </m:oMath>
                </a14:m>
                <a:r>
                  <a:rPr lang="zh-CN" altLang="en-US" b="1" dirty="0">
                    <a:latin typeface="Times New Roman" panose="02020603050405020304" pitchFamily="18" charset="0"/>
                    <a:cs typeface="Times New Roman" panose="02020603050405020304" pitchFamily="18" charset="0"/>
                  </a:rPr>
                  <a:t>的一个父节点。</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3</a:t>
                </a:r>
                <a:r>
                  <a:rPr lang="zh-CN" altLang="en-US" b="1" dirty="0">
                    <a:latin typeface="Times New Roman" panose="02020603050405020304" pitchFamily="18" charset="0"/>
                    <a:cs typeface="Times New Roman" panose="02020603050405020304" pitchFamily="18" charset="0"/>
                  </a:rPr>
                  <a:t>）</a:t>
                </a:r>
                <a:r>
                  <a:rPr lang="zh-CN" altLang="en-US" b="1" dirty="0">
                    <a:solidFill>
                      <a:srgbClr val="002060"/>
                    </a:solidFill>
                    <a:latin typeface="Times New Roman" panose="02020603050405020304" pitchFamily="18" charset="0"/>
                    <a:cs typeface="Times New Roman" panose="02020603050405020304" pitchFamily="18" charset="0"/>
                  </a:rPr>
                  <a:t>每个节点</a:t>
                </a:r>
                <a14:m>
                  <m:oMath xmlns:m="http://schemas.openxmlformats.org/officeDocument/2006/math">
                    <m:sSub>
                      <m:sSubPr>
                        <m:ctrlPr>
                          <a:rPr lang="en-US" altLang="zh-CN" b="1" i="1" smtClean="0">
                            <a:solidFill>
                              <a:srgbClr val="002060"/>
                            </a:solidFill>
                            <a:latin typeface="Cambria Math" panose="02040503050406030204" pitchFamily="18" charset="0"/>
                            <a:cs typeface="Times New Roman" panose="02020603050405020304" pitchFamily="18" charset="0"/>
                          </a:rPr>
                        </m:ctrlPr>
                      </m:sSubPr>
                      <m:e>
                        <m:r>
                          <a:rPr lang="en-US" altLang="zh-CN" b="1" i="1">
                            <a:solidFill>
                              <a:srgbClr val="002060"/>
                            </a:solidFill>
                            <a:latin typeface="Cambria Math" panose="02040503050406030204" pitchFamily="18" charset="0"/>
                            <a:cs typeface="Times New Roman" panose="02020603050405020304" pitchFamily="18" charset="0"/>
                          </a:rPr>
                          <m:t>𝑿</m:t>
                        </m:r>
                      </m:e>
                      <m:sub>
                        <m:r>
                          <a:rPr lang="en-US" altLang="zh-CN" b="1" i="1" smtClean="0">
                            <a:solidFill>
                              <a:srgbClr val="002060"/>
                            </a:solidFill>
                            <a:latin typeface="Cambria Math" panose="02040503050406030204" pitchFamily="18" charset="0"/>
                            <a:cs typeface="Times New Roman" panose="02020603050405020304" pitchFamily="18" charset="0"/>
                          </a:rPr>
                          <m:t>𝒊</m:t>
                        </m:r>
                      </m:sub>
                    </m:sSub>
                  </m:oMath>
                </a14:m>
                <a:r>
                  <a:rPr lang="zh-CN" altLang="en-US" b="1" dirty="0">
                    <a:solidFill>
                      <a:srgbClr val="002060"/>
                    </a:solidFill>
                    <a:latin typeface="Times New Roman" panose="02020603050405020304" pitchFamily="18" charset="0"/>
                    <a:cs typeface="Times New Roman" panose="02020603050405020304" pitchFamily="18" charset="0"/>
                  </a:rPr>
                  <a:t>都有一个条件概率分布</a:t>
                </a:r>
                <a14:m>
                  <m:oMath xmlns:m="http://schemas.openxmlformats.org/officeDocument/2006/math">
                    <m:sSub>
                      <m:sSubPr>
                        <m:ctrlPr>
                          <a:rPr lang="en-US" altLang="zh-CN" b="1" i="1">
                            <a:latin typeface="Cambria Math" panose="02040503050406030204" pitchFamily="18" charset="0"/>
                            <a:cs typeface="Times New Roman" panose="02020603050405020304" pitchFamily="18" charset="0"/>
                          </a:rPr>
                        </m:ctrlPr>
                      </m:sSubPr>
                      <m:e>
                        <m:r>
                          <a:rPr lang="en-US" altLang="zh-CN" b="1" i="1" smtClean="0">
                            <a:latin typeface="Cambria Math" panose="02040503050406030204" pitchFamily="18" charset="0"/>
                            <a:cs typeface="Times New Roman" panose="02020603050405020304" pitchFamily="18" charset="0"/>
                          </a:rPr>
                          <m:t>𝑷</m:t>
                        </m:r>
                        <m:r>
                          <a:rPr lang="en-US" altLang="zh-CN" b="1" i="1" smtClean="0">
                            <a:latin typeface="Cambria Math" panose="02040503050406030204" pitchFamily="18" charset="0"/>
                            <a:cs typeface="Times New Roman" panose="02020603050405020304" pitchFamily="18" charset="0"/>
                          </a:rPr>
                          <m:t>(</m:t>
                        </m:r>
                        <m:r>
                          <a:rPr lang="en-US" altLang="zh-CN" b="1" i="1">
                            <a:latin typeface="Cambria Math" panose="02040503050406030204" pitchFamily="18" charset="0"/>
                            <a:cs typeface="Times New Roman" panose="02020603050405020304" pitchFamily="18" charset="0"/>
                          </a:rPr>
                          <m:t>𝑿</m:t>
                        </m:r>
                      </m:e>
                      <m:sub>
                        <m:r>
                          <a:rPr lang="en-US" altLang="zh-CN" b="1" i="1">
                            <a:latin typeface="Cambria Math" panose="02040503050406030204" pitchFamily="18" charset="0"/>
                            <a:cs typeface="Times New Roman" panose="02020603050405020304" pitchFamily="18" charset="0"/>
                          </a:rPr>
                          <m:t>𝒊</m:t>
                        </m:r>
                      </m:sub>
                    </m:sSub>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𝑷𝒂𝒓𝒆𝒏𝒕𝒔</m:t>
                    </m:r>
                    <m:r>
                      <a:rPr lang="en-US" altLang="zh-CN" b="1" i="1" smtClean="0">
                        <a:latin typeface="Cambria Math" panose="02040503050406030204" pitchFamily="18" charset="0"/>
                        <a:cs typeface="Times New Roman" panose="02020603050405020304" pitchFamily="18" charset="0"/>
                      </a:rPr>
                      <m:t>(</m:t>
                    </m:r>
                    <m:sSub>
                      <m:sSubPr>
                        <m:ctrlPr>
                          <a:rPr lang="en-US"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𝑿</m:t>
                        </m:r>
                      </m:e>
                      <m:sub>
                        <m:r>
                          <a:rPr lang="en-US" altLang="zh-CN" b="1" i="1">
                            <a:latin typeface="Cambria Math" panose="02040503050406030204" pitchFamily="18" charset="0"/>
                            <a:cs typeface="Times New Roman" panose="02020603050405020304" pitchFamily="18" charset="0"/>
                          </a:rPr>
                          <m:t>𝒊</m:t>
                        </m:r>
                      </m:sub>
                    </m:sSub>
                    <m:r>
                      <a:rPr lang="en-US" altLang="zh-CN" b="1" i="1" smtClean="0">
                        <a:latin typeface="Cambria Math" panose="02040503050406030204" pitchFamily="18" charset="0"/>
                        <a:cs typeface="Times New Roman" panose="02020603050405020304" pitchFamily="18" charset="0"/>
                      </a:rPr>
                      <m:t>)) </m:t>
                    </m:r>
                  </m:oMath>
                </a14:m>
                <a:r>
                  <a:rPr lang="zh-CN" altLang="en-US" b="1" dirty="0">
                    <a:latin typeface="Times New Roman" panose="02020603050405020304" pitchFamily="18" charset="0"/>
                    <a:cs typeface="Times New Roman" panose="02020603050405020304" pitchFamily="18" charset="0"/>
                  </a:rPr>
                  <a:t>，量化其父节点对该节点的影响。</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4</a:t>
                </a:r>
                <a:r>
                  <a:rPr lang="zh-CN" altLang="en-US" b="1" dirty="0">
                    <a:latin typeface="Times New Roman" panose="02020603050405020304" pitchFamily="18" charset="0"/>
                    <a:cs typeface="Times New Roman" panose="02020603050405020304" pitchFamily="18" charset="0"/>
                  </a:rPr>
                  <a:t>）</a:t>
                </a:r>
                <a:r>
                  <a:rPr lang="zh-CN" altLang="en-US" b="1" dirty="0">
                    <a:solidFill>
                      <a:srgbClr val="002060"/>
                    </a:solidFill>
                    <a:latin typeface="Times New Roman" panose="02020603050405020304" pitchFamily="18" charset="0"/>
                    <a:cs typeface="Times New Roman" panose="02020603050405020304" pitchFamily="18" charset="0"/>
                  </a:rPr>
                  <a:t>图中不存在有向环。因此是有向无环图</a:t>
                </a:r>
                <a:r>
                  <a:rPr lang="zh-CN" altLang="en-US" b="1" dirty="0">
                    <a:latin typeface="Times New Roman" panose="02020603050405020304" pitchFamily="18" charset="0"/>
                    <a:cs typeface="Times New Roman" panose="02020603050405020304" pitchFamily="18" charset="0"/>
                  </a:rPr>
                  <a:t>，简写为</a:t>
                </a:r>
                <a:r>
                  <a:rPr lang="en-US" altLang="zh-CN" b="1" dirty="0">
                    <a:solidFill>
                      <a:srgbClr val="002060"/>
                    </a:solidFill>
                    <a:latin typeface="Times New Roman" panose="02020603050405020304" pitchFamily="18" charset="0"/>
                    <a:cs typeface="Times New Roman" panose="02020603050405020304" pitchFamily="18" charset="0"/>
                  </a:rPr>
                  <a:t>DAG</a:t>
                </a:r>
                <a:r>
                  <a:rPr lang="zh-CN" altLang="en-US" b="1" dirty="0">
                    <a:latin typeface="Times New Roman" panose="02020603050405020304" pitchFamily="18" charset="0"/>
                    <a:cs typeface="Times New Roman" panose="02020603050405020304" pitchFamily="18" charset="0"/>
                  </a:rPr>
                  <a:t>（</a:t>
                </a:r>
                <a:r>
                  <a:rPr lang="en-US" altLang="zh-CN" b="1" dirty="0">
                    <a:solidFill>
                      <a:srgbClr val="002060"/>
                    </a:solidFill>
                    <a:latin typeface="Times New Roman" panose="02020603050405020304" pitchFamily="18" charset="0"/>
                    <a:cs typeface="Times New Roman" panose="02020603050405020304" pitchFamily="18" charset="0"/>
                  </a:rPr>
                  <a:t>directed acyclic graph</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endParaRPr lang="en-US" altLang="zh-CN" b="1" dirty="0">
                  <a:latin typeface="Times New Roman" panose="02020603050405020304" pitchFamily="18" charset="0"/>
                  <a:cs typeface="Times New Roman" panose="02020603050405020304" pitchFamily="18" charset="0"/>
                </a:endParaRPr>
              </a:p>
              <a:p>
                <a:endParaRPr lang="en-US" altLang="zh-CN" b="1" dirty="0">
                  <a:latin typeface="Times New Roman" panose="02020603050405020304" pitchFamily="18" charset="0"/>
                  <a:cs typeface="Times New Roman" panose="02020603050405020304" pitchFamily="18" charset="0"/>
                </a:endParaRPr>
              </a:p>
              <a:p>
                <a:endParaRPr lang="en-US" altLang="zh-CN" b="1"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3361" r="-35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789614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不确定域中的知识表示</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b="1" dirty="0">
                    <a:solidFill>
                      <a:srgbClr val="002060"/>
                    </a:solidFill>
                    <a:latin typeface="Times New Roman" panose="02020603050405020304" pitchFamily="18" charset="0"/>
                    <a:cs typeface="Times New Roman" panose="02020603050405020304" pitchFamily="18" charset="0"/>
                  </a:rPr>
                  <a:t>网络的拓扑结构，即节点和边的集合，用一种精确而简洁的方式描述了在域中成立的条件独立关系</a:t>
                </a:r>
                <a:r>
                  <a:rPr lang="zh-CN" altLang="en-US" b="1" dirty="0">
                    <a:latin typeface="Times New Roman" panose="02020603050405020304" pitchFamily="18" charset="0"/>
                    <a:cs typeface="Times New Roman" panose="02020603050405020304" pitchFamily="18" charset="0"/>
                  </a:rPr>
                  <a:t>。在一个正确构造的网络中，箭头的直观含义是</a:t>
                </a:r>
                <a14:m>
                  <m:oMath xmlns:m="http://schemas.openxmlformats.org/officeDocument/2006/math">
                    <m:r>
                      <a:rPr lang="en-US" altLang="zh-CN" b="1" i="1">
                        <a:latin typeface="Cambria Math" panose="02040503050406030204" pitchFamily="18" charset="0"/>
                        <a:cs typeface="Times New Roman" panose="02020603050405020304" pitchFamily="18" charset="0"/>
                      </a:rPr>
                      <m:t>𝑿</m:t>
                    </m:r>
                  </m:oMath>
                </a14:m>
                <a:r>
                  <a:rPr lang="zh-CN" altLang="en-US" b="1" dirty="0">
                    <a:latin typeface="Times New Roman" panose="02020603050405020304" pitchFamily="18" charset="0"/>
                    <a:cs typeface="Times New Roman" panose="02020603050405020304" pitchFamily="18" charset="0"/>
                  </a:rPr>
                  <a:t>对</a:t>
                </a:r>
                <a14:m>
                  <m:oMath xmlns:m="http://schemas.openxmlformats.org/officeDocument/2006/math">
                    <m:r>
                      <a:rPr lang="en-US" altLang="zh-CN" b="1" i="1">
                        <a:latin typeface="Cambria Math" panose="02040503050406030204" pitchFamily="18" charset="0"/>
                        <a:cs typeface="Times New Roman" panose="02020603050405020304" pitchFamily="18" charset="0"/>
                      </a:rPr>
                      <m:t>𝒀</m:t>
                    </m:r>
                  </m:oMath>
                </a14:m>
                <a:r>
                  <a:rPr lang="zh-CN" altLang="en-US" b="1" dirty="0">
                    <a:latin typeface="Times New Roman" panose="02020603050405020304" pitchFamily="18" charset="0"/>
                    <a:cs typeface="Times New Roman" panose="02020603050405020304" pitchFamily="18" charset="0"/>
                  </a:rPr>
                  <a:t>有</a:t>
                </a:r>
                <a:r>
                  <a:rPr lang="zh-CN" altLang="en-US" b="1" dirty="0">
                    <a:solidFill>
                      <a:srgbClr val="002060"/>
                    </a:solidFill>
                    <a:latin typeface="Times New Roman" panose="02020603050405020304" pitchFamily="18" charset="0"/>
                    <a:cs typeface="Times New Roman" panose="02020603050405020304" pitchFamily="18" charset="0"/>
                  </a:rPr>
                  <a:t>直接的影响</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对于域的专家来说 ，确定域中存在什么样的直接影响是容易的。这比指定概率要容易得多。</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一旦设计好贝叶斯网络的拓扑结构，只需要为每个节点指定其相对于父节点的条件概率即可。</a:t>
                </a:r>
                <a:r>
                  <a:rPr lang="zh-CN" altLang="en-US" b="1" dirty="0">
                    <a:solidFill>
                      <a:srgbClr val="002060"/>
                    </a:solidFill>
                    <a:latin typeface="Times New Roman" panose="02020603050405020304" pitchFamily="18" charset="0"/>
                    <a:cs typeface="Times New Roman" panose="02020603050405020304" pitchFamily="18" charset="0"/>
                  </a:rPr>
                  <a:t>拓扑结构和条件概率分布的结合足以指定（隐含地）所有变量的全联合概率分布</a:t>
                </a:r>
                <a:r>
                  <a:rPr lang="zh-CN" altLang="en-US" b="1" dirty="0">
                    <a:latin typeface="Times New Roman" panose="02020603050405020304" pitchFamily="18" charset="0"/>
                    <a:cs typeface="Times New Roman" panose="02020603050405020304" pitchFamily="18" charset="0"/>
                  </a:rPr>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043" t="-2381" r="-11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34212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latin typeface="Times New Roman" panose="02020603050405020304" pitchFamily="18" charset="0"/>
                <a:cs typeface="Times New Roman" panose="02020603050405020304" pitchFamily="18" charset="0"/>
              </a:rPr>
              <a:t>不确定域中的知识表示</a:t>
            </a:r>
            <a:endParaRPr lang="zh-CN" altLang="en-US" dirty="0"/>
          </a:p>
        </p:txBody>
      </p:sp>
      <p:sp>
        <p:nvSpPr>
          <p:cNvPr id="3" name="内容占位符 2"/>
          <p:cNvSpPr>
            <a:spLocks noGrp="1"/>
          </p:cNvSpPr>
          <p:nvPr>
            <p:ph idx="1"/>
          </p:nvPr>
        </p:nvSpPr>
        <p:spPr/>
        <p:txBody>
          <a:bodyPr/>
          <a:lstStyle/>
          <a:p>
            <a:r>
              <a:rPr lang="zh-CN" altLang="en-US" b="1" dirty="0">
                <a:latin typeface="Times New Roman" panose="02020603050405020304" pitchFamily="18" charset="0"/>
                <a:cs typeface="Times New Roman" panose="02020603050405020304" pitchFamily="18" charset="0"/>
              </a:rPr>
              <a:t>下面考虑一个复杂一些的例子（该例子有图灵奖得主</a:t>
            </a:r>
            <a:r>
              <a:rPr lang="en-US" altLang="zh-CN" b="1" dirty="0">
                <a:latin typeface="Times New Roman" panose="02020603050405020304" pitchFamily="18" charset="0"/>
                <a:cs typeface="Times New Roman" panose="02020603050405020304" pitchFamily="18" charset="0"/>
              </a:rPr>
              <a:t>Judy Pearl</a:t>
            </a:r>
            <a:r>
              <a:rPr lang="zh-CN" altLang="en-US" b="1" dirty="0">
                <a:latin typeface="Times New Roman" panose="02020603050405020304" pitchFamily="18" charset="0"/>
                <a:cs typeface="Times New Roman" panose="02020603050405020304" pitchFamily="18" charset="0"/>
              </a:rPr>
              <a:t>提供）。</a:t>
            </a:r>
            <a:r>
              <a:rPr lang="zh-CN" altLang="en-US" b="1" dirty="0">
                <a:solidFill>
                  <a:srgbClr val="002060"/>
                </a:solidFill>
                <a:latin typeface="Times New Roman" panose="02020603050405020304" pitchFamily="18" charset="0"/>
                <a:cs typeface="Times New Roman" panose="02020603050405020304" pitchFamily="18" charset="0"/>
              </a:rPr>
              <a:t>在家里安装了防盗警报器。这个警报器对于探测盗贼的闯入是可靠的，但是偶尔也会对轻微的地震有反应</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rPr>
              <a:t>有两个邻居</a:t>
            </a:r>
            <a:r>
              <a:rPr lang="en-US" altLang="zh-CN" b="1" dirty="0">
                <a:latin typeface="Times New Roman" panose="02020603050405020304" pitchFamily="18" charset="0"/>
                <a:cs typeface="Times New Roman" panose="02020603050405020304" pitchFamily="18" charset="0"/>
              </a:rPr>
              <a:t>John</a:t>
            </a:r>
            <a:r>
              <a:rPr lang="zh-CN" altLang="en-US" b="1" dirty="0">
                <a:latin typeface="Times New Roman" panose="02020603050405020304" pitchFamily="18" charset="0"/>
                <a:cs typeface="Times New Roman" panose="02020603050405020304" pitchFamily="18" charset="0"/>
              </a:rPr>
              <a:t>和</a:t>
            </a:r>
            <a:r>
              <a:rPr lang="en-US" altLang="zh-CN" b="1" dirty="0">
                <a:latin typeface="Times New Roman" panose="02020603050405020304" pitchFamily="18" charset="0"/>
                <a:cs typeface="Times New Roman" panose="02020603050405020304" pitchFamily="18" charset="0"/>
              </a:rPr>
              <a:t>Marry</a:t>
            </a:r>
            <a:r>
              <a:rPr lang="zh-CN" altLang="en-US" b="1" dirty="0">
                <a:latin typeface="Times New Roman" panose="02020603050405020304" pitchFamily="18" charset="0"/>
                <a:cs typeface="Times New Roman" panose="02020603050405020304" pitchFamily="18" charset="0"/>
              </a:rPr>
              <a:t>。他们保证在你工作时如果听到警报声就会给你打电话。</a:t>
            </a:r>
            <a:r>
              <a:rPr lang="en-US" altLang="zh-CN" b="1" dirty="0">
                <a:solidFill>
                  <a:srgbClr val="002060"/>
                </a:solidFill>
                <a:latin typeface="Times New Roman" panose="02020603050405020304" pitchFamily="18" charset="0"/>
                <a:cs typeface="Times New Roman" panose="02020603050405020304" pitchFamily="18" charset="0"/>
              </a:rPr>
              <a:t>John</a:t>
            </a:r>
            <a:r>
              <a:rPr lang="zh-CN" altLang="en-US" b="1" dirty="0">
                <a:solidFill>
                  <a:srgbClr val="002060"/>
                </a:solidFill>
                <a:latin typeface="Times New Roman" panose="02020603050405020304" pitchFamily="18" charset="0"/>
                <a:cs typeface="Times New Roman" panose="02020603050405020304" pitchFamily="18" charset="0"/>
              </a:rPr>
              <a:t>听到警报声时总是会给你打电话，但是他有时候会把电话铃声当成警报声，然后也会给你打电话</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en-US" altLang="zh-CN" b="1" dirty="0">
                <a:solidFill>
                  <a:srgbClr val="002060"/>
                </a:solidFill>
                <a:latin typeface="Times New Roman" panose="02020603050405020304" pitchFamily="18" charset="0"/>
                <a:cs typeface="Times New Roman" panose="02020603050405020304" pitchFamily="18" charset="0"/>
              </a:rPr>
              <a:t>Marry</a:t>
            </a:r>
            <a:r>
              <a:rPr lang="zh-CN" altLang="en-US" b="1" dirty="0">
                <a:solidFill>
                  <a:srgbClr val="002060"/>
                </a:solidFill>
                <a:latin typeface="Times New Roman" panose="02020603050405020304" pitchFamily="18" charset="0"/>
                <a:cs typeface="Times New Roman" panose="02020603050405020304" pitchFamily="18" charset="0"/>
              </a:rPr>
              <a:t>特别喜欢大声听音乐，因此有时根本听不见警报声</a:t>
            </a:r>
            <a:r>
              <a:rPr lang="zh-CN" altLang="en-US" b="1" dirty="0">
                <a:latin typeface="Times New Roman" panose="02020603050405020304" pitchFamily="18" charset="0"/>
                <a:cs typeface="Times New Roman" panose="02020603050405020304" pitchFamily="18" charset="0"/>
              </a:rPr>
              <a:t>。给定了他们是否给你打电话的证据，希望估计有人入室行窃的概率。这个域的贝叶斯网络显示在图</a:t>
            </a:r>
            <a:r>
              <a:rPr lang="en-US" altLang="zh-CN" b="1" dirty="0">
                <a:latin typeface="Times New Roman" panose="02020603050405020304" pitchFamily="18" charset="0"/>
                <a:cs typeface="Times New Roman" panose="02020603050405020304" pitchFamily="18" charset="0"/>
              </a:rPr>
              <a:t>14.2</a:t>
            </a:r>
            <a:r>
              <a:rPr lang="zh-CN" altLang="en-US" b="1" dirty="0">
                <a:latin typeface="Times New Roman" panose="02020603050405020304" pitchFamily="18" charset="0"/>
                <a:cs typeface="Times New Roman" panose="02020603050405020304" pitchFamily="18" charset="0"/>
              </a:rPr>
              <a:t>中。</a:t>
            </a:r>
          </a:p>
        </p:txBody>
      </p:sp>
    </p:spTree>
    <p:extLst>
      <p:ext uri="{BB962C8B-B14F-4D97-AF65-F5344CB8AC3E}">
        <p14:creationId xmlns:p14="http://schemas.microsoft.com/office/powerpoint/2010/main" val="23445827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16097" y="5719757"/>
            <a:ext cx="11127036" cy="978498"/>
          </a:xfrm>
        </p:spPr>
        <p:txBody>
          <a:bodyPr>
            <a:normAutofit/>
          </a:bodyPr>
          <a:lstStyle/>
          <a:p>
            <a:r>
              <a:rPr lang="zh-CN" altLang="en-US" sz="2000" b="1" dirty="0">
                <a:latin typeface="Times New Roman" panose="02020603050405020304" pitchFamily="18" charset="0"/>
                <a:cs typeface="Times New Roman" panose="02020603050405020304" pitchFamily="18" charset="0"/>
              </a:rPr>
              <a:t>图</a:t>
            </a:r>
            <a:r>
              <a:rPr lang="en-US" altLang="zh-CN" sz="2000" b="1" dirty="0">
                <a:latin typeface="Times New Roman" panose="02020603050405020304" pitchFamily="18" charset="0"/>
                <a:cs typeface="Times New Roman" panose="02020603050405020304" pitchFamily="18" charset="0"/>
              </a:rPr>
              <a:t>14.2 </a:t>
            </a:r>
            <a:r>
              <a:rPr lang="zh-CN" altLang="en-US" sz="2000" dirty="0">
                <a:latin typeface="Times New Roman" panose="02020603050405020304" pitchFamily="18" charset="0"/>
                <a:cs typeface="Times New Roman" panose="02020603050405020304" pitchFamily="18" charset="0"/>
              </a:rPr>
              <a:t>一个典型的贝叶斯网络，显示了其拓扑结构和条件概率表（</a:t>
            </a:r>
            <a:r>
              <a:rPr lang="en-US" altLang="zh-CN" sz="2000" dirty="0">
                <a:latin typeface="Times New Roman" panose="02020603050405020304" pitchFamily="18" charset="0"/>
                <a:cs typeface="Times New Roman" panose="02020603050405020304" pitchFamily="18" charset="0"/>
              </a:rPr>
              <a:t>CPT</a:t>
            </a:r>
            <a:r>
              <a:rPr lang="zh-CN" altLang="en-US" sz="2000" dirty="0">
                <a:latin typeface="Times New Roman" panose="02020603050405020304" pitchFamily="18" charset="0"/>
                <a:cs typeface="Times New Roman" panose="02020603050405020304" pitchFamily="18" charset="0"/>
              </a:rPr>
              <a:t>）。在</a:t>
            </a:r>
            <a:r>
              <a:rPr lang="en-US" altLang="zh-CN" sz="2000" dirty="0">
                <a:latin typeface="Times New Roman" panose="02020603050405020304" pitchFamily="18" charset="0"/>
                <a:cs typeface="Times New Roman" panose="02020603050405020304" pitchFamily="18" charset="0"/>
              </a:rPr>
              <a:t>CPT</a:t>
            </a:r>
            <a:r>
              <a:rPr lang="zh-CN" altLang="en-US" sz="2000" dirty="0">
                <a:latin typeface="Times New Roman" panose="02020603050405020304" pitchFamily="18" charset="0"/>
                <a:cs typeface="Times New Roman" panose="02020603050405020304" pitchFamily="18" charset="0"/>
              </a:rPr>
              <a:t>中，字母</a:t>
            </a: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E</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J</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M</a:t>
            </a:r>
            <a:r>
              <a:rPr lang="zh-CN" altLang="en-US" sz="2000" dirty="0">
                <a:latin typeface="Times New Roman" panose="02020603050405020304" pitchFamily="18" charset="0"/>
                <a:cs typeface="Times New Roman" panose="02020603050405020304" pitchFamily="18" charset="0"/>
              </a:rPr>
              <a:t>分别表示</a:t>
            </a:r>
            <a:r>
              <a:rPr lang="en-US" altLang="zh-CN" sz="2000" dirty="0">
                <a:latin typeface="Times New Roman" panose="02020603050405020304" pitchFamily="18" charset="0"/>
                <a:cs typeface="Times New Roman" panose="02020603050405020304" pitchFamily="18" charset="0"/>
              </a:rPr>
              <a:t>Burglary</a:t>
            </a:r>
            <a:r>
              <a:rPr lang="zh-CN" altLang="en-US" sz="2000" dirty="0">
                <a:latin typeface="Times New Roman" panose="02020603050405020304" pitchFamily="18" charset="0"/>
                <a:cs typeface="Times New Roman" panose="02020603050405020304" pitchFamily="18" charset="0"/>
              </a:rPr>
              <a:t>（盗贼）、</a:t>
            </a:r>
            <a:r>
              <a:rPr lang="en-US" altLang="zh-CN" sz="2000" dirty="0">
                <a:latin typeface="Times New Roman" panose="02020603050405020304" pitchFamily="18" charset="0"/>
                <a:cs typeface="Times New Roman" panose="02020603050405020304" pitchFamily="18" charset="0"/>
              </a:rPr>
              <a:t>Earthquake</a:t>
            </a:r>
            <a:r>
              <a:rPr lang="zh-CN" altLang="en-US" sz="2000" dirty="0">
                <a:latin typeface="Times New Roman" panose="02020603050405020304" pitchFamily="18" charset="0"/>
                <a:cs typeface="Times New Roman" panose="02020603050405020304" pitchFamily="18" charset="0"/>
              </a:rPr>
              <a:t>（地震）、</a:t>
            </a:r>
            <a:r>
              <a:rPr lang="en-US" altLang="zh-CN" sz="2000" dirty="0">
                <a:latin typeface="Times New Roman" panose="02020603050405020304" pitchFamily="18" charset="0"/>
                <a:cs typeface="Times New Roman" panose="02020603050405020304" pitchFamily="18" charset="0"/>
              </a:rPr>
              <a:t>Alarm</a:t>
            </a:r>
            <a:r>
              <a:rPr lang="zh-CN" altLang="en-US" sz="2000" dirty="0">
                <a:latin typeface="Times New Roman" panose="02020603050405020304" pitchFamily="18" charset="0"/>
                <a:cs typeface="Times New Roman" panose="02020603050405020304" pitchFamily="18" charset="0"/>
              </a:rPr>
              <a:t>（警报）、</a:t>
            </a:r>
            <a:r>
              <a:rPr lang="en-US" altLang="zh-CN" sz="2000" dirty="0" err="1">
                <a:latin typeface="Times New Roman" panose="02020603050405020304" pitchFamily="18" charset="0"/>
                <a:cs typeface="Times New Roman" panose="02020603050405020304" pitchFamily="18" charset="0"/>
              </a:rPr>
              <a:t>JohnCalls</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John</a:t>
            </a:r>
            <a:r>
              <a:rPr lang="zh-CN" altLang="en-US" sz="2000" dirty="0">
                <a:latin typeface="Times New Roman" panose="02020603050405020304" pitchFamily="18" charset="0"/>
                <a:cs typeface="Times New Roman" panose="02020603050405020304" pitchFamily="18" charset="0"/>
              </a:rPr>
              <a:t>打电话）、</a:t>
            </a:r>
            <a:r>
              <a:rPr lang="en-US" altLang="zh-CN" sz="2000" dirty="0" err="1">
                <a:latin typeface="Times New Roman" panose="02020603050405020304" pitchFamily="18" charset="0"/>
                <a:cs typeface="Times New Roman" panose="02020603050405020304" pitchFamily="18" charset="0"/>
              </a:rPr>
              <a:t>MarryCalls</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Marry</a:t>
            </a:r>
            <a:r>
              <a:rPr lang="zh-CN" altLang="en-US" sz="2000" dirty="0">
                <a:latin typeface="Times New Roman" panose="02020603050405020304" pitchFamily="18" charset="0"/>
                <a:cs typeface="Times New Roman" panose="02020603050405020304" pitchFamily="18" charset="0"/>
              </a:rPr>
              <a:t>打电话）</a:t>
            </a:r>
          </a:p>
        </p:txBody>
      </p:sp>
      <p:grpSp>
        <p:nvGrpSpPr>
          <p:cNvPr id="5" name="组合 4"/>
          <p:cNvGrpSpPr/>
          <p:nvPr/>
        </p:nvGrpSpPr>
        <p:grpSpPr>
          <a:xfrm>
            <a:off x="2048846" y="699272"/>
            <a:ext cx="1896346" cy="854640"/>
            <a:chOff x="1886382" y="2215819"/>
            <a:chExt cx="1896346" cy="854640"/>
          </a:xfrm>
        </p:grpSpPr>
        <p:sp>
          <p:nvSpPr>
            <p:cNvPr id="6" name="文本框 5"/>
            <p:cNvSpPr txBox="1"/>
            <p:nvPr/>
          </p:nvSpPr>
          <p:spPr>
            <a:xfrm>
              <a:off x="1974723" y="2428344"/>
              <a:ext cx="1615500" cy="400110"/>
            </a:xfrm>
            <a:prstGeom prst="rect">
              <a:avLst/>
            </a:prstGeom>
            <a:noFill/>
          </p:spPr>
          <p:txBody>
            <a:bodyPr wrap="square" rtlCol="0">
              <a:spAutoFit/>
            </a:bodyPr>
            <a:lstStyle/>
            <a:p>
              <a:pPr algn="ctr"/>
              <a:r>
                <a:rPr lang="en-US" altLang="zh-CN" sz="2000" b="1" dirty="0">
                  <a:latin typeface="Times New Roman" panose="02020603050405020304" pitchFamily="18" charset="0"/>
                  <a:cs typeface="Times New Roman" panose="02020603050405020304" pitchFamily="18" charset="0"/>
                </a:rPr>
                <a:t>Burglary</a:t>
              </a:r>
              <a:endParaRPr lang="zh-CN" altLang="en-US" sz="2000" b="1" dirty="0">
                <a:latin typeface="Times New Roman" panose="02020603050405020304" pitchFamily="18" charset="0"/>
                <a:cs typeface="Times New Roman" panose="02020603050405020304" pitchFamily="18" charset="0"/>
              </a:endParaRPr>
            </a:p>
          </p:txBody>
        </p:sp>
        <p:sp>
          <p:nvSpPr>
            <p:cNvPr id="7" name="椭圆 6"/>
            <p:cNvSpPr/>
            <p:nvPr/>
          </p:nvSpPr>
          <p:spPr>
            <a:xfrm>
              <a:off x="1886382" y="2215819"/>
              <a:ext cx="1896346" cy="854640"/>
            </a:xfrm>
            <a:prstGeom prst="ellipse">
              <a:avLst/>
            </a:prstGeom>
            <a:noFill/>
            <a:ln w="25400">
              <a:solidFill>
                <a:schemeClr val="tx1">
                  <a:alpha val="9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箭头连接符 7"/>
          <p:cNvCxnSpPr>
            <a:stCxn id="7" idx="4"/>
            <a:endCxn id="17" idx="0"/>
          </p:cNvCxnSpPr>
          <p:nvPr/>
        </p:nvCxnSpPr>
        <p:spPr>
          <a:xfrm>
            <a:off x="2997019" y="1553912"/>
            <a:ext cx="2704788" cy="11614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7110422" y="718851"/>
            <a:ext cx="1896346" cy="854640"/>
            <a:chOff x="1886382" y="2215819"/>
            <a:chExt cx="1896346" cy="854640"/>
          </a:xfrm>
        </p:grpSpPr>
        <p:sp>
          <p:nvSpPr>
            <p:cNvPr id="10" name="文本框 9"/>
            <p:cNvSpPr txBox="1"/>
            <p:nvPr/>
          </p:nvSpPr>
          <p:spPr>
            <a:xfrm>
              <a:off x="1974723" y="2428344"/>
              <a:ext cx="1615500" cy="400110"/>
            </a:xfrm>
            <a:prstGeom prst="rect">
              <a:avLst/>
            </a:prstGeom>
            <a:noFill/>
          </p:spPr>
          <p:txBody>
            <a:bodyPr wrap="square" rtlCol="0">
              <a:spAutoFit/>
            </a:bodyPr>
            <a:lstStyle/>
            <a:p>
              <a:pPr algn="ctr"/>
              <a:r>
                <a:rPr lang="en-US" altLang="zh-CN" sz="2000" b="1" dirty="0">
                  <a:latin typeface="Times New Roman" panose="02020603050405020304" pitchFamily="18" charset="0"/>
                  <a:cs typeface="Times New Roman" panose="02020603050405020304" pitchFamily="18" charset="0"/>
                </a:rPr>
                <a:t>Earthquake</a:t>
              </a:r>
              <a:endParaRPr lang="zh-CN" altLang="en-US" sz="2000" b="1" dirty="0">
                <a:latin typeface="Times New Roman" panose="02020603050405020304" pitchFamily="18" charset="0"/>
                <a:cs typeface="Times New Roman" panose="02020603050405020304" pitchFamily="18" charset="0"/>
              </a:endParaRPr>
            </a:p>
          </p:txBody>
        </p:sp>
        <p:sp>
          <p:nvSpPr>
            <p:cNvPr id="11" name="椭圆 10"/>
            <p:cNvSpPr/>
            <p:nvPr/>
          </p:nvSpPr>
          <p:spPr>
            <a:xfrm>
              <a:off x="1886382" y="2215819"/>
              <a:ext cx="1896346" cy="854640"/>
            </a:xfrm>
            <a:prstGeom prst="ellipse">
              <a:avLst/>
            </a:prstGeom>
            <a:noFill/>
            <a:ln w="25400">
              <a:solidFill>
                <a:schemeClr val="tx1">
                  <a:alpha val="9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2048846" y="3751319"/>
            <a:ext cx="1896346" cy="854640"/>
            <a:chOff x="1886382" y="2215819"/>
            <a:chExt cx="1896346" cy="854640"/>
          </a:xfrm>
        </p:grpSpPr>
        <p:sp>
          <p:nvSpPr>
            <p:cNvPr id="13" name="文本框 12"/>
            <p:cNvSpPr txBox="1"/>
            <p:nvPr/>
          </p:nvSpPr>
          <p:spPr>
            <a:xfrm>
              <a:off x="1974723" y="2428344"/>
              <a:ext cx="1615500" cy="400110"/>
            </a:xfrm>
            <a:prstGeom prst="rect">
              <a:avLst/>
            </a:prstGeom>
            <a:noFill/>
          </p:spPr>
          <p:txBody>
            <a:bodyPr wrap="square" rtlCol="0">
              <a:spAutoFit/>
            </a:bodyPr>
            <a:lstStyle/>
            <a:p>
              <a:pPr algn="ctr"/>
              <a:r>
                <a:rPr lang="en-US" altLang="zh-CN" sz="2000" b="1" dirty="0" err="1">
                  <a:latin typeface="Times New Roman" panose="02020603050405020304" pitchFamily="18" charset="0"/>
                  <a:cs typeface="Times New Roman" panose="02020603050405020304" pitchFamily="18" charset="0"/>
                </a:rPr>
                <a:t>JohnCalls</a:t>
              </a:r>
              <a:endParaRPr lang="zh-CN" altLang="en-US" sz="2000" b="1" dirty="0">
                <a:latin typeface="Times New Roman" panose="02020603050405020304" pitchFamily="18" charset="0"/>
                <a:cs typeface="Times New Roman" panose="02020603050405020304" pitchFamily="18" charset="0"/>
              </a:endParaRPr>
            </a:p>
          </p:txBody>
        </p:sp>
        <p:sp>
          <p:nvSpPr>
            <p:cNvPr id="14" name="椭圆 13"/>
            <p:cNvSpPr/>
            <p:nvPr/>
          </p:nvSpPr>
          <p:spPr>
            <a:xfrm>
              <a:off x="1886382" y="2215819"/>
              <a:ext cx="1896346" cy="854640"/>
            </a:xfrm>
            <a:prstGeom prst="ellipse">
              <a:avLst/>
            </a:prstGeom>
            <a:noFill/>
            <a:ln w="25400">
              <a:solidFill>
                <a:schemeClr val="tx1">
                  <a:alpha val="9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4753634" y="2715386"/>
            <a:ext cx="1896346" cy="854640"/>
            <a:chOff x="1886382" y="2215819"/>
            <a:chExt cx="1896346" cy="854640"/>
          </a:xfrm>
        </p:grpSpPr>
        <p:sp>
          <p:nvSpPr>
            <p:cNvPr id="16" name="文本框 15"/>
            <p:cNvSpPr txBox="1"/>
            <p:nvPr/>
          </p:nvSpPr>
          <p:spPr>
            <a:xfrm>
              <a:off x="1974723" y="2428344"/>
              <a:ext cx="1615500" cy="400110"/>
            </a:xfrm>
            <a:prstGeom prst="rect">
              <a:avLst/>
            </a:prstGeom>
            <a:noFill/>
          </p:spPr>
          <p:txBody>
            <a:bodyPr wrap="square" rtlCol="0">
              <a:spAutoFit/>
            </a:bodyPr>
            <a:lstStyle/>
            <a:p>
              <a:pPr algn="ctr"/>
              <a:r>
                <a:rPr lang="en-US" altLang="zh-CN" sz="2000" b="1" dirty="0">
                  <a:latin typeface="Times New Roman" panose="02020603050405020304" pitchFamily="18" charset="0"/>
                  <a:cs typeface="Times New Roman" panose="02020603050405020304" pitchFamily="18" charset="0"/>
                </a:rPr>
                <a:t>Alarm</a:t>
              </a:r>
              <a:endParaRPr lang="zh-CN" altLang="en-US" sz="2000" b="1" dirty="0">
                <a:latin typeface="Times New Roman" panose="02020603050405020304" pitchFamily="18" charset="0"/>
                <a:cs typeface="Times New Roman" panose="02020603050405020304" pitchFamily="18" charset="0"/>
              </a:endParaRPr>
            </a:p>
          </p:txBody>
        </p:sp>
        <p:sp>
          <p:nvSpPr>
            <p:cNvPr id="17" name="椭圆 16"/>
            <p:cNvSpPr/>
            <p:nvPr/>
          </p:nvSpPr>
          <p:spPr>
            <a:xfrm>
              <a:off x="1886382" y="2215819"/>
              <a:ext cx="1896346" cy="854640"/>
            </a:xfrm>
            <a:prstGeom prst="ellipse">
              <a:avLst/>
            </a:prstGeom>
            <a:noFill/>
            <a:ln w="25400">
              <a:solidFill>
                <a:schemeClr val="tx1">
                  <a:alpha val="9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箭头连接符 17"/>
          <p:cNvCxnSpPr>
            <a:stCxn id="11" idx="4"/>
            <a:endCxn id="17" idx="0"/>
          </p:cNvCxnSpPr>
          <p:nvPr/>
        </p:nvCxnSpPr>
        <p:spPr>
          <a:xfrm flipH="1">
            <a:off x="5701807" y="1573491"/>
            <a:ext cx="2356788" cy="11418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7397682" y="3762979"/>
            <a:ext cx="1896346" cy="854640"/>
            <a:chOff x="1886382" y="2215819"/>
            <a:chExt cx="1896346" cy="854640"/>
          </a:xfrm>
        </p:grpSpPr>
        <p:sp>
          <p:nvSpPr>
            <p:cNvPr id="20" name="文本框 19"/>
            <p:cNvSpPr txBox="1"/>
            <p:nvPr/>
          </p:nvSpPr>
          <p:spPr>
            <a:xfrm>
              <a:off x="1974723" y="2428344"/>
              <a:ext cx="1615500" cy="400110"/>
            </a:xfrm>
            <a:prstGeom prst="rect">
              <a:avLst/>
            </a:prstGeom>
            <a:noFill/>
          </p:spPr>
          <p:txBody>
            <a:bodyPr wrap="square" rtlCol="0">
              <a:spAutoFit/>
            </a:bodyPr>
            <a:lstStyle/>
            <a:p>
              <a:pPr algn="ctr"/>
              <a:r>
                <a:rPr lang="en-US" altLang="zh-CN" sz="2000" b="1" dirty="0" err="1">
                  <a:latin typeface="Times New Roman" panose="02020603050405020304" pitchFamily="18" charset="0"/>
                  <a:cs typeface="Times New Roman" panose="02020603050405020304" pitchFamily="18" charset="0"/>
                </a:rPr>
                <a:t>MarryCalls</a:t>
              </a:r>
              <a:endParaRPr lang="zh-CN" altLang="en-US" sz="2000" b="1" dirty="0">
                <a:latin typeface="Times New Roman" panose="02020603050405020304" pitchFamily="18" charset="0"/>
                <a:cs typeface="Times New Roman" panose="02020603050405020304" pitchFamily="18" charset="0"/>
              </a:endParaRPr>
            </a:p>
          </p:txBody>
        </p:sp>
        <p:sp>
          <p:nvSpPr>
            <p:cNvPr id="21" name="椭圆 20"/>
            <p:cNvSpPr/>
            <p:nvPr/>
          </p:nvSpPr>
          <p:spPr>
            <a:xfrm>
              <a:off x="1886382" y="2215819"/>
              <a:ext cx="1896346" cy="854640"/>
            </a:xfrm>
            <a:prstGeom prst="ellipse">
              <a:avLst/>
            </a:prstGeom>
            <a:noFill/>
            <a:ln w="25400">
              <a:solidFill>
                <a:schemeClr val="tx1">
                  <a:alpha val="9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6" name="直接箭头连接符 25"/>
          <p:cNvCxnSpPr>
            <a:stCxn id="17" idx="4"/>
          </p:cNvCxnSpPr>
          <p:nvPr/>
        </p:nvCxnSpPr>
        <p:spPr>
          <a:xfrm>
            <a:off x="5701807" y="3570026"/>
            <a:ext cx="2644048" cy="1812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7" idx="4"/>
            <a:endCxn id="14" idx="0"/>
          </p:cNvCxnSpPr>
          <p:nvPr/>
        </p:nvCxnSpPr>
        <p:spPr>
          <a:xfrm flipH="1">
            <a:off x="2997019" y="3570026"/>
            <a:ext cx="2704788" cy="1812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3" name="表格 32"/>
          <p:cNvGraphicFramePr>
            <a:graphicFrameLocks noGrp="1"/>
          </p:cNvGraphicFramePr>
          <p:nvPr/>
        </p:nvGraphicFramePr>
        <p:xfrm>
          <a:off x="4107419" y="642627"/>
          <a:ext cx="938784" cy="736600"/>
        </p:xfrm>
        <a:graphic>
          <a:graphicData uri="http://schemas.openxmlformats.org/drawingml/2006/table">
            <a:tbl>
              <a:tblPr firstRow="1" bandRow="1">
                <a:tableStyleId>{5C22544A-7EE6-4342-B048-85BDC9FD1C3A}</a:tableStyleId>
              </a:tblPr>
              <a:tblGrid>
                <a:gridCol w="938784">
                  <a:extLst>
                    <a:ext uri="{9D8B030D-6E8A-4147-A177-3AD203B41FA5}">
                      <a16:colId xmlns:a16="http://schemas.microsoft.com/office/drawing/2014/main" val="20000"/>
                    </a:ext>
                  </a:extLst>
                </a:gridCol>
              </a:tblGrid>
              <a:tr h="253224">
                <a:tc>
                  <a:txBody>
                    <a:bodyPr/>
                    <a:lstStyle/>
                    <a:p>
                      <a:pPr algn="ctr"/>
                      <a:r>
                        <a:rPr lang="en-US" altLang="zh-CN" dirty="0"/>
                        <a:t>P(B)</a:t>
                      </a:r>
                      <a:endParaRPr lang="zh-CN" altLang="en-US" dirty="0"/>
                    </a:p>
                  </a:txBody>
                  <a:tcPr/>
                </a:tc>
                <a:extLst>
                  <a:ext uri="{0D108BD9-81ED-4DB2-BD59-A6C34878D82A}">
                    <a16:rowId xmlns:a16="http://schemas.microsoft.com/office/drawing/2014/main" val="10000"/>
                  </a:ext>
                </a:extLst>
              </a:tr>
              <a:tr h="370840">
                <a:tc>
                  <a:txBody>
                    <a:bodyPr/>
                    <a:lstStyle/>
                    <a:p>
                      <a:pPr algn="ctr"/>
                      <a:r>
                        <a:rPr lang="en-US" altLang="zh-CN" dirty="0"/>
                        <a:t>0.001</a:t>
                      </a:r>
                      <a:endParaRPr lang="zh-CN" altLang="en-US" dirty="0"/>
                    </a:p>
                  </a:txBody>
                  <a:tcPr/>
                </a:tc>
                <a:extLst>
                  <a:ext uri="{0D108BD9-81ED-4DB2-BD59-A6C34878D82A}">
                    <a16:rowId xmlns:a16="http://schemas.microsoft.com/office/drawing/2014/main" val="10001"/>
                  </a:ext>
                </a:extLst>
              </a:tr>
            </a:tbl>
          </a:graphicData>
        </a:graphic>
      </p:graphicFrame>
      <p:graphicFrame>
        <p:nvGraphicFramePr>
          <p:cNvPr id="34" name="表格 33"/>
          <p:cNvGraphicFramePr>
            <a:graphicFrameLocks noGrp="1"/>
          </p:cNvGraphicFramePr>
          <p:nvPr/>
        </p:nvGraphicFramePr>
        <p:xfrm>
          <a:off x="9516701" y="642627"/>
          <a:ext cx="938784" cy="736600"/>
        </p:xfrm>
        <a:graphic>
          <a:graphicData uri="http://schemas.openxmlformats.org/drawingml/2006/table">
            <a:tbl>
              <a:tblPr firstRow="1" bandRow="1">
                <a:tableStyleId>{5C22544A-7EE6-4342-B048-85BDC9FD1C3A}</a:tableStyleId>
              </a:tblPr>
              <a:tblGrid>
                <a:gridCol w="938784">
                  <a:extLst>
                    <a:ext uri="{9D8B030D-6E8A-4147-A177-3AD203B41FA5}">
                      <a16:colId xmlns:a16="http://schemas.microsoft.com/office/drawing/2014/main" val="20000"/>
                    </a:ext>
                  </a:extLst>
                </a:gridCol>
              </a:tblGrid>
              <a:tr h="253224">
                <a:tc>
                  <a:txBody>
                    <a:bodyPr/>
                    <a:lstStyle/>
                    <a:p>
                      <a:pPr algn="ctr"/>
                      <a:r>
                        <a:rPr lang="en-US" altLang="zh-CN" dirty="0"/>
                        <a:t>P(E)</a:t>
                      </a:r>
                      <a:endParaRPr lang="zh-CN" altLang="en-US" dirty="0"/>
                    </a:p>
                  </a:txBody>
                  <a:tcPr/>
                </a:tc>
                <a:extLst>
                  <a:ext uri="{0D108BD9-81ED-4DB2-BD59-A6C34878D82A}">
                    <a16:rowId xmlns:a16="http://schemas.microsoft.com/office/drawing/2014/main" val="10000"/>
                  </a:ext>
                </a:extLst>
              </a:tr>
              <a:tr h="370840">
                <a:tc>
                  <a:txBody>
                    <a:bodyPr/>
                    <a:lstStyle/>
                    <a:p>
                      <a:pPr algn="ctr"/>
                      <a:r>
                        <a:rPr lang="en-US" altLang="zh-CN" dirty="0"/>
                        <a:t>0.002</a:t>
                      </a:r>
                      <a:endParaRPr lang="zh-CN" altLang="en-US" dirty="0"/>
                    </a:p>
                  </a:txBody>
                  <a:tcPr/>
                </a:tc>
                <a:extLst>
                  <a:ext uri="{0D108BD9-81ED-4DB2-BD59-A6C34878D82A}">
                    <a16:rowId xmlns:a16="http://schemas.microsoft.com/office/drawing/2014/main" val="10001"/>
                  </a:ext>
                </a:extLst>
              </a:tr>
            </a:tbl>
          </a:graphicData>
        </a:graphic>
      </p:graphicFrame>
      <p:graphicFrame>
        <p:nvGraphicFramePr>
          <p:cNvPr id="35" name="表格 34"/>
          <p:cNvGraphicFramePr>
            <a:graphicFrameLocks noGrp="1"/>
          </p:cNvGraphicFramePr>
          <p:nvPr/>
        </p:nvGraphicFramePr>
        <p:xfrm>
          <a:off x="7972305" y="1750292"/>
          <a:ext cx="2603889" cy="1854200"/>
        </p:xfrm>
        <a:graphic>
          <a:graphicData uri="http://schemas.openxmlformats.org/drawingml/2006/table">
            <a:tbl>
              <a:tblPr firstRow="1" bandRow="1">
                <a:tableStyleId>{5C22544A-7EE6-4342-B048-85BDC9FD1C3A}</a:tableStyleId>
              </a:tblPr>
              <a:tblGrid>
                <a:gridCol w="867963">
                  <a:extLst>
                    <a:ext uri="{9D8B030D-6E8A-4147-A177-3AD203B41FA5}">
                      <a16:colId xmlns:a16="http://schemas.microsoft.com/office/drawing/2014/main" val="20000"/>
                    </a:ext>
                  </a:extLst>
                </a:gridCol>
                <a:gridCol w="867963">
                  <a:extLst>
                    <a:ext uri="{9D8B030D-6E8A-4147-A177-3AD203B41FA5}">
                      <a16:colId xmlns:a16="http://schemas.microsoft.com/office/drawing/2014/main" val="20001"/>
                    </a:ext>
                  </a:extLst>
                </a:gridCol>
                <a:gridCol w="867963">
                  <a:extLst>
                    <a:ext uri="{9D8B030D-6E8A-4147-A177-3AD203B41FA5}">
                      <a16:colId xmlns:a16="http://schemas.microsoft.com/office/drawing/2014/main" val="20002"/>
                    </a:ext>
                  </a:extLst>
                </a:gridCol>
              </a:tblGrid>
              <a:tr h="370840">
                <a:tc>
                  <a:txBody>
                    <a:bodyPr/>
                    <a:lstStyle/>
                    <a:p>
                      <a:pPr algn="ctr"/>
                      <a:r>
                        <a:rPr lang="en-US" altLang="zh-CN" dirty="0"/>
                        <a:t>B</a:t>
                      </a:r>
                      <a:endParaRPr lang="zh-CN" altLang="en-US" dirty="0"/>
                    </a:p>
                  </a:txBody>
                  <a:tcPr/>
                </a:tc>
                <a:tc>
                  <a:txBody>
                    <a:bodyPr/>
                    <a:lstStyle/>
                    <a:p>
                      <a:pPr algn="ctr"/>
                      <a:r>
                        <a:rPr lang="en-US" altLang="zh-CN" dirty="0"/>
                        <a:t>E</a:t>
                      </a:r>
                      <a:endParaRPr lang="zh-CN" altLang="en-US" dirty="0"/>
                    </a:p>
                  </a:txBody>
                  <a:tcPr/>
                </a:tc>
                <a:tc>
                  <a:txBody>
                    <a:bodyPr/>
                    <a:lstStyle/>
                    <a:p>
                      <a:pPr algn="ctr"/>
                      <a:r>
                        <a:rPr lang="en-US" altLang="zh-CN" dirty="0"/>
                        <a:t>P(A)</a:t>
                      </a:r>
                      <a:endParaRPr lang="zh-CN" altLang="en-US" dirty="0"/>
                    </a:p>
                  </a:txBody>
                  <a:tcPr/>
                </a:tc>
                <a:extLst>
                  <a:ext uri="{0D108BD9-81ED-4DB2-BD59-A6C34878D82A}">
                    <a16:rowId xmlns:a16="http://schemas.microsoft.com/office/drawing/2014/main" val="10000"/>
                  </a:ext>
                </a:extLst>
              </a:tr>
              <a:tr h="370840">
                <a:tc>
                  <a:txBody>
                    <a:bodyPr/>
                    <a:lstStyle/>
                    <a:p>
                      <a:pPr algn="ctr"/>
                      <a:r>
                        <a:rPr lang="en-US" altLang="zh-CN" dirty="0"/>
                        <a:t>t</a:t>
                      </a:r>
                      <a:endParaRPr lang="zh-CN" altLang="en-US" dirty="0"/>
                    </a:p>
                  </a:txBody>
                  <a:tcPr/>
                </a:tc>
                <a:tc>
                  <a:txBody>
                    <a:bodyPr/>
                    <a:lstStyle/>
                    <a:p>
                      <a:pPr algn="ctr"/>
                      <a:r>
                        <a:rPr lang="en-US" altLang="zh-CN" dirty="0"/>
                        <a:t>t</a:t>
                      </a:r>
                      <a:endParaRPr lang="zh-CN" altLang="en-US" dirty="0"/>
                    </a:p>
                  </a:txBody>
                  <a:tcPr/>
                </a:tc>
                <a:tc>
                  <a:txBody>
                    <a:bodyPr/>
                    <a:lstStyle/>
                    <a:p>
                      <a:pPr algn="ctr"/>
                      <a:r>
                        <a:rPr lang="en-US" altLang="zh-CN" dirty="0"/>
                        <a:t>0.95</a:t>
                      </a:r>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dirty="0"/>
                        <a:t>t</a:t>
                      </a:r>
                      <a:endParaRPr lang="zh-CN" altLang="en-US" dirty="0"/>
                    </a:p>
                  </a:txBody>
                  <a:tcPr/>
                </a:tc>
                <a:tc>
                  <a:txBody>
                    <a:bodyPr/>
                    <a:lstStyle/>
                    <a:p>
                      <a:pPr algn="ctr"/>
                      <a:r>
                        <a:rPr lang="en-US" altLang="zh-CN" dirty="0"/>
                        <a:t>f</a:t>
                      </a:r>
                      <a:endParaRPr lang="zh-CN" altLang="en-US" dirty="0"/>
                    </a:p>
                  </a:txBody>
                  <a:tcPr/>
                </a:tc>
                <a:tc>
                  <a:txBody>
                    <a:bodyPr/>
                    <a:lstStyle/>
                    <a:p>
                      <a:pPr algn="ctr"/>
                      <a:r>
                        <a:rPr lang="en-US" altLang="zh-CN" dirty="0"/>
                        <a:t>0.94</a:t>
                      </a:r>
                      <a:endParaRPr lang="zh-CN" altLang="en-US" dirty="0"/>
                    </a:p>
                  </a:txBody>
                  <a:tcPr/>
                </a:tc>
                <a:extLst>
                  <a:ext uri="{0D108BD9-81ED-4DB2-BD59-A6C34878D82A}">
                    <a16:rowId xmlns:a16="http://schemas.microsoft.com/office/drawing/2014/main" val="10002"/>
                  </a:ext>
                </a:extLst>
              </a:tr>
              <a:tr h="370840">
                <a:tc>
                  <a:txBody>
                    <a:bodyPr/>
                    <a:lstStyle/>
                    <a:p>
                      <a:pPr algn="ctr"/>
                      <a:r>
                        <a:rPr lang="en-US" altLang="zh-CN" dirty="0"/>
                        <a:t>f</a:t>
                      </a:r>
                      <a:endParaRPr lang="zh-CN" altLang="en-US" dirty="0"/>
                    </a:p>
                  </a:txBody>
                  <a:tcPr/>
                </a:tc>
                <a:tc>
                  <a:txBody>
                    <a:bodyPr/>
                    <a:lstStyle/>
                    <a:p>
                      <a:pPr algn="ctr"/>
                      <a:r>
                        <a:rPr lang="en-US" altLang="zh-CN" dirty="0"/>
                        <a:t>t</a:t>
                      </a:r>
                      <a:endParaRPr lang="zh-CN" altLang="en-US" dirty="0"/>
                    </a:p>
                  </a:txBody>
                  <a:tcPr/>
                </a:tc>
                <a:tc>
                  <a:txBody>
                    <a:bodyPr/>
                    <a:lstStyle/>
                    <a:p>
                      <a:pPr algn="ctr"/>
                      <a:r>
                        <a:rPr lang="en-US" altLang="zh-CN" dirty="0"/>
                        <a:t>0.29</a:t>
                      </a:r>
                      <a:endParaRPr lang="zh-CN" altLang="en-US" dirty="0"/>
                    </a:p>
                  </a:txBody>
                  <a:tcPr/>
                </a:tc>
                <a:extLst>
                  <a:ext uri="{0D108BD9-81ED-4DB2-BD59-A6C34878D82A}">
                    <a16:rowId xmlns:a16="http://schemas.microsoft.com/office/drawing/2014/main" val="10003"/>
                  </a:ext>
                </a:extLst>
              </a:tr>
              <a:tr h="370840">
                <a:tc>
                  <a:txBody>
                    <a:bodyPr/>
                    <a:lstStyle/>
                    <a:p>
                      <a:pPr algn="ctr"/>
                      <a:r>
                        <a:rPr lang="en-US" altLang="zh-CN" dirty="0"/>
                        <a:t>f</a:t>
                      </a:r>
                      <a:endParaRPr lang="zh-CN" altLang="en-US" dirty="0"/>
                    </a:p>
                  </a:txBody>
                  <a:tcPr/>
                </a:tc>
                <a:tc>
                  <a:txBody>
                    <a:bodyPr/>
                    <a:lstStyle/>
                    <a:p>
                      <a:pPr algn="ctr"/>
                      <a:r>
                        <a:rPr lang="en-US" altLang="zh-CN" dirty="0"/>
                        <a:t>f</a:t>
                      </a:r>
                      <a:endParaRPr lang="zh-CN" altLang="en-US" dirty="0"/>
                    </a:p>
                  </a:txBody>
                  <a:tcPr/>
                </a:tc>
                <a:tc>
                  <a:txBody>
                    <a:bodyPr/>
                    <a:lstStyle/>
                    <a:p>
                      <a:pPr algn="ctr"/>
                      <a:r>
                        <a:rPr lang="en-US" altLang="zh-CN" dirty="0"/>
                        <a:t>0.001</a:t>
                      </a:r>
                      <a:endParaRPr lang="zh-CN" altLang="en-US" dirty="0"/>
                    </a:p>
                  </a:txBody>
                  <a:tcPr/>
                </a:tc>
                <a:extLst>
                  <a:ext uri="{0D108BD9-81ED-4DB2-BD59-A6C34878D82A}">
                    <a16:rowId xmlns:a16="http://schemas.microsoft.com/office/drawing/2014/main" val="10004"/>
                  </a:ext>
                </a:extLst>
              </a:tr>
            </a:tbl>
          </a:graphicData>
        </a:graphic>
      </p:graphicFrame>
      <p:graphicFrame>
        <p:nvGraphicFramePr>
          <p:cNvPr id="39" name="表格 38"/>
          <p:cNvGraphicFramePr>
            <a:graphicFrameLocks noGrp="1"/>
          </p:cNvGraphicFramePr>
          <p:nvPr/>
        </p:nvGraphicFramePr>
        <p:xfrm>
          <a:off x="4107419" y="4056168"/>
          <a:ext cx="1591472" cy="1112520"/>
        </p:xfrm>
        <a:graphic>
          <a:graphicData uri="http://schemas.openxmlformats.org/drawingml/2006/table">
            <a:tbl>
              <a:tblPr firstRow="1" bandRow="1">
                <a:tableStyleId>{5C22544A-7EE6-4342-B048-85BDC9FD1C3A}</a:tableStyleId>
              </a:tblPr>
              <a:tblGrid>
                <a:gridCol w="795736">
                  <a:extLst>
                    <a:ext uri="{9D8B030D-6E8A-4147-A177-3AD203B41FA5}">
                      <a16:colId xmlns:a16="http://schemas.microsoft.com/office/drawing/2014/main" val="20000"/>
                    </a:ext>
                  </a:extLst>
                </a:gridCol>
                <a:gridCol w="795736">
                  <a:extLst>
                    <a:ext uri="{9D8B030D-6E8A-4147-A177-3AD203B41FA5}">
                      <a16:colId xmlns:a16="http://schemas.microsoft.com/office/drawing/2014/main" val="20001"/>
                    </a:ext>
                  </a:extLst>
                </a:gridCol>
              </a:tblGrid>
              <a:tr h="370840">
                <a:tc>
                  <a:txBody>
                    <a:bodyPr/>
                    <a:lstStyle/>
                    <a:p>
                      <a:pPr algn="ctr"/>
                      <a:r>
                        <a:rPr lang="en-US" altLang="zh-CN" dirty="0"/>
                        <a:t>A</a:t>
                      </a:r>
                      <a:endParaRPr lang="zh-CN" altLang="en-US" dirty="0"/>
                    </a:p>
                  </a:txBody>
                  <a:tcPr/>
                </a:tc>
                <a:tc>
                  <a:txBody>
                    <a:bodyPr/>
                    <a:lstStyle/>
                    <a:p>
                      <a:pPr algn="ctr"/>
                      <a:r>
                        <a:rPr lang="en-US" altLang="zh-CN" dirty="0"/>
                        <a:t>P(J)</a:t>
                      </a:r>
                      <a:endParaRPr lang="zh-CN" altLang="en-US" dirty="0"/>
                    </a:p>
                  </a:txBody>
                  <a:tcPr/>
                </a:tc>
                <a:extLst>
                  <a:ext uri="{0D108BD9-81ED-4DB2-BD59-A6C34878D82A}">
                    <a16:rowId xmlns:a16="http://schemas.microsoft.com/office/drawing/2014/main" val="10000"/>
                  </a:ext>
                </a:extLst>
              </a:tr>
              <a:tr h="370840">
                <a:tc>
                  <a:txBody>
                    <a:bodyPr/>
                    <a:lstStyle/>
                    <a:p>
                      <a:pPr algn="ctr"/>
                      <a:r>
                        <a:rPr lang="en-US" altLang="zh-CN" dirty="0"/>
                        <a:t>t</a:t>
                      </a:r>
                      <a:endParaRPr lang="zh-CN" altLang="en-US" dirty="0"/>
                    </a:p>
                  </a:txBody>
                  <a:tcPr/>
                </a:tc>
                <a:tc>
                  <a:txBody>
                    <a:bodyPr/>
                    <a:lstStyle/>
                    <a:p>
                      <a:pPr algn="ctr"/>
                      <a:r>
                        <a:rPr lang="en-US" altLang="zh-CN" dirty="0"/>
                        <a:t>0.90</a:t>
                      </a:r>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dirty="0"/>
                        <a:t>f</a:t>
                      </a:r>
                      <a:endParaRPr lang="zh-CN" altLang="en-US" dirty="0"/>
                    </a:p>
                  </a:txBody>
                  <a:tcPr/>
                </a:tc>
                <a:tc>
                  <a:txBody>
                    <a:bodyPr/>
                    <a:lstStyle/>
                    <a:p>
                      <a:pPr algn="ctr"/>
                      <a:r>
                        <a:rPr lang="en-US" altLang="zh-CN" dirty="0"/>
                        <a:t>0.05</a:t>
                      </a:r>
                      <a:endParaRPr lang="zh-CN" altLang="en-US" dirty="0"/>
                    </a:p>
                  </a:txBody>
                  <a:tcPr/>
                </a:tc>
                <a:extLst>
                  <a:ext uri="{0D108BD9-81ED-4DB2-BD59-A6C34878D82A}">
                    <a16:rowId xmlns:a16="http://schemas.microsoft.com/office/drawing/2014/main" val="10002"/>
                  </a:ext>
                </a:extLst>
              </a:tr>
            </a:tbl>
          </a:graphicData>
        </a:graphic>
      </p:graphicFrame>
      <p:graphicFrame>
        <p:nvGraphicFramePr>
          <p:cNvPr id="40" name="表格 39"/>
          <p:cNvGraphicFramePr>
            <a:graphicFrameLocks noGrp="1"/>
          </p:cNvGraphicFramePr>
          <p:nvPr/>
        </p:nvGraphicFramePr>
        <p:xfrm>
          <a:off x="9516701" y="4056168"/>
          <a:ext cx="1591472" cy="1112520"/>
        </p:xfrm>
        <a:graphic>
          <a:graphicData uri="http://schemas.openxmlformats.org/drawingml/2006/table">
            <a:tbl>
              <a:tblPr firstRow="1" bandRow="1">
                <a:tableStyleId>{5C22544A-7EE6-4342-B048-85BDC9FD1C3A}</a:tableStyleId>
              </a:tblPr>
              <a:tblGrid>
                <a:gridCol w="795736">
                  <a:extLst>
                    <a:ext uri="{9D8B030D-6E8A-4147-A177-3AD203B41FA5}">
                      <a16:colId xmlns:a16="http://schemas.microsoft.com/office/drawing/2014/main" val="20000"/>
                    </a:ext>
                  </a:extLst>
                </a:gridCol>
                <a:gridCol w="795736">
                  <a:extLst>
                    <a:ext uri="{9D8B030D-6E8A-4147-A177-3AD203B41FA5}">
                      <a16:colId xmlns:a16="http://schemas.microsoft.com/office/drawing/2014/main" val="20001"/>
                    </a:ext>
                  </a:extLst>
                </a:gridCol>
              </a:tblGrid>
              <a:tr h="370840">
                <a:tc>
                  <a:txBody>
                    <a:bodyPr/>
                    <a:lstStyle/>
                    <a:p>
                      <a:pPr algn="ctr"/>
                      <a:r>
                        <a:rPr lang="en-US" altLang="zh-CN" dirty="0"/>
                        <a:t>A</a:t>
                      </a:r>
                      <a:endParaRPr lang="zh-CN" altLang="en-US" dirty="0"/>
                    </a:p>
                  </a:txBody>
                  <a:tcPr/>
                </a:tc>
                <a:tc>
                  <a:txBody>
                    <a:bodyPr/>
                    <a:lstStyle/>
                    <a:p>
                      <a:pPr algn="ctr"/>
                      <a:r>
                        <a:rPr lang="en-US" altLang="zh-CN" dirty="0"/>
                        <a:t>P(M)</a:t>
                      </a:r>
                      <a:endParaRPr lang="zh-CN" altLang="en-US" dirty="0"/>
                    </a:p>
                  </a:txBody>
                  <a:tcPr/>
                </a:tc>
                <a:extLst>
                  <a:ext uri="{0D108BD9-81ED-4DB2-BD59-A6C34878D82A}">
                    <a16:rowId xmlns:a16="http://schemas.microsoft.com/office/drawing/2014/main" val="10000"/>
                  </a:ext>
                </a:extLst>
              </a:tr>
              <a:tr h="370840">
                <a:tc>
                  <a:txBody>
                    <a:bodyPr/>
                    <a:lstStyle/>
                    <a:p>
                      <a:pPr algn="ctr"/>
                      <a:r>
                        <a:rPr lang="en-US" altLang="zh-CN" dirty="0"/>
                        <a:t>t</a:t>
                      </a:r>
                      <a:endParaRPr lang="zh-CN" altLang="en-US" dirty="0"/>
                    </a:p>
                  </a:txBody>
                  <a:tcPr/>
                </a:tc>
                <a:tc>
                  <a:txBody>
                    <a:bodyPr/>
                    <a:lstStyle/>
                    <a:p>
                      <a:pPr algn="ctr"/>
                      <a:r>
                        <a:rPr lang="en-US" altLang="zh-CN" dirty="0"/>
                        <a:t>0.70</a:t>
                      </a:r>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dirty="0"/>
                        <a:t>f</a:t>
                      </a:r>
                      <a:endParaRPr lang="zh-CN" altLang="en-US" dirty="0"/>
                    </a:p>
                  </a:txBody>
                  <a:tcPr/>
                </a:tc>
                <a:tc>
                  <a:txBody>
                    <a:bodyPr/>
                    <a:lstStyle/>
                    <a:p>
                      <a:pPr algn="ctr"/>
                      <a:r>
                        <a:rPr lang="en-US" altLang="zh-CN" dirty="0"/>
                        <a:t>0.01</a:t>
                      </a:r>
                      <a:endParaRPr lang="zh-CN" altLang="en-US"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700613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ea typeface="ＭＳ Ｐゴシック" pitchFamily="34" charset="-128"/>
              </a:rPr>
              <a:t>D-separation: Outline</a:t>
            </a:r>
          </a:p>
        </p:txBody>
      </p:sp>
      <p:sp>
        <p:nvSpPr>
          <p:cNvPr id="13315" name="Content Placeholder 2"/>
          <p:cNvSpPr>
            <a:spLocks noGrp="1"/>
          </p:cNvSpPr>
          <p:nvPr>
            <p:ph idx="4294967295"/>
          </p:nvPr>
        </p:nvSpPr>
        <p:spPr>
          <a:xfrm>
            <a:off x="1549400" y="1397000"/>
            <a:ext cx="10642600" cy="4729163"/>
          </a:xfrm>
        </p:spPr>
        <p:txBody>
          <a:bodyPr/>
          <a:lstStyle/>
          <a:p>
            <a:r>
              <a:rPr lang="en-US" kern="0" dirty="0">
                <a:solidFill>
                  <a:srgbClr val="333399"/>
                </a:solidFill>
                <a:latin typeface="Calibri"/>
                <a:cs typeface="Calibri"/>
              </a:rPr>
              <a:t>Study independence properties for triples</a:t>
            </a:r>
          </a:p>
          <a:p>
            <a:endParaRPr lang="en-US" kern="0" dirty="0">
              <a:solidFill>
                <a:srgbClr val="333399"/>
              </a:solidFill>
              <a:latin typeface="Calibri"/>
              <a:cs typeface="Calibri"/>
            </a:endParaRPr>
          </a:p>
          <a:p>
            <a:pPr eaLnBrk="1" hangingPunct="1"/>
            <a:r>
              <a:rPr lang="en-US" kern="0" dirty="0">
                <a:solidFill>
                  <a:srgbClr val="333399"/>
                </a:solidFill>
                <a:latin typeface="Calibri"/>
                <a:cs typeface="Calibri"/>
              </a:rPr>
              <a:t>Analyze complex cases in terms of member triples</a:t>
            </a:r>
          </a:p>
          <a:p>
            <a:pPr eaLnBrk="1" hangingPunct="1"/>
            <a:endParaRPr lang="en-US" kern="0" dirty="0">
              <a:solidFill>
                <a:srgbClr val="333399"/>
              </a:solidFill>
              <a:latin typeface="Calibri"/>
              <a:cs typeface="Calibri"/>
            </a:endParaRPr>
          </a:p>
          <a:p>
            <a:pPr eaLnBrk="1" hangingPunct="1"/>
            <a:r>
              <a:rPr lang="en-US" kern="0" dirty="0">
                <a:solidFill>
                  <a:srgbClr val="333399"/>
                </a:solidFill>
                <a:latin typeface="Calibri"/>
                <a:cs typeface="Calibri"/>
              </a:rPr>
              <a:t>D-separation: a condition / algorithm for answering such queries</a:t>
            </a:r>
          </a:p>
          <a:p>
            <a:pPr eaLnBrk="1" hangingPunct="1"/>
            <a:endParaRPr lang="en-US" dirty="0">
              <a:ea typeface="ＭＳ Ｐゴシック" pitchFamily="34" charset="-128"/>
            </a:endParaRPr>
          </a:p>
        </p:txBody>
      </p:sp>
    </p:spTree>
    <p:extLst>
      <p:ext uri="{BB962C8B-B14F-4D97-AF65-F5344CB8AC3E}">
        <p14:creationId xmlns:p14="http://schemas.microsoft.com/office/powerpoint/2010/main" val="32658125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pPr eaLnBrk="1" hangingPunct="1"/>
            <a:r>
              <a:rPr lang="en-US">
                <a:latin typeface="Calibri"/>
                <a:ea typeface="ＭＳ Ｐゴシック" pitchFamily="34" charset="-128"/>
                <a:cs typeface="Calibri"/>
              </a:rPr>
              <a:t>Causal Chains</a:t>
            </a:r>
          </a:p>
        </p:txBody>
      </p:sp>
      <p:sp>
        <p:nvSpPr>
          <p:cNvPr id="1089539" name="Rectangle 3"/>
          <p:cNvSpPr>
            <a:spLocks noGrp="1" noChangeArrowheads="1"/>
          </p:cNvSpPr>
          <p:nvPr>
            <p:ph idx="4294967295"/>
          </p:nvPr>
        </p:nvSpPr>
        <p:spPr>
          <a:xfrm>
            <a:off x="0" y="1371600"/>
            <a:ext cx="5715000" cy="5105400"/>
          </a:xfrm>
        </p:spPr>
        <p:txBody>
          <a:bodyPr/>
          <a:lstStyle/>
          <a:p>
            <a:pPr eaLnBrk="1" hangingPunct="1">
              <a:lnSpc>
                <a:spcPct val="80000"/>
              </a:lnSpc>
            </a:pPr>
            <a:r>
              <a:rPr lang="en-US" sz="2400" kern="0" dirty="0">
                <a:solidFill>
                  <a:srgbClr val="333399"/>
                </a:solidFill>
                <a:latin typeface="Calibri"/>
                <a:cs typeface="Calibri"/>
              </a:rPr>
              <a:t>This configuration is a </a:t>
            </a:r>
            <a:r>
              <a:rPr lang="ja-JP" altLang="en-US" sz="2400" kern="0" dirty="0">
                <a:solidFill>
                  <a:srgbClr val="333399"/>
                </a:solidFill>
                <a:latin typeface="Calibri"/>
                <a:cs typeface="Calibri"/>
              </a:rPr>
              <a:t>“</a:t>
            </a:r>
            <a:r>
              <a:rPr lang="en-US" altLang="ja-JP" sz="2400" kern="0" dirty="0">
                <a:solidFill>
                  <a:srgbClr val="333399"/>
                </a:solidFill>
                <a:latin typeface="Calibri"/>
                <a:cs typeface="Calibri"/>
              </a:rPr>
              <a:t>causal chain</a:t>
            </a:r>
            <a:r>
              <a:rPr lang="ja-JP" altLang="en-US" sz="2400" kern="0" dirty="0">
                <a:solidFill>
                  <a:srgbClr val="333399"/>
                </a:solidFill>
                <a:latin typeface="Calibri"/>
                <a:cs typeface="Calibri"/>
              </a:rPr>
              <a:t>”</a:t>
            </a:r>
            <a:endParaRPr lang="en-US" altLang="ja-JP" sz="2400" kern="0" dirty="0">
              <a:solidFill>
                <a:srgbClr val="333399"/>
              </a:solidFill>
              <a:latin typeface="Calibri"/>
              <a:cs typeface="Calibri"/>
            </a:endParaRPr>
          </a:p>
          <a:p>
            <a:pPr lvl="1" eaLnBrk="1" hangingPunct="1">
              <a:lnSpc>
                <a:spcPct val="80000"/>
              </a:lnSpc>
            </a:pPr>
            <a:endParaRPr lang="en-US" sz="2400" dirty="0">
              <a:latin typeface="Calibri"/>
              <a:ea typeface="ＭＳ Ｐゴシック" pitchFamily="34" charset="-128"/>
              <a:cs typeface="Calibri"/>
            </a:endParaRPr>
          </a:p>
          <a:p>
            <a:pPr lvl="1" eaLnBrk="1" hangingPunct="1">
              <a:lnSpc>
                <a:spcPct val="80000"/>
              </a:lnSpc>
            </a:pPr>
            <a:endParaRPr lang="en-US" sz="2400" dirty="0">
              <a:latin typeface="Calibri"/>
              <a:ea typeface="ＭＳ Ｐゴシック" pitchFamily="34" charset="-128"/>
              <a:cs typeface="Calibri"/>
            </a:endParaRPr>
          </a:p>
          <a:p>
            <a:pPr lvl="1" eaLnBrk="1" hangingPunct="1">
              <a:lnSpc>
                <a:spcPct val="80000"/>
              </a:lnSpc>
            </a:pPr>
            <a:endParaRPr lang="en-US" sz="2400" dirty="0">
              <a:latin typeface="Calibri"/>
              <a:ea typeface="ＭＳ Ｐゴシック" pitchFamily="34" charset="-128"/>
              <a:cs typeface="Calibri"/>
            </a:endParaRPr>
          </a:p>
          <a:p>
            <a:pPr lvl="1" eaLnBrk="1" hangingPunct="1">
              <a:lnSpc>
                <a:spcPct val="80000"/>
              </a:lnSpc>
            </a:pPr>
            <a:endParaRPr lang="en-US" sz="2400" dirty="0">
              <a:latin typeface="Calibri"/>
              <a:ea typeface="ＭＳ Ｐゴシック" pitchFamily="34" charset="-128"/>
              <a:cs typeface="Calibri"/>
            </a:endParaRPr>
          </a:p>
          <a:p>
            <a:pPr lvl="3" eaLnBrk="1" hangingPunct="1">
              <a:lnSpc>
                <a:spcPct val="80000"/>
              </a:lnSpc>
            </a:pPr>
            <a:endParaRPr lang="en-US" sz="16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p:txBody>
      </p:sp>
      <p:pic>
        <p:nvPicPr>
          <p:cNvPr id="54280" name="Picture 9" descr="txp_fig"/>
          <p:cNvPicPr>
            <a:picLocks noChangeAspect="1" noChangeArrowheads="1"/>
          </p:cNvPicPr>
          <p:nvPr>
            <p:custDataLst>
              <p:tags r:id="rId1"/>
            </p:custDataLst>
          </p:nvPr>
        </p:nvPicPr>
        <p:blipFill>
          <a:blip r:embed="rId3" cstate="email">
            <a:extLst>
              <a:ext uri="{28A0092B-C50C-407E-A947-70E740481C1C}">
                <a14:useLocalDpi xmlns:a14="http://schemas.microsoft.com/office/drawing/2010/main" val="0"/>
              </a:ext>
            </a:extLst>
          </a:blip>
          <a:srcRect/>
          <a:stretch>
            <a:fillRect/>
          </a:stretch>
        </p:blipFill>
        <p:spPr bwMode="auto">
          <a:xfrm>
            <a:off x="998537" y="5486400"/>
            <a:ext cx="4335463" cy="3127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4281" name="Text Box 14"/>
          <p:cNvSpPr txBox="1">
            <a:spLocks noChangeArrowheads="1"/>
          </p:cNvSpPr>
          <p:nvPr/>
        </p:nvSpPr>
        <p:spPr bwMode="auto">
          <a:xfrm>
            <a:off x="762000" y="4583668"/>
            <a:ext cx="548640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dirty="0">
                <a:latin typeface="Calibri"/>
                <a:cs typeface="Calibri"/>
              </a:rPr>
              <a:t>X: Low pressure          Y: Rain                          Z: Traffic</a:t>
            </a:r>
          </a:p>
        </p:txBody>
      </p:sp>
      <p:pic>
        <p:nvPicPr>
          <p:cNvPr id="2" name="Picture 1"/>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58653" y="2057400"/>
            <a:ext cx="5561146" cy="2438400"/>
          </a:xfrm>
          <a:prstGeom prst="rect">
            <a:avLst/>
          </a:prstGeom>
        </p:spPr>
      </p:pic>
      <p:sp>
        <p:nvSpPr>
          <p:cNvPr id="13" name="Rectangle 3"/>
          <p:cNvSpPr txBox="1">
            <a:spLocks noChangeArrowheads="1"/>
          </p:cNvSpPr>
          <p:nvPr/>
        </p:nvSpPr>
        <p:spPr bwMode="auto">
          <a:xfrm>
            <a:off x="6172200" y="1371600"/>
            <a:ext cx="5943600" cy="5105400"/>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pPr>
              <a:lnSpc>
                <a:spcPct val="80000"/>
              </a:lnSpc>
            </a:pPr>
            <a:r>
              <a:rPr lang="en-US" sz="2400" kern="0" dirty="0">
                <a:solidFill>
                  <a:srgbClr val="333399"/>
                </a:solidFill>
                <a:latin typeface="Calibri"/>
                <a:cs typeface="Calibri"/>
              </a:rPr>
              <a:t>Guaranteed X independent of Z ?   </a:t>
            </a:r>
            <a:r>
              <a:rPr lang="en-US" sz="2400" i="1" dirty="0">
                <a:solidFill>
                  <a:srgbClr val="FF0000"/>
                </a:solidFill>
                <a:latin typeface="Calibri"/>
                <a:ea typeface="ＭＳ Ｐゴシック" pitchFamily="34" charset="-128"/>
                <a:cs typeface="Calibri"/>
              </a:rPr>
              <a:t>No!</a:t>
            </a:r>
          </a:p>
          <a:p>
            <a:pPr lvl="4">
              <a:lnSpc>
                <a:spcPct val="80000"/>
              </a:lnSpc>
            </a:pPr>
            <a:endParaRPr lang="en-US" dirty="0">
              <a:latin typeface="Calibri"/>
              <a:cs typeface="Calibri"/>
            </a:endParaRPr>
          </a:p>
          <a:p>
            <a:pPr lvl="1">
              <a:lnSpc>
                <a:spcPct val="80000"/>
              </a:lnSpc>
            </a:pPr>
            <a:r>
              <a:rPr lang="en-US" sz="2000" dirty="0">
                <a:latin typeface="Calibri"/>
                <a:cs typeface="Calibri"/>
              </a:rPr>
              <a:t>One example set of CPTs for which X is not independent of Z is sufficient to show this independence is not guaranteed.</a:t>
            </a:r>
          </a:p>
          <a:p>
            <a:pPr lvl="2">
              <a:lnSpc>
                <a:spcPct val="80000"/>
              </a:lnSpc>
            </a:pPr>
            <a:endParaRPr lang="en-US" sz="2000" dirty="0">
              <a:latin typeface="Calibri"/>
              <a:cs typeface="Calibri"/>
            </a:endParaRPr>
          </a:p>
          <a:p>
            <a:pPr lvl="1">
              <a:lnSpc>
                <a:spcPct val="80000"/>
              </a:lnSpc>
            </a:pPr>
            <a:r>
              <a:rPr lang="en-US" sz="2000" dirty="0">
                <a:latin typeface="Calibri"/>
                <a:cs typeface="Calibri"/>
              </a:rPr>
              <a:t>Example:</a:t>
            </a:r>
          </a:p>
          <a:p>
            <a:pPr lvl="6">
              <a:lnSpc>
                <a:spcPct val="80000"/>
              </a:lnSpc>
            </a:pPr>
            <a:endParaRPr lang="en-US" sz="1200" dirty="0">
              <a:latin typeface="Calibri"/>
              <a:cs typeface="Calibri"/>
            </a:endParaRPr>
          </a:p>
          <a:p>
            <a:pPr lvl="2">
              <a:lnSpc>
                <a:spcPct val="80000"/>
              </a:lnSpc>
            </a:pPr>
            <a:r>
              <a:rPr lang="en-US" sz="2000" dirty="0">
                <a:latin typeface="Calibri"/>
                <a:cs typeface="Calibri"/>
              </a:rPr>
              <a:t>Low pressure causes rain causes traffic,</a:t>
            </a:r>
          </a:p>
          <a:p>
            <a:pPr marL="914353" lvl="2" indent="0">
              <a:lnSpc>
                <a:spcPct val="80000"/>
              </a:lnSpc>
              <a:buNone/>
            </a:pPr>
            <a:r>
              <a:rPr lang="en-US" sz="2000" dirty="0">
                <a:latin typeface="Calibri"/>
                <a:cs typeface="Calibri"/>
              </a:rPr>
              <a:t>    high pressure causes no rain causes no </a:t>
            </a:r>
          </a:p>
          <a:p>
            <a:pPr marL="914353" lvl="2" indent="0">
              <a:lnSpc>
                <a:spcPct val="80000"/>
              </a:lnSpc>
              <a:buNone/>
            </a:pPr>
            <a:r>
              <a:rPr lang="en-US" sz="2000" dirty="0">
                <a:latin typeface="Calibri"/>
                <a:cs typeface="Calibri"/>
              </a:rPr>
              <a:t>    traffic</a:t>
            </a:r>
          </a:p>
          <a:p>
            <a:pPr lvl="2">
              <a:lnSpc>
                <a:spcPct val="80000"/>
              </a:lnSpc>
            </a:pPr>
            <a:endParaRPr lang="en-US" sz="1600" dirty="0">
              <a:latin typeface="Calibri"/>
              <a:cs typeface="Calibri"/>
            </a:endParaRPr>
          </a:p>
          <a:p>
            <a:pPr lvl="2">
              <a:lnSpc>
                <a:spcPct val="80000"/>
              </a:lnSpc>
            </a:pPr>
            <a:r>
              <a:rPr lang="en-US" sz="2000" dirty="0">
                <a:latin typeface="Calibri"/>
                <a:cs typeface="Calibri"/>
              </a:rPr>
              <a:t>In numbers:</a:t>
            </a:r>
          </a:p>
          <a:p>
            <a:pPr marL="914353" lvl="2" indent="0">
              <a:lnSpc>
                <a:spcPct val="80000"/>
              </a:lnSpc>
              <a:buNone/>
            </a:pPr>
            <a:r>
              <a:rPr lang="en-US" sz="2000" dirty="0">
                <a:latin typeface="Calibri"/>
                <a:cs typeface="Calibri"/>
              </a:rPr>
              <a:t>	</a:t>
            </a:r>
          </a:p>
          <a:p>
            <a:pPr marL="914353" lvl="2" indent="0">
              <a:lnSpc>
                <a:spcPct val="80000"/>
              </a:lnSpc>
              <a:buNone/>
            </a:pPr>
            <a:r>
              <a:rPr lang="en-US" sz="2000" dirty="0">
                <a:latin typeface="Calibri"/>
                <a:cs typeface="Calibri"/>
              </a:rPr>
              <a:t>    P( +y | +x ) = 1, P( -y | - x ) = 1,</a:t>
            </a:r>
          </a:p>
          <a:p>
            <a:pPr lvl="2">
              <a:lnSpc>
                <a:spcPct val="80000"/>
              </a:lnSpc>
              <a:buFont typeface="Wingdings" pitchFamily="2" charset="2"/>
              <a:buNone/>
            </a:pPr>
            <a:r>
              <a:rPr lang="en-US" sz="2000" dirty="0">
                <a:latin typeface="Calibri"/>
                <a:cs typeface="Calibri"/>
              </a:rPr>
              <a:t>    P( +z | +y ) = 1, P( -z | -y ) = 1</a:t>
            </a:r>
          </a:p>
          <a:p>
            <a:pPr lvl="1">
              <a:lnSpc>
                <a:spcPct val="80000"/>
              </a:lnSpc>
            </a:pPr>
            <a:endParaRPr lang="en-US" sz="2000" dirty="0">
              <a:latin typeface="Calibri"/>
              <a:cs typeface="Calibri"/>
            </a:endParaRPr>
          </a:p>
          <a:p>
            <a:pPr lvl="1">
              <a:lnSpc>
                <a:spcPct val="80000"/>
              </a:lnSpc>
              <a:buFont typeface="Wingdings" pitchFamily="2" charset="2"/>
              <a:buNone/>
            </a:pPr>
            <a:endParaRPr lang="en-US" sz="2000" dirty="0">
              <a:latin typeface="Calibri"/>
              <a:cs typeface="Calibri"/>
            </a:endParaRPr>
          </a:p>
          <a:p>
            <a:pPr lvl="1">
              <a:lnSpc>
                <a:spcPct val="80000"/>
              </a:lnSpc>
            </a:pPr>
            <a:endParaRPr lang="en-US" sz="20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pPr eaLnBrk="1" hangingPunct="1"/>
            <a:r>
              <a:rPr lang="en-US">
                <a:latin typeface="Calibri"/>
                <a:ea typeface="ＭＳ Ｐゴシック" pitchFamily="34" charset="-128"/>
                <a:cs typeface="Calibri"/>
              </a:rPr>
              <a:t>Causal Chains</a:t>
            </a:r>
          </a:p>
        </p:txBody>
      </p:sp>
      <p:sp>
        <p:nvSpPr>
          <p:cNvPr id="1089539" name="Rectangle 3"/>
          <p:cNvSpPr>
            <a:spLocks noGrp="1" noChangeArrowheads="1"/>
          </p:cNvSpPr>
          <p:nvPr>
            <p:ph idx="4294967295"/>
          </p:nvPr>
        </p:nvSpPr>
        <p:spPr>
          <a:xfrm>
            <a:off x="0" y="1371600"/>
            <a:ext cx="5715000" cy="5105400"/>
          </a:xfrm>
        </p:spPr>
        <p:txBody>
          <a:bodyPr/>
          <a:lstStyle/>
          <a:p>
            <a:pPr>
              <a:lnSpc>
                <a:spcPct val="80000"/>
              </a:lnSpc>
            </a:pPr>
            <a:r>
              <a:rPr lang="en-US" sz="2400" kern="0" dirty="0">
                <a:solidFill>
                  <a:srgbClr val="333399"/>
                </a:solidFill>
                <a:latin typeface="Calibri"/>
                <a:cs typeface="Calibri"/>
              </a:rPr>
              <a:t>This configuration is a </a:t>
            </a:r>
            <a:r>
              <a:rPr lang="ja-JP" altLang="en-US" sz="2400" kern="0" dirty="0">
                <a:solidFill>
                  <a:srgbClr val="333399"/>
                </a:solidFill>
                <a:latin typeface="Calibri"/>
                <a:cs typeface="Calibri"/>
              </a:rPr>
              <a:t>“</a:t>
            </a:r>
            <a:r>
              <a:rPr lang="en-US" altLang="ja-JP" sz="2400" kern="0" dirty="0">
                <a:solidFill>
                  <a:srgbClr val="333399"/>
                </a:solidFill>
                <a:latin typeface="Calibri"/>
                <a:cs typeface="Calibri"/>
              </a:rPr>
              <a:t>causal chain</a:t>
            </a:r>
            <a:r>
              <a:rPr lang="ja-JP" altLang="en-US" sz="2400" kern="0" dirty="0">
                <a:solidFill>
                  <a:srgbClr val="333399"/>
                </a:solidFill>
                <a:latin typeface="Calibri"/>
                <a:cs typeface="Calibri"/>
              </a:rPr>
              <a:t>”</a:t>
            </a:r>
            <a:endParaRPr lang="en-US" altLang="ja-JP" sz="2400" kern="0" dirty="0">
              <a:solidFill>
                <a:srgbClr val="333399"/>
              </a:solidFill>
              <a:latin typeface="Calibri"/>
              <a:cs typeface="Calibri"/>
            </a:endParaRPr>
          </a:p>
          <a:p>
            <a:pPr marL="228600" lvl="1">
              <a:lnSpc>
                <a:spcPct val="80000"/>
              </a:lnSpc>
              <a:spcBef>
                <a:spcPts val="1000"/>
              </a:spcBef>
            </a:pPr>
            <a:endParaRPr lang="en-US" kern="0" dirty="0">
              <a:solidFill>
                <a:srgbClr val="333399"/>
              </a:solidFill>
              <a:latin typeface="Calibri"/>
              <a:cs typeface="Calibri"/>
            </a:endParaRPr>
          </a:p>
          <a:p>
            <a:pPr lvl="1" eaLnBrk="1" hangingPunct="1">
              <a:lnSpc>
                <a:spcPct val="80000"/>
              </a:lnSpc>
            </a:pPr>
            <a:endParaRPr lang="en-US" sz="2400" dirty="0">
              <a:latin typeface="Calibri"/>
              <a:ea typeface="ＭＳ Ｐゴシック" pitchFamily="34" charset="-128"/>
              <a:cs typeface="Calibri"/>
            </a:endParaRPr>
          </a:p>
          <a:p>
            <a:pPr lvl="1" eaLnBrk="1" hangingPunct="1">
              <a:lnSpc>
                <a:spcPct val="80000"/>
              </a:lnSpc>
            </a:pPr>
            <a:endParaRPr lang="en-US" sz="2400" dirty="0">
              <a:latin typeface="Calibri"/>
              <a:ea typeface="ＭＳ Ｐゴシック" pitchFamily="34" charset="-128"/>
              <a:cs typeface="Calibri"/>
            </a:endParaRPr>
          </a:p>
          <a:p>
            <a:pPr lvl="1" eaLnBrk="1" hangingPunct="1">
              <a:lnSpc>
                <a:spcPct val="80000"/>
              </a:lnSpc>
            </a:pPr>
            <a:endParaRPr lang="en-US" sz="2400" dirty="0">
              <a:latin typeface="Calibri"/>
              <a:ea typeface="ＭＳ Ｐゴシック" pitchFamily="34" charset="-128"/>
              <a:cs typeface="Calibri"/>
            </a:endParaRPr>
          </a:p>
          <a:p>
            <a:pPr lvl="3" eaLnBrk="1" hangingPunct="1">
              <a:lnSpc>
                <a:spcPct val="80000"/>
              </a:lnSpc>
            </a:pPr>
            <a:endParaRPr lang="en-US" sz="16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p:txBody>
      </p:sp>
      <p:pic>
        <p:nvPicPr>
          <p:cNvPr id="54280" name="Picture 9" descr="txp_fig"/>
          <p:cNvPicPr>
            <a:picLocks noChangeAspect="1" noChangeArrowheads="1"/>
          </p:cNvPicPr>
          <p:nvPr>
            <p:custDataLst>
              <p:tags r:id="rId1"/>
            </p:custDataLst>
          </p:nvPr>
        </p:nvPicPr>
        <p:blipFill>
          <a:blip r:embed="rId6" cstate="email">
            <a:extLst>
              <a:ext uri="{28A0092B-C50C-407E-A947-70E740481C1C}">
                <a14:useLocalDpi xmlns:a14="http://schemas.microsoft.com/office/drawing/2010/main" val="0"/>
              </a:ext>
            </a:extLst>
          </a:blip>
          <a:srcRect/>
          <a:stretch>
            <a:fillRect/>
          </a:stretch>
        </p:blipFill>
        <p:spPr bwMode="auto">
          <a:xfrm>
            <a:off x="685800" y="5486400"/>
            <a:ext cx="4335463" cy="3127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 name="Picture 1"/>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458653" y="2057400"/>
            <a:ext cx="5561146" cy="2438400"/>
          </a:xfrm>
          <a:prstGeom prst="rect">
            <a:avLst/>
          </a:prstGeom>
        </p:spPr>
      </p:pic>
      <p:sp>
        <p:nvSpPr>
          <p:cNvPr id="13" name="Rectangle 3"/>
          <p:cNvSpPr txBox="1">
            <a:spLocks noChangeArrowheads="1"/>
          </p:cNvSpPr>
          <p:nvPr/>
        </p:nvSpPr>
        <p:spPr bwMode="auto">
          <a:xfrm>
            <a:off x="6172200" y="1371600"/>
            <a:ext cx="5943600" cy="5105400"/>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pPr marL="228600" indent="-228600">
              <a:lnSpc>
                <a:spcPct val="80000"/>
              </a:lnSpc>
              <a:spcBef>
                <a:spcPts val="1000"/>
              </a:spcBef>
              <a:buFont typeface="Arial" panose="020B0604020202020204" pitchFamily="34" charset="0"/>
              <a:buChar char="•"/>
            </a:pPr>
            <a:r>
              <a:rPr lang="en-US" sz="2400" kern="0" dirty="0">
                <a:solidFill>
                  <a:srgbClr val="333399"/>
                </a:solidFill>
                <a:latin typeface="Calibri"/>
                <a:cs typeface="Calibri"/>
              </a:rPr>
              <a:t>Guaranteed X independent of Z given Y?</a:t>
            </a:r>
          </a:p>
          <a:p>
            <a:pPr lvl="1">
              <a:lnSpc>
                <a:spcPct val="80000"/>
              </a:lnSpc>
            </a:pPr>
            <a:endParaRPr lang="en-US" sz="2400" dirty="0">
              <a:latin typeface="Calibri"/>
              <a:cs typeface="Calibri"/>
            </a:endParaRPr>
          </a:p>
          <a:p>
            <a:pPr lvl="1">
              <a:lnSpc>
                <a:spcPct val="80000"/>
              </a:lnSpc>
            </a:pPr>
            <a:endParaRPr lang="en-US" sz="2400" dirty="0">
              <a:latin typeface="Calibri"/>
              <a:cs typeface="Calibri"/>
            </a:endParaRPr>
          </a:p>
          <a:p>
            <a:pPr lvl="1">
              <a:lnSpc>
                <a:spcPct val="80000"/>
              </a:lnSpc>
            </a:pPr>
            <a:endParaRPr lang="en-US" sz="2400" dirty="0">
              <a:latin typeface="Calibri"/>
              <a:cs typeface="Calibri"/>
            </a:endParaRPr>
          </a:p>
          <a:p>
            <a:pPr lvl="1">
              <a:lnSpc>
                <a:spcPct val="80000"/>
              </a:lnSpc>
            </a:pPr>
            <a:endParaRPr lang="en-US" sz="2400" dirty="0">
              <a:latin typeface="Calibri"/>
              <a:cs typeface="Calibri"/>
            </a:endParaRPr>
          </a:p>
          <a:p>
            <a:pPr lvl="1">
              <a:lnSpc>
                <a:spcPct val="80000"/>
              </a:lnSpc>
            </a:pPr>
            <a:endParaRPr lang="en-US" sz="2400" dirty="0">
              <a:latin typeface="Calibri"/>
              <a:cs typeface="Calibri"/>
            </a:endParaRPr>
          </a:p>
          <a:p>
            <a:pPr lvl="1">
              <a:lnSpc>
                <a:spcPct val="80000"/>
              </a:lnSpc>
            </a:pPr>
            <a:endParaRPr lang="en-US" sz="2400" dirty="0">
              <a:solidFill>
                <a:srgbClr val="CC0000"/>
              </a:solidFill>
              <a:latin typeface="Calibri"/>
              <a:cs typeface="Calibri"/>
            </a:endParaRPr>
          </a:p>
          <a:p>
            <a:pPr lvl="1">
              <a:lnSpc>
                <a:spcPct val="80000"/>
              </a:lnSpc>
            </a:pPr>
            <a:endParaRPr lang="en-US" sz="2400" dirty="0">
              <a:solidFill>
                <a:srgbClr val="CC0000"/>
              </a:solidFill>
              <a:latin typeface="Calibri"/>
              <a:cs typeface="Calibri"/>
            </a:endParaRPr>
          </a:p>
          <a:p>
            <a:pPr lvl="1">
              <a:lnSpc>
                <a:spcPct val="80000"/>
              </a:lnSpc>
            </a:pPr>
            <a:endParaRPr lang="en-US" sz="2400" dirty="0">
              <a:solidFill>
                <a:srgbClr val="CC0000"/>
              </a:solidFill>
              <a:latin typeface="Calibri"/>
              <a:cs typeface="Calibri"/>
            </a:endParaRPr>
          </a:p>
          <a:p>
            <a:pPr lvl="1">
              <a:lnSpc>
                <a:spcPct val="80000"/>
              </a:lnSpc>
            </a:pPr>
            <a:endParaRPr lang="en-US" sz="2400" dirty="0">
              <a:solidFill>
                <a:srgbClr val="CC0000"/>
              </a:solidFill>
              <a:latin typeface="Calibri"/>
              <a:cs typeface="Calibri"/>
            </a:endParaRPr>
          </a:p>
          <a:p>
            <a:pPr lvl="1">
              <a:lnSpc>
                <a:spcPct val="80000"/>
              </a:lnSpc>
            </a:pPr>
            <a:endParaRPr lang="en-US" sz="2400" dirty="0">
              <a:solidFill>
                <a:srgbClr val="CC0000"/>
              </a:solidFill>
              <a:latin typeface="Calibri"/>
              <a:cs typeface="Calibri"/>
            </a:endParaRPr>
          </a:p>
          <a:p>
            <a:pPr lvl="5">
              <a:lnSpc>
                <a:spcPct val="80000"/>
              </a:lnSpc>
            </a:pPr>
            <a:endParaRPr lang="en-US" sz="1600" dirty="0">
              <a:solidFill>
                <a:srgbClr val="CC0000"/>
              </a:solidFill>
              <a:latin typeface="Calibri"/>
              <a:cs typeface="Calibri"/>
            </a:endParaRPr>
          </a:p>
          <a:p>
            <a:pPr lvl="1">
              <a:lnSpc>
                <a:spcPct val="80000"/>
              </a:lnSpc>
            </a:pPr>
            <a:r>
              <a:rPr lang="en-US" sz="2400" dirty="0">
                <a:solidFill>
                  <a:srgbClr val="CC0000"/>
                </a:solidFill>
                <a:latin typeface="Calibri"/>
                <a:cs typeface="Calibri"/>
              </a:rPr>
              <a:t>Evidence along the chain </a:t>
            </a:r>
            <a:r>
              <a:rPr lang="ja-JP" altLang="en-US" sz="2400" dirty="0">
                <a:solidFill>
                  <a:srgbClr val="CC0000"/>
                </a:solidFill>
                <a:latin typeface="Calibri"/>
                <a:cs typeface="Calibri"/>
              </a:rPr>
              <a:t>“</a:t>
            </a:r>
            <a:r>
              <a:rPr lang="en-US" altLang="ja-JP" sz="2400" dirty="0">
                <a:solidFill>
                  <a:srgbClr val="CC0000"/>
                </a:solidFill>
                <a:latin typeface="Calibri"/>
                <a:cs typeface="Calibri"/>
              </a:rPr>
              <a:t>blocks</a:t>
            </a:r>
            <a:r>
              <a:rPr lang="ja-JP" altLang="en-US" sz="2400" dirty="0">
                <a:solidFill>
                  <a:srgbClr val="CC0000"/>
                </a:solidFill>
                <a:latin typeface="Calibri"/>
                <a:cs typeface="Calibri"/>
              </a:rPr>
              <a:t>”</a:t>
            </a:r>
            <a:r>
              <a:rPr lang="en-US" altLang="ja-JP" sz="2400" dirty="0">
                <a:solidFill>
                  <a:srgbClr val="CC0000"/>
                </a:solidFill>
                <a:latin typeface="Calibri"/>
                <a:cs typeface="Calibri"/>
              </a:rPr>
              <a:t> the influence</a:t>
            </a:r>
            <a:endParaRPr lang="en-US" sz="2400" dirty="0">
              <a:solidFill>
                <a:srgbClr val="CC0000"/>
              </a:solidFill>
              <a:latin typeface="Calibri"/>
              <a:cs typeface="Calibri"/>
            </a:endParaRPr>
          </a:p>
        </p:txBody>
      </p:sp>
      <p:pic>
        <p:nvPicPr>
          <p:cNvPr id="8" name="Picture 10" descr="txp_fig"/>
          <p:cNvPicPr>
            <a:picLocks noChangeAspect="1" noChangeArrowheads="1"/>
          </p:cNvPicPr>
          <p:nvPr>
            <p:custDataLst>
              <p:tags r:id="rId2"/>
            </p:custDataLst>
          </p:nvPr>
        </p:nvPicPr>
        <p:blipFill>
          <a:blip r:embed="rId8" cstate="email">
            <a:extLst>
              <a:ext uri="{28A0092B-C50C-407E-A947-70E740481C1C}">
                <a14:useLocalDpi xmlns:a14="http://schemas.microsoft.com/office/drawing/2010/main" val="0"/>
              </a:ext>
            </a:extLst>
          </a:blip>
          <a:srcRect/>
          <a:stretch>
            <a:fillRect/>
          </a:stretch>
        </p:blipFill>
        <p:spPr bwMode="auto">
          <a:xfrm>
            <a:off x="7086600" y="2362200"/>
            <a:ext cx="3028950" cy="728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 name="Picture 11" descr="txp_fig"/>
          <p:cNvPicPr>
            <a:picLocks noChangeAspect="1" noChangeArrowheads="1"/>
          </p:cNvPicPr>
          <p:nvPr>
            <p:custDataLst>
              <p:tags r:id="rId3"/>
            </p:custDataLst>
          </p:nvPr>
        </p:nvPicPr>
        <p:blipFill>
          <a:blip r:embed="rId9" cstate="email">
            <a:extLst>
              <a:ext uri="{28A0092B-C50C-407E-A947-70E740481C1C}">
                <a14:useLocalDpi xmlns:a14="http://schemas.microsoft.com/office/drawing/2010/main" val="0"/>
              </a:ext>
            </a:extLst>
          </a:blip>
          <a:srcRect/>
          <a:stretch>
            <a:fillRect/>
          </a:stretch>
        </p:blipFill>
        <p:spPr bwMode="auto">
          <a:xfrm>
            <a:off x="8458200" y="3429000"/>
            <a:ext cx="2984500" cy="742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12" descr="txp_fig"/>
          <p:cNvPicPr>
            <a:picLocks noChangeAspect="1" noChangeArrowheads="1"/>
          </p:cNvPicPr>
          <p:nvPr>
            <p:custDataLst>
              <p:tags r:id="rId4"/>
            </p:custDataLst>
          </p:nvPr>
        </p:nvPicPr>
        <p:blipFill>
          <a:blip r:embed="rId10" cstate="email">
            <a:extLst>
              <a:ext uri="{28A0092B-C50C-407E-A947-70E740481C1C}">
                <a14:useLocalDpi xmlns:a14="http://schemas.microsoft.com/office/drawing/2010/main" val="0"/>
              </a:ext>
            </a:extLst>
          </a:blip>
          <a:srcRect/>
          <a:stretch>
            <a:fillRect/>
          </a:stretch>
        </p:blipFill>
        <p:spPr bwMode="auto">
          <a:xfrm>
            <a:off x="8534400" y="4572000"/>
            <a:ext cx="1276350" cy="311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Text Box 13"/>
          <p:cNvSpPr txBox="1">
            <a:spLocks noChangeArrowheads="1"/>
          </p:cNvSpPr>
          <p:nvPr/>
        </p:nvSpPr>
        <p:spPr bwMode="auto">
          <a:xfrm>
            <a:off x="8458200" y="5105400"/>
            <a:ext cx="1524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i="1" dirty="0">
                <a:solidFill>
                  <a:srgbClr val="CC0000"/>
                </a:solidFill>
                <a:latin typeface="Calibri"/>
                <a:cs typeface="Calibri"/>
              </a:rPr>
              <a:t>Yes!</a:t>
            </a:r>
          </a:p>
        </p:txBody>
      </p:sp>
      <p:sp>
        <p:nvSpPr>
          <p:cNvPr id="12" name="Text Box 14"/>
          <p:cNvSpPr txBox="1">
            <a:spLocks noChangeArrowheads="1"/>
          </p:cNvSpPr>
          <p:nvPr/>
        </p:nvSpPr>
        <p:spPr bwMode="auto">
          <a:xfrm>
            <a:off x="762000" y="4583668"/>
            <a:ext cx="548640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dirty="0">
                <a:latin typeface="Calibri"/>
                <a:cs typeface="Calibri"/>
              </a:rPr>
              <a:t>X: Low pressure          Y: Rain                          Z: Traffic</a:t>
            </a:r>
          </a:p>
        </p:txBody>
      </p:sp>
    </p:spTree>
    <p:extLst>
      <p:ext uri="{BB962C8B-B14F-4D97-AF65-F5344CB8AC3E}">
        <p14:creationId xmlns:p14="http://schemas.microsoft.com/office/powerpoint/2010/main" val="174003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pPr eaLnBrk="1" hangingPunct="1"/>
            <a:r>
              <a:rPr lang="en-US" dirty="0">
                <a:latin typeface="Calibri"/>
                <a:ea typeface="ＭＳ Ｐゴシック" pitchFamily="34" charset="-128"/>
                <a:cs typeface="Calibri"/>
              </a:rPr>
              <a:t>Common Cause</a:t>
            </a:r>
          </a:p>
        </p:txBody>
      </p:sp>
      <p:sp>
        <p:nvSpPr>
          <p:cNvPr id="1089539" name="Rectangle 3"/>
          <p:cNvSpPr>
            <a:spLocks noGrp="1" noChangeArrowheads="1"/>
          </p:cNvSpPr>
          <p:nvPr>
            <p:ph idx="4294967295"/>
          </p:nvPr>
        </p:nvSpPr>
        <p:spPr>
          <a:xfrm>
            <a:off x="0" y="1371600"/>
            <a:ext cx="5715000" cy="5105400"/>
          </a:xfrm>
        </p:spPr>
        <p:txBody>
          <a:bodyPr/>
          <a:lstStyle/>
          <a:p>
            <a:pPr>
              <a:lnSpc>
                <a:spcPct val="80000"/>
              </a:lnSpc>
            </a:pPr>
            <a:r>
              <a:rPr lang="en-US" sz="2400" kern="0" dirty="0">
                <a:solidFill>
                  <a:srgbClr val="333399"/>
                </a:solidFill>
                <a:latin typeface="Calibri"/>
                <a:cs typeface="Calibri"/>
              </a:rPr>
              <a:t>This configuration is a </a:t>
            </a:r>
            <a:r>
              <a:rPr lang="ja-JP" altLang="en-US" sz="2400" kern="0" dirty="0">
                <a:solidFill>
                  <a:srgbClr val="333399"/>
                </a:solidFill>
                <a:latin typeface="Calibri"/>
                <a:cs typeface="Calibri"/>
              </a:rPr>
              <a:t>“</a:t>
            </a:r>
            <a:r>
              <a:rPr lang="en-US" altLang="ja-JP" sz="2400" kern="0" dirty="0">
                <a:solidFill>
                  <a:srgbClr val="333399"/>
                </a:solidFill>
                <a:latin typeface="Calibri"/>
                <a:cs typeface="Calibri"/>
              </a:rPr>
              <a:t>common cause</a:t>
            </a:r>
            <a:r>
              <a:rPr lang="ja-JP" altLang="en-US" sz="2400" kern="0" dirty="0">
                <a:solidFill>
                  <a:srgbClr val="333399"/>
                </a:solidFill>
                <a:latin typeface="Calibri"/>
                <a:cs typeface="Calibri"/>
              </a:rPr>
              <a:t>”</a:t>
            </a:r>
            <a:endParaRPr lang="en-US" altLang="ja-JP" sz="2400" kern="0" dirty="0">
              <a:solidFill>
                <a:srgbClr val="333399"/>
              </a:solidFill>
              <a:latin typeface="Calibri"/>
              <a:cs typeface="Calibri"/>
            </a:endParaRPr>
          </a:p>
          <a:p>
            <a:pPr lvl="1" eaLnBrk="1" hangingPunct="1">
              <a:lnSpc>
                <a:spcPct val="80000"/>
              </a:lnSpc>
            </a:pPr>
            <a:endParaRPr lang="en-US" sz="2400" dirty="0">
              <a:latin typeface="Calibri"/>
              <a:ea typeface="ＭＳ Ｐゴシック" pitchFamily="34" charset="-128"/>
              <a:cs typeface="Calibri"/>
            </a:endParaRPr>
          </a:p>
          <a:p>
            <a:pPr lvl="1" eaLnBrk="1" hangingPunct="1">
              <a:lnSpc>
                <a:spcPct val="80000"/>
              </a:lnSpc>
            </a:pPr>
            <a:endParaRPr lang="en-US" sz="2400" dirty="0">
              <a:latin typeface="Calibri"/>
              <a:ea typeface="ＭＳ Ｐゴシック" pitchFamily="34" charset="-128"/>
              <a:cs typeface="Calibri"/>
            </a:endParaRPr>
          </a:p>
          <a:p>
            <a:pPr lvl="1" eaLnBrk="1" hangingPunct="1">
              <a:lnSpc>
                <a:spcPct val="80000"/>
              </a:lnSpc>
            </a:pPr>
            <a:endParaRPr lang="en-US" sz="2400" dirty="0">
              <a:latin typeface="Calibri"/>
              <a:ea typeface="ＭＳ Ｐゴシック" pitchFamily="34" charset="-128"/>
              <a:cs typeface="Calibri"/>
            </a:endParaRPr>
          </a:p>
          <a:p>
            <a:pPr lvl="1" eaLnBrk="1" hangingPunct="1">
              <a:lnSpc>
                <a:spcPct val="80000"/>
              </a:lnSpc>
            </a:pPr>
            <a:endParaRPr lang="en-US" sz="2400" dirty="0">
              <a:latin typeface="Calibri"/>
              <a:ea typeface="ＭＳ Ｐゴシック" pitchFamily="34" charset="-128"/>
              <a:cs typeface="Calibri"/>
            </a:endParaRPr>
          </a:p>
          <a:p>
            <a:pPr lvl="3" eaLnBrk="1" hangingPunct="1">
              <a:lnSpc>
                <a:spcPct val="80000"/>
              </a:lnSpc>
            </a:pPr>
            <a:endParaRPr lang="en-US" sz="16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p:txBody>
      </p:sp>
      <p:pic>
        <p:nvPicPr>
          <p:cNvPr id="4" name="Picture 3" descr="txp_fig.png"/>
          <p:cNvPicPr>
            <a:picLocks noChangeAspect="1"/>
          </p:cNvPicPr>
          <p:nvPr>
            <p:custDataLst>
              <p:tags r:id="rId1"/>
            </p:custDataLst>
          </p:nvPr>
        </p:nvPicPr>
        <p:blipFill>
          <a:blip r:embed="rId4" cstate="email">
            <a:extLst>
              <a:ext uri="{28A0092B-C50C-407E-A947-70E740481C1C}">
                <a14:useLocalDpi xmlns:a14="http://schemas.microsoft.com/office/drawing/2010/main" val="0"/>
              </a:ext>
            </a:extLst>
          </a:blip>
          <a:stretch>
            <a:fillRect/>
          </a:stretch>
        </p:blipFill>
        <p:spPr bwMode="auto">
          <a:xfrm>
            <a:off x="1051485" y="5881699"/>
            <a:ext cx="4320615" cy="311797"/>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7357" dir="2700000" rotWithShape="0">
                    <a:scrgbClr r="0" g="0" b="0"/>
                  </a:outerShdw>
                </a:effectLst>
              </a14:hiddenEffects>
            </a:ext>
            <a:ext uri="{31F19639-BCED-4a60-ADC4-E9642A236FB7}">
              <a14:hiddenScene3d xmlns:a14="http://schemas.microsoft.com/office/drawing/2010/main" xmlns="">
                <a:camera prst="orthographicFront">
                  <a:rot lat="0" lon="0" rev="0"/>
                </a:camera>
                <a:lightRig rig="threePt" dir="t">
                  <a:rot lat="0" lon="0" rev="0"/>
                </a:lightRig>
              </a14:hiddenScene3d>
            </a:ext>
            <a:ext uri="{E45631CC-5BF2-4c18-A39C-3461C7D3F71A}">
              <a14:hiddenSp3d xmlns:a14="http://schemas.microsoft.com/office/drawing/2010/main" xmlns="" extrusionH="457200">
                <a:contourClr>
                  <a:srgbClr val="000000"/>
                </a:contourClr>
              </a14:hiddenSp3d>
            </a:ext>
            <a:ext uri="{53640926-AAD7-44d8-BBD7-CCE9431645EC}">
              <a14:shadowObscured xmlns:a14="http://schemas.microsoft.com/office/drawing/2010/main" xmlns=""/>
            </a:ext>
          </a:extLst>
        </p:spPr>
      </p:pic>
      <p:sp>
        <p:nvSpPr>
          <p:cNvPr id="13" name="Rectangle 3"/>
          <p:cNvSpPr txBox="1">
            <a:spLocks noChangeArrowheads="1"/>
          </p:cNvSpPr>
          <p:nvPr/>
        </p:nvSpPr>
        <p:spPr bwMode="auto">
          <a:xfrm>
            <a:off x="6172200" y="1371600"/>
            <a:ext cx="5943600" cy="5105400"/>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pPr>
              <a:lnSpc>
                <a:spcPct val="80000"/>
              </a:lnSpc>
            </a:pPr>
            <a:r>
              <a:rPr lang="en-US" sz="2400" kern="0" dirty="0">
                <a:solidFill>
                  <a:srgbClr val="333399"/>
                </a:solidFill>
                <a:latin typeface="Calibri"/>
                <a:cs typeface="Calibri"/>
              </a:rPr>
              <a:t>Guaranteed X independent of Z ?  </a:t>
            </a:r>
            <a:r>
              <a:rPr lang="en-US" sz="2400" i="1" dirty="0">
                <a:solidFill>
                  <a:srgbClr val="FF0000"/>
                </a:solidFill>
                <a:latin typeface="Calibri"/>
                <a:ea typeface="ＭＳ Ｐゴシック" pitchFamily="34" charset="-128"/>
                <a:cs typeface="Calibri"/>
              </a:rPr>
              <a:t> No!</a:t>
            </a:r>
          </a:p>
          <a:p>
            <a:pPr lvl="4">
              <a:lnSpc>
                <a:spcPct val="80000"/>
              </a:lnSpc>
            </a:pPr>
            <a:endParaRPr lang="en-US" dirty="0">
              <a:latin typeface="Calibri"/>
              <a:cs typeface="Calibri"/>
            </a:endParaRPr>
          </a:p>
          <a:p>
            <a:pPr lvl="1">
              <a:lnSpc>
                <a:spcPct val="80000"/>
              </a:lnSpc>
            </a:pPr>
            <a:r>
              <a:rPr lang="en-US" sz="2000" dirty="0">
                <a:latin typeface="Calibri"/>
                <a:cs typeface="Calibri"/>
              </a:rPr>
              <a:t>One example set of CPTs for which X is not independent of Z is sufficient to show this independence is not guaranteed.</a:t>
            </a:r>
          </a:p>
          <a:p>
            <a:pPr lvl="2">
              <a:lnSpc>
                <a:spcPct val="80000"/>
              </a:lnSpc>
            </a:pPr>
            <a:endParaRPr lang="en-US" sz="2000" dirty="0">
              <a:latin typeface="Calibri"/>
              <a:cs typeface="Calibri"/>
            </a:endParaRPr>
          </a:p>
          <a:p>
            <a:pPr lvl="1">
              <a:lnSpc>
                <a:spcPct val="80000"/>
              </a:lnSpc>
            </a:pPr>
            <a:r>
              <a:rPr lang="en-US" sz="2000" dirty="0">
                <a:latin typeface="Calibri"/>
                <a:cs typeface="Calibri"/>
              </a:rPr>
              <a:t>Example:</a:t>
            </a:r>
          </a:p>
          <a:p>
            <a:pPr lvl="6">
              <a:lnSpc>
                <a:spcPct val="80000"/>
              </a:lnSpc>
            </a:pPr>
            <a:endParaRPr lang="en-US" sz="1200" dirty="0">
              <a:latin typeface="Calibri"/>
              <a:cs typeface="Calibri"/>
            </a:endParaRPr>
          </a:p>
          <a:p>
            <a:pPr lvl="2">
              <a:lnSpc>
                <a:spcPct val="80000"/>
              </a:lnSpc>
            </a:pPr>
            <a:r>
              <a:rPr lang="en-US" sz="2000" dirty="0">
                <a:latin typeface="Calibri"/>
                <a:cs typeface="Calibri"/>
              </a:rPr>
              <a:t>Project due causes both forums busy </a:t>
            </a:r>
          </a:p>
          <a:p>
            <a:pPr marL="914353" lvl="2" indent="0">
              <a:lnSpc>
                <a:spcPct val="80000"/>
              </a:lnSpc>
              <a:buNone/>
            </a:pPr>
            <a:r>
              <a:rPr lang="en-US" sz="2000" dirty="0">
                <a:latin typeface="Calibri"/>
                <a:cs typeface="Calibri"/>
              </a:rPr>
              <a:t>	    and lab full </a:t>
            </a:r>
          </a:p>
          <a:p>
            <a:pPr lvl="2">
              <a:lnSpc>
                <a:spcPct val="80000"/>
              </a:lnSpc>
            </a:pPr>
            <a:endParaRPr lang="en-US" sz="2000" dirty="0">
              <a:latin typeface="Calibri"/>
              <a:cs typeface="Calibri"/>
            </a:endParaRPr>
          </a:p>
          <a:p>
            <a:pPr lvl="2">
              <a:lnSpc>
                <a:spcPct val="80000"/>
              </a:lnSpc>
            </a:pPr>
            <a:r>
              <a:rPr lang="en-US" sz="2000" dirty="0">
                <a:latin typeface="Calibri"/>
                <a:cs typeface="Calibri"/>
              </a:rPr>
              <a:t>In numbers:</a:t>
            </a:r>
          </a:p>
          <a:p>
            <a:pPr marL="914353" lvl="2" indent="0">
              <a:lnSpc>
                <a:spcPct val="80000"/>
              </a:lnSpc>
              <a:buNone/>
            </a:pPr>
            <a:r>
              <a:rPr lang="en-US" sz="2000" dirty="0">
                <a:latin typeface="Calibri"/>
                <a:cs typeface="Calibri"/>
              </a:rPr>
              <a:t>	</a:t>
            </a:r>
          </a:p>
          <a:p>
            <a:pPr marL="914353" lvl="2" indent="0">
              <a:lnSpc>
                <a:spcPct val="80000"/>
              </a:lnSpc>
              <a:buNone/>
            </a:pPr>
            <a:r>
              <a:rPr lang="en-US" sz="2000" dirty="0">
                <a:latin typeface="Calibri"/>
                <a:cs typeface="Calibri"/>
              </a:rPr>
              <a:t>         P( +x | +y ) = 1, P( -x | -y ) = 1,</a:t>
            </a:r>
          </a:p>
          <a:p>
            <a:pPr lvl="2">
              <a:lnSpc>
                <a:spcPct val="80000"/>
              </a:lnSpc>
              <a:buFont typeface="Wingdings" pitchFamily="2" charset="2"/>
              <a:buNone/>
            </a:pPr>
            <a:r>
              <a:rPr lang="en-US" sz="2000" dirty="0">
                <a:latin typeface="Calibri"/>
                <a:cs typeface="Calibri"/>
              </a:rPr>
              <a:t>	     P( +z | +y ) = 1, P( -z | -y ) = 1</a:t>
            </a:r>
          </a:p>
          <a:p>
            <a:pPr lvl="1">
              <a:lnSpc>
                <a:spcPct val="80000"/>
              </a:lnSpc>
            </a:pPr>
            <a:endParaRPr lang="en-US" sz="2000" dirty="0">
              <a:latin typeface="Calibri"/>
              <a:cs typeface="Calibri"/>
            </a:endParaRPr>
          </a:p>
          <a:p>
            <a:pPr lvl="1">
              <a:lnSpc>
                <a:spcPct val="80000"/>
              </a:lnSpc>
              <a:buFont typeface="Wingdings" pitchFamily="2" charset="2"/>
              <a:buNone/>
            </a:pPr>
            <a:endParaRPr lang="en-US" sz="2000" dirty="0">
              <a:latin typeface="Calibri"/>
              <a:cs typeface="Calibri"/>
            </a:endParaRPr>
          </a:p>
          <a:p>
            <a:pPr lvl="1">
              <a:lnSpc>
                <a:spcPct val="80000"/>
              </a:lnSpc>
            </a:pPr>
            <a:endParaRPr lang="en-US" sz="2000" dirty="0">
              <a:latin typeface="Calibri"/>
              <a:cs typeface="Calibri"/>
            </a:endParaRPr>
          </a:p>
        </p:txBody>
      </p:sp>
      <p:pic>
        <p:nvPicPr>
          <p:cNvPr id="3" name="Picture 2"/>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447800" y="1981200"/>
            <a:ext cx="3191715" cy="3838613"/>
          </a:xfrm>
          <a:prstGeom prst="rect">
            <a:avLst/>
          </a:prstGeom>
        </p:spPr>
      </p:pic>
      <p:sp>
        <p:nvSpPr>
          <p:cNvPr id="10" name="Text Box 13"/>
          <p:cNvSpPr txBox="1">
            <a:spLocks noChangeArrowheads="1"/>
          </p:cNvSpPr>
          <p:nvPr/>
        </p:nvSpPr>
        <p:spPr bwMode="auto">
          <a:xfrm>
            <a:off x="838200" y="2057400"/>
            <a:ext cx="1219200"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spcBef>
                <a:spcPct val="50000"/>
              </a:spcBef>
            </a:pPr>
            <a:r>
              <a:rPr lang="en-US" sz="2000" dirty="0">
                <a:latin typeface="Calibri"/>
                <a:cs typeface="Calibri"/>
              </a:rPr>
              <a:t>Y: Project due</a:t>
            </a:r>
          </a:p>
        </p:txBody>
      </p:sp>
      <p:sp>
        <p:nvSpPr>
          <p:cNvPr id="14" name="Text Box 13"/>
          <p:cNvSpPr txBox="1">
            <a:spLocks noChangeArrowheads="1"/>
          </p:cNvSpPr>
          <p:nvPr/>
        </p:nvSpPr>
        <p:spPr bwMode="auto">
          <a:xfrm>
            <a:off x="76200" y="4876800"/>
            <a:ext cx="1295400"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spcBef>
                <a:spcPct val="50000"/>
              </a:spcBef>
            </a:pPr>
            <a:r>
              <a:rPr lang="en-US" sz="2000" dirty="0">
                <a:latin typeface="Calibri"/>
                <a:cs typeface="Calibri"/>
              </a:rPr>
              <a:t>X: Forums busy</a:t>
            </a:r>
          </a:p>
        </p:txBody>
      </p:sp>
      <p:sp>
        <p:nvSpPr>
          <p:cNvPr id="15" name="Text Box 13"/>
          <p:cNvSpPr txBox="1">
            <a:spLocks noChangeArrowheads="1"/>
          </p:cNvSpPr>
          <p:nvPr/>
        </p:nvSpPr>
        <p:spPr bwMode="auto">
          <a:xfrm>
            <a:off x="4648200" y="5029200"/>
            <a:ext cx="1447800"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2000" dirty="0">
                <a:latin typeface="Calibri"/>
                <a:cs typeface="Calibri"/>
              </a:rPr>
              <a:t>Z: Lab full</a:t>
            </a:r>
          </a:p>
        </p:txBody>
      </p:sp>
    </p:spTree>
    <p:extLst>
      <p:ext uri="{BB962C8B-B14F-4D97-AF65-F5344CB8AC3E}">
        <p14:creationId xmlns:p14="http://schemas.microsoft.com/office/powerpoint/2010/main" val="4133960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pPr eaLnBrk="1" hangingPunct="1"/>
            <a:r>
              <a:rPr lang="en-US" dirty="0">
                <a:latin typeface="Calibri"/>
                <a:ea typeface="ＭＳ Ｐゴシック" pitchFamily="34" charset="-128"/>
                <a:cs typeface="Calibri"/>
              </a:rPr>
              <a:t>Common Cause</a:t>
            </a:r>
          </a:p>
        </p:txBody>
      </p:sp>
      <p:sp>
        <p:nvSpPr>
          <p:cNvPr id="1089539" name="Rectangle 3"/>
          <p:cNvSpPr>
            <a:spLocks noGrp="1" noChangeArrowheads="1"/>
          </p:cNvSpPr>
          <p:nvPr>
            <p:ph idx="4294967295"/>
          </p:nvPr>
        </p:nvSpPr>
        <p:spPr>
          <a:xfrm>
            <a:off x="0" y="1371600"/>
            <a:ext cx="5715000" cy="5105400"/>
          </a:xfrm>
        </p:spPr>
        <p:txBody>
          <a:bodyPr/>
          <a:lstStyle/>
          <a:p>
            <a:pPr eaLnBrk="1" hangingPunct="1">
              <a:lnSpc>
                <a:spcPct val="80000"/>
              </a:lnSpc>
            </a:pPr>
            <a:r>
              <a:rPr lang="en-US" sz="2400" kern="0" dirty="0">
                <a:solidFill>
                  <a:srgbClr val="333399"/>
                </a:solidFill>
                <a:latin typeface="Calibri"/>
                <a:cs typeface="Calibri"/>
              </a:rPr>
              <a:t>This configuration is a </a:t>
            </a:r>
            <a:r>
              <a:rPr lang="ja-JP" altLang="en-US" sz="2400" kern="0" dirty="0">
                <a:solidFill>
                  <a:srgbClr val="333399"/>
                </a:solidFill>
                <a:latin typeface="Calibri"/>
                <a:cs typeface="Calibri"/>
              </a:rPr>
              <a:t>“</a:t>
            </a:r>
            <a:r>
              <a:rPr lang="en-US" altLang="ja-JP" sz="2400" kern="0" dirty="0">
                <a:solidFill>
                  <a:srgbClr val="333399"/>
                </a:solidFill>
                <a:latin typeface="Calibri"/>
                <a:cs typeface="Calibri"/>
              </a:rPr>
              <a:t>common cause</a:t>
            </a:r>
            <a:r>
              <a:rPr lang="ja-JP" altLang="en-US" sz="2400" kern="0" dirty="0">
                <a:solidFill>
                  <a:srgbClr val="333399"/>
                </a:solidFill>
                <a:latin typeface="Calibri"/>
                <a:cs typeface="Calibri"/>
              </a:rPr>
              <a:t>”</a:t>
            </a:r>
            <a:endParaRPr lang="en-US" altLang="ja-JP" sz="2400" kern="0" dirty="0">
              <a:solidFill>
                <a:srgbClr val="333399"/>
              </a:solidFill>
              <a:latin typeface="Calibri"/>
              <a:cs typeface="Calibri"/>
            </a:endParaRPr>
          </a:p>
          <a:p>
            <a:pPr lvl="1" eaLnBrk="1" hangingPunct="1">
              <a:lnSpc>
                <a:spcPct val="80000"/>
              </a:lnSpc>
            </a:pPr>
            <a:endParaRPr lang="en-US" sz="2400" dirty="0">
              <a:latin typeface="Calibri"/>
              <a:ea typeface="ＭＳ Ｐゴシック" pitchFamily="34" charset="-128"/>
              <a:cs typeface="Calibri"/>
            </a:endParaRPr>
          </a:p>
          <a:p>
            <a:pPr lvl="1" eaLnBrk="1" hangingPunct="1">
              <a:lnSpc>
                <a:spcPct val="80000"/>
              </a:lnSpc>
            </a:pPr>
            <a:endParaRPr lang="en-US" sz="2400" dirty="0">
              <a:latin typeface="Calibri"/>
              <a:ea typeface="ＭＳ Ｐゴシック" pitchFamily="34" charset="-128"/>
              <a:cs typeface="Calibri"/>
            </a:endParaRPr>
          </a:p>
          <a:p>
            <a:pPr lvl="1" eaLnBrk="1" hangingPunct="1">
              <a:lnSpc>
                <a:spcPct val="80000"/>
              </a:lnSpc>
            </a:pPr>
            <a:endParaRPr lang="en-US" sz="2400" dirty="0">
              <a:latin typeface="Calibri"/>
              <a:ea typeface="ＭＳ Ｐゴシック" pitchFamily="34" charset="-128"/>
              <a:cs typeface="Calibri"/>
            </a:endParaRPr>
          </a:p>
          <a:p>
            <a:pPr lvl="1" eaLnBrk="1" hangingPunct="1">
              <a:lnSpc>
                <a:spcPct val="80000"/>
              </a:lnSpc>
            </a:pPr>
            <a:endParaRPr lang="en-US" sz="2400" dirty="0">
              <a:latin typeface="Calibri"/>
              <a:ea typeface="ＭＳ Ｐゴシック" pitchFamily="34" charset="-128"/>
              <a:cs typeface="Calibri"/>
            </a:endParaRPr>
          </a:p>
          <a:p>
            <a:pPr lvl="3" eaLnBrk="1" hangingPunct="1">
              <a:lnSpc>
                <a:spcPct val="80000"/>
              </a:lnSpc>
            </a:pPr>
            <a:endParaRPr lang="en-US" sz="16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a:p>
            <a:pPr>
              <a:lnSpc>
                <a:spcPct val="80000"/>
              </a:lnSpc>
            </a:pPr>
            <a:endParaRPr lang="en-US" sz="2800" dirty="0">
              <a:latin typeface="Calibri"/>
              <a:ea typeface="ＭＳ Ｐゴシック" pitchFamily="34" charset="-128"/>
              <a:cs typeface="Calibri"/>
            </a:endParaRPr>
          </a:p>
        </p:txBody>
      </p:sp>
      <p:sp>
        <p:nvSpPr>
          <p:cNvPr id="13" name="Rectangle 3"/>
          <p:cNvSpPr txBox="1">
            <a:spLocks noChangeArrowheads="1"/>
          </p:cNvSpPr>
          <p:nvPr/>
        </p:nvSpPr>
        <p:spPr bwMode="auto">
          <a:xfrm>
            <a:off x="6172200" y="1371600"/>
            <a:ext cx="5943600" cy="5105400"/>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pPr marL="228600" indent="-228600">
              <a:lnSpc>
                <a:spcPct val="80000"/>
              </a:lnSpc>
              <a:spcBef>
                <a:spcPts val="1000"/>
              </a:spcBef>
              <a:buFont typeface="Arial" panose="020B0604020202020204" pitchFamily="34" charset="0"/>
              <a:buChar char="•"/>
            </a:pPr>
            <a:r>
              <a:rPr lang="en-US" sz="2400" kern="0" dirty="0">
                <a:solidFill>
                  <a:srgbClr val="333399"/>
                </a:solidFill>
                <a:latin typeface="Calibri"/>
                <a:cs typeface="Calibri"/>
              </a:rPr>
              <a:t>Guaranteed X and Z independent given Y?</a:t>
            </a:r>
          </a:p>
          <a:p>
            <a:pPr>
              <a:lnSpc>
                <a:spcPct val="80000"/>
              </a:lnSpc>
            </a:pPr>
            <a:endParaRPr lang="en-US" sz="2400" dirty="0">
              <a:latin typeface="Calibri"/>
              <a:ea typeface="ＭＳ Ｐゴシック" pitchFamily="34" charset="-128"/>
              <a:cs typeface="Calibri"/>
            </a:endParaRPr>
          </a:p>
          <a:p>
            <a:pPr>
              <a:lnSpc>
                <a:spcPct val="80000"/>
              </a:lnSpc>
            </a:pPr>
            <a:endParaRPr lang="en-US" sz="2400" dirty="0">
              <a:latin typeface="Calibri"/>
              <a:ea typeface="ＭＳ Ｐゴシック" pitchFamily="34" charset="-128"/>
              <a:cs typeface="Calibri"/>
            </a:endParaRPr>
          </a:p>
          <a:p>
            <a:pPr>
              <a:lnSpc>
                <a:spcPct val="80000"/>
              </a:lnSpc>
            </a:pPr>
            <a:endParaRPr lang="en-US" sz="2400" dirty="0">
              <a:latin typeface="Calibri"/>
              <a:ea typeface="ＭＳ Ｐゴシック" pitchFamily="34" charset="-128"/>
              <a:cs typeface="Calibri"/>
            </a:endParaRPr>
          </a:p>
          <a:p>
            <a:pPr>
              <a:lnSpc>
                <a:spcPct val="80000"/>
              </a:lnSpc>
            </a:pPr>
            <a:endParaRPr lang="en-US" sz="2400" dirty="0">
              <a:latin typeface="Calibri"/>
              <a:ea typeface="ＭＳ Ｐゴシック" pitchFamily="34" charset="-128"/>
              <a:cs typeface="Calibri"/>
            </a:endParaRPr>
          </a:p>
          <a:p>
            <a:pPr>
              <a:lnSpc>
                <a:spcPct val="80000"/>
              </a:lnSpc>
            </a:pPr>
            <a:endParaRPr lang="en-US" sz="2400" dirty="0">
              <a:latin typeface="Calibri"/>
              <a:ea typeface="ＭＳ Ｐゴシック" pitchFamily="34" charset="-128"/>
              <a:cs typeface="Calibri"/>
            </a:endParaRPr>
          </a:p>
          <a:p>
            <a:pPr>
              <a:lnSpc>
                <a:spcPct val="80000"/>
              </a:lnSpc>
            </a:pPr>
            <a:endParaRPr lang="en-US" sz="2400" dirty="0">
              <a:latin typeface="Calibri"/>
              <a:ea typeface="ＭＳ Ｐゴシック" pitchFamily="34" charset="-128"/>
              <a:cs typeface="Calibri"/>
            </a:endParaRPr>
          </a:p>
          <a:p>
            <a:pPr>
              <a:lnSpc>
                <a:spcPct val="80000"/>
              </a:lnSpc>
            </a:pPr>
            <a:endParaRPr lang="en-US" sz="2400" dirty="0">
              <a:latin typeface="Calibri"/>
              <a:ea typeface="ＭＳ Ｐゴシック" pitchFamily="34" charset="-128"/>
              <a:cs typeface="Calibri"/>
            </a:endParaRPr>
          </a:p>
          <a:p>
            <a:pPr>
              <a:lnSpc>
                <a:spcPct val="80000"/>
              </a:lnSpc>
            </a:pPr>
            <a:endParaRPr lang="en-US" sz="2400" dirty="0">
              <a:latin typeface="Calibri"/>
              <a:ea typeface="ＭＳ Ｐゴシック" pitchFamily="34" charset="-128"/>
              <a:cs typeface="Calibri"/>
            </a:endParaRPr>
          </a:p>
          <a:p>
            <a:pPr>
              <a:lnSpc>
                <a:spcPct val="80000"/>
              </a:lnSpc>
            </a:pPr>
            <a:endParaRPr lang="en-US" sz="2400" dirty="0">
              <a:latin typeface="Calibri"/>
              <a:ea typeface="ＭＳ Ｐゴシック" pitchFamily="34" charset="-128"/>
              <a:cs typeface="Calibri"/>
            </a:endParaRPr>
          </a:p>
          <a:p>
            <a:pPr>
              <a:lnSpc>
                <a:spcPct val="80000"/>
              </a:lnSpc>
            </a:pPr>
            <a:endParaRPr lang="en-US" sz="2400" dirty="0">
              <a:latin typeface="Calibri"/>
              <a:ea typeface="ＭＳ Ｐゴシック" pitchFamily="34" charset="-128"/>
              <a:cs typeface="Calibri"/>
            </a:endParaRPr>
          </a:p>
          <a:p>
            <a:pPr marL="1828709" lvl="4" indent="0">
              <a:lnSpc>
                <a:spcPct val="80000"/>
              </a:lnSpc>
              <a:buNone/>
            </a:pPr>
            <a:endParaRPr lang="en-US" sz="1200" dirty="0">
              <a:latin typeface="Calibri"/>
              <a:cs typeface="Calibri"/>
            </a:endParaRPr>
          </a:p>
          <a:p>
            <a:pPr lvl="1">
              <a:lnSpc>
                <a:spcPct val="90000"/>
              </a:lnSpc>
              <a:buClr>
                <a:srgbClr val="000000"/>
              </a:buClr>
            </a:pPr>
            <a:r>
              <a:rPr lang="en-US" sz="2400" kern="0" dirty="0">
                <a:solidFill>
                  <a:srgbClr val="CC0000"/>
                </a:solidFill>
                <a:latin typeface="Calibri"/>
                <a:cs typeface="Calibri"/>
              </a:rPr>
              <a:t>Observing the cause blocks influence between effects.</a:t>
            </a:r>
          </a:p>
          <a:p>
            <a:pPr>
              <a:lnSpc>
                <a:spcPct val="80000"/>
              </a:lnSpc>
            </a:pPr>
            <a:endParaRPr lang="en-US" sz="2000" dirty="0">
              <a:latin typeface="Calibri"/>
              <a:ea typeface="ＭＳ Ｐゴシック" pitchFamily="34" charset="-128"/>
              <a:cs typeface="Calibri"/>
            </a:endParaRPr>
          </a:p>
        </p:txBody>
      </p:sp>
      <p:pic>
        <p:nvPicPr>
          <p:cNvPr id="11" name="Picture 9" descr="txp_fig"/>
          <p:cNvPicPr>
            <a:picLocks noChangeAspect="1" noChangeArrowheads="1"/>
          </p:cNvPicPr>
          <p:nvPr>
            <p:custDataLst>
              <p:tags r:id="rId1"/>
            </p:custDataLst>
          </p:nvPr>
        </p:nvPicPr>
        <p:blipFill>
          <a:blip r:embed="rId7" cstate="email">
            <a:extLst>
              <a:ext uri="{28A0092B-C50C-407E-A947-70E740481C1C}">
                <a14:useLocalDpi xmlns:a14="http://schemas.microsoft.com/office/drawing/2010/main" val="0"/>
              </a:ext>
            </a:extLst>
          </a:blip>
          <a:srcRect/>
          <a:stretch>
            <a:fillRect/>
          </a:stretch>
        </p:blipFill>
        <p:spPr bwMode="auto">
          <a:xfrm>
            <a:off x="7086600" y="2209800"/>
            <a:ext cx="3028950" cy="728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2" name="Picture 10" descr="txp_fig"/>
          <p:cNvPicPr>
            <a:picLocks noChangeAspect="1" noChangeArrowheads="1"/>
          </p:cNvPicPr>
          <p:nvPr>
            <p:custDataLst>
              <p:tags r:id="rId2"/>
            </p:custDataLst>
          </p:nvPr>
        </p:nvPicPr>
        <p:blipFill>
          <a:blip r:embed="rId8" cstate="email">
            <a:extLst>
              <a:ext uri="{28A0092B-C50C-407E-A947-70E740481C1C}">
                <a14:useLocalDpi xmlns:a14="http://schemas.microsoft.com/office/drawing/2010/main" val="0"/>
              </a:ext>
            </a:extLst>
          </a:blip>
          <a:srcRect/>
          <a:stretch>
            <a:fillRect/>
          </a:stretch>
        </p:blipFill>
        <p:spPr bwMode="auto">
          <a:xfrm>
            <a:off x="8534400" y="4572000"/>
            <a:ext cx="1276350" cy="311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6" name="Text Box 11"/>
          <p:cNvSpPr txBox="1">
            <a:spLocks noChangeArrowheads="1"/>
          </p:cNvSpPr>
          <p:nvPr/>
        </p:nvSpPr>
        <p:spPr bwMode="auto">
          <a:xfrm>
            <a:off x="8458200" y="5181600"/>
            <a:ext cx="1524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i="1" dirty="0">
                <a:solidFill>
                  <a:srgbClr val="CC0000"/>
                </a:solidFill>
                <a:latin typeface="Calibri"/>
                <a:cs typeface="Calibri"/>
              </a:rPr>
              <a:t>Yes!</a:t>
            </a:r>
          </a:p>
        </p:txBody>
      </p:sp>
      <p:pic>
        <p:nvPicPr>
          <p:cNvPr id="17" name="Picture 12" descr="txp_fig"/>
          <p:cNvPicPr>
            <a:picLocks noChangeAspect="1" noChangeArrowheads="1"/>
          </p:cNvPicPr>
          <p:nvPr>
            <p:custDataLst>
              <p:tags r:id="rId3"/>
            </p:custDataLst>
          </p:nvPr>
        </p:nvPicPr>
        <p:blipFill>
          <a:blip r:embed="rId9" cstate="email">
            <a:extLst>
              <a:ext uri="{28A0092B-C50C-407E-A947-70E740481C1C}">
                <a14:useLocalDpi xmlns:a14="http://schemas.microsoft.com/office/drawing/2010/main" val="0"/>
              </a:ext>
            </a:extLst>
          </a:blip>
          <a:srcRect/>
          <a:stretch>
            <a:fillRect/>
          </a:stretch>
        </p:blipFill>
        <p:spPr bwMode="auto">
          <a:xfrm>
            <a:off x="8458200" y="3352800"/>
            <a:ext cx="2970213" cy="742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8" name="Picture 17" descr="txp_fig.png"/>
          <p:cNvPicPr>
            <a:picLocks noChangeAspect="1"/>
          </p:cNvPicPr>
          <p:nvPr>
            <p:custDataLst>
              <p:tags r:id="rId4"/>
            </p:custDataLst>
          </p:nvPr>
        </p:nvPicPr>
        <p:blipFill>
          <a:blip r:embed="rId10" cstate="email">
            <a:extLst>
              <a:ext uri="{28A0092B-C50C-407E-A947-70E740481C1C}">
                <a14:useLocalDpi xmlns:a14="http://schemas.microsoft.com/office/drawing/2010/main" val="0"/>
              </a:ext>
            </a:extLst>
          </a:blip>
          <a:stretch>
            <a:fillRect/>
          </a:stretch>
        </p:blipFill>
        <p:spPr bwMode="auto">
          <a:xfrm>
            <a:off x="1051485" y="5896013"/>
            <a:ext cx="4320615" cy="311797"/>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7357" dir="2700000" rotWithShape="0">
                    <a:scrgbClr r="0" g="0" b="0"/>
                  </a:outerShdw>
                </a:effectLst>
              </a14:hiddenEffects>
            </a:ext>
            <a:ext uri="{31F19639-BCED-4a60-ADC4-E9642A236FB7}">
              <a14:hiddenScene3d xmlns:a14="http://schemas.microsoft.com/office/drawing/2010/main" xmlns="">
                <a:camera prst="orthographicFront">
                  <a:rot lat="0" lon="0" rev="0"/>
                </a:camera>
                <a:lightRig rig="threePt" dir="t">
                  <a:rot lat="0" lon="0" rev="0"/>
                </a:lightRig>
              </a14:hiddenScene3d>
            </a:ext>
            <a:ext uri="{E45631CC-5BF2-4c18-A39C-3461C7D3F71A}">
              <a14:hiddenSp3d xmlns:a14="http://schemas.microsoft.com/office/drawing/2010/main" xmlns="" extrusionH="457200">
                <a:contourClr>
                  <a:srgbClr val="000000"/>
                </a:contourClr>
              </a14:hiddenSp3d>
            </a:ext>
            <a:ext uri="{53640926-AAD7-44d8-BBD7-CCE9431645EC}">
              <a14:shadowObscured xmlns:a14="http://schemas.microsoft.com/office/drawing/2010/main" xmlns=""/>
            </a:ext>
          </a:extLst>
        </p:spPr>
      </p:pic>
      <p:pic>
        <p:nvPicPr>
          <p:cNvPr id="19" name="Picture 18"/>
          <p:cNvPicPr>
            <a:picLocks noChangeAspect="1"/>
          </p:cNvPicPr>
          <p:nvPr/>
        </p:nvPicPr>
        <p:blipFill>
          <a:blip r:embed="rId11" cstate="email">
            <a:extLst>
              <a:ext uri="{28A0092B-C50C-407E-A947-70E740481C1C}">
                <a14:useLocalDpi xmlns:a14="http://schemas.microsoft.com/office/drawing/2010/main" val="0"/>
              </a:ext>
            </a:extLst>
          </a:blip>
          <a:stretch>
            <a:fillRect/>
          </a:stretch>
        </p:blipFill>
        <p:spPr>
          <a:xfrm>
            <a:off x="1447800" y="1981200"/>
            <a:ext cx="3191715" cy="3838613"/>
          </a:xfrm>
          <a:prstGeom prst="rect">
            <a:avLst/>
          </a:prstGeom>
        </p:spPr>
      </p:pic>
      <p:sp>
        <p:nvSpPr>
          <p:cNvPr id="20" name="Text Box 13"/>
          <p:cNvSpPr txBox="1">
            <a:spLocks noChangeArrowheads="1"/>
          </p:cNvSpPr>
          <p:nvPr/>
        </p:nvSpPr>
        <p:spPr bwMode="auto">
          <a:xfrm>
            <a:off x="838200" y="2057400"/>
            <a:ext cx="1219200"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spcBef>
                <a:spcPct val="50000"/>
              </a:spcBef>
            </a:pPr>
            <a:r>
              <a:rPr lang="en-US" sz="2000" dirty="0">
                <a:latin typeface="Calibri"/>
                <a:cs typeface="Calibri"/>
              </a:rPr>
              <a:t>Y: Project due</a:t>
            </a:r>
          </a:p>
        </p:txBody>
      </p:sp>
      <p:sp>
        <p:nvSpPr>
          <p:cNvPr id="21" name="Text Box 13"/>
          <p:cNvSpPr txBox="1">
            <a:spLocks noChangeArrowheads="1"/>
          </p:cNvSpPr>
          <p:nvPr/>
        </p:nvSpPr>
        <p:spPr bwMode="auto">
          <a:xfrm>
            <a:off x="76200" y="4876800"/>
            <a:ext cx="1295400"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spcBef>
                <a:spcPct val="50000"/>
              </a:spcBef>
            </a:pPr>
            <a:r>
              <a:rPr lang="en-US" sz="2000" dirty="0">
                <a:latin typeface="Calibri"/>
                <a:cs typeface="Calibri"/>
              </a:rPr>
              <a:t>X: Forums busy</a:t>
            </a:r>
          </a:p>
        </p:txBody>
      </p:sp>
      <p:sp>
        <p:nvSpPr>
          <p:cNvPr id="22" name="Text Box 13"/>
          <p:cNvSpPr txBox="1">
            <a:spLocks noChangeArrowheads="1"/>
          </p:cNvSpPr>
          <p:nvPr/>
        </p:nvSpPr>
        <p:spPr bwMode="auto">
          <a:xfrm>
            <a:off x="4648200" y="5029200"/>
            <a:ext cx="1447800"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2000" dirty="0">
                <a:latin typeface="Calibri"/>
                <a:cs typeface="Calibri"/>
              </a:rPr>
              <a:t>Z: Lab full</a:t>
            </a:r>
          </a:p>
        </p:txBody>
      </p:sp>
    </p:spTree>
    <p:extLst>
      <p:ext uri="{BB962C8B-B14F-4D97-AF65-F5344CB8AC3E}">
        <p14:creationId xmlns:p14="http://schemas.microsoft.com/office/powerpoint/2010/main" val="2414881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66800" y="2590800"/>
            <a:ext cx="3068642" cy="3886199"/>
          </a:xfrm>
          <a:prstGeom prst="rect">
            <a:avLst/>
          </a:prstGeom>
        </p:spPr>
      </p:pic>
      <p:sp>
        <p:nvSpPr>
          <p:cNvPr id="58369" name="Rectangle 2"/>
          <p:cNvSpPr>
            <a:spLocks noGrp="1" noChangeArrowheads="1"/>
          </p:cNvSpPr>
          <p:nvPr>
            <p:ph type="title"/>
          </p:nvPr>
        </p:nvSpPr>
        <p:spPr/>
        <p:txBody>
          <a:bodyPr/>
          <a:lstStyle/>
          <a:p>
            <a:pPr eaLnBrk="1" hangingPunct="1"/>
            <a:r>
              <a:rPr lang="en-US">
                <a:latin typeface="Calibri"/>
                <a:ea typeface="ＭＳ Ｐゴシック" pitchFamily="34" charset="-128"/>
                <a:cs typeface="Calibri"/>
              </a:rPr>
              <a:t>Common Effect</a:t>
            </a:r>
          </a:p>
        </p:txBody>
      </p:sp>
      <p:sp>
        <p:nvSpPr>
          <p:cNvPr id="1091587" name="Rectangle 3"/>
          <p:cNvSpPr>
            <a:spLocks noGrp="1" noChangeArrowheads="1"/>
          </p:cNvSpPr>
          <p:nvPr>
            <p:ph idx="4294967295"/>
          </p:nvPr>
        </p:nvSpPr>
        <p:spPr>
          <a:xfrm>
            <a:off x="0" y="1219200"/>
            <a:ext cx="5410200" cy="4800600"/>
          </a:xfrm>
        </p:spPr>
        <p:txBody>
          <a:bodyPr/>
          <a:lstStyle/>
          <a:p>
            <a:pPr eaLnBrk="1" hangingPunct="1"/>
            <a:r>
              <a:rPr lang="en-US" sz="2400" kern="0" dirty="0">
                <a:solidFill>
                  <a:srgbClr val="333399"/>
                </a:solidFill>
                <a:latin typeface="Calibri"/>
                <a:cs typeface="Calibri"/>
              </a:rPr>
              <a:t>Last configuration: two causes of one effect (v-structures)</a:t>
            </a:r>
          </a:p>
          <a:p>
            <a:pPr eaLnBrk="1" hangingPunct="1"/>
            <a:endParaRPr lang="en-US" sz="2400" dirty="0">
              <a:latin typeface="Calibri"/>
              <a:ea typeface="ＭＳ Ｐゴシック" pitchFamily="34" charset="-128"/>
              <a:cs typeface="Calibri"/>
            </a:endParaRPr>
          </a:p>
        </p:txBody>
      </p:sp>
      <p:sp>
        <p:nvSpPr>
          <p:cNvPr id="58376" name="Text Box 9"/>
          <p:cNvSpPr txBox="1">
            <a:spLocks noChangeArrowheads="1"/>
          </p:cNvSpPr>
          <p:nvPr/>
        </p:nvSpPr>
        <p:spPr bwMode="auto">
          <a:xfrm>
            <a:off x="914400" y="5726668"/>
            <a:ext cx="152400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dirty="0">
                <a:latin typeface="Calibri"/>
                <a:cs typeface="Calibri"/>
              </a:rPr>
              <a:t>Z: Traffic</a:t>
            </a:r>
          </a:p>
        </p:txBody>
      </p:sp>
      <p:sp>
        <p:nvSpPr>
          <p:cNvPr id="11" name="Rectangle 3"/>
          <p:cNvSpPr txBox="1">
            <a:spLocks noChangeArrowheads="1"/>
          </p:cNvSpPr>
          <p:nvPr/>
        </p:nvSpPr>
        <p:spPr bwMode="auto">
          <a:xfrm>
            <a:off x="5638800" y="1219200"/>
            <a:ext cx="6324600" cy="5029200"/>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pPr marL="228600" indent="-228600">
              <a:lnSpc>
                <a:spcPct val="90000"/>
              </a:lnSpc>
              <a:spcBef>
                <a:spcPts val="1000"/>
              </a:spcBef>
              <a:buFont typeface="Arial" panose="020B0604020202020204" pitchFamily="34" charset="0"/>
              <a:buChar char="•"/>
            </a:pPr>
            <a:r>
              <a:rPr lang="en-US" sz="2400" kern="0" dirty="0">
                <a:solidFill>
                  <a:srgbClr val="333399"/>
                </a:solidFill>
                <a:latin typeface="Calibri"/>
                <a:cs typeface="Calibri"/>
              </a:rPr>
              <a:t>Are X and Y independent?</a:t>
            </a:r>
          </a:p>
          <a:p>
            <a:pPr lvl="8"/>
            <a:endParaRPr lang="en-US" sz="800" dirty="0">
              <a:latin typeface="Calibri"/>
              <a:ea typeface="ＭＳ Ｐゴシック" pitchFamily="34" charset="-128"/>
              <a:cs typeface="Calibri"/>
            </a:endParaRPr>
          </a:p>
          <a:p>
            <a:pPr lvl="1"/>
            <a:r>
              <a:rPr lang="en-US" sz="2000" i="1" dirty="0">
                <a:solidFill>
                  <a:srgbClr val="FF0000"/>
                </a:solidFill>
                <a:latin typeface="Calibri"/>
                <a:ea typeface="ＭＳ Ｐゴシック" pitchFamily="34" charset="-128"/>
                <a:cs typeface="Calibri"/>
              </a:rPr>
              <a:t>Yes</a:t>
            </a:r>
            <a:r>
              <a:rPr lang="en-US" sz="2000" dirty="0">
                <a:latin typeface="Calibri"/>
                <a:ea typeface="ＭＳ Ｐゴシック" pitchFamily="34" charset="-128"/>
                <a:cs typeface="Calibri"/>
              </a:rPr>
              <a:t>: the ballgame and the rain cause traffic, but they are not correlated</a:t>
            </a:r>
          </a:p>
          <a:p>
            <a:pPr lvl="8"/>
            <a:endParaRPr lang="en-US" sz="800" dirty="0">
              <a:latin typeface="Calibri"/>
              <a:ea typeface="ＭＳ Ｐゴシック" pitchFamily="34" charset="-128"/>
              <a:cs typeface="Calibri"/>
            </a:endParaRPr>
          </a:p>
          <a:p>
            <a:pPr lvl="1"/>
            <a:r>
              <a:rPr lang="en-US" sz="2000" dirty="0">
                <a:latin typeface="Calibri"/>
                <a:ea typeface="ＭＳ Ｐゴシック" pitchFamily="34" charset="-128"/>
                <a:cs typeface="Calibri"/>
              </a:rPr>
              <a:t>Still need to prove they must be (try it!)</a:t>
            </a:r>
          </a:p>
          <a:p>
            <a:pPr lvl="7"/>
            <a:endParaRPr lang="en-US" sz="1600" dirty="0">
              <a:latin typeface="Calibri"/>
              <a:ea typeface="ＭＳ Ｐゴシック" pitchFamily="34" charset="-128"/>
              <a:cs typeface="Calibri"/>
            </a:endParaRPr>
          </a:p>
          <a:p>
            <a:pPr marL="228600" indent="-228600">
              <a:lnSpc>
                <a:spcPct val="90000"/>
              </a:lnSpc>
              <a:spcBef>
                <a:spcPts val="1000"/>
              </a:spcBef>
              <a:buFont typeface="Arial" panose="020B0604020202020204" pitchFamily="34" charset="0"/>
              <a:buChar char="•"/>
            </a:pPr>
            <a:r>
              <a:rPr lang="en-US" sz="2400" kern="0" dirty="0">
                <a:solidFill>
                  <a:srgbClr val="333399"/>
                </a:solidFill>
                <a:latin typeface="Calibri"/>
                <a:cs typeface="Calibri"/>
              </a:rPr>
              <a:t>Are X and Y independent given Z?</a:t>
            </a:r>
          </a:p>
          <a:p>
            <a:pPr lvl="6"/>
            <a:endParaRPr lang="en-US" sz="1200" dirty="0">
              <a:latin typeface="Calibri"/>
              <a:ea typeface="ＭＳ Ｐゴシック" pitchFamily="34" charset="-128"/>
              <a:cs typeface="Calibri"/>
            </a:endParaRPr>
          </a:p>
          <a:p>
            <a:pPr lvl="1"/>
            <a:r>
              <a:rPr lang="en-US" sz="2000" i="1" dirty="0">
                <a:solidFill>
                  <a:srgbClr val="FF0000"/>
                </a:solidFill>
                <a:latin typeface="Calibri"/>
                <a:ea typeface="ＭＳ Ｐゴシック" pitchFamily="34" charset="-128"/>
                <a:cs typeface="Calibri"/>
              </a:rPr>
              <a:t>No</a:t>
            </a:r>
            <a:r>
              <a:rPr lang="en-US" sz="2000" dirty="0">
                <a:latin typeface="Calibri"/>
                <a:ea typeface="ＭＳ Ｐゴシック" pitchFamily="34" charset="-128"/>
                <a:cs typeface="Calibri"/>
              </a:rPr>
              <a:t>: seeing traffic puts the rain and the ballgame in competition as explanation.</a:t>
            </a:r>
          </a:p>
          <a:p>
            <a:pPr lvl="7"/>
            <a:endParaRPr lang="en-US" sz="1600" dirty="0">
              <a:latin typeface="Calibri"/>
              <a:ea typeface="ＭＳ Ｐゴシック" pitchFamily="34" charset="-128"/>
              <a:cs typeface="Calibri"/>
            </a:endParaRPr>
          </a:p>
          <a:p>
            <a:pPr marL="228600" indent="-228600">
              <a:lnSpc>
                <a:spcPct val="90000"/>
              </a:lnSpc>
              <a:spcBef>
                <a:spcPts val="1000"/>
              </a:spcBef>
              <a:buFont typeface="Arial" panose="020B0604020202020204" pitchFamily="34" charset="0"/>
              <a:buChar char="•"/>
            </a:pPr>
            <a:r>
              <a:rPr lang="en-US" sz="2400" kern="0" dirty="0">
                <a:solidFill>
                  <a:srgbClr val="333399"/>
                </a:solidFill>
                <a:latin typeface="Calibri"/>
                <a:cs typeface="Calibri"/>
              </a:rPr>
              <a:t>This is backwards from the other cases</a:t>
            </a:r>
          </a:p>
          <a:p>
            <a:pPr lvl="8"/>
            <a:endParaRPr lang="en-US" sz="800" dirty="0">
              <a:solidFill>
                <a:srgbClr val="CC0000"/>
              </a:solidFill>
              <a:latin typeface="Calibri"/>
              <a:ea typeface="ＭＳ Ｐゴシック" pitchFamily="34" charset="-128"/>
              <a:cs typeface="Calibri"/>
            </a:endParaRPr>
          </a:p>
          <a:p>
            <a:pPr lvl="1"/>
            <a:r>
              <a:rPr lang="en-US" sz="2000" dirty="0">
                <a:latin typeface="Calibri"/>
                <a:ea typeface="ＭＳ Ｐゴシック" pitchFamily="34" charset="-128"/>
                <a:cs typeface="Calibri"/>
              </a:rPr>
              <a:t>Observing an effect </a:t>
            </a:r>
            <a:r>
              <a:rPr lang="en-US" sz="2000" dirty="0">
                <a:solidFill>
                  <a:srgbClr val="CC0000"/>
                </a:solidFill>
                <a:latin typeface="Calibri"/>
                <a:ea typeface="ＭＳ Ｐゴシック" pitchFamily="34" charset="-128"/>
                <a:cs typeface="Calibri"/>
              </a:rPr>
              <a:t>activates </a:t>
            </a:r>
            <a:r>
              <a:rPr lang="en-US" sz="2000" dirty="0">
                <a:latin typeface="Calibri"/>
                <a:ea typeface="ＭＳ Ｐゴシック" pitchFamily="34" charset="-128"/>
                <a:cs typeface="Calibri"/>
              </a:rPr>
              <a:t>influence between possible causes</a:t>
            </a:r>
            <a:r>
              <a:rPr lang="en-US" dirty="0">
                <a:latin typeface="Calibri"/>
                <a:ea typeface="ＭＳ Ｐゴシック" pitchFamily="34" charset="-128"/>
                <a:cs typeface="Calibri"/>
              </a:rPr>
              <a:t>.</a:t>
            </a:r>
          </a:p>
          <a:p>
            <a:endParaRPr lang="en-US" sz="2800" dirty="0">
              <a:latin typeface="Calibri"/>
              <a:ea typeface="ＭＳ Ｐゴシック" pitchFamily="34" charset="-128"/>
              <a:cs typeface="Calibri"/>
            </a:endParaRPr>
          </a:p>
        </p:txBody>
      </p:sp>
      <p:sp>
        <p:nvSpPr>
          <p:cNvPr id="13" name="Text Box 9"/>
          <p:cNvSpPr txBox="1">
            <a:spLocks noChangeArrowheads="1"/>
          </p:cNvSpPr>
          <p:nvPr/>
        </p:nvSpPr>
        <p:spPr bwMode="auto">
          <a:xfrm>
            <a:off x="1143000" y="2286000"/>
            <a:ext cx="152400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dirty="0">
                <a:latin typeface="Calibri"/>
                <a:cs typeface="Calibri"/>
              </a:rPr>
              <a:t>X: Raining</a:t>
            </a:r>
          </a:p>
        </p:txBody>
      </p:sp>
      <p:sp>
        <p:nvSpPr>
          <p:cNvPr id="14" name="Text Box 9"/>
          <p:cNvSpPr txBox="1">
            <a:spLocks noChangeArrowheads="1"/>
          </p:cNvSpPr>
          <p:nvPr/>
        </p:nvSpPr>
        <p:spPr bwMode="auto">
          <a:xfrm>
            <a:off x="2819400" y="2286000"/>
            <a:ext cx="152400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dirty="0">
                <a:latin typeface="Calibri"/>
                <a:cs typeface="Calibri"/>
              </a:rPr>
              <a:t>Y: Ballgame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t>The General Case</a:t>
            </a:r>
          </a:p>
        </p:txBody>
      </p:sp>
      <p:sp>
        <p:nvSpPr>
          <p:cNvPr id="18435" name="Rectangle 3"/>
          <p:cNvSpPr>
            <a:spLocks noGrp="1" noChangeArrowheads="1"/>
          </p:cNvSpPr>
          <p:nvPr>
            <p:ph idx="4294967295"/>
          </p:nvPr>
        </p:nvSpPr>
        <p:spPr>
          <a:xfrm>
            <a:off x="0" y="1676400"/>
            <a:ext cx="10058400" cy="4449763"/>
          </a:xfrm>
        </p:spPr>
        <p:txBody>
          <a:bodyPr/>
          <a:lstStyle/>
          <a:p>
            <a:r>
              <a:rPr lang="en-US" kern="0" dirty="0">
                <a:solidFill>
                  <a:srgbClr val="333399"/>
                </a:solidFill>
                <a:latin typeface="Calibri"/>
                <a:cs typeface="Calibri"/>
              </a:rPr>
              <a:t>General question: in a given BN, are two variables independent (given evidence)?</a:t>
            </a:r>
          </a:p>
          <a:p>
            <a:pPr eaLnBrk="1" hangingPunct="1"/>
            <a:endParaRPr lang="en-US" kern="0" dirty="0">
              <a:solidFill>
                <a:srgbClr val="333399"/>
              </a:solidFill>
              <a:latin typeface="Calibri"/>
              <a:cs typeface="Calibri"/>
            </a:endParaRPr>
          </a:p>
          <a:p>
            <a:pPr eaLnBrk="1" hangingPunct="1"/>
            <a:r>
              <a:rPr lang="en-US" kern="0" dirty="0">
                <a:solidFill>
                  <a:srgbClr val="333399"/>
                </a:solidFill>
                <a:latin typeface="Calibri"/>
                <a:cs typeface="Calibri"/>
              </a:rPr>
              <a:t>Solution: analyze the graph</a:t>
            </a:r>
          </a:p>
          <a:p>
            <a:pPr eaLnBrk="1" hangingPunct="1"/>
            <a:endParaRPr lang="en-US" kern="0" dirty="0">
              <a:solidFill>
                <a:srgbClr val="333399"/>
              </a:solidFill>
              <a:latin typeface="Calibri"/>
              <a:cs typeface="Calibri"/>
            </a:endParaRPr>
          </a:p>
          <a:p>
            <a:r>
              <a:rPr lang="en-US" kern="0" dirty="0">
                <a:solidFill>
                  <a:srgbClr val="333399"/>
                </a:solidFill>
                <a:latin typeface="Calibri"/>
                <a:cs typeface="Calibri"/>
              </a:rPr>
              <a:t>Any complex example can be broken</a:t>
            </a:r>
          </a:p>
          <a:p>
            <a:pPr marL="0" indent="0">
              <a:buNone/>
            </a:pPr>
            <a:r>
              <a:rPr lang="en-US" kern="0" dirty="0">
                <a:solidFill>
                  <a:srgbClr val="333399"/>
                </a:solidFill>
                <a:latin typeface="Calibri"/>
                <a:cs typeface="Calibri"/>
              </a:rPr>
              <a:t>    into repetitions of the three canonical cases</a:t>
            </a:r>
          </a:p>
          <a:p>
            <a:endParaRPr lang="en-US" sz="2800" dirty="0"/>
          </a:p>
          <a:p>
            <a:pPr marL="0" indent="0" eaLnBrk="1" hangingPunct="1">
              <a:buNone/>
            </a:pPr>
            <a:endParaRPr lang="en-US" sz="2800" dirty="0"/>
          </a:p>
        </p:txBody>
      </p:sp>
      <p:pic>
        <p:nvPicPr>
          <p:cNvPr id="4" name="Pictur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924800" y="2438400"/>
            <a:ext cx="3772710" cy="2971800"/>
          </a:xfrm>
          <a:prstGeom prst="rect">
            <a:avLst/>
          </a:prstGeom>
        </p:spPr>
      </p:pic>
    </p:spTree>
    <p:extLst>
      <p:ext uri="{BB962C8B-B14F-4D97-AF65-F5344CB8AC3E}">
        <p14:creationId xmlns:p14="http://schemas.microsoft.com/office/powerpoint/2010/main" val="40663977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p:txBody>
          <a:bodyPr/>
          <a:lstStyle/>
          <a:p>
            <a:pPr eaLnBrk="1" hangingPunct="1"/>
            <a:r>
              <a:rPr lang="en-US" dirty="0">
                <a:latin typeface="Calibri"/>
                <a:ea typeface="ＭＳ Ｐゴシック" pitchFamily="34" charset="-128"/>
                <a:cs typeface="Calibri"/>
              </a:rPr>
              <a:t>Active / Inactive Paths</a:t>
            </a:r>
          </a:p>
        </p:txBody>
      </p:sp>
      <p:sp>
        <p:nvSpPr>
          <p:cNvPr id="59394" name="Rectangle 3"/>
          <p:cNvSpPr>
            <a:spLocks noGrp="1" noChangeArrowheads="1"/>
          </p:cNvSpPr>
          <p:nvPr>
            <p:ph idx="4294967295"/>
          </p:nvPr>
        </p:nvSpPr>
        <p:spPr>
          <a:xfrm>
            <a:off x="0" y="1447800"/>
            <a:ext cx="7551738" cy="5029200"/>
          </a:xfrm>
        </p:spPr>
        <p:txBody>
          <a:bodyPr>
            <a:normAutofit lnSpcReduction="10000"/>
          </a:bodyPr>
          <a:lstStyle/>
          <a:p>
            <a:pPr eaLnBrk="1" hangingPunct="1">
              <a:lnSpc>
                <a:spcPct val="80000"/>
              </a:lnSpc>
            </a:pPr>
            <a:r>
              <a:rPr lang="en-US" sz="2400" kern="0" dirty="0">
                <a:solidFill>
                  <a:srgbClr val="333399"/>
                </a:solidFill>
                <a:latin typeface="Calibri"/>
                <a:cs typeface="Calibri"/>
              </a:rPr>
              <a:t>Question: Are X and Y conditionally independent given evidence variables {Z}?</a:t>
            </a:r>
          </a:p>
          <a:p>
            <a:pPr lvl="1" eaLnBrk="1" hangingPunct="1">
              <a:lnSpc>
                <a:spcPct val="80000"/>
              </a:lnSpc>
            </a:pPr>
            <a:r>
              <a:rPr lang="en-US" sz="1800" dirty="0">
                <a:latin typeface="Calibri"/>
                <a:ea typeface="ＭＳ Ｐゴシック" pitchFamily="34" charset="-128"/>
                <a:cs typeface="Calibri"/>
              </a:rPr>
              <a:t>Yes, if X and Y </a:t>
            </a:r>
            <a:r>
              <a:rPr lang="ja-JP" altLang="en-US" sz="1800" dirty="0">
                <a:latin typeface="Calibri"/>
                <a:ea typeface="ＭＳ Ｐゴシック" pitchFamily="34" charset="-128"/>
                <a:cs typeface="Calibri"/>
              </a:rPr>
              <a:t>“</a:t>
            </a:r>
            <a:r>
              <a:rPr lang="en-US" altLang="ja-JP" sz="1800" dirty="0">
                <a:latin typeface="Calibri"/>
                <a:ea typeface="ＭＳ Ｐゴシック" pitchFamily="34" charset="-128"/>
                <a:cs typeface="Calibri"/>
              </a:rPr>
              <a:t>d-separated</a:t>
            </a:r>
            <a:r>
              <a:rPr lang="ja-JP" altLang="en-US" sz="1800" dirty="0">
                <a:latin typeface="Calibri"/>
                <a:ea typeface="ＭＳ Ｐゴシック" pitchFamily="34" charset="-128"/>
                <a:cs typeface="Calibri"/>
              </a:rPr>
              <a:t>”</a:t>
            </a:r>
            <a:r>
              <a:rPr lang="en-US" altLang="ja-JP" sz="1800" dirty="0">
                <a:latin typeface="Calibri"/>
                <a:ea typeface="ＭＳ Ｐゴシック" pitchFamily="34" charset="-128"/>
                <a:cs typeface="Calibri"/>
              </a:rPr>
              <a:t> by Z</a:t>
            </a:r>
          </a:p>
          <a:p>
            <a:pPr lvl="1" eaLnBrk="1" hangingPunct="1">
              <a:lnSpc>
                <a:spcPct val="80000"/>
              </a:lnSpc>
            </a:pPr>
            <a:r>
              <a:rPr lang="en-US" sz="1800" dirty="0">
                <a:latin typeface="Calibri"/>
                <a:ea typeface="ＭＳ Ｐゴシック" pitchFamily="34" charset="-128"/>
                <a:cs typeface="Calibri"/>
              </a:rPr>
              <a:t>Consider all (undirected) paths from X to Y</a:t>
            </a:r>
            <a:endParaRPr lang="en-US" sz="900" dirty="0">
              <a:latin typeface="Calibri"/>
              <a:ea typeface="ＭＳ Ｐゴシック" pitchFamily="34" charset="-128"/>
              <a:cs typeface="Calibri"/>
            </a:endParaRPr>
          </a:p>
          <a:p>
            <a:pPr lvl="1" eaLnBrk="1" hangingPunct="1">
              <a:lnSpc>
                <a:spcPct val="80000"/>
              </a:lnSpc>
            </a:pPr>
            <a:r>
              <a:rPr lang="en-US" sz="1800" dirty="0">
                <a:latin typeface="Calibri"/>
                <a:ea typeface="ＭＳ Ｐゴシック" pitchFamily="34" charset="-128"/>
                <a:cs typeface="Calibri"/>
              </a:rPr>
              <a:t>No active paths = independence!</a:t>
            </a:r>
          </a:p>
          <a:p>
            <a:pPr lvl="2" eaLnBrk="1" hangingPunct="1">
              <a:lnSpc>
                <a:spcPct val="80000"/>
              </a:lnSpc>
            </a:pPr>
            <a:endParaRPr lang="en-US" sz="1400" dirty="0">
              <a:latin typeface="Calibri"/>
              <a:ea typeface="ＭＳ Ｐゴシック" pitchFamily="34" charset="-128"/>
              <a:cs typeface="Calibri"/>
            </a:endParaRPr>
          </a:p>
          <a:p>
            <a:pPr eaLnBrk="1" hangingPunct="1">
              <a:lnSpc>
                <a:spcPct val="80000"/>
              </a:lnSpc>
            </a:pPr>
            <a:endParaRPr lang="en-US" sz="2400" dirty="0">
              <a:latin typeface="Calibri"/>
              <a:ea typeface="ＭＳ Ｐゴシック" pitchFamily="34" charset="-128"/>
              <a:cs typeface="Calibri"/>
            </a:endParaRPr>
          </a:p>
          <a:p>
            <a:r>
              <a:rPr lang="en-US" sz="2400" kern="0" dirty="0">
                <a:solidFill>
                  <a:srgbClr val="333399"/>
                </a:solidFill>
                <a:latin typeface="Calibri"/>
                <a:cs typeface="Calibri"/>
              </a:rPr>
              <a:t>A path is active if each triple is active:</a:t>
            </a:r>
          </a:p>
          <a:p>
            <a:pPr lvl="1" eaLnBrk="1" hangingPunct="1">
              <a:lnSpc>
                <a:spcPct val="80000"/>
              </a:lnSpc>
            </a:pPr>
            <a:r>
              <a:rPr lang="en-US" sz="1800" dirty="0">
                <a:latin typeface="Calibri"/>
                <a:ea typeface="ＭＳ Ｐゴシック" pitchFamily="34" charset="-128"/>
                <a:cs typeface="Calibri"/>
              </a:rPr>
              <a:t>Causal chain A </a:t>
            </a:r>
            <a:r>
              <a:rPr lang="en-US" sz="1800" dirty="0">
                <a:latin typeface="Calibri"/>
                <a:ea typeface="ＭＳ Ｐゴシック" pitchFamily="34" charset="-128"/>
                <a:cs typeface="Calibri"/>
                <a:sym typeface="Symbol" pitchFamily="18" charset="2"/>
              </a:rPr>
              <a:t> </a:t>
            </a:r>
            <a:r>
              <a:rPr lang="en-US" sz="1800" dirty="0">
                <a:latin typeface="Calibri"/>
                <a:ea typeface="ＭＳ Ｐゴシック" pitchFamily="34" charset="-128"/>
                <a:cs typeface="Calibri"/>
              </a:rPr>
              <a:t>B </a:t>
            </a:r>
            <a:r>
              <a:rPr lang="en-US" sz="1800" dirty="0">
                <a:latin typeface="Calibri"/>
                <a:ea typeface="ＭＳ Ｐゴシック" pitchFamily="34" charset="-128"/>
                <a:cs typeface="Calibri"/>
                <a:sym typeface="Symbol" pitchFamily="18" charset="2"/>
              </a:rPr>
              <a:t> </a:t>
            </a:r>
            <a:r>
              <a:rPr lang="en-US" sz="1800" dirty="0">
                <a:latin typeface="Calibri"/>
                <a:ea typeface="ＭＳ Ｐゴシック" pitchFamily="34" charset="-128"/>
                <a:cs typeface="Calibri"/>
              </a:rPr>
              <a:t>C where B is unobserved (either direction)</a:t>
            </a:r>
          </a:p>
          <a:p>
            <a:pPr lvl="1" eaLnBrk="1" hangingPunct="1">
              <a:lnSpc>
                <a:spcPct val="80000"/>
              </a:lnSpc>
            </a:pPr>
            <a:r>
              <a:rPr lang="en-US" sz="1800" dirty="0">
                <a:latin typeface="Calibri"/>
                <a:ea typeface="ＭＳ Ｐゴシック" pitchFamily="34" charset="-128"/>
                <a:cs typeface="Calibri"/>
              </a:rPr>
              <a:t>Common cause A </a:t>
            </a:r>
            <a:r>
              <a:rPr lang="en-US" sz="1800" dirty="0">
                <a:latin typeface="Calibri"/>
                <a:ea typeface="ＭＳ Ｐゴシック" pitchFamily="34" charset="-128"/>
                <a:cs typeface="Calibri"/>
                <a:sym typeface="Symbol" pitchFamily="18" charset="2"/>
              </a:rPr>
              <a:t> </a:t>
            </a:r>
            <a:r>
              <a:rPr lang="en-US" sz="1800" dirty="0">
                <a:latin typeface="Calibri"/>
                <a:ea typeface="ＭＳ Ｐゴシック" pitchFamily="34" charset="-128"/>
                <a:cs typeface="Calibri"/>
              </a:rPr>
              <a:t>B </a:t>
            </a:r>
            <a:r>
              <a:rPr lang="en-US" sz="1800" dirty="0">
                <a:latin typeface="Calibri"/>
                <a:ea typeface="ＭＳ Ｐゴシック" pitchFamily="34" charset="-128"/>
                <a:cs typeface="Calibri"/>
                <a:sym typeface="Symbol" pitchFamily="18" charset="2"/>
              </a:rPr>
              <a:t> </a:t>
            </a:r>
            <a:r>
              <a:rPr lang="en-US" sz="1800" dirty="0">
                <a:latin typeface="Calibri"/>
                <a:ea typeface="ＭＳ Ｐゴシック" pitchFamily="34" charset="-128"/>
                <a:cs typeface="Calibri"/>
              </a:rPr>
              <a:t>C where B is unobserved</a:t>
            </a:r>
          </a:p>
          <a:p>
            <a:pPr lvl="1" eaLnBrk="1" hangingPunct="1">
              <a:lnSpc>
                <a:spcPct val="80000"/>
              </a:lnSpc>
            </a:pPr>
            <a:r>
              <a:rPr lang="en-US" sz="1800" dirty="0">
                <a:latin typeface="Calibri"/>
                <a:ea typeface="ＭＳ Ｐゴシック" pitchFamily="34" charset="-128"/>
                <a:cs typeface="Calibri"/>
              </a:rPr>
              <a:t>Common effect (aka v-structure)</a:t>
            </a:r>
          </a:p>
          <a:p>
            <a:pPr lvl="1" eaLnBrk="1" hangingPunct="1">
              <a:lnSpc>
                <a:spcPct val="80000"/>
              </a:lnSpc>
              <a:buFont typeface="Wingdings" pitchFamily="2" charset="2"/>
              <a:buNone/>
            </a:pPr>
            <a:r>
              <a:rPr lang="en-US" sz="1800" dirty="0">
                <a:latin typeface="Calibri"/>
                <a:ea typeface="ＭＳ Ｐゴシック" pitchFamily="34" charset="-128"/>
                <a:cs typeface="Calibri"/>
              </a:rPr>
              <a:t>	A </a:t>
            </a:r>
            <a:r>
              <a:rPr lang="en-US" sz="1800" dirty="0">
                <a:latin typeface="Calibri"/>
                <a:ea typeface="ＭＳ Ｐゴシック" pitchFamily="34" charset="-128"/>
                <a:cs typeface="Calibri"/>
                <a:sym typeface="Symbol" pitchFamily="18" charset="2"/>
              </a:rPr>
              <a:t> </a:t>
            </a:r>
            <a:r>
              <a:rPr lang="en-US" sz="1800" dirty="0">
                <a:latin typeface="Calibri"/>
                <a:ea typeface="ＭＳ Ｐゴシック" pitchFamily="34" charset="-128"/>
                <a:cs typeface="Calibri"/>
              </a:rPr>
              <a:t>B </a:t>
            </a:r>
            <a:r>
              <a:rPr lang="en-US" sz="1800" dirty="0">
                <a:latin typeface="Calibri"/>
                <a:ea typeface="ＭＳ Ｐゴシック" pitchFamily="34" charset="-128"/>
                <a:cs typeface="Calibri"/>
                <a:sym typeface="Symbol" pitchFamily="18" charset="2"/>
              </a:rPr>
              <a:t> </a:t>
            </a:r>
            <a:r>
              <a:rPr lang="en-US" sz="1800" dirty="0">
                <a:latin typeface="Calibri"/>
                <a:ea typeface="ＭＳ Ｐゴシック" pitchFamily="34" charset="-128"/>
                <a:cs typeface="Calibri"/>
              </a:rPr>
              <a:t>C where B </a:t>
            </a:r>
            <a:r>
              <a:rPr lang="en-US" sz="1800" i="1" dirty="0">
                <a:latin typeface="Calibri"/>
                <a:ea typeface="ＭＳ Ｐゴシック" pitchFamily="34" charset="-128"/>
                <a:cs typeface="Calibri"/>
              </a:rPr>
              <a:t>or one of its </a:t>
            </a:r>
            <a:r>
              <a:rPr lang="en-US" sz="1800" b="1" i="1" dirty="0" err="1">
                <a:latin typeface="Calibri"/>
                <a:ea typeface="ＭＳ Ｐゴシック" pitchFamily="34" charset="-128"/>
                <a:cs typeface="Calibri"/>
              </a:rPr>
              <a:t>descendents</a:t>
            </a:r>
            <a:r>
              <a:rPr lang="en-US" sz="1800" dirty="0">
                <a:latin typeface="Calibri"/>
                <a:ea typeface="ＭＳ Ｐゴシック" pitchFamily="34" charset="-128"/>
                <a:cs typeface="Calibri"/>
              </a:rPr>
              <a:t> is observed</a:t>
            </a:r>
          </a:p>
          <a:p>
            <a:pPr lvl="1" eaLnBrk="1" hangingPunct="1">
              <a:lnSpc>
                <a:spcPct val="80000"/>
              </a:lnSpc>
              <a:buFont typeface="Wingdings" pitchFamily="2" charset="2"/>
              <a:buNone/>
            </a:pPr>
            <a:r>
              <a:rPr lang="en-US" sz="1000" dirty="0">
                <a:latin typeface="Calibri"/>
                <a:ea typeface="ＭＳ Ｐゴシック" pitchFamily="34" charset="-128"/>
                <a:cs typeface="Calibri"/>
              </a:rPr>
              <a:t>	</a:t>
            </a:r>
          </a:p>
          <a:p>
            <a:pPr eaLnBrk="1" hangingPunct="1">
              <a:lnSpc>
                <a:spcPct val="80000"/>
              </a:lnSpc>
              <a:buClr>
                <a:srgbClr val="333399"/>
              </a:buClr>
            </a:pPr>
            <a:endParaRPr lang="en-US" sz="2400" dirty="0">
              <a:solidFill>
                <a:srgbClr val="333399"/>
              </a:solidFill>
              <a:latin typeface="Calibri"/>
              <a:ea typeface="ＭＳ Ｐゴシック" pitchFamily="34" charset="-128"/>
              <a:cs typeface="Calibri"/>
            </a:endParaRPr>
          </a:p>
          <a:p>
            <a:pPr>
              <a:lnSpc>
                <a:spcPct val="100000"/>
              </a:lnSpc>
              <a:buClr>
                <a:srgbClr val="333399"/>
              </a:buClr>
            </a:pPr>
            <a:r>
              <a:rPr lang="en-US" sz="2400" kern="0" dirty="0">
                <a:solidFill>
                  <a:srgbClr val="333399"/>
                </a:solidFill>
                <a:latin typeface="Calibri"/>
                <a:cs typeface="Calibri"/>
              </a:rPr>
              <a:t>All it takes to block a path is a single inactive segment</a:t>
            </a:r>
          </a:p>
          <a:p>
            <a:pPr lvl="1" eaLnBrk="1" hangingPunct="1">
              <a:lnSpc>
                <a:spcPct val="80000"/>
              </a:lnSpc>
              <a:buFont typeface="Wingdings" pitchFamily="2" charset="2"/>
              <a:buNone/>
            </a:pPr>
            <a:endParaRPr lang="en-US" sz="1800" dirty="0">
              <a:latin typeface="Calibri"/>
              <a:ea typeface="ＭＳ Ｐゴシック" pitchFamily="34" charset="-128"/>
              <a:cs typeface="Calibri"/>
            </a:endParaRPr>
          </a:p>
          <a:p>
            <a:pPr lvl="1" eaLnBrk="1" hangingPunct="1">
              <a:lnSpc>
                <a:spcPct val="80000"/>
              </a:lnSpc>
              <a:buFont typeface="Wingdings" pitchFamily="2" charset="2"/>
              <a:buNone/>
            </a:pPr>
            <a:r>
              <a:rPr lang="en-US" sz="1800" dirty="0">
                <a:latin typeface="Calibri"/>
                <a:ea typeface="ＭＳ Ｐゴシック" pitchFamily="34" charset="-128"/>
                <a:cs typeface="Calibri"/>
              </a:rPr>
              <a:t>	</a:t>
            </a:r>
          </a:p>
        </p:txBody>
      </p:sp>
      <p:grpSp>
        <p:nvGrpSpPr>
          <p:cNvPr id="59395" name="Group 186"/>
          <p:cNvGrpSpPr>
            <a:grpSpLocks/>
          </p:cNvGrpSpPr>
          <p:nvPr/>
        </p:nvGrpSpPr>
        <p:grpSpPr bwMode="auto">
          <a:xfrm>
            <a:off x="7620000" y="2041525"/>
            <a:ext cx="1600200" cy="320675"/>
            <a:chOff x="4572000" y="1676400"/>
            <a:chExt cx="1905000" cy="381000"/>
          </a:xfrm>
        </p:grpSpPr>
        <p:sp>
          <p:nvSpPr>
            <p:cNvPr id="59437" name="Oval 9"/>
            <p:cNvSpPr>
              <a:spLocks noChangeArrowheads="1"/>
            </p:cNvSpPr>
            <p:nvPr/>
          </p:nvSpPr>
          <p:spPr bwMode="auto">
            <a:xfrm>
              <a:off x="4572000" y="16764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sp>
          <p:nvSpPr>
            <p:cNvPr id="59438" name="Oval 9"/>
            <p:cNvSpPr>
              <a:spLocks noChangeArrowheads="1"/>
            </p:cNvSpPr>
            <p:nvPr/>
          </p:nvSpPr>
          <p:spPr bwMode="auto">
            <a:xfrm>
              <a:off x="5334000" y="16764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sp>
          <p:nvSpPr>
            <p:cNvPr id="59439" name="Oval 9"/>
            <p:cNvSpPr>
              <a:spLocks noChangeArrowheads="1"/>
            </p:cNvSpPr>
            <p:nvPr/>
          </p:nvSpPr>
          <p:spPr bwMode="auto">
            <a:xfrm>
              <a:off x="6096000" y="16764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cxnSp>
          <p:nvCxnSpPr>
            <p:cNvPr id="59440" name="AutoShape 10"/>
            <p:cNvCxnSpPr>
              <a:cxnSpLocks noChangeShapeType="1"/>
              <a:stCxn id="59437" idx="6"/>
              <a:endCxn id="59438" idx="2"/>
            </p:cNvCxnSpPr>
            <p:nvPr/>
          </p:nvCxnSpPr>
          <p:spPr bwMode="auto">
            <a:xfrm>
              <a:off x="4953000" y="1866900"/>
              <a:ext cx="381000" cy="15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cxnSp>
          <p:nvCxnSpPr>
            <p:cNvPr id="59441" name="AutoShape 10"/>
            <p:cNvCxnSpPr>
              <a:cxnSpLocks noChangeShapeType="1"/>
              <a:stCxn id="59438" idx="6"/>
              <a:endCxn id="59439" idx="2"/>
            </p:cNvCxnSpPr>
            <p:nvPr/>
          </p:nvCxnSpPr>
          <p:spPr bwMode="auto">
            <a:xfrm>
              <a:off x="5715000" y="1866900"/>
              <a:ext cx="381000" cy="15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grpSp>
      <p:grpSp>
        <p:nvGrpSpPr>
          <p:cNvPr id="59396" name="Group 185"/>
          <p:cNvGrpSpPr>
            <a:grpSpLocks/>
          </p:cNvGrpSpPr>
          <p:nvPr/>
        </p:nvGrpSpPr>
        <p:grpSpPr bwMode="auto">
          <a:xfrm>
            <a:off x="9982200" y="2041525"/>
            <a:ext cx="1600200" cy="320675"/>
            <a:chOff x="6934200" y="1676400"/>
            <a:chExt cx="1905000" cy="381000"/>
          </a:xfrm>
        </p:grpSpPr>
        <p:sp>
          <p:nvSpPr>
            <p:cNvPr id="59432" name="Oval 9"/>
            <p:cNvSpPr>
              <a:spLocks noChangeArrowheads="1"/>
            </p:cNvSpPr>
            <p:nvPr/>
          </p:nvSpPr>
          <p:spPr bwMode="auto">
            <a:xfrm>
              <a:off x="6934200" y="16764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sp>
          <p:nvSpPr>
            <p:cNvPr id="92" name="Oval 9"/>
            <p:cNvSpPr>
              <a:spLocks noChangeArrowheads="1"/>
            </p:cNvSpPr>
            <p:nvPr/>
          </p:nvSpPr>
          <p:spPr bwMode="auto">
            <a:xfrm>
              <a:off x="7695823" y="1676400"/>
              <a:ext cx="381756" cy="381000"/>
            </a:xfrm>
            <a:prstGeom prst="ellipse">
              <a:avLst/>
            </a:prstGeom>
            <a:solidFill>
              <a:schemeClr val="bg2">
                <a:lumMod val="60000"/>
                <a:lumOff val="40000"/>
              </a:schemeClr>
            </a:solidFill>
            <a:ln w="28575">
              <a:solidFill>
                <a:schemeClr val="tx1"/>
              </a:solidFill>
              <a:round/>
              <a:headEnd/>
              <a:tailEnd/>
            </a:ln>
            <a:effectLst/>
          </p:spPr>
          <p:txBody>
            <a:bodyPr wrap="none" anchor="ctr"/>
            <a:lstStyle/>
            <a:p>
              <a:pPr algn="ctr">
                <a:defRPr/>
              </a:pPr>
              <a:endParaRPr lang="en-US" sz="2000">
                <a:latin typeface="Calibri"/>
                <a:ea typeface="+mn-ea"/>
                <a:cs typeface="Calibri"/>
              </a:endParaRPr>
            </a:p>
          </p:txBody>
        </p:sp>
        <p:sp>
          <p:nvSpPr>
            <p:cNvPr id="59434" name="Oval 9"/>
            <p:cNvSpPr>
              <a:spLocks noChangeArrowheads="1"/>
            </p:cNvSpPr>
            <p:nvPr/>
          </p:nvSpPr>
          <p:spPr bwMode="auto">
            <a:xfrm>
              <a:off x="8458200" y="16764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cxnSp>
          <p:nvCxnSpPr>
            <p:cNvPr id="59435" name="AutoShape 10"/>
            <p:cNvCxnSpPr>
              <a:cxnSpLocks noChangeShapeType="1"/>
              <a:stCxn id="59432" idx="6"/>
              <a:endCxn id="92" idx="2"/>
            </p:cNvCxnSpPr>
            <p:nvPr/>
          </p:nvCxnSpPr>
          <p:spPr bwMode="auto">
            <a:xfrm>
              <a:off x="7315200" y="1866900"/>
              <a:ext cx="381000" cy="15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cxnSp>
          <p:nvCxnSpPr>
            <p:cNvPr id="59436" name="AutoShape 10"/>
            <p:cNvCxnSpPr>
              <a:cxnSpLocks noChangeShapeType="1"/>
              <a:stCxn id="92" idx="6"/>
              <a:endCxn id="59434" idx="2"/>
            </p:cNvCxnSpPr>
            <p:nvPr/>
          </p:nvCxnSpPr>
          <p:spPr bwMode="auto">
            <a:xfrm>
              <a:off x="8077200" y="1866900"/>
              <a:ext cx="381000" cy="15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grpSp>
      <p:grpSp>
        <p:nvGrpSpPr>
          <p:cNvPr id="59397" name="Group 187"/>
          <p:cNvGrpSpPr>
            <a:grpSpLocks/>
          </p:cNvGrpSpPr>
          <p:nvPr/>
        </p:nvGrpSpPr>
        <p:grpSpPr bwMode="auto">
          <a:xfrm>
            <a:off x="7620000" y="2776538"/>
            <a:ext cx="1600200" cy="576262"/>
            <a:chOff x="4572000" y="2362200"/>
            <a:chExt cx="1905000" cy="685800"/>
          </a:xfrm>
        </p:grpSpPr>
        <p:sp>
          <p:nvSpPr>
            <p:cNvPr id="59427" name="Oval 9"/>
            <p:cNvSpPr>
              <a:spLocks noChangeArrowheads="1"/>
            </p:cNvSpPr>
            <p:nvPr/>
          </p:nvSpPr>
          <p:spPr bwMode="auto">
            <a:xfrm>
              <a:off x="4572000" y="26670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sp>
          <p:nvSpPr>
            <p:cNvPr id="59428" name="Oval 9"/>
            <p:cNvSpPr>
              <a:spLocks noChangeArrowheads="1"/>
            </p:cNvSpPr>
            <p:nvPr/>
          </p:nvSpPr>
          <p:spPr bwMode="auto">
            <a:xfrm>
              <a:off x="5334000" y="23622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sp>
          <p:nvSpPr>
            <p:cNvPr id="59429" name="Oval 9"/>
            <p:cNvSpPr>
              <a:spLocks noChangeArrowheads="1"/>
            </p:cNvSpPr>
            <p:nvPr/>
          </p:nvSpPr>
          <p:spPr bwMode="auto">
            <a:xfrm>
              <a:off x="6096000" y="26670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cxnSp>
          <p:nvCxnSpPr>
            <p:cNvPr id="59430" name="AutoShape 10"/>
            <p:cNvCxnSpPr>
              <a:cxnSpLocks noChangeShapeType="1"/>
              <a:stCxn id="59428" idx="2"/>
              <a:endCxn id="59427" idx="7"/>
            </p:cNvCxnSpPr>
            <p:nvPr/>
          </p:nvCxnSpPr>
          <p:spPr bwMode="auto">
            <a:xfrm rot="10800000" flipV="1">
              <a:off x="4897204" y="2552700"/>
              <a:ext cx="436796" cy="17009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cxnSp>
          <p:nvCxnSpPr>
            <p:cNvPr id="59431" name="AutoShape 10"/>
            <p:cNvCxnSpPr>
              <a:cxnSpLocks noChangeShapeType="1"/>
              <a:stCxn id="59428" idx="6"/>
              <a:endCxn id="59429" idx="1"/>
            </p:cNvCxnSpPr>
            <p:nvPr/>
          </p:nvCxnSpPr>
          <p:spPr bwMode="auto">
            <a:xfrm>
              <a:off x="5715000" y="2552700"/>
              <a:ext cx="436796" cy="17009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grpSp>
      <p:grpSp>
        <p:nvGrpSpPr>
          <p:cNvPr id="59398" name="Group 184"/>
          <p:cNvGrpSpPr>
            <a:grpSpLocks/>
          </p:cNvGrpSpPr>
          <p:nvPr/>
        </p:nvGrpSpPr>
        <p:grpSpPr bwMode="auto">
          <a:xfrm>
            <a:off x="9982200" y="2776538"/>
            <a:ext cx="1600200" cy="576262"/>
            <a:chOff x="6934200" y="2362200"/>
            <a:chExt cx="1905000" cy="685800"/>
          </a:xfrm>
        </p:grpSpPr>
        <p:sp>
          <p:nvSpPr>
            <p:cNvPr id="59422" name="Oval 9"/>
            <p:cNvSpPr>
              <a:spLocks noChangeArrowheads="1"/>
            </p:cNvSpPr>
            <p:nvPr/>
          </p:nvSpPr>
          <p:spPr bwMode="auto">
            <a:xfrm>
              <a:off x="6934200" y="26670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sp>
          <p:nvSpPr>
            <p:cNvPr id="107" name="Oval 9"/>
            <p:cNvSpPr>
              <a:spLocks noChangeArrowheads="1"/>
            </p:cNvSpPr>
            <p:nvPr/>
          </p:nvSpPr>
          <p:spPr bwMode="auto">
            <a:xfrm>
              <a:off x="7695823" y="2362200"/>
              <a:ext cx="381756" cy="381630"/>
            </a:xfrm>
            <a:prstGeom prst="ellipse">
              <a:avLst/>
            </a:prstGeom>
            <a:solidFill>
              <a:schemeClr val="bg2">
                <a:lumMod val="60000"/>
                <a:lumOff val="40000"/>
              </a:schemeClr>
            </a:solidFill>
            <a:ln w="28575">
              <a:solidFill>
                <a:schemeClr val="tx1"/>
              </a:solidFill>
              <a:round/>
              <a:headEnd/>
              <a:tailEnd/>
            </a:ln>
            <a:effectLst/>
          </p:spPr>
          <p:txBody>
            <a:bodyPr wrap="none" anchor="ctr"/>
            <a:lstStyle/>
            <a:p>
              <a:pPr algn="ctr">
                <a:defRPr/>
              </a:pPr>
              <a:endParaRPr lang="en-US" sz="2000">
                <a:latin typeface="Calibri"/>
                <a:ea typeface="+mn-ea"/>
                <a:cs typeface="Calibri"/>
              </a:endParaRPr>
            </a:p>
          </p:txBody>
        </p:sp>
        <p:sp>
          <p:nvSpPr>
            <p:cNvPr id="59424" name="Oval 9"/>
            <p:cNvSpPr>
              <a:spLocks noChangeArrowheads="1"/>
            </p:cNvSpPr>
            <p:nvPr/>
          </p:nvSpPr>
          <p:spPr bwMode="auto">
            <a:xfrm>
              <a:off x="8458200" y="26670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cxnSp>
          <p:nvCxnSpPr>
            <p:cNvPr id="59425" name="AutoShape 10"/>
            <p:cNvCxnSpPr>
              <a:cxnSpLocks noChangeShapeType="1"/>
              <a:stCxn id="107" idx="2"/>
              <a:endCxn id="59422" idx="7"/>
            </p:cNvCxnSpPr>
            <p:nvPr/>
          </p:nvCxnSpPr>
          <p:spPr bwMode="auto">
            <a:xfrm rot="10800000" flipV="1">
              <a:off x="7259404" y="2552700"/>
              <a:ext cx="436796" cy="17009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cxnSp>
          <p:nvCxnSpPr>
            <p:cNvPr id="59426" name="AutoShape 10"/>
            <p:cNvCxnSpPr>
              <a:cxnSpLocks noChangeShapeType="1"/>
              <a:stCxn id="107" idx="6"/>
              <a:endCxn id="59424" idx="1"/>
            </p:cNvCxnSpPr>
            <p:nvPr/>
          </p:nvCxnSpPr>
          <p:spPr bwMode="auto">
            <a:xfrm>
              <a:off x="8077200" y="2552700"/>
              <a:ext cx="436796" cy="17009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grpSp>
      <p:grpSp>
        <p:nvGrpSpPr>
          <p:cNvPr id="59399" name="Group 183"/>
          <p:cNvGrpSpPr>
            <a:grpSpLocks/>
          </p:cNvGrpSpPr>
          <p:nvPr/>
        </p:nvGrpSpPr>
        <p:grpSpPr bwMode="auto">
          <a:xfrm>
            <a:off x="9982200" y="4084638"/>
            <a:ext cx="1600200" cy="639762"/>
            <a:chOff x="6934200" y="3810000"/>
            <a:chExt cx="1905000" cy="762000"/>
          </a:xfrm>
        </p:grpSpPr>
        <p:sp>
          <p:nvSpPr>
            <p:cNvPr id="59417" name="Oval 9"/>
            <p:cNvSpPr>
              <a:spLocks noChangeArrowheads="1"/>
            </p:cNvSpPr>
            <p:nvPr/>
          </p:nvSpPr>
          <p:spPr bwMode="auto">
            <a:xfrm>
              <a:off x="6934200" y="38100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sp>
          <p:nvSpPr>
            <p:cNvPr id="59418" name="Oval 9"/>
            <p:cNvSpPr>
              <a:spLocks noChangeArrowheads="1"/>
            </p:cNvSpPr>
            <p:nvPr/>
          </p:nvSpPr>
          <p:spPr bwMode="auto">
            <a:xfrm>
              <a:off x="7696200" y="41910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sp>
          <p:nvSpPr>
            <p:cNvPr id="59419" name="Oval 9"/>
            <p:cNvSpPr>
              <a:spLocks noChangeArrowheads="1"/>
            </p:cNvSpPr>
            <p:nvPr/>
          </p:nvSpPr>
          <p:spPr bwMode="auto">
            <a:xfrm>
              <a:off x="8458200" y="38100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cxnSp>
          <p:nvCxnSpPr>
            <p:cNvPr id="59420" name="AutoShape 10"/>
            <p:cNvCxnSpPr>
              <a:cxnSpLocks noChangeShapeType="1"/>
              <a:stCxn id="59417" idx="6"/>
              <a:endCxn id="59418" idx="1"/>
            </p:cNvCxnSpPr>
            <p:nvPr/>
          </p:nvCxnSpPr>
          <p:spPr bwMode="auto">
            <a:xfrm>
              <a:off x="7315200" y="4000500"/>
              <a:ext cx="436796" cy="24629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cxnSp>
          <p:nvCxnSpPr>
            <p:cNvPr id="59421" name="AutoShape 10"/>
            <p:cNvCxnSpPr>
              <a:cxnSpLocks noChangeShapeType="1"/>
              <a:stCxn id="59419" idx="2"/>
              <a:endCxn id="59418" idx="7"/>
            </p:cNvCxnSpPr>
            <p:nvPr/>
          </p:nvCxnSpPr>
          <p:spPr bwMode="auto">
            <a:xfrm rot="10800000" flipV="1">
              <a:off x="8021404" y="4000500"/>
              <a:ext cx="436796" cy="24629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grpSp>
      <p:grpSp>
        <p:nvGrpSpPr>
          <p:cNvPr id="59400" name="Group 188"/>
          <p:cNvGrpSpPr>
            <a:grpSpLocks/>
          </p:cNvGrpSpPr>
          <p:nvPr/>
        </p:nvGrpSpPr>
        <p:grpSpPr bwMode="auto">
          <a:xfrm>
            <a:off x="7620000" y="4084638"/>
            <a:ext cx="1600200" cy="639762"/>
            <a:chOff x="4572000" y="3810000"/>
            <a:chExt cx="1905000" cy="762000"/>
          </a:xfrm>
        </p:grpSpPr>
        <p:sp>
          <p:nvSpPr>
            <p:cNvPr id="59412" name="Oval 9"/>
            <p:cNvSpPr>
              <a:spLocks noChangeArrowheads="1"/>
            </p:cNvSpPr>
            <p:nvPr/>
          </p:nvSpPr>
          <p:spPr bwMode="auto">
            <a:xfrm>
              <a:off x="4572000" y="38100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sp>
          <p:nvSpPr>
            <p:cNvPr id="134" name="Oval 9"/>
            <p:cNvSpPr>
              <a:spLocks noChangeArrowheads="1"/>
            </p:cNvSpPr>
            <p:nvPr/>
          </p:nvSpPr>
          <p:spPr bwMode="auto">
            <a:xfrm>
              <a:off x="5333623" y="4191946"/>
              <a:ext cx="381756" cy="380054"/>
            </a:xfrm>
            <a:prstGeom prst="ellipse">
              <a:avLst/>
            </a:prstGeom>
            <a:solidFill>
              <a:schemeClr val="bg2">
                <a:lumMod val="60000"/>
                <a:lumOff val="40000"/>
              </a:schemeClr>
            </a:solidFill>
            <a:ln w="28575">
              <a:solidFill>
                <a:schemeClr val="tx1"/>
              </a:solidFill>
              <a:round/>
              <a:headEnd/>
              <a:tailEnd/>
            </a:ln>
            <a:effectLst/>
          </p:spPr>
          <p:txBody>
            <a:bodyPr wrap="none" anchor="ctr"/>
            <a:lstStyle/>
            <a:p>
              <a:pPr algn="ctr">
                <a:defRPr/>
              </a:pPr>
              <a:endParaRPr lang="en-US" sz="2000">
                <a:latin typeface="Calibri"/>
                <a:ea typeface="+mn-ea"/>
                <a:cs typeface="Calibri"/>
              </a:endParaRPr>
            </a:p>
          </p:txBody>
        </p:sp>
        <p:sp>
          <p:nvSpPr>
            <p:cNvPr id="59414" name="Oval 9"/>
            <p:cNvSpPr>
              <a:spLocks noChangeArrowheads="1"/>
            </p:cNvSpPr>
            <p:nvPr/>
          </p:nvSpPr>
          <p:spPr bwMode="auto">
            <a:xfrm>
              <a:off x="6096000" y="38100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cxnSp>
          <p:nvCxnSpPr>
            <p:cNvPr id="59415" name="AutoShape 10"/>
            <p:cNvCxnSpPr>
              <a:cxnSpLocks noChangeShapeType="1"/>
              <a:stCxn id="59412" idx="6"/>
              <a:endCxn id="134" idx="1"/>
            </p:cNvCxnSpPr>
            <p:nvPr/>
          </p:nvCxnSpPr>
          <p:spPr bwMode="auto">
            <a:xfrm>
              <a:off x="4953000" y="4000500"/>
              <a:ext cx="436796" cy="24629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cxnSp>
          <p:nvCxnSpPr>
            <p:cNvPr id="59416" name="AutoShape 10"/>
            <p:cNvCxnSpPr>
              <a:cxnSpLocks noChangeShapeType="1"/>
              <a:stCxn id="59414" idx="2"/>
              <a:endCxn id="134" idx="7"/>
            </p:cNvCxnSpPr>
            <p:nvPr/>
          </p:nvCxnSpPr>
          <p:spPr bwMode="auto">
            <a:xfrm rot="10800000" flipV="1">
              <a:off x="5659204" y="4000500"/>
              <a:ext cx="436796" cy="24629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grpSp>
      <p:grpSp>
        <p:nvGrpSpPr>
          <p:cNvPr id="59401" name="Group 189"/>
          <p:cNvGrpSpPr>
            <a:grpSpLocks/>
          </p:cNvGrpSpPr>
          <p:nvPr/>
        </p:nvGrpSpPr>
        <p:grpSpPr bwMode="auto">
          <a:xfrm>
            <a:off x="7620000" y="5029200"/>
            <a:ext cx="1600200" cy="1600200"/>
            <a:chOff x="4572000" y="4800600"/>
            <a:chExt cx="1905000" cy="1905000"/>
          </a:xfrm>
        </p:grpSpPr>
        <p:sp>
          <p:nvSpPr>
            <p:cNvPr id="59405" name="Oval 9"/>
            <p:cNvSpPr>
              <a:spLocks noChangeArrowheads="1"/>
            </p:cNvSpPr>
            <p:nvPr/>
          </p:nvSpPr>
          <p:spPr bwMode="auto">
            <a:xfrm>
              <a:off x="4572000" y="48006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sp>
          <p:nvSpPr>
            <p:cNvPr id="59406" name="Oval 9"/>
            <p:cNvSpPr>
              <a:spLocks noChangeArrowheads="1"/>
            </p:cNvSpPr>
            <p:nvPr/>
          </p:nvSpPr>
          <p:spPr bwMode="auto">
            <a:xfrm>
              <a:off x="6096000" y="48006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cxnSp>
          <p:nvCxnSpPr>
            <p:cNvPr id="59407" name="AutoShape 10"/>
            <p:cNvCxnSpPr>
              <a:cxnSpLocks noChangeShapeType="1"/>
              <a:stCxn id="59405" idx="6"/>
              <a:endCxn id="59410" idx="1"/>
            </p:cNvCxnSpPr>
            <p:nvPr/>
          </p:nvCxnSpPr>
          <p:spPr bwMode="auto">
            <a:xfrm>
              <a:off x="4953000" y="4991100"/>
              <a:ext cx="436796" cy="24629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cxnSp>
          <p:nvCxnSpPr>
            <p:cNvPr id="59408" name="AutoShape 10"/>
            <p:cNvCxnSpPr>
              <a:cxnSpLocks noChangeShapeType="1"/>
              <a:stCxn id="59406" idx="2"/>
              <a:endCxn id="59410" idx="7"/>
            </p:cNvCxnSpPr>
            <p:nvPr/>
          </p:nvCxnSpPr>
          <p:spPr bwMode="auto">
            <a:xfrm rot="10800000" flipV="1">
              <a:off x="5659204" y="4991100"/>
              <a:ext cx="436796" cy="24629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xmlns="">
                  <a:noFill/>
                </a14:hiddenFill>
              </a:ext>
            </a:extLst>
          </p:spPr>
        </p:cxnSp>
        <p:sp>
          <p:nvSpPr>
            <p:cNvPr id="149" name="Oval 9"/>
            <p:cNvSpPr>
              <a:spLocks noChangeArrowheads="1"/>
            </p:cNvSpPr>
            <p:nvPr/>
          </p:nvSpPr>
          <p:spPr bwMode="auto">
            <a:xfrm>
              <a:off x="5333623" y="6323844"/>
              <a:ext cx="381756" cy="381756"/>
            </a:xfrm>
            <a:prstGeom prst="ellipse">
              <a:avLst/>
            </a:prstGeom>
            <a:solidFill>
              <a:schemeClr val="bg2">
                <a:lumMod val="60000"/>
                <a:lumOff val="40000"/>
              </a:schemeClr>
            </a:solidFill>
            <a:ln w="28575">
              <a:solidFill>
                <a:schemeClr val="tx1"/>
              </a:solidFill>
              <a:round/>
              <a:headEnd/>
              <a:tailEnd/>
            </a:ln>
            <a:effectLst/>
          </p:spPr>
          <p:txBody>
            <a:bodyPr wrap="none" anchor="ctr"/>
            <a:lstStyle/>
            <a:p>
              <a:pPr algn="ctr">
                <a:defRPr/>
              </a:pPr>
              <a:endParaRPr lang="en-US" sz="2000">
                <a:latin typeface="Calibri"/>
                <a:ea typeface="+mn-ea"/>
                <a:cs typeface="Calibri"/>
              </a:endParaRPr>
            </a:p>
          </p:txBody>
        </p:sp>
        <p:sp>
          <p:nvSpPr>
            <p:cNvPr id="59410" name="Oval 9"/>
            <p:cNvSpPr>
              <a:spLocks noChangeArrowheads="1"/>
            </p:cNvSpPr>
            <p:nvPr/>
          </p:nvSpPr>
          <p:spPr bwMode="auto">
            <a:xfrm>
              <a:off x="5334000" y="5181600"/>
              <a:ext cx="381000" cy="381000"/>
            </a:xfrm>
            <a:prstGeom prst="ellipse">
              <a:avLst/>
            </a:prstGeom>
            <a:solidFill>
              <a:schemeClr val="bg1"/>
            </a:solidFill>
            <a:ln w="28575">
              <a:solidFill>
                <a:schemeClr val="tx1"/>
              </a:solidFill>
              <a:round/>
              <a:headEnd/>
              <a:tailEnd/>
            </a:ln>
          </p:spPr>
          <p:txBody>
            <a:bodyPr wrap="none" anchor="ctr"/>
            <a:lstStyle/>
            <a:p>
              <a:pPr algn="ctr"/>
              <a:endParaRPr lang="en-US" sz="2000">
                <a:latin typeface="Calibri"/>
                <a:cs typeface="Calibri"/>
              </a:endParaRPr>
            </a:p>
          </p:txBody>
        </p:sp>
        <p:sp>
          <p:nvSpPr>
            <p:cNvPr id="158" name="Freeform 157"/>
            <p:cNvSpPr/>
            <p:nvPr/>
          </p:nvSpPr>
          <p:spPr>
            <a:xfrm>
              <a:off x="5312833" y="5562223"/>
              <a:ext cx="468690" cy="752173"/>
            </a:xfrm>
            <a:custGeom>
              <a:avLst/>
              <a:gdLst>
                <a:gd name="connsiteX0" fmla="*/ 200186 w 467532"/>
                <a:gd name="connsiteY0" fmla="*/ 0 h 836909"/>
                <a:gd name="connsiteX1" fmla="*/ 440410 w 467532"/>
                <a:gd name="connsiteY1" fmla="*/ 294468 h 836909"/>
                <a:gd name="connsiteX2" fmla="*/ 37454 w 467532"/>
                <a:gd name="connsiteY2" fmla="*/ 503695 h 836909"/>
                <a:gd name="connsiteX3" fmla="*/ 215684 w 467532"/>
                <a:gd name="connsiteY3" fmla="*/ 836909 h 836909"/>
              </a:gdLst>
              <a:ahLst/>
              <a:cxnLst>
                <a:cxn ang="0">
                  <a:pos x="connsiteX0" y="connsiteY0"/>
                </a:cxn>
                <a:cxn ang="0">
                  <a:pos x="connsiteX1" y="connsiteY1"/>
                </a:cxn>
                <a:cxn ang="0">
                  <a:pos x="connsiteX2" y="connsiteY2"/>
                </a:cxn>
                <a:cxn ang="0">
                  <a:pos x="connsiteX3" y="connsiteY3"/>
                </a:cxn>
              </a:cxnLst>
              <a:rect l="l" t="t" r="r" b="b"/>
              <a:pathLst>
                <a:path w="467532" h="836909">
                  <a:moveTo>
                    <a:pt x="200186" y="0"/>
                  </a:moveTo>
                  <a:cubicBezTo>
                    <a:pt x="333859" y="105259"/>
                    <a:pt x="467532" y="210519"/>
                    <a:pt x="440410" y="294468"/>
                  </a:cubicBezTo>
                  <a:cubicBezTo>
                    <a:pt x="413288" y="378417"/>
                    <a:pt x="74908" y="413288"/>
                    <a:pt x="37454" y="503695"/>
                  </a:cubicBezTo>
                  <a:cubicBezTo>
                    <a:pt x="0" y="594102"/>
                    <a:pt x="107842" y="715505"/>
                    <a:pt x="215684" y="836909"/>
                  </a:cubicBezTo>
                </a:path>
              </a:pathLst>
            </a:custGeom>
            <a:ln w="28575">
              <a:solidFill>
                <a:schemeClr val="tx1"/>
              </a:solidFill>
              <a:tailEnd type="triangle" w="lg"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latin typeface="Calibri"/>
                <a:cs typeface="Calibri"/>
              </a:endParaRPr>
            </a:p>
          </p:txBody>
        </p:sp>
      </p:grpSp>
      <p:cxnSp>
        <p:nvCxnSpPr>
          <p:cNvPr id="182" name="Straight Connector 181"/>
          <p:cNvCxnSpPr/>
          <p:nvPr/>
        </p:nvCxnSpPr>
        <p:spPr>
          <a:xfrm rot="5400000">
            <a:off x="7124700" y="4076700"/>
            <a:ext cx="4954588"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9403" name="TextBox 190"/>
          <p:cNvSpPr txBox="1">
            <a:spLocks noChangeArrowheads="1"/>
          </p:cNvSpPr>
          <p:nvPr/>
        </p:nvSpPr>
        <p:spPr bwMode="auto">
          <a:xfrm>
            <a:off x="7620000" y="1371600"/>
            <a:ext cx="1600200"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solidFill>
                  <a:srgbClr val="00B050"/>
                </a:solidFill>
                <a:latin typeface="Calibri"/>
                <a:cs typeface="Calibri"/>
              </a:rPr>
              <a:t>Active Triples</a:t>
            </a:r>
          </a:p>
        </p:txBody>
      </p:sp>
      <p:sp>
        <p:nvSpPr>
          <p:cNvPr id="59404" name="TextBox 191"/>
          <p:cNvSpPr txBox="1">
            <a:spLocks noChangeArrowheads="1"/>
          </p:cNvSpPr>
          <p:nvPr/>
        </p:nvSpPr>
        <p:spPr bwMode="auto">
          <a:xfrm>
            <a:off x="9982200" y="1371600"/>
            <a:ext cx="17526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solidFill>
                  <a:srgbClr val="C00000"/>
                </a:solidFill>
                <a:latin typeface="Calibri"/>
                <a:cs typeface="Calibri"/>
              </a:rPr>
              <a:t>Inactive Triples</a:t>
            </a:r>
          </a:p>
        </p:txBody>
      </p:sp>
      <p:sp>
        <p:nvSpPr>
          <p:cNvPr id="2" name="椭圆 1">
            <a:extLst>
              <a:ext uri="{FF2B5EF4-FFF2-40B4-BE49-F238E27FC236}">
                <a16:creationId xmlns:a16="http://schemas.microsoft.com/office/drawing/2014/main" id="{F7106A11-4EB2-4092-B374-2531249F2B4E}"/>
              </a:ext>
            </a:extLst>
          </p:cNvPr>
          <p:cNvSpPr/>
          <p:nvPr/>
        </p:nvSpPr>
        <p:spPr>
          <a:xfrm>
            <a:off x="8265929" y="4404519"/>
            <a:ext cx="305301" cy="31321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a:extLst>
              <a:ext uri="{FF2B5EF4-FFF2-40B4-BE49-F238E27FC236}">
                <a16:creationId xmlns:a16="http://schemas.microsoft.com/office/drawing/2014/main" id="{0B143413-1A5E-40BC-8F7A-05A3390AAACA}"/>
              </a:ext>
            </a:extLst>
          </p:cNvPr>
          <p:cNvSpPr/>
          <p:nvPr/>
        </p:nvSpPr>
        <p:spPr>
          <a:xfrm>
            <a:off x="10621962" y="2037412"/>
            <a:ext cx="305301" cy="31321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a:extLst>
              <a:ext uri="{FF2B5EF4-FFF2-40B4-BE49-F238E27FC236}">
                <a16:creationId xmlns:a16="http://schemas.microsoft.com/office/drawing/2014/main" id="{940C990D-C1A8-4EBA-95E6-286B5F25DD6F}"/>
              </a:ext>
            </a:extLst>
          </p:cNvPr>
          <p:cNvSpPr/>
          <p:nvPr/>
        </p:nvSpPr>
        <p:spPr>
          <a:xfrm>
            <a:off x="10633350" y="2776538"/>
            <a:ext cx="305301" cy="31321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a:extLst>
              <a:ext uri="{FF2B5EF4-FFF2-40B4-BE49-F238E27FC236}">
                <a16:creationId xmlns:a16="http://schemas.microsoft.com/office/drawing/2014/main" id="{7673490A-96AC-4B64-9470-ACE047445F5A}"/>
              </a:ext>
            </a:extLst>
          </p:cNvPr>
          <p:cNvSpPr/>
          <p:nvPr/>
        </p:nvSpPr>
        <p:spPr>
          <a:xfrm>
            <a:off x="8274819" y="6316187"/>
            <a:ext cx="305301" cy="31321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7391400" y="3227774"/>
            <a:ext cx="4583532" cy="3384163"/>
          </a:xfrm>
          <a:prstGeom prst="rect">
            <a:avLst/>
          </a:prstGeom>
        </p:spPr>
      </p:pic>
      <p:sp>
        <p:nvSpPr>
          <p:cNvPr id="60417" name="Title 1"/>
          <p:cNvSpPr>
            <a:spLocks noGrp="1"/>
          </p:cNvSpPr>
          <p:nvPr>
            <p:ph type="title"/>
          </p:nvPr>
        </p:nvSpPr>
        <p:spPr/>
        <p:txBody>
          <a:bodyPr/>
          <a:lstStyle/>
          <a:p>
            <a:r>
              <a:rPr lang="en-US">
                <a:latin typeface="Calibri"/>
                <a:ea typeface="ＭＳ Ｐゴシック" pitchFamily="34" charset="-128"/>
                <a:cs typeface="Calibri"/>
              </a:rPr>
              <a:t>D-Separation</a:t>
            </a:r>
          </a:p>
        </p:txBody>
      </p:sp>
      <p:sp>
        <p:nvSpPr>
          <p:cNvPr id="28675" name="Content Placeholder 2"/>
          <p:cNvSpPr>
            <a:spLocks noGrp="1"/>
          </p:cNvSpPr>
          <p:nvPr>
            <p:ph idx="4294967295"/>
          </p:nvPr>
        </p:nvSpPr>
        <p:spPr>
          <a:xfrm>
            <a:off x="0" y="1371600"/>
            <a:ext cx="10591800" cy="4678363"/>
          </a:xfrm>
        </p:spPr>
        <p:txBody>
          <a:bodyPr/>
          <a:lstStyle/>
          <a:p>
            <a:pPr>
              <a:buFont typeface="Wingdings" charset="0"/>
              <a:buChar char="§"/>
              <a:defRPr/>
            </a:pPr>
            <a:r>
              <a:rPr lang="en-US" kern="0" dirty="0">
                <a:solidFill>
                  <a:srgbClr val="333399"/>
                </a:solidFill>
                <a:latin typeface="Calibri"/>
                <a:cs typeface="Calibri"/>
              </a:rPr>
              <a:t>Query:</a:t>
            </a:r>
            <a:r>
              <a:rPr lang="en-US" sz="2800" dirty="0">
                <a:latin typeface="Calibri"/>
                <a:cs typeface="Calibri"/>
              </a:rPr>
              <a:t>	</a:t>
            </a:r>
            <a:endParaRPr lang="en-US" sz="1200" dirty="0">
              <a:latin typeface="Calibri"/>
              <a:cs typeface="Calibri"/>
            </a:endParaRPr>
          </a:p>
          <a:p>
            <a:pPr>
              <a:buFont typeface="Wingdings" charset="0"/>
              <a:buChar char="§"/>
              <a:defRPr/>
            </a:pPr>
            <a:endParaRPr lang="en-US" sz="1600" dirty="0">
              <a:latin typeface="Calibri"/>
              <a:cs typeface="Calibri"/>
            </a:endParaRPr>
          </a:p>
          <a:p>
            <a:pPr>
              <a:buFont typeface="Wingdings" charset="0"/>
              <a:buChar char="§"/>
              <a:defRPr/>
            </a:pPr>
            <a:r>
              <a:rPr lang="en-US" kern="0" dirty="0">
                <a:solidFill>
                  <a:srgbClr val="333399"/>
                </a:solidFill>
                <a:latin typeface="Calibri"/>
                <a:cs typeface="Calibri"/>
              </a:rPr>
              <a:t>Check all (undirected!) paths between        and </a:t>
            </a:r>
          </a:p>
          <a:p>
            <a:pPr lvl="7">
              <a:buFont typeface="Wingdings" charset="0"/>
              <a:buChar char="§"/>
              <a:defRPr/>
            </a:pPr>
            <a:endParaRPr lang="en-US" sz="600" dirty="0">
              <a:latin typeface="Calibri"/>
              <a:cs typeface="Calibri"/>
            </a:endParaRPr>
          </a:p>
          <a:p>
            <a:pPr lvl="1">
              <a:buFont typeface="Wingdings" charset="0"/>
              <a:buChar char="§"/>
              <a:defRPr/>
            </a:pPr>
            <a:r>
              <a:rPr lang="en-US" sz="2400" dirty="0">
                <a:latin typeface="Calibri"/>
                <a:cs typeface="Calibri"/>
              </a:rPr>
              <a:t>If one or more active, then independence not guaranteed</a:t>
            </a:r>
          </a:p>
          <a:p>
            <a:pPr marL="0" indent="0">
              <a:buNone/>
              <a:defRPr/>
            </a:pPr>
            <a:r>
              <a:rPr lang="en-US" sz="2800" dirty="0">
                <a:latin typeface="Calibri"/>
                <a:cs typeface="Calibri"/>
              </a:rPr>
              <a:t>   </a:t>
            </a:r>
            <a:endParaRPr lang="en-US" dirty="0">
              <a:latin typeface="Calibri"/>
              <a:cs typeface="Calibri"/>
            </a:endParaRPr>
          </a:p>
          <a:p>
            <a:pPr lvl="1">
              <a:buFont typeface="Wingdings" charset="0"/>
              <a:buChar char="§"/>
              <a:defRPr/>
            </a:pPr>
            <a:endParaRPr lang="en-US" sz="2400" dirty="0">
              <a:latin typeface="Calibri"/>
              <a:cs typeface="Calibri"/>
            </a:endParaRPr>
          </a:p>
          <a:p>
            <a:pPr lvl="1">
              <a:buFont typeface="Wingdings" charset="0"/>
              <a:buChar char="§"/>
              <a:defRPr/>
            </a:pPr>
            <a:r>
              <a:rPr lang="en-US" sz="2400" dirty="0">
                <a:latin typeface="Calibri"/>
                <a:cs typeface="Calibri"/>
              </a:rPr>
              <a:t>Otherwise (i.e. if all paths are inactive),</a:t>
            </a:r>
          </a:p>
          <a:p>
            <a:pPr marL="457176" lvl="1" indent="0">
              <a:buNone/>
              <a:defRPr/>
            </a:pPr>
            <a:r>
              <a:rPr lang="en-US" sz="2400" dirty="0">
                <a:latin typeface="Calibri"/>
                <a:cs typeface="Calibri"/>
              </a:rPr>
              <a:t>    then independence is guaranteed</a:t>
            </a:r>
          </a:p>
        </p:txBody>
      </p:sp>
      <p:pic>
        <p:nvPicPr>
          <p:cNvPr id="60420" name="Picture 4"/>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2438400" y="1447800"/>
            <a:ext cx="4762500" cy="482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0421" name="Picture 5"/>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2209800" y="3429000"/>
            <a:ext cx="4511675"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0422" name="TextBox 8"/>
          <p:cNvSpPr txBox="1">
            <a:spLocks noChangeArrowheads="1"/>
          </p:cNvSpPr>
          <p:nvPr/>
        </p:nvSpPr>
        <p:spPr bwMode="auto">
          <a:xfrm>
            <a:off x="7299566" y="1219200"/>
            <a:ext cx="446131"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4400" dirty="0">
                <a:latin typeface="Calibri"/>
                <a:cs typeface="Calibri"/>
              </a:rPr>
              <a:t>?</a:t>
            </a:r>
          </a:p>
        </p:txBody>
      </p:sp>
      <p:pic>
        <p:nvPicPr>
          <p:cNvPr id="60423" name="Picture 11"/>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2286000" y="5503862"/>
            <a:ext cx="4343400" cy="439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 name="Picture 3" descr="TP_tmp.png"/>
          <p:cNvPicPr>
            <a:picLocks noChangeAspect="1"/>
          </p:cNvPicPr>
          <p:nvPr>
            <p:custDataLst>
              <p:tags r:id="rId1"/>
            </p:custDataLst>
          </p:nvPr>
        </p:nvPicPr>
        <p:blipFill>
          <a:blip r:embed="rId6" cstate="email">
            <a:extLst>
              <a:ext uri="{28A0092B-C50C-407E-A947-70E740481C1C}">
                <a14:useLocalDpi xmlns:a14="http://schemas.microsoft.com/office/drawing/2010/main" val="0"/>
              </a:ext>
            </a:extLst>
          </a:blip>
          <a:stretch>
            <a:fillRect/>
          </a:stretch>
        </p:blipFill>
        <p:spPr>
          <a:xfrm>
            <a:off x="5943600" y="2284800"/>
            <a:ext cx="457200" cy="381000"/>
          </a:xfrm>
          <a:prstGeom prst="rect">
            <a:avLst/>
          </a:prstGeom>
        </p:spPr>
      </p:pic>
      <p:pic>
        <p:nvPicPr>
          <p:cNvPr id="5" name="Picture 4" descr="TP_tmp.png"/>
          <p:cNvPicPr>
            <a:picLocks noChangeAspect="1"/>
          </p:cNvPicPr>
          <p:nvPr>
            <p:custDataLst>
              <p:tags r:id="rId2"/>
            </p:custDataLst>
          </p:nvPr>
        </p:nvPicPr>
        <p:blipFill>
          <a:blip r:embed="rId7" cstate="email">
            <a:extLst>
              <a:ext uri="{28A0092B-C50C-407E-A947-70E740481C1C}">
                <a14:useLocalDpi xmlns:a14="http://schemas.microsoft.com/office/drawing/2010/main" val="0"/>
              </a:ext>
            </a:extLst>
          </a:blip>
          <a:stretch>
            <a:fillRect/>
          </a:stretch>
        </p:blipFill>
        <p:spPr bwMode="auto">
          <a:xfrm>
            <a:off x="7165975" y="2284800"/>
            <a:ext cx="495300" cy="419100"/>
          </a:xfrm>
          <a:prstGeom prst="rect">
            <a:avLst/>
          </a:prstGeom>
          <a:noFill/>
          <a:ln/>
          <a:effectLst/>
          <a:extLst>
            <a:ext uri="{909E8E84-426E-40dd-AFC4-6F175D3DCCD1}">
              <a14:hiddenFill xmlns:a14="http://schemas.microsoft.com/office/drawing/2010/main" xmlns="">
                <a:pattFill prst="pct5">
                  <a:fgClr>
                    <a:srgbClr val="FFFFFF">
                      <a:alpha val="0"/>
                    </a:srgbClr>
                  </a:fgClr>
                  <a:bgClr>
                    <a:srgbClr val="FFFFFF">
                      <a:alpha val="0"/>
                    </a:srgbClr>
                  </a:bgClr>
                </a:pattFill>
              </a14:hiddenFill>
            </a:ext>
            <a:ext uri="{AF507438-7753-43e0-B8FC-AC1667EBCBE1}">
              <a14:hiddenEffects xmlns:a14="http://schemas.microsoft.com/office/drawing/2010/main" xmlns="">
                <a:effectLst>
                  <a:outerShdw blurRad="63500" dist="37357" dir="2700000" rotWithShape="0">
                    <a:scrgbClr r="0" g="0" b="0"/>
                  </a:outerShdw>
                </a:effectLst>
              </a14:hiddenEffects>
            </a:ext>
            <a:ext uri="{31F19639-BCED-4a60-ADC4-E9642A236FB7}">
              <a14:hiddenScene3d xmlns:a14="http://schemas.microsoft.com/office/drawing/2010/main" xmlns="">
                <a:camera prst="orthographicFront">
                  <a:rot lat="0" lon="0" rev="0"/>
                </a:camera>
                <a:lightRig rig="threePt" dir="t">
                  <a:rot lat="0" lon="0" rev="0"/>
                </a:lightRig>
              </a14:hiddenScene3d>
            </a:ext>
            <a:ext uri="{E45631CC-5BF2-4c18-A39C-3461C7D3F71A}">
              <a14:hiddenSp3d xmlns:a14="http://schemas.microsoft.com/office/drawing/2010/main" xmlns="" extrusionH="457200">
                <a:contourClr>
                  <a:srgbClr val="000000"/>
                </a:contourClr>
              </a14:hiddenSp3d>
            </a:ext>
            <a:ext uri="{53640926-AAD7-44d8-BBD7-CCE9431645EC}">
              <a14:shadowObscured xmlns:a14="http://schemas.microsoft.com/office/drawing/2010/main" xmlns=""/>
            </a:ext>
          </a:extLst>
        </p:spPr>
      </p:pic>
      <p:cxnSp>
        <p:nvCxnSpPr>
          <p:cNvPr id="3" name="Straight Connector 2"/>
          <p:cNvCxnSpPr/>
          <p:nvPr/>
        </p:nvCxnSpPr>
        <p:spPr>
          <a:xfrm>
            <a:off x="2895600" y="3429000"/>
            <a:ext cx="381000" cy="381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p:txBody>
          <a:bodyPr/>
          <a:lstStyle/>
          <a:p>
            <a:pPr eaLnBrk="1" hangingPunct="1"/>
            <a:r>
              <a:rPr lang="en-US">
                <a:ea typeface="ＭＳ Ｐゴシック" pitchFamily="34" charset="-128"/>
              </a:rPr>
              <a:t>Example</a:t>
            </a:r>
          </a:p>
        </p:txBody>
      </p:sp>
      <p:sp>
        <p:nvSpPr>
          <p:cNvPr id="1096709" name="Text Box 5"/>
          <p:cNvSpPr txBox="1">
            <a:spLocks noChangeArrowheads="1"/>
          </p:cNvSpPr>
          <p:nvPr/>
        </p:nvSpPr>
        <p:spPr bwMode="auto">
          <a:xfrm>
            <a:off x="4972050" y="2438400"/>
            <a:ext cx="1524000"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2800" i="1" dirty="0">
                <a:solidFill>
                  <a:srgbClr val="CC0000"/>
                </a:solidFill>
                <a:latin typeface="Calibri"/>
                <a:cs typeface="Calibri"/>
              </a:rPr>
              <a:t>Yes</a:t>
            </a:r>
          </a:p>
        </p:txBody>
      </p:sp>
      <p:pic>
        <p:nvPicPr>
          <p:cNvPr id="17" name="Picture 16" descr="txp_fig"/>
          <p:cNvPicPr>
            <a:picLocks noChangeAspect="1"/>
          </p:cNvPicPr>
          <p:nvPr>
            <p:custDataLst>
              <p:tags r:id="rId1"/>
            </p:custDataLst>
          </p:nvPr>
        </p:nvPicPr>
        <p:blipFill>
          <a:blip r:embed="rId6" cstate="email">
            <a:extLst>
              <a:ext uri="{28A0092B-C50C-407E-A947-70E740481C1C}">
                <a14:useLocalDpi xmlns:a14="http://schemas.microsoft.com/office/drawing/2010/main" val="0"/>
              </a:ext>
            </a:extLst>
          </a:blip>
          <a:srcRect/>
          <a:stretch>
            <a:fillRect/>
          </a:stretch>
        </p:blipFill>
        <p:spPr bwMode="auto">
          <a:xfrm>
            <a:off x="3103563" y="2578100"/>
            <a:ext cx="981075" cy="2619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8" name="Picture 17" descr="txp_fig"/>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3086100" y="3181350"/>
            <a:ext cx="1347788"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1446" name="Rectangle 8"/>
          <p:cNvSpPr>
            <a:spLocks noChangeArrowheads="1"/>
          </p:cNvSpPr>
          <p:nvPr/>
        </p:nvSpPr>
        <p:spPr bwMode="auto">
          <a:xfrm>
            <a:off x="6096000" y="4267200"/>
            <a:ext cx="1447800" cy="22860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61448" name="Oval 4"/>
          <p:cNvSpPr>
            <a:spLocks noChangeArrowheads="1"/>
          </p:cNvSpPr>
          <p:nvPr/>
        </p:nvSpPr>
        <p:spPr bwMode="auto">
          <a:xfrm>
            <a:off x="7772400" y="2362200"/>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R</a:t>
            </a:r>
            <a:endParaRPr lang="en-US" sz="2400" baseline="-25000">
              <a:latin typeface="Times New Roman" pitchFamily="18" charset="0"/>
              <a:cs typeface="Times New Roman" pitchFamily="18" charset="0"/>
            </a:endParaRPr>
          </a:p>
        </p:txBody>
      </p:sp>
      <p:sp>
        <p:nvSpPr>
          <p:cNvPr id="61449" name="Oval 5"/>
          <p:cNvSpPr>
            <a:spLocks noChangeArrowheads="1"/>
          </p:cNvSpPr>
          <p:nvPr/>
        </p:nvSpPr>
        <p:spPr bwMode="auto">
          <a:xfrm>
            <a:off x="8382000" y="3733800"/>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T</a:t>
            </a:r>
            <a:endParaRPr lang="en-US" sz="2400" baseline="-25000">
              <a:latin typeface="Times New Roman" pitchFamily="18" charset="0"/>
              <a:cs typeface="Times New Roman" pitchFamily="18" charset="0"/>
            </a:endParaRPr>
          </a:p>
        </p:txBody>
      </p:sp>
      <p:cxnSp>
        <p:nvCxnSpPr>
          <p:cNvPr id="61450" name="AutoShape 6"/>
          <p:cNvCxnSpPr>
            <a:cxnSpLocks noChangeShapeType="1"/>
            <a:stCxn id="61448" idx="4"/>
            <a:endCxn id="61449" idx="1"/>
          </p:cNvCxnSpPr>
          <p:nvPr/>
        </p:nvCxnSpPr>
        <p:spPr bwMode="auto">
          <a:xfrm>
            <a:off x="8039100" y="2909888"/>
            <a:ext cx="420688" cy="887412"/>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xmlns="">
                <a:noFill/>
              </a14:hiddenFill>
            </a:ext>
          </a:extLst>
        </p:spPr>
      </p:cxnSp>
      <p:sp>
        <p:nvSpPr>
          <p:cNvPr id="61451" name="Oval 7"/>
          <p:cNvSpPr>
            <a:spLocks noChangeArrowheads="1"/>
          </p:cNvSpPr>
          <p:nvPr/>
        </p:nvSpPr>
        <p:spPr bwMode="auto">
          <a:xfrm>
            <a:off x="9220200" y="2362200"/>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B</a:t>
            </a:r>
          </a:p>
        </p:txBody>
      </p:sp>
      <p:cxnSp>
        <p:nvCxnSpPr>
          <p:cNvPr id="61452" name="AutoShape 8"/>
          <p:cNvCxnSpPr>
            <a:cxnSpLocks noChangeShapeType="1"/>
            <a:stCxn id="61451" idx="4"/>
            <a:endCxn id="61449" idx="7"/>
          </p:cNvCxnSpPr>
          <p:nvPr/>
        </p:nvCxnSpPr>
        <p:spPr bwMode="auto">
          <a:xfrm flipH="1">
            <a:off x="8837613" y="2909888"/>
            <a:ext cx="649287" cy="887412"/>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xmlns="">
                <a:noFill/>
              </a14:hiddenFill>
            </a:ext>
          </a:extLst>
        </p:spPr>
      </p:cxnSp>
      <p:sp>
        <p:nvSpPr>
          <p:cNvPr id="61453" name="Oval 13"/>
          <p:cNvSpPr>
            <a:spLocks noChangeArrowheads="1"/>
          </p:cNvSpPr>
          <p:nvPr/>
        </p:nvSpPr>
        <p:spPr bwMode="auto">
          <a:xfrm>
            <a:off x="8382000" y="5105400"/>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T</a:t>
            </a:r>
            <a:r>
              <a:rPr lang="ja-JP" altLang="en-US" sz="2400" i="1">
                <a:latin typeface="Times New Roman" pitchFamily="18" charset="0"/>
                <a:cs typeface="Times New Roman" pitchFamily="18" charset="0"/>
              </a:rPr>
              <a:t>’</a:t>
            </a:r>
            <a:endParaRPr lang="en-US" sz="2400" i="1">
              <a:latin typeface="Times New Roman" pitchFamily="18" charset="0"/>
              <a:cs typeface="Times New Roman" pitchFamily="18" charset="0"/>
            </a:endParaRPr>
          </a:p>
        </p:txBody>
      </p:sp>
      <p:cxnSp>
        <p:nvCxnSpPr>
          <p:cNvPr id="61454" name="AutoShape 14"/>
          <p:cNvCxnSpPr>
            <a:cxnSpLocks noChangeShapeType="1"/>
            <a:stCxn id="61449" idx="4"/>
            <a:endCxn id="61453" idx="0"/>
          </p:cNvCxnSpPr>
          <p:nvPr/>
        </p:nvCxnSpPr>
        <p:spPr bwMode="auto">
          <a:xfrm>
            <a:off x="8648700" y="4281488"/>
            <a:ext cx="0" cy="809625"/>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xmlns="">
                <a:noFill/>
              </a14:hiddenFill>
            </a:ext>
          </a:extLst>
        </p:spPr>
      </p:cxnSp>
      <p:pic>
        <p:nvPicPr>
          <p:cNvPr id="20" name="Picture 19" descr="txp_fig"/>
          <p:cNvPicPr>
            <a:picLocks noChangeAspect="1"/>
          </p:cNvPicPr>
          <p:nvPr>
            <p:custDataLst>
              <p:tags r:id="rId3"/>
            </p:custDataLst>
          </p:nvPr>
        </p:nvPicPr>
        <p:blipFill>
          <a:blip r:embed="rId8" cstate="email">
            <a:extLst>
              <a:ext uri="{28A0092B-C50C-407E-A947-70E740481C1C}">
                <a14:useLocalDpi xmlns:a14="http://schemas.microsoft.com/office/drawing/2010/main" val="0"/>
              </a:ext>
            </a:extLst>
          </a:blip>
          <a:srcRect/>
          <a:stretch>
            <a:fillRect/>
          </a:stretch>
        </p:blipFill>
        <p:spPr bwMode="auto">
          <a:xfrm>
            <a:off x="3059113" y="3810000"/>
            <a:ext cx="1436687" cy="4206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670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70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p:txBody>
          <a:bodyPr/>
          <a:lstStyle/>
          <a:p>
            <a:pPr eaLnBrk="1" hangingPunct="1"/>
            <a:r>
              <a:rPr lang="en-US">
                <a:ea typeface="ＭＳ Ｐゴシック" pitchFamily="34" charset="-128"/>
              </a:rPr>
              <a:t>Example</a:t>
            </a:r>
          </a:p>
        </p:txBody>
      </p:sp>
      <p:sp>
        <p:nvSpPr>
          <p:cNvPr id="63491" name="Oval 4"/>
          <p:cNvSpPr>
            <a:spLocks noChangeArrowheads="1"/>
          </p:cNvSpPr>
          <p:nvPr/>
        </p:nvSpPr>
        <p:spPr bwMode="auto">
          <a:xfrm>
            <a:off x="7831137" y="2819400"/>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R</a:t>
            </a:r>
            <a:endParaRPr lang="en-US" sz="2400" baseline="-25000">
              <a:latin typeface="Times New Roman" pitchFamily="18" charset="0"/>
              <a:cs typeface="Times New Roman" pitchFamily="18" charset="0"/>
            </a:endParaRPr>
          </a:p>
        </p:txBody>
      </p:sp>
      <p:sp>
        <p:nvSpPr>
          <p:cNvPr id="63492" name="Oval 5"/>
          <p:cNvSpPr>
            <a:spLocks noChangeArrowheads="1"/>
          </p:cNvSpPr>
          <p:nvPr/>
        </p:nvSpPr>
        <p:spPr bwMode="auto">
          <a:xfrm>
            <a:off x="8440737" y="4191000"/>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T</a:t>
            </a:r>
            <a:endParaRPr lang="en-US" sz="2400" baseline="-25000">
              <a:latin typeface="Times New Roman" pitchFamily="18" charset="0"/>
              <a:cs typeface="Times New Roman" pitchFamily="18" charset="0"/>
            </a:endParaRPr>
          </a:p>
        </p:txBody>
      </p:sp>
      <p:cxnSp>
        <p:nvCxnSpPr>
          <p:cNvPr id="63493" name="AutoShape 6"/>
          <p:cNvCxnSpPr>
            <a:cxnSpLocks noChangeShapeType="1"/>
            <a:stCxn id="63491" idx="4"/>
            <a:endCxn id="63492" idx="1"/>
          </p:cNvCxnSpPr>
          <p:nvPr/>
        </p:nvCxnSpPr>
        <p:spPr bwMode="auto">
          <a:xfrm>
            <a:off x="8097837" y="3367088"/>
            <a:ext cx="420688" cy="887412"/>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xmlns="">
                <a:noFill/>
              </a14:hiddenFill>
            </a:ext>
          </a:extLst>
        </p:spPr>
      </p:cxnSp>
      <p:sp>
        <p:nvSpPr>
          <p:cNvPr id="63494" name="Oval 7"/>
          <p:cNvSpPr>
            <a:spLocks noChangeArrowheads="1"/>
          </p:cNvSpPr>
          <p:nvPr/>
        </p:nvSpPr>
        <p:spPr bwMode="auto">
          <a:xfrm>
            <a:off x="9278937" y="2819400"/>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B</a:t>
            </a:r>
          </a:p>
        </p:txBody>
      </p:sp>
      <p:cxnSp>
        <p:nvCxnSpPr>
          <p:cNvPr id="63495" name="AutoShape 8"/>
          <p:cNvCxnSpPr>
            <a:cxnSpLocks noChangeShapeType="1"/>
            <a:stCxn id="63494" idx="4"/>
            <a:endCxn id="63492" idx="7"/>
          </p:cNvCxnSpPr>
          <p:nvPr/>
        </p:nvCxnSpPr>
        <p:spPr bwMode="auto">
          <a:xfrm flipH="1">
            <a:off x="8896350" y="3367088"/>
            <a:ext cx="649287" cy="887412"/>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xmlns="">
                <a:noFill/>
              </a14:hiddenFill>
            </a:ext>
          </a:extLst>
        </p:spPr>
      </p:cxnSp>
      <p:sp>
        <p:nvSpPr>
          <p:cNvPr id="63496" name="Oval 9"/>
          <p:cNvSpPr>
            <a:spLocks noChangeArrowheads="1"/>
          </p:cNvSpPr>
          <p:nvPr/>
        </p:nvSpPr>
        <p:spPr bwMode="auto">
          <a:xfrm>
            <a:off x="7259637" y="4176713"/>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D</a:t>
            </a:r>
            <a:endParaRPr lang="en-US" sz="2400" baseline="-25000">
              <a:latin typeface="Times New Roman" pitchFamily="18" charset="0"/>
              <a:cs typeface="Times New Roman" pitchFamily="18" charset="0"/>
            </a:endParaRPr>
          </a:p>
        </p:txBody>
      </p:sp>
      <p:cxnSp>
        <p:nvCxnSpPr>
          <p:cNvPr id="63497" name="AutoShape 10"/>
          <p:cNvCxnSpPr>
            <a:cxnSpLocks noChangeShapeType="1"/>
            <a:stCxn id="63491" idx="4"/>
            <a:endCxn id="63496" idx="0"/>
          </p:cNvCxnSpPr>
          <p:nvPr/>
        </p:nvCxnSpPr>
        <p:spPr bwMode="auto">
          <a:xfrm flipH="1">
            <a:off x="7526337" y="3367088"/>
            <a:ext cx="571500" cy="795337"/>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xmlns="">
                <a:noFill/>
              </a14:hiddenFill>
            </a:ext>
          </a:extLst>
        </p:spPr>
      </p:cxnSp>
      <p:sp>
        <p:nvSpPr>
          <p:cNvPr id="63498" name="Oval 11"/>
          <p:cNvSpPr>
            <a:spLocks noChangeArrowheads="1"/>
          </p:cNvSpPr>
          <p:nvPr/>
        </p:nvSpPr>
        <p:spPr bwMode="auto">
          <a:xfrm>
            <a:off x="7832725" y="1676400"/>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L</a:t>
            </a:r>
          </a:p>
        </p:txBody>
      </p:sp>
      <p:cxnSp>
        <p:nvCxnSpPr>
          <p:cNvPr id="63499" name="AutoShape 12"/>
          <p:cNvCxnSpPr>
            <a:cxnSpLocks noChangeShapeType="1"/>
            <a:stCxn id="63498" idx="4"/>
            <a:endCxn id="63491" idx="0"/>
          </p:cNvCxnSpPr>
          <p:nvPr/>
        </p:nvCxnSpPr>
        <p:spPr bwMode="auto">
          <a:xfrm flipH="1">
            <a:off x="8097837" y="2224088"/>
            <a:ext cx="1588" cy="581025"/>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xmlns="">
                <a:noFill/>
              </a14:hiddenFill>
            </a:ext>
          </a:extLst>
        </p:spPr>
      </p:cxnSp>
      <p:sp>
        <p:nvSpPr>
          <p:cNvPr id="63500" name="Oval 13"/>
          <p:cNvSpPr>
            <a:spLocks noChangeArrowheads="1"/>
          </p:cNvSpPr>
          <p:nvPr/>
        </p:nvSpPr>
        <p:spPr bwMode="auto">
          <a:xfrm>
            <a:off x="8440737" y="5562600"/>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T</a:t>
            </a:r>
            <a:r>
              <a:rPr lang="ja-JP" altLang="en-US" sz="2400" i="1">
                <a:latin typeface="Times New Roman" pitchFamily="18" charset="0"/>
                <a:cs typeface="Times New Roman" pitchFamily="18" charset="0"/>
              </a:rPr>
              <a:t>’</a:t>
            </a:r>
            <a:endParaRPr lang="en-US" sz="2400" i="1">
              <a:latin typeface="Times New Roman" pitchFamily="18" charset="0"/>
              <a:cs typeface="Times New Roman" pitchFamily="18" charset="0"/>
            </a:endParaRPr>
          </a:p>
        </p:txBody>
      </p:sp>
      <p:cxnSp>
        <p:nvCxnSpPr>
          <p:cNvPr id="63501" name="AutoShape 14"/>
          <p:cNvCxnSpPr>
            <a:cxnSpLocks noChangeShapeType="1"/>
            <a:stCxn id="63492" idx="4"/>
            <a:endCxn id="63500" idx="0"/>
          </p:cNvCxnSpPr>
          <p:nvPr/>
        </p:nvCxnSpPr>
        <p:spPr bwMode="auto">
          <a:xfrm>
            <a:off x="8707437" y="4738688"/>
            <a:ext cx="0" cy="809625"/>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xmlns="">
                <a:noFill/>
              </a14:hiddenFill>
            </a:ext>
          </a:extLst>
        </p:spPr>
      </p:cxnSp>
      <p:pic>
        <p:nvPicPr>
          <p:cNvPr id="1097743" name="Picture 15" descr="txp_fig"/>
          <p:cNvPicPr>
            <a:picLocks noChangeAspect="1" noChangeArrowheads="1"/>
          </p:cNvPicPr>
          <p:nvPr>
            <p:custDataLst>
              <p:tags r:id="rId1"/>
            </p:custDataLst>
          </p:nvPr>
        </p:nvPicPr>
        <p:blipFill>
          <a:blip r:embed="rId7" cstate="email">
            <a:extLst>
              <a:ext uri="{28A0092B-C50C-407E-A947-70E740481C1C}">
                <a14:useLocalDpi xmlns:a14="http://schemas.microsoft.com/office/drawing/2010/main" val="0"/>
              </a:ext>
            </a:extLst>
          </a:blip>
          <a:srcRect/>
          <a:stretch>
            <a:fillRect/>
          </a:stretch>
        </p:blipFill>
        <p:spPr bwMode="auto">
          <a:xfrm>
            <a:off x="2871787" y="2514600"/>
            <a:ext cx="1384300" cy="4206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97744" name="Picture 16" descr="txp_fig"/>
          <p:cNvPicPr>
            <a:picLocks noChangeAspect="1" noChangeArrowheads="1"/>
          </p:cNvPicPr>
          <p:nvPr>
            <p:custDataLst>
              <p:tags r:id="rId2"/>
            </p:custDataLst>
          </p:nvPr>
        </p:nvPicPr>
        <p:blipFill>
          <a:blip r:embed="rId8" cstate="email">
            <a:extLst>
              <a:ext uri="{28A0092B-C50C-407E-A947-70E740481C1C}">
                <a14:useLocalDpi xmlns:a14="http://schemas.microsoft.com/office/drawing/2010/main" val="0"/>
              </a:ext>
            </a:extLst>
          </a:blip>
          <a:srcRect/>
          <a:stretch>
            <a:fillRect/>
          </a:stretch>
        </p:blipFill>
        <p:spPr bwMode="auto">
          <a:xfrm>
            <a:off x="2878137" y="3238500"/>
            <a:ext cx="946150" cy="263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97745" name="Picture 17" descr="txp_fig"/>
          <p:cNvPicPr>
            <a:picLocks noChangeAspect="1" noChangeArrowheads="1"/>
          </p:cNvPicPr>
          <p:nvPr>
            <p:custDataLst>
              <p:tags r:id="rId3"/>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2859087" y="3860800"/>
            <a:ext cx="13144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97746" name="Picture 18" descr="txp_fig"/>
          <p:cNvPicPr>
            <a:picLocks noChangeAspect="1" noChangeArrowheads="1"/>
          </p:cNvPicPr>
          <p:nvPr>
            <p:custDataLst>
              <p:tags r:id="rId4"/>
            </p:custDataLst>
          </p:nvPr>
        </p:nvPicPr>
        <p:blipFill>
          <a:blip r:embed="rId10" cstate="email">
            <a:extLst>
              <a:ext uri="{28A0092B-C50C-407E-A947-70E740481C1C}">
                <a14:useLocalDpi xmlns:a14="http://schemas.microsoft.com/office/drawing/2010/main" val="0"/>
              </a:ext>
            </a:extLst>
          </a:blip>
          <a:srcRect/>
          <a:stretch>
            <a:fillRect/>
          </a:stretch>
        </p:blipFill>
        <p:spPr bwMode="auto">
          <a:xfrm>
            <a:off x="2838450" y="4514850"/>
            <a:ext cx="1401762" cy="4206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97747" name="Picture 19" descr="txp_fig"/>
          <p:cNvPicPr>
            <a:picLocks noChangeAspect="1" noChangeArrowheads="1"/>
          </p:cNvPicPr>
          <p:nvPr>
            <p:custDataLst>
              <p:tags r:id="rId5"/>
            </p:custDataLst>
          </p:nvPr>
        </p:nvPicPr>
        <p:blipFill>
          <a:blip r:embed="rId11" cstate="print">
            <a:extLst>
              <a:ext uri="{28A0092B-C50C-407E-A947-70E740481C1C}">
                <a14:useLocalDpi xmlns:a14="http://schemas.microsoft.com/office/drawing/2010/main" val="0"/>
              </a:ext>
            </a:extLst>
          </a:blip>
          <a:srcRect/>
          <a:stretch>
            <a:fillRect/>
          </a:stretch>
        </p:blipFill>
        <p:spPr bwMode="auto">
          <a:xfrm>
            <a:off x="2819400" y="5295900"/>
            <a:ext cx="173513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97748" name="Text Box 20"/>
          <p:cNvSpPr txBox="1">
            <a:spLocks noChangeArrowheads="1"/>
          </p:cNvSpPr>
          <p:nvPr/>
        </p:nvSpPr>
        <p:spPr bwMode="auto">
          <a:xfrm>
            <a:off x="4935537" y="2438400"/>
            <a:ext cx="1524000"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2800" i="1">
                <a:solidFill>
                  <a:srgbClr val="CC0000"/>
                </a:solidFill>
                <a:latin typeface="Calibri"/>
                <a:cs typeface="Calibri"/>
              </a:rPr>
              <a:t>Yes</a:t>
            </a:r>
          </a:p>
        </p:txBody>
      </p:sp>
      <p:sp>
        <p:nvSpPr>
          <p:cNvPr id="1097749" name="Text Box 21"/>
          <p:cNvSpPr txBox="1">
            <a:spLocks noChangeArrowheads="1"/>
          </p:cNvSpPr>
          <p:nvPr/>
        </p:nvSpPr>
        <p:spPr bwMode="auto">
          <a:xfrm>
            <a:off x="4935537" y="3048000"/>
            <a:ext cx="1524000"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2800" i="1">
                <a:solidFill>
                  <a:srgbClr val="CC0000"/>
                </a:solidFill>
                <a:latin typeface="Calibri"/>
                <a:cs typeface="Calibri"/>
              </a:rPr>
              <a:t>Yes</a:t>
            </a:r>
          </a:p>
        </p:txBody>
      </p:sp>
      <p:sp>
        <p:nvSpPr>
          <p:cNvPr id="1097750" name="Text Box 22"/>
          <p:cNvSpPr txBox="1">
            <a:spLocks noChangeArrowheads="1"/>
          </p:cNvSpPr>
          <p:nvPr/>
        </p:nvSpPr>
        <p:spPr bwMode="auto">
          <a:xfrm>
            <a:off x="4935537" y="5105400"/>
            <a:ext cx="1524000"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2800" i="1">
                <a:solidFill>
                  <a:srgbClr val="CC0000"/>
                </a:solidFill>
                <a:latin typeface="Calibri"/>
                <a:cs typeface="Calibri"/>
              </a:rPr>
              <a:t>Yes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977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77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9774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9774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9774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9774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09774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977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748" grpId="0"/>
      <p:bldP spid="1097749" grpId="0"/>
      <p:bldP spid="1097750"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p:txBody>
          <a:bodyPr/>
          <a:lstStyle/>
          <a:p>
            <a:pPr eaLnBrk="1" hangingPunct="1"/>
            <a:r>
              <a:rPr lang="en-US">
                <a:ea typeface="ＭＳ Ｐゴシック" pitchFamily="34" charset="-128"/>
              </a:rPr>
              <a:t>Example</a:t>
            </a:r>
          </a:p>
        </p:txBody>
      </p:sp>
      <p:sp>
        <p:nvSpPr>
          <p:cNvPr id="1098755" name="Rectangle 3"/>
          <p:cNvSpPr>
            <a:spLocks noGrp="1" noChangeArrowheads="1"/>
          </p:cNvSpPr>
          <p:nvPr>
            <p:ph idx="4294967295"/>
          </p:nvPr>
        </p:nvSpPr>
        <p:spPr>
          <a:xfrm>
            <a:off x="812800" y="1371600"/>
            <a:ext cx="11379200" cy="4729163"/>
          </a:xfrm>
        </p:spPr>
        <p:txBody>
          <a:bodyPr/>
          <a:lstStyle/>
          <a:p>
            <a:pPr eaLnBrk="1" hangingPunct="1"/>
            <a:r>
              <a:rPr lang="en-US" kern="0" dirty="0">
                <a:solidFill>
                  <a:srgbClr val="333399"/>
                </a:solidFill>
                <a:latin typeface="Calibri"/>
                <a:cs typeface="Calibri"/>
              </a:rPr>
              <a:t>Variables:</a:t>
            </a:r>
          </a:p>
          <a:p>
            <a:pPr lvl="1" eaLnBrk="1" hangingPunct="1"/>
            <a:r>
              <a:rPr lang="en-US" dirty="0">
                <a:ea typeface="ＭＳ Ｐゴシック" pitchFamily="34" charset="-128"/>
              </a:rPr>
              <a:t>R: Raining</a:t>
            </a:r>
          </a:p>
          <a:p>
            <a:pPr lvl="1" eaLnBrk="1" hangingPunct="1"/>
            <a:r>
              <a:rPr lang="en-US" dirty="0">
                <a:ea typeface="ＭＳ Ｐゴシック" pitchFamily="34" charset="-128"/>
              </a:rPr>
              <a:t>T: Traffic</a:t>
            </a:r>
          </a:p>
          <a:p>
            <a:pPr lvl="1" eaLnBrk="1" hangingPunct="1"/>
            <a:r>
              <a:rPr lang="en-US" dirty="0">
                <a:ea typeface="ＭＳ Ｐゴシック" pitchFamily="34" charset="-128"/>
              </a:rPr>
              <a:t>D: Roof drips</a:t>
            </a:r>
          </a:p>
          <a:p>
            <a:pPr lvl="1" eaLnBrk="1" hangingPunct="1"/>
            <a:r>
              <a:rPr lang="en-US" dirty="0">
                <a:ea typeface="ＭＳ Ｐゴシック" pitchFamily="34" charset="-128"/>
              </a:rPr>
              <a:t>S: I’</a:t>
            </a:r>
            <a:r>
              <a:rPr lang="en-US" altLang="ja-JP" dirty="0">
                <a:ea typeface="ＭＳ Ｐゴシック" pitchFamily="34" charset="-128"/>
              </a:rPr>
              <a:t>m sad</a:t>
            </a:r>
          </a:p>
          <a:p>
            <a:r>
              <a:rPr lang="en-US" kern="0" dirty="0">
                <a:solidFill>
                  <a:srgbClr val="333399"/>
                </a:solidFill>
                <a:latin typeface="Calibri"/>
                <a:cs typeface="Calibri"/>
              </a:rPr>
              <a:t>Questions:</a:t>
            </a:r>
          </a:p>
          <a:p>
            <a:pPr lvl="1" eaLnBrk="1" hangingPunct="1"/>
            <a:endParaRPr lang="en-US" dirty="0">
              <a:ea typeface="ＭＳ Ｐゴシック" pitchFamily="34" charset="-128"/>
            </a:endParaRPr>
          </a:p>
        </p:txBody>
      </p:sp>
      <p:sp>
        <p:nvSpPr>
          <p:cNvPr id="64515" name="Oval 4"/>
          <p:cNvSpPr>
            <a:spLocks noChangeArrowheads="1"/>
          </p:cNvSpPr>
          <p:nvPr/>
        </p:nvSpPr>
        <p:spPr bwMode="auto">
          <a:xfrm>
            <a:off x="7239000" y="3352800"/>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T</a:t>
            </a:r>
            <a:endParaRPr lang="en-US" sz="2400" baseline="-25000">
              <a:latin typeface="Times New Roman" pitchFamily="18" charset="0"/>
              <a:cs typeface="Times New Roman" pitchFamily="18" charset="0"/>
            </a:endParaRPr>
          </a:p>
        </p:txBody>
      </p:sp>
      <p:sp>
        <p:nvSpPr>
          <p:cNvPr id="64516" name="Oval 5"/>
          <p:cNvSpPr>
            <a:spLocks noChangeArrowheads="1"/>
          </p:cNvSpPr>
          <p:nvPr/>
        </p:nvSpPr>
        <p:spPr bwMode="auto">
          <a:xfrm>
            <a:off x="7924800" y="4495800"/>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S</a:t>
            </a:r>
          </a:p>
        </p:txBody>
      </p:sp>
      <p:cxnSp>
        <p:nvCxnSpPr>
          <p:cNvPr id="64517" name="AutoShape 6"/>
          <p:cNvCxnSpPr>
            <a:cxnSpLocks noChangeShapeType="1"/>
            <a:stCxn id="64515" idx="4"/>
            <a:endCxn id="64516" idx="1"/>
          </p:cNvCxnSpPr>
          <p:nvPr/>
        </p:nvCxnSpPr>
        <p:spPr bwMode="auto">
          <a:xfrm>
            <a:off x="7505700" y="3900488"/>
            <a:ext cx="496888" cy="658812"/>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xmlns="">
                <a:noFill/>
              </a14:hiddenFill>
            </a:ext>
          </a:extLst>
        </p:spPr>
      </p:cxnSp>
      <p:sp>
        <p:nvSpPr>
          <p:cNvPr id="64518" name="Oval 7"/>
          <p:cNvSpPr>
            <a:spLocks noChangeArrowheads="1"/>
          </p:cNvSpPr>
          <p:nvPr/>
        </p:nvSpPr>
        <p:spPr bwMode="auto">
          <a:xfrm>
            <a:off x="8686800" y="3352800"/>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D</a:t>
            </a:r>
          </a:p>
        </p:txBody>
      </p:sp>
      <p:cxnSp>
        <p:nvCxnSpPr>
          <p:cNvPr id="64519" name="AutoShape 8"/>
          <p:cNvCxnSpPr>
            <a:cxnSpLocks noChangeShapeType="1"/>
            <a:stCxn id="64518" idx="4"/>
            <a:endCxn id="64516" idx="7"/>
          </p:cNvCxnSpPr>
          <p:nvPr/>
        </p:nvCxnSpPr>
        <p:spPr bwMode="auto">
          <a:xfrm flipH="1">
            <a:off x="8380413" y="3900488"/>
            <a:ext cx="573087" cy="658812"/>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xmlns="">
                <a:noFill/>
              </a14:hiddenFill>
            </a:ext>
          </a:extLst>
        </p:spPr>
      </p:cxnSp>
      <p:sp>
        <p:nvSpPr>
          <p:cNvPr id="64520" name="Oval 9"/>
          <p:cNvSpPr>
            <a:spLocks noChangeArrowheads="1"/>
          </p:cNvSpPr>
          <p:nvPr/>
        </p:nvSpPr>
        <p:spPr bwMode="auto">
          <a:xfrm>
            <a:off x="7924800" y="2209800"/>
            <a:ext cx="533400" cy="533400"/>
          </a:xfrm>
          <a:prstGeom prst="ellipse">
            <a:avLst/>
          </a:prstGeom>
          <a:solidFill>
            <a:schemeClr val="bg1"/>
          </a:solidFill>
          <a:ln w="28575">
            <a:solidFill>
              <a:schemeClr val="tx1"/>
            </a:solidFill>
            <a:round/>
            <a:headEnd/>
            <a:tailEnd/>
          </a:ln>
        </p:spPr>
        <p:txBody>
          <a:bodyPr wrap="none" anchor="ctr"/>
          <a:lstStyle/>
          <a:p>
            <a:pPr algn="ctr"/>
            <a:r>
              <a:rPr lang="en-US" sz="2400" i="1">
                <a:latin typeface="Times New Roman" pitchFamily="18" charset="0"/>
                <a:cs typeface="Times New Roman" pitchFamily="18" charset="0"/>
              </a:rPr>
              <a:t>R</a:t>
            </a:r>
          </a:p>
        </p:txBody>
      </p:sp>
      <p:cxnSp>
        <p:nvCxnSpPr>
          <p:cNvPr id="64521" name="AutoShape 10"/>
          <p:cNvCxnSpPr>
            <a:cxnSpLocks noChangeShapeType="1"/>
            <a:stCxn id="64520" idx="3"/>
            <a:endCxn id="64515" idx="0"/>
          </p:cNvCxnSpPr>
          <p:nvPr/>
        </p:nvCxnSpPr>
        <p:spPr bwMode="auto">
          <a:xfrm flipH="1">
            <a:off x="7505700" y="2679700"/>
            <a:ext cx="496888" cy="65881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xmlns="">
                <a:noFill/>
              </a14:hiddenFill>
            </a:ext>
          </a:extLst>
        </p:spPr>
      </p:cxnSp>
      <p:cxnSp>
        <p:nvCxnSpPr>
          <p:cNvPr id="64522" name="AutoShape 11"/>
          <p:cNvCxnSpPr>
            <a:cxnSpLocks noChangeShapeType="1"/>
            <a:stCxn id="64520" idx="5"/>
            <a:endCxn id="64518" idx="0"/>
          </p:cNvCxnSpPr>
          <p:nvPr/>
        </p:nvCxnSpPr>
        <p:spPr bwMode="auto">
          <a:xfrm>
            <a:off x="8380413" y="2679700"/>
            <a:ext cx="573087" cy="65881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xmlns="">
                <a:noFill/>
              </a14:hiddenFill>
            </a:ext>
          </a:extLst>
        </p:spPr>
      </p:cxnSp>
      <p:sp>
        <p:nvSpPr>
          <p:cNvPr id="1098764" name="Text Box 12"/>
          <p:cNvSpPr txBox="1">
            <a:spLocks noChangeArrowheads="1"/>
          </p:cNvSpPr>
          <p:nvPr/>
        </p:nvSpPr>
        <p:spPr bwMode="auto">
          <a:xfrm>
            <a:off x="5314950" y="4935140"/>
            <a:ext cx="1524000"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2800" i="1">
                <a:solidFill>
                  <a:srgbClr val="CC0000"/>
                </a:solidFill>
                <a:latin typeface="Calibri"/>
                <a:cs typeface="Calibri"/>
              </a:rPr>
              <a:t>Yes</a:t>
            </a:r>
          </a:p>
        </p:txBody>
      </p:sp>
      <p:pic>
        <p:nvPicPr>
          <p:cNvPr id="1098765" name="Picture 13" descr="txp_fig"/>
          <p:cNvPicPr>
            <a:picLocks noChangeAspect="1" noChangeArrowheads="1"/>
          </p:cNvPicPr>
          <p:nvPr>
            <p:custDataLst>
              <p:tags r:id="rId1"/>
            </p:custDataLst>
          </p:nvPr>
        </p:nvPicPr>
        <p:blipFill>
          <a:blip r:embed="rId5" cstate="email">
            <a:extLst>
              <a:ext uri="{28A0092B-C50C-407E-A947-70E740481C1C}">
                <a14:useLocalDpi xmlns:a14="http://schemas.microsoft.com/office/drawing/2010/main" val="0"/>
              </a:ext>
            </a:extLst>
          </a:blip>
          <a:srcRect/>
          <a:stretch>
            <a:fillRect/>
          </a:stretch>
        </p:blipFill>
        <p:spPr bwMode="auto">
          <a:xfrm>
            <a:off x="3114675" y="4473178"/>
            <a:ext cx="981075" cy="263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98766" name="Picture 14" descr="txp_fig"/>
          <p:cNvPicPr>
            <a:picLocks noChangeAspect="1" noChangeArrowheads="1"/>
          </p:cNvPicPr>
          <p:nvPr>
            <p:custDataLst>
              <p:tags r:id="rId2"/>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3124200" y="5024040"/>
            <a:ext cx="13843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98767" name="Picture 15" descr="txp_fig"/>
          <p:cNvPicPr>
            <a:picLocks noChangeAspect="1" noChangeArrowheads="1"/>
          </p:cNvPicPr>
          <p:nvPr>
            <p:custDataLst>
              <p:tags r:id="rId3"/>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3105150" y="5620940"/>
            <a:ext cx="178752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98755">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9876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9876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9876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987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876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4423" y="988398"/>
            <a:ext cx="10515600" cy="1325563"/>
          </a:xfrm>
        </p:spPr>
        <p:txBody>
          <a:bodyPr/>
          <a:lstStyle/>
          <a:p>
            <a:pPr algn="ctr"/>
            <a:r>
              <a:rPr lang="en-US" altLang="zh-CN" b="1" dirty="0">
                <a:latin typeface="Times New Roman" panose="02020603050405020304" pitchFamily="18" charset="0"/>
                <a:cs typeface="Times New Roman" panose="02020603050405020304" pitchFamily="18" charset="0"/>
              </a:rPr>
              <a:t>CNN</a:t>
            </a:r>
            <a:endParaRPr lang="zh-CN" altLang="en-US" dirty="0"/>
          </a:p>
        </p:txBody>
      </p:sp>
      <p:sp>
        <p:nvSpPr>
          <p:cNvPr id="7" name="Footer Placeholder 4">
            <a:extLst>
              <a:ext uri="{FF2B5EF4-FFF2-40B4-BE49-F238E27FC236}">
                <a16:creationId xmlns:a16="http://schemas.microsoft.com/office/drawing/2014/main" id="{4806CA45-6700-47CF-BC3F-21BFF5179890}"/>
              </a:ext>
            </a:extLst>
          </p:cNvPr>
          <p:cNvSpPr>
            <a:spLocks noGrp="1" noChangeArrowheads="1"/>
          </p:cNvSpPr>
          <p:nvPr>
            <p:ph type="ftr" sz="quarter" idx="11"/>
          </p:nvPr>
        </p:nvSpPr>
        <p:spPr bwMode="auto">
          <a:xfrm>
            <a:off x="4038600" y="6356350"/>
            <a:ext cx="4114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ea typeface="宋体" panose="02010600030101010101" pitchFamily="2" charset="-122"/>
              </a:rPr>
              <a:t>Artificial Intelligence a modern approach</a:t>
            </a:r>
          </a:p>
        </p:txBody>
      </p:sp>
      <p:sp>
        <p:nvSpPr>
          <p:cNvPr id="8" name="内容占位符 2">
            <a:extLst>
              <a:ext uri="{FF2B5EF4-FFF2-40B4-BE49-F238E27FC236}">
                <a16:creationId xmlns:a16="http://schemas.microsoft.com/office/drawing/2014/main" id="{C02DCDD6-AEEB-41BC-9022-ABC07AE73657}"/>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a:p>
        </p:txBody>
      </p:sp>
    </p:spTree>
    <p:extLst>
      <p:ext uri="{BB962C8B-B14F-4D97-AF65-F5344CB8AC3E}">
        <p14:creationId xmlns:p14="http://schemas.microsoft.com/office/powerpoint/2010/main" val="795928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Artificial neural networks</a:t>
            </a:r>
            <a:endParaRPr lang="zh-CN" altLang="en-US" dirty="0"/>
          </a:p>
        </p:txBody>
      </p:sp>
      <p:pic>
        <p:nvPicPr>
          <p:cNvPr id="4" name="图片 3">
            <a:extLst>
              <a:ext uri="{FF2B5EF4-FFF2-40B4-BE49-F238E27FC236}">
                <a16:creationId xmlns:a16="http://schemas.microsoft.com/office/drawing/2014/main" id="{353C9BFA-3F77-4D17-9792-1E5F3A6C57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066800"/>
            <a:ext cx="10414000" cy="5259318"/>
          </a:xfrm>
          <a:prstGeom prst="rect">
            <a:avLst/>
          </a:prstGeom>
        </p:spPr>
      </p:pic>
    </p:spTree>
    <p:extLst>
      <p:ext uri="{BB962C8B-B14F-4D97-AF65-F5344CB8AC3E}">
        <p14:creationId xmlns:p14="http://schemas.microsoft.com/office/powerpoint/2010/main" val="6364513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Artificial neural networks</a:t>
            </a:r>
            <a:endParaRPr lang="zh-CN" altLang="en-US" dirty="0"/>
          </a:p>
        </p:txBody>
      </p:sp>
      <p:pic>
        <p:nvPicPr>
          <p:cNvPr id="4" name="图片 3">
            <a:extLst>
              <a:ext uri="{FF2B5EF4-FFF2-40B4-BE49-F238E27FC236}">
                <a16:creationId xmlns:a16="http://schemas.microsoft.com/office/drawing/2014/main" id="{3447ED87-B494-447B-A682-6E5B1A7ED5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066800"/>
            <a:ext cx="10363200" cy="5364284"/>
          </a:xfrm>
          <a:prstGeom prst="rect">
            <a:avLst/>
          </a:prstGeom>
        </p:spPr>
      </p:pic>
    </p:spTree>
    <p:extLst>
      <p:ext uri="{BB962C8B-B14F-4D97-AF65-F5344CB8AC3E}">
        <p14:creationId xmlns:p14="http://schemas.microsoft.com/office/powerpoint/2010/main" val="31506823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Artificial neural networks</a:t>
            </a:r>
            <a:endParaRPr lang="zh-CN" altLang="en-US" dirty="0"/>
          </a:p>
        </p:txBody>
      </p:sp>
      <p:pic>
        <p:nvPicPr>
          <p:cNvPr id="4" name="图片 3">
            <a:extLst>
              <a:ext uri="{FF2B5EF4-FFF2-40B4-BE49-F238E27FC236}">
                <a16:creationId xmlns:a16="http://schemas.microsoft.com/office/drawing/2014/main" id="{32F2369F-5F08-4404-BFE9-28A6ECCC2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91" y="1066800"/>
            <a:ext cx="9961716" cy="5216278"/>
          </a:xfrm>
          <a:prstGeom prst="rect">
            <a:avLst/>
          </a:prstGeom>
        </p:spPr>
      </p:pic>
    </p:spTree>
    <p:extLst>
      <p:ext uri="{BB962C8B-B14F-4D97-AF65-F5344CB8AC3E}">
        <p14:creationId xmlns:p14="http://schemas.microsoft.com/office/powerpoint/2010/main" val="13606324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Artificial neural networks</a:t>
            </a:r>
            <a:endParaRPr lang="zh-CN" altLang="en-US" dirty="0"/>
          </a:p>
        </p:txBody>
      </p:sp>
      <p:pic>
        <p:nvPicPr>
          <p:cNvPr id="6" name="图片 5">
            <a:extLst>
              <a:ext uri="{FF2B5EF4-FFF2-40B4-BE49-F238E27FC236}">
                <a16:creationId xmlns:a16="http://schemas.microsoft.com/office/drawing/2014/main" id="{A50A5D6B-75FB-4024-A2C5-A498A7857E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699" y="1017154"/>
            <a:ext cx="11684601" cy="5581937"/>
          </a:xfrm>
          <a:prstGeom prst="rect">
            <a:avLst/>
          </a:prstGeom>
        </p:spPr>
      </p:pic>
    </p:spTree>
    <p:extLst>
      <p:ext uri="{BB962C8B-B14F-4D97-AF65-F5344CB8AC3E}">
        <p14:creationId xmlns:p14="http://schemas.microsoft.com/office/powerpoint/2010/main" val="71896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Artificial neural networks</a:t>
            </a:r>
            <a:endParaRPr lang="zh-CN" altLang="en-US" dirty="0"/>
          </a:p>
        </p:txBody>
      </p:sp>
      <p:pic>
        <p:nvPicPr>
          <p:cNvPr id="4" name="图片 3">
            <a:extLst>
              <a:ext uri="{FF2B5EF4-FFF2-40B4-BE49-F238E27FC236}">
                <a16:creationId xmlns:a16="http://schemas.microsoft.com/office/drawing/2014/main" id="{A5CDF1CD-D578-47C3-9192-BF331D8C44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028699"/>
            <a:ext cx="10382552" cy="5392879"/>
          </a:xfrm>
          <a:prstGeom prst="rect">
            <a:avLst/>
          </a:prstGeom>
        </p:spPr>
      </p:pic>
    </p:spTree>
    <p:extLst>
      <p:ext uri="{BB962C8B-B14F-4D97-AF65-F5344CB8AC3E}">
        <p14:creationId xmlns:p14="http://schemas.microsoft.com/office/powerpoint/2010/main" val="607304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Artificial neural networks</a:t>
            </a:r>
            <a:endParaRPr lang="zh-CN" altLang="en-US" dirty="0"/>
          </a:p>
        </p:txBody>
      </p:sp>
      <p:pic>
        <p:nvPicPr>
          <p:cNvPr id="4" name="图片 3">
            <a:extLst>
              <a:ext uri="{FF2B5EF4-FFF2-40B4-BE49-F238E27FC236}">
                <a16:creationId xmlns:a16="http://schemas.microsoft.com/office/drawing/2014/main" id="{C259F5F1-03C9-4194-9973-A16488E40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897" y="1028699"/>
            <a:ext cx="10376206" cy="5431468"/>
          </a:xfrm>
          <a:prstGeom prst="rect">
            <a:avLst/>
          </a:prstGeom>
        </p:spPr>
      </p:pic>
    </p:spTree>
    <p:extLst>
      <p:ext uri="{BB962C8B-B14F-4D97-AF65-F5344CB8AC3E}">
        <p14:creationId xmlns:p14="http://schemas.microsoft.com/office/powerpoint/2010/main" val="9175989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Artificial neural networks</a:t>
            </a:r>
            <a:endParaRPr lang="zh-CN" altLang="en-US" dirty="0"/>
          </a:p>
        </p:txBody>
      </p:sp>
      <p:pic>
        <p:nvPicPr>
          <p:cNvPr id="5" name="图片 4">
            <a:extLst>
              <a:ext uri="{FF2B5EF4-FFF2-40B4-BE49-F238E27FC236}">
                <a16:creationId xmlns:a16="http://schemas.microsoft.com/office/drawing/2014/main" id="{BCC4AF9E-6841-4567-87A8-D350E78D0F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2464" y="914400"/>
            <a:ext cx="9647072" cy="5210341"/>
          </a:xfrm>
          <a:prstGeom prst="rect">
            <a:avLst/>
          </a:prstGeom>
        </p:spPr>
      </p:pic>
    </p:spTree>
    <p:extLst>
      <p:ext uri="{BB962C8B-B14F-4D97-AF65-F5344CB8AC3E}">
        <p14:creationId xmlns:p14="http://schemas.microsoft.com/office/powerpoint/2010/main" val="13120133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Artificial neural networks</a:t>
            </a:r>
            <a:endParaRPr lang="zh-CN" altLang="en-US" dirty="0"/>
          </a:p>
        </p:txBody>
      </p:sp>
      <p:pic>
        <p:nvPicPr>
          <p:cNvPr id="5" name="图片 4">
            <a:extLst>
              <a:ext uri="{FF2B5EF4-FFF2-40B4-BE49-F238E27FC236}">
                <a16:creationId xmlns:a16="http://schemas.microsoft.com/office/drawing/2014/main" id="{A184DBF5-1948-492E-8895-42BD39C785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1255" y="1028699"/>
            <a:ext cx="10250637" cy="5493218"/>
          </a:xfrm>
          <a:prstGeom prst="rect">
            <a:avLst/>
          </a:prstGeom>
        </p:spPr>
      </p:pic>
    </p:spTree>
    <p:extLst>
      <p:ext uri="{BB962C8B-B14F-4D97-AF65-F5344CB8AC3E}">
        <p14:creationId xmlns:p14="http://schemas.microsoft.com/office/powerpoint/2010/main" val="24951710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Artificial neural networks</a:t>
            </a:r>
            <a:endParaRPr lang="zh-CN" altLang="en-US" dirty="0"/>
          </a:p>
        </p:txBody>
      </p:sp>
      <p:pic>
        <p:nvPicPr>
          <p:cNvPr id="7" name="图片 6">
            <a:extLst>
              <a:ext uri="{FF2B5EF4-FFF2-40B4-BE49-F238E27FC236}">
                <a16:creationId xmlns:a16="http://schemas.microsoft.com/office/drawing/2014/main" id="{467F1AD9-B2E0-4C1C-9097-E54FA6CBA6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1255" y="838200"/>
            <a:ext cx="9766610" cy="5428179"/>
          </a:xfrm>
          <a:prstGeom prst="rect">
            <a:avLst/>
          </a:prstGeom>
        </p:spPr>
      </p:pic>
    </p:spTree>
    <p:extLst>
      <p:ext uri="{BB962C8B-B14F-4D97-AF65-F5344CB8AC3E}">
        <p14:creationId xmlns:p14="http://schemas.microsoft.com/office/powerpoint/2010/main" val="195299374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479D7-4523-4E52-99FB-5861CED0A77F}"/>
              </a:ext>
            </a:extLst>
          </p:cNvPr>
          <p:cNvSpPr>
            <a:spLocks noGrp="1"/>
          </p:cNvSpPr>
          <p:nvPr>
            <p:ph type="title"/>
          </p:nvPr>
        </p:nvSpPr>
        <p:spPr/>
        <p:txBody>
          <a:bodyPr/>
          <a:lstStyle/>
          <a:p>
            <a:r>
              <a:rPr lang="zh-CN" altLang="en-US" dirty="0"/>
              <a:t>大语言模型</a:t>
            </a:r>
          </a:p>
        </p:txBody>
      </p:sp>
      <p:sp>
        <p:nvSpPr>
          <p:cNvPr id="3" name="内容占位符 2">
            <a:extLst>
              <a:ext uri="{FF2B5EF4-FFF2-40B4-BE49-F238E27FC236}">
                <a16:creationId xmlns:a16="http://schemas.microsoft.com/office/drawing/2014/main" id="{EA78B41E-9E7E-4C0F-ADF7-B9ACFD6F4316}"/>
              </a:ext>
            </a:extLst>
          </p:cNvPr>
          <p:cNvSpPr>
            <a:spLocks noGrp="1"/>
          </p:cNvSpPr>
          <p:nvPr>
            <p:ph idx="1"/>
          </p:nvPr>
        </p:nvSpPr>
        <p:spPr/>
        <p:txBody>
          <a:bodyPr/>
          <a:lstStyle/>
          <a:p>
            <a:r>
              <a:rPr lang="en-US" altLang="zh-CN" dirty="0"/>
              <a:t>Pre-training Fine-tuning</a:t>
            </a:r>
          </a:p>
          <a:p>
            <a:r>
              <a:rPr lang="en-US" altLang="zh-CN" dirty="0"/>
              <a:t>Prompt engineering</a:t>
            </a:r>
          </a:p>
          <a:p>
            <a:r>
              <a:rPr lang="en-US" altLang="zh-CN" dirty="0"/>
              <a:t>In-context learning</a:t>
            </a:r>
          </a:p>
          <a:p>
            <a:r>
              <a:rPr lang="en-US" altLang="zh-CN" dirty="0"/>
              <a:t>Chain of Thought</a:t>
            </a:r>
            <a:endParaRPr lang="zh-CN" altLang="en-US" dirty="0"/>
          </a:p>
        </p:txBody>
      </p:sp>
    </p:spTree>
    <p:extLst>
      <p:ext uri="{BB962C8B-B14F-4D97-AF65-F5344CB8AC3E}">
        <p14:creationId xmlns:p14="http://schemas.microsoft.com/office/powerpoint/2010/main" val="26101816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11624945" cy="790575"/>
          </a:xfrm>
        </p:spPr>
        <p:txBody>
          <a:bodyPr>
            <a:normAutofit/>
          </a:bodyPr>
          <a:lstStyle/>
          <a:p>
            <a:r>
              <a:rPr lang="en-US" altLang="zh-CN" sz="3200" dirty="0">
                <a:ea typeface="+mn-ea"/>
                <a:cs typeface="+mn-ea"/>
                <a:sym typeface="+mn-lt"/>
              </a:rPr>
              <a:t>Downstream tasks and application paradigms</a:t>
            </a:r>
          </a:p>
        </p:txBody>
      </p:sp>
      <p:sp>
        <p:nvSpPr>
          <p:cNvPr id="8" name="文本框 7"/>
          <p:cNvSpPr txBox="1"/>
          <p:nvPr/>
        </p:nvSpPr>
        <p:spPr>
          <a:xfrm>
            <a:off x="681355" y="1326515"/>
            <a:ext cx="10816590" cy="645160"/>
          </a:xfrm>
          <a:prstGeom prst="rect">
            <a:avLst/>
          </a:prstGeom>
          <a:noFill/>
        </p:spPr>
        <p:txBody>
          <a:bodyPr wrap="square">
            <a:spAutoFit/>
          </a:bodyPr>
          <a:lstStyle/>
          <a:p>
            <a:r>
              <a:rPr dirty="0"/>
              <a:t>The original intention of Bert and GPT was to provide a pre - trained model, which can be conveniently applied to downstream tasks.</a:t>
            </a:r>
          </a:p>
        </p:txBody>
      </p:sp>
      <p:pic>
        <p:nvPicPr>
          <p:cNvPr id="4" name="图片 3"/>
          <p:cNvPicPr>
            <a:picLocks noChangeAspect="1"/>
          </p:cNvPicPr>
          <p:nvPr/>
        </p:nvPicPr>
        <p:blipFill>
          <a:blip r:embed="rId3"/>
          <a:srcRect/>
          <a:stretch>
            <a:fillRect/>
          </a:stretch>
        </p:blipFill>
        <p:spPr>
          <a:xfrm>
            <a:off x="7011731" y="2053006"/>
            <a:ext cx="4225348" cy="2608575"/>
          </a:xfrm>
          <a:custGeom>
            <a:avLst/>
            <a:gdLst>
              <a:gd name="connsiteX0" fmla="*/ 0 w 5924550"/>
              <a:gd name="connsiteY0" fmla="*/ 0 h 3657600"/>
              <a:gd name="connsiteX1" fmla="*/ 5924550 w 5924550"/>
              <a:gd name="connsiteY1" fmla="*/ 0 h 3657600"/>
              <a:gd name="connsiteX2" fmla="*/ 5924550 w 5924550"/>
              <a:gd name="connsiteY2" fmla="*/ 3233851 h 3657600"/>
              <a:gd name="connsiteX3" fmla="*/ 4053459 w 5924550"/>
              <a:gd name="connsiteY3" fmla="*/ 3233851 h 3657600"/>
              <a:gd name="connsiteX4" fmla="*/ 4053459 w 5924550"/>
              <a:gd name="connsiteY4" fmla="*/ 3657600 h 3657600"/>
              <a:gd name="connsiteX5" fmla="*/ 0 w 5924550"/>
              <a:gd name="connsiteY5" fmla="*/ 365760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4550" h="3657600">
                <a:moveTo>
                  <a:pt x="0" y="0"/>
                </a:moveTo>
                <a:lnTo>
                  <a:pt x="5924550" y="0"/>
                </a:lnTo>
                <a:lnTo>
                  <a:pt x="5924550" y="3233851"/>
                </a:lnTo>
                <a:lnTo>
                  <a:pt x="4053459" y="3233851"/>
                </a:lnTo>
                <a:lnTo>
                  <a:pt x="4053459" y="3657600"/>
                </a:lnTo>
                <a:lnTo>
                  <a:pt x="0" y="3657600"/>
                </a:lnTo>
                <a:close/>
              </a:path>
            </a:pathLst>
          </a:custGeom>
        </p:spPr>
      </p:pic>
      <p:pic>
        <p:nvPicPr>
          <p:cNvPr id="12" name="图片 11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604" y="3184706"/>
            <a:ext cx="5675311" cy="2561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p:cNvSpPr txBox="1"/>
          <p:nvPr/>
        </p:nvSpPr>
        <p:spPr>
          <a:xfrm>
            <a:off x="539931" y="2126400"/>
            <a:ext cx="3715882" cy="369332"/>
          </a:xfrm>
          <a:prstGeom prst="rect">
            <a:avLst/>
          </a:prstGeom>
          <a:noFill/>
        </p:spPr>
        <p:txBody>
          <a:bodyPr wrap="square">
            <a:spAutoFit/>
          </a:bodyPr>
          <a:lstStyle/>
          <a:p>
            <a:r>
              <a:rPr lang="en-US" altLang="zh-CN" dirty="0"/>
              <a:t>Bert</a:t>
            </a:r>
            <a:r>
              <a:rPr lang="zh-CN" altLang="en-US" dirty="0"/>
              <a:t>：</a:t>
            </a:r>
            <a:r>
              <a:rPr lang="en-US" altLang="zh-CN" dirty="0"/>
              <a:t>Pre-training + Fine-Tuning</a:t>
            </a:r>
            <a:endParaRPr lang="zh-CN" altLang="en-US" dirty="0"/>
          </a:p>
        </p:txBody>
      </p:sp>
      <p:sp>
        <p:nvSpPr>
          <p:cNvPr id="14" name="矩形 13"/>
          <p:cNvSpPr/>
          <p:nvPr/>
        </p:nvSpPr>
        <p:spPr>
          <a:xfrm>
            <a:off x="420689" y="1971739"/>
            <a:ext cx="6009140" cy="678655"/>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 name="矩形 14"/>
          <p:cNvSpPr/>
          <p:nvPr/>
        </p:nvSpPr>
        <p:spPr>
          <a:xfrm>
            <a:off x="420689" y="2787555"/>
            <a:ext cx="6009140" cy="3355762"/>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矩形 15"/>
          <p:cNvSpPr/>
          <p:nvPr/>
        </p:nvSpPr>
        <p:spPr>
          <a:xfrm>
            <a:off x="6596743" y="1971740"/>
            <a:ext cx="5055325" cy="2771107"/>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文本框 17"/>
          <p:cNvSpPr txBox="1"/>
          <p:nvPr/>
        </p:nvSpPr>
        <p:spPr>
          <a:xfrm>
            <a:off x="6613525" y="4989830"/>
            <a:ext cx="5038725" cy="1076325"/>
          </a:xfrm>
          <a:prstGeom prst="rect">
            <a:avLst/>
          </a:prstGeom>
          <a:noFill/>
        </p:spPr>
        <p:txBody>
          <a:bodyPr wrap="square">
            <a:spAutoFit/>
          </a:bodyPr>
          <a:lstStyle/>
          <a:p>
            <a:r>
              <a:rPr sz="1600"/>
              <a:t>e.g.: Sentiment classification: Place the CLS token at the beginning of this sentence, perform a linear transformation on the output of CLS, and then apply softmax to obtain the result of sentiment classification.</a:t>
            </a:r>
          </a:p>
        </p:txBody>
      </p:sp>
      <p:sp>
        <p:nvSpPr>
          <p:cNvPr id="6" name="矩形 5"/>
          <p:cNvSpPr/>
          <p:nvPr/>
        </p:nvSpPr>
        <p:spPr>
          <a:xfrm>
            <a:off x="6596743" y="4913051"/>
            <a:ext cx="5055325" cy="1230266"/>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12803299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8365102-8B3C-4A18-A7DB-478EA79A1D84}"/>
              </a:ext>
            </a:extLst>
          </p:cNvPr>
          <p:cNvSpPr>
            <a:spLocks noGrp="1"/>
          </p:cNvSpPr>
          <p:nvPr>
            <p:ph type="sldNum" sz="quarter" idx="12"/>
          </p:nvPr>
        </p:nvSpPr>
        <p:spPr/>
        <p:txBody>
          <a:bodyPr/>
          <a:lstStyle/>
          <a:p>
            <a:fld id="{A8408CBD-802C-40CC-8D8B-113A19149150}" type="slidenum">
              <a:rPr lang="zh-CN" altLang="en-US" smtClean="0"/>
              <a:t>82</a:t>
            </a:fld>
            <a:endParaRPr lang="zh-CN" altLang="en-US"/>
          </a:p>
        </p:txBody>
      </p:sp>
      <p:sp>
        <p:nvSpPr>
          <p:cNvPr id="8" name="文本框 7">
            <a:extLst>
              <a:ext uri="{FF2B5EF4-FFF2-40B4-BE49-F238E27FC236}">
                <a16:creationId xmlns:a16="http://schemas.microsoft.com/office/drawing/2014/main" id="{CADAB8DF-BBD4-4B70-ADC3-53758F3B0309}"/>
              </a:ext>
            </a:extLst>
          </p:cNvPr>
          <p:cNvSpPr txBox="1"/>
          <p:nvPr/>
        </p:nvSpPr>
        <p:spPr>
          <a:xfrm>
            <a:off x="420689" y="1231534"/>
            <a:ext cx="4951411" cy="1855380"/>
          </a:xfrm>
          <a:prstGeom prst="rect">
            <a:avLst/>
          </a:prstGeom>
          <a:noFill/>
        </p:spPr>
        <p:txBody>
          <a:bodyPr wrap="square">
            <a:spAutoFit/>
          </a:bodyPr>
          <a:lstStyle/>
          <a:p>
            <a:pPr>
              <a:lnSpc>
                <a:spcPct val="130000"/>
              </a:lnSpc>
            </a:pPr>
            <a:r>
              <a:rPr lang="zh-CN" altLang="en-US" dirty="0"/>
              <a:t>由于</a:t>
            </a:r>
            <a:r>
              <a:rPr lang="en-US" altLang="zh-CN" dirty="0"/>
              <a:t>GPT</a:t>
            </a:r>
            <a:r>
              <a:rPr lang="zh-CN" altLang="en-US" dirty="0"/>
              <a:t>的参数是</a:t>
            </a:r>
            <a:r>
              <a:rPr lang="en-US" altLang="zh-CN" dirty="0"/>
              <a:t>Bert</a:t>
            </a:r>
            <a:r>
              <a:rPr lang="zh-CN" altLang="en-US" dirty="0"/>
              <a:t>的</a:t>
            </a:r>
            <a:r>
              <a:rPr lang="en-US" altLang="zh-CN" dirty="0"/>
              <a:t>4</a:t>
            </a:r>
            <a:r>
              <a:rPr lang="zh-CN" altLang="en-US" dirty="0"/>
              <a:t>倍有余，使得去</a:t>
            </a:r>
            <a:r>
              <a:rPr lang="en-US" altLang="zh-CN" dirty="0"/>
              <a:t>Fine-tuning</a:t>
            </a:r>
            <a:r>
              <a:rPr lang="zh-CN" altLang="en-US" dirty="0"/>
              <a:t>一个模型需要更长，更大的训练时间。</a:t>
            </a:r>
            <a:endParaRPr lang="en-US" altLang="zh-CN" dirty="0"/>
          </a:p>
          <a:p>
            <a:pPr>
              <a:lnSpc>
                <a:spcPct val="130000"/>
              </a:lnSpc>
            </a:pPr>
            <a:endParaRPr lang="en-US" altLang="zh-CN" dirty="0"/>
          </a:p>
          <a:p>
            <a:pPr>
              <a:lnSpc>
                <a:spcPct val="130000"/>
              </a:lnSpc>
            </a:pPr>
            <a:r>
              <a:rPr lang="zh-CN" altLang="en-US" dirty="0"/>
              <a:t>因此</a:t>
            </a:r>
            <a:r>
              <a:rPr lang="en-US" altLang="zh-CN" dirty="0"/>
              <a:t>GPT</a:t>
            </a:r>
            <a:r>
              <a:rPr lang="zh-CN" altLang="en-US" dirty="0"/>
              <a:t>提出采用更接近于人类的使用方式</a:t>
            </a:r>
            <a:r>
              <a:rPr lang="en-US" altLang="zh-CN" dirty="0"/>
              <a:t>: Prompt Engineering / Few shot learning</a:t>
            </a:r>
            <a:endParaRPr lang="zh-CN" altLang="en-US" dirty="0"/>
          </a:p>
        </p:txBody>
      </p:sp>
      <p:pic>
        <p:nvPicPr>
          <p:cNvPr id="7" name="图片 6">
            <a:extLst>
              <a:ext uri="{FF2B5EF4-FFF2-40B4-BE49-F238E27FC236}">
                <a16:creationId xmlns:a16="http://schemas.microsoft.com/office/drawing/2014/main" id="{137BCFD3-1C4C-4650-9A89-C8349659F88B}"/>
              </a:ext>
            </a:extLst>
          </p:cNvPr>
          <p:cNvPicPr>
            <a:picLocks noChangeAspect="1"/>
          </p:cNvPicPr>
          <p:nvPr/>
        </p:nvPicPr>
        <p:blipFill>
          <a:blip r:embed="rId2"/>
          <a:stretch>
            <a:fillRect/>
          </a:stretch>
        </p:blipFill>
        <p:spPr>
          <a:xfrm>
            <a:off x="5559774" y="1281758"/>
            <a:ext cx="6211537" cy="5247902"/>
          </a:xfrm>
          <a:prstGeom prst="rect">
            <a:avLst/>
          </a:prstGeom>
        </p:spPr>
      </p:pic>
      <p:sp>
        <p:nvSpPr>
          <p:cNvPr id="17" name="矩形 16">
            <a:extLst>
              <a:ext uri="{FF2B5EF4-FFF2-40B4-BE49-F238E27FC236}">
                <a16:creationId xmlns:a16="http://schemas.microsoft.com/office/drawing/2014/main" id="{7B745740-F7D5-4F3E-9372-395FD0E8C472}"/>
              </a:ext>
            </a:extLst>
          </p:cNvPr>
          <p:cNvSpPr/>
          <p:nvPr/>
        </p:nvSpPr>
        <p:spPr>
          <a:xfrm>
            <a:off x="420689" y="328340"/>
            <a:ext cx="2821621"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932CA1A-A815-42C4-8EEB-C96BC1C19334}"/>
              </a:ext>
            </a:extLst>
          </p:cNvPr>
          <p:cNvSpPr txBox="1"/>
          <p:nvPr/>
        </p:nvSpPr>
        <p:spPr>
          <a:xfrm>
            <a:off x="539931" y="443143"/>
            <a:ext cx="2702379" cy="369332"/>
          </a:xfrm>
          <a:prstGeom prst="rect">
            <a:avLst/>
          </a:prstGeom>
          <a:noFill/>
        </p:spPr>
        <p:txBody>
          <a:bodyPr wrap="square" rtlCol="0">
            <a:spAutoFit/>
          </a:bodyPr>
          <a:lstStyle/>
          <a:p>
            <a:r>
              <a:rPr lang="en-US" altLang="zh-CN" b="1" dirty="0">
                <a:cs typeface="+mn-ea"/>
                <a:sym typeface="+mn-lt"/>
              </a:rPr>
              <a:t>3 Prompt Engineering</a:t>
            </a:r>
          </a:p>
        </p:txBody>
      </p:sp>
      <p:sp>
        <p:nvSpPr>
          <p:cNvPr id="21" name="矩形 20">
            <a:extLst>
              <a:ext uri="{FF2B5EF4-FFF2-40B4-BE49-F238E27FC236}">
                <a16:creationId xmlns:a16="http://schemas.microsoft.com/office/drawing/2014/main" id="{254A50AF-5DC6-4E44-BBDE-50EF2DA6F4EC}"/>
              </a:ext>
            </a:extLst>
          </p:cNvPr>
          <p:cNvSpPr/>
          <p:nvPr/>
        </p:nvSpPr>
        <p:spPr>
          <a:xfrm>
            <a:off x="3388222" y="328340"/>
            <a:ext cx="2942499"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A37B7C25-2C66-4FCF-B2B2-E96B00880563}"/>
              </a:ext>
            </a:extLst>
          </p:cNvPr>
          <p:cNvSpPr txBox="1"/>
          <p:nvPr/>
        </p:nvSpPr>
        <p:spPr>
          <a:xfrm>
            <a:off x="3507464" y="443143"/>
            <a:ext cx="2762723" cy="369332"/>
          </a:xfrm>
          <a:prstGeom prst="rect">
            <a:avLst/>
          </a:prstGeom>
          <a:noFill/>
        </p:spPr>
        <p:txBody>
          <a:bodyPr wrap="square" rtlCol="0">
            <a:spAutoFit/>
          </a:bodyPr>
          <a:lstStyle/>
          <a:p>
            <a:r>
              <a:rPr lang="en-US" altLang="zh-CN" b="1" dirty="0">
                <a:cs typeface="+mn-ea"/>
                <a:sym typeface="+mn-lt"/>
              </a:rPr>
              <a:t>3.1 </a:t>
            </a:r>
            <a:r>
              <a:rPr lang="zh-CN" altLang="en-US" b="1" dirty="0">
                <a:cs typeface="+mn-ea"/>
                <a:sym typeface="+mn-lt"/>
              </a:rPr>
              <a:t>下游任务与应用范式</a:t>
            </a:r>
            <a:endParaRPr lang="en-US" altLang="zh-CN" b="1" dirty="0">
              <a:cs typeface="+mn-ea"/>
              <a:sym typeface="+mn-lt"/>
            </a:endParaRPr>
          </a:p>
        </p:txBody>
      </p:sp>
      <p:sp>
        <p:nvSpPr>
          <p:cNvPr id="24" name="文本框 23">
            <a:extLst>
              <a:ext uri="{FF2B5EF4-FFF2-40B4-BE49-F238E27FC236}">
                <a16:creationId xmlns:a16="http://schemas.microsoft.com/office/drawing/2014/main" id="{DCFC23DD-A99B-462E-AC82-3478FA19B5CD}"/>
              </a:ext>
            </a:extLst>
          </p:cNvPr>
          <p:cNvSpPr txBox="1"/>
          <p:nvPr/>
        </p:nvSpPr>
        <p:spPr>
          <a:xfrm>
            <a:off x="1464026" y="3370547"/>
            <a:ext cx="3702812" cy="777008"/>
          </a:xfrm>
          <a:prstGeom prst="rect">
            <a:avLst/>
          </a:prstGeom>
          <a:noFill/>
        </p:spPr>
        <p:txBody>
          <a:bodyPr wrap="square">
            <a:spAutoFit/>
          </a:bodyPr>
          <a:lstStyle/>
          <a:p>
            <a:pPr>
              <a:lnSpc>
                <a:spcPct val="130000"/>
              </a:lnSpc>
            </a:pPr>
            <a:r>
              <a:rPr lang="zh-CN" altLang="en-US" dirty="0"/>
              <a:t>利用</a:t>
            </a:r>
            <a:r>
              <a:rPr lang="en-US" altLang="zh-CN" dirty="0"/>
              <a:t>LDA</a:t>
            </a:r>
            <a:r>
              <a:rPr lang="zh-CN" altLang="en-US" dirty="0"/>
              <a:t>、</a:t>
            </a:r>
            <a:r>
              <a:rPr lang="en-US" altLang="zh-CN" dirty="0"/>
              <a:t>RNN</a:t>
            </a:r>
            <a:r>
              <a:rPr lang="zh-CN" altLang="en-US" dirty="0"/>
              <a:t>等统计模型或很小的深度学习模型进行重头训练</a:t>
            </a:r>
            <a:endParaRPr lang="en-US" altLang="zh-CN" dirty="0"/>
          </a:p>
        </p:txBody>
      </p:sp>
      <p:sp>
        <p:nvSpPr>
          <p:cNvPr id="25" name="矩形 24">
            <a:extLst>
              <a:ext uri="{FF2B5EF4-FFF2-40B4-BE49-F238E27FC236}">
                <a16:creationId xmlns:a16="http://schemas.microsoft.com/office/drawing/2014/main" id="{2879E918-A45E-4863-94D2-BB8766DABE5A}"/>
              </a:ext>
            </a:extLst>
          </p:cNvPr>
          <p:cNvSpPr/>
          <p:nvPr/>
        </p:nvSpPr>
        <p:spPr>
          <a:xfrm>
            <a:off x="1373064" y="3259157"/>
            <a:ext cx="3884736" cy="999789"/>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6" name="矩形 25">
            <a:extLst>
              <a:ext uri="{FF2B5EF4-FFF2-40B4-BE49-F238E27FC236}">
                <a16:creationId xmlns:a16="http://schemas.microsoft.com/office/drawing/2014/main" id="{173BA9C0-657C-4693-927E-38BA524774EC}"/>
              </a:ext>
            </a:extLst>
          </p:cNvPr>
          <p:cNvSpPr/>
          <p:nvPr/>
        </p:nvSpPr>
        <p:spPr>
          <a:xfrm>
            <a:off x="420689" y="3259157"/>
            <a:ext cx="827721" cy="999789"/>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7" name="文本框 26">
            <a:extLst>
              <a:ext uri="{FF2B5EF4-FFF2-40B4-BE49-F238E27FC236}">
                <a16:creationId xmlns:a16="http://schemas.microsoft.com/office/drawing/2014/main" id="{95DF0B2D-ABD5-4AF3-989C-30D824F57321}"/>
              </a:ext>
            </a:extLst>
          </p:cNvPr>
          <p:cNvSpPr txBox="1"/>
          <p:nvPr/>
        </p:nvSpPr>
        <p:spPr>
          <a:xfrm>
            <a:off x="486486" y="3551559"/>
            <a:ext cx="696127" cy="414985"/>
          </a:xfrm>
          <a:prstGeom prst="rect">
            <a:avLst/>
          </a:prstGeom>
          <a:noFill/>
        </p:spPr>
        <p:txBody>
          <a:bodyPr wrap="square">
            <a:spAutoFit/>
          </a:bodyPr>
          <a:lstStyle/>
          <a:p>
            <a:pPr>
              <a:lnSpc>
                <a:spcPct val="130000"/>
              </a:lnSpc>
            </a:pPr>
            <a:r>
              <a:rPr lang="zh-CN" altLang="en-US" dirty="0"/>
              <a:t>训练</a:t>
            </a:r>
            <a:endParaRPr lang="en-US" altLang="zh-CN" dirty="0"/>
          </a:p>
        </p:txBody>
      </p:sp>
      <p:sp>
        <p:nvSpPr>
          <p:cNvPr id="28" name="矩形 27">
            <a:extLst>
              <a:ext uri="{FF2B5EF4-FFF2-40B4-BE49-F238E27FC236}">
                <a16:creationId xmlns:a16="http://schemas.microsoft.com/office/drawing/2014/main" id="{F66AF91B-3234-4B39-AE02-9F7BB5749F42}"/>
              </a:ext>
            </a:extLst>
          </p:cNvPr>
          <p:cNvSpPr/>
          <p:nvPr/>
        </p:nvSpPr>
        <p:spPr>
          <a:xfrm>
            <a:off x="420689" y="4345607"/>
            <a:ext cx="827721" cy="999789"/>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9" name="文本框 28">
            <a:extLst>
              <a:ext uri="{FF2B5EF4-FFF2-40B4-BE49-F238E27FC236}">
                <a16:creationId xmlns:a16="http://schemas.microsoft.com/office/drawing/2014/main" id="{F15F575C-B4B3-45E6-BF9C-5E88D5483F7C}"/>
              </a:ext>
            </a:extLst>
          </p:cNvPr>
          <p:cNvSpPr txBox="1"/>
          <p:nvPr/>
        </p:nvSpPr>
        <p:spPr>
          <a:xfrm>
            <a:off x="486486" y="4457959"/>
            <a:ext cx="696127" cy="775084"/>
          </a:xfrm>
          <a:prstGeom prst="rect">
            <a:avLst/>
          </a:prstGeom>
          <a:noFill/>
        </p:spPr>
        <p:txBody>
          <a:bodyPr wrap="square">
            <a:spAutoFit/>
          </a:bodyPr>
          <a:lstStyle/>
          <a:p>
            <a:pPr>
              <a:lnSpc>
                <a:spcPct val="130000"/>
              </a:lnSpc>
            </a:pPr>
            <a:r>
              <a:rPr lang="en-US" altLang="zh-CN" dirty="0"/>
              <a:t>PT+FT</a:t>
            </a:r>
          </a:p>
        </p:txBody>
      </p:sp>
      <p:sp>
        <p:nvSpPr>
          <p:cNvPr id="30" name="文本框 29">
            <a:extLst>
              <a:ext uri="{FF2B5EF4-FFF2-40B4-BE49-F238E27FC236}">
                <a16:creationId xmlns:a16="http://schemas.microsoft.com/office/drawing/2014/main" id="{4F77F8CF-D286-42D8-BE46-D0D8708E6A5B}"/>
              </a:ext>
            </a:extLst>
          </p:cNvPr>
          <p:cNvSpPr txBox="1"/>
          <p:nvPr/>
        </p:nvSpPr>
        <p:spPr>
          <a:xfrm>
            <a:off x="1464026" y="4457959"/>
            <a:ext cx="3702812" cy="777008"/>
          </a:xfrm>
          <a:prstGeom prst="rect">
            <a:avLst/>
          </a:prstGeom>
          <a:noFill/>
        </p:spPr>
        <p:txBody>
          <a:bodyPr wrap="square">
            <a:spAutoFit/>
          </a:bodyPr>
          <a:lstStyle/>
          <a:p>
            <a:pPr>
              <a:lnSpc>
                <a:spcPct val="130000"/>
              </a:lnSpc>
            </a:pPr>
            <a:r>
              <a:rPr lang="zh-CN" altLang="en-US" dirty="0"/>
              <a:t>利用</a:t>
            </a:r>
            <a:r>
              <a:rPr lang="en-US" altLang="zh-CN" dirty="0"/>
              <a:t>BERT</a:t>
            </a:r>
            <a:r>
              <a:rPr lang="zh-CN" altLang="en-US" dirty="0"/>
              <a:t>等预训练配合微调，技术所提供的能力是相对原子化的</a:t>
            </a:r>
            <a:endParaRPr lang="en-US" altLang="zh-CN" dirty="0"/>
          </a:p>
        </p:txBody>
      </p:sp>
      <p:sp>
        <p:nvSpPr>
          <p:cNvPr id="31" name="矩形 30">
            <a:extLst>
              <a:ext uri="{FF2B5EF4-FFF2-40B4-BE49-F238E27FC236}">
                <a16:creationId xmlns:a16="http://schemas.microsoft.com/office/drawing/2014/main" id="{90DBEB61-152D-4984-85AD-4E91B24E289B}"/>
              </a:ext>
            </a:extLst>
          </p:cNvPr>
          <p:cNvSpPr/>
          <p:nvPr/>
        </p:nvSpPr>
        <p:spPr>
          <a:xfrm>
            <a:off x="1373064" y="4346569"/>
            <a:ext cx="3884736" cy="999789"/>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2" name="矩形 31">
            <a:extLst>
              <a:ext uri="{FF2B5EF4-FFF2-40B4-BE49-F238E27FC236}">
                <a16:creationId xmlns:a16="http://schemas.microsoft.com/office/drawing/2014/main" id="{B6B2E2B7-5497-4815-A249-CA43987470F8}"/>
              </a:ext>
            </a:extLst>
          </p:cNvPr>
          <p:cNvSpPr/>
          <p:nvPr/>
        </p:nvSpPr>
        <p:spPr>
          <a:xfrm>
            <a:off x="420689" y="5429346"/>
            <a:ext cx="827721" cy="999789"/>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3" name="文本框 32">
            <a:extLst>
              <a:ext uri="{FF2B5EF4-FFF2-40B4-BE49-F238E27FC236}">
                <a16:creationId xmlns:a16="http://schemas.microsoft.com/office/drawing/2014/main" id="{F4C9E114-EA7C-43EF-8EEA-56ABBBC64A32}"/>
              </a:ext>
            </a:extLst>
          </p:cNvPr>
          <p:cNvSpPr txBox="1"/>
          <p:nvPr/>
        </p:nvSpPr>
        <p:spPr>
          <a:xfrm>
            <a:off x="432478" y="5541698"/>
            <a:ext cx="906894" cy="739177"/>
          </a:xfrm>
          <a:prstGeom prst="rect">
            <a:avLst/>
          </a:prstGeom>
          <a:noFill/>
        </p:spPr>
        <p:txBody>
          <a:bodyPr wrap="square">
            <a:spAutoFit/>
          </a:bodyPr>
          <a:lstStyle/>
          <a:p>
            <a:pPr>
              <a:lnSpc>
                <a:spcPct val="130000"/>
              </a:lnSpc>
            </a:pPr>
            <a:r>
              <a:rPr lang="en-US" altLang="zh-CN" dirty="0"/>
              <a:t>PT+</a:t>
            </a:r>
          </a:p>
          <a:p>
            <a:pPr>
              <a:lnSpc>
                <a:spcPct val="130000"/>
              </a:lnSpc>
            </a:pPr>
            <a:r>
              <a:rPr lang="en-US" altLang="zh-CN" sz="1600" dirty="0"/>
              <a:t>Prompt</a:t>
            </a:r>
          </a:p>
        </p:txBody>
      </p:sp>
      <p:sp>
        <p:nvSpPr>
          <p:cNvPr id="34" name="文本框 33">
            <a:extLst>
              <a:ext uri="{FF2B5EF4-FFF2-40B4-BE49-F238E27FC236}">
                <a16:creationId xmlns:a16="http://schemas.microsoft.com/office/drawing/2014/main" id="{7DB8CC6A-670C-4A2F-BC7B-4F7F4922A855}"/>
              </a:ext>
            </a:extLst>
          </p:cNvPr>
          <p:cNvSpPr txBox="1"/>
          <p:nvPr/>
        </p:nvSpPr>
        <p:spPr>
          <a:xfrm>
            <a:off x="1464026" y="5541698"/>
            <a:ext cx="3534694" cy="775084"/>
          </a:xfrm>
          <a:prstGeom prst="rect">
            <a:avLst/>
          </a:prstGeom>
          <a:noFill/>
        </p:spPr>
        <p:txBody>
          <a:bodyPr wrap="square">
            <a:spAutoFit/>
          </a:bodyPr>
          <a:lstStyle/>
          <a:p>
            <a:pPr>
              <a:lnSpc>
                <a:spcPct val="130000"/>
              </a:lnSpc>
            </a:pPr>
            <a:r>
              <a:rPr lang="zh-CN" altLang="en-US" dirty="0"/>
              <a:t>利用经过大量数据训练的模型，加上合适的指令得到结果</a:t>
            </a:r>
            <a:endParaRPr lang="en-US" altLang="zh-CN" dirty="0"/>
          </a:p>
        </p:txBody>
      </p:sp>
      <p:sp>
        <p:nvSpPr>
          <p:cNvPr id="35" name="矩形 34">
            <a:extLst>
              <a:ext uri="{FF2B5EF4-FFF2-40B4-BE49-F238E27FC236}">
                <a16:creationId xmlns:a16="http://schemas.microsoft.com/office/drawing/2014/main" id="{C428AF45-DFE5-494A-93A1-75CDAB0B1296}"/>
              </a:ext>
            </a:extLst>
          </p:cNvPr>
          <p:cNvSpPr/>
          <p:nvPr/>
        </p:nvSpPr>
        <p:spPr>
          <a:xfrm>
            <a:off x="1373064" y="5430308"/>
            <a:ext cx="3884736" cy="999789"/>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6" name="文本框 35">
            <a:extLst>
              <a:ext uri="{FF2B5EF4-FFF2-40B4-BE49-F238E27FC236}">
                <a16:creationId xmlns:a16="http://schemas.microsoft.com/office/drawing/2014/main" id="{83A6F69E-1B80-4342-B8C1-F34F34E24223}"/>
              </a:ext>
            </a:extLst>
          </p:cNvPr>
          <p:cNvSpPr txBox="1"/>
          <p:nvPr/>
        </p:nvSpPr>
        <p:spPr>
          <a:xfrm>
            <a:off x="2298562" y="6490469"/>
            <a:ext cx="9472749" cy="261610"/>
          </a:xfrm>
          <a:prstGeom prst="rect">
            <a:avLst/>
          </a:prstGeom>
          <a:noFill/>
        </p:spPr>
        <p:txBody>
          <a:bodyPr wrap="square">
            <a:spAutoFit/>
          </a:bodyPr>
          <a:lstStyle/>
          <a:p>
            <a:pPr algn="r"/>
            <a:r>
              <a:rPr lang="en-US" altLang="zh-CN" sz="1100" dirty="0">
                <a:hlinkClick r:id="rId3"/>
              </a:rPr>
              <a:t>Transformer</a:t>
            </a:r>
            <a:r>
              <a:rPr lang="zh-CN" altLang="en-US" sz="1100" dirty="0">
                <a:hlinkClick r:id="rId3"/>
              </a:rPr>
              <a:t>的两大应用对比：</a:t>
            </a:r>
            <a:r>
              <a:rPr lang="en-US" altLang="zh-CN" sz="1100" dirty="0">
                <a:hlinkClick r:id="rId3"/>
              </a:rPr>
              <a:t>GPT</a:t>
            </a:r>
            <a:r>
              <a:rPr lang="zh-CN" altLang="en-US" sz="1100" dirty="0">
                <a:hlinkClick r:id="rId3"/>
              </a:rPr>
              <a:t>和</a:t>
            </a:r>
            <a:r>
              <a:rPr lang="en-US" altLang="zh-CN" sz="1100" dirty="0">
                <a:hlinkClick r:id="rId3"/>
              </a:rPr>
              <a:t>BERT</a:t>
            </a:r>
            <a:r>
              <a:rPr lang="zh-CN" altLang="en-US" sz="1100" dirty="0">
                <a:hlinkClick r:id="rId3"/>
              </a:rPr>
              <a:t>的差别</a:t>
            </a:r>
            <a:r>
              <a:rPr lang="en-US" altLang="zh-CN" sz="1100" dirty="0">
                <a:hlinkClick r:id="rId3"/>
              </a:rPr>
              <a:t>- </a:t>
            </a:r>
            <a:r>
              <a:rPr lang="zh-CN" altLang="en-US" sz="1100" dirty="0">
                <a:hlinkClick r:id="rId3"/>
              </a:rPr>
              <a:t>知乎 </a:t>
            </a:r>
            <a:r>
              <a:rPr lang="en-US" altLang="zh-CN" sz="1100" dirty="0">
                <a:hlinkClick r:id="rId3"/>
              </a:rPr>
              <a:t>(zhihu.com)</a:t>
            </a:r>
            <a:endParaRPr lang="zh-CN" altLang="en-US" sz="1100" dirty="0"/>
          </a:p>
        </p:txBody>
      </p:sp>
      <p:sp>
        <p:nvSpPr>
          <p:cNvPr id="23" name="矩形 22">
            <a:extLst>
              <a:ext uri="{FF2B5EF4-FFF2-40B4-BE49-F238E27FC236}">
                <a16:creationId xmlns:a16="http://schemas.microsoft.com/office/drawing/2014/main" id="{B00D28D9-6482-4502-B436-CB8F41B2AEC3}"/>
              </a:ext>
            </a:extLst>
          </p:cNvPr>
          <p:cNvSpPr/>
          <p:nvPr/>
        </p:nvSpPr>
        <p:spPr>
          <a:xfrm>
            <a:off x="6476633" y="328340"/>
            <a:ext cx="701454"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37" name="文本框 36">
            <a:extLst>
              <a:ext uri="{FF2B5EF4-FFF2-40B4-BE49-F238E27FC236}">
                <a16:creationId xmlns:a16="http://schemas.microsoft.com/office/drawing/2014/main" id="{3ABBC96D-E61B-4B98-A8F5-C61987E81842}"/>
              </a:ext>
            </a:extLst>
          </p:cNvPr>
          <p:cNvSpPr txBox="1"/>
          <p:nvPr/>
        </p:nvSpPr>
        <p:spPr>
          <a:xfrm>
            <a:off x="6536255" y="443143"/>
            <a:ext cx="582211" cy="369332"/>
          </a:xfrm>
          <a:prstGeom prst="rect">
            <a:avLst/>
          </a:prstGeom>
          <a:noFill/>
        </p:spPr>
        <p:txBody>
          <a:bodyPr wrap="square" rtlCol="0">
            <a:spAutoFit/>
          </a:bodyPr>
          <a:lstStyle/>
          <a:p>
            <a:pPr algn="ctr"/>
            <a:r>
              <a:rPr lang="en-US" altLang="zh-CN" b="1" dirty="0">
                <a:solidFill>
                  <a:schemeClr val="bg1">
                    <a:lumMod val="75000"/>
                  </a:schemeClr>
                </a:solidFill>
                <a:cs typeface="+mn-ea"/>
                <a:sym typeface="+mn-lt"/>
              </a:rPr>
              <a:t>3.2</a:t>
            </a:r>
          </a:p>
        </p:txBody>
      </p:sp>
    </p:spTree>
    <p:extLst>
      <p:ext uri="{BB962C8B-B14F-4D97-AF65-F5344CB8AC3E}">
        <p14:creationId xmlns:p14="http://schemas.microsoft.com/office/powerpoint/2010/main" val="34945761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8365102-8B3C-4A18-A7DB-478EA79A1D84}"/>
              </a:ext>
            </a:extLst>
          </p:cNvPr>
          <p:cNvSpPr>
            <a:spLocks noGrp="1"/>
          </p:cNvSpPr>
          <p:nvPr>
            <p:ph type="sldNum" sz="quarter" idx="12"/>
          </p:nvPr>
        </p:nvSpPr>
        <p:spPr/>
        <p:txBody>
          <a:bodyPr/>
          <a:lstStyle/>
          <a:p>
            <a:fld id="{A8408CBD-802C-40CC-8D8B-113A19149150}" type="slidenum">
              <a:rPr lang="zh-CN" altLang="en-US" smtClean="0"/>
              <a:t>83</a:t>
            </a:fld>
            <a:endParaRPr lang="zh-CN" altLang="en-US"/>
          </a:p>
        </p:txBody>
      </p:sp>
      <p:sp>
        <p:nvSpPr>
          <p:cNvPr id="3" name="矩形 2">
            <a:extLst>
              <a:ext uri="{FF2B5EF4-FFF2-40B4-BE49-F238E27FC236}">
                <a16:creationId xmlns:a16="http://schemas.microsoft.com/office/drawing/2014/main" id="{C6A0ECEF-6CEC-4C73-99C1-9394AFD55260}"/>
              </a:ext>
            </a:extLst>
          </p:cNvPr>
          <p:cNvSpPr/>
          <p:nvPr/>
        </p:nvSpPr>
        <p:spPr>
          <a:xfrm>
            <a:off x="420689" y="328340"/>
            <a:ext cx="2821621"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172357F5-23A8-46DF-ABFD-5B7195E45543}"/>
              </a:ext>
            </a:extLst>
          </p:cNvPr>
          <p:cNvSpPr txBox="1"/>
          <p:nvPr/>
        </p:nvSpPr>
        <p:spPr>
          <a:xfrm>
            <a:off x="539931" y="443143"/>
            <a:ext cx="2702379" cy="369332"/>
          </a:xfrm>
          <a:prstGeom prst="rect">
            <a:avLst/>
          </a:prstGeom>
          <a:noFill/>
        </p:spPr>
        <p:txBody>
          <a:bodyPr wrap="square" rtlCol="0">
            <a:spAutoFit/>
          </a:bodyPr>
          <a:lstStyle/>
          <a:p>
            <a:r>
              <a:rPr lang="en-US" altLang="zh-CN" b="1" dirty="0">
                <a:cs typeface="+mn-ea"/>
                <a:sym typeface="+mn-lt"/>
              </a:rPr>
              <a:t>3 Prompt Engineering</a:t>
            </a:r>
          </a:p>
        </p:txBody>
      </p:sp>
      <p:sp>
        <p:nvSpPr>
          <p:cNvPr id="5" name="矩形 4">
            <a:extLst>
              <a:ext uri="{FF2B5EF4-FFF2-40B4-BE49-F238E27FC236}">
                <a16:creationId xmlns:a16="http://schemas.microsoft.com/office/drawing/2014/main" id="{055F13B3-8C04-4EBB-BCD6-C994E15C3674}"/>
              </a:ext>
            </a:extLst>
          </p:cNvPr>
          <p:cNvSpPr/>
          <p:nvPr/>
        </p:nvSpPr>
        <p:spPr>
          <a:xfrm>
            <a:off x="4242794" y="328340"/>
            <a:ext cx="3705998"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4766D6EC-9A9F-4128-B0BF-A3C09AEAB445}"/>
              </a:ext>
            </a:extLst>
          </p:cNvPr>
          <p:cNvSpPr txBox="1"/>
          <p:nvPr/>
        </p:nvSpPr>
        <p:spPr>
          <a:xfrm>
            <a:off x="4362036" y="443143"/>
            <a:ext cx="3502936" cy="369332"/>
          </a:xfrm>
          <a:prstGeom prst="rect">
            <a:avLst/>
          </a:prstGeom>
          <a:noFill/>
        </p:spPr>
        <p:txBody>
          <a:bodyPr wrap="square" rtlCol="0">
            <a:spAutoFit/>
          </a:bodyPr>
          <a:lstStyle/>
          <a:p>
            <a:r>
              <a:rPr lang="en-US" altLang="zh-CN" b="1" dirty="0">
                <a:cs typeface="+mn-ea"/>
                <a:sym typeface="+mn-lt"/>
              </a:rPr>
              <a:t>3.2 Prompt Engineering</a:t>
            </a:r>
            <a:r>
              <a:rPr lang="zh-CN" altLang="en-US" b="1" dirty="0">
                <a:cs typeface="+mn-ea"/>
                <a:sym typeface="+mn-lt"/>
              </a:rPr>
              <a:t>的理解</a:t>
            </a:r>
            <a:endParaRPr lang="en-US" altLang="zh-CN" b="1" dirty="0">
              <a:cs typeface="+mn-ea"/>
              <a:sym typeface="+mn-lt"/>
            </a:endParaRPr>
          </a:p>
        </p:txBody>
      </p:sp>
      <p:pic>
        <p:nvPicPr>
          <p:cNvPr id="741" name="图片 740">
            <a:extLst>
              <a:ext uri="{FF2B5EF4-FFF2-40B4-BE49-F238E27FC236}">
                <a16:creationId xmlns:a16="http://schemas.microsoft.com/office/drawing/2014/main" id="{F188A222-5015-417B-A6B8-F30B7EBFBA5E}"/>
              </a:ext>
            </a:extLst>
          </p:cNvPr>
          <p:cNvPicPr>
            <a:picLocks noChangeAspect="1"/>
          </p:cNvPicPr>
          <p:nvPr/>
        </p:nvPicPr>
        <p:blipFill rotWithShape="1">
          <a:blip r:embed="rId2"/>
          <a:srcRect r="64829" b="39404"/>
          <a:stretch/>
        </p:blipFill>
        <p:spPr>
          <a:xfrm>
            <a:off x="5645331" y="1148565"/>
            <a:ext cx="4520702" cy="1909923"/>
          </a:xfrm>
          <a:prstGeom prst="rect">
            <a:avLst/>
          </a:prstGeom>
        </p:spPr>
      </p:pic>
      <p:sp>
        <p:nvSpPr>
          <p:cNvPr id="742" name="文本框 741">
            <a:extLst>
              <a:ext uri="{FF2B5EF4-FFF2-40B4-BE49-F238E27FC236}">
                <a16:creationId xmlns:a16="http://schemas.microsoft.com/office/drawing/2014/main" id="{0734F025-1BB8-4FD1-8AB8-BDE540E49710}"/>
              </a:ext>
            </a:extLst>
          </p:cNvPr>
          <p:cNvSpPr txBox="1"/>
          <p:nvPr/>
        </p:nvSpPr>
        <p:spPr>
          <a:xfrm>
            <a:off x="420689" y="1270670"/>
            <a:ext cx="5280001" cy="369332"/>
          </a:xfrm>
          <a:prstGeom prst="rect">
            <a:avLst/>
          </a:prstGeom>
          <a:noFill/>
        </p:spPr>
        <p:txBody>
          <a:bodyPr wrap="square" rtlCol="0">
            <a:spAutoFit/>
          </a:bodyPr>
          <a:lstStyle/>
          <a:p>
            <a:r>
              <a:rPr lang="en-US" altLang="zh-CN" b="1" dirty="0">
                <a:cs typeface="+mn-ea"/>
                <a:sym typeface="+mn-lt"/>
              </a:rPr>
              <a:t>GPT-2</a:t>
            </a:r>
            <a:r>
              <a:rPr lang="zh-CN" altLang="en-US" b="1" dirty="0">
                <a:cs typeface="+mn-ea"/>
                <a:sym typeface="+mn-lt"/>
              </a:rPr>
              <a:t>呈现出较好的</a:t>
            </a:r>
            <a:r>
              <a:rPr lang="en-US" altLang="zh-CN" b="1" dirty="0">
                <a:cs typeface="+mn-ea"/>
                <a:sym typeface="+mn-lt"/>
              </a:rPr>
              <a:t>Prompt Engineering</a:t>
            </a:r>
            <a:r>
              <a:rPr lang="zh-CN" altLang="en-US" b="1" dirty="0">
                <a:cs typeface="+mn-ea"/>
                <a:sym typeface="+mn-lt"/>
              </a:rPr>
              <a:t>能力</a:t>
            </a:r>
            <a:endParaRPr lang="en-US" altLang="zh-CN" b="1" dirty="0">
              <a:cs typeface="+mn-ea"/>
              <a:sym typeface="+mn-lt"/>
            </a:endParaRPr>
          </a:p>
        </p:txBody>
      </p:sp>
      <p:pic>
        <p:nvPicPr>
          <p:cNvPr id="743" name="图片 742">
            <a:extLst>
              <a:ext uri="{FF2B5EF4-FFF2-40B4-BE49-F238E27FC236}">
                <a16:creationId xmlns:a16="http://schemas.microsoft.com/office/drawing/2014/main" id="{F1D45ACA-1C08-4DE2-A922-65A724CC98C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41671"/>
          <a:stretch/>
        </p:blipFill>
        <p:spPr>
          <a:xfrm>
            <a:off x="420689" y="3488894"/>
            <a:ext cx="9447778" cy="2169015"/>
          </a:xfrm>
          <a:prstGeom prst="rect">
            <a:avLst/>
          </a:prstGeom>
        </p:spPr>
      </p:pic>
      <p:sp>
        <p:nvSpPr>
          <p:cNvPr id="744" name="文本框 743">
            <a:extLst>
              <a:ext uri="{FF2B5EF4-FFF2-40B4-BE49-F238E27FC236}">
                <a16:creationId xmlns:a16="http://schemas.microsoft.com/office/drawing/2014/main" id="{6991352B-BAE3-4DA5-B4BB-02F781EEDEEC}"/>
              </a:ext>
            </a:extLst>
          </p:cNvPr>
          <p:cNvSpPr txBox="1"/>
          <p:nvPr/>
        </p:nvSpPr>
        <p:spPr>
          <a:xfrm>
            <a:off x="420689" y="3154652"/>
            <a:ext cx="5280001" cy="369332"/>
          </a:xfrm>
          <a:prstGeom prst="rect">
            <a:avLst/>
          </a:prstGeom>
          <a:noFill/>
        </p:spPr>
        <p:txBody>
          <a:bodyPr wrap="square" rtlCol="0">
            <a:spAutoFit/>
          </a:bodyPr>
          <a:lstStyle/>
          <a:p>
            <a:r>
              <a:rPr lang="zh-CN" altLang="en-US" b="1" dirty="0">
                <a:cs typeface="+mn-ea"/>
                <a:sym typeface="+mn-lt"/>
              </a:rPr>
              <a:t>与现代计算机结构类比：</a:t>
            </a:r>
            <a:endParaRPr lang="en-US" altLang="zh-CN" b="1" dirty="0">
              <a:cs typeface="+mn-ea"/>
              <a:sym typeface="+mn-lt"/>
            </a:endParaRPr>
          </a:p>
        </p:txBody>
      </p:sp>
      <p:sp>
        <p:nvSpPr>
          <p:cNvPr id="11" name="矩形 10">
            <a:extLst>
              <a:ext uri="{FF2B5EF4-FFF2-40B4-BE49-F238E27FC236}">
                <a16:creationId xmlns:a16="http://schemas.microsoft.com/office/drawing/2014/main" id="{FEDC5B9C-1068-4244-8A7C-950C021D392C}"/>
              </a:ext>
            </a:extLst>
          </p:cNvPr>
          <p:cNvSpPr/>
          <p:nvPr/>
        </p:nvSpPr>
        <p:spPr>
          <a:xfrm>
            <a:off x="3391825" y="328340"/>
            <a:ext cx="701454"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12" name="文本框 11">
            <a:extLst>
              <a:ext uri="{FF2B5EF4-FFF2-40B4-BE49-F238E27FC236}">
                <a16:creationId xmlns:a16="http://schemas.microsoft.com/office/drawing/2014/main" id="{8E469CF4-214F-499D-9816-1D7DBE211CA4}"/>
              </a:ext>
            </a:extLst>
          </p:cNvPr>
          <p:cNvSpPr txBox="1"/>
          <p:nvPr/>
        </p:nvSpPr>
        <p:spPr>
          <a:xfrm>
            <a:off x="3451447" y="443143"/>
            <a:ext cx="582211" cy="369332"/>
          </a:xfrm>
          <a:prstGeom prst="rect">
            <a:avLst/>
          </a:prstGeom>
          <a:noFill/>
        </p:spPr>
        <p:txBody>
          <a:bodyPr wrap="square" rtlCol="0">
            <a:spAutoFit/>
          </a:bodyPr>
          <a:lstStyle/>
          <a:p>
            <a:pPr algn="ctr"/>
            <a:r>
              <a:rPr lang="en-US" altLang="zh-CN" b="1" dirty="0">
                <a:solidFill>
                  <a:schemeClr val="bg1">
                    <a:lumMod val="75000"/>
                  </a:schemeClr>
                </a:solidFill>
                <a:cs typeface="+mn-ea"/>
                <a:sym typeface="+mn-lt"/>
              </a:rPr>
              <a:t>3.1</a:t>
            </a:r>
          </a:p>
        </p:txBody>
      </p:sp>
    </p:spTree>
    <p:extLst>
      <p:ext uri="{BB962C8B-B14F-4D97-AF65-F5344CB8AC3E}">
        <p14:creationId xmlns:p14="http://schemas.microsoft.com/office/powerpoint/2010/main" val="331530582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C43096B-2CDF-443E-BB77-4198D28642EC}"/>
              </a:ext>
            </a:extLst>
          </p:cNvPr>
          <p:cNvSpPr>
            <a:spLocks noGrp="1"/>
          </p:cNvSpPr>
          <p:nvPr>
            <p:ph type="sldNum" sz="quarter" idx="12"/>
          </p:nvPr>
        </p:nvSpPr>
        <p:spPr/>
        <p:txBody>
          <a:bodyPr/>
          <a:lstStyle/>
          <a:p>
            <a:fld id="{A8408CBD-802C-40CC-8D8B-113A19149150}" type="slidenum">
              <a:rPr lang="zh-CN" altLang="en-US" smtClean="0"/>
              <a:t>84</a:t>
            </a:fld>
            <a:endParaRPr lang="zh-CN" altLang="en-US"/>
          </a:p>
        </p:txBody>
      </p:sp>
      <p:sp>
        <p:nvSpPr>
          <p:cNvPr id="5" name="矩形 4">
            <a:extLst>
              <a:ext uri="{FF2B5EF4-FFF2-40B4-BE49-F238E27FC236}">
                <a16:creationId xmlns:a16="http://schemas.microsoft.com/office/drawing/2014/main" id="{81026F88-199A-4BC2-B3C1-AEEE614DFCEB}"/>
              </a:ext>
            </a:extLst>
          </p:cNvPr>
          <p:cNvSpPr/>
          <p:nvPr/>
        </p:nvSpPr>
        <p:spPr>
          <a:xfrm>
            <a:off x="420689" y="328340"/>
            <a:ext cx="4202111"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96D7CFCC-C3DB-4406-A3C4-1E4F62DA394B}"/>
              </a:ext>
            </a:extLst>
          </p:cNvPr>
          <p:cNvSpPr txBox="1"/>
          <p:nvPr/>
        </p:nvSpPr>
        <p:spPr>
          <a:xfrm>
            <a:off x="539931" y="443143"/>
            <a:ext cx="3960949" cy="369332"/>
          </a:xfrm>
          <a:prstGeom prst="rect">
            <a:avLst/>
          </a:prstGeom>
          <a:noFill/>
        </p:spPr>
        <p:txBody>
          <a:bodyPr wrap="square" rtlCol="0">
            <a:spAutoFit/>
          </a:bodyPr>
          <a:lstStyle/>
          <a:p>
            <a:r>
              <a:rPr lang="en-US" altLang="zh-CN" b="1" dirty="0">
                <a:cs typeface="+mn-ea"/>
                <a:sym typeface="+mn-lt"/>
              </a:rPr>
              <a:t>4 </a:t>
            </a:r>
            <a:r>
              <a:rPr lang="zh-CN" altLang="en-US" b="1" dirty="0">
                <a:cs typeface="+mn-ea"/>
                <a:sym typeface="+mn-lt"/>
              </a:rPr>
              <a:t>模型的发展与更多样的</a:t>
            </a:r>
            <a:r>
              <a:rPr lang="en-US" altLang="zh-CN" b="1" dirty="0">
                <a:cs typeface="+mn-ea"/>
                <a:sym typeface="+mn-lt"/>
              </a:rPr>
              <a:t>Prompt</a:t>
            </a:r>
            <a:r>
              <a:rPr lang="zh-CN" altLang="en-US" b="1" dirty="0">
                <a:cs typeface="+mn-ea"/>
                <a:sym typeface="+mn-lt"/>
              </a:rPr>
              <a:t>技术</a:t>
            </a:r>
          </a:p>
        </p:txBody>
      </p:sp>
      <p:sp>
        <p:nvSpPr>
          <p:cNvPr id="7" name="矩形 6">
            <a:extLst>
              <a:ext uri="{FF2B5EF4-FFF2-40B4-BE49-F238E27FC236}">
                <a16:creationId xmlns:a16="http://schemas.microsoft.com/office/drawing/2014/main" id="{CD183D3C-5C3C-4C04-A1C2-3C8C5B629670}"/>
              </a:ext>
            </a:extLst>
          </p:cNvPr>
          <p:cNvSpPr/>
          <p:nvPr/>
        </p:nvSpPr>
        <p:spPr>
          <a:xfrm>
            <a:off x="5631042" y="328340"/>
            <a:ext cx="2862442"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EB28895B-D259-4BAB-BF4B-1040D5872A36}"/>
              </a:ext>
            </a:extLst>
          </p:cNvPr>
          <p:cNvSpPr txBox="1"/>
          <p:nvPr/>
        </p:nvSpPr>
        <p:spPr>
          <a:xfrm>
            <a:off x="5750284" y="443143"/>
            <a:ext cx="2743200" cy="369332"/>
          </a:xfrm>
          <a:prstGeom prst="rect">
            <a:avLst/>
          </a:prstGeom>
          <a:noFill/>
        </p:spPr>
        <p:txBody>
          <a:bodyPr wrap="square" rtlCol="0">
            <a:spAutoFit/>
          </a:bodyPr>
          <a:lstStyle/>
          <a:p>
            <a:r>
              <a:rPr lang="en-US" altLang="zh-CN" b="1" dirty="0">
                <a:cs typeface="+mn-ea"/>
                <a:sym typeface="+mn-lt"/>
              </a:rPr>
              <a:t>4.2 In-context learning</a:t>
            </a:r>
          </a:p>
        </p:txBody>
      </p:sp>
      <p:sp>
        <p:nvSpPr>
          <p:cNvPr id="9" name="矩形 8">
            <a:extLst>
              <a:ext uri="{FF2B5EF4-FFF2-40B4-BE49-F238E27FC236}">
                <a16:creationId xmlns:a16="http://schemas.microsoft.com/office/drawing/2014/main" id="{FAC8BF2D-3858-4AC4-AA42-4D8479FA7E57}"/>
              </a:ext>
            </a:extLst>
          </p:cNvPr>
          <p:cNvSpPr/>
          <p:nvPr/>
        </p:nvSpPr>
        <p:spPr>
          <a:xfrm>
            <a:off x="4776194" y="328340"/>
            <a:ext cx="701454"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75000"/>
                </a:schemeClr>
              </a:solidFill>
            </a:endParaRPr>
          </a:p>
        </p:txBody>
      </p:sp>
      <p:sp>
        <p:nvSpPr>
          <p:cNvPr id="10" name="文本框 9">
            <a:extLst>
              <a:ext uri="{FF2B5EF4-FFF2-40B4-BE49-F238E27FC236}">
                <a16:creationId xmlns:a16="http://schemas.microsoft.com/office/drawing/2014/main" id="{C289B201-FCA0-4883-9D5A-23D041428817}"/>
              </a:ext>
            </a:extLst>
          </p:cNvPr>
          <p:cNvSpPr txBox="1"/>
          <p:nvPr/>
        </p:nvSpPr>
        <p:spPr>
          <a:xfrm>
            <a:off x="4835816" y="443143"/>
            <a:ext cx="582211" cy="369332"/>
          </a:xfrm>
          <a:prstGeom prst="rect">
            <a:avLst/>
          </a:prstGeom>
          <a:noFill/>
        </p:spPr>
        <p:txBody>
          <a:bodyPr wrap="square" rtlCol="0">
            <a:spAutoFit/>
          </a:bodyPr>
          <a:lstStyle/>
          <a:p>
            <a:pPr algn="ctr"/>
            <a:r>
              <a:rPr lang="en-US" altLang="zh-CN" b="1" dirty="0">
                <a:solidFill>
                  <a:schemeClr val="bg1">
                    <a:lumMod val="75000"/>
                  </a:schemeClr>
                </a:solidFill>
                <a:cs typeface="+mn-ea"/>
                <a:sym typeface="+mn-lt"/>
              </a:rPr>
              <a:t>4.1</a:t>
            </a:r>
          </a:p>
        </p:txBody>
      </p:sp>
      <p:pic>
        <p:nvPicPr>
          <p:cNvPr id="14" name="图片 13">
            <a:extLst>
              <a:ext uri="{FF2B5EF4-FFF2-40B4-BE49-F238E27FC236}">
                <a16:creationId xmlns:a16="http://schemas.microsoft.com/office/drawing/2014/main" id="{A96793C6-3EEB-4748-8148-E952860E828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2027"/>
          <a:stretch/>
        </p:blipFill>
        <p:spPr>
          <a:xfrm>
            <a:off x="1204859" y="2363384"/>
            <a:ext cx="9782283" cy="2617075"/>
          </a:xfrm>
          <a:prstGeom prst="rect">
            <a:avLst/>
          </a:prstGeom>
        </p:spPr>
      </p:pic>
      <p:sp>
        <p:nvSpPr>
          <p:cNvPr id="16" name="文本框 15">
            <a:extLst>
              <a:ext uri="{FF2B5EF4-FFF2-40B4-BE49-F238E27FC236}">
                <a16:creationId xmlns:a16="http://schemas.microsoft.com/office/drawing/2014/main" id="{D4711A87-0144-4955-9805-987494C1DBE5}"/>
              </a:ext>
            </a:extLst>
          </p:cNvPr>
          <p:cNvSpPr txBox="1"/>
          <p:nvPr/>
        </p:nvSpPr>
        <p:spPr>
          <a:xfrm>
            <a:off x="420689" y="1703941"/>
            <a:ext cx="10096105" cy="369332"/>
          </a:xfrm>
          <a:prstGeom prst="rect">
            <a:avLst/>
          </a:prstGeom>
          <a:noFill/>
        </p:spPr>
        <p:txBody>
          <a:bodyPr wrap="square">
            <a:spAutoFit/>
          </a:bodyPr>
          <a:lstStyle/>
          <a:p>
            <a:pPr marL="342900" indent="-342900">
              <a:buFont typeface="Wingdings" panose="05000000000000000000" pitchFamily="2" charset="2"/>
              <a:buChar char="l"/>
            </a:pPr>
            <a:r>
              <a:rPr lang="zh-CN" altLang="en-US" sz="1800" kern="0" dirty="0">
                <a:cs typeface="+mn-lt"/>
                <a:sym typeface="+mn-ea"/>
              </a:rPr>
              <a:t>提供演示样例，模型能够很快将知识迁移至新的任务上</a:t>
            </a:r>
            <a:r>
              <a:rPr lang="zh-CN" altLang="en-US" sz="1800" kern="0" noProof="0" dirty="0">
                <a:cs typeface="+mn-lt"/>
                <a:sym typeface="+mn-ea"/>
              </a:rPr>
              <a:t>。</a:t>
            </a:r>
            <a:endParaRPr lang="en-US" altLang="zh-CN" sz="1800" kern="0" noProof="0" dirty="0">
              <a:cs typeface="+mn-lt"/>
              <a:sym typeface="+mn-ea"/>
            </a:endParaRPr>
          </a:p>
        </p:txBody>
      </p:sp>
      <p:sp>
        <p:nvSpPr>
          <p:cNvPr id="19" name="文本框 18">
            <a:extLst>
              <a:ext uri="{FF2B5EF4-FFF2-40B4-BE49-F238E27FC236}">
                <a16:creationId xmlns:a16="http://schemas.microsoft.com/office/drawing/2014/main" id="{5F433C46-A12A-4228-B47E-0AC30963001F}"/>
              </a:ext>
            </a:extLst>
          </p:cNvPr>
          <p:cNvSpPr txBox="1"/>
          <p:nvPr/>
        </p:nvSpPr>
        <p:spPr>
          <a:xfrm>
            <a:off x="420689" y="1174796"/>
            <a:ext cx="10096105" cy="369332"/>
          </a:xfrm>
          <a:prstGeom prst="rect">
            <a:avLst/>
          </a:prstGeom>
          <a:noFill/>
        </p:spPr>
        <p:txBody>
          <a:bodyPr wrap="square">
            <a:spAutoFit/>
          </a:bodyPr>
          <a:lstStyle/>
          <a:p>
            <a:pPr marL="342900" indent="-342900">
              <a:buFont typeface="Wingdings" panose="05000000000000000000" pitchFamily="2" charset="2"/>
              <a:buChar char="l"/>
            </a:pPr>
            <a:r>
              <a:rPr lang="zh-CN" altLang="en-US" kern="0" noProof="0" dirty="0">
                <a:cs typeface="+mn-lt"/>
                <a:sym typeface="+mn-ea"/>
              </a:rPr>
              <a:t>当模型的参数量达到某个阈值之前，某些能力是不会涌现的，</a:t>
            </a:r>
            <a:r>
              <a:rPr lang="en-US" altLang="zh-CN" kern="0" noProof="0" dirty="0">
                <a:cs typeface="+mn-lt"/>
                <a:sym typeface="+mn-ea"/>
              </a:rPr>
              <a:t>ICL</a:t>
            </a:r>
            <a:r>
              <a:rPr lang="zh-CN" altLang="en-US" kern="0" noProof="0" dirty="0">
                <a:cs typeface="+mn-lt"/>
                <a:sym typeface="+mn-ea"/>
              </a:rPr>
              <a:t>能力也是如此。</a:t>
            </a:r>
            <a:endParaRPr lang="en-US" altLang="zh-CN" sz="1800" kern="0" noProof="0" dirty="0">
              <a:cs typeface="+mn-lt"/>
              <a:sym typeface="+mn-ea"/>
            </a:endParaRPr>
          </a:p>
        </p:txBody>
      </p:sp>
      <p:sp>
        <p:nvSpPr>
          <p:cNvPr id="12" name="矩形 11">
            <a:extLst>
              <a:ext uri="{FF2B5EF4-FFF2-40B4-BE49-F238E27FC236}">
                <a16:creationId xmlns:a16="http://schemas.microsoft.com/office/drawing/2014/main" id="{A2441E30-9ABC-42D9-8CDB-1BE961F8B577}"/>
              </a:ext>
            </a:extLst>
          </p:cNvPr>
          <p:cNvSpPr/>
          <p:nvPr/>
        </p:nvSpPr>
        <p:spPr>
          <a:xfrm>
            <a:off x="8646878" y="328340"/>
            <a:ext cx="701454"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bg1">
                  <a:lumMod val="75000"/>
                </a:schemeClr>
              </a:solidFill>
            </a:endParaRPr>
          </a:p>
        </p:txBody>
      </p:sp>
      <p:sp>
        <p:nvSpPr>
          <p:cNvPr id="13" name="文本框 20">
            <a:extLst>
              <a:ext uri="{FF2B5EF4-FFF2-40B4-BE49-F238E27FC236}">
                <a16:creationId xmlns:a16="http://schemas.microsoft.com/office/drawing/2014/main" id="{2036D99E-04CF-4E23-A696-5A128B15B780}"/>
              </a:ext>
            </a:extLst>
          </p:cNvPr>
          <p:cNvSpPr txBox="1"/>
          <p:nvPr/>
        </p:nvSpPr>
        <p:spPr>
          <a:xfrm>
            <a:off x="8706500" y="443143"/>
            <a:ext cx="582211"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chemeClr val="bg1">
                    <a:lumMod val="75000"/>
                  </a:schemeClr>
                </a:solidFill>
                <a:cs typeface="+mn-ea"/>
                <a:sym typeface="+mn-lt"/>
              </a:rPr>
              <a:t>4.3</a:t>
            </a:r>
          </a:p>
        </p:txBody>
      </p:sp>
    </p:spTree>
    <p:extLst>
      <p:ext uri="{BB962C8B-B14F-4D97-AF65-F5344CB8AC3E}">
        <p14:creationId xmlns:p14="http://schemas.microsoft.com/office/powerpoint/2010/main" val="113819972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C43096B-2CDF-443E-BB77-4198D28642EC}"/>
              </a:ext>
            </a:extLst>
          </p:cNvPr>
          <p:cNvSpPr>
            <a:spLocks noGrp="1"/>
          </p:cNvSpPr>
          <p:nvPr>
            <p:ph type="sldNum" sz="quarter" idx="12"/>
          </p:nvPr>
        </p:nvSpPr>
        <p:spPr/>
        <p:txBody>
          <a:bodyPr/>
          <a:lstStyle/>
          <a:p>
            <a:fld id="{A8408CBD-802C-40CC-8D8B-113A19149150}" type="slidenum">
              <a:rPr lang="zh-CN" altLang="en-US" smtClean="0"/>
              <a:t>85</a:t>
            </a:fld>
            <a:endParaRPr lang="zh-CN" altLang="en-US"/>
          </a:p>
        </p:txBody>
      </p:sp>
      <p:sp>
        <p:nvSpPr>
          <p:cNvPr id="5" name="矩形 4">
            <a:extLst>
              <a:ext uri="{FF2B5EF4-FFF2-40B4-BE49-F238E27FC236}">
                <a16:creationId xmlns:a16="http://schemas.microsoft.com/office/drawing/2014/main" id="{81026F88-199A-4BC2-B3C1-AEEE614DFCEB}"/>
              </a:ext>
            </a:extLst>
          </p:cNvPr>
          <p:cNvSpPr/>
          <p:nvPr/>
        </p:nvSpPr>
        <p:spPr>
          <a:xfrm>
            <a:off x="420689" y="328340"/>
            <a:ext cx="4202111"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96D7CFCC-C3DB-4406-A3C4-1E4F62DA394B}"/>
              </a:ext>
            </a:extLst>
          </p:cNvPr>
          <p:cNvSpPr txBox="1"/>
          <p:nvPr/>
        </p:nvSpPr>
        <p:spPr>
          <a:xfrm>
            <a:off x="539931" y="443143"/>
            <a:ext cx="3960949" cy="369332"/>
          </a:xfrm>
          <a:prstGeom prst="rect">
            <a:avLst/>
          </a:prstGeom>
          <a:noFill/>
        </p:spPr>
        <p:txBody>
          <a:bodyPr wrap="square" rtlCol="0">
            <a:spAutoFit/>
          </a:bodyPr>
          <a:lstStyle/>
          <a:p>
            <a:r>
              <a:rPr lang="en-US" altLang="zh-CN" b="1" dirty="0">
                <a:cs typeface="+mn-ea"/>
                <a:sym typeface="+mn-lt"/>
              </a:rPr>
              <a:t>4 </a:t>
            </a:r>
            <a:r>
              <a:rPr lang="zh-CN" altLang="en-US" b="1" dirty="0">
                <a:cs typeface="+mn-ea"/>
                <a:sym typeface="+mn-lt"/>
              </a:rPr>
              <a:t>模型的发展与更多样的</a:t>
            </a:r>
            <a:r>
              <a:rPr lang="en-US" altLang="zh-CN" b="1" dirty="0">
                <a:cs typeface="+mn-ea"/>
                <a:sym typeface="+mn-lt"/>
              </a:rPr>
              <a:t>Prompt</a:t>
            </a:r>
            <a:r>
              <a:rPr lang="zh-CN" altLang="en-US" b="1" dirty="0">
                <a:cs typeface="+mn-ea"/>
                <a:sym typeface="+mn-lt"/>
              </a:rPr>
              <a:t>技术</a:t>
            </a:r>
          </a:p>
        </p:txBody>
      </p:sp>
      <p:sp>
        <p:nvSpPr>
          <p:cNvPr id="7" name="矩形 6">
            <a:extLst>
              <a:ext uri="{FF2B5EF4-FFF2-40B4-BE49-F238E27FC236}">
                <a16:creationId xmlns:a16="http://schemas.microsoft.com/office/drawing/2014/main" id="{CD183D3C-5C3C-4C04-A1C2-3C8C5B629670}"/>
              </a:ext>
            </a:extLst>
          </p:cNvPr>
          <p:cNvSpPr/>
          <p:nvPr/>
        </p:nvSpPr>
        <p:spPr>
          <a:xfrm>
            <a:off x="5631042" y="328340"/>
            <a:ext cx="2862442"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EB28895B-D259-4BAB-BF4B-1040D5872A36}"/>
              </a:ext>
            </a:extLst>
          </p:cNvPr>
          <p:cNvSpPr txBox="1"/>
          <p:nvPr/>
        </p:nvSpPr>
        <p:spPr>
          <a:xfrm>
            <a:off x="5750284" y="443143"/>
            <a:ext cx="2743200" cy="369332"/>
          </a:xfrm>
          <a:prstGeom prst="rect">
            <a:avLst/>
          </a:prstGeom>
          <a:noFill/>
        </p:spPr>
        <p:txBody>
          <a:bodyPr wrap="square" rtlCol="0">
            <a:spAutoFit/>
          </a:bodyPr>
          <a:lstStyle/>
          <a:p>
            <a:r>
              <a:rPr lang="en-US" altLang="zh-CN" b="1" dirty="0">
                <a:cs typeface="+mn-ea"/>
                <a:sym typeface="+mn-lt"/>
              </a:rPr>
              <a:t>4.2 In-context learning</a:t>
            </a:r>
          </a:p>
        </p:txBody>
      </p:sp>
      <p:sp>
        <p:nvSpPr>
          <p:cNvPr id="9" name="矩形 8">
            <a:extLst>
              <a:ext uri="{FF2B5EF4-FFF2-40B4-BE49-F238E27FC236}">
                <a16:creationId xmlns:a16="http://schemas.microsoft.com/office/drawing/2014/main" id="{FAC8BF2D-3858-4AC4-AA42-4D8479FA7E57}"/>
              </a:ext>
            </a:extLst>
          </p:cNvPr>
          <p:cNvSpPr/>
          <p:nvPr/>
        </p:nvSpPr>
        <p:spPr>
          <a:xfrm>
            <a:off x="4776194" y="328340"/>
            <a:ext cx="701454"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75000"/>
                </a:schemeClr>
              </a:solidFill>
            </a:endParaRPr>
          </a:p>
        </p:txBody>
      </p:sp>
      <p:sp>
        <p:nvSpPr>
          <p:cNvPr id="10" name="文本框 9">
            <a:extLst>
              <a:ext uri="{FF2B5EF4-FFF2-40B4-BE49-F238E27FC236}">
                <a16:creationId xmlns:a16="http://schemas.microsoft.com/office/drawing/2014/main" id="{C289B201-FCA0-4883-9D5A-23D041428817}"/>
              </a:ext>
            </a:extLst>
          </p:cNvPr>
          <p:cNvSpPr txBox="1"/>
          <p:nvPr/>
        </p:nvSpPr>
        <p:spPr>
          <a:xfrm>
            <a:off x="4835816" y="443143"/>
            <a:ext cx="582211" cy="369332"/>
          </a:xfrm>
          <a:prstGeom prst="rect">
            <a:avLst/>
          </a:prstGeom>
          <a:noFill/>
        </p:spPr>
        <p:txBody>
          <a:bodyPr wrap="square" rtlCol="0">
            <a:spAutoFit/>
          </a:bodyPr>
          <a:lstStyle/>
          <a:p>
            <a:pPr algn="ctr"/>
            <a:r>
              <a:rPr lang="en-US" altLang="zh-CN" b="1" dirty="0">
                <a:solidFill>
                  <a:schemeClr val="bg1">
                    <a:lumMod val="75000"/>
                  </a:schemeClr>
                </a:solidFill>
                <a:cs typeface="+mn-ea"/>
                <a:sym typeface="+mn-lt"/>
              </a:rPr>
              <a:t>4.1</a:t>
            </a:r>
          </a:p>
        </p:txBody>
      </p:sp>
      <p:pic>
        <p:nvPicPr>
          <p:cNvPr id="12" name="图片 11">
            <a:extLst>
              <a:ext uri="{FF2B5EF4-FFF2-40B4-BE49-F238E27FC236}">
                <a16:creationId xmlns:a16="http://schemas.microsoft.com/office/drawing/2014/main" id="{FF052CB6-5B17-47A0-A4AF-944B85345914}"/>
              </a:ext>
            </a:extLst>
          </p:cNvPr>
          <p:cNvPicPr>
            <a:picLocks noChangeAspect="1"/>
          </p:cNvPicPr>
          <p:nvPr/>
        </p:nvPicPr>
        <p:blipFill rotWithShape="1">
          <a:blip r:embed="rId2"/>
          <a:srcRect t="48077"/>
          <a:stretch/>
        </p:blipFill>
        <p:spPr>
          <a:xfrm>
            <a:off x="4132645" y="1066429"/>
            <a:ext cx="5179477" cy="1149139"/>
          </a:xfrm>
          <a:prstGeom prst="rect">
            <a:avLst/>
          </a:prstGeom>
        </p:spPr>
      </p:pic>
      <p:pic>
        <p:nvPicPr>
          <p:cNvPr id="15" name="图片 14">
            <a:extLst>
              <a:ext uri="{FF2B5EF4-FFF2-40B4-BE49-F238E27FC236}">
                <a16:creationId xmlns:a16="http://schemas.microsoft.com/office/drawing/2014/main" id="{C6669277-C43A-4DD3-96B5-F74CCF8E233D}"/>
              </a:ext>
            </a:extLst>
          </p:cNvPr>
          <p:cNvPicPr>
            <a:picLocks noChangeAspect="1"/>
          </p:cNvPicPr>
          <p:nvPr/>
        </p:nvPicPr>
        <p:blipFill>
          <a:blip r:embed="rId3"/>
          <a:stretch>
            <a:fillRect/>
          </a:stretch>
        </p:blipFill>
        <p:spPr>
          <a:xfrm>
            <a:off x="4132645" y="2239915"/>
            <a:ext cx="5371573" cy="1689933"/>
          </a:xfrm>
          <a:prstGeom prst="rect">
            <a:avLst/>
          </a:prstGeom>
        </p:spPr>
      </p:pic>
      <p:pic>
        <p:nvPicPr>
          <p:cNvPr id="18" name="图片 17">
            <a:extLst>
              <a:ext uri="{FF2B5EF4-FFF2-40B4-BE49-F238E27FC236}">
                <a16:creationId xmlns:a16="http://schemas.microsoft.com/office/drawing/2014/main" id="{FC5CE6D7-4A2E-4C94-A870-BF594E6B8EF7}"/>
              </a:ext>
            </a:extLst>
          </p:cNvPr>
          <p:cNvPicPr>
            <a:picLocks noChangeAspect="1"/>
          </p:cNvPicPr>
          <p:nvPr/>
        </p:nvPicPr>
        <p:blipFill>
          <a:blip r:embed="rId4"/>
          <a:stretch>
            <a:fillRect/>
          </a:stretch>
        </p:blipFill>
        <p:spPr>
          <a:xfrm>
            <a:off x="4187670" y="4055112"/>
            <a:ext cx="5572857" cy="2413683"/>
          </a:xfrm>
          <a:prstGeom prst="rect">
            <a:avLst/>
          </a:prstGeom>
        </p:spPr>
      </p:pic>
      <p:sp>
        <p:nvSpPr>
          <p:cNvPr id="20" name="矩形 19">
            <a:extLst>
              <a:ext uri="{FF2B5EF4-FFF2-40B4-BE49-F238E27FC236}">
                <a16:creationId xmlns:a16="http://schemas.microsoft.com/office/drawing/2014/main" id="{3B0FCA9B-0236-4569-97F2-FCA00615E6BD}"/>
              </a:ext>
            </a:extLst>
          </p:cNvPr>
          <p:cNvSpPr/>
          <p:nvPr/>
        </p:nvSpPr>
        <p:spPr>
          <a:xfrm>
            <a:off x="4003963" y="1075317"/>
            <a:ext cx="5756564" cy="1131363"/>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矩形 20">
            <a:extLst>
              <a:ext uri="{FF2B5EF4-FFF2-40B4-BE49-F238E27FC236}">
                <a16:creationId xmlns:a16="http://schemas.microsoft.com/office/drawing/2014/main" id="{41F760F2-340E-45DD-967F-403DAD8FD9A7}"/>
              </a:ext>
            </a:extLst>
          </p:cNvPr>
          <p:cNvSpPr/>
          <p:nvPr/>
        </p:nvSpPr>
        <p:spPr>
          <a:xfrm>
            <a:off x="4003963" y="2274251"/>
            <a:ext cx="5756564" cy="1621260"/>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矩形 21">
            <a:extLst>
              <a:ext uri="{FF2B5EF4-FFF2-40B4-BE49-F238E27FC236}">
                <a16:creationId xmlns:a16="http://schemas.microsoft.com/office/drawing/2014/main" id="{6C009A31-E795-4BB1-BA8E-774EF01CF833}"/>
              </a:ext>
            </a:extLst>
          </p:cNvPr>
          <p:cNvSpPr/>
          <p:nvPr/>
        </p:nvSpPr>
        <p:spPr>
          <a:xfrm>
            <a:off x="4003963" y="4013700"/>
            <a:ext cx="5756564" cy="2496507"/>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 name="文本框 23">
            <a:extLst>
              <a:ext uri="{FF2B5EF4-FFF2-40B4-BE49-F238E27FC236}">
                <a16:creationId xmlns:a16="http://schemas.microsoft.com/office/drawing/2014/main" id="{86C5E282-2CED-4D0B-AA2F-9621BBBB9D88}"/>
              </a:ext>
            </a:extLst>
          </p:cNvPr>
          <p:cNvSpPr txBox="1"/>
          <p:nvPr/>
        </p:nvSpPr>
        <p:spPr>
          <a:xfrm>
            <a:off x="941040" y="1456332"/>
            <a:ext cx="2743200" cy="369332"/>
          </a:xfrm>
          <a:prstGeom prst="rect">
            <a:avLst/>
          </a:prstGeom>
          <a:noFill/>
        </p:spPr>
        <p:txBody>
          <a:bodyPr wrap="square" rtlCol="0">
            <a:spAutoFit/>
          </a:bodyPr>
          <a:lstStyle/>
          <a:p>
            <a:r>
              <a:rPr lang="en-US" altLang="zh-CN" b="1" dirty="0">
                <a:cs typeface="+mn-ea"/>
                <a:sym typeface="+mn-lt"/>
              </a:rPr>
              <a:t>Zero-shot learning</a:t>
            </a:r>
          </a:p>
        </p:txBody>
      </p:sp>
      <p:sp>
        <p:nvSpPr>
          <p:cNvPr id="25" name="文本框 24">
            <a:extLst>
              <a:ext uri="{FF2B5EF4-FFF2-40B4-BE49-F238E27FC236}">
                <a16:creationId xmlns:a16="http://schemas.microsoft.com/office/drawing/2014/main" id="{F8EF00EE-52E9-4570-B29C-B9BF03EE74DC}"/>
              </a:ext>
            </a:extLst>
          </p:cNvPr>
          <p:cNvSpPr txBox="1"/>
          <p:nvPr/>
        </p:nvSpPr>
        <p:spPr>
          <a:xfrm>
            <a:off x="941040" y="2900215"/>
            <a:ext cx="2743200" cy="369332"/>
          </a:xfrm>
          <a:prstGeom prst="rect">
            <a:avLst/>
          </a:prstGeom>
          <a:noFill/>
        </p:spPr>
        <p:txBody>
          <a:bodyPr wrap="square" rtlCol="0">
            <a:spAutoFit/>
          </a:bodyPr>
          <a:lstStyle/>
          <a:p>
            <a:r>
              <a:rPr lang="en-US" altLang="zh-CN" b="1" dirty="0">
                <a:cs typeface="+mn-ea"/>
                <a:sym typeface="+mn-lt"/>
              </a:rPr>
              <a:t>One-shot learning</a:t>
            </a:r>
          </a:p>
        </p:txBody>
      </p:sp>
      <p:sp>
        <p:nvSpPr>
          <p:cNvPr id="26" name="文本框 25">
            <a:extLst>
              <a:ext uri="{FF2B5EF4-FFF2-40B4-BE49-F238E27FC236}">
                <a16:creationId xmlns:a16="http://schemas.microsoft.com/office/drawing/2014/main" id="{6E411D7B-D6A5-48A5-89B1-1AAF07111A93}"/>
              </a:ext>
            </a:extLst>
          </p:cNvPr>
          <p:cNvSpPr txBox="1"/>
          <p:nvPr/>
        </p:nvSpPr>
        <p:spPr>
          <a:xfrm>
            <a:off x="941040" y="5077287"/>
            <a:ext cx="2743200" cy="369332"/>
          </a:xfrm>
          <a:prstGeom prst="rect">
            <a:avLst/>
          </a:prstGeom>
          <a:noFill/>
        </p:spPr>
        <p:txBody>
          <a:bodyPr wrap="square" rtlCol="0">
            <a:spAutoFit/>
          </a:bodyPr>
          <a:lstStyle/>
          <a:p>
            <a:r>
              <a:rPr lang="en-US" altLang="zh-CN" b="1" dirty="0">
                <a:cs typeface="+mn-ea"/>
                <a:sym typeface="+mn-lt"/>
              </a:rPr>
              <a:t>Few-shot learning</a:t>
            </a:r>
          </a:p>
        </p:txBody>
      </p:sp>
      <p:sp>
        <p:nvSpPr>
          <p:cNvPr id="27" name="矩形 26">
            <a:extLst>
              <a:ext uri="{FF2B5EF4-FFF2-40B4-BE49-F238E27FC236}">
                <a16:creationId xmlns:a16="http://schemas.microsoft.com/office/drawing/2014/main" id="{FC5D09A4-C768-4945-A3D8-720A81062D68}"/>
              </a:ext>
            </a:extLst>
          </p:cNvPr>
          <p:cNvSpPr/>
          <p:nvPr/>
        </p:nvSpPr>
        <p:spPr>
          <a:xfrm>
            <a:off x="8646878" y="328340"/>
            <a:ext cx="701454"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bg1">
                  <a:lumMod val="75000"/>
                </a:schemeClr>
              </a:solidFill>
            </a:endParaRPr>
          </a:p>
        </p:txBody>
      </p:sp>
      <p:sp>
        <p:nvSpPr>
          <p:cNvPr id="28" name="文本框 20">
            <a:extLst>
              <a:ext uri="{FF2B5EF4-FFF2-40B4-BE49-F238E27FC236}">
                <a16:creationId xmlns:a16="http://schemas.microsoft.com/office/drawing/2014/main" id="{904B0DB3-09FB-4C84-B566-C55E8259EE8A}"/>
              </a:ext>
            </a:extLst>
          </p:cNvPr>
          <p:cNvSpPr txBox="1"/>
          <p:nvPr/>
        </p:nvSpPr>
        <p:spPr>
          <a:xfrm>
            <a:off x="8706500" y="443143"/>
            <a:ext cx="582211"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chemeClr val="bg1">
                    <a:lumMod val="75000"/>
                  </a:schemeClr>
                </a:solidFill>
                <a:cs typeface="+mn-ea"/>
                <a:sym typeface="+mn-lt"/>
              </a:rPr>
              <a:t>4.3</a:t>
            </a:r>
          </a:p>
        </p:txBody>
      </p:sp>
    </p:spTree>
    <p:extLst>
      <p:ext uri="{BB962C8B-B14F-4D97-AF65-F5344CB8AC3E}">
        <p14:creationId xmlns:p14="http://schemas.microsoft.com/office/powerpoint/2010/main" val="380705964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C44E1E3-7D8A-4AC1-8688-AD6AC52271F0}"/>
              </a:ext>
            </a:extLst>
          </p:cNvPr>
          <p:cNvSpPr>
            <a:spLocks noGrp="1"/>
          </p:cNvSpPr>
          <p:nvPr>
            <p:ph type="sldNum" sz="quarter" idx="12"/>
          </p:nvPr>
        </p:nvSpPr>
        <p:spPr/>
        <p:txBody>
          <a:bodyPr/>
          <a:lstStyle/>
          <a:p>
            <a:fld id="{A8408CBD-802C-40CC-8D8B-113A19149150}" type="slidenum">
              <a:rPr lang="zh-CN" altLang="en-US" smtClean="0"/>
              <a:t>86</a:t>
            </a:fld>
            <a:endParaRPr lang="zh-CN" altLang="en-US"/>
          </a:p>
        </p:txBody>
      </p:sp>
      <p:sp>
        <p:nvSpPr>
          <p:cNvPr id="3" name="矩形 2">
            <a:extLst>
              <a:ext uri="{FF2B5EF4-FFF2-40B4-BE49-F238E27FC236}">
                <a16:creationId xmlns:a16="http://schemas.microsoft.com/office/drawing/2014/main" id="{C16FE88A-1544-440D-B3ED-01EB30D1337E}"/>
              </a:ext>
            </a:extLst>
          </p:cNvPr>
          <p:cNvSpPr/>
          <p:nvPr/>
        </p:nvSpPr>
        <p:spPr>
          <a:xfrm>
            <a:off x="420689" y="328340"/>
            <a:ext cx="4202111"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15739CBF-F732-417E-90A5-1AB9FE06E18F}"/>
              </a:ext>
            </a:extLst>
          </p:cNvPr>
          <p:cNvSpPr txBox="1"/>
          <p:nvPr/>
        </p:nvSpPr>
        <p:spPr>
          <a:xfrm>
            <a:off x="539931" y="443143"/>
            <a:ext cx="3960949" cy="369332"/>
          </a:xfrm>
          <a:prstGeom prst="rect">
            <a:avLst/>
          </a:prstGeom>
          <a:noFill/>
        </p:spPr>
        <p:txBody>
          <a:bodyPr wrap="square" rtlCol="0">
            <a:spAutoFit/>
          </a:bodyPr>
          <a:lstStyle/>
          <a:p>
            <a:r>
              <a:rPr lang="en-US" altLang="zh-CN" b="1" dirty="0">
                <a:cs typeface="+mn-ea"/>
                <a:sym typeface="+mn-lt"/>
              </a:rPr>
              <a:t>4 </a:t>
            </a:r>
            <a:r>
              <a:rPr lang="zh-CN" altLang="en-US" b="1" dirty="0">
                <a:cs typeface="+mn-ea"/>
                <a:sym typeface="+mn-lt"/>
              </a:rPr>
              <a:t>模型的发展与更多样的</a:t>
            </a:r>
            <a:r>
              <a:rPr lang="en-US" altLang="zh-CN" b="1" dirty="0">
                <a:cs typeface="+mn-ea"/>
                <a:sym typeface="+mn-lt"/>
              </a:rPr>
              <a:t>Prompt</a:t>
            </a:r>
            <a:r>
              <a:rPr lang="zh-CN" altLang="en-US" b="1" dirty="0">
                <a:cs typeface="+mn-ea"/>
                <a:sym typeface="+mn-lt"/>
              </a:rPr>
              <a:t>技术</a:t>
            </a:r>
          </a:p>
        </p:txBody>
      </p:sp>
      <p:sp>
        <p:nvSpPr>
          <p:cNvPr id="5" name="矩形 4">
            <a:extLst>
              <a:ext uri="{FF2B5EF4-FFF2-40B4-BE49-F238E27FC236}">
                <a16:creationId xmlns:a16="http://schemas.microsoft.com/office/drawing/2014/main" id="{315ADCC0-33B8-40AD-9EBF-C931B4767AE2}"/>
              </a:ext>
            </a:extLst>
          </p:cNvPr>
          <p:cNvSpPr/>
          <p:nvPr/>
        </p:nvSpPr>
        <p:spPr>
          <a:xfrm>
            <a:off x="6485890" y="328340"/>
            <a:ext cx="2193983"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D4D1D960-A5E1-4D28-B19A-7A0A3392EFDB}"/>
              </a:ext>
            </a:extLst>
          </p:cNvPr>
          <p:cNvSpPr txBox="1"/>
          <p:nvPr/>
        </p:nvSpPr>
        <p:spPr>
          <a:xfrm>
            <a:off x="6605132" y="443143"/>
            <a:ext cx="2026250" cy="369332"/>
          </a:xfrm>
          <a:prstGeom prst="rect">
            <a:avLst/>
          </a:prstGeom>
          <a:noFill/>
        </p:spPr>
        <p:txBody>
          <a:bodyPr wrap="square" rtlCol="0">
            <a:spAutoFit/>
          </a:bodyPr>
          <a:lstStyle/>
          <a:p>
            <a:r>
              <a:rPr lang="en-US" altLang="zh-CN" b="1" dirty="0">
                <a:cs typeface="+mn-ea"/>
                <a:sym typeface="+mn-lt"/>
              </a:rPr>
              <a:t>4.3 </a:t>
            </a:r>
            <a:r>
              <a:rPr lang="zh-CN" altLang="en-US" b="1" dirty="0">
                <a:cs typeface="+mn-ea"/>
                <a:sym typeface="+mn-lt"/>
              </a:rPr>
              <a:t>大模型思维链</a:t>
            </a:r>
            <a:endParaRPr lang="en-US" altLang="zh-CN" b="1" dirty="0">
              <a:cs typeface="+mn-ea"/>
              <a:sym typeface="+mn-lt"/>
            </a:endParaRPr>
          </a:p>
        </p:txBody>
      </p:sp>
      <p:sp>
        <p:nvSpPr>
          <p:cNvPr id="7" name="矩形 6">
            <a:extLst>
              <a:ext uri="{FF2B5EF4-FFF2-40B4-BE49-F238E27FC236}">
                <a16:creationId xmlns:a16="http://schemas.microsoft.com/office/drawing/2014/main" id="{33D9C34C-E10D-42F7-BDC3-D0A5C147AA6C}"/>
              </a:ext>
            </a:extLst>
          </p:cNvPr>
          <p:cNvSpPr/>
          <p:nvPr/>
        </p:nvSpPr>
        <p:spPr>
          <a:xfrm>
            <a:off x="4776194" y="328340"/>
            <a:ext cx="701454"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75000"/>
                </a:schemeClr>
              </a:solidFill>
            </a:endParaRPr>
          </a:p>
        </p:txBody>
      </p:sp>
      <p:sp>
        <p:nvSpPr>
          <p:cNvPr id="8" name="文本框 7">
            <a:extLst>
              <a:ext uri="{FF2B5EF4-FFF2-40B4-BE49-F238E27FC236}">
                <a16:creationId xmlns:a16="http://schemas.microsoft.com/office/drawing/2014/main" id="{875B61BF-BB5F-4D11-8EFA-A96B604113B3}"/>
              </a:ext>
            </a:extLst>
          </p:cNvPr>
          <p:cNvSpPr txBox="1"/>
          <p:nvPr/>
        </p:nvSpPr>
        <p:spPr>
          <a:xfrm>
            <a:off x="4835816" y="443143"/>
            <a:ext cx="582211" cy="369332"/>
          </a:xfrm>
          <a:prstGeom prst="rect">
            <a:avLst/>
          </a:prstGeom>
          <a:noFill/>
        </p:spPr>
        <p:txBody>
          <a:bodyPr wrap="square" rtlCol="0">
            <a:spAutoFit/>
          </a:bodyPr>
          <a:lstStyle/>
          <a:p>
            <a:pPr algn="ctr"/>
            <a:r>
              <a:rPr lang="en-US" altLang="zh-CN" b="1" dirty="0">
                <a:solidFill>
                  <a:schemeClr val="bg1">
                    <a:lumMod val="75000"/>
                  </a:schemeClr>
                </a:solidFill>
                <a:cs typeface="+mn-ea"/>
                <a:sym typeface="+mn-lt"/>
              </a:rPr>
              <a:t>4.1</a:t>
            </a:r>
          </a:p>
        </p:txBody>
      </p:sp>
      <p:sp>
        <p:nvSpPr>
          <p:cNvPr id="20" name="矩形 19">
            <a:extLst>
              <a:ext uri="{FF2B5EF4-FFF2-40B4-BE49-F238E27FC236}">
                <a16:creationId xmlns:a16="http://schemas.microsoft.com/office/drawing/2014/main" id="{A2441E30-9ABC-42D9-8CDB-1BE961F8B577}"/>
              </a:ext>
            </a:extLst>
          </p:cNvPr>
          <p:cNvSpPr/>
          <p:nvPr/>
        </p:nvSpPr>
        <p:spPr>
          <a:xfrm>
            <a:off x="5631042" y="328340"/>
            <a:ext cx="701454"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75000"/>
                </a:schemeClr>
              </a:solidFill>
            </a:endParaRPr>
          </a:p>
        </p:txBody>
      </p:sp>
      <p:sp>
        <p:nvSpPr>
          <p:cNvPr id="21" name="文本框 20">
            <a:extLst>
              <a:ext uri="{FF2B5EF4-FFF2-40B4-BE49-F238E27FC236}">
                <a16:creationId xmlns:a16="http://schemas.microsoft.com/office/drawing/2014/main" id="{2036D99E-04CF-4E23-A696-5A128B15B780}"/>
              </a:ext>
            </a:extLst>
          </p:cNvPr>
          <p:cNvSpPr txBox="1"/>
          <p:nvPr/>
        </p:nvSpPr>
        <p:spPr>
          <a:xfrm>
            <a:off x="5690664" y="443143"/>
            <a:ext cx="582211" cy="369332"/>
          </a:xfrm>
          <a:prstGeom prst="rect">
            <a:avLst/>
          </a:prstGeom>
          <a:noFill/>
        </p:spPr>
        <p:txBody>
          <a:bodyPr wrap="square" rtlCol="0">
            <a:spAutoFit/>
          </a:bodyPr>
          <a:lstStyle/>
          <a:p>
            <a:pPr algn="ctr"/>
            <a:r>
              <a:rPr lang="en-US" altLang="zh-CN" b="1" dirty="0">
                <a:solidFill>
                  <a:schemeClr val="bg1">
                    <a:lumMod val="75000"/>
                  </a:schemeClr>
                </a:solidFill>
                <a:cs typeface="+mn-ea"/>
                <a:sym typeface="+mn-lt"/>
              </a:rPr>
              <a:t>4.2</a:t>
            </a:r>
          </a:p>
        </p:txBody>
      </p:sp>
      <p:sp>
        <p:nvSpPr>
          <p:cNvPr id="19" name="文本框 18">
            <a:extLst>
              <a:ext uri="{FF2B5EF4-FFF2-40B4-BE49-F238E27FC236}">
                <a16:creationId xmlns:a16="http://schemas.microsoft.com/office/drawing/2014/main" id="{34DA039F-20E8-43E7-AE2F-AEEDAFF2754B}"/>
              </a:ext>
            </a:extLst>
          </p:cNvPr>
          <p:cNvSpPr txBox="1"/>
          <p:nvPr/>
        </p:nvSpPr>
        <p:spPr>
          <a:xfrm>
            <a:off x="420689" y="1191796"/>
            <a:ext cx="5628066" cy="369332"/>
          </a:xfrm>
          <a:prstGeom prst="rect">
            <a:avLst/>
          </a:prstGeom>
          <a:noFill/>
        </p:spPr>
        <p:txBody>
          <a:bodyPr wrap="square">
            <a:spAutoFit/>
          </a:bodyPr>
          <a:lstStyle/>
          <a:p>
            <a:r>
              <a:rPr lang="en-US" altLang="zh-CN" b="1" dirty="0"/>
              <a:t>COT</a:t>
            </a:r>
            <a:r>
              <a:rPr lang="zh-CN" altLang="en-US" b="1" dirty="0"/>
              <a:t>（</a:t>
            </a:r>
            <a:r>
              <a:rPr lang="en-US" altLang="zh-CN" b="1" i="0" dirty="0">
                <a:solidFill>
                  <a:srgbClr val="191B1F"/>
                </a:solidFill>
                <a:effectLst/>
                <a:latin typeface="-apple-system"/>
              </a:rPr>
              <a:t>Chain-of-Thought</a:t>
            </a:r>
            <a:r>
              <a:rPr lang="zh-CN" altLang="en-US" b="1" i="0" dirty="0">
                <a:solidFill>
                  <a:srgbClr val="191B1F"/>
                </a:solidFill>
                <a:effectLst/>
                <a:latin typeface="-apple-system"/>
              </a:rPr>
              <a:t>，思维链</a:t>
            </a:r>
            <a:r>
              <a:rPr lang="zh-CN" altLang="en-US" b="1" dirty="0"/>
              <a:t>）：</a:t>
            </a:r>
          </a:p>
        </p:txBody>
      </p:sp>
      <p:sp>
        <p:nvSpPr>
          <p:cNvPr id="15" name="文本框 14">
            <a:extLst>
              <a:ext uri="{FF2B5EF4-FFF2-40B4-BE49-F238E27FC236}">
                <a16:creationId xmlns:a16="http://schemas.microsoft.com/office/drawing/2014/main" id="{07F442F6-CF37-463B-93BF-9BF7195735A4}"/>
              </a:ext>
            </a:extLst>
          </p:cNvPr>
          <p:cNvSpPr txBox="1"/>
          <p:nvPr/>
        </p:nvSpPr>
        <p:spPr>
          <a:xfrm>
            <a:off x="420688" y="1736457"/>
            <a:ext cx="6790879" cy="369332"/>
          </a:xfrm>
          <a:prstGeom prst="rect">
            <a:avLst/>
          </a:prstGeom>
          <a:noFill/>
        </p:spPr>
        <p:txBody>
          <a:bodyPr wrap="square">
            <a:spAutoFit/>
          </a:bodyPr>
          <a:lstStyle/>
          <a:p>
            <a:r>
              <a:rPr lang="zh-CN" altLang="en-US" dirty="0"/>
              <a:t>模型的回答目标从原先的 </a:t>
            </a:r>
            <a:r>
              <a:rPr lang="en-US" altLang="zh-CN" dirty="0"/>
              <a:t>answer(a) </a:t>
            </a:r>
            <a:r>
              <a:rPr lang="zh-CN" altLang="en-US" dirty="0"/>
              <a:t>换成了 </a:t>
            </a:r>
            <a:r>
              <a:rPr lang="en-US" altLang="zh-CN" dirty="0"/>
              <a:t>rationale(r) + a</a:t>
            </a:r>
            <a:endParaRPr lang="zh-CN" altLang="en-US" dirty="0"/>
          </a:p>
        </p:txBody>
      </p:sp>
      <p:sp>
        <p:nvSpPr>
          <p:cNvPr id="17" name="文本框 16">
            <a:extLst>
              <a:ext uri="{FF2B5EF4-FFF2-40B4-BE49-F238E27FC236}">
                <a16:creationId xmlns:a16="http://schemas.microsoft.com/office/drawing/2014/main" id="{63CE983E-4417-4B13-AB6E-AEA7A5DAB2ED}"/>
              </a:ext>
            </a:extLst>
          </p:cNvPr>
          <p:cNvSpPr txBox="1"/>
          <p:nvPr/>
        </p:nvSpPr>
        <p:spPr>
          <a:xfrm>
            <a:off x="420688" y="2370076"/>
            <a:ext cx="9698672" cy="777008"/>
          </a:xfrm>
          <a:prstGeom prst="rect">
            <a:avLst/>
          </a:prstGeom>
          <a:noFill/>
        </p:spPr>
        <p:txBody>
          <a:bodyPr wrap="square">
            <a:spAutoFit/>
          </a:bodyPr>
          <a:lstStyle/>
          <a:p>
            <a:pPr marL="342900" indent="-342900">
              <a:lnSpc>
                <a:spcPct val="130000"/>
              </a:lnSpc>
              <a:buFont typeface="Wingdings" panose="05000000000000000000" pitchFamily="2" charset="2"/>
              <a:buChar char="n"/>
            </a:pPr>
            <a:r>
              <a:rPr lang="zh-CN" altLang="en-US" dirty="0"/>
              <a:t>简单来说，大模型很难将所有的语义直接转化为一个方程，因为这是一个更加复杂的思考过程，但可以通过中间步骤，来更好地推理问题的每个部分</a:t>
            </a:r>
          </a:p>
        </p:txBody>
      </p:sp>
      <p:sp>
        <p:nvSpPr>
          <p:cNvPr id="18" name="文本框 17">
            <a:extLst>
              <a:ext uri="{FF2B5EF4-FFF2-40B4-BE49-F238E27FC236}">
                <a16:creationId xmlns:a16="http://schemas.microsoft.com/office/drawing/2014/main" id="{0FE7CB73-4697-422E-9A2C-754EFA884C2C}"/>
              </a:ext>
            </a:extLst>
          </p:cNvPr>
          <p:cNvSpPr txBox="1"/>
          <p:nvPr/>
        </p:nvSpPr>
        <p:spPr>
          <a:xfrm>
            <a:off x="420688" y="3322413"/>
            <a:ext cx="10785792" cy="777008"/>
          </a:xfrm>
          <a:prstGeom prst="rect">
            <a:avLst/>
          </a:prstGeom>
          <a:noFill/>
        </p:spPr>
        <p:txBody>
          <a:bodyPr wrap="square">
            <a:spAutoFit/>
          </a:bodyPr>
          <a:lstStyle/>
          <a:p>
            <a:pPr marL="285750" indent="-285750">
              <a:lnSpc>
                <a:spcPct val="130000"/>
              </a:lnSpc>
              <a:buFont typeface="Wingdings" panose="05000000000000000000" pitchFamily="2" charset="2"/>
              <a:buChar char="n"/>
            </a:pPr>
            <a:r>
              <a:rPr lang="zh-CN" altLang="en-US" dirty="0"/>
              <a:t>思维链就是把一个多步骤推理问题，分解成很多个中间步骤，分配给更多的计算量，生成更多的 </a:t>
            </a:r>
            <a:r>
              <a:rPr lang="en-US" altLang="zh-CN" dirty="0"/>
              <a:t>token</a:t>
            </a:r>
            <a:r>
              <a:rPr lang="zh-CN" altLang="en-US" dirty="0"/>
              <a:t>，再把这些答案拼接在一起进行求解。</a:t>
            </a:r>
          </a:p>
        </p:txBody>
      </p:sp>
    </p:spTree>
    <p:extLst>
      <p:ext uri="{BB962C8B-B14F-4D97-AF65-F5344CB8AC3E}">
        <p14:creationId xmlns:p14="http://schemas.microsoft.com/office/powerpoint/2010/main" val="15850074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C44E1E3-7D8A-4AC1-8688-AD6AC52271F0}"/>
              </a:ext>
            </a:extLst>
          </p:cNvPr>
          <p:cNvSpPr>
            <a:spLocks noGrp="1"/>
          </p:cNvSpPr>
          <p:nvPr>
            <p:ph type="sldNum" sz="quarter" idx="12"/>
          </p:nvPr>
        </p:nvSpPr>
        <p:spPr/>
        <p:txBody>
          <a:bodyPr/>
          <a:lstStyle/>
          <a:p>
            <a:fld id="{A8408CBD-802C-40CC-8D8B-113A19149150}" type="slidenum">
              <a:rPr lang="zh-CN" altLang="en-US" smtClean="0"/>
              <a:t>87</a:t>
            </a:fld>
            <a:endParaRPr lang="zh-CN" altLang="en-US"/>
          </a:p>
        </p:txBody>
      </p:sp>
      <p:sp>
        <p:nvSpPr>
          <p:cNvPr id="3" name="矩形 2">
            <a:extLst>
              <a:ext uri="{FF2B5EF4-FFF2-40B4-BE49-F238E27FC236}">
                <a16:creationId xmlns:a16="http://schemas.microsoft.com/office/drawing/2014/main" id="{C16FE88A-1544-440D-B3ED-01EB30D1337E}"/>
              </a:ext>
            </a:extLst>
          </p:cNvPr>
          <p:cNvSpPr/>
          <p:nvPr/>
        </p:nvSpPr>
        <p:spPr>
          <a:xfrm>
            <a:off x="420689" y="328340"/>
            <a:ext cx="4202111"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15739CBF-F732-417E-90A5-1AB9FE06E18F}"/>
              </a:ext>
            </a:extLst>
          </p:cNvPr>
          <p:cNvSpPr txBox="1"/>
          <p:nvPr/>
        </p:nvSpPr>
        <p:spPr>
          <a:xfrm>
            <a:off x="539931" y="443143"/>
            <a:ext cx="3960949" cy="369332"/>
          </a:xfrm>
          <a:prstGeom prst="rect">
            <a:avLst/>
          </a:prstGeom>
          <a:noFill/>
        </p:spPr>
        <p:txBody>
          <a:bodyPr wrap="square" rtlCol="0">
            <a:spAutoFit/>
          </a:bodyPr>
          <a:lstStyle/>
          <a:p>
            <a:r>
              <a:rPr lang="en-US" altLang="zh-CN" b="1" dirty="0">
                <a:cs typeface="+mn-ea"/>
                <a:sym typeface="+mn-lt"/>
              </a:rPr>
              <a:t>4 </a:t>
            </a:r>
            <a:r>
              <a:rPr lang="zh-CN" altLang="en-US" b="1" dirty="0">
                <a:cs typeface="+mn-ea"/>
                <a:sym typeface="+mn-lt"/>
              </a:rPr>
              <a:t>模型的发展与更多样的</a:t>
            </a:r>
            <a:r>
              <a:rPr lang="en-US" altLang="zh-CN" b="1" dirty="0">
                <a:cs typeface="+mn-ea"/>
                <a:sym typeface="+mn-lt"/>
              </a:rPr>
              <a:t>Prompt</a:t>
            </a:r>
            <a:r>
              <a:rPr lang="zh-CN" altLang="en-US" b="1" dirty="0">
                <a:cs typeface="+mn-ea"/>
                <a:sym typeface="+mn-lt"/>
              </a:rPr>
              <a:t>技术</a:t>
            </a:r>
          </a:p>
        </p:txBody>
      </p:sp>
      <p:sp>
        <p:nvSpPr>
          <p:cNvPr id="5" name="矩形 4">
            <a:extLst>
              <a:ext uri="{FF2B5EF4-FFF2-40B4-BE49-F238E27FC236}">
                <a16:creationId xmlns:a16="http://schemas.microsoft.com/office/drawing/2014/main" id="{315ADCC0-33B8-40AD-9EBF-C931B4767AE2}"/>
              </a:ext>
            </a:extLst>
          </p:cNvPr>
          <p:cNvSpPr/>
          <p:nvPr/>
        </p:nvSpPr>
        <p:spPr>
          <a:xfrm>
            <a:off x="6485890" y="328340"/>
            <a:ext cx="2193983"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D4D1D960-A5E1-4D28-B19A-7A0A3392EFDB}"/>
              </a:ext>
            </a:extLst>
          </p:cNvPr>
          <p:cNvSpPr txBox="1"/>
          <p:nvPr/>
        </p:nvSpPr>
        <p:spPr>
          <a:xfrm>
            <a:off x="6605132" y="443143"/>
            <a:ext cx="2026250" cy="369332"/>
          </a:xfrm>
          <a:prstGeom prst="rect">
            <a:avLst/>
          </a:prstGeom>
          <a:noFill/>
        </p:spPr>
        <p:txBody>
          <a:bodyPr wrap="square" rtlCol="0">
            <a:spAutoFit/>
          </a:bodyPr>
          <a:lstStyle/>
          <a:p>
            <a:r>
              <a:rPr lang="en-US" altLang="zh-CN" b="1" dirty="0">
                <a:cs typeface="+mn-ea"/>
                <a:sym typeface="+mn-lt"/>
              </a:rPr>
              <a:t>4.3 </a:t>
            </a:r>
            <a:r>
              <a:rPr lang="zh-CN" altLang="en-US" b="1" dirty="0">
                <a:cs typeface="+mn-ea"/>
                <a:sym typeface="+mn-lt"/>
              </a:rPr>
              <a:t>大模型思维链</a:t>
            </a:r>
            <a:endParaRPr lang="en-US" altLang="zh-CN" b="1" dirty="0">
              <a:cs typeface="+mn-ea"/>
              <a:sym typeface="+mn-lt"/>
            </a:endParaRPr>
          </a:p>
        </p:txBody>
      </p:sp>
      <p:sp>
        <p:nvSpPr>
          <p:cNvPr id="7" name="矩形 6">
            <a:extLst>
              <a:ext uri="{FF2B5EF4-FFF2-40B4-BE49-F238E27FC236}">
                <a16:creationId xmlns:a16="http://schemas.microsoft.com/office/drawing/2014/main" id="{33D9C34C-E10D-42F7-BDC3-D0A5C147AA6C}"/>
              </a:ext>
            </a:extLst>
          </p:cNvPr>
          <p:cNvSpPr/>
          <p:nvPr/>
        </p:nvSpPr>
        <p:spPr>
          <a:xfrm>
            <a:off x="4776194" y="328340"/>
            <a:ext cx="701454"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75000"/>
                </a:schemeClr>
              </a:solidFill>
            </a:endParaRPr>
          </a:p>
        </p:txBody>
      </p:sp>
      <p:sp>
        <p:nvSpPr>
          <p:cNvPr id="8" name="文本框 7">
            <a:extLst>
              <a:ext uri="{FF2B5EF4-FFF2-40B4-BE49-F238E27FC236}">
                <a16:creationId xmlns:a16="http://schemas.microsoft.com/office/drawing/2014/main" id="{875B61BF-BB5F-4D11-8EFA-A96B604113B3}"/>
              </a:ext>
            </a:extLst>
          </p:cNvPr>
          <p:cNvSpPr txBox="1"/>
          <p:nvPr/>
        </p:nvSpPr>
        <p:spPr>
          <a:xfrm>
            <a:off x="4835816" y="443143"/>
            <a:ext cx="582211" cy="369332"/>
          </a:xfrm>
          <a:prstGeom prst="rect">
            <a:avLst/>
          </a:prstGeom>
          <a:noFill/>
        </p:spPr>
        <p:txBody>
          <a:bodyPr wrap="square" rtlCol="0">
            <a:spAutoFit/>
          </a:bodyPr>
          <a:lstStyle/>
          <a:p>
            <a:pPr algn="ctr"/>
            <a:r>
              <a:rPr lang="en-US" altLang="zh-CN" b="1" dirty="0">
                <a:solidFill>
                  <a:schemeClr val="bg1">
                    <a:lumMod val="75000"/>
                  </a:schemeClr>
                </a:solidFill>
                <a:cs typeface="+mn-ea"/>
                <a:sym typeface="+mn-lt"/>
              </a:rPr>
              <a:t>4.1</a:t>
            </a:r>
          </a:p>
        </p:txBody>
      </p:sp>
      <p:sp>
        <p:nvSpPr>
          <p:cNvPr id="20" name="矩形 19">
            <a:extLst>
              <a:ext uri="{FF2B5EF4-FFF2-40B4-BE49-F238E27FC236}">
                <a16:creationId xmlns:a16="http://schemas.microsoft.com/office/drawing/2014/main" id="{A2441E30-9ABC-42D9-8CDB-1BE961F8B577}"/>
              </a:ext>
            </a:extLst>
          </p:cNvPr>
          <p:cNvSpPr/>
          <p:nvPr/>
        </p:nvSpPr>
        <p:spPr>
          <a:xfrm>
            <a:off x="5631042" y="328340"/>
            <a:ext cx="701454" cy="5989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75000"/>
                </a:schemeClr>
              </a:solidFill>
            </a:endParaRPr>
          </a:p>
        </p:txBody>
      </p:sp>
      <p:sp>
        <p:nvSpPr>
          <p:cNvPr id="21" name="文本框 20">
            <a:extLst>
              <a:ext uri="{FF2B5EF4-FFF2-40B4-BE49-F238E27FC236}">
                <a16:creationId xmlns:a16="http://schemas.microsoft.com/office/drawing/2014/main" id="{2036D99E-04CF-4E23-A696-5A128B15B780}"/>
              </a:ext>
            </a:extLst>
          </p:cNvPr>
          <p:cNvSpPr txBox="1"/>
          <p:nvPr/>
        </p:nvSpPr>
        <p:spPr>
          <a:xfrm>
            <a:off x="5690664" y="443143"/>
            <a:ext cx="582211" cy="369332"/>
          </a:xfrm>
          <a:prstGeom prst="rect">
            <a:avLst/>
          </a:prstGeom>
          <a:noFill/>
        </p:spPr>
        <p:txBody>
          <a:bodyPr wrap="square" rtlCol="0">
            <a:spAutoFit/>
          </a:bodyPr>
          <a:lstStyle/>
          <a:p>
            <a:pPr algn="ctr"/>
            <a:r>
              <a:rPr lang="en-US" altLang="zh-CN" b="1" dirty="0">
                <a:solidFill>
                  <a:schemeClr val="bg1">
                    <a:lumMod val="75000"/>
                  </a:schemeClr>
                </a:solidFill>
                <a:cs typeface="+mn-ea"/>
                <a:sym typeface="+mn-lt"/>
              </a:rPr>
              <a:t>4.2</a:t>
            </a:r>
          </a:p>
        </p:txBody>
      </p:sp>
      <p:sp>
        <p:nvSpPr>
          <p:cNvPr id="19" name="文本框 18">
            <a:extLst>
              <a:ext uri="{FF2B5EF4-FFF2-40B4-BE49-F238E27FC236}">
                <a16:creationId xmlns:a16="http://schemas.microsoft.com/office/drawing/2014/main" id="{34DA039F-20E8-43E7-AE2F-AEEDAFF2754B}"/>
              </a:ext>
            </a:extLst>
          </p:cNvPr>
          <p:cNvSpPr txBox="1"/>
          <p:nvPr/>
        </p:nvSpPr>
        <p:spPr>
          <a:xfrm>
            <a:off x="420689" y="1061650"/>
            <a:ext cx="5628066" cy="369332"/>
          </a:xfrm>
          <a:prstGeom prst="rect">
            <a:avLst/>
          </a:prstGeom>
          <a:noFill/>
        </p:spPr>
        <p:txBody>
          <a:bodyPr wrap="square">
            <a:spAutoFit/>
          </a:bodyPr>
          <a:lstStyle/>
          <a:p>
            <a:r>
              <a:rPr lang="en-US" altLang="zh-CN" b="1" dirty="0"/>
              <a:t>Zero-shot-</a:t>
            </a:r>
            <a:r>
              <a:rPr lang="en-US" altLang="zh-CN" b="1" dirty="0" err="1"/>
              <a:t>CoT</a:t>
            </a:r>
            <a:r>
              <a:rPr lang="zh-CN" altLang="en-US" b="1" dirty="0"/>
              <a:t>：</a:t>
            </a:r>
          </a:p>
        </p:txBody>
      </p:sp>
      <p:sp>
        <p:nvSpPr>
          <p:cNvPr id="17" name="文本框 16">
            <a:extLst>
              <a:ext uri="{FF2B5EF4-FFF2-40B4-BE49-F238E27FC236}">
                <a16:creationId xmlns:a16="http://schemas.microsoft.com/office/drawing/2014/main" id="{63CE983E-4417-4B13-AB6E-AEA7A5DAB2ED}"/>
              </a:ext>
            </a:extLst>
          </p:cNvPr>
          <p:cNvSpPr txBox="1"/>
          <p:nvPr/>
        </p:nvSpPr>
        <p:spPr>
          <a:xfrm>
            <a:off x="420688" y="1395322"/>
            <a:ext cx="10849292" cy="777008"/>
          </a:xfrm>
          <a:prstGeom prst="rect">
            <a:avLst/>
          </a:prstGeom>
          <a:noFill/>
        </p:spPr>
        <p:txBody>
          <a:bodyPr wrap="square">
            <a:spAutoFit/>
          </a:bodyPr>
          <a:lstStyle/>
          <a:p>
            <a:pPr marL="342900" indent="-342900">
              <a:lnSpc>
                <a:spcPct val="130000"/>
              </a:lnSpc>
              <a:buFont typeface="Wingdings" panose="05000000000000000000" pitchFamily="2" charset="2"/>
              <a:buChar char="n"/>
            </a:pPr>
            <a:r>
              <a:rPr lang="zh-CN" altLang="en-US" dirty="0"/>
              <a:t>完整的</a:t>
            </a:r>
            <a:r>
              <a:rPr lang="en-US" altLang="zh-CN" dirty="0"/>
              <a:t>Zero-shot-</a:t>
            </a:r>
            <a:r>
              <a:rPr lang="en-US" altLang="zh-CN" dirty="0" err="1"/>
              <a:t>CoT</a:t>
            </a:r>
            <a:r>
              <a:rPr lang="zh-CN" altLang="en-US" dirty="0"/>
              <a:t>过程分为两步：先通过</a:t>
            </a:r>
            <a:r>
              <a:rPr lang="en-US" altLang="zh-CN" dirty="0"/>
              <a:t>prompt </a:t>
            </a:r>
            <a:r>
              <a:rPr lang="zh-CN" altLang="en-US" dirty="0"/>
              <a:t>例如</a:t>
            </a:r>
            <a:r>
              <a:rPr lang="zh-CN" altLang="en-US" b="1" i="1" dirty="0">
                <a:solidFill>
                  <a:srgbClr val="C00000"/>
                </a:solidFill>
              </a:rPr>
              <a:t>“</a:t>
            </a:r>
            <a:r>
              <a:rPr lang="en-US" altLang="zh-CN" b="1" i="1" dirty="0">
                <a:solidFill>
                  <a:srgbClr val="C00000"/>
                </a:solidFill>
              </a:rPr>
              <a:t>Let‘s think step by step</a:t>
            </a:r>
            <a:r>
              <a:rPr lang="zh-CN" altLang="en-US" b="1" i="1" dirty="0">
                <a:solidFill>
                  <a:srgbClr val="C00000"/>
                </a:solidFill>
              </a:rPr>
              <a:t>”</a:t>
            </a:r>
            <a:r>
              <a:rPr lang="zh-CN" altLang="en-US" b="1" dirty="0"/>
              <a:t>，</a:t>
            </a:r>
            <a:r>
              <a:rPr lang="zh-CN" altLang="en-US" dirty="0"/>
              <a:t>让大语言模型尽可能生成一些思考过程</a:t>
            </a:r>
          </a:p>
        </p:txBody>
      </p:sp>
      <p:sp>
        <p:nvSpPr>
          <p:cNvPr id="23" name="文本框 22">
            <a:extLst>
              <a:ext uri="{FF2B5EF4-FFF2-40B4-BE49-F238E27FC236}">
                <a16:creationId xmlns:a16="http://schemas.microsoft.com/office/drawing/2014/main" id="{FAAB68C8-266E-436F-9D9A-1BB8D1E09526}"/>
              </a:ext>
            </a:extLst>
          </p:cNvPr>
          <p:cNvSpPr txBox="1"/>
          <p:nvPr/>
        </p:nvSpPr>
        <p:spPr>
          <a:xfrm>
            <a:off x="420688" y="2117498"/>
            <a:ext cx="10620692" cy="777008"/>
          </a:xfrm>
          <a:prstGeom prst="rect">
            <a:avLst/>
          </a:prstGeom>
          <a:noFill/>
        </p:spPr>
        <p:txBody>
          <a:bodyPr wrap="square">
            <a:spAutoFit/>
          </a:bodyPr>
          <a:lstStyle/>
          <a:p>
            <a:pPr marL="342900" indent="-342900">
              <a:lnSpc>
                <a:spcPct val="130000"/>
              </a:lnSpc>
              <a:buFont typeface="Wingdings" panose="05000000000000000000" pitchFamily="2" charset="2"/>
              <a:buChar char="n"/>
            </a:pPr>
            <a:r>
              <a:rPr lang="zh-CN" altLang="en-US" dirty="0"/>
              <a:t>然后再将生成的 </a:t>
            </a:r>
            <a:r>
              <a:rPr lang="en-US" altLang="zh-CN" dirty="0"/>
              <a:t>rationale</a:t>
            </a:r>
            <a:r>
              <a:rPr lang="zh-CN" altLang="en-US" dirty="0"/>
              <a:t>（理由） 和 </a:t>
            </a:r>
            <a:r>
              <a:rPr lang="en-US" altLang="zh-CN" dirty="0"/>
              <a:t>question </a:t>
            </a:r>
            <a:r>
              <a:rPr lang="zh-CN" altLang="en-US" dirty="0"/>
              <a:t>拼在一起，重新配合一个</a:t>
            </a:r>
            <a:r>
              <a:rPr lang="en-US" altLang="zh-CN" dirty="0"/>
              <a:t>answer </a:t>
            </a:r>
            <a:r>
              <a:rPr lang="zh-CN" altLang="en-US" dirty="0"/>
              <a:t>指向的 </a:t>
            </a:r>
            <a:r>
              <a:rPr lang="en-US" altLang="zh-CN" dirty="0"/>
              <a:t>prompt </a:t>
            </a:r>
            <a:r>
              <a:rPr lang="zh-CN" altLang="en-US" dirty="0"/>
              <a:t>如“</a:t>
            </a:r>
            <a:r>
              <a:rPr lang="en-US" altLang="zh-CN" b="1" i="1" dirty="0">
                <a:solidFill>
                  <a:srgbClr val="C00000"/>
                </a:solidFill>
              </a:rPr>
              <a:t>The answer is </a:t>
            </a:r>
            <a:r>
              <a:rPr lang="zh-CN" altLang="en-US" b="1" i="1" dirty="0">
                <a:solidFill>
                  <a:srgbClr val="C00000"/>
                </a:solidFill>
              </a:rPr>
              <a:t>”</a:t>
            </a:r>
            <a:r>
              <a:rPr lang="zh-CN" altLang="en-US" dirty="0"/>
              <a:t> 激励模型生成答案。</a:t>
            </a:r>
          </a:p>
        </p:txBody>
      </p:sp>
      <p:sp>
        <p:nvSpPr>
          <p:cNvPr id="18" name="文本框 17">
            <a:extLst>
              <a:ext uri="{FF2B5EF4-FFF2-40B4-BE49-F238E27FC236}">
                <a16:creationId xmlns:a16="http://schemas.microsoft.com/office/drawing/2014/main" id="{E172B44C-9515-4793-9113-FE53C2841883}"/>
              </a:ext>
            </a:extLst>
          </p:cNvPr>
          <p:cNvSpPr txBox="1"/>
          <p:nvPr/>
        </p:nvSpPr>
        <p:spPr>
          <a:xfrm>
            <a:off x="420689" y="6102967"/>
            <a:ext cx="2200591" cy="430887"/>
          </a:xfrm>
          <a:prstGeom prst="rect">
            <a:avLst/>
          </a:prstGeom>
          <a:noFill/>
        </p:spPr>
        <p:txBody>
          <a:bodyPr wrap="square">
            <a:spAutoFit/>
          </a:bodyPr>
          <a:lstStyle/>
          <a:p>
            <a:r>
              <a:rPr lang="en-US" altLang="zh-CN" sz="1100" dirty="0">
                <a:hlinkClick r:id="rId2"/>
              </a:rPr>
              <a:t>Large Language Models are Zero-Shot Reasoners</a:t>
            </a:r>
            <a:endParaRPr lang="zh-CN" altLang="en-US" sz="1100" dirty="0"/>
          </a:p>
        </p:txBody>
      </p:sp>
      <p:pic>
        <p:nvPicPr>
          <p:cNvPr id="10" name="图片 9">
            <a:extLst>
              <a:ext uri="{FF2B5EF4-FFF2-40B4-BE49-F238E27FC236}">
                <a16:creationId xmlns:a16="http://schemas.microsoft.com/office/drawing/2014/main" id="{1CF7BB4A-F729-428E-A80B-3E3078FC2198}"/>
              </a:ext>
            </a:extLst>
          </p:cNvPr>
          <p:cNvPicPr>
            <a:picLocks noChangeAspect="1"/>
          </p:cNvPicPr>
          <p:nvPr/>
        </p:nvPicPr>
        <p:blipFill>
          <a:blip r:embed="rId3"/>
          <a:stretch>
            <a:fillRect/>
          </a:stretch>
        </p:blipFill>
        <p:spPr>
          <a:xfrm>
            <a:off x="2301240" y="2894506"/>
            <a:ext cx="7589520" cy="2973272"/>
          </a:xfrm>
          <a:prstGeom prst="rect">
            <a:avLst/>
          </a:prstGeom>
        </p:spPr>
      </p:pic>
    </p:spTree>
    <p:extLst>
      <p:ext uri="{BB962C8B-B14F-4D97-AF65-F5344CB8AC3E}">
        <p14:creationId xmlns:p14="http://schemas.microsoft.com/office/powerpoint/2010/main" val="13831112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P(x,y,z) = P(x)P(y|x)P(z|y)&#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292"/>
  <p:tag name="PICTUREFILESIZE" val="16377"/>
</p:tagLst>
</file>

<file path=ppt/tags/tag2.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P(x,y,z) = P(x)P(y|x)P(z|y)&#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292"/>
  <p:tag name="PICTUREFILESIZE" val="16377"/>
</p:tagLst>
</file>

<file path=ppt/tags/tag3.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P(z|x,y) = \frac{P(x,y,z)}{P(x,y)}&#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204"/>
  <p:tag name="PICTUREFILESIZE" val="16939"/>
</p:tagLst>
</file>

<file path=ppt/tags/tag4.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 \frac{P(x)P(y|x)P(z|y)}{P(x)P(y|x)}&#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201"/>
  <p:tag name="PICTUREFILESIZE" val="18719"/>
</p:tagLst>
</file>

<file path=ppt/tags/tag5.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 P(z|y)&#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86"/>
  <p:tag name="PICTUREFILESIZE" val="4532"/>
</p:tagLst>
</file>

<file path=ppt/tags/tag6.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newcommand{\indep}{{\;\bot\!\!\!\!\!\!\bot\;}} &#10;\begin{document}&#10;\[&#10;P(x,y,z) = P(y)P(x|y)P(z|y)&#10;\]&#10;\end{document}&#10;"/>
  <p:tag name="FILENAME" val="txp_fig"/>
  <p:tag name="FORMAT" val="pngmono"/>
  <p:tag name="RES" val="1200"/>
  <p:tag name="BLEND" val="0"/>
  <p:tag name="TRANSPARENT" val="0"/>
  <p:tag name="TBUG" val="0"/>
  <p:tag name="ALLOWFS" val="0"/>
  <p:tag name="ORIGWIDTH" val="291"/>
  <p:tag name="PICTUREFILESIZE" val="16173"/>
</p:tagLst>
</file>

<file path=ppt/tags/tag7.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P(z|x,y) = \frac{P(x,y,z)}{P(x,y)}&#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204"/>
  <p:tag name="PICTUREFILESIZE" val="16939"/>
</p:tagLst>
</file>

<file path=ppt/tags/tag8.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 P(z|y)&#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86"/>
  <p:tag name="PICTUREFILESIZE" val="4532"/>
</p:tagLst>
</file>

<file path=ppt/tags/tag9.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 \frac{P(y)P(x|y)P(z|y)}{P(y)P(x|y)}&#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200"/>
  <p:tag name="PICTUREFILESIZE" val="19598"/>
</p:tagLst>
</file>

<file path=ppt/tags/tag10.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newcommand{\indep}{{\;\bot\!\!\!\!\!\!\bot\;}} &#10;\begin{document}&#10;\[&#10;P(x,y,z) = P(y)P(x|y)P(z|y)&#10;\]&#10;\end{document}&#10;"/>
  <p:tag name="FILENAME" val="txp_fig"/>
  <p:tag name="FORMAT" val="pngmono"/>
  <p:tag name="RES" val="1200"/>
  <p:tag name="BLEND" val="0"/>
  <p:tag name="TRANSPARENT" val="0"/>
  <p:tag name="TBUG" val="0"/>
  <p:tag name="ALLOWFS" val="0"/>
  <p:tag name="ORIGWIDTH" val="291"/>
  <p:tag name="PICTUREFILESIZE" val="16173"/>
</p:tagLst>
</file>

<file path=ppt/tags/tag11.xml><?xml version="1.0" encoding="utf-8"?>
<p:tagLst xmlns:a="http://schemas.openxmlformats.org/drawingml/2006/main" xmlns:r="http://schemas.openxmlformats.org/officeDocument/2006/relationships" xmlns:p="http://schemas.openxmlformats.org/presentationml/2006/main">
  <p:tag name="TEXPOINT" val="latex"/>
  <p:tag name="SOURCE" val="\documentclass{article}&#10;&#10;\pagestyle{empty}&#10;&#10;\begin{document}&#10;$X_i$&#10;&#10;\end{document}"/>
  <p:tag name="FILENAME" val="TP_tmp"/>
  <p:tag name="FORMAT" val="png16m"/>
  <p:tag name="RES" val="1200"/>
  <p:tag name="BLEND" val="0"/>
  <p:tag name="TRANSPARENT" val="0"/>
  <p:tag name="TBUG" val="0"/>
  <p:tag name="ALLOWFS" val="0"/>
  <p:tag name="ORIGWIDTH" val="12"/>
  <p:tag name="PICTUREFILESIZE" val="1490"/>
</p:tagLst>
</file>

<file path=ppt/tags/tag12.xml><?xml version="1.0" encoding="utf-8"?>
<p:tagLst xmlns:a="http://schemas.openxmlformats.org/drawingml/2006/main" xmlns:r="http://schemas.openxmlformats.org/officeDocument/2006/relationships" xmlns:p="http://schemas.openxmlformats.org/presentationml/2006/main">
  <p:tag name="TEXPOINT" val="latex"/>
  <p:tag name="SOURCE" val="\documentclass{article}&#10;&#10;\pagestyle{empty}&#10;&#10;\begin{document}&#10;$X_j$&#10;&#10;\end{document}"/>
  <p:tag name="FILENAME" val="TP_tmp"/>
  <p:tag name="FORMAT" val="png16m"/>
  <p:tag name="RES" val="1200"/>
  <p:tag name="BLEND" val="0"/>
  <p:tag name="TRANSPARENT" val="0"/>
  <p:tag name="TBUG" val="0"/>
  <p:tag name="ALLOWFS" val="0"/>
  <p:tag name="ORIGWIDTH" val="13"/>
  <p:tag name="PICTUREFILESIZE" val="1616"/>
</p:tagLst>
</file>

<file path=ppt/tags/tag13.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newcommand{\indep}{{\;\bot\!\!\!\!\!\!\bot\;}} &#10;\begin{document}&#10;\[&#10;R \indep B&#10;\]&#10;\end{document}&#10;"/>
  <p:tag name="FILENAME" val="txp_fig"/>
  <p:tag name="FORMAT" val="pngmono"/>
  <p:tag name="RES" val="1200"/>
  <p:tag name="BLEND" val="0"/>
  <p:tag name="TRANSPARENT" val="0"/>
  <p:tag name="TBUG" val="0"/>
  <p:tag name="ALLOWFS" val="0"/>
  <p:tag name="ORIGWIDTH" val="56"/>
  <p:tag name="PICTUREFILESIZE" val="2233"/>
</p:tagLst>
</file>

<file path=ppt/tags/tag14.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newcommand{\indep}{{\;\bot\!\!\!\!\!\!\bot\;}} &#10;\begin{document}&#10;\[&#10;R \indep B | T&#10;\]&#10;\end{document}&#10;"/>
  <p:tag name="FILENAME" val="txp_fig"/>
  <p:tag name="FORMAT" val="pngmono"/>
  <p:tag name="RES" val="1200"/>
  <p:tag name="BLEND" val="0"/>
  <p:tag name="TRANSPARENT" val="0"/>
  <p:tag name="TBUG" val="0"/>
  <p:tag name="ALLOWFS" val="0"/>
  <p:tag name="ORIGWIDTH" val="77"/>
  <p:tag name="PICTUREFILESIZE" val="3203"/>
</p:tagLst>
</file>

<file path=ppt/tags/tag15.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newcommand{\indep}{{\;\bot\!\!\!\!\!\!\bot\;}} &#10;\begin{document}&#10;\[&#10;R \indep B | T'&#10;\]&#10;\end{document}&#10;"/>
  <p:tag name="FILENAME" val="txp_fig"/>
  <p:tag name="FORMAT" val="pngmono"/>
  <p:tag name="RES" val="1200"/>
  <p:tag name="BLEND" val="0"/>
  <p:tag name="TRANSPARENT" val="0"/>
  <p:tag name="TBUG" val="0"/>
  <p:tag name="ALLOWFS" val="0"/>
  <p:tag name="ORIGWIDTH" val="82"/>
  <p:tag name="PICTUREFILESIZE" val="3535"/>
</p:tagLst>
</file>

<file path=ppt/tags/tag16.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L \indep T' | T&#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79"/>
  <p:tag name="PICTUREFILESIZE" val="2845"/>
</p:tagLst>
</file>

<file path=ppt/tags/tag17.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L \indep B&#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54"/>
  <p:tag name="PICTUREFILESIZE" val="1837"/>
</p:tagLst>
</file>

<file path=ppt/tags/tag18.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L \indep B | T&#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75"/>
  <p:tag name="PICTUREFILESIZE" val="2827"/>
</p:tagLst>
</file>

<file path=ppt/tags/tag19.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L \indep B | T'&#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80"/>
  <p:tag name="PICTUREFILESIZE" val="3226"/>
</p:tagLst>
</file>

<file path=ppt/tags/tag20.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L \indep B | T, R&#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99"/>
  <p:tag name="PICTUREFILESIZE" val="4401"/>
</p:tagLst>
</file>

<file path=ppt/tags/tag21.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T \indep D&#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56"/>
  <p:tag name="PICTUREFILESIZE" val="1842"/>
</p:tagLst>
</file>

<file path=ppt/tags/tag22.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T \indep D | R&#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79"/>
  <p:tag name="PICTUREFILESIZE" val="3095"/>
</p:tagLst>
</file>

<file path=ppt/tags/tag23.xml><?xml version="1.0" encoding="utf-8"?>
<p:tagLst xmlns:a="http://schemas.openxmlformats.org/drawingml/2006/main" xmlns:r="http://schemas.openxmlformats.org/officeDocument/2006/relationships" xmlns:p="http://schemas.openxmlformats.org/presentationml/2006/main">
  <p:tag name="SOURCE" val="\documentclass{slides}\pagestyle{empty}&#10;\newcommand{\indep}{{\;\bot\!\!\!\!\!\!\bot\;}} &#10;\begin{document}&#10;\[&#10;T \indep D | R, S&#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102"/>
  <p:tag name="PICTUREFILESIZE" val="467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TotalTime>
  <Words>5264</Words>
  <Application>Microsoft Office PowerPoint</Application>
  <PresentationFormat>宽屏</PresentationFormat>
  <Paragraphs>628</Paragraphs>
  <Slides>87</Slides>
  <Notes>13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87</vt:i4>
      </vt:variant>
    </vt:vector>
  </HeadingPairs>
  <TitlesOfParts>
    <vt:vector size="99" baseType="lpstr">
      <vt:lpstr>-apple-system</vt:lpstr>
      <vt:lpstr>Helvetica Regular</vt:lpstr>
      <vt:lpstr>等线</vt:lpstr>
      <vt:lpstr>Arial</vt:lpstr>
      <vt:lpstr>Calibri</vt:lpstr>
      <vt:lpstr>Calibri Light</vt:lpstr>
      <vt:lpstr>Cambria Math</vt:lpstr>
      <vt:lpstr>Georgia</vt:lpstr>
      <vt:lpstr>Helvetica</vt:lpstr>
      <vt:lpstr>Times New Roman</vt:lpstr>
      <vt:lpstr>Wingdings</vt:lpstr>
      <vt:lpstr>Office 主题</vt:lpstr>
      <vt:lpstr>复习提示</vt:lpstr>
      <vt:lpstr>1.1 什么是人工智能</vt:lpstr>
      <vt:lpstr>1.1 什么是人工智能</vt:lpstr>
      <vt:lpstr>1.1 什么是人工智能</vt:lpstr>
      <vt:lpstr>1.1 什么是人工智能</vt:lpstr>
      <vt:lpstr>1.1 什么是人工智能</vt:lpstr>
      <vt:lpstr>1.1.4 理性地行动：理性Agent方法</vt:lpstr>
      <vt:lpstr>1.1.4 理性地行动：理性Agent方法</vt:lpstr>
      <vt:lpstr>1.1.4 理性地行动：理性Agent方法</vt:lpstr>
      <vt:lpstr>1.1.4 理性地行动：理性Agent方法</vt:lpstr>
      <vt:lpstr>1.1.4 理性地行动：理性智能体方法</vt:lpstr>
      <vt:lpstr>1.1.4 理性地行动：理性智能体方法</vt:lpstr>
      <vt:lpstr>智能化Agent</vt:lpstr>
      <vt:lpstr>2.1 Agent和环境</vt:lpstr>
      <vt:lpstr>图2.1 Agent通过传感器、执行器与环境交互。问号表示从感知到动作的映射函数</vt:lpstr>
      <vt:lpstr>2.1 Agent和环境</vt:lpstr>
      <vt:lpstr>2.1 Agent和环境</vt:lpstr>
      <vt:lpstr>2.2 好的行为表现：理性的概念</vt:lpstr>
      <vt:lpstr>2.2.1 性能度量</vt:lpstr>
      <vt:lpstr>2.2.2 理性</vt:lpstr>
      <vt:lpstr>2.2.2 理性</vt:lpstr>
      <vt:lpstr>2.4.2 简单反射型Agent</vt:lpstr>
      <vt:lpstr>图2.9 简单反射型Agent示意图</vt:lpstr>
      <vt:lpstr>2.4.3 基于模型的反射型Agent</vt:lpstr>
      <vt:lpstr>图2.11 基于模型的反射型Agent</vt:lpstr>
      <vt:lpstr>2.4.4 基于目标的Agent</vt:lpstr>
      <vt:lpstr>图2.13 基于模型和目标的Agent。它既要追踪记录世界的状态，又要记录要达到的目标集，并选择能（最终）达到目标的动作</vt:lpstr>
      <vt:lpstr>2.4.5 基于效用的Agent</vt:lpstr>
      <vt:lpstr>2.4.5 基于效用的Agent</vt:lpstr>
      <vt:lpstr>2.4.5 基于效用的Agent</vt:lpstr>
      <vt:lpstr>图2.14 基于模型和效用的Agent。它使用模型、及效用函数，选择导致最佳期望效用的动作</vt:lpstr>
      <vt:lpstr>2.4.5 学习Agent</vt:lpstr>
      <vt:lpstr>图2.15 学习Agent的一般模型</vt:lpstr>
      <vt:lpstr>搜索</vt:lpstr>
      <vt:lpstr>Tree Search</vt:lpstr>
      <vt:lpstr>Informed vs. Uninformed</vt:lpstr>
      <vt:lpstr>Admissible heuristics</vt:lpstr>
      <vt:lpstr>A* search example</vt:lpstr>
      <vt:lpstr>逻辑Agent</vt:lpstr>
      <vt:lpstr>Propositional Logic Truth Table</vt:lpstr>
      <vt:lpstr>逻辑Agent</vt:lpstr>
      <vt:lpstr>图7.9 为教材中给出的知识库构建的真值表。如果R_1到R_5都为真，则KB为真。这种情况只在128行的3行中出现。在所有这3行中，P_1,2为假，因此[1,2]中没有陷阱。另一方面[2,2]中可能有，也可能没有陷阱</vt:lpstr>
      <vt:lpstr>等价、合法性和可满足性</vt:lpstr>
      <vt:lpstr>等价、合法性和可满足性</vt:lpstr>
      <vt:lpstr>归结</vt:lpstr>
      <vt:lpstr>归结</vt:lpstr>
      <vt:lpstr>归结</vt:lpstr>
      <vt:lpstr>合取范式</vt:lpstr>
      <vt:lpstr>合取范式</vt:lpstr>
      <vt:lpstr>概率推理</vt:lpstr>
      <vt:lpstr>概率推理</vt:lpstr>
      <vt:lpstr>不确定域中的知识表示</vt:lpstr>
      <vt:lpstr>不确定域中的知识表示</vt:lpstr>
      <vt:lpstr>不确定域中的知识表示</vt:lpstr>
      <vt:lpstr>不确定域中的知识表示</vt:lpstr>
      <vt:lpstr>不确定域中的知识表示</vt:lpstr>
      <vt:lpstr>图14.2 一个典型的贝叶斯网络，显示了其拓扑结构和条件概率表（CPT）。在CPT中，字母B、E、A、J、M分别表示Burglary（盗贼）、Earthquake（地震）、Alarm（警报）、JohnCalls（John打电话）、MarryCalls（Marry打电话）</vt:lpstr>
      <vt:lpstr>D-separation: Outline</vt:lpstr>
      <vt:lpstr>Causal Chains</vt:lpstr>
      <vt:lpstr>Causal Chains</vt:lpstr>
      <vt:lpstr>Common Cause</vt:lpstr>
      <vt:lpstr>Common Cause</vt:lpstr>
      <vt:lpstr>Common Effect</vt:lpstr>
      <vt:lpstr>The General Case</vt:lpstr>
      <vt:lpstr>Active / Inactive Paths</vt:lpstr>
      <vt:lpstr>D-Separation</vt:lpstr>
      <vt:lpstr>Example</vt:lpstr>
      <vt:lpstr>Example</vt:lpstr>
      <vt:lpstr>Example</vt:lpstr>
      <vt:lpstr>CNN</vt:lpstr>
      <vt:lpstr>Artificial neural networks</vt:lpstr>
      <vt:lpstr>Artificial neural networks</vt:lpstr>
      <vt:lpstr>Artificial neural networks</vt:lpstr>
      <vt:lpstr>Artificial neural networks</vt:lpstr>
      <vt:lpstr>Artificial neural networks</vt:lpstr>
      <vt:lpstr>Artificial neural networks</vt:lpstr>
      <vt:lpstr>Artificial neural networks</vt:lpstr>
      <vt:lpstr>Artificial neural networks</vt:lpstr>
      <vt:lpstr>Artificial neural networks</vt:lpstr>
      <vt:lpstr>大语言模型</vt:lpstr>
      <vt:lpstr>Downstream tasks and application paradigms</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大作业要求</dc:title>
  <dc:creator>user</dc:creator>
  <cp:lastModifiedBy>Administrator</cp:lastModifiedBy>
  <cp:revision>44</cp:revision>
  <dcterms:created xsi:type="dcterms:W3CDTF">2020-10-04T12:17:34Z</dcterms:created>
  <dcterms:modified xsi:type="dcterms:W3CDTF">2026-06-01T01:16:29Z</dcterms:modified>
</cp:coreProperties>
</file>