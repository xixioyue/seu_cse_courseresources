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77" r:id="rId2"/>
    <p:sldMasterId id="2147483679" r:id="rId3"/>
  </p:sldMasterIdLst>
  <p:notesMasterIdLst>
    <p:notesMasterId r:id="rId34"/>
  </p:notesMasterIdLst>
  <p:handoutMasterIdLst>
    <p:handoutMasterId r:id="rId35"/>
  </p:handoutMasterIdLst>
  <p:sldIdLst>
    <p:sldId id="523" r:id="rId4"/>
    <p:sldId id="480" r:id="rId5"/>
    <p:sldId id="438" r:id="rId6"/>
    <p:sldId id="574" r:id="rId7"/>
    <p:sldId id="629" r:id="rId8"/>
    <p:sldId id="620" r:id="rId9"/>
    <p:sldId id="554" r:id="rId10"/>
    <p:sldId id="555" r:id="rId11"/>
    <p:sldId id="556" r:id="rId12"/>
    <p:sldId id="557" r:id="rId13"/>
    <p:sldId id="558" r:id="rId14"/>
    <p:sldId id="559" r:id="rId15"/>
    <p:sldId id="622" r:id="rId16"/>
    <p:sldId id="624" r:id="rId17"/>
    <p:sldId id="625" r:id="rId18"/>
    <p:sldId id="626" r:id="rId19"/>
    <p:sldId id="627" r:id="rId20"/>
    <p:sldId id="628" r:id="rId21"/>
    <p:sldId id="560" r:id="rId22"/>
    <p:sldId id="630" r:id="rId23"/>
    <p:sldId id="562" r:id="rId24"/>
    <p:sldId id="631" r:id="rId25"/>
    <p:sldId id="632" r:id="rId26"/>
    <p:sldId id="633" r:id="rId27"/>
    <p:sldId id="634" r:id="rId28"/>
    <p:sldId id="635" r:id="rId29"/>
    <p:sldId id="580" r:id="rId30"/>
    <p:sldId id="636" r:id="rId31"/>
    <p:sldId id="637" r:id="rId32"/>
    <p:sldId id="638" r:id="rId33"/>
  </p:sldIdLst>
  <p:sldSz cx="12192000" cy="6858000"/>
  <p:notesSz cx="6797675" cy="9928225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050" userDrawn="1">
          <p15:clr>
            <a:srgbClr val="A4A3A4"/>
          </p15:clr>
        </p15:guide>
        <p15:guide id="4" pos="6630" userDrawn="1">
          <p15:clr>
            <a:srgbClr val="A4A3A4"/>
          </p15:clr>
        </p15:guide>
        <p15:guide id="5" orient="horz" pos="648" userDrawn="1">
          <p15:clr>
            <a:srgbClr val="A4A3A4"/>
          </p15:clr>
        </p15:guide>
        <p15:guide id="6" orient="horz" pos="731" userDrawn="1">
          <p15:clr>
            <a:srgbClr val="A4A3A4"/>
          </p15:clr>
        </p15:guide>
        <p15:guide id="7" orient="horz" pos="3952" userDrawn="1">
          <p15:clr>
            <a:srgbClr val="A4A3A4"/>
          </p15:clr>
        </p15:guide>
        <p15:guide id="8" orient="horz" pos="38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叶 丁" initials="叶" lastIdx="2" clrIdx="0">
    <p:extLst>
      <p:ext uri="{19B8F6BF-5375-455C-9EA6-DF929625EA0E}">
        <p15:presenceInfo xmlns:p15="http://schemas.microsoft.com/office/powerpoint/2012/main" userId="7525c676c6ae861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213"/>
    <a:srgbClr val="EAB908"/>
    <a:srgbClr val="EAB905"/>
    <a:srgbClr val="FECD54"/>
    <a:srgbClr val="817222"/>
    <a:srgbClr val="515223"/>
    <a:srgbClr val="4B7D2B"/>
    <a:srgbClr val="9A8B3D"/>
    <a:srgbClr val="D3D1D2"/>
    <a:srgbClr val="5656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34" autoAdjust="0"/>
    <p:restoredTop sz="78251" autoAdjust="0"/>
  </p:normalViewPr>
  <p:slideViewPr>
    <p:cSldViewPr snapToGrid="0" showGuides="1">
      <p:cViewPr varScale="1">
        <p:scale>
          <a:sx n="86" d="100"/>
          <a:sy n="86" d="100"/>
        </p:scale>
        <p:origin x="80" y="104"/>
      </p:cViewPr>
      <p:guideLst>
        <p:guide orient="horz" pos="2251"/>
        <p:guide pos="3840"/>
        <p:guide pos="1050"/>
        <p:guide pos="6630"/>
        <p:guide orient="horz" pos="648"/>
        <p:guide orient="horz" pos="731"/>
        <p:guide orient="horz" pos="3952"/>
        <p:guide orient="horz" pos="38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2" d="100"/>
        <a:sy n="122" d="100"/>
      </p:scale>
      <p:origin x="0" y="-1392"/>
    </p:cViewPr>
  </p:sorterViewPr>
  <p:notesViewPr>
    <p:cSldViewPr snapToGrid="0" showGuides="1">
      <p:cViewPr varScale="1">
        <p:scale>
          <a:sx n="83" d="100"/>
          <a:sy n="83" d="100"/>
        </p:scale>
        <p:origin x="3992" y="208"/>
      </p:cViewPr>
      <p:guideLst/>
    </p:cSldViewPr>
  </p:notesViewPr>
  <p:gridSpacing cx="46800" cy="46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gs" Target="tags/tag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8C176BC-2537-496C-92BE-280C92B96E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32F750-D334-4736-B10E-0035158269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1325C-51CE-41A1-8630-1A52C13085B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29A2961-3AD5-4B21-AA67-7500903979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9F27F7-0D80-46EC-B423-14DAAD04B5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7E3C29-C726-4695-AB77-50247DBF3D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2408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B8505-E7BC-4327-812D-12C5E82484FC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71B729-817F-448C-AF52-5327A9569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66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718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4012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507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这里我们看一个有趣的例子，这个例子中我们看看</a:t>
            </a:r>
            <a:r>
              <a:rPr lang="en-US" altLang="zh-CN" dirty="0">
                <a:ea typeface="ＭＳ Ｐゴシック" panose="020B0600070205080204" pitchFamily="34" charset="-128"/>
              </a:rPr>
              <a:t>A</a:t>
            </a:r>
            <a:r>
              <a:rPr lang="zh-CN" altLang="en-US" dirty="0">
                <a:ea typeface="ＭＳ Ｐゴシック" panose="020B0600070205080204" pitchFamily="34" charset="-128"/>
              </a:rPr>
              <a:t>星算法是不是一个最优算法。如果用</a:t>
            </a:r>
            <a:r>
              <a:rPr lang="en-US" altLang="zh-CN" dirty="0">
                <a:ea typeface="ＭＳ Ｐゴシック" panose="020B0600070205080204" pitchFamily="34" charset="-128"/>
              </a:rPr>
              <a:t>a</a:t>
            </a:r>
            <a:r>
              <a:rPr lang="zh-CN" altLang="en-US" dirty="0">
                <a:ea typeface="ＭＳ Ｐゴシック" panose="020B0600070205080204" pitchFamily="34" charset="-128"/>
              </a:rPr>
              <a:t>星算法，那么就是</a:t>
            </a:r>
            <a:r>
              <a:rPr lang="en-US" altLang="zh-CN" dirty="0">
                <a:ea typeface="ＭＳ Ｐゴシック" panose="020B0600070205080204" pitchFamily="34" charset="-128"/>
              </a:rPr>
              <a:t>s</a:t>
            </a:r>
            <a:r>
              <a:rPr lang="zh-CN" altLang="en-US" dirty="0">
                <a:ea typeface="ＭＳ Ｐゴシック" panose="020B0600070205080204" pitchFamily="34" charset="-128"/>
              </a:rPr>
              <a:t>直接到</a:t>
            </a:r>
            <a:r>
              <a:rPr lang="en-US" altLang="zh-CN" dirty="0">
                <a:ea typeface="ＭＳ Ｐゴシック" panose="020B0600070205080204" pitchFamily="34" charset="-128"/>
              </a:rPr>
              <a:t>g</a:t>
            </a:r>
            <a:r>
              <a:rPr lang="zh-CN" altLang="en-US" dirty="0">
                <a:ea typeface="ＭＳ Ｐゴシック" panose="020B0600070205080204" pitchFamily="34" charset="-128"/>
              </a:rPr>
              <a:t>，而不是</a:t>
            </a:r>
            <a:r>
              <a:rPr lang="en-US" altLang="zh-CN" dirty="0">
                <a:ea typeface="ＭＳ Ｐゴシック" panose="020B0600070205080204" pitchFamily="34" charset="-128"/>
              </a:rPr>
              <a:t>s</a:t>
            </a:r>
            <a:r>
              <a:rPr lang="zh-CN" altLang="en-US" dirty="0">
                <a:ea typeface="ＭＳ Ｐゴシック" panose="020B0600070205080204" pitchFamily="34" charset="-128"/>
              </a:rPr>
              <a:t>到</a:t>
            </a:r>
            <a:r>
              <a:rPr lang="en-US" altLang="zh-CN" dirty="0">
                <a:ea typeface="ＭＳ Ｐゴシック" panose="020B0600070205080204" pitchFamily="34" charset="-128"/>
              </a:rPr>
              <a:t>a</a:t>
            </a:r>
            <a:r>
              <a:rPr lang="zh-CN" altLang="en-US" dirty="0">
                <a:ea typeface="ＭＳ Ｐゴシック" panose="020B0600070205080204" pitchFamily="34" charset="-128"/>
              </a:rPr>
              <a:t>到</a:t>
            </a:r>
            <a:r>
              <a:rPr lang="en-US" altLang="zh-CN" dirty="0">
                <a:ea typeface="ＭＳ Ｐゴシック" panose="020B0600070205080204" pitchFamily="34" charset="-128"/>
              </a:rPr>
              <a:t>g</a:t>
            </a:r>
            <a:r>
              <a:rPr lang="zh-CN" altLang="en-US" dirty="0">
                <a:ea typeface="ＭＳ Ｐゴシック" panose="020B0600070205080204" pitchFamily="34" charset="-128"/>
              </a:rPr>
              <a:t>，为什么呢？</a:t>
            </a:r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zh-CN" altLang="en-US" dirty="0">
                <a:ea typeface="ＭＳ Ｐゴシック" panose="020B0600070205080204" pitchFamily="34" charset="-128"/>
              </a:rPr>
              <a:t>因为启发式</a:t>
            </a:r>
            <a:r>
              <a:rPr lang="en-US" altLang="zh-CN" dirty="0">
                <a:ea typeface="ＭＳ Ｐゴシック" panose="020B0600070205080204" pitchFamily="34" charset="-128"/>
              </a:rPr>
              <a:t>h</a:t>
            </a:r>
            <a:r>
              <a:rPr lang="zh-CN" altLang="en-US" dirty="0">
                <a:ea typeface="ＭＳ Ｐゴシック" panose="020B0600070205080204" pitchFamily="34" charset="-128"/>
              </a:rPr>
              <a:t>不好，让不好的路径的预估的</a:t>
            </a:r>
            <a:r>
              <a:rPr lang="en-US" altLang="zh-CN" dirty="0">
                <a:ea typeface="ＭＳ Ｐゴシック" panose="020B0600070205080204" pitchFamily="34" charset="-128"/>
              </a:rPr>
              <a:t>cost</a:t>
            </a:r>
            <a:r>
              <a:rPr lang="zh-CN" altLang="en-US" dirty="0">
                <a:ea typeface="ＭＳ Ｐゴシック" panose="020B0600070205080204" pitchFamily="34" charset="-128"/>
              </a:rPr>
              <a:t>要比好的路径的预估的</a:t>
            </a:r>
            <a:r>
              <a:rPr lang="en-US" altLang="zh-CN" dirty="0">
                <a:ea typeface="ＭＳ Ｐゴシック" panose="020B0600070205080204" pitchFamily="34" charset="-128"/>
              </a:rPr>
              <a:t>cost</a:t>
            </a:r>
            <a:r>
              <a:rPr lang="zh-CN" altLang="en-US" dirty="0">
                <a:ea typeface="ＭＳ Ｐゴシック" panose="020B0600070205080204" pitchFamily="34" charset="-128"/>
              </a:rPr>
              <a:t>小了。</a:t>
            </a:r>
            <a:endParaRPr lang="en-US" altLang="zh-CN" dirty="0">
              <a:ea typeface="ＭＳ Ｐゴシック" panose="020B0600070205080204" pitchFamily="34" charset="-128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632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预计的</a:t>
            </a:r>
            <a:r>
              <a:rPr lang="en-US" altLang="zh-CN" dirty="0">
                <a:ea typeface="ＭＳ Ｐゴシック" panose="020B0600070205080204" pitchFamily="34" charset="-128"/>
              </a:rPr>
              <a:t>cost</a:t>
            </a:r>
            <a:r>
              <a:rPr lang="zh-CN" altLang="en-US" dirty="0">
                <a:ea typeface="ＭＳ Ｐゴシック" panose="020B0600070205080204" pitchFamily="34" charset="-128"/>
              </a:rPr>
              <a:t>要比真实的</a:t>
            </a:r>
            <a:r>
              <a:rPr lang="en-US" altLang="zh-CN" dirty="0">
                <a:ea typeface="ＭＳ Ｐゴシック" panose="020B0600070205080204" pitchFamily="34" charset="-128"/>
              </a:rPr>
              <a:t>cost</a:t>
            </a:r>
            <a:r>
              <a:rPr lang="zh-CN" altLang="en-US" dirty="0">
                <a:ea typeface="ＭＳ Ｐゴシック" panose="020B0600070205080204" pitchFamily="34" charset="-128"/>
              </a:rPr>
              <a:t>要小才行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71B729-817F-448C-AF52-5327A95694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46983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矛盾法</a:t>
            </a:r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zh-CN" altLang="en-US" dirty="0">
                <a:ea typeface="ＭＳ Ｐゴシック" panose="020B0600070205080204" pitchFamily="34" charset="-128"/>
              </a:rPr>
              <a:t>第一行，因为</a:t>
            </a:r>
            <a:r>
              <a:rPr lang="en-US" altLang="zh-CN" dirty="0">
                <a:ea typeface="ＭＳ Ｐゴシック" panose="020B0600070205080204" pitchFamily="34" charset="-128"/>
              </a:rPr>
              <a:t>g2</a:t>
            </a:r>
            <a:r>
              <a:rPr lang="zh-CN" altLang="en-US" dirty="0">
                <a:ea typeface="ＭＳ Ｐゴシック" panose="020B0600070205080204" pitchFamily="34" charset="-128"/>
              </a:rPr>
              <a:t>已经是终点了，所以真实的距离为</a:t>
            </a:r>
            <a:r>
              <a:rPr lang="en-US" altLang="zh-CN" dirty="0">
                <a:ea typeface="ＭＳ Ｐゴシック" panose="020B0600070205080204" pitchFamily="34" charset="-128"/>
              </a:rPr>
              <a:t>0</a:t>
            </a:r>
            <a:r>
              <a:rPr lang="zh-CN" altLang="en-US" dirty="0">
                <a:ea typeface="ＭＳ Ｐゴシック" panose="020B0600070205080204" pitchFamily="34" charset="-128"/>
              </a:rPr>
              <a:t>，而因为</a:t>
            </a:r>
            <a:r>
              <a:rPr lang="en-US" altLang="zh-CN" dirty="0">
                <a:ea typeface="ＭＳ Ｐゴシック" panose="020B0600070205080204" pitchFamily="34" charset="-128"/>
              </a:rPr>
              <a:t>admissible</a:t>
            </a:r>
            <a:r>
              <a:rPr lang="zh-CN" altLang="en-US" dirty="0">
                <a:ea typeface="ＭＳ Ｐゴシック" panose="020B0600070205080204" pitchFamily="34" charset="-128"/>
              </a:rPr>
              <a:t>，所以</a:t>
            </a:r>
            <a:r>
              <a:rPr lang="en-US" altLang="zh-CN" dirty="0">
                <a:ea typeface="ＭＳ Ｐゴシック" panose="020B0600070205080204" pitchFamily="34" charset="-128"/>
              </a:rPr>
              <a:t>h(g2)</a:t>
            </a:r>
            <a:r>
              <a:rPr lang="zh-CN" altLang="en-US" dirty="0">
                <a:ea typeface="ＭＳ Ｐゴシック" panose="020B0600070205080204" pitchFamily="34" charset="-128"/>
              </a:rPr>
              <a:t>要小于等于真实的距离，就是要小于等于</a:t>
            </a:r>
            <a:r>
              <a:rPr lang="en-US" altLang="zh-CN" dirty="0">
                <a:ea typeface="ＭＳ Ｐゴシック" panose="020B0600070205080204" pitchFamily="34" charset="-128"/>
              </a:rPr>
              <a:t>0</a:t>
            </a:r>
            <a:r>
              <a:rPr lang="zh-CN" altLang="en-US" dirty="0">
                <a:ea typeface="ＭＳ Ｐゴシック" panose="020B0600070205080204" pitchFamily="34" charset="-128"/>
              </a:rPr>
              <a:t>，所以</a:t>
            </a:r>
            <a:r>
              <a:rPr lang="en-US" altLang="zh-CN" dirty="0">
                <a:ea typeface="ＭＳ Ｐゴシック" panose="020B0600070205080204" pitchFamily="34" charset="-128"/>
              </a:rPr>
              <a:t>h(g2)</a:t>
            </a:r>
            <a:r>
              <a:rPr lang="zh-CN" altLang="en-US" dirty="0">
                <a:ea typeface="ＭＳ Ｐゴシック" panose="020B0600070205080204" pitchFamily="34" charset="-128"/>
              </a:rPr>
              <a:t>必然为</a:t>
            </a:r>
            <a:r>
              <a:rPr lang="en-US" altLang="zh-CN" dirty="0">
                <a:ea typeface="ＭＳ Ｐゴシック" panose="020B0600070205080204" pitchFamily="34" charset="-128"/>
              </a:rPr>
              <a:t>0</a:t>
            </a:r>
          </a:p>
          <a:p>
            <a:r>
              <a:rPr lang="zh-CN" altLang="en-US" dirty="0">
                <a:ea typeface="ＭＳ Ｐゴシック" panose="020B0600070205080204" pitchFamily="34" charset="-128"/>
              </a:rPr>
              <a:t>第二行，由假设，</a:t>
            </a:r>
            <a:r>
              <a:rPr lang="en-US" altLang="zh-CN" dirty="0">
                <a:ea typeface="ＭＳ Ｐゴシック" panose="020B0600070205080204" pitchFamily="34" charset="-128"/>
              </a:rPr>
              <a:t>g2</a:t>
            </a:r>
            <a:r>
              <a:rPr lang="zh-CN" altLang="en-US" dirty="0">
                <a:ea typeface="ＭＳ Ｐゴシック" panose="020B0600070205080204" pitchFamily="34" charset="-128"/>
              </a:rPr>
              <a:t>相比</a:t>
            </a:r>
            <a:r>
              <a:rPr lang="en-US" altLang="zh-CN" dirty="0">
                <a:ea typeface="ＭＳ Ｐゴシック" panose="020B0600070205080204" pitchFamily="34" charset="-128"/>
              </a:rPr>
              <a:t>g</a:t>
            </a:r>
            <a:r>
              <a:rPr lang="zh-CN" altLang="en-US" dirty="0">
                <a:ea typeface="ＭＳ Ｐゴシック" panose="020B0600070205080204" pitchFamily="34" charset="-128"/>
              </a:rPr>
              <a:t>是次优的，所以到</a:t>
            </a:r>
            <a:r>
              <a:rPr lang="en-US" altLang="zh-CN" dirty="0">
                <a:ea typeface="ＭＳ Ｐゴシック" panose="020B0600070205080204" pitchFamily="34" charset="-128"/>
              </a:rPr>
              <a:t>g</a:t>
            </a:r>
            <a:r>
              <a:rPr lang="zh-CN" altLang="en-US" dirty="0">
                <a:ea typeface="ＭＳ Ｐゴシック" panose="020B0600070205080204" pitchFamily="34" charset="-128"/>
              </a:rPr>
              <a:t>的</a:t>
            </a:r>
            <a:r>
              <a:rPr lang="en-US" altLang="zh-CN" dirty="0">
                <a:ea typeface="ＭＳ Ｐゴシック" panose="020B0600070205080204" pitchFamily="34" charset="-128"/>
              </a:rPr>
              <a:t>cost</a:t>
            </a:r>
            <a:r>
              <a:rPr lang="zh-CN" altLang="en-US" dirty="0">
                <a:ea typeface="ＭＳ Ｐゴシック" panose="020B0600070205080204" pitchFamily="34" charset="-128"/>
              </a:rPr>
              <a:t>是要比到</a:t>
            </a:r>
            <a:r>
              <a:rPr lang="en-US" altLang="zh-CN" dirty="0">
                <a:ea typeface="ＭＳ Ｐゴシック" panose="020B0600070205080204" pitchFamily="34" charset="-128"/>
              </a:rPr>
              <a:t>g2</a:t>
            </a:r>
            <a:r>
              <a:rPr lang="zh-CN" altLang="en-US" dirty="0">
                <a:ea typeface="ＭＳ Ｐゴシック" panose="020B0600070205080204" pitchFamily="34" charset="-128"/>
              </a:rPr>
              <a:t>的小的</a:t>
            </a:r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zh-CN" altLang="en-US" dirty="0">
                <a:ea typeface="ＭＳ Ｐゴシック" panose="020B0600070205080204" pitchFamily="34" charset="-128"/>
              </a:rPr>
              <a:t>第三行，同理，因为</a:t>
            </a:r>
            <a:r>
              <a:rPr lang="en-US" altLang="zh-CN" dirty="0">
                <a:ea typeface="ＭＳ Ｐゴシック" panose="020B0600070205080204" pitchFamily="34" charset="-128"/>
              </a:rPr>
              <a:t>g</a:t>
            </a:r>
            <a:r>
              <a:rPr lang="zh-CN" altLang="en-US" dirty="0">
                <a:ea typeface="ＭＳ Ｐゴシック" panose="020B0600070205080204" pitchFamily="34" charset="-128"/>
              </a:rPr>
              <a:t>也是终点，所以</a:t>
            </a:r>
            <a:r>
              <a:rPr lang="en-US" altLang="zh-CN" i="1" dirty="0">
                <a:ea typeface="ＭＳ Ｐゴシック" panose="020B0600070205080204" pitchFamily="34" charset="-128"/>
              </a:rPr>
              <a:t>h</a:t>
            </a:r>
            <a:r>
              <a:rPr lang="en-US" altLang="zh-CN" dirty="0">
                <a:ea typeface="ＭＳ Ｐゴシック" panose="020B0600070205080204" pitchFamily="34" charset="-128"/>
              </a:rPr>
              <a:t>(G) = 0 </a:t>
            </a:r>
          </a:p>
          <a:p>
            <a:r>
              <a:rPr lang="zh-CN" altLang="en-US" dirty="0">
                <a:ea typeface="ＭＳ Ｐゴシック" panose="020B0600070205080204" pitchFamily="34" charset="-128"/>
              </a:rPr>
              <a:t>第四行，和第二行一样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4824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第一行，接上一个</a:t>
            </a:r>
            <a:r>
              <a:rPr lang="en-US" altLang="zh-CN" dirty="0">
                <a:ea typeface="ＭＳ Ｐゴシック" panose="020B0600070205080204" pitchFamily="34" charset="-128"/>
              </a:rPr>
              <a:t>ppt</a:t>
            </a:r>
            <a:r>
              <a:rPr lang="zh-CN" altLang="en-US" dirty="0">
                <a:ea typeface="ＭＳ Ｐゴシック" panose="020B0600070205080204" pitchFamily="34" charset="-128"/>
              </a:rPr>
              <a:t>的第四行</a:t>
            </a:r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zh-CN" altLang="en-US" dirty="0">
                <a:ea typeface="ＭＳ Ｐゴシック" panose="020B0600070205080204" pitchFamily="34" charset="-128"/>
              </a:rPr>
              <a:t>第二行，因为</a:t>
            </a:r>
            <a:r>
              <a:rPr lang="en-US" altLang="zh-CN" dirty="0">
                <a:ea typeface="ＭＳ Ｐゴシック" panose="020B0600070205080204" pitchFamily="34" charset="-128"/>
              </a:rPr>
              <a:t>h</a:t>
            </a:r>
            <a:r>
              <a:rPr lang="zh-CN" altLang="en-US" dirty="0">
                <a:ea typeface="ＭＳ Ｐゴシック" panose="020B0600070205080204" pitchFamily="34" charset="-128"/>
              </a:rPr>
              <a:t>是</a:t>
            </a:r>
            <a:r>
              <a:rPr lang="en-US" altLang="zh-CN" dirty="0">
                <a:ea typeface="ＭＳ Ｐゴシック" panose="020B0600070205080204" pitchFamily="34" charset="-128"/>
              </a:rPr>
              <a:t>admissible</a:t>
            </a:r>
            <a:r>
              <a:rPr lang="zh-CN" altLang="en-US" dirty="0">
                <a:ea typeface="ＭＳ Ｐゴシック" panose="020B0600070205080204" pitchFamily="34" charset="-128"/>
              </a:rPr>
              <a:t>的，所以</a:t>
            </a:r>
            <a:r>
              <a:rPr lang="en-US" altLang="zh-CN" dirty="0">
                <a:ea typeface="ＭＳ Ｐゴシック" panose="020B0600070205080204" pitchFamily="34" charset="-128"/>
              </a:rPr>
              <a:t>h(n)</a:t>
            </a:r>
            <a:r>
              <a:rPr lang="zh-CN" altLang="en-US" dirty="0">
                <a:ea typeface="ＭＳ Ｐゴシック" panose="020B0600070205080204" pitchFamily="34" charset="-128"/>
              </a:rPr>
              <a:t>必然小于</a:t>
            </a:r>
            <a:r>
              <a:rPr lang="en-US" altLang="zh-CN" dirty="0">
                <a:ea typeface="ＭＳ Ｐゴシック" panose="020B0600070205080204" pitchFamily="34" charset="-128"/>
              </a:rPr>
              <a:t>h*,</a:t>
            </a:r>
            <a:r>
              <a:rPr lang="zh-CN" altLang="en-US" dirty="0">
                <a:ea typeface="ＭＳ Ｐゴシック" panose="020B0600070205080204" pitchFamily="34" charset="-128"/>
              </a:rPr>
              <a:t>这里</a:t>
            </a:r>
            <a:r>
              <a:rPr lang="en-US" altLang="zh-CN" dirty="0">
                <a:ea typeface="ＭＳ Ｐゴシック" panose="020B0600070205080204" pitchFamily="34" charset="-128"/>
              </a:rPr>
              <a:t>h*</a:t>
            </a:r>
            <a:r>
              <a:rPr lang="zh-CN" altLang="en-US" dirty="0">
                <a:ea typeface="ＭＳ Ｐゴシック" panose="020B0600070205080204" pitchFamily="34" charset="-128"/>
              </a:rPr>
              <a:t>是真实的最小距离</a:t>
            </a:r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zh-CN" altLang="en-US" dirty="0">
                <a:ea typeface="ＭＳ Ｐゴシック" panose="020B0600070205080204" pitchFamily="34" charset="-128"/>
              </a:rPr>
              <a:t>第三行，由上一行</a:t>
            </a:r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zh-CN" altLang="en-US" dirty="0">
                <a:ea typeface="ＭＳ Ｐゴシック" panose="020B0600070205080204" pitchFamily="34" charset="-128"/>
              </a:rPr>
              <a:t>第四行，因为</a:t>
            </a:r>
            <a:r>
              <a:rPr lang="en-US" altLang="zh-CN" dirty="0">
                <a:ea typeface="ＭＳ Ｐゴシック" panose="020B0600070205080204" pitchFamily="34" charset="-128"/>
              </a:rPr>
              <a:t>h*</a:t>
            </a:r>
            <a:r>
              <a:rPr lang="zh-CN" altLang="en-US" dirty="0">
                <a:ea typeface="ＭＳ Ｐゴシック" panose="020B0600070205080204" pitchFamily="34" charset="-128"/>
              </a:rPr>
              <a:t>是从</a:t>
            </a:r>
            <a:r>
              <a:rPr lang="en-US" altLang="zh-CN" dirty="0">
                <a:ea typeface="ＭＳ Ｐゴシック" panose="020B0600070205080204" pitchFamily="34" charset="-128"/>
              </a:rPr>
              <a:t>n</a:t>
            </a:r>
            <a:r>
              <a:rPr lang="zh-CN" altLang="en-US" dirty="0">
                <a:ea typeface="ＭＳ Ｐゴシック" panose="020B0600070205080204" pitchFamily="34" charset="-128"/>
              </a:rPr>
              <a:t>到</a:t>
            </a:r>
            <a:r>
              <a:rPr lang="en-US" altLang="zh-CN" dirty="0">
                <a:ea typeface="ＭＳ Ｐゴシック" panose="020B0600070205080204" pitchFamily="34" charset="-128"/>
              </a:rPr>
              <a:t>g</a:t>
            </a:r>
            <a:r>
              <a:rPr lang="zh-CN" altLang="en-US" dirty="0">
                <a:ea typeface="ＭＳ Ｐゴシック" panose="020B0600070205080204" pitchFamily="34" charset="-128"/>
              </a:rPr>
              <a:t>的真实最小距离，所以</a:t>
            </a:r>
            <a:r>
              <a:rPr lang="en-US" altLang="zh-CN" dirty="0">
                <a:ea typeface="ＭＳ Ｐゴシック" panose="020B0600070205080204" pitchFamily="34" charset="-128"/>
              </a:rPr>
              <a:t>f(G)=g(n)+h*(n),</a:t>
            </a:r>
            <a:r>
              <a:rPr lang="zh-CN" altLang="en-US" dirty="0">
                <a:ea typeface="ＭＳ Ｐゴシック" panose="020B0600070205080204" pitchFamily="34" charset="-128"/>
              </a:rPr>
              <a:t>这样可以推出</a:t>
            </a:r>
            <a:r>
              <a:rPr lang="en-US" altLang="zh-CN" dirty="0">
                <a:ea typeface="ＭＳ Ｐゴシック" panose="020B0600070205080204" pitchFamily="34" charset="-128"/>
              </a:rPr>
              <a:t>f(n)&lt;f(G)</a:t>
            </a:r>
          </a:p>
          <a:p>
            <a:r>
              <a:rPr lang="zh-CN" altLang="en-US" dirty="0">
                <a:ea typeface="ＭＳ Ｐゴシック" panose="020B0600070205080204" pitchFamily="34" charset="-128"/>
              </a:rPr>
              <a:t>第五行，由第一行以及第四行，既然</a:t>
            </a:r>
            <a:r>
              <a:rPr lang="en-US" altLang="zh-CN" dirty="0">
                <a:ea typeface="ＭＳ Ｐゴシック" panose="020B0600070205080204" pitchFamily="34" charset="-128"/>
              </a:rPr>
              <a:t>f(n)&lt;=f(G2)&lt;f(G),</a:t>
            </a:r>
            <a:r>
              <a:rPr lang="zh-CN" altLang="en-US" dirty="0">
                <a:ea typeface="ＭＳ Ｐゴシック" panose="020B0600070205080204" pitchFamily="34" charset="-128"/>
              </a:rPr>
              <a:t>但是</a:t>
            </a:r>
            <a:r>
              <a:rPr lang="en-US" altLang="zh-CN" dirty="0">
                <a:ea typeface="ＭＳ Ｐゴシック" panose="020B0600070205080204" pitchFamily="34" charset="-128"/>
              </a:rPr>
              <a:t>A*</a:t>
            </a:r>
            <a:r>
              <a:rPr lang="zh-CN" altLang="en-US" dirty="0">
                <a:ea typeface="ＭＳ Ｐゴシック" panose="020B0600070205080204" pitchFamily="34" charset="-128"/>
              </a:rPr>
              <a:t>算法在每一次</a:t>
            </a:r>
            <a:r>
              <a:rPr lang="en-US" altLang="zh-CN" dirty="0">
                <a:ea typeface="ＭＳ Ｐゴシック" panose="020B0600070205080204" pitchFamily="34" charset="-128"/>
              </a:rPr>
              <a:t>expand</a:t>
            </a:r>
            <a:r>
              <a:rPr lang="zh-CN" altLang="en-US" dirty="0">
                <a:ea typeface="ＭＳ Ｐゴシック" panose="020B0600070205080204" pitchFamily="34" charset="-128"/>
              </a:rPr>
              <a:t>的时候，都会选择</a:t>
            </a:r>
            <a:r>
              <a:rPr lang="en-US" altLang="zh-CN" dirty="0">
                <a:ea typeface="ＭＳ Ｐゴシック" panose="020B0600070205080204" pitchFamily="34" charset="-128"/>
              </a:rPr>
              <a:t>f</a:t>
            </a:r>
            <a:r>
              <a:rPr lang="zh-CN" altLang="en-US" dirty="0">
                <a:ea typeface="ＭＳ Ｐゴシック" panose="020B0600070205080204" pitchFamily="34" charset="-128"/>
              </a:rPr>
              <a:t>最小的，所以绝对不会不选择</a:t>
            </a:r>
            <a:r>
              <a:rPr lang="en-US" altLang="zh-CN" dirty="0">
                <a:ea typeface="ＭＳ Ｐゴシック" panose="020B0600070205080204" pitchFamily="34" charset="-128"/>
              </a:rPr>
              <a:t>n</a:t>
            </a:r>
            <a:r>
              <a:rPr lang="zh-CN" altLang="en-US" dirty="0">
                <a:ea typeface="ＭＳ Ｐゴシック" panose="020B0600070205080204" pitchFamily="34" charset="-128"/>
              </a:rPr>
              <a:t>而直接选择到</a:t>
            </a:r>
            <a:r>
              <a:rPr lang="en-US" altLang="zh-CN" dirty="0">
                <a:ea typeface="ＭＳ Ｐゴシック" panose="020B0600070205080204" pitchFamily="34" charset="-128"/>
              </a:rPr>
              <a:t>g2</a:t>
            </a:r>
            <a:r>
              <a:rPr lang="zh-CN" altLang="en-US" dirty="0">
                <a:ea typeface="ＭＳ Ｐゴシック" panose="020B0600070205080204" pitchFamily="34" charset="-128"/>
              </a:rPr>
              <a:t>，这样就证明了用</a:t>
            </a:r>
            <a:r>
              <a:rPr lang="en-US" altLang="zh-CN" dirty="0">
                <a:ea typeface="ＭＳ Ｐゴシック" panose="020B0600070205080204" pitchFamily="34" charset="-128"/>
              </a:rPr>
              <a:t>a*</a:t>
            </a:r>
            <a:r>
              <a:rPr lang="zh-CN" altLang="en-US" dirty="0">
                <a:ea typeface="ＭＳ Ｐゴシック" panose="020B0600070205080204" pitchFamily="34" charset="-128"/>
              </a:rPr>
              <a:t>算法后，绝对不可能在到达目标之后，还会有一个</a:t>
            </a:r>
            <a:r>
              <a:rPr lang="en-US" altLang="zh-CN" dirty="0">
                <a:ea typeface="ＭＳ Ｐゴシック" panose="020B0600070205080204" pitchFamily="34" charset="-128"/>
              </a:rPr>
              <a:t>cost</a:t>
            </a:r>
            <a:r>
              <a:rPr lang="zh-CN" altLang="en-US" dirty="0">
                <a:ea typeface="ＭＳ Ｐゴシック" panose="020B0600070205080204" pitchFamily="34" charset="-128"/>
              </a:rPr>
              <a:t>更小的路径出现</a:t>
            </a:r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637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三角不等式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71B729-817F-448C-AF52-5327A95694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6998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三角不等式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71B729-817F-448C-AF52-5327A95694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5705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  <a:latin typeface="Cambria Math" panose="020405030504060302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𝒇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值沿着任何路径都是非递减的，因此可以在状态空间上绘制等值线</a:t>
            </a:r>
            <a:r>
              <a:rPr lang="zh-CN" altLang="en-US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。图</a:t>
            </a:r>
            <a:r>
              <a:rPr lang="en-US" altLang="zh-CN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4.4</a:t>
            </a:r>
            <a:r>
              <a:rPr lang="zh-CN" altLang="en-US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给出了一个例子。</a:t>
            </a:r>
            <a:endParaRPr lang="en-US" altLang="zh-CN" b="1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在标称</a:t>
            </a:r>
            <a:r>
              <a:rPr lang="en-US" altLang="zh-CN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400</a:t>
            </a:r>
            <a:r>
              <a:rPr lang="zh-CN" altLang="en-US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的等值线内，所有节点的</a:t>
            </a:r>
            <a:r>
              <a:rPr lang="en-US" altLang="zh-CN" b="1" dirty="0">
                <a:latin typeface="Cambria Math" panose="020405030504060302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𝒇(𝒏)</a:t>
            </a:r>
            <a:r>
              <a:rPr lang="zh-CN" altLang="en-US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值都小于等于</a:t>
            </a:r>
            <a:r>
              <a:rPr lang="en-US" altLang="zh-CN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400</a:t>
            </a:r>
            <a:r>
              <a:rPr lang="zh-CN" altLang="en-US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，以此类推。</a:t>
            </a:r>
            <a:endParaRPr lang="en-US" altLang="zh-CN" b="1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因为</a:t>
            </a:r>
            <a:r>
              <a:rPr lang="en-US" altLang="zh-CN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A*</a:t>
            </a:r>
            <a:r>
              <a:rPr lang="zh-CN" altLang="en-US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算法扩展的是</a:t>
            </a:r>
            <a:r>
              <a:rPr lang="en-US" altLang="zh-CN" b="1" dirty="0">
                <a:latin typeface="Cambria Math" panose="020405030504060302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𝒇</a:t>
            </a:r>
            <a:r>
              <a:rPr lang="zh-CN" altLang="en-US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值最低的节点，所以</a:t>
            </a:r>
            <a:r>
              <a:rPr lang="en-US" altLang="zh-CN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A*</a:t>
            </a:r>
            <a:r>
              <a:rPr lang="zh-CN" altLang="en-US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搜索由起始节点开始，以同心带状增长</a:t>
            </a:r>
            <a:r>
              <a:rPr lang="en-US" altLang="zh-CN" b="1" dirty="0">
                <a:latin typeface="Cambria Math" panose="020405030504060302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𝒇</a:t>
            </a:r>
            <a:r>
              <a:rPr lang="zh-CN" altLang="en-US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值的方式添加节点。</a:t>
            </a:r>
          </a:p>
          <a:p>
            <a:r>
              <a:rPr lang="zh-CN" altLang="en-US" dirty="0">
                <a:ea typeface="ＭＳ Ｐゴシック" panose="020B0600070205080204" pitchFamily="34" charset="-128"/>
              </a:rPr>
              <a:t>所以必然是以最小的</a:t>
            </a:r>
            <a:r>
              <a:rPr lang="en-US" altLang="zh-CN" dirty="0">
                <a:ea typeface="ＭＳ Ｐゴシック" panose="020B0600070205080204" pitchFamily="34" charset="-128"/>
              </a:rPr>
              <a:t>f</a:t>
            </a:r>
            <a:r>
              <a:rPr lang="zh-CN" altLang="en-US" dirty="0">
                <a:ea typeface="ＭＳ Ｐゴシック" panose="020B0600070205080204" pitchFamily="34" charset="-128"/>
              </a:rPr>
              <a:t>的等值线到</a:t>
            </a:r>
            <a:r>
              <a:rPr lang="en-US" altLang="zh-CN" dirty="0">
                <a:ea typeface="ＭＳ Ｐゴシック" panose="020B0600070205080204" pitchFamily="34" charset="-128"/>
              </a:rPr>
              <a:t>goal</a:t>
            </a:r>
            <a:endParaRPr lang="zh-CN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71B729-817F-448C-AF52-5327A95694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6274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三角不等式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71B729-817F-448C-AF52-5327A95694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6011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三角不等式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3347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如果最优解的深度太深了，那么要的时间就非常长，所以要限定</a:t>
            </a:r>
            <a:r>
              <a:rPr lang="en-US" altLang="zh-CN">
                <a:sym typeface="+mn-ea"/>
              </a:rPr>
              <a:t>depth</a:t>
            </a:r>
            <a:endParaRPr lang="zh-CN" altLang="en-US"/>
          </a:p>
          <a:p>
            <a:r>
              <a:rPr lang="zh-CN" altLang="en-US"/>
              <a:t>但是不知道多深才够好，所以干脆全部的</a:t>
            </a:r>
            <a:r>
              <a:rPr lang="en-US" altLang="zh-CN"/>
              <a:t>depth</a:t>
            </a:r>
            <a:r>
              <a:rPr lang="zh-CN" altLang="en-US"/>
              <a:t>都试一遍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三角不等式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71B729-817F-448C-AF52-5327A95694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4173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71B729-817F-448C-AF52-5327A95694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5648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幻灯片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箭头: 五边形 46">
            <a:extLst>
              <a:ext uri="{FF2B5EF4-FFF2-40B4-BE49-F238E27FC236}">
                <a16:creationId xmlns:a16="http://schemas.microsoft.com/office/drawing/2014/main" id="{E27F0E8A-FBE3-41B6-A56B-7A14F7AAA7BA}"/>
              </a:ext>
            </a:extLst>
          </p:cNvPr>
          <p:cNvSpPr/>
          <p:nvPr userDrawn="1"/>
        </p:nvSpPr>
        <p:spPr>
          <a:xfrm rot="5400000">
            <a:off x="-1070579" y="2025798"/>
            <a:ext cx="6858002" cy="2806406"/>
          </a:xfrm>
          <a:prstGeom prst="homePlate">
            <a:avLst>
              <a:gd name="adj" fmla="val 3223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solidFill>
                <a:schemeClr val="accent6"/>
              </a:solidFill>
              <a:latin typeface="Helvetica Regular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EAB9554-0968-7F4C-B17C-055427BAAC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42" y="2263721"/>
            <a:ext cx="2330560" cy="233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554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1B478B4D-326B-4F22-B792-98AB7E9C8268}"/>
              </a:ext>
            </a:extLst>
          </p:cNvPr>
          <p:cNvSpPr/>
          <p:nvPr userDrawn="1"/>
        </p:nvSpPr>
        <p:spPr bwMode="auto">
          <a:xfrm rot="5400000">
            <a:off x="4539448" y="-380490"/>
            <a:ext cx="3113105" cy="2609911"/>
          </a:xfrm>
          <a:custGeom>
            <a:avLst/>
            <a:gdLst>
              <a:gd name="connsiteX0" fmla="*/ 0 w 3113105"/>
              <a:gd name="connsiteY0" fmla="*/ 2609911 h 2609911"/>
              <a:gd name="connsiteX1" fmla="*/ 0 w 3113105"/>
              <a:gd name="connsiteY1" fmla="*/ 0 h 2609911"/>
              <a:gd name="connsiteX2" fmla="*/ 2301594 w 3113105"/>
              <a:gd name="connsiteY2" fmla="*/ 0 h 2609911"/>
              <a:gd name="connsiteX3" fmla="*/ 3113105 w 3113105"/>
              <a:gd name="connsiteY3" fmla="*/ 1304956 h 2609911"/>
              <a:gd name="connsiteX4" fmla="*/ 2301594 w 3113105"/>
              <a:gd name="connsiteY4" fmla="*/ 2609910 h 2609911"/>
              <a:gd name="connsiteX5" fmla="*/ 2301594 w 3113105"/>
              <a:gd name="connsiteY5" fmla="*/ 2609911 h 2609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3105" h="2609911">
                <a:moveTo>
                  <a:pt x="0" y="2609911"/>
                </a:moveTo>
                <a:lnTo>
                  <a:pt x="0" y="0"/>
                </a:lnTo>
                <a:lnTo>
                  <a:pt x="2301594" y="0"/>
                </a:lnTo>
                <a:lnTo>
                  <a:pt x="3113105" y="1304956"/>
                </a:lnTo>
                <a:lnTo>
                  <a:pt x="2301594" y="2609910"/>
                </a:lnTo>
                <a:lnTo>
                  <a:pt x="2301594" y="26099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2742BE2E-64C4-45DC-B5F2-9CE85916052B}"/>
              </a:ext>
            </a:extLst>
          </p:cNvPr>
          <p:cNvSpPr txBox="1"/>
          <p:nvPr userDrawn="1"/>
        </p:nvSpPr>
        <p:spPr>
          <a:xfrm>
            <a:off x="4781377" y="483991"/>
            <a:ext cx="2629246" cy="908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BEB662E1-75A1-469F-B2C5-6EC6E8255C44}"/>
              </a:ext>
            </a:extLst>
          </p:cNvPr>
          <p:cNvSpPr/>
          <p:nvPr userDrawn="1"/>
        </p:nvSpPr>
        <p:spPr bwMode="auto">
          <a:xfrm rot="5400000">
            <a:off x="4384812" y="-485285"/>
            <a:ext cx="3422377" cy="3128773"/>
          </a:xfrm>
          <a:custGeom>
            <a:avLst/>
            <a:gdLst>
              <a:gd name="connsiteX0" fmla="*/ 0 w 3422377"/>
              <a:gd name="connsiteY0" fmla="*/ 3128773 h 3128773"/>
              <a:gd name="connsiteX1" fmla="*/ 0 w 3422377"/>
              <a:gd name="connsiteY1" fmla="*/ 0 h 3128773"/>
              <a:gd name="connsiteX2" fmla="*/ 2449535 w 3422377"/>
              <a:gd name="connsiteY2" fmla="*/ 0 h 3128773"/>
              <a:gd name="connsiteX3" fmla="*/ 3422377 w 3422377"/>
              <a:gd name="connsiteY3" fmla="*/ 1564387 h 3128773"/>
              <a:gd name="connsiteX4" fmla="*/ 2449535 w 3422377"/>
              <a:gd name="connsiteY4" fmla="*/ 3128772 h 3128773"/>
              <a:gd name="connsiteX5" fmla="*/ 2449535 w 3422377"/>
              <a:gd name="connsiteY5" fmla="*/ 3128773 h 312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2377" h="3128773">
                <a:moveTo>
                  <a:pt x="0" y="3128773"/>
                </a:moveTo>
                <a:lnTo>
                  <a:pt x="0" y="0"/>
                </a:lnTo>
                <a:lnTo>
                  <a:pt x="2449535" y="0"/>
                </a:lnTo>
                <a:lnTo>
                  <a:pt x="3422377" y="1564387"/>
                </a:lnTo>
                <a:lnTo>
                  <a:pt x="2449535" y="3128772"/>
                </a:lnTo>
                <a:lnTo>
                  <a:pt x="2449535" y="3128773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CF32DCCF-D109-144D-93EF-7A463349C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8999" y="0"/>
            <a:ext cx="6858000" cy="6858000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D607238F-89BF-434F-A2F2-C5D1BB90B6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06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E7CB78A0-538A-4F4C-97AC-5D6B9B36EAE3}"/>
              </a:ext>
            </a:extLst>
          </p:cNvPr>
          <p:cNvSpPr/>
          <p:nvPr userDrawn="1"/>
        </p:nvSpPr>
        <p:spPr>
          <a:xfrm>
            <a:off x="3997387" y="1330387"/>
            <a:ext cx="4197226" cy="4197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D3F2D1-9FCF-4792-8D92-8CA0C104ED79}"/>
              </a:ext>
            </a:extLst>
          </p:cNvPr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01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1FBCD60-E317-434E-9948-6517EE806648}"/>
              </a:ext>
            </a:extLst>
          </p:cNvPr>
          <p:cNvCxnSpPr>
            <a:cxnSpLocks/>
          </p:cNvCxnSpPr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E5FF972F-6C72-4EB1-91BD-22FC6A6BFE55}"/>
              </a:ext>
            </a:extLst>
          </p:cNvPr>
          <p:cNvSpPr/>
          <p:nvPr userDrawn="1"/>
        </p:nvSpPr>
        <p:spPr>
          <a:xfrm>
            <a:off x="3775702" y="1108702"/>
            <a:ext cx="4640596" cy="464059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ED22ADE-3337-4765-824B-2BCE393B3BC8}"/>
              </a:ext>
            </a:extLst>
          </p:cNvPr>
          <p:cNvSpPr/>
          <p:nvPr userDrawn="1"/>
        </p:nvSpPr>
        <p:spPr>
          <a:xfrm>
            <a:off x="9613900" y="5273613"/>
            <a:ext cx="764381" cy="76438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7F0E457-CBAE-48A1-9FDD-0AD48E16BB0E}"/>
              </a:ext>
            </a:extLst>
          </p:cNvPr>
          <p:cNvSpPr/>
          <p:nvPr userDrawn="1"/>
        </p:nvSpPr>
        <p:spPr>
          <a:xfrm>
            <a:off x="2209800" y="6134100"/>
            <a:ext cx="1130300" cy="11303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F5B61E3-C874-41BD-9977-575DE377EF7C}"/>
              </a:ext>
            </a:extLst>
          </p:cNvPr>
          <p:cNvSpPr/>
          <p:nvPr userDrawn="1"/>
        </p:nvSpPr>
        <p:spPr>
          <a:xfrm>
            <a:off x="10818188" y="-911691"/>
            <a:ext cx="2092326" cy="209232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79C958C-4261-4C02-847F-E854178B5EDF}"/>
              </a:ext>
            </a:extLst>
          </p:cNvPr>
          <p:cNvSpPr/>
          <p:nvPr userDrawn="1"/>
        </p:nvSpPr>
        <p:spPr>
          <a:xfrm>
            <a:off x="-1048048" y="-250249"/>
            <a:ext cx="2861767" cy="286176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50FB6E99-D418-4444-914B-2306780544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51320"/>
            <a:ext cx="3996000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547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>
            <a:extLst>
              <a:ext uri="{FF2B5EF4-FFF2-40B4-BE49-F238E27FC236}">
                <a16:creationId xmlns:a16="http://schemas.microsoft.com/office/drawing/2014/main" id="{5FB16484-E5F7-4B77-B7A5-FDAB1703AF52}"/>
              </a:ext>
            </a:extLst>
          </p:cNvPr>
          <p:cNvSpPr/>
          <p:nvPr userDrawn="1"/>
        </p:nvSpPr>
        <p:spPr>
          <a:xfrm>
            <a:off x="4000500" y="1050677"/>
            <a:ext cx="4191000" cy="409786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FD6F57-F8D0-494A-A461-A05057362E38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02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F3C94DC-BC3D-4914-BCEA-9BADE3C91715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D3B89C71-934D-411D-A2EA-05C70F77FCCA}"/>
              </a:ext>
            </a:extLst>
          </p:cNvPr>
          <p:cNvSpPr/>
          <p:nvPr userDrawn="1"/>
        </p:nvSpPr>
        <p:spPr>
          <a:xfrm>
            <a:off x="3564087" y="505131"/>
            <a:ext cx="5063826" cy="4951296"/>
          </a:xfrm>
          <a:prstGeom prst="triangle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A837D7F3-A47E-4687-B46E-2D3048C16002}"/>
              </a:ext>
            </a:extLst>
          </p:cNvPr>
          <p:cNvSpPr/>
          <p:nvPr userDrawn="1"/>
        </p:nvSpPr>
        <p:spPr>
          <a:xfrm rot="10800000">
            <a:off x="1390650" y="6496115"/>
            <a:ext cx="1493560" cy="146037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FE10A76B-7B22-4776-AAF9-D0EEE0D973D2}"/>
              </a:ext>
            </a:extLst>
          </p:cNvPr>
          <p:cNvSpPr/>
          <p:nvPr userDrawn="1"/>
        </p:nvSpPr>
        <p:spPr>
          <a:xfrm>
            <a:off x="11153775" y="1013971"/>
            <a:ext cx="2076450" cy="2030307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80425897-AA01-4101-B050-A034992317B0}"/>
              </a:ext>
            </a:extLst>
          </p:cNvPr>
          <p:cNvSpPr/>
          <p:nvPr userDrawn="1"/>
        </p:nvSpPr>
        <p:spPr>
          <a:xfrm rot="10800000">
            <a:off x="-414337" y="-187450"/>
            <a:ext cx="2386788" cy="2333749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1DC1ADFB-E837-4D7F-B9F3-657D2F4ACAB6}"/>
              </a:ext>
            </a:extLst>
          </p:cNvPr>
          <p:cNvSpPr/>
          <p:nvPr userDrawn="1"/>
        </p:nvSpPr>
        <p:spPr>
          <a:xfrm rot="5400000">
            <a:off x="9449232" y="5270665"/>
            <a:ext cx="883117" cy="86349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34BB7AD-2674-4436-98EF-FC7061F098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8000" y="3959372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5464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E3D9E87-D3B4-4F53-99F3-7438B7E4D4AB}"/>
              </a:ext>
            </a:extLst>
          </p:cNvPr>
          <p:cNvSpPr/>
          <p:nvPr userDrawn="1"/>
        </p:nvSpPr>
        <p:spPr>
          <a:xfrm rot="18893364">
            <a:off x="4380710" y="1706822"/>
            <a:ext cx="3444573" cy="3444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D21FE1-F1E4-4E14-BF8F-A4D4ED823FBC}"/>
              </a:ext>
            </a:extLst>
          </p:cNvPr>
          <p:cNvSpPr/>
          <p:nvPr userDrawn="1"/>
        </p:nvSpPr>
        <p:spPr>
          <a:xfrm rot="18893364">
            <a:off x="4161891" y="1495013"/>
            <a:ext cx="3868219" cy="386821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76C3FD-32D6-4E41-B7F5-97F8A47A3D05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03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DD83EE6-28E8-42E1-9D1D-CEA16A3EF647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2CCFA9F-ED6D-4706-AB87-12B0B7099A55}"/>
              </a:ext>
            </a:extLst>
          </p:cNvPr>
          <p:cNvSpPr/>
          <p:nvPr userDrawn="1"/>
        </p:nvSpPr>
        <p:spPr>
          <a:xfrm rot="18893364">
            <a:off x="-897505" y="-513190"/>
            <a:ext cx="2663805" cy="2663805"/>
          </a:xfrm>
          <a:prstGeom prst="rect">
            <a:avLst/>
          </a:prstGeom>
          <a:solidFill>
            <a:srgbClr val="A4A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53FD0E-8CED-473A-8132-8C32D5EB7E41}"/>
              </a:ext>
            </a:extLst>
          </p:cNvPr>
          <p:cNvSpPr/>
          <p:nvPr userDrawn="1"/>
        </p:nvSpPr>
        <p:spPr>
          <a:xfrm rot="18893364">
            <a:off x="725976" y="6497388"/>
            <a:ext cx="1300124" cy="1300124"/>
          </a:xfrm>
          <a:prstGeom prst="rect">
            <a:avLst/>
          </a:prstGeom>
          <a:solidFill>
            <a:srgbClr val="C3C7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6A2882-5AAA-4796-ACBF-11DE20417AB5}"/>
              </a:ext>
            </a:extLst>
          </p:cNvPr>
          <p:cNvSpPr/>
          <p:nvPr userDrawn="1"/>
        </p:nvSpPr>
        <p:spPr>
          <a:xfrm rot="18893364">
            <a:off x="11407699" y="1261300"/>
            <a:ext cx="1568601" cy="156860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5BF0DA-9E98-46CA-BC5A-2F733F99C372}"/>
              </a:ext>
            </a:extLst>
          </p:cNvPr>
          <p:cNvSpPr/>
          <p:nvPr userDrawn="1"/>
        </p:nvSpPr>
        <p:spPr>
          <a:xfrm rot="18893364">
            <a:off x="9270159" y="5188596"/>
            <a:ext cx="861175" cy="861175"/>
          </a:xfrm>
          <a:prstGeom prst="rect">
            <a:avLst/>
          </a:prstGeom>
          <a:solidFill>
            <a:srgbClr val="85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44B3714-021E-44F1-A9C0-8DB23D7B89EA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1017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>
            <a:extLst>
              <a:ext uri="{FF2B5EF4-FFF2-40B4-BE49-F238E27FC236}">
                <a16:creationId xmlns:a16="http://schemas.microsoft.com/office/drawing/2014/main" id="{F4B8A56B-7F99-43EE-87F0-42D96BE6E0C1}"/>
              </a:ext>
            </a:extLst>
          </p:cNvPr>
          <p:cNvSpPr>
            <a:spLocks noChangeAspect="1"/>
          </p:cNvSpPr>
          <p:nvPr userDrawn="1"/>
        </p:nvSpPr>
        <p:spPr>
          <a:xfrm>
            <a:off x="3870642" y="1106412"/>
            <a:ext cx="4450715" cy="4238776"/>
          </a:xfrm>
          <a:prstGeom prst="pen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7A4933-BE2B-4B78-BB0B-EFF272C44588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04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73394E7-E5C6-4B02-8A31-9C03D9C6FA0B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>
            <a:extLst>
              <a:ext uri="{FF2B5EF4-FFF2-40B4-BE49-F238E27FC236}">
                <a16:creationId xmlns:a16="http://schemas.microsoft.com/office/drawing/2014/main" id="{9FDAE5AE-1C3F-4A93-B305-B77CDC3F4BE2}"/>
              </a:ext>
            </a:extLst>
          </p:cNvPr>
          <p:cNvSpPr>
            <a:spLocks noChangeAspect="1"/>
          </p:cNvSpPr>
          <p:nvPr userDrawn="1"/>
        </p:nvSpPr>
        <p:spPr>
          <a:xfrm>
            <a:off x="3575685" y="806045"/>
            <a:ext cx="5040628" cy="4800598"/>
          </a:xfrm>
          <a:prstGeom prst="pentagon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五边形 9">
            <a:extLst>
              <a:ext uri="{FF2B5EF4-FFF2-40B4-BE49-F238E27FC236}">
                <a16:creationId xmlns:a16="http://schemas.microsoft.com/office/drawing/2014/main" id="{8B831D4E-CDC6-4513-9163-9BB77DDB0516}"/>
              </a:ext>
            </a:extLst>
          </p:cNvPr>
          <p:cNvSpPr>
            <a:spLocks noChangeAspect="1"/>
          </p:cNvSpPr>
          <p:nvPr userDrawn="1"/>
        </p:nvSpPr>
        <p:spPr>
          <a:xfrm rot="18978551">
            <a:off x="1199607" y="5189314"/>
            <a:ext cx="1114961" cy="1061868"/>
          </a:xfrm>
          <a:prstGeom prst="pentag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五边形 10">
            <a:extLst>
              <a:ext uri="{FF2B5EF4-FFF2-40B4-BE49-F238E27FC236}">
                <a16:creationId xmlns:a16="http://schemas.microsoft.com/office/drawing/2014/main" id="{25618009-D285-438D-BF60-F87BDBE0685A}"/>
              </a:ext>
            </a:extLst>
          </p:cNvPr>
          <p:cNvSpPr>
            <a:spLocks noChangeAspect="1"/>
          </p:cNvSpPr>
          <p:nvPr userDrawn="1"/>
        </p:nvSpPr>
        <p:spPr>
          <a:xfrm>
            <a:off x="-1122630" y="516786"/>
            <a:ext cx="2245259" cy="2138343"/>
          </a:xfrm>
          <a:prstGeom prst="pentago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五边形 11">
            <a:extLst>
              <a:ext uri="{FF2B5EF4-FFF2-40B4-BE49-F238E27FC236}">
                <a16:creationId xmlns:a16="http://schemas.microsoft.com/office/drawing/2014/main" id="{4A10CB81-B3E3-411C-90C9-3480A10EDB9B}"/>
              </a:ext>
            </a:extLst>
          </p:cNvPr>
          <p:cNvSpPr>
            <a:spLocks noChangeAspect="1"/>
          </p:cNvSpPr>
          <p:nvPr userDrawn="1"/>
        </p:nvSpPr>
        <p:spPr>
          <a:xfrm rot="6589711">
            <a:off x="10153440" y="4944146"/>
            <a:ext cx="2774574" cy="2642453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五边形 12">
            <a:extLst>
              <a:ext uri="{FF2B5EF4-FFF2-40B4-BE49-F238E27FC236}">
                <a16:creationId xmlns:a16="http://schemas.microsoft.com/office/drawing/2014/main" id="{D251409D-FDB9-430B-A00F-D4A65811924B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9654125" y="-530934"/>
            <a:ext cx="1114961" cy="1061868"/>
          </a:xfrm>
          <a:prstGeom prst="pentag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63A1AFEA-57CF-4E71-AF6C-91E549CCF7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424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六边形 5">
            <a:extLst>
              <a:ext uri="{FF2B5EF4-FFF2-40B4-BE49-F238E27FC236}">
                <a16:creationId xmlns:a16="http://schemas.microsoft.com/office/drawing/2014/main" id="{03B97F61-153E-4B6E-8D40-C8B9A7E64D60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3978962" y="1603967"/>
            <a:ext cx="4234076" cy="365006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B2B8D9-D400-4BD8-9CF6-DCEAAC82BDD5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05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85F31B-D145-4BD9-A54B-96E8E681B170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六边形 9">
            <a:extLst>
              <a:ext uri="{FF2B5EF4-FFF2-40B4-BE49-F238E27FC236}">
                <a16:creationId xmlns:a16="http://schemas.microsoft.com/office/drawing/2014/main" id="{883EB526-2712-4265-9BF4-5874AAB98515}"/>
              </a:ext>
            </a:extLst>
          </p:cNvPr>
          <p:cNvSpPr/>
          <p:nvPr userDrawn="1"/>
        </p:nvSpPr>
        <p:spPr>
          <a:xfrm rot="16200000">
            <a:off x="3695701" y="1359776"/>
            <a:ext cx="4800598" cy="4138446"/>
          </a:xfrm>
          <a:prstGeom prst="hex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C7D4DE0F-D1AF-4276-ADBB-A15A5BFE8CB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-687663" y="4872077"/>
            <a:ext cx="2798353" cy="2412373"/>
          </a:xfrm>
          <a:prstGeom prst="hexagon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六边形 11">
            <a:extLst>
              <a:ext uri="{FF2B5EF4-FFF2-40B4-BE49-F238E27FC236}">
                <a16:creationId xmlns:a16="http://schemas.microsoft.com/office/drawing/2014/main" id="{DFA316F4-7F98-4275-AAEF-578596A20622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480973" y="5159003"/>
            <a:ext cx="1015781" cy="875673"/>
          </a:xfrm>
          <a:prstGeom prst="hexag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六边形 12">
            <a:extLst>
              <a:ext uri="{FF2B5EF4-FFF2-40B4-BE49-F238E27FC236}">
                <a16:creationId xmlns:a16="http://schemas.microsoft.com/office/drawing/2014/main" id="{219BA2AF-DF75-4C32-85E3-CB62BA8F756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1493500" y="210644"/>
            <a:ext cx="1397000" cy="1204310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六边形 13">
            <a:extLst>
              <a:ext uri="{FF2B5EF4-FFF2-40B4-BE49-F238E27FC236}">
                <a16:creationId xmlns:a16="http://schemas.microsoft.com/office/drawing/2014/main" id="{A86D27D2-3D87-4A30-89B6-7FAFD15E7EA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41459" y="-437837"/>
            <a:ext cx="1015781" cy="875673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BD5DBA0-D1E0-4B8B-AF12-F77A29B64E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3385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七边形 5">
            <a:extLst>
              <a:ext uri="{FF2B5EF4-FFF2-40B4-BE49-F238E27FC236}">
                <a16:creationId xmlns:a16="http://schemas.microsoft.com/office/drawing/2014/main" id="{60753701-EC64-455B-B060-1320051E3FE3}"/>
              </a:ext>
            </a:extLst>
          </p:cNvPr>
          <p:cNvSpPr>
            <a:spLocks noChangeAspect="1"/>
          </p:cNvSpPr>
          <p:nvPr userDrawn="1"/>
        </p:nvSpPr>
        <p:spPr>
          <a:xfrm>
            <a:off x="3972000" y="1047224"/>
            <a:ext cx="4248000" cy="4248000"/>
          </a:xfrm>
          <a:prstGeom prst="hep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5CBE861-C433-4078-A9A5-2C401EE3B270}"/>
              </a:ext>
            </a:extLst>
          </p:cNvPr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06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3DD6575-0576-4AFA-9BC4-891ADAB845BD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七边形 9">
            <a:extLst>
              <a:ext uri="{FF2B5EF4-FFF2-40B4-BE49-F238E27FC236}">
                <a16:creationId xmlns:a16="http://schemas.microsoft.com/office/drawing/2014/main" id="{C48532B4-0A1B-49CC-99AA-FE75395721EF}"/>
              </a:ext>
            </a:extLst>
          </p:cNvPr>
          <p:cNvSpPr/>
          <p:nvPr userDrawn="1"/>
        </p:nvSpPr>
        <p:spPr>
          <a:xfrm rot="1563509">
            <a:off x="10682028" y="-776191"/>
            <a:ext cx="3268663" cy="3268663"/>
          </a:xfrm>
          <a:prstGeom prst="heptagon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七边形 10">
            <a:extLst>
              <a:ext uri="{FF2B5EF4-FFF2-40B4-BE49-F238E27FC236}">
                <a16:creationId xmlns:a16="http://schemas.microsoft.com/office/drawing/2014/main" id="{32356412-5283-4799-9197-98AEACE613AC}"/>
              </a:ext>
            </a:extLst>
          </p:cNvPr>
          <p:cNvSpPr/>
          <p:nvPr userDrawn="1"/>
        </p:nvSpPr>
        <p:spPr>
          <a:xfrm>
            <a:off x="1384129" y="5078241"/>
            <a:ext cx="1047921" cy="1047921"/>
          </a:xfrm>
          <a:prstGeom prst="heptagon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七边形 11">
            <a:extLst>
              <a:ext uri="{FF2B5EF4-FFF2-40B4-BE49-F238E27FC236}">
                <a16:creationId xmlns:a16="http://schemas.microsoft.com/office/drawing/2014/main" id="{4E421018-60A0-4F10-A9A6-A6EE3BBD8BF9}"/>
              </a:ext>
            </a:extLst>
          </p:cNvPr>
          <p:cNvSpPr/>
          <p:nvPr userDrawn="1"/>
        </p:nvSpPr>
        <p:spPr>
          <a:xfrm rot="20151602">
            <a:off x="-1111336" y="360448"/>
            <a:ext cx="2222671" cy="2222671"/>
          </a:xfrm>
          <a:prstGeom prst="heptagon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七边形 12">
            <a:extLst>
              <a:ext uri="{FF2B5EF4-FFF2-40B4-BE49-F238E27FC236}">
                <a16:creationId xmlns:a16="http://schemas.microsoft.com/office/drawing/2014/main" id="{9B17F2FA-61E0-4197-AD3A-2DE5104FF5C1}"/>
              </a:ext>
            </a:extLst>
          </p:cNvPr>
          <p:cNvSpPr/>
          <p:nvPr userDrawn="1"/>
        </p:nvSpPr>
        <p:spPr>
          <a:xfrm rot="20592885">
            <a:off x="8879510" y="6235700"/>
            <a:ext cx="2222671" cy="2222671"/>
          </a:xfrm>
          <a:prstGeom prst="heptag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七边形 13">
            <a:extLst>
              <a:ext uri="{FF2B5EF4-FFF2-40B4-BE49-F238E27FC236}">
                <a16:creationId xmlns:a16="http://schemas.microsoft.com/office/drawing/2014/main" id="{1C86E54A-170E-4CA4-BE8B-1118DA74B7C4}"/>
              </a:ext>
            </a:extLst>
          </p:cNvPr>
          <p:cNvSpPr>
            <a:spLocks noChangeAspect="1"/>
          </p:cNvSpPr>
          <p:nvPr userDrawn="1"/>
        </p:nvSpPr>
        <p:spPr>
          <a:xfrm>
            <a:off x="3683000" y="774700"/>
            <a:ext cx="4826000" cy="4826000"/>
          </a:xfrm>
          <a:prstGeom prst="hept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A5976A4D-F088-4D08-ABB4-FDF23F9CA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66909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0161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长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82CF8FAE-6DBB-42F8-A821-12D15C788E8C}"/>
              </a:ext>
            </a:extLst>
          </p:cNvPr>
          <p:cNvSpPr/>
          <p:nvPr userDrawn="1"/>
        </p:nvSpPr>
        <p:spPr>
          <a:xfrm>
            <a:off x="2" y="0"/>
            <a:ext cx="2835871" cy="6858000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958D3BC-E7F4-4914-8CAC-14D6BF0FFFB3}"/>
              </a:ext>
            </a:extLst>
          </p:cNvPr>
          <p:cNvSpPr/>
          <p:nvPr/>
        </p:nvSpPr>
        <p:spPr>
          <a:xfrm>
            <a:off x="140677" y="3106616"/>
            <a:ext cx="2520462" cy="1066800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53FC77-9263-4C53-8F22-D64EBC3880B1}"/>
              </a:ext>
            </a:extLst>
          </p:cNvPr>
          <p:cNvSpPr/>
          <p:nvPr userDrawn="1"/>
        </p:nvSpPr>
        <p:spPr>
          <a:xfrm>
            <a:off x="2782511" y="612708"/>
            <a:ext cx="8695230" cy="563258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B3BEEB7-FA72-410F-B92D-7D208F847B83}"/>
              </a:ext>
            </a:extLst>
          </p:cNvPr>
          <p:cNvSpPr txBox="1"/>
          <p:nvPr/>
        </p:nvSpPr>
        <p:spPr>
          <a:xfrm>
            <a:off x="23448" y="2848709"/>
            <a:ext cx="2782509" cy="15749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ea typeface="+mj-ea"/>
                <a:cs typeface="Arial" panose="020B0604020202020204" pitchFamily="34" charset="0"/>
              </a:rPr>
              <a:t>Contents</a:t>
            </a:r>
            <a:endParaRPr lang="zh-CN" altLang="en-US" sz="4000" b="1" i="0" dirty="0">
              <a:solidFill>
                <a:schemeClr val="bg1"/>
              </a:solidFill>
              <a:latin typeface="Helvetica" pitchFamily="2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C02326B7-0E5A-F24B-8BE7-D58545042A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391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长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EF621E98-351F-489A-ADCE-3FC79FDE6DDD}"/>
              </a:ext>
            </a:extLst>
          </p:cNvPr>
          <p:cNvSpPr/>
          <p:nvPr userDrawn="1"/>
        </p:nvSpPr>
        <p:spPr>
          <a:xfrm rot="19659736">
            <a:off x="-59387" y="6355211"/>
            <a:ext cx="1593667" cy="240022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C25A5A92-C8E6-4CA8-AB93-8B885C5EA989}"/>
              </a:ext>
            </a:extLst>
          </p:cNvPr>
          <p:cNvSpPr/>
          <p:nvPr userDrawn="1"/>
        </p:nvSpPr>
        <p:spPr>
          <a:xfrm rot="19659736">
            <a:off x="501875" y="5626509"/>
            <a:ext cx="1198809" cy="202681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6" name="箭头: 五边形 25">
            <a:extLst>
              <a:ext uri="{FF2B5EF4-FFF2-40B4-BE49-F238E27FC236}">
                <a16:creationId xmlns:a16="http://schemas.microsoft.com/office/drawing/2014/main" id="{0B284135-360D-47CC-8BC2-5C03015968F7}"/>
              </a:ext>
            </a:extLst>
          </p:cNvPr>
          <p:cNvSpPr/>
          <p:nvPr userDrawn="1"/>
        </p:nvSpPr>
        <p:spPr>
          <a:xfrm rot="19659736">
            <a:off x="11343042" y="442070"/>
            <a:ext cx="869215" cy="124045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7" name="箭头: 五边形 26">
            <a:extLst>
              <a:ext uri="{FF2B5EF4-FFF2-40B4-BE49-F238E27FC236}">
                <a16:creationId xmlns:a16="http://schemas.microsoft.com/office/drawing/2014/main" id="{D0824BE2-0B1A-47B1-BAAF-7C29E1879AE7}"/>
              </a:ext>
            </a:extLst>
          </p:cNvPr>
          <p:cNvSpPr/>
          <p:nvPr userDrawn="1"/>
        </p:nvSpPr>
        <p:spPr>
          <a:xfrm rot="19659736">
            <a:off x="10829985" y="427917"/>
            <a:ext cx="542830" cy="99029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191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053D6D2E-F110-4473-8442-17B28C05A741}"/>
              </a:ext>
            </a:extLst>
          </p:cNvPr>
          <p:cNvSpPr/>
          <p:nvPr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6BEB427-D252-4942-9F34-301C642191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7358D7B-1DA9-9E4B-AFF1-9A13B20D43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ACA3C166-80E6-1B4A-AD5B-C8D4745687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 i="0">
                <a:solidFill>
                  <a:schemeClr val="accent1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13" name="日期占位符 12">
            <a:extLst>
              <a:ext uri="{FF2B5EF4-FFF2-40B4-BE49-F238E27FC236}">
                <a16:creationId xmlns:a16="http://schemas.microsoft.com/office/drawing/2014/main" id="{4B77A5BA-0111-5844-9F86-5926B121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页脚占位符 13">
            <a:extLst>
              <a:ext uri="{FF2B5EF4-FFF2-40B4-BE49-F238E27FC236}">
                <a16:creationId xmlns:a16="http://schemas.microsoft.com/office/drawing/2014/main" id="{44B829B2-7BD2-9948-8F21-7182730A0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6280651B-EA0A-1E41-B81D-87E3C43E6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8291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横向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图片占位符 90">
            <a:extLst>
              <a:ext uri="{FF2B5EF4-FFF2-40B4-BE49-F238E27FC236}">
                <a16:creationId xmlns:a16="http://schemas.microsoft.com/office/drawing/2014/main" id="{1B0862E3-9A13-49FB-8057-D6463602E7B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62171" y="1825888"/>
            <a:ext cx="4826535" cy="2736000"/>
          </a:xfrm>
          <a:custGeom>
            <a:avLst/>
            <a:gdLst>
              <a:gd name="connsiteX0" fmla="*/ 0 w 4241800"/>
              <a:gd name="connsiteY0" fmla="*/ 0 h 2404533"/>
              <a:gd name="connsiteX1" fmla="*/ 4241800 w 4241800"/>
              <a:gd name="connsiteY1" fmla="*/ 0 h 2404533"/>
              <a:gd name="connsiteX2" fmla="*/ 4241800 w 4241800"/>
              <a:gd name="connsiteY2" fmla="*/ 2404533 h 2404533"/>
              <a:gd name="connsiteX3" fmla="*/ 0 w 4241800"/>
              <a:gd name="connsiteY3" fmla="*/ 2404533 h 240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1800" h="2404533">
                <a:moveTo>
                  <a:pt x="0" y="0"/>
                </a:moveTo>
                <a:lnTo>
                  <a:pt x="4241800" y="0"/>
                </a:lnTo>
                <a:lnTo>
                  <a:pt x="4241800" y="2404533"/>
                </a:lnTo>
                <a:lnTo>
                  <a:pt x="0" y="24045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33B73963-4941-42F0-9B00-7431FEF61A6C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9C71AABC-C91A-43D0-9AF8-0B6162EDCD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A32A9019-0CBC-4C4A-90F0-2676ED9FCD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1D06DB6D-BC70-544C-8EA4-3A3874C968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1323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0" name="图片占位符 6">
            <a:extLst>
              <a:ext uri="{FF2B5EF4-FFF2-40B4-BE49-F238E27FC236}">
                <a16:creationId xmlns:a16="http://schemas.microsoft.com/office/drawing/2014/main" id="{B49F2142-CAF1-4747-9CF9-CF77EE8A915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692274" y="1541374"/>
            <a:ext cx="3238088" cy="4320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727DAFC-E61B-4F89-B5C2-9CC360B9928B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80DB1628-9D3D-4F59-B275-C695A900F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F01A7288-9F85-304B-887D-2D1E13D7A2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DE14FD2D-7810-B34E-8AFB-9A17BDEA70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5930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-圆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F03BE017-E7F3-4A34-ABC3-ECA964258175}"/>
              </a:ext>
            </a:extLst>
          </p:cNvPr>
          <p:cNvSpPr/>
          <p:nvPr userDrawn="1"/>
        </p:nvSpPr>
        <p:spPr>
          <a:xfrm>
            <a:off x="660400" y="1531871"/>
            <a:ext cx="10858500" cy="4491875"/>
          </a:xfrm>
          <a:custGeom>
            <a:avLst/>
            <a:gdLst>
              <a:gd name="connsiteX0" fmla="*/ 2682382 w 10858500"/>
              <a:gd name="connsiteY0" fmla="*/ 0 h 4491875"/>
              <a:gd name="connsiteX1" fmla="*/ 4661514 w 10858500"/>
              <a:gd name="connsiteY1" fmla="*/ 1979131 h 4491875"/>
              <a:gd name="connsiteX2" fmla="*/ 4081840 w 10858500"/>
              <a:gd name="connsiteY2" fmla="*/ 3378588 h 4491875"/>
              <a:gd name="connsiteX3" fmla="*/ 3948253 w 10858500"/>
              <a:gd name="connsiteY3" fmla="*/ 3500000 h 4491875"/>
              <a:gd name="connsiteX4" fmla="*/ 10858500 w 10858500"/>
              <a:gd name="connsiteY4" fmla="*/ 3500000 h 4491875"/>
              <a:gd name="connsiteX5" fmla="*/ 10858500 w 10858500"/>
              <a:gd name="connsiteY5" fmla="*/ 4491875 h 4491875"/>
              <a:gd name="connsiteX6" fmla="*/ 0 w 10858500"/>
              <a:gd name="connsiteY6" fmla="*/ 4491875 h 4491875"/>
              <a:gd name="connsiteX7" fmla="*/ 0 w 10858500"/>
              <a:gd name="connsiteY7" fmla="*/ 3500000 h 4491875"/>
              <a:gd name="connsiteX8" fmla="*/ 1416512 w 10858500"/>
              <a:gd name="connsiteY8" fmla="*/ 3500000 h 4491875"/>
              <a:gd name="connsiteX9" fmla="*/ 1282925 w 10858500"/>
              <a:gd name="connsiteY9" fmla="*/ 3378588 h 4491875"/>
              <a:gd name="connsiteX10" fmla="*/ 703250 w 10858500"/>
              <a:gd name="connsiteY10" fmla="*/ 1979131 h 4491875"/>
              <a:gd name="connsiteX11" fmla="*/ 2682382 w 10858500"/>
              <a:gd name="connsiteY11" fmla="*/ 0 h 449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58500" h="4491875">
                <a:moveTo>
                  <a:pt x="2682382" y="0"/>
                </a:moveTo>
                <a:cubicBezTo>
                  <a:pt x="3775426" y="0"/>
                  <a:pt x="4661514" y="886087"/>
                  <a:pt x="4661514" y="1979131"/>
                </a:cubicBezTo>
                <a:cubicBezTo>
                  <a:pt x="4661514" y="2525653"/>
                  <a:pt x="4439992" y="3020436"/>
                  <a:pt x="4081840" y="3378588"/>
                </a:cubicBezTo>
                <a:lnTo>
                  <a:pt x="3948253" y="3500000"/>
                </a:lnTo>
                <a:lnTo>
                  <a:pt x="10858500" y="3500000"/>
                </a:lnTo>
                <a:lnTo>
                  <a:pt x="10858500" y="4491875"/>
                </a:lnTo>
                <a:lnTo>
                  <a:pt x="0" y="4491875"/>
                </a:lnTo>
                <a:lnTo>
                  <a:pt x="0" y="3500000"/>
                </a:lnTo>
                <a:lnTo>
                  <a:pt x="1416512" y="3500000"/>
                </a:lnTo>
                <a:lnTo>
                  <a:pt x="1282925" y="3378588"/>
                </a:lnTo>
                <a:cubicBezTo>
                  <a:pt x="924772" y="3020436"/>
                  <a:pt x="703250" y="2525653"/>
                  <a:pt x="703250" y="1979131"/>
                </a:cubicBezTo>
                <a:cubicBezTo>
                  <a:pt x="703250" y="886087"/>
                  <a:pt x="1589338" y="0"/>
                  <a:pt x="2682382" y="0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727DAFC-E61B-4F89-B5C2-9CC360B9928B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图片占位符 91">
            <a:extLst>
              <a:ext uri="{FF2B5EF4-FFF2-40B4-BE49-F238E27FC236}">
                <a16:creationId xmlns:a16="http://schemas.microsoft.com/office/drawing/2014/main" id="{D3B0A0DB-185C-4430-9224-1C0A227377F5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451524" y="1608975"/>
            <a:ext cx="3780000" cy="3780000"/>
          </a:xfrm>
          <a:custGeom>
            <a:avLst/>
            <a:gdLst>
              <a:gd name="connsiteX0" fmla="*/ 1657350 w 3314700"/>
              <a:gd name="connsiteY0" fmla="*/ 0 h 3314700"/>
              <a:gd name="connsiteX1" fmla="*/ 3314700 w 3314700"/>
              <a:gd name="connsiteY1" fmla="*/ 1657350 h 3314700"/>
              <a:gd name="connsiteX2" fmla="*/ 1657350 w 3314700"/>
              <a:gd name="connsiteY2" fmla="*/ 3314700 h 3314700"/>
              <a:gd name="connsiteX3" fmla="*/ 0 w 3314700"/>
              <a:gd name="connsiteY3" fmla="*/ 1657350 h 3314700"/>
              <a:gd name="connsiteX4" fmla="*/ 1657350 w 3314700"/>
              <a:gd name="connsiteY4" fmla="*/ 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700" h="3314700">
                <a:moveTo>
                  <a:pt x="1657350" y="0"/>
                </a:moveTo>
                <a:cubicBezTo>
                  <a:pt x="2572679" y="0"/>
                  <a:pt x="3314700" y="742021"/>
                  <a:pt x="3314700" y="1657350"/>
                </a:cubicBezTo>
                <a:cubicBezTo>
                  <a:pt x="3314700" y="2572679"/>
                  <a:pt x="2572679" y="3314700"/>
                  <a:pt x="1657350" y="3314700"/>
                </a:cubicBezTo>
                <a:cubicBezTo>
                  <a:pt x="742021" y="3314700"/>
                  <a:pt x="0" y="2572679"/>
                  <a:pt x="0" y="1657350"/>
                </a:cubicBezTo>
                <a:cubicBezTo>
                  <a:pt x="0" y="742021"/>
                  <a:pt x="742021" y="0"/>
                  <a:pt x="165735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/>
          <a:p>
            <a:endParaRPr lang="zh-CN" altLang="en-US" dirty="0"/>
          </a:p>
        </p:txBody>
      </p:sp>
      <p:sp>
        <p:nvSpPr>
          <p:cNvPr id="90" name="标题 1">
            <a:extLst>
              <a:ext uri="{FF2B5EF4-FFF2-40B4-BE49-F238E27FC236}">
                <a16:creationId xmlns:a16="http://schemas.microsoft.com/office/drawing/2014/main" id="{E3FA308D-84A8-4382-ADA4-2CD6EA622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68876A75-1BD3-9D4E-9D34-C6453E6DC7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48222E54-5ACA-6D4B-9A58-9B51C83B62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14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0" name="图片占位符 6">
            <a:extLst>
              <a:ext uri="{FF2B5EF4-FFF2-40B4-BE49-F238E27FC236}">
                <a16:creationId xmlns:a16="http://schemas.microsoft.com/office/drawing/2014/main" id="{B49F2142-CAF1-4747-9CF9-CF77EE8A915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114722" y="1132945"/>
            <a:ext cx="1735608" cy="231551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图片占位符 6">
            <a:extLst>
              <a:ext uri="{FF2B5EF4-FFF2-40B4-BE49-F238E27FC236}">
                <a16:creationId xmlns:a16="http://schemas.microsoft.com/office/drawing/2014/main" id="{260C43B2-4304-44E2-A6F0-062D59008B9B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9351363" y="3674135"/>
            <a:ext cx="1755000" cy="234138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11D8ADCD-C58A-41B8-80C4-2341BB348593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3" name="标题 1">
            <a:extLst>
              <a:ext uri="{FF2B5EF4-FFF2-40B4-BE49-F238E27FC236}">
                <a16:creationId xmlns:a16="http://schemas.microsoft.com/office/drawing/2014/main" id="{841EB5B4-0657-4AE7-A427-642106D5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EC81340F-C45F-6B4F-9864-73BF32BA90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31D45924-509B-5D4C-A99D-FF1FB6F34B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094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图片占位符 90">
            <a:extLst>
              <a:ext uri="{FF2B5EF4-FFF2-40B4-BE49-F238E27FC236}">
                <a16:creationId xmlns:a16="http://schemas.microsoft.com/office/drawing/2014/main" id="{1D88D36A-B7BF-4F3A-AA10-0BECE80A55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9984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5" name="图片占位符 94">
            <a:extLst>
              <a:ext uri="{FF2B5EF4-FFF2-40B4-BE49-F238E27FC236}">
                <a16:creationId xmlns:a16="http://schemas.microsoft.com/office/drawing/2014/main" id="{DEC9F75E-9249-4FFE-AF96-E92B201A18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69946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8" name="图片占位符 97">
            <a:extLst>
              <a:ext uri="{FF2B5EF4-FFF2-40B4-BE49-F238E27FC236}">
                <a16:creationId xmlns:a16="http://schemas.microsoft.com/office/drawing/2014/main" id="{E7782F2A-850E-4B5F-8330-CF50AC9EFA7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36638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9" name="图片占位符 98">
            <a:extLst>
              <a:ext uri="{FF2B5EF4-FFF2-40B4-BE49-F238E27FC236}">
                <a16:creationId xmlns:a16="http://schemas.microsoft.com/office/drawing/2014/main" id="{25096E3E-9433-4D85-BA39-301B214A35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53292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DF883148-B063-4C5A-9CC7-CE69774A8C94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B8A4FF80-ED1E-4D1D-9434-215EB5FB8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B3A067A2-39E8-0940-8B54-688BC270D1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7D982EDC-1B4A-034E-9CE9-9172DBAF48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2665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6196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 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F00C798-F4CB-49E3-81E0-4CD12D5AEA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5420" y="2971800"/>
            <a:ext cx="7783479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54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endParaRPr lang="en-US" altLang="zh-CN" dirty="0"/>
          </a:p>
          <a:p>
            <a:pPr lvl="0"/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8C1695A4-3593-4E25-8722-4214E3CC76B6}"/>
              </a:ext>
            </a:extLst>
          </p:cNvPr>
          <p:cNvSpPr/>
          <p:nvPr userDrawn="1"/>
        </p:nvSpPr>
        <p:spPr>
          <a:xfrm rot="16200000">
            <a:off x="10605854" y="5156200"/>
            <a:ext cx="2879387" cy="3403600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A29C0276-5751-4797-BFA5-F68D05ACBB63}"/>
              </a:ext>
            </a:extLst>
          </p:cNvPr>
          <p:cNvSpPr/>
          <p:nvPr userDrawn="1"/>
        </p:nvSpPr>
        <p:spPr>
          <a:xfrm>
            <a:off x="-2680781" y="0"/>
            <a:ext cx="5753100" cy="9620654"/>
          </a:xfrm>
          <a:prstGeom prst="homePlate">
            <a:avLst>
              <a:gd name="adj" fmla="val 5086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D85E25CC-A5BC-44E2-9950-5BDC824D9AC1}"/>
              </a:ext>
            </a:extLst>
          </p:cNvPr>
          <p:cNvSpPr/>
          <p:nvPr userDrawn="1"/>
        </p:nvSpPr>
        <p:spPr>
          <a:xfrm rot="5400000">
            <a:off x="7310335" y="-1872573"/>
            <a:ext cx="2616740" cy="4241259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3267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EB2DFB5F-1361-46F4-B3DF-471ECD4DCA18}"/>
              </a:ext>
            </a:extLst>
          </p:cNvPr>
          <p:cNvSpPr/>
          <p:nvPr userDrawn="1"/>
        </p:nvSpPr>
        <p:spPr>
          <a:xfrm>
            <a:off x="-2319371" y="4211980"/>
            <a:ext cx="5113371" cy="51133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85D4CE6-0BBF-450D-B3AB-7C163A40E793}"/>
              </a:ext>
            </a:extLst>
          </p:cNvPr>
          <p:cNvSpPr/>
          <p:nvPr userDrawn="1"/>
        </p:nvSpPr>
        <p:spPr>
          <a:xfrm>
            <a:off x="10560051" y="-2647819"/>
            <a:ext cx="4418254" cy="44182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68182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0AE4EA-EF72-4592-B966-0919EDBC0A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幻灯片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箭头: 五边形 46">
            <a:extLst>
              <a:ext uri="{FF2B5EF4-FFF2-40B4-BE49-F238E27FC236}">
                <a16:creationId xmlns:a16="http://schemas.microsoft.com/office/drawing/2014/main" id="{E27F0E8A-FBE3-41B6-A56B-7A14F7AAA7BA}"/>
              </a:ext>
            </a:extLst>
          </p:cNvPr>
          <p:cNvSpPr/>
          <p:nvPr userDrawn="1"/>
        </p:nvSpPr>
        <p:spPr>
          <a:xfrm rot="5400000">
            <a:off x="-1070579" y="2025798"/>
            <a:ext cx="6858002" cy="2806406"/>
          </a:xfrm>
          <a:prstGeom prst="homePlate">
            <a:avLst>
              <a:gd name="adj" fmla="val 3223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solidFill>
                <a:schemeClr val="accent6"/>
              </a:solidFill>
              <a:latin typeface="Helvetica Regular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EAB9554-0968-7F4C-B17C-055427BAAC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42" y="2263721"/>
            <a:ext cx="2330560" cy="233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0749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1B478B4D-326B-4F22-B792-98AB7E9C8268}"/>
              </a:ext>
            </a:extLst>
          </p:cNvPr>
          <p:cNvSpPr/>
          <p:nvPr userDrawn="1"/>
        </p:nvSpPr>
        <p:spPr bwMode="auto">
          <a:xfrm rot="5400000">
            <a:off x="4539448" y="-380490"/>
            <a:ext cx="3113105" cy="2609911"/>
          </a:xfrm>
          <a:custGeom>
            <a:avLst/>
            <a:gdLst>
              <a:gd name="connsiteX0" fmla="*/ 0 w 3113105"/>
              <a:gd name="connsiteY0" fmla="*/ 2609911 h 2609911"/>
              <a:gd name="connsiteX1" fmla="*/ 0 w 3113105"/>
              <a:gd name="connsiteY1" fmla="*/ 0 h 2609911"/>
              <a:gd name="connsiteX2" fmla="*/ 2301594 w 3113105"/>
              <a:gd name="connsiteY2" fmla="*/ 0 h 2609911"/>
              <a:gd name="connsiteX3" fmla="*/ 3113105 w 3113105"/>
              <a:gd name="connsiteY3" fmla="*/ 1304956 h 2609911"/>
              <a:gd name="connsiteX4" fmla="*/ 2301594 w 3113105"/>
              <a:gd name="connsiteY4" fmla="*/ 2609910 h 2609911"/>
              <a:gd name="connsiteX5" fmla="*/ 2301594 w 3113105"/>
              <a:gd name="connsiteY5" fmla="*/ 2609911 h 2609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3105" h="2609911">
                <a:moveTo>
                  <a:pt x="0" y="2609911"/>
                </a:moveTo>
                <a:lnTo>
                  <a:pt x="0" y="0"/>
                </a:lnTo>
                <a:lnTo>
                  <a:pt x="2301594" y="0"/>
                </a:lnTo>
                <a:lnTo>
                  <a:pt x="3113105" y="1304956"/>
                </a:lnTo>
                <a:lnTo>
                  <a:pt x="2301594" y="2609910"/>
                </a:lnTo>
                <a:lnTo>
                  <a:pt x="2301594" y="26099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2742BE2E-64C4-45DC-B5F2-9CE85916052B}"/>
              </a:ext>
            </a:extLst>
          </p:cNvPr>
          <p:cNvSpPr txBox="1"/>
          <p:nvPr userDrawn="1"/>
        </p:nvSpPr>
        <p:spPr>
          <a:xfrm>
            <a:off x="4781377" y="483991"/>
            <a:ext cx="2629246" cy="908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BEB662E1-75A1-469F-B2C5-6EC6E8255C44}"/>
              </a:ext>
            </a:extLst>
          </p:cNvPr>
          <p:cNvSpPr/>
          <p:nvPr userDrawn="1"/>
        </p:nvSpPr>
        <p:spPr bwMode="auto">
          <a:xfrm rot="5400000">
            <a:off x="4384812" y="-485285"/>
            <a:ext cx="3422377" cy="3128773"/>
          </a:xfrm>
          <a:custGeom>
            <a:avLst/>
            <a:gdLst>
              <a:gd name="connsiteX0" fmla="*/ 0 w 3422377"/>
              <a:gd name="connsiteY0" fmla="*/ 3128773 h 3128773"/>
              <a:gd name="connsiteX1" fmla="*/ 0 w 3422377"/>
              <a:gd name="connsiteY1" fmla="*/ 0 h 3128773"/>
              <a:gd name="connsiteX2" fmla="*/ 2449535 w 3422377"/>
              <a:gd name="connsiteY2" fmla="*/ 0 h 3128773"/>
              <a:gd name="connsiteX3" fmla="*/ 3422377 w 3422377"/>
              <a:gd name="connsiteY3" fmla="*/ 1564387 h 3128773"/>
              <a:gd name="connsiteX4" fmla="*/ 2449535 w 3422377"/>
              <a:gd name="connsiteY4" fmla="*/ 3128772 h 3128773"/>
              <a:gd name="connsiteX5" fmla="*/ 2449535 w 3422377"/>
              <a:gd name="connsiteY5" fmla="*/ 3128773 h 312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2377" h="3128773">
                <a:moveTo>
                  <a:pt x="0" y="3128773"/>
                </a:moveTo>
                <a:lnTo>
                  <a:pt x="0" y="0"/>
                </a:lnTo>
                <a:lnTo>
                  <a:pt x="2449535" y="0"/>
                </a:lnTo>
                <a:lnTo>
                  <a:pt x="3422377" y="1564387"/>
                </a:lnTo>
                <a:lnTo>
                  <a:pt x="2449535" y="3128772"/>
                </a:lnTo>
                <a:lnTo>
                  <a:pt x="2449535" y="3128773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CF32DCCF-D109-144D-93EF-7A463349C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8999" y="0"/>
            <a:ext cx="6858000" cy="6858000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D607238F-89BF-434F-A2F2-C5D1BB90B6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5236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E7CB78A0-538A-4F4C-97AC-5D6B9B36EAE3}"/>
              </a:ext>
            </a:extLst>
          </p:cNvPr>
          <p:cNvSpPr/>
          <p:nvPr userDrawn="1"/>
        </p:nvSpPr>
        <p:spPr>
          <a:xfrm>
            <a:off x="3997387" y="1330387"/>
            <a:ext cx="4197226" cy="4197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D3F2D1-9FCF-4792-8D92-8CA0C104ED79}"/>
              </a:ext>
            </a:extLst>
          </p:cNvPr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01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1FBCD60-E317-434E-9948-6517EE806648}"/>
              </a:ext>
            </a:extLst>
          </p:cNvPr>
          <p:cNvCxnSpPr>
            <a:cxnSpLocks/>
          </p:cNvCxnSpPr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E5FF972F-6C72-4EB1-91BD-22FC6A6BFE55}"/>
              </a:ext>
            </a:extLst>
          </p:cNvPr>
          <p:cNvSpPr/>
          <p:nvPr userDrawn="1"/>
        </p:nvSpPr>
        <p:spPr>
          <a:xfrm>
            <a:off x="3775702" y="1108702"/>
            <a:ext cx="4640596" cy="464059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ED22ADE-3337-4765-824B-2BCE393B3BC8}"/>
              </a:ext>
            </a:extLst>
          </p:cNvPr>
          <p:cNvSpPr/>
          <p:nvPr userDrawn="1"/>
        </p:nvSpPr>
        <p:spPr>
          <a:xfrm>
            <a:off x="9613900" y="5273613"/>
            <a:ext cx="764381" cy="76438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7F0E457-CBAE-48A1-9FDD-0AD48E16BB0E}"/>
              </a:ext>
            </a:extLst>
          </p:cNvPr>
          <p:cNvSpPr/>
          <p:nvPr userDrawn="1"/>
        </p:nvSpPr>
        <p:spPr>
          <a:xfrm>
            <a:off x="2209800" y="6134100"/>
            <a:ext cx="1130300" cy="11303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F5B61E3-C874-41BD-9977-575DE377EF7C}"/>
              </a:ext>
            </a:extLst>
          </p:cNvPr>
          <p:cNvSpPr/>
          <p:nvPr userDrawn="1"/>
        </p:nvSpPr>
        <p:spPr>
          <a:xfrm>
            <a:off x="10818188" y="-911691"/>
            <a:ext cx="2092326" cy="209232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79C958C-4261-4C02-847F-E854178B5EDF}"/>
              </a:ext>
            </a:extLst>
          </p:cNvPr>
          <p:cNvSpPr/>
          <p:nvPr userDrawn="1"/>
        </p:nvSpPr>
        <p:spPr>
          <a:xfrm>
            <a:off x="-1048048" y="-250249"/>
            <a:ext cx="2861767" cy="286176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50FB6E99-D418-4444-914B-2306780544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51320"/>
            <a:ext cx="3996000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31418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>
            <a:extLst>
              <a:ext uri="{FF2B5EF4-FFF2-40B4-BE49-F238E27FC236}">
                <a16:creationId xmlns:a16="http://schemas.microsoft.com/office/drawing/2014/main" id="{5FB16484-E5F7-4B77-B7A5-FDAB1703AF52}"/>
              </a:ext>
            </a:extLst>
          </p:cNvPr>
          <p:cNvSpPr/>
          <p:nvPr userDrawn="1"/>
        </p:nvSpPr>
        <p:spPr>
          <a:xfrm>
            <a:off x="4000500" y="1050677"/>
            <a:ext cx="4191000" cy="409786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FD6F57-F8D0-494A-A461-A05057362E38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02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F3C94DC-BC3D-4914-BCEA-9BADE3C91715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D3B89C71-934D-411D-A2EA-05C70F77FCCA}"/>
              </a:ext>
            </a:extLst>
          </p:cNvPr>
          <p:cNvSpPr/>
          <p:nvPr userDrawn="1"/>
        </p:nvSpPr>
        <p:spPr>
          <a:xfrm>
            <a:off x="3564087" y="505131"/>
            <a:ext cx="5063826" cy="4951296"/>
          </a:xfrm>
          <a:prstGeom prst="triangle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A837D7F3-A47E-4687-B46E-2D3048C16002}"/>
              </a:ext>
            </a:extLst>
          </p:cNvPr>
          <p:cNvSpPr/>
          <p:nvPr userDrawn="1"/>
        </p:nvSpPr>
        <p:spPr>
          <a:xfrm rot="10800000">
            <a:off x="1390650" y="6496115"/>
            <a:ext cx="1493560" cy="146037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FE10A76B-7B22-4776-AAF9-D0EEE0D973D2}"/>
              </a:ext>
            </a:extLst>
          </p:cNvPr>
          <p:cNvSpPr/>
          <p:nvPr userDrawn="1"/>
        </p:nvSpPr>
        <p:spPr>
          <a:xfrm>
            <a:off x="11153775" y="1013971"/>
            <a:ext cx="2076450" cy="2030307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80425897-AA01-4101-B050-A034992317B0}"/>
              </a:ext>
            </a:extLst>
          </p:cNvPr>
          <p:cNvSpPr/>
          <p:nvPr userDrawn="1"/>
        </p:nvSpPr>
        <p:spPr>
          <a:xfrm rot="10800000">
            <a:off x="-414337" y="-187450"/>
            <a:ext cx="2386788" cy="2333749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1DC1ADFB-E837-4D7F-B9F3-657D2F4ACAB6}"/>
              </a:ext>
            </a:extLst>
          </p:cNvPr>
          <p:cNvSpPr/>
          <p:nvPr userDrawn="1"/>
        </p:nvSpPr>
        <p:spPr>
          <a:xfrm rot="5400000">
            <a:off x="9449232" y="5270665"/>
            <a:ext cx="883117" cy="86349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34BB7AD-2674-4436-98EF-FC7061F098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8000" y="3959372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95610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E3D9E87-D3B4-4F53-99F3-7438B7E4D4AB}"/>
              </a:ext>
            </a:extLst>
          </p:cNvPr>
          <p:cNvSpPr/>
          <p:nvPr userDrawn="1"/>
        </p:nvSpPr>
        <p:spPr>
          <a:xfrm rot="18893364">
            <a:off x="4380710" y="1706822"/>
            <a:ext cx="3444573" cy="3444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D21FE1-F1E4-4E14-BF8F-A4D4ED823FBC}"/>
              </a:ext>
            </a:extLst>
          </p:cNvPr>
          <p:cNvSpPr/>
          <p:nvPr userDrawn="1"/>
        </p:nvSpPr>
        <p:spPr>
          <a:xfrm rot="18893364">
            <a:off x="4161891" y="1495013"/>
            <a:ext cx="3868219" cy="386821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76C3FD-32D6-4E41-B7F5-97F8A47A3D05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03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DD83EE6-28E8-42E1-9D1D-CEA16A3EF647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2CCFA9F-ED6D-4706-AB87-12B0B7099A55}"/>
              </a:ext>
            </a:extLst>
          </p:cNvPr>
          <p:cNvSpPr/>
          <p:nvPr userDrawn="1"/>
        </p:nvSpPr>
        <p:spPr>
          <a:xfrm rot="18893364">
            <a:off x="-897505" y="-513190"/>
            <a:ext cx="2663805" cy="2663805"/>
          </a:xfrm>
          <a:prstGeom prst="rect">
            <a:avLst/>
          </a:prstGeom>
          <a:solidFill>
            <a:srgbClr val="A4A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53FD0E-8CED-473A-8132-8C32D5EB7E41}"/>
              </a:ext>
            </a:extLst>
          </p:cNvPr>
          <p:cNvSpPr/>
          <p:nvPr userDrawn="1"/>
        </p:nvSpPr>
        <p:spPr>
          <a:xfrm rot="18893364">
            <a:off x="725976" y="6497388"/>
            <a:ext cx="1300124" cy="1300124"/>
          </a:xfrm>
          <a:prstGeom prst="rect">
            <a:avLst/>
          </a:prstGeom>
          <a:solidFill>
            <a:srgbClr val="C3C7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6A2882-5AAA-4796-ACBF-11DE20417AB5}"/>
              </a:ext>
            </a:extLst>
          </p:cNvPr>
          <p:cNvSpPr/>
          <p:nvPr userDrawn="1"/>
        </p:nvSpPr>
        <p:spPr>
          <a:xfrm rot="18893364">
            <a:off x="11407699" y="1261300"/>
            <a:ext cx="1568601" cy="156860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5BF0DA-9E98-46CA-BC5A-2F733F99C372}"/>
              </a:ext>
            </a:extLst>
          </p:cNvPr>
          <p:cNvSpPr/>
          <p:nvPr userDrawn="1"/>
        </p:nvSpPr>
        <p:spPr>
          <a:xfrm rot="18893364">
            <a:off x="9270159" y="5188596"/>
            <a:ext cx="861175" cy="861175"/>
          </a:xfrm>
          <a:prstGeom prst="rect">
            <a:avLst/>
          </a:prstGeom>
          <a:solidFill>
            <a:srgbClr val="85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44B3714-021E-44F1-A9C0-8DB23D7B89EA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89098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>
            <a:extLst>
              <a:ext uri="{FF2B5EF4-FFF2-40B4-BE49-F238E27FC236}">
                <a16:creationId xmlns:a16="http://schemas.microsoft.com/office/drawing/2014/main" id="{F4B8A56B-7F99-43EE-87F0-42D96BE6E0C1}"/>
              </a:ext>
            </a:extLst>
          </p:cNvPr>
          <p:cNvSpPr>
            <a:spLocks noChangeAspect="1"/>
          </p:cNvSpPr>
          <p:nvPr userDrawn="1"/>
        </p:nvSpPr>
        <p:spPr>
          <a:xfrm>
            <a:off x="3870642" y="1106412"/>
            <a:ext cx="4450715" cy="4238776"/>
          </a:xfrm>
          <a:prstGeom prst="pen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7A4933-BE2B-4B78-BB0B-EFF272C44588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04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73394E7-E5C6-4B02-8A31-9C03D9C6FA0B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>
            <a:extLst>
              <a:ext uri="{FF2B5EF4-FFF2-40B4-BE49-F238E27FC236}">
                <a16:creationId xmlns:a16="http://schemas.microsoft.com/office/drawing/2014/main" id="{9FDAE5AE-1C3F-4A93-B305-B77CDC3F4BE2}"/>
              </a:ext>
            </a:extLst>
          </p:cNvPr>
          <p:cNvSpPr>
            <a:spLocks noChangeAspect="1"/>
          </p:cNvSpPr>
          <p:nvPr userDrawn="1"/>
        </p:nvSpPr>
        <p:spPr>
          <a:xfrm>
            <a:off x="3575685" y="806045"/>
            <a:ext cx="5040628" cy="4800598"/>
          </a:xfrm>
          <a:prstGeom prst="pentagon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五边形 9">
            <a:extLst>
              <a:ext uri="{FF2B5EF4-FFF2-40B4-BE49-F238E27FC236}">
                <a16:creationId xmlns:a16="http://schemas.microsoft.com/office/drawing/2014/main" id="{8B831D4E-CDC6-4513-9163-9BB77DDB0516}"/>
              </a:ext>
            </a:extLst>
          </p:cNvPr>
          <p:cNvSpPr>
            <a:spLocks noChangeAspect="1"/>
          </p:cNvSpPr>
          <p:nvPr userDrawn="1"/>
        </p:nvSpPr>
        <p:spPr>
          <a:xfrm rot="18978551">
            <a:off x="1199607" y="5189314"/>
            <a:ext cx="1114961" cy="1061868"/>
          </a:xfrm>
          <a:prstGeom prst="pentag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五边形 10">
            <a:extLst>
              <a:ext uri="{FF2B5EF4-FFF2-40B4-BE49-F238E27FC236}">
                <a16:creationId xmlns:a16="http://schemas.microsoft.com/office/drawing/2014/main" id="{25618009-D285-438D-BF60-F87BDBE0685A}"/>
              </a:ext>
            </a:extLst>
          </p:cNvPr>
          <p:cNvSpPr>
            <a:spLocks noChangeAspect="1"/>
          </p:cNvSpPr>
          <p:nvPr userDrawn="1"/>
        </p:nvSpPr>
        <p:spPr>
          <a:xfrm>
            <a:off x="-1122630" y="516786"/>
            <a:ext cx="2245259" cy="2138343"/>
          </a:xfrm>
          <a:prstGeom prst="pentago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五边形 11">
            <a:extLst>
              <a:ext uri="{FF2B5EF4-FFF2-40B4-BE49-F238E27FC236}">
                <a16:creationId xmlns:a16="http://schemas.microsoft.com/office/drawing/2014/main" id="{4A10CB81-B3E3-411C-90C9-3480A10EDB9B}"/>
              </a:ext>
            </a:extLst>
          </p:cNvPr>
          <p:cNvSpPr>
            <a:spLocks noChangeAspect="1"/>
          </p:cNvSpPr>
          <p:nvPr userDrawn="1"/>
        </p:nvSpPr>
        <p:spPr>
          <a:xfrm rot="6589711">
            <a:off x="10153440" y="4944146"/>
            <a:ext cx="2774574" cy="2642453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五边形 12">
            <a:extLst>
              <a:ext uri="{FF2B5EF4-FFF2-40B4-BE49-F238E27FC236}">
                <a16:creationId xmlns:a16="http://schemas.microsoft.com/office/drawing/2014/main" id="{D251409D-FDB9-430B-A00F-D4A65811924B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9654125" y="-530934"/>
            <a:ext cx="1114961" cy="1061868"/>
          </a:xfrm>
          <a:prstGeom prst="pentag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63A1AFEA-57CF-4E71-AF6C-91E549CCF7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2856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六边形 5">
            <a:extLst>
              <a:ext uri="{FF2B5EF4-FFF2-40B4-BE49-F238E27FC236}">
                <a16:creationId xmlns:a16="http://schemas.microsoft.com/office/drawing/2014/main" id="{03B97F61-153E-4B6E-8D40-C8B9A7E64D60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3978962" y="1603967"/>
            <a:ext cx="4234076" cy="365006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B2B8D9-D400-4BD8-9CF6-DCEAAC82BDD5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05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85F31B-D145-4BD9-A54B-96E8E681B170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六边形 9">
            <a:extLst>
              <a:ext uri="{FF2B5EF4-FFF2-40B4-BE49-F238E27FC236}">
                <a16:creationId xmlns:a16="http://schemas.microsoft.com/office/drawing/2014/main" id="{883EB526-2712-4265-9BF4-5874AAB98515}"/>
              </a:ext>
            </a:extLst>
          </p:cNvPr>
          <p:cNvSpPr/>
          <p:nvPr userDrawn="1"/>
        </p:nvSpPr>
        <p:spPr>
          <a:xfrm rot="16200000">
            <a:off x="3695701" y="1359776"/>
            <a:ext cx="4800598" cy="4138446"/>
          </a:xfrm>
          <a:prstGeom prst="hex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C7D4DE0F-D1AF-4276-ADBB-A15A5BFE8CB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-687663" y="4872077"/>
            <a:ext cx="2798353" cy="2412373"/>
          </a:xfrm>
          <a:prstGeom prst="hexagon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六边形 11">
            <a:extLst>
              <a:ext uri="{FF2B5EF4-FFF2-40B4-BE49-F238E27FC236}">
                <a16:creationId xmlns:a16="http://schemas.microsoft.com/office/drawing/2014/main" id="{DFA316F4-7F98-4275-AAEF-578596A20622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480973" y="5159003"/>
            <a:ext cx="1015781" cy="875673"/>
          </a:xfrm>
          <a:prstGeom prst="hexag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六边形 12">
            <a:extLst>
              <a:ext uri="{FF2B5EF4-FFF2-40B4-BE49-F238E27FC236}">
                <a16:creationId xmlns:a16="http://schemas.microsoft.com/office/drawing/2014/main" id="{219BA2AF-DF75-4C32-85E3-CB62BA8F756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1493500" y="210644"/>
            <a:ext cx="1397000" cy="1204310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六边形 13">
            <a:extLst>
              <a:ext uri="{FF2B5EF4-FFF2-40B4-BE49-F238E27FC236}">
                <a16:creationId xmlns:a16="http://schemas.microsoft.com/office/drawing/2014/main" id="{A86D27D2-3D87-4A30-89B6-7FAFD15E7EA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41459" y="-437837"/>
            <a:ext cx="1015781" cy="875673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BD5DBA0-D1E0-4B8B-AF12-F77A29B64E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2525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七边形 5">
            <a:extLst>
              <a:ext uri="{FF2B5EF4-FFF2-40B4-BE49-F238E27FC236}">
                <a16:creationId xmlns:a16="http://schemas.microsoft.com/office/drawing/2014/main" id="{60753701-EC64-455B-B060-1320051E3FE3}"/>
              </a:ext>
            </a:extLst>
          </p:cNvPr>
          <p:cNvSpPr>
            <a:spLocks noChangeAspect="1"/>
          </p:cNvSpPr>
          <p:nvPr userDrawn="1"/>
        </p:nvSpPr>
        <p:spPr>
          <a:xfrm>
            <a:off x="3972000" y="1047224"/>
            <a:ext cx="4248000" cy="4248000"/>
          </a:xfrm>
          <a:prstGeom prst="hep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5CBE861-C433-4078-A9A5-2C401EE3B270}"/>
              </a:ext>
            </a:extLst>
          </p:cNvPr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06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3DD6575-0576-4AFA-9BC4-891ADAB845BD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七边形 9">
            <a:extLst>
              <a:ext uri="{FF2B5EF4-FFF2-40B4-BE49-F238E27FC236}">
                <a16:creationId xmlns:a16="http://schemas.microsoft.com/office/drawing/2014/main" id="{C48532B4-0A1B-49CC-99AA-FE75395721EF}"/>
              </a:ext>
            </a:extLst>
          </p:cNvPr>
          <p:cNvSpPr/>
          <p:nvPr userDrawn="1"/>
        </p:nvSpPr>
        <p:spPr>
          <a:xfrm rot="1563509">
            <a:off x="10682028" y="-776191"/>
            <a:ext cx="3268663" cy="3268663"/>
          </a:xfrm>
          <a:prstGeom prst="heptagon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七边形 10">
            <a:extLst>
              <a:ext uri="{FF2B5EF4-FFF2-40B4-BE49-F238E27FC236}">
                <a16:creationId xmlns:a16="http://schemas.microsoft.com/office/drawing/2014/main" id="{32356412-5283-4799-9197-98AEACE613AC}"/>
              </a:ext>
            </a:extLst>
          </p:cNvPr>
          <p:cNvSpPr/>
          <p:nvPr userDrawn="1"/>
        </p:nvSpPr>
        <p:spPr>
          <a:xfrm>
            <a:off x="1384129" y="5078241"/>
            <a:ext cx="1047921" cy="1047921"/>
          </a:xfrm>
          <a:prstGeom prst="heptagon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七边形 11">
            <a:extLst>
              <a:ext uri="{FF2B5EF4-FFF2-40B4-BE49-F238E27FC236}">
                <a16:creationId xmlns:a16="http://schemas.microsoft.com/office/drawing/2014/main" id="{4E421018-60A0-4F10-A9A6-A6EE3BBD8BF9}"/>
              </a:ext>
            </a:extLst>
          </p:cNvPr>
          <p:cNvSpPr/>
          <p:nvPr userDrawn="1"/>
        </p:nvSpPr>
        <p:spPr>
          <a:xfrm rot="20151602">
            <a:off x="-1111336" y="360448"/>
            <a:ext cx="2222671" cy="2222671"/>
          </a:xfrm>
          <a:prstGeom prst="heptagon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七边形 12">
            <a:extLst>
              <a:ext uri="{FF2B5EF4-FFF2-40B4-BE49-F238E27FC236}">
                <a16:creationId xmlns:a16="http://schemas.microsoft.com/office/drawing/2014/main" id="{9B17F2FA-61E0-4197-AD3A-2DE5104FF5C1}"/>
              </a:ext>
            </a:extLst>
          </p:cNvPr>
          <p:cNvSpPr/>
          <p:nvPr userDrawn="1"/>
        </p:nvSpPr>
        <p:spPr>
          <a:xfrm rot="20592885">
            <a:off x="8879510" y="6235700"/>
            <a:ext cx="2222671" cy="2222671"/>
          </a:xfrm>
          <a:prstGeom prst="heptag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七边形 13">
            <a:extLst>
              <a:ext uri="{FF2B5EF4-FFF2-40B4-BE49-F238E27FC236}">
                <a16:creationId xmlns:a16="http://schemas.microsoft.com/office/drawing/2014/main" id="{1C86E54A-170E-4CA4-BE8B-1118DA74B7C4}"/>
              </a:ext>
            </a:extLst>
          </p:cNvPr>
          <p:cNvSpPr>
            <a:spLocks noChangeAspect="1"/>
          </p:cNvSpPr>
          <p:nvPr userDrawn="1"/>
        </p:nvSpPr>
        <p:spPr>
          <a:xfrm>
            <a:off x="3683000" y="774700"/>
            <a:ext cx="4826000" cy="4826000"/>
          </a:xfrm>
          <a:prstGeom prst="hept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A5976A4D-F088-4D08-ABB4-FDF23F9CA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66909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4416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长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82CF8FAE-6DBB-42F8-A821-12D15C788E8C}"/>
              </a:ext>
            </a:extLst>
          </p:cNvPr>
          <p:cNvSpPr/>
          <p:nvPr userDrawn="1"/>
        </p:nvSpPr>
        <p:spPr>
          <a:xfrm>
            <a:off x="2" y="0"/>
            <a:ext cx="2835871" cy="6858000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958D3BC-E7F4-4914-8CAC-14D6BF0FFFB3}"/>
              </a:ext>
            </a:extLst>
          </p:cNvPr>
          <p:cNvSpPr/>
          <p:nvPr/>
        </p:nvSpPr>
        <p:spPr>
          <a:xfrm>
            <a:off x="140677" y="3106616"/>
            <a:ext cx="2520462" cy="1066800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53FC77-9263-4C53-8F22-D64EBC3880B1}"/>
              </a:ext>
            </a:extLst>
          </p:cNvPr>
          <p:cNvSpPr/>
          <p:nvPr userDrawn="1"/>
        </p:nvSpPr>
        <p:spPr>
          <a:xfrm>
            <a:off x="2782511" y="612708"/>
            <a:ext cx="8695230" cy="563258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B3BEEB7-FA72-410F-B92D-7D208F847B83}"/>
              </a:ext>
            </a:extLst>
          </p:cNvPr>
          <p:cNvSpPr txBox="1"/>
          <p:nvPr/>
        </p:nvSpPr>
        <p:spPr>
          <a:xfrm>
            <a:off x="23448" y="2848709"/>
            <a:ext cx="2782509" cy="15749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ea typeface="+mj-ea"/>
                <a:cs typeface="Arial" panose="020B0604020202020204" pitchFamily="34" charset="0"/>
              </a:rPr>
              <a:t>Contents</a:t>
            </a:r>
            <a:endParaRPr lang="zh-CN" altLang="en-US" sz="4000" b="1" i="0" dirty="0">
              <a:solidFill>
                <a:schemeClr val="bg1"/>
              </a:solidFill>
              <a:latin typeface="Helvetica" pitchFamily="2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C02326B7-0E5A-F24B-8BE7-D58545042A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2690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长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EF621E98-351F-489A-ADCE-3FC79FDE6DDD}"/>
              </a:ext>
            </a:extLst>
          </p:cNvPr>
          <p:cNvSpPr/>
          <p:nvPr userDrawn="1"/>
        </p:nvSpPr>
        <p:spPr>
          <a:xfrm rot="19659736">
            <a:off x="-59387" y="6355211"/>
            <a:ext cx="1593667" cy="240022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C25A5A92-C8E6-4CA8-AB93-8B885C5EA989}"/>
              </a:ext>
            </a:extLst>
          </p:cNvPr>
          <p:cNvSpPr/>
          <p:nvPr userDrawn="1"/>
        </p:nvSpPr>
        <p:spPr>
          <a:xfrm rot="19659736">
            <a:off x="501875" y="5626509"/>
            <a:ext cx="1198809" cy="202681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6" name="箭头: 五边形 25">
            <a:extLst>
              <a:ext uri="{FF2B5EF4-FFF2-40B4-BE49-F238E27FC236}">
                <a16:creationId xmlns:a16="http://schemas.microsoft.com/office/drawing/2014/main" id="{0B284135-360D-47CC-8BC2-5C03015968F7}"/>
              </a:ext>
            </a:extLst>
          </p:cNvPr>
          <p:cNvSpPr/>
          <p:nvPr userDrawn="1"/>
        </p:nvSpPr>
        <p:spPr>
          <a:xfrm rot="19659736">
            <a:off x="11343042" y="442070"/>
            <a:ext cx="869215" cy="124045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7" name="箭头: 五边形 26">
            <a:extLst>
              <a:ext uri="{FF2B5EF4-FFF2-40B4-BE49-F238E27FC236}">
                <a16:creationId xmlns:a16="http://schemas.microsoft.com/office/drawing/2014/main" id="{D0824BE2-0B1A-47B1-BAAF-7C29E1879AE7}"/>
              </a:ext>
            </a:extLst>
          </p:cNvPr>
          <p:cNvSpPr/>
          <p:nvPr userDrawn="1"/>
        </p:nvSpPr>
        <p:spPr>
          <a:xfrm rot="19659736">
            <a:off x="10829985" y="427917"/>
            <a:ext cx="542830" cy="99029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0561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053D6D2E-F110-4473-8442-17B28C05A741}"/>
              </a:ext>
            </a:extLst>
          </p:cNvPr>
          <p:cNvSpPr/>
          <p:nvPr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6BEB427-D252-4942-9F34-301C642191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7358D7B-1DA9-9E4B-AFF1-9A13B20D43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ACA3C166-80E6-1B4A-AD5B-C8D4745687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 i="0">
                <a:solidFill>
                  <a:schemeClr val="accent1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13" name="日期占位符 12">
            <a:extLst>
              <a:ext uri="{FF2B5EF4-FFF2-40B4-BE49-F238E27FC236}">
                <a16:creationId xmlns:a16="http://schemas.microsoft.com/office/drawing/2014/main" id="{4B77A5BA-0111-5844-9F86-5926B121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页脚占位符 13">
            <a:extLst>
              <a:ext uri="{FF2B5EF4-FFF2-40B4-BE49-F238E27FC236}">
                <a16:creationId xmlns:a16="http://schemas.microsoft.com/office/drawing/2014/main" id="{44B829B2-7BD2-9948-8F21-7182730A0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6280651B-EA0A-1E41-B81D-87E3C43E6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37739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横向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图片占位符 90">
            <a:extLst>
              <a:ext uri="{FF2B5EF4-FFF2-40B4-BE49-F238E27FC236}">
                <a16:creationId xmlns:a16="http://schemas.microsoft.com/office/drawing/2014/main" id="{1B0862E3-9A13-49FB-8057-D6463602E7B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62171" y="1825888"/>
            <a:ext cx="4826535" cy="2736000"/>
          </a:xfrm>
          <a:custGeom>
            <a:avLst/>
            <a:gdLst>
              <a:gd name="connsiteX0" fmla="*/ 0 w 4241800"/>
              <a:gd name="connsiteY0" fmla="*/ 0 h 2404533"/>
              <a:gd name="connsiteX1" fmla="*/ 4241800 w 4241800"/>
              <a:gd name="connsiteY1" fmla="*/ 0 h 2404533"/>
              <a:gd name="connsiteX2" fmla="*/ 4241800 w 4241800"/>
              <a:gd name="connsiteY2" fmla="*/ 2404533 h 2404533"/>
              <a:gd name="connsiteX3" fmla="*/ 0 w 4241800"/>
              <a:gd name="connsiteY3" fmla="*/ 2404533 h 240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1800" h="2404533">
                <a:moveTo>
                  <a:pt x="0" y="0"/>
                </a:moveTo>
                <a:lnTo>
                  <a:pt x="4241800" y="0"/>
                </a:lnTo>
                <a:lnTo>
                  <a:pt x="4241800" y="2404533"/>
                </a:lnTo>
                <a:lnTo>
                  <a:pt x="0" y="24045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33B73963-4941-42F0-9B00-7431FEF61A6C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9C71AABC-C91A-43D0-9AF8-0B6162EDCD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A32A9019-0CBC-4C4A-90F0-2676ED9FCD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1D06DB6D-BC70-544C-8EA4-3A3874C968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1500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0" name="图片占位符 6">
            <a:extLst>
              <a:ext uri="{FF2B5EF4-FFF2-40B4-BE49-F238E27FC236}">
                <a16:creationId xmlns:a16="http://schemas.microsoft.com/office/drawing/2014/main" id="{B49F2142-CAF1-4747-9CF9-CF77EE8A915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692274" y="1541374"/>
            <a:ext cx="3238088" cy="4320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727DAFC-E61B-4F89-B5C2-9CC360B9928B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80DB1628-9D3D-4F59-B275-C695A900F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F01A7288-9F85-304B-887D-2D1E13D7A2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DE14FD2D-7810-B34E-8AFB-9A17BDEA70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2918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-圆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F03BE017-E7F3-4A34-ABC3-ECA964258175}"/>
              </a:ext>
            </a:extLst>
          </p:cNvPr>
          <p:cNvSpPr/>
          <p:nvPr userDrawn="1"/>
        </p:nvSpPr>
        <p:spPr>
          <a:xfrm>
            <a:off x="660400" y="1531871"/>
            <a:ext cx="10858500" cy="4491875"/>
          </a:xfrm>
          <a:custGeom>
            <a:avLst/>
            <a:gdLst>
              <a:gd name="connsiteX0" fmla="*/ 2682382 w 10858500"/>
              <a:gd name="connsiteY0" fmla="*/ 0 h 4491875"/>
              <a:gd name="connsiteX1" fmla="*/ 4661514 w 10858500"/>
              <a:gd name="connsiteY1" fmla="*/ 1979131 h 4491875"/>
              <a:gd name="connsiteX2" fmla="*/ 4081840 w 10858500"/>
              <a:gd name="connsiteY2" fmla="*/ 3378588 h 4491875"/>
              <a:gd name="connsiteX3" fmla="*/ 3948253 w 10858500"/>
              <a:gd name="connsiteY3" fmla="*/ 3500000 h 4491875"/>
              <a:gd name="connsiteX4" fmla="*/ 10858500 w 10858500"/>
              <a:gd name="connsiteY4" fmla="*/ 3500000 h 4491875"/>
              <a:gd name="connsiteX5" fmla="*/ 10858500 w 10858500"/>
              <a:gd name="connsiteY5" fmla="*/ 4491875 h 4491875"/>
              <a:gd name="connsiteX6" fmla="*/ 0 w 10858500"/>
              <a:gd name="connsiteY6" fmla="*/ 4491875 h 4491875"/>
              <a:gd name="connsiteX7" fmla="*/ 0 w 10858500"/>
              <a:gd name="connsiteY7" fmla="*/ 3500000 h 4491875"/>
              <a:gd name="connsiteX8" fmla="*/ 1416512 w 10858500"/>
              <a:gd name="connsiteY8" fmla="*/ 3500000 h 4491875"/>
              <a:gd name="connsiteX9" fmla="*/ 1282925 w 10858500"/>
              <a:gd name="connsiteY9" fmla="*/ 3378588 h 4491875"/>
              <a:gd name="connsiteX10" fmla="*/ 703250 w 10858500"/>
              <a:gd name="connsiteY10" fmla="*/ 1979131 h 4491875"/>
              <a:gd name="connsiteX11" fmla="*/ 2682382 w 10858500"/>
              <a:gd name="connsiteY11" fmla="*/ 0 h 449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58500" h="4491875">
                <a:moveTo>
                  <a:pt x="2682382" y="0"/>
                </a:moveTo>
                <a:cubicBezTo>
                  <a:pt x="3775426" y="0"/>
                  <a:pt x="4661514" y="886087"/>
                  <a:pt x="4661514" y="1979131"/>
                </a:cubicBezTo>
                <a:cubicBezTo>
                  <a:pt x="4661514" y="2525653"/>
                  <a:pt x="4439992" y="3020436"/>
                  <a:pt x="4081840" y="3378588"/>
                </a:cubicBezTo>
                <a:lnTo>
                  <a:pt x="3948253" y="3500000"/>
                </a:lnTo>
                <a:lnTo>
                  <a:pt x="10858500" y="3500000"/>
                </a:lnTo>
                <a:lnTo>
                  <a:pt x="10858500" y="4491875"/>
                </a:lnTo>
                <a:lnTo>
                  <a:pt x="0" y="4491875"/>
                </a:lnTo>
                <a:lnTo>
                  <a:pt x="0" y="3500000"/>
                </a:lnTo>
                <a:lnTo>
                  <a:pt x="1416512" y="3500000"/>
                </a:lnTo>
                <a:lnTo>
                  <a:pt x="1282925" y="3378588"/>
                </a:lnTo>
                <a:cubicBezTo>
                  <a:pt x="924772" y="3020436"/>
                  <a:pt x="703250" y="2525653"/>
                  <a:pt x="703250" y="1979131"/>
                </a:cubicBezTo>
                <a:cubicBezTo>
                  <a:pt x="703250" y="886087"/>
                  <a:pt x="1589338" y="0"/>
                  <a:pt x="2682382" y="0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727DAFC-E61B-4F89-B5C2-9CC360B9928B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图片占位符 91">
            <a:extLst>
              <a:ext uri="{FF2B5EF4-FFF2-40B4-BE49-F238E27FC236}">
                <a16:creationId xmlns:a16="http://schemas.microsoft.com/office/drawing/2014/main" id="{D3B0A0DB-185C-4430-9224-1C0A227377F5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451524" y="1608975"/>
            <a:ext cx="3780000" cy="3780000"/>
          </a:xfrm>
          <a:custGeom>
            <a:avLst/>
            <a:gdLst>
              <a:gd name="connsiteX0" fmla="*/ 1657350 w 3314700"/>
              <a:gd name="connsiteY0" fmla="*/ 0 h 3314700"/>
              <a:gd name="connsiteX1" fmla="*/ 3314700 w 3314700"/>
              <a:gd name="connsiteY1" fmla="*/ 1657350 h 3314700"/>
              <a:gd name="connsiteX2" fmla="*/ 1657350 w 3314700"/>
              <a:gd name="connsiteY2" fmla="*/ 3314700 h 3314700"/>
              <a:gd name="connsiteX3" fmla="*/ 0 w 3314700"/>
              <a:gd name="connsiteY3" fmla="*/ 1657350 h 3314700"/>
              <a:gd name="connsiteX4" fmla="*/ 1657350 w 3314700"/>
              <a:gd name="connsiteY4" fmla="*/ 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700" h="3314700">
                <a:moveTo>
                  <a:pt x="1657350" y="0"/>
                </a:moveTo>
                <a:cubicBezTo>
                  <a:pt x="2572679" y="0"/>
                  <a:pt x="3314700" y="742021"/>
                  <a:pt x="3314700" y="1657350"/>
                </a:cubicBezTo>
                <a:cubicBezTo>
                  <a:pt x="3314700" y="2572679"/>
                  <a:pt x="2572679" y="3314700"/>
                  <a:pt x="1657350" y="3314700"/>
                </a:cubicBezTo>
                <a:cubicBezTo>
                  <a:pt x="742021" y="3314700"/>
                  <a:pt x="0" y="2572679"/>
                  <a:pt x="0" y="1657350"/>
                </a:cubicBezTo>
                <a:cubicBezTo>
                  <a:pt x="0" y="742021"/>
                  <a:pt x="742021" y="0"/>
                  <a:pt x="165735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/>
          <a:p>
            <a:endParaRPr lang="zh-CN" altLang="en-US" dirty="0"/>
          </a:p>
        </p:txBody>
      </p:sp>
      <p:sp>
        <p:nvSpPr>
          <p:cNvPr id="90" name="标题 1">
            <a:extLst>
              <a:ext uri="{FF2B5EF4-FFF2-40B4-BE49-F238E27FC236}">
                <a16:creationId xmlns:a16="http://schemas.microsoft.com/office/drawing/2014/main" id="{E3FA308D-84A8-4382-ADA4-2CD6EA622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68876A75-1BD3-9D4E-9D34-C6453E6DC7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48222E54-5ACA-6D4B-9A58-9B51C83B62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322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0" name="图片占位符 6">
            <a:extLst>
              <a:ext uri="{FF2B5EF4-FFF2-40B4-BE49-F238E27FC236}">
                <a16:creationId xmlns:a16="http://schemas.microsoft.com/office/drawing/2014/main" id="{B49F2142-CAF1-4747-9CF9-CF77EE8A915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114722" y="1132945"/>
            <a:ext cx="1735608" cy="231551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图片占位符 6">
            <a:extLst>
              <a:ext uri="{FF2B5EF4-FFF2-40B4-BE49-F238E27FC236}">
                <a16:creationId xmlns:a16="http://schemas.microsoft.com/office/drawing/2014/main" id="{260C43B2-4304-44E2-A6F0-062D59008B9B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9351363" y="3674135"/>
            <a:ext cx="1755000" cy="234138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11D8ADCD-C58A-41B8-80C4-2341BB348593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3" name="标题 1">
            <a:extLst>
              <a:ext uri="{FF2B5EF4-FFF2-40B4-BE49-F238E27FC236}">
                <a16:creationId xmlns:a16="http://schemas.microsoft.com/office/drawing/2014/main" id="{841EB5B4-0657-4AE7-A427-642106D5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EC81340F-C45F-6B4F-9864-73BF32BA90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31D45924-509B-5D4C-A99D-FF1FB6F34B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1906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图片占位符 90">
            <a:extLst>
              <a:ext uri="{FF2B5EF4-FFF2-40B4-BE49-F238E27FC236}">
                <a16:creationId xmlns:a16="http://schemas.microsoft.com/office/drawing/2014/main" id="{1D88D36A-B7BF-4F3A-AA10-0BECE80A55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9984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5" name="图片占位符 94">
            <a:extLst>
              <a:ext uri="{FF2B5EF4-FFF2-40B4-BE49-F238E27FC236}">
                <a16:creationId xmlns:a16="http://schemas.microsoft.com/office/drawing/2014/main" id="{DEC9F75E-9249-4FFE-AF96-E92B201A18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69946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8" name="图片占位符 97">
            <a:extLst>
              <a:ext uri="{FF2B5EF4-FFF2-40B4-BE49-F238E27FC236}">
                <a16:creationId xmlns:a16="http://schemas.microsoft.com/office/drawing/2014/main" id="{E7782F2A-850E-4B5F-8330-CF50AC9EFA7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36638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9" name="图片占位符 98">
            <a:extLst>
              <a:ext uri="{FF2B5EF4-FFF2-40B4-BE49-F238E27FC236}">
                <a16:creationId xmlns:a16="http://schemas.microsoft.com/office/drawing/2014/main" id="{25096E3E-9433-4D85-BA39-301B214A35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53292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DF883148-B063-4C5A-9CC7-CE69774A8C94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B8A4FF80-ED1E-4D1D-9434-215EB5FB8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B3A067A2-39E8-0940-8B54-688BC270D1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7D982EDC-1B4A-034E-9CE9-9172DBAF48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1139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0052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 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F00C798-F4CB-49E3-81E0-4CD12D5AEA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5420" y="2971800"/>
            <a:ext cx="7783479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54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endParaRPr lang="en-US" altLang="zh-CN" dirty="0"/>
          </a:p>
          <a:p>
            <a:pPr lvl="0"/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8C1695A4-3593-4E25-8722-4214E3CC76B6}"/>
              </a:ext>
            </a:extLst>
          </p:cNvPr>
          <p:cNvSpPr/>
          <p:nvPr userDrawn="1"/>
        </p:nvSpPr>
        <p:spPr>
          <a:xfrm rot="16200000">
            <a:off x="10605854" y="5156200"/>
            <a:ext cx="2879387" cy="3403600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A29C0276-5751-4797-BFA5-F68D05ACBB63}"/>
              </a:ext>
            </a:extLst>
          </p:cNvPr>
          <p:cNvSpPr/>
          <p:nvPr userDrawn="1"/>
        </p:nvSpPr>
        <p:spPr>
          <a:xfrm>
            <a:off x="-2680781" y="0"/>
            <a:ext cx="5753100" cy="9620654"/>
          </a:xfrm>
          <a:prstGeom prst="homePlate">
            <a:avLst>
              <a:gd name="adj" fmla="val 5086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D85E25CC-A5BC-44E2-9950-5BDC824D9AC1}"/>
              </a:ext>
            </a:extLst>
          </p:cNvPr>
          <p:cNvSpPr/>
          <p:nvPr userDrawn="1"/>
        </p:nvSpPr>
        <p:spPr>
          <a:xfrm rot="5400000">
            <a:off x="7310335" y="-1872573"/>
            <a:ext cx="2616740" cy="4241259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0220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EB2DFB5F-1361-46F4-B3DF-471ECD4DCA18}"/>
              </a:ext>
            </a:extLst>
          </p:cNvPr>
          <p:cNvSpPr/>
          <p:nvPr userDrawn="1"/>
        </p:nvSpPr>
        <p:spPr>
          <a:xfrm>
            <a:off x="-2319371" y="4211980"/>
            <a:ext cx="5113371" cy="51133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85D4CE6-0BBF-450D-B3AB-7C163A40E793}"/>
              </a:ext>
            </a:extLst>
          </p:cNvPr>
          <p:cNvSpPr/>
          <p:nvPr userDrawn="1"/>
        </p:nvSpPr>
        <p:spPr>
          <a:xfrm>
            <a:off x="10560051" y="-2647819"/>
            <a:ext cx="4418254" cy="44182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142658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0AE4EA-EF72-4592-B966-0919EDBC0A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3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23B942-3F1B-403C-8E85-6382B2069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217487"/>
            <a:ext cx="10858500" cy="81121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D93AE5-CDDD-4CA4-8BCF-44DD4A714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1383BD-F3E7-403E-84A3-6F01BCC23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0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9A1635-4D35-4F49-9AAC-DA6F5F037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6FD9E9-D991-439F-8738-F1CD489BA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57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994C284-E105-48E5-B7ED-E6DDC39F64AA}"/>
              </a:ext>
            </a:extLst>
          </p:cNvPr>
          <p:cNvSpPr/>
          <p:nvPr userDrawn="1"/>
        </p:nvSpPr>
        <p:spPr>
          <a:xfrm>
            <a:off x="4749800" y="-45720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E9773E7-896B-4ABE-A918-DD345AEA7B33}"/>
              </a:ext>
            </a:extLst>
          </p:cNvPr>
          <p:cNvSpPr/>
          <p:nvPr userDrawn="1"/>
        </p:nvSpPr>
        <p:spPr>
          <a:xfrm>
            <a:off x="4572000" y="90932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824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1" r:id="rId9"/>
    <p:sldLayoutId id="2147483669" r:id="rId10"/>
    <p:sldLayoutId id="2147483671" r:id="rId11"/>
    <p:sldLayoutId id="2147483674" r:id="rId12"/>
    <p:sldLayoutId id="2147483654" r:id="rId13"/>
    <p:sldLayoutId id="2147483675" r:id="rId14"/>
    <p:sldLayoutId id="2147483672" r:id="rId15"/>
    <p:sldLayoutId id="2147483673" r:id="rId16"/>
    <p:sldLayoutId id="2147483659" r:id="rId17"/>
    <p:sldLayoutId id="2147483657" r:id="rId18"/>
    <p:sldLayoutId id="2147483676" r:id="rId19"/>
    <p:sldLayoutId id="2147483678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>
          <p15:clr>
            <a:srgbClr val="F26B43"/>
          </p15:clr>
        </p15:guide>
        <p15:guide id="2" pos="3840">
          <p15:clr>
            <a:srgbClr val="F26B43"/>
          </p15:clr>
        </p15:guide>
        <p15:guide id="3" pos="416">
          <p15:clr>
            <a:srgbClr val="F26B43"/>
          </p15:clr>
        </p15:guide>
        <p15:guide id="4" pos="725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712">
          <p15:clr>
            <a:srgbClr val="F26B43"/>
          </p15:clr>
        </p15:guide>
        <p15:guide id="7" orient="horz" pos="3928">
          <p15:clr>
            <a:srgbClr val="F26B43"/>
          </p15:clr>
        </p15:guide>
        <p15:guide id="8" orient="horz" pos="38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0209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4">
          <p15:clr>
            <a:srgbClr val="F26B43"/>
          </p15:clr>
        </p15:guide>
        <p15:guide id="2" pos="3840">
          <p15:clr>
            <a:srgbClr val="F26B43"/>
          </p15:clr>
        </p15:guide>
        <p15:guide id="3" pos="192">
          <p15:clr>
            <a:srgbClr val="F26B43"/>
          </p15:clr>
        </p15:guide>
        <p15:guide id="4" pos="748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472">
          <p15:clr>
            <a:srgbClr val="F26B43"/>
          </p15:clr>
        </p15:guide>
        <p15:guide id="7" orient="horz" pos="4104">
          <p15:clr>
            <a:srgbClr val="F26B43"/>
          </p15:clr>
        </p15:guide>
        <p15:guide id="8" orient="horz" pos="405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23B942-3F1B-403C-8E85-6382B2069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217487"/>
            <a:ext cx="10858500" cy="81121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D93AE5-CDDD-4CA4-8BCF-44DD4A714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1383BD-F3E7-403E-84A3-6F01BCC23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0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9A1635-4D35-4F49-9AAC-DA6F5F037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6FD9E9-D991-439F-8738-F1CD489BA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57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994C284-E105-48E5-B7ED-E6DDC39F64AA}"/>
              </a:ext>
            </a:extLst>
          </p:cNvPr>
          <p:cNvSpPr/>
          <p:nvPr userDrawn="1"/>
        </p:nvSpPr>
        <p:spPr>
          <a:xfrm>
            <a:off x="4749800" y="-45720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E9773E7-896B-4ABE-A918-DD345AEA7B33}"/>
              </a:ext>
            </a:extLst>
          </p:cNvPr>
          <p:cNvSpPr/>
          <p:nvPr userDrawn="1"/>
        </p:nvSpPr>
        <p:spPr>
          <a:xfrm>
            <a:off x="4572000" y="90932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80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  <p:sldLayoutId id="2147483699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>
          <p15:clr>
            <a:srgbClr val="F26B43"/>
          </p15:clr>
        </p15:guide>
        <p15:guide id="2" pos="3840">
          <p15:clr>
            <a:srgbClr val="F26B43"/>
          </p15:clr>
        </p15:guide>
        <p15:guide id="3" pos="416">
          <p15:clr>
            <a:srgbClr val="F26B43"/>
          </p15:clr>
        </p15:guide>
        <p15:guide id="4" pos="725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712">
          <p15:clr>
            <a:srgbClr val="F26B43"/>
          </p15:clr>
        </p15:guide>
        <p15:guide id="7" orient="horz" pos="3928">
          <p15:clr>
            <a:srgbClr val="F26B43"/>
          </p15:clr>
        </p15:guide>
        <p15:guide id="8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slideLayout" Target="../slideLayouts/slideLayout1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tags" Target="../tags/tag25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2" Type="http://schemas.openxmlformats.org/officeDocument/2006/relationships/tags" Target="../tags/tag14.xml"/><Relationship Id="rId16" Type="http://schemas.openxmlformats.org/officeDocument/2006/relationships/slideLayout" Target="../slideLayouts/slideLayout11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5" Type="http://schemas.openxmlformats.org/officeDocument/2006/relationships/tags" Target="../tags/tag27.xml"/><Relationship Id="rId10" Type="http://schemas.openxmlformats.org/officeDocument/2006/relationships/tags" Target="../tags/tag22.xml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tags" Target="../tags/tag2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tags" Target="../tags/tag40.xml"/><Relationship Id="rId18" Type="http://schemas.openxmlformats.org/officeDocument/2006/relationships/tags" Target="../tags/tag4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17" Type="http://schemas.openxmlformats.org/officeDocument/2006/relationships/tags" Target="../tags/tag44.xml"/><Relationship Id="rId2" Type="http://schemas.openxmlformats.org/officeDocument/2006/relationships/tags" Target="../tags/tag29.xml"/><Relationship Id="rId16" Type="http://schemas.openxmlformats.org/officeDocument/2006/relationships/tags" Target="../tags/tag43.xml"/><Relationship Id="rId20" Type="http://schemas.openxmlformats.org/officeDocument/2006/relationships/slideLayout" Target="../slideLayouts/slideLayout11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5" Type="http://schemas.openxmlformats.org/officeDocument/2006/relationships/tags" Target="../tags/tag42.xml"/><Relationship Id="rId10" Type="http://schemas.openxmlformats.org/officeDocument/2006/relationships/tags" Target="../tags/tag37.xml"/><Relationship Id="rId19" Type="http://schemas.openxmlformats.org/officeDocument/2006/relationships/tags" Target="../tags/tag46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tags" Target="../tags/tag4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>
            <a:extLst>
              <a:ext uri="{FF2B5EF4-FFF2-40B4-BE49-F238E27FC236}">
                <a16:creationId xmlns:a16="http://schemas.microsoft.com/office/drawing/2014/main" id="{D5F3D8B8-541B-475D-AED2-11349A7D54F0}"/>
              </a:ext>
            </a:extLst>
          </p:cNvPr>
          <p:cNvSpPr txBox="1">
            <a:spLocks/>
          </p:cNvSpPr>
          <p:nvPr/>
        </p:nvSpPr>
        <p:spPr>
          <a:xfrm>
            <a:off x="4253894" y="1391526"/>
            <a:ext cx="7021811" cy="2189795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启发式搜索算法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FDA94B7-63AB-4449-B259-ABBFB1BD1237}"/>
              </a:ext>
            </a:extLst>
          </p:cNvPr>
          <p:cNvSpPr/>
          <p:nvPr/>
        </p:nvSpPr>
        <p:spPr>
          <a:xfrm>
            <a:off x="8043723" y="4972130"/>
            <a:ext cx="3003067" cy="611578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>
              <a:lnSpc>
                <a:spcPct val="130000"/>
              </a:lnSpc>
            </a:pPr>
            <a:fld id="{93A4DF5B-E1E8-A246-A02A-DA4C90B4A888}" type="datetime1">
              <a:rPr lang="zh-CN" altLang="en-US" sz="2800" smtClean="0">
                <a:solidFill>
                  <a:schemeClr val="accent1"/>
                </a:solidFill>
                <a:cs typeface="+mn-ea"/>
                <a:sym typeface="+mn-lt"/>
              </a:rPr>
              <a:t>2026/3/23</a:t>
            </a:fld>
            <a:endParaRPr lang="zh-CN" altLang="en-US" sz="28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12F855B-6482-4247-8DD0-5666489F33A1}"/>
              </a:ext>
            </a:extLst>
          </p:cNvPr>
          <p:cNvCxnSpPr/>
          <p:nvPr/>
        </p:nvCxnSpPr>
        <p:spPr>
          <a:xfrm>
            <a:off x="11226555" y="4069080"/>
            <a:ext cx="0" cy="1404000"/>
          </a:xfrm>
          <a:prstGeom prst="line">
            <a:avLst/>
          </a:prstGeom>
          <a:ln w="508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583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54DB061E-7303-0C32-E11F-A8FD8DFB7008}"/>
              </a:ext>
            </a:extLst>
          </p:cNvPr>
          <p:cNvSpPr txBox="1"/>
          <p:nvPr/>
        </p:nvSpPr>
        <p:spPr>
          <a:xfrm>
            <a:off x="3404175" y="5327549"/>
            <a:ext cx="7642800" cy="56349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>
              <a:defRPr/>
            </a:pPr>
            <a:endParaRPr kumimoji="0" lang="zh-CN" altLang="en-US" sz="2800" b="1" u="none" strike="noStrike" kern="1200" cap="none" normalizeH="0" noProof="0" dirty="0">
              <a:ln>
                <a:noFill/>
              </a:ln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9289A90-490E-4072-95AB-54C2BAD453D8}"/>
              </a:ext>
            </a:extLst>
          </p:cNvPr>
          <p:cNvGrpSpPr/>
          <p:nvPr/>
        </p:nvGrpSpPr>
        <p:grpSpPr>
          <a:xfrm>
            <a:off x="3379266" y="1144746"/>
            <a:ext cx="7670635" cy="4095702"/>
            <a:chOff x="3400307" y="1095244"/>
            <a:chExt cx="7670635" cy="3802948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C93B73D-42D7-42D8-B881-7081DE296511}"/>
                </a:ext>
              </a:extLst>
            </p:cNvPr>
            <p:cNvSpPr txBox="1"/>
            <p:nvPr/>
          </p:nvSpPr>
          <p:spPr>
            <a:xfrm>
              <a:off x="3426679" y="1095244"/>
              <a:ext cx="7644263" cy="523220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rm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800" b="1" dirty="0">
                  <a:cs typeface="+mn-ea"/>
                  <a:sym typeface="+mn-lt"/>
                </a:rPr>
                <a:t>01 贪心最佳优先搜索</a:t>
              </a:r>
              <a:endParaRPr kumimoji="0" lang="zh-CN" altLang="en-US" sz="2800" b="1" u="none" strike="noStrike" kern="1200" cap="none" normalizeH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1D5F32E-F497-4C99-80FE-50B6AC74F34C}"/>
                </a:ext>
              </a:extLst>
            </p:cNvPr>
            <p:cNvSpPr txBox="1"/>
            <p:nvPr/>
          </p:nvSpPr>
          <p:spPr>
            <a:xfrm>
              <a:off x="3423753" y="1751189"/>
              <a:ext cx="7644263" cy="523220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/>
            <a:p>
              <a:pPr lvl="0">
                <a:defRPr/>
              </a:pPr>
              <a:r>
                <a:rPr lang="en-US" altLang="zh-CN" sz="2800" b="1" dirty="0">
                  <a:cs typeface="+mn-ea"/>
                  <a:sym typeface="+mn-lt"/>
                </a:rPr>
                <a:t>02 A</a:t>
              </a:r>
              <a:r>
                <a:rPr lang="zh-CN" altLang="en-US" sz="2800" b="1" baseline="30000" dirty="0">
                  <a:cs typeface="+mn-ea"/>
                  <a:sym typeface="+mn-lt"/>
                </a:rPr>
                <a:t>*</a:t>
              </a:r>
              <a:r>
                <a:rPr lang="zh-CN" altLang="en-US" sz="2800" b="1" dirty="0">
                  <a:cs typeface="+mn-ea"/>
                  <a:sym typeface="+mn-lt"/>
                </a:rPr>
                <a:t> </a:t>
              </a:r>
              <a:r>
                <a:rPr lang="en-US" altLang="zh-CN" sz="2800" b="1" dirty="0">
                  <a:cs typeface="+mn-ea"/>
                  <a:sym typeface="+mn-lt"/>
                </a:rPr>
                <a:t>搜索</a:t>
              </a:r>
              <a:endParaRPr lang="zh-CN" altLang="en-US" sz="2800" b="1" dirty="0">
                <a:cs typeface="+mn-ea"/>
                <a:sym typeface="+mn-lt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9065AB3-04A0-4A3A-9B80-A00D2A820DE0}"/>
                </a:ext>
              </a:extLst>
            </p:cNvPr>
            <p:cNvSpPr txBox="1"/>
            <p:nvPr/>
          </p:nvSpPr>
          <p:spPr>
            <a:xfrm>
              <a:off x="3400307" y="2407135"/>
              <a:ext cx="7644263" cy="523220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/>
            <a:p>
              <a:pPr lvl="0">
                <a:defRPr/>
              </a:pPr>
              <a:endParaRPr kumimoji="0" lang="zh-CN" altLang="en-US" sz="2800" b="1" u="none" strike="noStrike" kern="1200" cap="none" normalizeH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6125173-9250-4E13-9895-5C7D1F03500E}"/>
                </a:ext>
              </a:extLst>
            </p:cNvPr>
            <p:cNvSpPr txBox="1"/>
            <p:nvPr/>
          </p:nvSpPr>
          <p:spPr>
            <a:xfrm>
              <a:off x="3425216" y="3063080"/>
              <a:ext cx="7642800" cy="523220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/>
            <a:p>
              <a:pPr lvl="0">
                <a:defRPr/>
              </a:pPr>
              <a:endParaRPr lang="zh-CN" altLang="en-US" sz="2800" b="1" dirty="0">
                <a:cs typeface="+mn-ea"/>
                <a:sym typeface="+mn-lt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6F9E9F3-1450-455F-B6FC-A5D975C69116}"/>
                </a:ext>
              </a:extLst>
            </p:cNvPr>
            <p:cNvSpPr txBox="1"/>
            <p:nvPr/>
          </p:nvSpPr>
          <p:spPr>
            <a:xfrm>
              <a:off x="3425216" y="3719026"/>
              <a:ext cx="7642800" cy="523220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/>
            <a:p>
              <a:pPr lvl="0">
                <a:defRPr/>
              </a:pPr>
              <a:endParaRPr kumimoji="0" lang="zh-CN" altLang="en-US" sz="2800" b="1" u="none" strike="noStrike" kern="1200" cap="none" normalizeH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0180F3C-E588-4014-872E-44032422B873}"/>
                </a:ext>
              </a:extLst>
            </p:cNvPr>
            <p:cNvSpPr txBox="1"/>
            <p:nvPr/>
          </p:nvSpPr>
          <p:spPr>
            <a:xfrm>
              <a:off x="3425216" y="4374972"/>
              <a:ext cx="7642800" cy="523220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/>
            <a:p>
              <a:pPr lvl="0">
                <a:defRPr/>
              </a:pPr>
              <a:endParaRPr kumimoji="0" lang="zh-CN" altLang="en-US" sz="2800" b="1" u="none" strike="noStrike" kern="1200" cap="none" normalizeH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7941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通用树搜索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70139" y="1371603"/>
            <a:ext cx="7459663" cy="2495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A15CFFCC-6911-4F4B-B6C0-CCFB1FC4B164}"/>
              </a:ext>
            </a:extLst>
          </p:cNvPr>
          <p:cNvSpPr txBox="1">
            <a:spLocks noChangeArrowheads="1"/>
          </p:cNvSpPr>
          <p:nvPr/>
        </p:nvSpPr>
        <p:spPr>
          <a:xfrm>
            <a:off x="2370138" y="4074591"/>
            <a:ext cx="7823729" cy="236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>
                <a:solidFill>
                  <a:srgbClr val="515223"/>
                </a:solidFill>
                <a:latin typeface="+mn-lt"/>
                <a:cs typeface="+mn-ea"/>
                <a:sym typeface="+mn-lt"/>
              </a:rPr>
              <a:t>重要思想：</a:t>
            </a:r>
          </a:p>
          <a:p>
            <a:pPr lvl="1">
              <a:lnSpc>
                <a:spcPct val="80000"/>
              </a:lnSpc>
            </a:pPr>
            <a:r>
              <a:rPr lang="en-US">
                <a:latin typeface="+mn-lt"/>
                <a:cs typeface="+mn-ea"/>
                <a:sym typeface="+mn-lt"/>
              </a:rPr>
              <a:t>边缘/</a:t>
            </a:r>
            <a:r>
              <a:rPr lang="en-US" altLang="zh-CN">
                <a:latin typeface="+mn-lt"/>
                <a:cs typeface="+mn-ea"/>
                <a:sym typeface="+mn-lt"/>
              </a:rPr>
              <a:t> 边疆</a:t>
            </a:r>
            <a:endParaRPr lang="en-US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r>
              <a:rPr lang="en-US">
                <a:latin typeface="+mn-lt"/>
                <a:cs typeface="+mn-ea"/>
                <a:sym typeface="+mn-lt"/>
              </a:rPr>
              <a:t>扩展</a:t>
            </a:r>
          </a:p>
          <a:p>
            <a:pPr lvl="1">
              <a:lnSpc>
                <a:spcPct val="80000"/>
              </a:lnSpc>
            </a:pPr>
            <a:r>
              <a:rPr lang="en-US">
                <a:latin typeface="+mn-lt"/>
                <a:cs typeface="+mn-ea"/>
                <a:sym typeface="+mn-lt"/>
              </a:rPr>
              <a:t>探索策略</a:t>
            </a:r>
          </a:p>
          <a:p>
            <a:pPr lvl="3">
              <a:lnSpc>
                <a:spcPct val="80000"/>
              </a:lnSpc>
            </a:pPr>
            <a:endParaRPr lang="en-US" sz="160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r>
              <a:rPr lang="en-US">
                <a:solidFill>
                  <a:srgbClr val="515223"/>
                </a:solidFill>
                <a:latin typeface="+mn-lt"/>
                <a:cs typeface="+mn-ea"/>
                <a:sym typeface="+mn-lt"/>
              </a:rPr>
              <a:t>主要问题：探索哪些边缘节点？</a:t>
            </a:r>
            <a:endParaRPr lang="en-US" dirty="0">
              <a:solidFill>
                <a:srgbClr val="515223"/>
              </a:solidFill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8972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树搜索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Text Box 194">
            <a:extLst>
              <a:ext uri="{FF2B5EF4-FFF2-40B4-BE49-F238E27FC236}">
                <a16:creationId xmlns:a16="http://schemas.microsoft.com/office/drawing/2014/main" id="{BA94B754-5AEA-471B-9861-27F499737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2884" y="1564764"/>
            <a:ext cx="2778755" cy="4001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i="1" dirty="0">
                <a:cs typeface="+mn-ea"/>
                <a:sym typeface="+mn-lt"/>
              </a:rPr>
              <a:t>无信息树搜索</a:t>
            </a:r>
          </a:p>
        </p:txBody>
      </p:sp>
      <p:sp>
        <p:nvSpPr>
          <p:cNvPr id="19" name="Text Box 194">
            <a:extLst>
              <a:ext uri="{FF2B5EF4-FFF2-40B4-BE49-F238E27FC236}">
                <a16:creationId xmlns:a16="http://schemas.microsoft.com/office/drawing/2014/main" id="{39D0E8C4-D572-4AA3-9239-06C9061A5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1668" y="2569655"/>
            <a:ext cx="1360452" cy="4001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i="1" dirty="0">
                <a:cs typeface="+mn-ea"/>
                <a:sym typeface="+mn-lt"/>
              </a:rPr>
              <a:t>最浅的</a:t>
            </a:r>
          </a:p>
        </p:txBody>
      </p:sp>
      <p:sp>
        <p:nvSpPr>
          <p:cNvPr id="20" name="Text Box 194">
            <a:extLst>
              <a:ext uri="{FF2B5EF4-FFF2-40B4-BE49-F238E27FC236}">
                <a16:creationId xmlns:a16="http://schemas.microsoft.com/office/drawing/2014/main" id="{519111B4-45D9-4DFF-BD8A-BAD13E1F4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5467" y="2569655"/>
            <a:ext cx="1360452" cy="4001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i="1" dirty="0">
                <a:cs typeface="+mn-ea"/>
                <a:sym typeface="+mn-lt"/>
              </a:rPr>
              <a:t>最深的</a:t>
            </a:r>
          </a:p>
        </p:txBody>
      </p:sp>
      <p:sp>
        <p:nvSpPr>
          <p:cNvPr id="21" name="Text Box 194">
            <a:extLst>
              <a:ext uri="{FF2B5EF4-FFF2-40B4-BE49-F238E27FC236}">
                <a16:creationId xmlns:a16="http://schemas.microsoft.com/office/drawing/2014/main" id="{EEA48487-BA69-490D-8B47-351FA5F6A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2613" y="2557801"/>
            <a:ext cx="1360452" cy="4001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i="1" dirty="0">
                <a:cs typeface="+mn-ea"/>
                <a:sym typeface="+mn-lt"/>
              </a:rPr>
              <a:t>最便宜</a:t>
            </a:r>
          </a:p>
        </p:txBody>
      </p:sp>
      <p:sp>
        <p:nvSpPr>
          <p:cNvPr id="23" name="Text Box 194">
            <a:extLst>
              <a:ext uri="{FF2B5EF4-FFF2-40B4-BE49-F238E27FC236}">
                <a16:creationId xmlns:a16="http://schemas.microsoft.com/office/drawing/2014/main" id="{2B36615C-A53A-4985-82D5-EF72058EC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1085" y="3228946"/>
            <a:ext cx="584382" cy="19389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i="1" dirty="0">
                <a:cs typeface="+mn-ea"/>
                <a:sym typeface="+mn-lt"/>
              </a:rPr>
              <a:t>广度优先搜索</a:t>
            </a:r>
          </a:p>
        </p:txBody>
      </p:sp>
      <p:sp>
        <p:nvSpPr>
          <p:cNvPr id="24" name="Text Box 194">
            <a:extLst>
              <a:ext uri="{FF2B5EF4-FFF2-40B4-BE49-F238E27FC236}">
                <a16:creationId xmlns:a16="http://schemas.microsoft.com/office/drawing/2014/main" id="{1C6E1CB6-D1EE-456B-A29E-12AA680C4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5699" y="3228947"/>
            <a:ext cx="584382" cy="19389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i="1" dirty="0">
                <a:cs typeface="+mn-ea"/>
                <a:sym typeface="+mn-lt"/>
              </a:rPr>
              <a:t>深度优先搜索</a:t>
            </a:r>
          </a:p>
        </p:txBody>
      </p:sp>
      <p:sp>
        <p:nvSpPr>
          <p:cNvPr id="25" name="Text Box 194">
            <a:extLst>
              <a:ext uri="{FF2B5EF4-FFF2-40B4-BE49-F238E27FC236}">
                <a16:creationId xmlns:a16="http://schemas.microsoft.com/office/drawing/2014/main" id="{2F218D1D-9B61-46A5-9BFF-797308C52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4065" y="3293918"/>
            <a:ext cx="1360452" cy="4001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i="1" dirty="0">
                <a:cs typeface="+mn-ea"/>
                <a:sym typeface="+mn-lt"/>
              </a:rPr>
              <a:t>均匀损失</a:t>
            </a:r>
            <a:endParaRPr lang="en-US" sz="2000" b="1" i="1" dirty="0">
              <a:cs typeface="+mn-ea"/>
              <a:sym typeface="+mn-lt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A1FB5D9-22E8-4204-BD74-4CF7FF3F7FF6}"/>
              </a:ext>
            </a:extLst>
          </p:cNvPr>
          <p:cNvCxnSpPr>
            <a:cxnSpLocks/>
            <a:stCxn id="18" idx="2"/>
            <a:endCxn id="24" idx="0"/>
          </p:cNvCxnSpPr>
          <p:nvPr/>
        </p:nvCxnSpPr>
        <p:spPr>
          <a:xfrm flipH="1">
            <a:off x="5357890" y="1964869"/>
            <a:ext cx="24372" cy="12640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9DE73B2-4A12-4FC7-8CC1-EF3CF6953593}"/>
              </a:ext>
            </a:extLst>
          </p:cNvPr>
          <p:cNvCxnSpPr>
            <a:cxnSpLocks/>
          </p:cNvCxnSpPr>
          <p:nvPr/>
        </p:nvCxnSpPr>
        <p:spPr>
          <a:xfrm>
            <a:off x="4013277" y="2424332"/>
            <a:ext cx="295960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0BA9CFA-03AE-472E-9D40-BCF9CA399852}"/>
              </a:ext>
            </a:extLst>
          </p:cNvPr>
          <p:cNvCxnSpPr>
            <a:cxnSpLocks/>
          </p:cNvCxnSpPr>
          <p:nvPr/>
        </p:nvCxnSpPr>
        <p:spPr>
          <a:xfrm flipH="1">
            <a:off x="4017965" y="2419642"/>
            <a:ext cx="2" cy="8046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C7431F9-2F15-4549-AD9E-9CBCDD7C9DE0}"/>
              </a:ext>
            </a:extLst>
          </p:cNvPr>
          <p:cNvCxnSpPr>
            <a:cxnSpLocks/>
          </p:cNvCxnSpPr>
          <p:nvPr/>
        </p:nvCxnSpPr>
        <p:spPr>
          <a:xfrm>
            <a:off x="6968197" y="2410264"/>
            <a:ext cx="0" cy="8946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连接符: 曲线 30">
            <a:extLst>
              <a:ext uri="{FF2B5EF4-FFF2-40B4-BE49-F238E27FC236}">
                <a16:creationId xmlns:a16="http://schemas.microsoft.com/office/drawing/2014/main" id="{3E0CF0D7-D552-4E74-AA94-6B6028A52E6B}"/>
              </a:ext>
            </a:extLst>
          </p:cNvPr>
          <p:cNvCxnSpPr>
            <a:cxnSpLocks/>
            <a:stCxn id="25" idx="2"/>
            <a:endCxn id="23" idx="2"/>
          </p:cNvCxnSpPr>
          <p:nvPr/>
        </p:nvCxnSpPr>
        <p:spPr>
          <a:xfrm rot="5400000">
            <a:off x="4811829" y="2895471"/>
            <a:ext cx="1473911" cy="3071015"/>
          </a:xfrm>
          <a:prstGeom prst="curvedConnector3">
            <a:avLst>
              <a:gd name="adj1" fmla="val 11551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194">
            <a:extLst>
              <a:ext uri="{FF2B5EF4-FFF2-40B4-BE49-F238E27FC236}">
                <a16:creationId xmlns:a16="http://schemas.microsoft.com/office/drawing/2014/main" id="{E1299AB7-8DC1-44C9-8EFA-1093855B5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854" y="4893131"/>
            <a:ext cx="1553727" cy="4001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i="1" dirty="0">
                <a:cs typeface="+mn-ea"/>
                <a:sym typeface="+mn-lt"/>
              </a:rPr>
              <a:t>全部成本=1</a:t>
            </a: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4981873F-FFCD-4602-838F-976FAA41099C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4305467" y="4198440"/>
            <a:ext cx="760232" cy="1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94">
            <a:extLst>
              <a:ext uri="{FF2B5EF4-FFF2-40B4-BE49-F238E27FC236}">
                <a16:creationId xmlns:a16="http://schemas.microsoft.com/office/drawing/2014/main" id="{8400C8ED-BA85-4828-B6D0-605BA5552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8191" y="3735837"/>
            <a:ext cx="1456138" cy="4001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i="1" dirty="0">
                <a:cs typeface="+mn-ea"/>
                <a:sym typeface="+mn-lt"/>
              </a:rPr>
              <a:t>时空</a:t>
            </a:r>
          </a:p>
        </p:txBody>
      </p:sp>
    </p:spTree>
    <p:extLst>
      <p:ext uri="{BB962C8B-B14F-4D97-AF65-F5344CB8AC3E}">
        <p14:creationId xmlns:p14="http://schemas.microsoft.com/office/powerpoint/2010/main" val="1275212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9A843-D829-49C2-A01A-4B7D9BD52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无信息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vs. 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有信息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A21381-93E7-4696-AA8D-3C561D27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15AB8F-1C56-49E9-90C8-78D22B0C1B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FD40B1F-FA0B-5CA6-2C14-DF3A0AE48B78}"/>
              </a:ext>
            </a:extLst>
          </p:cNvPr>
          <p:cNvSpPr txBox="1">
            <a:spLocks/>
          </p:cNvSpPr>
          <p:nvPr/>
        </p:nvSpPr>
        <p:spPr>
          <a:xfrm>
            <a:off x="1158281" y="1476325"/>
            <a:ext cx="9875438" cy="45615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无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信息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：完全不清楚一个状态距离目标有多近。</a:t>
            </a:r>
          </a:p>
          <a:p>
            <a:pPr lvl="0">
              <a:defRPr/>
            </a:pPr>
            <a:r>
              <a:rPr lang="zh-CN" altLang="en-US" sz="2400" dirty="0">
                <a:solidFill>
                  <a:srgbClr val="000000"/>
                </a:solidFill>
                <a:latin typeface="Arial" panose="020B0604020202020204"/>
                <a:cs typeface="+mn-ea"/>
                <a:sym typeface="+mn-lt"/>
              </a:rPr>
              <a:t>有信息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：一些关于一个状态距离目标有多近的线索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贪心最佳优先搜索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             f(n) = h(n)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       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h(n) = 从n到目标的估计成本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A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*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 搜索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            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f(n) = g(n) + h(n)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       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g(n) = 到达n为止的当前成本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            h(n) = 从n到目标的估计成本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            f(n) = 通过n到达目标的路径的预计总成本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369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9A843-D829-49C2-A01A-4B7D9BD52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lang="en-US" altLang="zh-CN" sz="3600" baseline="30000" dirty="0">
                <a:latin typeface="+mn-lt"/>
                <a:ea typeface="+mn-ea"/>
                <a:cs typeface="+mn-ea"/>
                <a:sym typeface="+mn-lt"/>
              </a:rPr>
              <a:t>*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搜索示例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A21381-93E7-4696-AA8D-3C561D27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fld id="{2515AB8F-1C56-49E9-90C8-78D22B0C1B97}" type="slidenum">
              <a:rPr lang="zh-CN" altLang="en-US" smtClean="0">
                <a:latin typeface="+mn-lt"/>
                <a:cs typeface="+mn-ea"/>
                <a:sym typeface="+mn-lt"/>
              </a:rPr>
              <a:t>6</a:t>
            </a:fld>
            <a:endParaRPr lang="zh-CN" altLang="en-US">
              <a:latin typeface="+mn-lt"/>
              <a:cs typeface="+mn-ea"/>
              <a:sym typeface="+mn-lt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D8612C7-1201-4714-A6D0-CDAA20AAD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7967" y="2188769"/>
            <a:ext cx="4273770" cy="184794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051A8A2-9185-4469-9175-9CC509D4EE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415" y="1396895"/>
            <a:ext cx="6744047" cy="406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87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9A843-D829-49C2-A01A-4B7D9BD52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lang="en-US" altLang="zh-CN" sz="3600" baseline="30000" dirty="0">
                <a:latin typeface="+mn-lt"/>
                <a:ea typeface="+mn-ea"/>
                <a:cs typeface="+mn-ea"/>
                <a:sym typeface="+mn-lt"/>
              </a:rPr>
              <a:t>*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搜索示例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A21381-93E7-4696-AA8D-3C561D27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fld id="{2515AB8F-1C56-49E9-90C8-78D22B0C1B97}" type="slidenum">
              <a:rPr lang="zh-CN" altLang="en-US" smtClean="0">
                <a:latin typeface="+mn-lt"/>
                <a:cs typeface="+mn-ea"/>
                <a:sym typeface="+mn-lt"/>
              </a:rPr>
              <a:t>7</a:t>
            </a:fld>
            <a:endParaRPr lang="zh-CN" altLang="en-US">
              <a:latin typeface="+mn-lt"/>
              <a:cs typeface="+mn-ea"/>
              <a:sym typeface="+mn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A13926F-CB0D-2947-78D4-E6DFC9F5F8B1}"/>
              </a:ext>
            </a:extLst>
          </p:cNvPr>
          <p:cNvGrpSpPr/>
          <p:nvPr/>
        </p:nvGrpSpPr>
        <p:grpSpPr>
          <a:xfrm>
            <a:off x="1535924" y="1768305"/>
            <a:ext cx="9120152" cy="3550571"/>
            <a:chOff x="1535924" y="1768305"/>
            <a:chExt cx="9120152" cy="355057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CBBB3C3-ED39-6E78-AB35-DC7A27B521A9}"/>
                </a:ext>
              </a:extLst>
            </p:cNvPr>
            <p:cNvSpPr/>
            <p:nvPr/>
          </p:nvSpPr>
          <p:spPr>
            <a:xfrm>
              <a:off x="1535924" y="1768305"/>
              <a:ext cx="9120152" cy="3550571"/>
            </a:xfrm>
            <a:prstGeom prst="roundRect">
              <a:avLst>
                <a:gd name="adj" fmla="val 3334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7" name="Picture 4" descr="astar-progress01c">
              <a:extLst>
                <a:ext uri="{FF2B5EF4-FFF2-40B4-BE49-F238E27FC236}">
                  <a16:creationId xmlns:a16="http://schemas.microsoft.com/office/drawing/2014/main" id="{D060DAC9-E5AE-1B1E-F4D6-CB43F48456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6000" y="1919153"/>
              <a:ext cx="7920000" cy="32488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35076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9A843-D829-49C2-A01A-4B7D9BD52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lang="en-US" altLang="zh-CN" sz="3600" baseline="30000" dirty="0">
                <a:latin typeface="+mn-lt"/>
                <a:ea typeface="+mn-ea"/>
                <a:cs typeface="+mn-ea"/>
                <a:sym typeface="+mn-lt"/>
              </a:rPr>
              <a:t>*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搜索示例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A21381-93E7-4696-AA8D-3C561D27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fld id="{2515AB8F-1C56-49E9-90C8-78D22B0C1B97}" type="slidenum">
              <a:rPr lang="zh-CN" altLang="en-US" smtClean="0">
                <a:latin typeface="+mn-lt"/>
                <a:cs typeface="+mn-ea"/>
                <a:sym typeface="+mn-lt"/>
              </a:rPr>
              <a:t>8</a:t>
            </a:fld>
            <a:endParaRPr lang="zh-CN" altLang="en-US">
              <a:latin typeface="+mn-lt"/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C0F6832-9780-CCA0-03D8-27798CFC95D2}"/>
              </a:ext>
            </a:extLst>
          </p:cNvPr>
          <p:cNvGrpSpPr/>
          <p:nvPr/>
        </p:nvGrpSpPr>
        <p:grpSpPr>
          <a:xfrm>
            <a:off x="1535924" y="1768305"/>
            <a:ext cx="9120152" cy="3550571"/>
            <a:chOff x="1535924" y="1768305"/>
            <a:chExt cx="9120152" cy="355057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CBBB3C3-ED39-6E78-AB35-DC7A27B521A9}"/>
                </a:ext>
              </a:extLst>
            </p:cNvPr>
            <p:cNvSpPr/>
            <p:nvPr/>
          </p:nvSpPr>
          <p:spPr>
            <a:xfrm>
              <a:off x="1535924" y="1768305"/>
              <a:ext cx="9120152" cy="3550571"/>
            </a:xfrm>
            <a:prstGeom prst="roundRect">
              <a:avLst>
                <a:gd name="adj" fmla="val 3334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9" name="Picture 4" descr="astar-progress02c">
              <a:extLst>
                <a:ext uri="{FF2B5EF4-FFF2-40B4-BE49-F238E27FC236}">
                  <a16:creationId xmlns:a16="http://schemas.microsoft.com/office/drawing/2014/main" id="{34AAA98F-43B3-9AE9-5E68-C2567CEB96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6000" y="1919153"/>
              <a:ext cx="7920000" cy="32488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74779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9A843-D829-49C2-A01A-4B7D9BD52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lang="en-US" altLang="zh-CN" sz="3600" baseline="30000" dirty="0">
                <a:latin typeface="+mn-lt"/>
                <a:ea typeface="+mn-ea"/>
                <a:cs typeface="+mn-ea"/>
                <a:sym typeface="+mn-lt"/>
              </a:rPr>
              <a:t>*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搜索示例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A21381-93E7-4696-AA8D-3C561D27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fld id="{2515AB8F-1C56-49E9-90C8-78D22B0C1B97}" type="slidenum">
              <a:rPr lang="zh-CN" altLang="en-US" smtClean="0">
                <a:latin typeface="+mn-lt"/>
                <a:cs typeface="+mn-ea"/>
                <a:sym typeface="+mn-lt"/>
              </a:rPr>
              <a:t>9</a:t>
            </a:fld>
            <a:endParaRPr lang="zh-CN" altLang="en-US">
              <a:latin typeface="+mn-lt"/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BAEB08B-7F8A-2E6C-E6B6-7E1801D7F23E}"/>
              </a:ext>
            </a:extLst>
          </p:cNvPr>
          <p:cNvGrpSpPr/>
          <p:nvPr/>
        </p:nvGrpSpPr>
        <p:grpSpPr>
          <a:xfrm>
            <a:off x="1535924" y="1768305"/>
            <a:ext cx="9120152" cy="3550571"/>
            <a:chOff x="1535924" y="1768305"/>
            <a:chExt cx="9120152" cy="355057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CBBB3C3-ED39-6E78-AB35-DC7A27B521A9}"/>
                </a:ext>
              </a:extLst>
            </p:cNvPr>
            <p:cNvSpPr/>
            <p:nvPr/>
          </p:nvSpPr>
          <p:spPr>
            <a:xfrm>
              <a:off x="1535924" y="1768305"/>
              <a:ext cx="9120152" cy="3550571"/>
            </a:xfrm>
            <a:prstGeom prst="roundRect">
              <a:avLst>
                <a:gd name="adj" fmla="val 3334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9" name="Picture 5" descr="astar-progress03c">
              <a:extLst>
                <a:ext uri="{FF2B5EF4-FFF2-40B4-BE49-F238E27FC236}">
                  <a16:creationId xmlns:a16="http://schemas.microsoft.com/office/drawing/2014/main" id="{82949F83-094B-FA25-E681-BCA2FFC3B0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6000" y="1919153"/>
              <a:ext cx="7920000" cy="32488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15696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9A843-D829-49C2-A01A-4B7D9BD52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lang="en-US" altLang="zh-CN" sz="3600" baseline="30000" dirty="0">
                <a:latin typeface="+mn-lt"/>
                <a:ea typeface="+mn-ea"/>
                <a:cs typeface="+mn-ea"/>
                <a:sym typeface="+mn-lt"/>
              </a:rPr>
              <a:t>*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搜索示例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A21381-93E7-4696-AA8D-3C561D27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fld id="{2515AB8F-1C56-49E9-90C8-78D22B0C1B97}" type="slidenum">
              <a:rPr lang="zh-CN" altLang="en-US" smtClean="0">
                <a:latin typeface="+mn-lt"/>
                <a:cs typeface="+mn-ea"/>
                <a:sym typeface="+mn-lt"/>
              </a:rPr>
              <a:t>10</a:t>
            </a:fld>
            <a:endParaRPr lang="zh-CN" altLang="en-US">
              <a:latin typeface="+mn-lt"/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363B4E-D6C1-6A71-23A4-F61A028E0354}"/>
              </a:ext>
            </a:extLst>
          </p:cNvPr>
          <p:cNvGrpSpPr/>
          <p:nvPr/>
        </p:nvGrpSpPr>
        <p:grpSpPr>
          <a:xfrm>
            <a:off x="1535924" y="1768305"/>
            <a:ext cx="9120152" cy="3550571"/>
            <a:chOff x="1535924" y="1768305"/>
            <a:chExt cx="9120152" cy="355057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CBBB3C3-ED39-6E78-AB35-DC7A27B521A9}"/>
                </a:ext>
              </a:extLst>
            </p:cNvPr>
            <p:cNvSpPr/>
            <p:nvPr/>
          </p:nvSpPr>
          <p:spPr>
            <a:xfrm>
              <a:off x="1535924" y="1768305"/>
              <a:ext cx="9120152" cy="3550571"/>
            </a:xfrm>
            <a:prstGeom prst="roundRect">
              <a:avLst>
                <a:gd name="adj" fmla="val 3334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9" name="Picture 4" descr="astar-progress04c">
              <a:extLst>
                <a:ext uri="{FF2B5EF4-FFF2-40B4-BE49-F238E27FC236}">
                  <a16:creationId xmlns:a16="http://schemas.microsoft.com/office/drawing/2014/main" id="{4EAF8A36-0DEB-8F42-900B-5610831703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6000" y="1919153"/>
              <a:ext cx="7920000" cy="32488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12510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9A843-D829-49C2-A01A-4B7D9BD52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lang="en-US" altLang="zh-CN" sz="3600" baseline="30000" dirty="0">
                <a:latin typeface="+mn-lt"/>
                <a:ea typeface="+mn-ea"/>
                <a:cs typeface="+mn-ea"/>
                <a:sym typeface="+mn-lt"/>
              </a:rPr>
              <a:t>*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搜索示例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A21381-93E7-4696-AA8D-3C561D27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fld id="{2515AB8F-1C56-49E9-90C8-78D22B0C1B97}" type="slidenum">
              <a:rPr lang="zh-CN" altLang="en-US" smtClean="0">
                <a:latin typeface="+mn-lt"/>
                <a:cs typeface="+mn-ea"/>
                <a:sym typeface="+mn-lt"/>
              </a:rPr>
              <a:t>11</a:t>
            </a:fld>
            <a:endParaRPr lang="zh-CN" altLang="en-US">
              <a:latin typeface="+mn-lt"/>
              <a:cs typeface="+mn-ea"/>
              <a:sym typeface="+mn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7EC1E23-F456-1757-CE13-1E3F9CC338D7}"/>
              </a:ext>
            </a:extLst>
          </p:cNvPr>
          <p:cNvGrpSpPr/>
          <p:nvPr/>
        </p:nvGrpSpPr>
        <p:grpSpPr>
          <a:xfrm>
            <a:off x="1535924" y="1768305"/>
            <a:ext cx="9120152" cy="3550571"/>
            <a:chOff x="1535924" y="1768305"/>
            <a:chExt cx="9120152" cy="355057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CBBB3C3-ED39-6E78-AB35-DC7A27B521A9}"/>
                </a:ext>
              </a:extLst>
            </p:cNvPr>
            <p:cNvSpPr/>
            <p:nvPr/>
          </p:nvSpPr>
          <p:spPr>
            <a:xfrm>
              <a:off x="1535924" y="1768305"/>
              <a:ext cx="9120152" cy="3550571"/>
            </a:xfrm>
            <a:prstGeom prst="roundRect">
              <a:avLst>
                <a:gd name="adj" fmla="val 3334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7" name="Picture 4" descr="astar-progress05c">
              <a:extLst>
                <a:ext uri="{FF2B5EF4-FFF2-40B4-BE49-F238E27FC236}">
                  <a16:creationId xmlns:a16="http://schemas.microsoft.com/office/drawing/2014/main" id="{0184FB7A-0997-CFA1-56E6-540EAC1DB9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6000" y="1919153"/>
              <a:ext cx="7920000" cy="32488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20897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9A843-D829-49C2-A01A-4B7D9BD52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lang="en-US" altLang="zh-CN" sz="3600" baseline="30000" dirty="0">
                <a:latin typeface="+mn-lt"/>
                <a:ea typeface="+mn-ea"/>
                <a:cs typeface="+mn-ea"/>
                <a:sym typeface="+mn-lt"/>
              </a:rPr>
              <a:t>*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搜索示例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A21381-93E7-4696-AA8D-3C561D27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fld id="{2515AB8F-1C56-49E9-90C8-78D22B0C1B97}" type="slidenum">
              <a:rPr lang="zh-CN" altLang="en-US" smtClean="0">
                <a:latin typeface="+mn-lt"/>
                <a:cs typeface="+mn-ea"/>
                <a:sym typeface="+mn-lt"/>
              </a:rPr>
              <a:t>12</a:t>
            </a:fld>
            <a:endParaRPr lang="zh-CN" altLang="en-US">
              <a:latin typeface="+mn-lt"/>
              <a:cs typeface="+mn-ea"/>
              <a:sym typeface="+mn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DC4B427-22AE-5500-E77D-DA7CEDAEEDEC}"/>
              </a:ext>
            </a:extLst>
          </p:cNvPr>
          <p:cNvGrpSpPr/>
          <p:nvPr/>
        </p:nvGrpSpPr>
        <p:grpSpPr>
          <a:xfrm>
            <a:off x="1535924" y="1768305"/>
            <a:ext cx="9120152" cy="3550571"/>
            <a:chOff x="1535924" y="1768305"/>
            <a:chExt cx="9120152" cy="355057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CBBB3C3-ED39-6E78-AB35-DC7A27B521A9}"/>
                </a:ext>
              </a:extLst>
            </p:cNvPr>
            <p:cNvSpPr/>
            <p:nvPr/>
          </p:nvSpPr>
          <p:spPr>
            <a:xfrm>
              <a:off x="1535924" y="1768305"/>
              <a:ext cx="9120152" cy="3550571"/>
            </a:xfrm>
            <a:prstGeom prst="roundRect">
              <a:avLst>
                <a:gd name="adj" fmla="val 3334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7" name="Picture 4" descr="astar-progress06c">
              <a:extLst>
                <a:ext uri="{FF2B5EF4-FFF2-40B4-BE49-F238E27FC236}">
                  <a16:creationId xmlns:a16="http://schemas.microsoft.com/office/drawing/2014/main" id="{0D82F989-76AD-896C-216A-70681078DC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6000" y="1919153"/>
              <a:ext cx="7920000" cy="32488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TextBox 4">
            <a:extLst>
              <a:ext uri="{FF2B5EF4-FFF2-40B4-BE49-F238E27FC236}">
                <a16:creationId xmlns:a16="http://schemas.microsoft.com/office/drawing/2014/main" id="{030A23CE-A102-466C-8F6D-FD3112CF4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9480" y="5525352"/>
            <a:ext cx="875303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2pPr>
            <a:lvl3pPr marL="822325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3pPr>
            <a:lvl4pPr marL="1096963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4pPr>
            <a:lvl5pPr marL="1371600" indent="-228600">
              <a:spcBef>
                <a:spcPct val="20000"/>
              </a:spcBef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5pPr>
            <a:lvl6pPr marL="1828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6pPr>
            <a:lvl7pPr marL="2286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7pPr>
            <a:lvl8pPr marL="2743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8pPr>
            <a:lvl9pPr marL="32004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 当具有最低f值的节点是一个目标状态时，我们停止。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 这能保证找到最短路径吗？</a:t>
            </a:r>
          </a:p>
        </p:txBody>
      </p:sp>
    </p:spTree>
    <p:extLst>
      <p:ext uri="{BB962C8B-B14F-4D97-AF65-F5344CB8AC3E}">
        <p14:creationId xmlns:p14="http://schemas.microsoft.com/office/powerpoint/2010/main" val="116107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lang="en-US" altLang="zh-CN" sz="3600" baseline="30000" dirty="0">
                <a:latin typeface="+mn-lt"/>
                <a:ea typeface="+mn-ea"/>
                <a:cs typeface="+mn-ea"/>
                <a:sym typeface="+mn-lt"/>
              </a:rPr>
              <a:t>*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搜索示例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fld id="{2515AB8F-1C56-49E9-90C8-78D22B0C1B97}" type="slidenum">
              <a:rPr lang="zh-CN" altLang="en-US" smtClean="0">
                <a:latin typeface="+mn-lt"/>
                <a:cs typeface="+mn-ea"/>
                <a:sym typeface="+mn-lt"/>
              </a:rPr>
              <a:t>13</a:t>
            </a:fld>
            <a:endParaRPr lang="zh-CN" altLang="en-US">
              <a:latin typeface="+mn-lt"/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1490345" y="1933575"/>
            <a:ext cx="702945" cy="719455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744845" y="4223385"/>
            <a:ext cx="702945" cy="719455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5744210" y="1933575"/>
            <a:ext cx="702945" cy="719455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3617595" y="1933575"/>
            <a:ext cx="702945" cy="719455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617595" y="4223385"/>
            <a:ext cx="702945" cy="719455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cs typeface="+mn-ea"/>
                <a:sym typeface="+mn-lt"/>
              </a:rPr>
              <a:t>v</a:t>
            </a:r>
          </a:p>
        </p:txBody>
      </p:sp>
      <p:sp>
        <p:nvSpPr>
          <p:cNvPr id="13" name="椭圆 12"/>
          <p:cNvSpPr/>
          <p:nvPr/>
        </p:nvSpPr>
        <p:spPr>
          <a:xfrm>
            <a:off x="1490345" y="4223385"/>
            <a:ext cx="702945" cy="719455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80210" y="2109470"/>
            <a:ext cx="887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A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821430" y="2109470"/>
            <a:ext cx="6457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B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962650" y="2109470"/>
            <a:ext cx="640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D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680210" y="4399280"/>
            <a:ext cx="666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C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821430" y="4399280"/>
            <a:ext cx="711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E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5962650" y="4399280"/>
            <a:ext cx="835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F</a:t>
            </a:r>
          </a:p>
        </p:txBody>
      </p:sp>
      <p:cxnSp>
        <p:nvCxnSpPr>
          <p:cNvPr id="24" name="曲线连接符 23"/>
          <p:cNvCxnSpPr>
            <a:stCxn id="14" idx="0"/>
            <a:endCxn id="11" idx="2"/>
          </p:cNvCxnSpPr>
          <p:nvPr/>
        </p:nvCxnSpPr>
        <p:spPr>
          <a:xfrm rot="16200000" flipH="1">
            <a:off x="2778760" y="1454785"/>
            <a:ext cx="184150" cy="1493520"/>
          </a:xfrm>
          <a:prstGeom prst="curvedConnector4">
            <a:avLst>
              <a:gd name="adj1" fmla="val -224828"/>
              <a:gd name="adj2" fmla="val 6488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曲线连接符 24"/>
          <p:cNvCxnSpPr/>
          <p:nvPr/>
        </p:nvCxnSpPr>
        <p:spPr>
          <a:xfrm>
            <a:off x="4281805" y="2081530"/>
            <a:ext cx="1503680" cy="327660"/>
          </a:xfrm>
          <a:prstGeom prst="curvedConnector3">
            <a:avLst>
              <a:gd name="adj1" fmla="val 50042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曲线连接符 25"/>
          <p:cNvCxnSpPr>
            <a:stCxn id="11" idx="4"/>
            <a:endCxn id="12" idx="2"/>
          </p:cNvCxnSpPr>
          <p:nvPr/>
        </p:nvCxnSpPr>
        <p:spPr>
          <a:xfrm rot="5400000">
            <a:off x="2828290" y="3442335"/>
            <a:ext cx="1930400" cy="351790"/>
          </a:xfrm>
          <a:prstGeom prst="curvedConnector4">
            <a:avLst>
              <a:gd name="adj1" fmla="val 40691"/>
              <a:gd name="adj2" fmla="val 16769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曲线连接符 26"/>
          <p:cNvCxnSpPr>
            <a:endCxn id="12" idx="4"/>
          </p:cNvCxnSpPr>
          <p:nvPr/>
        </p:nvCxnSpPr>
        <p:spPr>
          <a:xfrm>
            <a:off x="2211070" y="4576445"/>
            <a:ext cx="1758315" cy="366395"/>
          </a:xfrm>
          <a:prstGeom prst="curvedConnector4">
            <a:avLst>
              <a:gd name="adj1" fmla="val 40014"/>
              <a:gd name="adj2" fmla="val 16499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曲线连接符 27"/>
          <p:cNvCxnSpPr>
            <a:endCxn id="13" idx="1"/>
          </p:cNvCxnSpPr>
          <p:nvPr/>
        </p:nvCxnSpPr>
        <p:spPr>
          <a:xfrm rot="5400000">
            <a:off x="942975" y="3148965"/>
            <a:ext cx="1830070" cy="529590"/>
          </a:xfrm>
          <a:prstGeom prst="curvedConnector3">
            <a:avLst>
              <a:gd name="adj1" fmla="val 47155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曲线连接符 29"/>
          <p:cNvCxnSpPr>
            <a:endCxn id="6" idx="3"/>
          </p:cNvCxnSpPr>
          <p:nvPr/>
        </p:nvCxnSpPr>
        <p:spPr>
          <a:xfrm>
            <a:off x="4281805" y="4399280"/>
            <a:ext cx="1565910" cy="438150"/>
          </a:xfrm>
          <a:prstGeom prst="curvedConnector4">
            <a:avLst>
              <a:gd name="adj1" fmla="val 46756"/>
              <a:gd name="adj2" fmla="val 178406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曲线连接符 30"/>
          <p:cNvCxnSpPr>
            <a:stCxn id="9" idx="5"/>
            <a:endCxn id="6" idx="1"/>
          </p:cNvCxnSpPr>
          <p:nvPr/>
        </p:nvCxnSpPr>
        <p:spPr>
          <a:xfrm rot="5400000">
            <a:off x="5205730" y="3189605"/>
            <a:ext cx="1781175" cy="496570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3078480" y="1713230"/>
            <a:ext cx="339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8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4945380" y="1925320"/>
            <a:ext cx="489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10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1591945" y="3060700"/>
            <a:ext cx="609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5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3511550" y="3108960"/>
            <a:ext cx="568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4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5848350" y="3108960"/>
            <a:ext cx="626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6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2698115" y="4418330"/>
            <a:ext cx="430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3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4954270" y="4285615"/>
            <a:ext cx="353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9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8014970" y="1967865"/>
            <a:ext cx="2251075" cy="2027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cs typeface="+mn-ea"/>
                <a:sym typeface="+mn-lt"/>
              </a:rPr>
              <a:t>A - F     9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cs typeface="+mn-ea"/>
                <a:sym typeface="+mn-lt"/>
              </a:rPr>
              <a:t>B - F     5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cs typeface="+mn-ea"/>
                <a:sym typeface="+mn-lt"/>
              </a:rPr>
              <a:t>C - F     6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cs typeface="+mn-ea"/>
                <a:sym typeface="+mn-lt"/>
              </a:rPr>
              <a:t>D - F     5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cs typeface="+mn-ea"/>
                <a:sym typeface="+mn-lt"/>
              </a:rPr>
              <a:t>E - F     4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8086425" y="40309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 err="1">
                <a:cs typeface="+mn-ea"/>
                <a:sym typeface="+mn-lt"/>
              </a:rPr>
              <a:t>找出从A到F的路径</a:t>
            </a:r>
            <a:endParaRPr lang="en-US" altLang="zh-CN" sz="1800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lang="en-US" altLang="zh-CN" sz="3600" baseline="30000" dirty="0">
                <a:latin typeface="+mn-lt"/>
                <a:ea typeface="+mn-ea"/>
                <a:cs typeface="+mn-ea"/>
                <a:sym typeface="+mn-lt"/>
              </a:rPr>
              <a:t>*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搜索示例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fld id="{2515AB8F-1C56-49E9-90C8-78D22B0C1B97}" type="slidenum">
              <a:rPr lang="zh-CN" altLang="en-US" smtClean="0">
                <a:latin typeface="+mn-lt"/>
                <a:cs typeface="+mn-ea"/>
                <a:sym typeface="+mn-lt"/>
              </a:rPr>
              <a:t>14</a:t>
            </a:fld>
            <a:endParaRPr lang="zh-CN" altLang="en-US">
              <a:latin typeface="+mn-lt"/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365115" y="1380490"/>
            <a:ext cx="613410" cy="620395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24500" y="1506855"/>
            <a:ext cx="555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A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080125" y="15068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9 = 0+9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lang="en-US" altLang="zh-CN" sz="3600" baseline="30000" dirty="0">
                <a:latin typeface="+mn-lt"/>
                <a:ea typeface="+mn-ea"/>
                <a:cs typeface="+mn-ea"/>
                <a:sym typeface="+mn-lt"/>
              </a:rPr>
              <a:t>*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搜索示例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fld id="{2515AB8F-1C56-49E9-90C8-78D22B0C1B97}" type="slidenum">
              <a:rPr lang="zh-CN" altLang="en-US" smtClean="0">
                <a:latin typeface="+mn-lt"/>
                <a:cs typeface="+mn-ea"/>
                <a:sym typeface="+mn-lt"/>
              </a:rPr>
              <a:t>15</a:t>
            </a:fld>
            <a:endParaRPr lang="zh-CN" altLang="en-US">
              <a:latin typeface="+mn-lt"/>
              <a:cs typeface="+mn-ea"/>
              <a:sym typeface="+mn-lt"/>
            </a:endParaRPr>
          </a:p>
        </p:txBody>
      </p:sp>
      <p:sp>
        <p:nvSpPr>
          <p:cNvPr id="3" name="椭圆 2"/>
          <p:cNvSpPr/>
          <p:nvPr>
            <p:custDataLst>
              <p:tags r:id="rId1"/>
            </p:custDataLst>
          </p:nvPr>
        </p:nvSpPr>
        <p:spPr>
          <a:xfrm>
            <a:off x="5365115" y="1380490"/>
            <a:ext cx="613410" cy="620395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5524500" y="1506855"/>
            <a:ext cx="555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A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6080125" y="15068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9 = 0+9</a:t>
            </a:r>
          </a:p>
        </p:txBody>
      </p:sp>
      <p:sp>
        <p:nvSpPr>
          <p:cNvPr id="11" name="椭圆 10"/>
          <p:cNvSpPr/>
          <p:nvPr>
            <p:custDataLst>
              <p:tags r:id="rId4"/>
            </p:custDataLst>
          </p:nvPr>
        </p:nvSpPr>
        <p:spPr>
          <a:xfrm>
            <a:off x="3515995" y="2452370"/>
            <a:ext cx="613410" cy="620395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椭圆 11"/>
          <p:cNvSpPr/>
          <p:nvPr>
            <p:custDataLst>
              <p:tags r:id="rId5"/>
            </p:custDataLst>
          </p:nvPr>
        </p:nvSpPr>
        <p:spPr>
          <a:xfrm>
            <a:off x="7214235" y="2452370"/>
            <a:ext cx="613410" cy="620395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3662680" y="2578100"/>
            <a:ext cx="466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B</a:t>
            </a: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7389495" y="257810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C</a:t>
            </a:r>
          </a:p>
        </p:txBody>
      </p:sp>
      <p:sp>
        <p:nvSpPr>
          <p:cNvPr id="18" name="文本框 17"/>
          <p:cNvSpPr txBox="1"/>
          <p:nvPr>
            <p:custDataLst>
              <p:tags r:id="rId8"/>
            </p:custDataLst>
          </p:nvPr>
        </p:nvSpPr>
        <p:spPr>
          <a:xfrm>
            <a:off x="4226560" y="2578100"/>
            <a:ext cx="1137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13 = 8+5</a:t>
            </a:r>
          </a:p>
        </p:txBody>
      </p:sp>
      <p:sp>
        <p:nvSpPr>
          <p:cNvPr id="19" name="文本框 18"/>
          <p:cNvSpPr txBox="1"/>
          <p:nvPr>
            <p:custDataLst>
              <p:tags r:id="rId9"/>
            </p:custDataLst>
          </p:nvPr>
        </p:nvSpPr>
        <p:spPr>
          <a:xfrm>
            <a:off x="7936865" y="2578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11 = 5+6</a:t>
            </a:r>
          </a:p>
        </p:txBody>
      </p:sp>
      <p:cxnSp>
        <p:nvCxnSpPr>
          <p:cNvPr id="24" name="直接连接符 23"/>
          <p:cNvCxnSpPr>
            <a:stCxn id="3" idx="3"/>
          </p:cNvCxnSpPr>
          <p:nvPr>
            <p:custDataLst>
              <p:tags r:id="rId10"/>
            </p:custDataLst>
          </p:nvPr>
        </p:nvCxnSpPr>
        <p:spPr>
          <a:xfrm flipH="1">
            <a:off x="4054475" y="1910080"/>
            <a:ext cx="1400175" cy="6292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endCxn id="12" idx="1"/>
          </p:cNvCxnSpPr>
          <p:nvPr>
            <p:custDataLst>
              <p:tags r:id="rId11"/>
            </p:custDataLst>
          </p:nvPr>
        </p:nvCxnSpPr>
        <p:spPr>
          <a:xfrm>
            <a:off x="5923280" y="1904365"/>
            <a:ext cx="1380490" cy="6388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lang="en-US" altLang="zh-CN" sz="3600" baseline="30000" dirty="0">
                <a:latin typeface="+mn-lt"/>
                <a:ea typeface="+mn-ea"/>
                <a:cs typeface="+mn-ea"/>
                <a:sym typeface="+mn-lt"/>
              </a:rPr>
              <a:t>*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搜索示例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fld id="{2515AB8F-1C56-49E9-90C8-78D22B0C1B97}" type="slidenum">
              <a:rPr lang="zh-CN" altLang="en-US" smtClean="0">
                <a:latin typeface="+mn-lt"/>
                <a:cs typeface="+mn-ea"/>
                <a:sym typeface="+mn-lt"/>
              </a:rPr>
              <a:t>16</a:t>
            </a:fld>
            <a:endParaRPr lang="zh-CN" altLang="en-US">
              <a:latin typeface="+mn-lt"/>
              <a:cs typeface="+mn-ea"/>
              <a:sym typeface="+mn-lt"/>
            </a:endParaRPr>
          </a:p>
        </p:txBody>
      </p:sp>
      <p:sp>
        <p:nvSpPr>
          <p:cNvPr id="3" name="椭圆 2"/>
          <p:cNvSpPr/>
          <p:nvPr>
            <p:custDataLst>
              <p:tags r:id="rId1"/>
            </p:custDataLst>
          </p:nvPr>
        </p:nvSpPr>
        <p:spPr>
          <a:xfrm>
            <a:off x="5365115" y="1380490"/>
            <a:ext cx="613410" cy="620395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5524500" y="1506855"/>
            <a:ext cx="555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A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6080125" y="15068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9 = 0+9</a:t>
            </a:r>
          </a:p>
        </p:txBody>
      </p:sp>
      <p:sp>
        <p:nvSpPr>
          <p:cNvPr id="11" name="椭圆 10"/>
          <p:cNvSpPr/>
          <p:nvPr>
            <p:custDataLst>
              <p:tags r:id="rId4"/>
            </p:custDataLst>
          </p:nvPr>
        </p:nvSpPr>
        <p:spPr>
          <a:xfrm>
            <a:off x="3515995" y="2452370"/>
            <a:ext cx="613410" cy="620395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椭圆 11"/>
          <p:cNvSpPr/>
          <p:nvPr>
            <p:custDataLst>
              <p:tags r:id="rId5"/>
            </p:custDataLst>
          </p:nvPr>
        </p:nvSpPr>
        <p:spPr>
          <a:xfrm>
            <a:off x="7214235" y="2452370"/>
            <a:ext cx="613410" cy="620395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3662680" y="2578100"/>
            <a:ext cx="466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B</a:t>
            </a: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7389495" y="257810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C</a:t>
            </a:r>
          </a:p>
        </p:txBody>
      </p:sp>
      <p:sp>
        <p:nvSpPr>
          <p:cNvPr id="16" name="椭圆 15"/>
          <p:cNvSpPr/>
          <p:nvPr>
            <p:custDataLst>
              <p:tags r:id="rId8"/>
            </p:custDataLst>
          </p:nvPr>
        </p:nvSpPr>
        <p:spPr>
          <a:xfrm>
            <a:off x="6326505" y="3523615"/>
            <a:ext cx="613410" cy="620395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4226560" y="2578100"/>
            <a:ext cx="1137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13 = 8+5</a:t>
            </a:r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7936865" y="2578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11 = 5+6</a:t>
            </a:r>
          </a:p>
        </p:txBody>
      </p:sp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7012305" y="36499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12 = 8+4</a:t>
            </a:r>
          </a:p>
        </p:txBody>
      </p:sp>
      <p:sp>
        <p:nvSpPr>
          <p:cNvPr id="21" name="文本框 20"/>
          <p:cNvSpPr txBox="1"/>
          <p:nvPr>
            <p:custDataLst>
              <p:tags r:id="rId12"/>
            </p:custDataLst>
          </p:nvPr>
        </p:nvSpPr>
        <p:spPr>
          <a:xfrm>
            <a:off x="6522085" y="3649980"/>
            <a:ext cx="353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E</a:t>
            </a:r>
          </a:p>
        </p:txBody>
      </p:sp>
      <p:cxnSp>
        <p:nvCxnSpPr>
          <p:cNvPr id="24" name="直接连接符 23"/>
          <p:cNvCxnSpPr>
            <a:stCxn id="3" idx="3"/>
          </p:cNvCxnSpPr>
          <p:nvPr>
            <p:custDataLst>
              <p:tags r:id="rId13"/>
            </p:custDataLst>
          </p:nvPr>
        </p:nvCxnSpPr>
        <p:spPr>
          <a:xfrm flipH="1">
            <a:off x="4054475" y="1910080"/>
            <a:ext cx="1400175" cy="6292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endCxn id="12" idx="1"/>
          </p:cNvCxnSpPr>
          <p:nvPr>
            <p:custDataLst>
              <p:tags r:id="rId14"/>
            </p:custDataLst>
          </p:nvPr>
        </p:nvCxnSpPr>
        <p:spPr>
          <a:xfrm>
            <a:off x="5923280" y="1904365"/>
            <a:ext cx="1380490" cy="6388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2" idx="3"/>
          </p:cNvCxnSpPr>
          <p:nvPr>
            <p:custDataLst>
              <p:tags r:id="rId15"/>
            </p:custDataLst>
          </p:nvPr>
        </p:nvCxnSpPr>
        <p:spPr>
          <a:xfrm flipH="1">
            <a:off x="6848475" y="2981960"/>
            <a:ext cx="455295" cy="6007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lang="en-US" altLang="zh-CN" sz="3600" baseline="30000" dirty="0">
                <a:latin typeface="+mn-lt"/>
                <a:ea typeface="+mn-ea"/>
                <a:cs typeface="+mn-ea"/>
                <a:sym typeface="+mn-lt"/>
              </a:rPr>
              <a:t>*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搜索示例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fld id="{2515AB8F-1C56-49E9-90C8-78D22B0C1B97}" type="slidenum">
              <a:rPr lang="zh-CN" altLang="en-US" smtClean="0">
                <a:latin typeface="+mn-lt"/>
                <a:cs typeface="+mn-ea"/>
                <a:sym typeface="+mn-lt"/>
              </a:rPr>
              <a:t>17</a:t>
            </a:fld>
            <a:endParaRPr lang="zh-CN" altLang="en-US">
              <a:latin typeface="+mn-lt"/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365115" y="1380490"/>
            <a:ext cx="613410" cy="620395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24500" y="1506855"/>
            <a:ext cx="555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A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080125" y="15068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9 = 0+9</a:t>
            </a:r>
          </a:p>
        </p:txBody>
      </p:sp>
      <p:sp>
        <p:nvSpPr>
          <p:cNvPr id="11" name="椭圆 10"/>
          <p:cNvSpPr/>
          <p:nvPr/>
        </p:nvSpPr>
        <p:spPr>
          <a:xfrm>
            <a:off x="3515995" y="2452370"/>
            <a:ext cx="613410" cy="620395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7214235" y="2452370"/>
            <a:ext cx="613410" cy="620395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662680" y="2578100"/>
            <a:ext cx="466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B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389495" y="257810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C</a:t>
            </a:r>
          </a:p>
        </p:txBody>
      </p:sp>
      <p:sp>
        <p:nvSpPr>
          <p:cNvPr id="15" name="椭圆 14"/>
          <p:cNvSpPr/>
          <p:nvPr/>
        </p:nvSpPr>
        <p:spPr>
          <a:xfrm>
            <a:off x="5365115" y="4594860"/>
            <a:ext cx="613410" cy="620395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6326505" y="3523615"/>
            <a:ext cx="613410" cy="620395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226560" y="2578100"/>
            <a:ext cx="1137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13 = 8+5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936865" y="2578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11 = 5+6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012305" y="36499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12 = 8+4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522085" y="3649980"/>
            <a:ext cx="353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E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5488940" y="4721860"/>
            <a:ext cx="381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F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231890" y="4825365"/>
            <a:ext cx="1252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17 = 17+0</a:t>
            </a:r>
          </a:p>
        </p:txBody>
      </p:sp>
      <p:cxnSp>
        <p:nvCxnSpPr>
          <p:cNvPr id="24" name="直接连接符 23"/>
          <p:cNvCxnSpPr>
            <a:stCxn id="3" idx="3"/>
          </p:cNvCxnSpPr>
          <p:nvPr/>
        </p:nvCxnSpPr>
        <p:spPr>
          <a:xfrm flipH="1">
            <a:off x="4054475" y="1910080"/>
            <a:ext cx="1400175" cy="6292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endCxn id="12" idx="1"/>
          </p:cNvCxnSpPr>
          <p:nvPr/>
        </p:nvCxnSpPr>
        <p:spPr>
          <a:xfrm>
            <a:off x="5923280" y="1904365"/>
            <a:ext cx="1380490" cy="6388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2" idx="3"/>
          </p:cNvCxnSpPr>
          <p:nvPr/>
        </p:nvCxnSpPr>
        <p:spPr>
          <a:xfrm flipH="1">
            <a:off x="6848475" y="2981960"/>
            <a:ext cx="455295" cy="6007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16" idx="3"/>
          </p:cNvCxnSpPr>
          <p:nvPr/>
        </p:nvCxnSpPr>
        <p:spPr>
          <a:xfrm flipH="1">
            <a:off x="5904865" y="4053205"/>
            <a:ext cx="511175" cy="6540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lang="en-US" altLang="zh-CN" sz="3600" baseline="30000" dirty="0">
                <a:latin typeface="+mn-lt"/>
                <a:ea typeface="+mn-ea"/>
                <a:cs typeface="+mn-ea"/>
                <a:sym typeface="+mn-lt"/>
              </a:rPr>
              <a:t>*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搜索示例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fld id="{2515AB8F-1C56-49E9-90C8-78D22B0C1B97}" type="slidenum">
              <a:rPr lang="zh-CN" altLang="en-US" smtClean="0">
                <a:latin typeface="+mn-lt"/>
                <a:cs typeface="+mn-ea"/>
                <a:sym typeface="+mn-lt"/>
              </a:rPr>
              <a:t>18</a:t>
            </a:fld>
            <a:endParaRPr lang="zh-CN" altLang="en-US">
              <a:latin typeface="+mn-lt"/>
              <a:cs typeface="+mn-ea"/>
              <a:sym typeface="+mn-lt"/>
            </a:endParaRPr>
          </a:p>
        </p:txBody>
      </p:sp>
      <p:sp>
        <p:nvSpPr>
          <p:cNvPr id="3" name="椭圆 2"/>
          <p:cNvSpPr/>
          <p:nvPr>
            <p:custDataLst>
              <p:tags r:id="rId1"/>
            </p:custDataLst>
          </p:nvPr>
        </p:nvSpPr>
        <p:spPr>
          <a:xfrm>
            <a:off x="5365115" y="1380490"/>
            <a:ext cx="613410" cy="620395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5524500" y="1506855"/>
            <a:ext cx="555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A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6080125" y="15068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9 = 0+9</a:t>
            </a:r>
          </a:p>
        </p:txBody>
      </p:sp>
      <p:sp>
        <p:nvSpPr>
          <p:cNvPr id="11" name="椭圆 10"/>
          <p:cNvSpPr/>
          <p:nvPr>
            <p:custDataLst>
              <p:tags r:id="rId4"/>
            </p:custDataLst>
          </p:nvPr>
        </p:nvSpPr>
        <p:spPr>
          <a:xfrm>
            <a:off x="3515995" y="2452370"/>
            <a:ext cx="613410" cy="620395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椭圆 11"/>
          <p:cNvSpPr/>
          <p:nvPr>
            <p:custDataLst>
              <p:tags r:id="rId5"/>
            </p:custDataLst>
          </p:nvPr>
        </p:nvSpPr>
        <p:spPr>
          <a:xfrm>
            <a:off x="7214235" y="2452370"/>
            <a:ext cx="613410" cy="620395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3662680" y="2578100"/>
            <a:ext cx="466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B</a:t>
            </a: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7389495" y="257810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C</a:t>
            </a:r>
          </a:p>
        </p:txBody>
      </p:sp>
      <p:sp>
        <p:nvSpPr>
          <p:cNvPr id="15" name="椭圆 14"/>
          <p:cNvSpPr/>
          <p:nvPr>
            <p:custDataLst>
              <p:tags r:id="rId8"/>
            </p:custDataLst>
          </p:nvPr>
        </p:nvSpPr>
        <p:spPr>
          <a:xfrm>
            <a:off x="5365115" y="4594860"/>
            <a:ext cx="613410" cy="620395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>
            <p:custDataLst>
              <p:tags r:id="rId9"/>
            </p:custDataLst>
          </p:nvPr>
        </p:nvSpPr>
        <p:spPr>
          <a:xfrm>
            <a:off x="6326505" y="3523615"/>
            <a:ext cx="613410" cy="620395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>
            <p:custDataLst>
              <p:tags r:id="rId10"/>
            </p:custDataLst>
          </p:nvPr>
        </p:nvSpPr>
        <p:spPr>
          <a:xfrm>
            <a:off x="4226560" y="2578100"/>
            <a:ext cx="1137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13 = 8+5</a:t>
            </a:r>
          </a:p>
        </p:txBody>
      </p:sp>
      <p:sp>
        <p:nvSpPr>
          <p:cNvPr id="19" name="文本框 18"/>
          <p:cNvSpPr txBox="1"/>
          <p:nvPr>
            <p:custDataLst>
              <p:tags r:id="rId11"/>
            </p:custDataLst>
          </p:nvPr>
        </p:nvSpPr>
        <p:spPr>
          <a:xfrm>
            <a:off x="7936865" y="2578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11 = 5+6</a:t>
            </a:r>
          </a:p>
        </p:txBody>
      </p:sp>
      <p:sp>
        <p:nvSpPr>
          <p:cNvPr id="20" name="文本框 19"/>
          <p:cNvSpPr txBox="1"/>
          <p:nvPr>
            <p:custDataLst>
              <p:tags r:id="rId12"/>
            </p:custDataLst>
          </p:nvPr>
        </p:nvSpPr>
        <p:spPr>
          <a:xfrm>
            <a:off x="7012305" y="36499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12 = 8+4</a:t>
            </a:r>
          </a:p>
        </p:txBody>
      </p:sp>
      <p:sp>
        <p:nvSpPr>
          <p:cNvPr id="21" name="文本框 20"/>
          <p:cNvSpPr txBox="1"/>
          <p:nvPr>
            <p:custDataLst>
              <p:tags r:id="rId13"/>
            </p:custDataLst>
          </p:nvPr>
        </p:nvSpPr>
        <p:spPr>
          <a:xfrm>
            <a:off x="6522085" y="3649980"/>
            <a:ext cx="353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E</a:t>
            </a:r>
          </a:p>
        </p:txBody>
      </p:sp>
      <p:sp>
        <p:nvSpPr>
          <p:cNvPr id="22" name="文本框 21"/>
          <p:cNvSpPr txBox="1"/>
          <p:nvPr>
            <p:custDataLst>
              <p:tags r:id="rId14"/>
            </p:custDataLst>
          </p:nvPr>
        </p:nvSpPr>
        <p:spPr>
          <a:xfrm>
            <a:off x="5488940" y="4721860"/>
            <a:ext cx="381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F</a:t>
            </a:r>
          </a:p>
        </p:txBody>
      </p:sp>
      <p:sp>
        <p:nvSpPr>
          <p:cNvPr id="23" name="文本框 22"/>
          <p:cNvSpPr txBox="1"/>
          <p:nvPr>
            <p:custDataLst>
              <p:tags r:id="rId15"/>
            </p:custDataLst>
          </p:nvPr>
        </p:nvSpPr>
        <p:spPr>
          <a:xfrm>
            <a:off x="6231890" y="4825365"/>
            <a:ext cx="1252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cs typeface="+mn-ea"/>
                <a:sym typeface="+mn-lt"/>
              </a:rPr>
              <a:t>17 = 17+0</a:t>
            </a:r>
          </a:p>
        </p:txBody>
      </p:sp>
      <p:cxnSp>
        <p:nvCxnSpPr>
          <p:cNvPr id="24" name="直接连接符 23"/>
          <p:cNvCxnSpPr>
            <a:stCxn id="3" idx="3"/>
          </p:cNvCxnSpPr>
          <p:nvPr>
            <p:custDataLst>
              <p:tags r:id="rId16"/>
            </p:custDataLst>
          </p:nvPr>
        </p:nvCxnSpPr>
        <p:spPr>
          <a:xfrm flipH="1">
            <a:off x="4054475" y="1910080"/>
            <a:ext cx="1400175" cy="6292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endCxn id="12" idx="1"/>
          </p:cNvCxnSpPr>
          <p:nvPr>
            <p:custDataLst>
              <p:tags r:id="rId17"/>
            </p:custDataLst>
          </p:nvPr>
        </p:nvCxnSpPr>
        <p:spPr>
          <a:xfrm>
            <a:off x="5923280" y="1904365"/>
            <a:ext cx="1380490" cy="6388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2" idx="3"/>
          </p:cNvCxnSpPr>
          <p:nvPr>
            <p:custDataLst>
              <p:tags r:id="rId18"/>
            </p:custDataLst>
          </p:nvPr>
        </p:nvCxnSpPr>
        <p:spPr>
          <a:xfrm flipH="1">
            <a:off x="6848475" y="2981960"/>
            <a:ext cx="455295" cy="6007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16" idx="3"/>
          </p:cNvCxnSpPr>
          <p:nvPr>
            <p:custDataLst>
              <p:tags r:id="rId19"/>
            </p:custDataLst>
          </p:nvPr>
        </p:nvCxnSpPr>
        <p:spPr>
          <a:xfrm flipH="1">
            <a:off x="5904865" y="4053205"/>
            <a:ext cx="511175" cy="6540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9A843-D829-49C2-A01A-4B7D9BD52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lang="en-US" altLang="zh-CN" sz="3600" baseline="30000" dirty="0">
                <a:latin typeface="+mn-lt"/>
                <a:ea typeface="+mn-ea"/>
                <a:cs typeface="+mn-ea"/>
                <a:sym typeface="+mn-lt"/>
              </a:rPr>
              <a:t>*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最优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吗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？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A21381-93E7-4696-AA8D-3C561D27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fld id="{2515AB8F-1C56-49E9-90C8-78D22B0C1B97}" type="slidenum">
              <a:rPr lang="zh-CN" altLang="en-US" smtClean="0">
                <a:latin typeface="+mn-lt"/>
                <a:cs typeface="+mn-ea"/>
                <a:sym typeface="+mn-lt"/>
              </a:rPr>
              <a:t>19</a:t>
            </a:fld>
            <a:endParaRPr lang="zh-CN" altLang="en-US">
              <a:latin typeface="+mn-lt"/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2DCC752-0205-09CC-3B1C-720F7B5F0F58}"/>
              </a:ext>
            </a:extLst>
          </p:cNvPr>
          <p:cNvGrpSpPr/>
          <p:nvPr/>
        </p:nvGrpSpPr>
        <p:grpSpPr>
          <a:xfrm>
            <a:off x="1816876" y="1213975"/>
            <a:ext cx="6162561" cy="2885410"/>
            <a:chOff x="2114550" y="1828800"/>
            <a:chExt cx="5506942" cy="2451987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33AE7493-19D7-B616-D704-DC64B16A8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2171700"/>
              <a:ext cx="457200" cy="428625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68579" tIns="34289" rIns="68579" bIns="34289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2100" b="1">
                  <a:latin typeface="+mn-lt"/>
                  <a:ea typeface="+mn-ea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8" name="AutoShape 4">
              <a:extLst>
                <a:ext uri="{FF2B5EF4-FFF2-40B4-BE49-F238E27FC236}">
                  <a16:creationId xmlns:a16="http://schemas.microsoft.com/office/drawing/2014/main" id="{3F529C7D-D181-85AD-5247-EF0D15E10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2250" y="3286125"/>
              <a:ext cx="457200" cy="428625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68579" tIns="34289" rIns="68579" bIns="34289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2100" b="1" dirty="0">
                  <a:latin typeface="+mn-lt"/>
                  <a:ea typeface="+mn-ea"/>
                  <a:cs typeface="+mn-ea"/>
                  <a:sym typeface="+mn-lt"/>
                </a:rPr>
                <a:t>G</a:t>
              </a:r>
            </a:p>
          </p:txBody>
        </p:sp>
        <p:sp>
          <p:nvSpPr>
            <p:cNvPr id="9" name="AutoShape 5">
              <a:extLst>
                <a:ext uri="{FF2B5EF4-FFF2-40B4-BE49-F238E27FC236}">
                  <a16:creationId xmlns:a16="http://schemas.microsoft.com/office/drawing/2014/main" id="{1B9DC376-7976-2021-8D5F-13EA6F83E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4550" y="3200400"/>
              <a:ext cx="457200" cy="428625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68579" tIns="34289" rIns="68579" bIns="34289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2100" b="1">
                  <a:latin typeface="+mn-lt"/>
                  <a:ea typeface="+mn-ea"/>
                  <a:cs typeface="+mn-ea"/>
                  <a:sym typeface="+mn-lt"/>
                </a:rPr>
                <a:t>S</a:t>
              </a: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10EB17B9-3239-8CB2-1EC9-A085C2849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4650" y="2171700"/>
              <a:ext cx="342900" cy="333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9" tIns="34289" rIns="68579" bIns="34289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100" b="1">
                  <a:latin typeface="+mn-lt"/>
                  <a:ea typeface="+mn-ea"/>
                  <a:cs typeface="+mn-ea"/>
                  <a:sym typeface="+mn-lt"/>
                </a:rPr>
                <a:t>1</a:t>
              </a: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F1B03B56-9F79-6AA6-455A-9F541649B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6450" y="2171700"/>
              <a:ext cx="342900" cy="333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9" tIns="34289" rIns="68579" bIns="34289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100" b="1">
                  <a:latin typeface="+mn-lt"/>
                  <a:ea typeface="+mn-ea"/>
                  <a:cs typeface="+mn-ea"/>
                  <a:sym typeface="+mn-lt"/>
                </a:rPr>
                <a:t>3</a:t>
              </a: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805682A6-9C5C-4762-7FFD-BFE64C3324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3324224"/>
              <a:ext cx="534892" cy="2550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79" tIns="34289" rIns="68579" bIns="34289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500" i="1" dirty="0">
                  <a:latin typeface="+mn-lt"/>
                  <a:ea typeface="+mn-ea"/>
                  <a:cs typeface="+mn-ea"/>
                  <a:sym typeface="+mn-lt"/>
                </a:rPr>
                <a:t>h = 0</a:t>
              </a:r>
            </a:p>
          </p:txBody>
        </p:sp>
        <p:sp>
          <p:nvSpPr>
            <p:cNvPr id="13" name="Text Box 15">
              <a:extLst>
                <a:ext uri="{FF2B5EF4-FFF2-40B4-BE49-F238E27FC236}">
                  <a16:creationId xmlns:a16="http://schemas.microsoft.com/office/drawing/2014/main" id="{46FCB22E-A7FB-DA31-0F01-C5BF860DDC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8900" y="3257550"/>
              <a:ext cx="571500" cy="2550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9" tIns="34289" rIns="68579" bIns="34289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500" i="1" dirty="0">
                  <a:latin typeface="+mn-lt"/>
                  <a:ea typeface="+mn-ea"/>
                  <a:cs typeface="+mn-ea"/>
                  <a:sym typeface="+mn-lt"/>
                </a:rPr>
                <a:t>h</a:t>
              </a:r>
              <a:r>
                <a:rPr lang="en-US" altLang="zh-CN" sz="1500" dirty="0">
                  <a:latin typeface="+mn-lt"/>
                  <a:ea typeface="+mn-ea"/>
                  <a:cs typeface="+mn-ea"/>
                  <a:sym typeface="+mn-lt"/>
                </a:rPr>
                <a:t> = </a:t>
              </a:r>
              <a:r>
                <a:rPr lang="en-US" altLang="zh-CN" sz="1500" i="1" dirty="0">
                  <a:latin typeface="+mn-lt"/>
                  <a:ea typeface="+mn-ea"/>
                  <a:cs typeface="+mn-ea"/>
                  <a:sym typeface="+mn-lt"/>
                </a:rPr>
                <a:t>7</a:t>
              </a:r>
            </a:p>
          </p:txBody>
        </p:sp>
        <p:cxnSp>
          <p:nvCxnSpPr>
            <p:cNvPr id="14" name="Curved Connector 25">
              <a:extLst>
                <a:ext uri="{FF2B5EF4-FFF2-40B4-BE49-F238E27FC236}">
                  <a16:creationId xmlns:a16="http://schemas.microsoft.com/office/drawing/2014/main" id="{8825FB27-4507-6D40-73DD-0449205F2B4D}"/>
                </a:ext>
              </a:extLst>
            </p:cNvPr>
            <p:cNvCxnSpPr>
              <a:stCxn id="9" idx="2"/>
              <a:endCxn id="8" idx="2"/>
            </p:cNvCxnSpPr>
            <p:nvPr/>
          </p:nvCxnSpPr>
          <p:spPr>
            <a:xfrm rot="16200000" flipH="1">
              <a:off x="4529137" y="1443038"/>
              <a:ext cx="85725" cy="4457700"/>
            </a:xfrm>
            <a:prstGeom prst="curvedConnector3">
              <a:avLst>
                <a:gd name="adj1" fmla="val 792305"/>
              </a:avLst>
            </a:prstGeom>
            <a:ln w="28575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urved Connector 27">
              <a:extLst>
                <a:ext uri="{FF2B5EF4-FFF2-40B4-BE49-F238E27FC236}">
                  <a16:creationId xmlns:a16="http://schemas.microsoft.com/office/drawing/2014/main" id="{1721CFD0-5D1D-946F-933F-4F37A4CC011A}"/>
                </a:ext>
              </a:extLst>
            </p:cNvPr>
            <p:cNvCxnSpPr>
              <a:stCxn id="9" idx="0"/>
              <a:endCxn id="7" idx="1"/>
            </p:cNvCxnSpPr>
            <p:nvPr/>
          </p:nvCxnSpPr>
          <p:spPr>
            <a:xfrm rot="5400000" flipH="1" flipV="1">
              <a:off x="2936081" y="1793082"/>
              <a:ext cx="814387" cy="2000250"/>
            </a:xfrm>
            <a:prstGeom prst="curvedConnector2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urved Connector 27">
              <a:extLst>
                <a:ext uri="{FF2B5EF4-FFF2-40B4-BE49-F238E27FC236}">
                  <a16:creationId xmlns:a16="http://schemas.microsoft.com/office/drawing/2014/main" id="{C7BBF762-EA57-AA83-4CA3-204D5D92085B}"/>
                </a:ext>
              </a:extLst>
            </p:cNvPr>
            <p:cNvCxnSpPr>
              <a:stCxn id="7" idx="3"/>
              <a:endCxn id="8" idx="0"/>
            </p:cNvCxnSpPr>
            <p:nvPr/>
          </p:nvCxnSpPr>
          <p:spPr>
            <a:xfrm>
              <a:off x="4800600" y="2386013"/>
              <a:ext cx="2000250" cy="900112"/>
            </a:xfrm>
            <a:prstGeom prst="curvedConnector2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 Box 12">
              <a:extLst>
                <a:ext uri="{FF2B5EF4-FFF2-40B4-BE49-F238E27FC236}">
                  <a16:creationId xmlns:a16="http://schemas.microsoft.com/office/drawing/2014/main" id="{FDE0B07A-C977-5478-46CA-67E0C00914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8458" y="3947319"/>
              <a:ext cx="1235487" cy="333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79" tIns="34289" rIns="68579" bIns="34289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100" b="1" dirty="0">
                  <a:latin typeface="+mn-lt"/>
                  <a:ea typeface="+mn-ea"/>
                  <a:cs typeface="+mn-ea"/>
                  <a:sym typeface="+mn-lt"/>
                </a:rPr>
                <a:t>5</a:t>
              </a:r>
            </a:p>
          </p:txBody>
        </p:sp>
        <p:sp>
          <p:nvSpPr>
            <p:cNvPr id="18" name="Text Box 9">
              <a:extLst>
                <a:ext uri="{FF2B5EF4-FFF2-40B4-BE49-F238E27FC236}">
                  <a16:creationId xmlns:a16="http://schemas.microsoft.com/office/drawing/2014/main" id="{9C6DD117-D507-09EF-F672-18CC3778F4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250" y="1828800"/>
              <a:ext cx="685800" cy="2550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9" tIns="34289" rIns="68579" bIns="34289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500" i="1" dirty="0">
                  <a:latin typeface="+mn-lt"/>
                  <a:ea typeface="+mn-ea"/>
                  <a:cs typeface="+mn-ea"/>
                  <a:sym typeface="+mn-lt"/>
                </a:rPr>
                <a:t>h = 6</a:t>
              </a:r>
            </a:p>
          </p:txBody>
        </p: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C06F0425-2A8F-3A80-8F91-7551294D4394}"/>
              </a:ext>
            </a:extLst>
          </p:cNvPr>
          <p:cNvSpPr/>
          <p:nvPr/>
        </p:nvSpPr>
        <p:spPr>
          <a:xfrm>
            <a:off x="2327603" y="4649583"/>
            <a:ext cx="7278329" cy="137513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0F9D5F44-054D-485B-A884-634C8568E1EE}"/>
              </a:ext>
            </a:extLst>
          </p:cNvPr>
          <p:cNvSpPr txBox="1">
            <a:spLocks/>
          </p:cNvSpPr>
          <p:nvPr/>
        </p:nvSpPr>
        <p:spPr>
          <a:xfrm>
            <a:off x="2890446" y="4750462"/>
            <a:ext cx="6152642" cy="12635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100" dirty="0">
                <a:latin typeface="+mn-lt"/>
                <a:cs typeface="+mn-ea"/>
                <a:sym typeface="+mn-lt"/>
              </a:rPr>
              <a:t>哪里出错了？</a:t>
            </a:r>
          </a:p>
          <a:p>
            <a:r>
              <a:rPr lang="en-US" altLang="zh-CN" sz="2100" dirty="0">
                <a:latin typeface="+mn-lt"/>
                <a:cs typeface="+mn-ea"/>
                <a:sym typeface="+mn-lt"/>
              </a:rPr>
              <a:t>实际坏目标成本 &lt; 估算的好目标成本</a:t>
            </a:r>
          </a:p>
          <a:p>
            <a:r>
              <a:rPr lang="en-US" altLang="zh-CN" sz="2100" dirty="0">
                <a:latin typeface="+mn-lt"/>
                <a:cs typeface="+mn-ea"/>
                <a:sym typeface="+mn-lt"/>
              </a:rPr>
              <a:t>我们需要估算值低于实际成本！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CFEF354-97E3-40C9-9F1F-050474B67600}"/>
              </a:ext>
            </a:extLst>
          </p:cNvPr>
          <p:cNvSpPr txBox="1"/>
          <p:nvPr/>
        </p:nvSpPr>
        <p:spPr>
          <a:xfrm>
            <a:off x="8346989" y="2625857"/>
            <a:ext cx="2743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</a:rPr>
              <a:t>用</a:t>
            </a:r>
            <a:r>
              <a:rPr lang="en-US" altLang="zh-CN" dirty="0">
                <a:latin typeface="+mn-ea"/>
              </a:rPr>
              <a:t>a</a:t>
            </a:r>
            <a:r>
              <a:rPr lang="zh-CN" altLang="en-US" dirty="0">
                <a:latin typeface="+mn-ea"/>
              </a:rPr>
              <a:t>星算法，那么就是</a:t>
            </a:r>
            <a:r>
              <a:rPr lang="en-US" altLang="zh-CN" dirty="0">
                <a:latin typeface="+mn-ea"/>
              </a:rPr>
              <a:t>s</a:t>
            </a:r>
            <a:r>
              <a:rPr lang="zh-CN" altLang="en-US" dirty="0">
                <a:latin typeface="+mn-ea"/>
              </a:rPr>
              <a:t>直接到</a:t>
            </a:r>
            <a:r>
              <a:rPr lang="en-US" altLang="zh-CN" dirty="0">
                <a:latin typeface="+mn-ea"/>
              </a:rPr>
              <a:t>g</a:t>
            </a:r>
            <a:r>
              <a:rPr lang="zh-CN" altLang="en-US" dirty="0">
                <a:latin typeface="+mn-ea"/>
              </a:rPr>
              <a:t>，而不是</a:t>
            </a:r>
            <a:r>
              <a:rPr lang="en-US" altLang="zh-CN" dirty="0">
                <a:latin typeface="+mn-ea"/>
              </a:rPr>
              <a:t>s</a:t>
            </a:r>
            <a:r>
              <a:rPr lang="zh-CN" altLang="en-US" dirty="0">
                <a:latin typeface="+mn-ea"/>
              </a:rPr>
              <a:t>到</a:t>
            </a:r>
            <a:r>
              <a:rPr lang="en-US" altLang="zh-CN" dirty="0">
                <a:latin typeface="+mn-ea"/>
              </a:rPr>
              <a:t>a</a:t>
            </a:r>
            <a:r>
              <a:rPr lang="zh-CN" altLang="en-US" dirty="0">
                <a:latin typeface="+mn-ea"/>
              </a:rPr>
              <a:t>到</a:t>
            </a:r>
            <a:r>
              <a:rPr lang="en-US" altLang="zh-CN" dirty="0">
                <a:latin typeface="+mn-ea"/>
              </a:rPr>
              <a:t>g</a:t>
            </a:r>
            <a:r>
              <a:rPr lang="zh-CN" altLang="en-US" dirty="0">
                <a:latin typeface="+mn-ea"/>
              </a:rPr>
              <a:t>，为什么呢？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5467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9A843-D829-49C2-A01A-4B7D9BD52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可接受的启发式方法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A21381-93E7-4696-AA8D-3C561D27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15AB8F-1C56-49E9-90C8-78D22B0C1B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0A775E4-3F1D-2FD6-A1CE-867986FBAB98}"/>
              </a:ext>
            </a:extLst>
          </p:cNvPr>
          <p:cNvSpPr txBox="1">
            <a:spLocks/>
          </p:cNvSpPr>
          <p:nvPr/>
        </p:nvSpPr>
        <p:spPr>
          <a:xfrm>
            <a:off x="1091255" y="1600200"/>
            <a:ext cx="10648461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启发式</a:t>
            </a:r>
            <a:r>
              <a:rPr kumimoji="0" lang="en-US" altLang="zh-CN" sz="2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h(n)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 是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可接受的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 如果对于每个节点</a:t>
            </a:r>
            <a:r>
              <a:rPr kumimoji="0" lang="en-US" altLang="zh-CN" sz="2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n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,</a:t>
            </a:r>
          </a:p>
          <a:p>
            <a:pPr lvl="0">
              <a:lnSpc>
                <a:spcPct val="80000"/>
              </a:lnSpc>
              <a:buNone/>
              <a:defRPr/>
            </a:pPr>
            <a:r>
              <a:rPr kumimoji="0" lang="en-US" altLang="zh-CN" sz="2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	h(n)≤ h</a:t>
            </a:r>
            <a:r>
              <a:rPr kumimoji="0" lang="en-US" altLang="zh-CN" sz="2600" b="0" i="1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*</a:t>
            </a:r>
            <a:r>
              <a:rPr kumimoji="0" lang="en-US" altLang="zh-CN" sz="2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(n)，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哪里</a:t>
            </a:r>
            <a:r>
              <a:rPr kumimoji="0" lang="en-US" altLang="zh-CN" sz="2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h</a:t>
            </a:r>
            <a:r>
              <a:rPr kumimoji="0" lang="en-US" altLang="zh-CN" sz="2600" b="0" i="1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*</a:t>
            </a:r>
            <a:r>
              <a:rPr kumimoji="0" lang="en-US" altLang="zh-CN" sz="2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(n)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 </a:t>
            </a:r>
            <a:r>
              <a:rPr kumimoji="0" lang="en-US" altLang="zh-CN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是从</a:t>
            </a:r>
            <a:r>
              <a:rPr lang="en-US" altLang="zh-CN" sz="2600" i="1" dirty="0">
                <a:solidFill>
                  <a:srgbClr val="000000"/>
                </a:solidFill>
                <a:latin typeface="Arial" panose="020B0604020202020204"/>
                <a:cs typeface="+mn-ea"/>
                <a:sym typeface="+mn-lt"/>
              </a:rPr>
              <a:t> n</a:t>
            </a:r>
            <a:r>
              <a:rPr kumimoji="0" lang="en-US" altLang="zh-CN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到达目标状态的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真实</a:t>
            </a:r>
            <a:r>
              <a:rPr kumimoji="0" lang="en-US" altLang="zh-CN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成本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.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可接受的启发式函数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从不过高估计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 达到目标的成本，即它是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乐观的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.</a:t>
            </a:r>
            <a:b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</a:b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  <a:p>
            <a:pPr lvl="0">
              <a:lnSpc>
                <a:spcPct val="80000"/>
              </a:lnSpc>
            </a:pPr>
            <a:r>
              <a:rPr kumimoji="0" lang="en-US" altLang="zh-CN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示例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：</a:t>
            </a:r>
            <a:r>
              <a:rPr lang="en-US" altLang="zh-CN" sz="2600" i="1" dirty="0">
                <a:cs typeface="+mn-ea"/>
                <a:sym typeface="+mn-lt"/>
              </a:rPr>
              <a:t> </a:t>
            </a:r>
            <a:r>
              <a:rPr lang="en-US" altLang="zh-CN" sz="2600" i="1" dirty="0" err="1">
                <a:cs typeface="+mn-ea"/>
                <a:sym typeface="+mn-lt"/>
              </a:rPr>
              <a:t>h</a:t>
            </a:r>
            <a:r>
              <a:rPr lang="en-US" altLang="zh-CN" sz="2600" i="1" baseline="-25000" dirty="0" err="1">
                <a:cs typeface="+mn-ea"/>
                <a:sym typeface="+mn-lt"/>
              </a:rPr>
              <a:t>SLD</a:t>
            </a:r>
            <a:r>
              <a:rPr lang="en-US" altLang="zh-CN" sz="2600" i="1" dirty="0">
                <a:cs typeface="+mn-ea"/>
                <a:sym typeface="+mn-lt"/>
              </a:rPr>
              <a:t>(n)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(从不高估实际的路途距离）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</a:b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定理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：</a:t>
            </a:r>
            <a:r>
              <a:rPr kumimoji="0" lang="en-US" altLang="zh-CN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如果</a:t>
            </a:r>
            <a:r>
              <a:rPr kumimoji="0" lang="en-US" altLang="zh-CN" sz="26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h</a:t>
            </a:r>
            <a:r>
              <a:rPr kumimoji="0" lang="en-US" altLang="zh-CN" sz="2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(n)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是可接受的，A</a:t>
            </a:r>
            <a:r>
              <a:rPr kumimoji="0" lang="en-US" altLang="zh-CN" sz="26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*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  是最优的</a:t>
            </a:r>
          </a:p>
        </p:txBody>
      </p:sp>
    </p:spTree>
    <p:extLst>
      <p:ext uri="{BB962C8B-B14F-4D97-AF65-F5344CB8AC3E}">
        <p14:creationId xmlns:p14="http://schemas.microsoft.com/office/powerpoint/2010/main" val="1107815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9A843-D829-49C2-A01A-4B7D9BD52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lang="en-US" altLang="zh-CN" baseline="30000" dirty="0">
                <a:latin typeface="+mn-lt"/>
                <a:ea typeface="+mn-ea"/>
                <a:cs typeface="+mn-ea"/>
                <a:sym typeface="+mn-lt"/>
              </a:rPr>
              <a:t>*</a:t>
            </a:r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的最优性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 (</a:t>
            </a:r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证明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A21381-93E7-4696-AA8D-3C561D27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fld id="{2515AB8F-1C56-49E9-90C8-78D22B0C1B97}" type="slidenum">
              <a:rPr lang="zh-CN" altLang="en-US" smtClean="0">
                <a:latin typeface="+mn-lt"/>
                <a:cs typeface="+mn-ea"/>
                <a:sym typeface="+mn-lt"/>
              </a:rPr>
              <a:t>21</a:t>
            </a:fld>
            <a:endParaRPr lang="zh-CN" altLang="en-US">
              <a:latin typeface="+mn-lt"/>
              <a:cs typeface="+mn-ea"/>
              <a:sym typeface="+mn-lt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287800B-95E9-1B3F-14D5-8E5E2539783F}"/>
              </a:ext>
            </a:extLst>
          </p:cNvPr>
          <p:cNvSpPr txBox="1">
            <a:spLocks/>
          </p:cNvSpPr>
          <p:nvPr/>
        </p:nvSpPr>
        <p:spPr>
          <a:xfrm>
            <a:off x="1091255" y="1144745"/>
            <a:ext cx="10230553" cy="5211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cs typeface="+mn-ea"/>
                <a:sym typeface="+mn-lt"/>
              </a:rPr>
              <a:t>假设存在一条次优目标路径</a:t>
            </a:r>
            <a:r>
              <a:rPr lang="en-US" altLang="zh-CN" sz="2000" i="1" dirty="0">
                <a:cs typeface="+mn-ea"/>
                <a:sym typeface="+mn-lt"/>
              </a:rPr>
              <a:t>G</a:t>
            </a:r>
            <a:r>
              <a:rPr lang="en-US" altLang="zh-CN" sz="2000" i="1" baseline="-25000" dirty="0">
                <a:cs typeface="+mn-ea"/>
                <a:sym typeface="+mn-lt"/>
              </a:rPr>
              <a:t>2</a:t>
            </a:r>
            <a:r>
              <a:rPr lang="en-US" altLang="zh-CN" sz="2000" i="1" dirty="0">
                <a:cs typeface="+mn-ea"/>
                <a:sym typeface="+mn-lt"/>
              </a:rPr>
              <a:t> </a:t>
            </a:r>
            <a:r>
              <a:rPr lang="en-US" altLang="zh-CN" sz="2000" dirty="0" err="1">
                <a:cs typeface="+mn-ea"/>
                <a:sym typeface="+mn-lt"/>
              </a:rPr>
              <a:t>已由A</a:t>
            </a:r>
            <a:r>
              <a:rPr lang="en-US" altLang="zh-CN" sz="2000" baseline="30000" dirty="0">
                <a:cs typeface="+mn-ea"/>
                <a:sym typeface="+mn-lt"/>
              </a:rPr>
              <a:t>*</a:t>
            </a:r>
            <a:r>
              <a:rPr lang="en-US" altLang="zh-CN" sz="2000" dirty="0" err="1">
                <a:cs typeface="+mn-ea"/>
                <a:sym typeface="+mn-lt"/>
              </a:rPr>
              <a:t>生成。让</a:t>
            </a:r>
            <a:r>
              <a:rPr lang="en-US" altLang="zh-CN" sz="2000" i="1" dirty="0" err="1">
                <a:cs typeface="+mn-ea"/>
                <a:sym typeface="+mn-lt"/>
              </a:rPr>
              <a:t>n</a:t>
            </a:r>
            <a:r>
              <a:rPr lang="en-US" altLang="zh-CN" sz="2000" dirty="0">
                <a:cs typeface="+mn-ea"/>
                <a:sym typeface="+mn-lt"/>
              </a:rPr>
              <a:t> </a:t>
            </a:r>
            <a:r>
              <a:rPr lang="en-US" altLang="zh-CN" sz="2000" dirty="0" err="1">
                <a:cs typeface="+mn-ea"/>
                <a:sym typeface="+mn-lt"/>
              </a:rPr>
              <a:t>是前沿中一个未展开的节点，使得</a:t>
            </a:r>
            <a:r>
              <a:rPr lang="en-US" altLang="zh-CN" sz="2000" i="1" dirty="0" err="1">
                <a:cs typeface="+mn-ea"/>
                <a:sym typeface="+mn-lt"/>
              </a:rPr>
              <a:t>n</a:t>
            </a:r>
            <a:r>
              <a:rPr lang="en-US" altLang="zh-CN" sz="2000" i="1" dirty="0">
                <a:cs typeface="+mn-ea"/>
                <a:sym typeface="+mn-lt"/>
              </a:rPr>
              <a:t> </a:t>
            </a:r>
            <a:r>
              <a:rPr lang="en-US" altLang="zh-CN" sz="2000" dirty="0" err="1">
                <a:cs typeface="+mn-ea"/>
                <a:sym typeface="+mn-lt"/>
              </a:rPr>
              <a:t>正处在通往最优目标的最短路径</a:t>
            </a:r>
            <a:r>
              <a:rPr lang="en-US" altLang="zh-CN" sz="2000" i="1" dirty="0" err="1">
                <a:cs typeface="+mn-ea"/>
                <a:sym typeface="+mn-lt"/>
              </a:rPr>
              <a:t>G</a:t>
            </a:r>
            <a:r>
              <a:rPr lang="en-US" altLang="zh-CN" sz="2000" dirty="0" err="1">
                <a:cs typeface="+mn-ea"/>
                <a:sym typeface="+mn-lt"/>
              </a:rPr>
              <a:t>上</a:t>
            </a:r>
            <a:r>
              <a:rPr lang="en-US" altLang="zh-CN" sz="2000" dirty="0">
                <a:cs typeface="+mn-ea"/>
                <a:sym typeface="+mn-lt"/>
              </a:rPr>
              <a:t>。</a:t>
            </a:r>
            <a:r>
              <a:rPr lang="en-US" altLang="zh-CN" sz="2000" dirty="0">
                <a:latin typeface="+mn-lt"/>
                <a:cs typeface="+mn-ea"/>
                <a:sym typeface="+mn-lt"/>
              </a:rPr>
              <a:t>
</a:t>
            </a:r>
          </a:p>
          <a:p>
            <a:endParaRPr lang="en-US" altLang="zh-CN" sz="2000" dirty="0">
              <a:latin typeface="+mn-lt"/>
              <a:cs typeface="+mn-ea"/>
              <a:sym typeface="+mn-lt"/>
            </a:endParaRPr>
          </a:p>
          <a:p>
            <a:endParaRPr lang="en-US" altLang="zh-CN" sz="2000" dirty="0">
              <a:latin typeface="+mn-lt"/>
              <a:cs typeface="+mn-ea"/>
              <a:sym typeface="+mn-lt"/>
            </a:endParaRPr>
          </a:p>
          <a:p>
            <a:endParaRPr lang="en-US" altLang="zh-CN" sz="2000" dirty="0">
              <a:latin typeface="+mn-lt"/>
              <a:cs typeface="+mn-ea"/>
              <a:sym typeface="+mn-lt"/>
            </a:endParaRPr>
          </a:p>
          <a:p>
            <a:endParaRPr lang="en-US" altLang="zh-CN" sz="2000" dirty="0">
              <a:latin typeface="+mn-lt"/>
              <a:cs typeface="+mn-ea"/>
              <a:sym typeface="+mn-lt"/>
            </a:endParaRPr>
          </a:p>
          <a:p>
            <a:pPr marL="0" indent="0">
              <a:buNone/>
            </a:pPr>
            <a:endParaRPr lang="en-US" altLang="zh-CN" sz="2000" dirty="0">
              <a:cs typeface="+mn-ea"/>
              <a:sym typeface="+mn-lt"/>
            </a:endParaRPr>
          </a:p>
          <a:p>
            <a:r>
              <a:rPr lang="en-US" altLang="zh-CN" sz="2000" dirty="0">
                <a:cs typeface="+mn-ea"/>
                <a:sym typeface="+mn-lt"/>
              </a:rPr>
              <a:t>f(G</a:t>
            </a:r>
            <a:r>
              <a:rPr lang="en-US" altLang="zh-CN" sz="2000" baseline="-25000" dirty="0">
                <a:cs typeface="+mn-ea"/>
                <a:sym typeface="+mn-lt"/>
              </a:rPr>
              <a:t>2</a:t>
            </a:r>
            <a:r>
              <a:rPr lang="en-US" altLang="zh-CN" sz="2000" dirty="0">
                <a:cs typeface="+mn-ea"/>
                <a:sym typeface="+mn-lt"/>
              </a:rPr>
              <a:t>)  = g(G</a:t>
            </a:r>
            <a:r>
              <a:rPr lang="en-US" altLang="zh-CN" sz="2000" baseline="-25000" dirty="0">
                <a:cs typeface="+mn-ea"/>
                <a:sym typeface="+mn-lt"/>
              </a:rPr>
              <a:t>2</a:t>
            </a:r>
            <a:r>
              <a:rPr lang="en-US" altLang="zh-CN" sz="2000" dirty="0">
                <a:cs typeface="+mn-ea"/>
                <a:sym typeface="+mn-lt"/>
              </a:rPr>
              <a:t>)		</a:t>
            </a:r>
            <a:r>
              <a:rPr lang="en-US" altLang="zh-CN" sz="2000" i="1" dirty="0">
                <a:cs typeface="+mn-ea"/>
                <a:sym typeface="+mn-lt"/>
              </a:rPr>
              <a:t>h</a:t>
            </a:r>
            <a:r>
              <a:rPr lang="en-US" altLang="zh-CN" sz="2000" dirty="0">
                <a:cs typeface="+mn-ea"/>
                <a:sym typeface="+mn-lt"/>
              </a:rPr>
              <a:t>(G</a:t>
            </a:r>
            <a:r>
              <a:rPr lang="en-US" altLang="zh-CN" sz="2000" baseline="-25000" dirty="0">
                <a:cs typeface="+mn-ea"/>
                <a:sym typeface="+mn-lt"/>
              </a:rPr>
              <a:t>2</a:t>
            </a:r>
            <a:r>
              <a:rPr lang="en-US" altLang="zh-CN" sz="2000" dirty="0">
                <a:cs typeface="+mn-ea"/>
                <a:sym typeface="+mn-lt"/>
              </a:rPr>
              <a:t>) = 0，因为h是可接纳的</a:t>
            </a:r>
          </a:p>
          <a:p>
            <a:r>
              <a:rPr lang="en-US" altLang="zh-CN" sz="2000" dirty="0">
                <a:cs typeface="+mn-ea"/>
                <a:sym typeface="+mn-lt"/>
              </a:rPr>
              <a:t>G(G</a:t>
            </a:r>
            <a:r>
              <a:rPr lang="en-US" altLang="zh-CN" sz="2000" baseline="-25000" dirty="0">
                <a:cs typeface="+mn-ea"/>
                <a:sym typeface="+mn-lt"/>
              </a:rPr>
              <a:t>2</a:t>
            </a:r>
            <a:r>
              <a:rPr lang="en-US" altLang="zh-CN" sz="2000" dirty="0">
                <a:cs typeface="+mn-ea"/>
                <a:sym typeface="+mn-lt"/>
              </a:rPr>
              <a:t>) &gt; g(G) 		因为G</a:t>
            </a:r>
            <a:r>
              <a:rPr lang="en-US" altLang="zh-CN" sz="2000" baseline="-25000" dirty="0">
                <a:cs typeface="+mn-ea"/>
                <a:sym typeface="+mn-lt"/>
              </a:rPr>
              <a:t>2</a:t>
            </a:r>
            <a:r>
              <a:rPr lang="en-US" altLang="zh-CN" sz="2000" dirty="0">
                <a:cs typeface="+mn-ea"/>
                <a:sym typeface="+mn-lt"/>
              </a:rPr>
              <a:t> </a:t>
            </a:r>
            <a:r>
              <a:rPr lang="en-US" altLang="zh-CN" sz="2000" dirty="0" err="1">
                <a:cs typeface="+mn-ea"/>
                <a:sym typeface="+mn-lt"/>
              </a:rPr>
              <a:t>次优，达到G的成本更低</a:t>
            </a:r>
            <a:r>
              <a:rPr lang="en-US" altLang="zh-CN" sz="2000" dirty="0">
                <a:cs typeface="+mn-ea"/>
                <a:sym typeface="+mn-lt"/>
              </a:rPr>
              <a:t>。</a:t>
            </a:r>
          </a:p>
          <a:p>
            <a:r>
              <a:rPr lang="en-US" altLang="zh-CN" sz="2000" dirty="0">
                <a:cs typeface="+mn-ea"/>
                <a:sym typeface="+mn-lt"/>
              </a:rPr>
              <a:t>f(G) = g(G) </a:t>
            </a:r>
            <a:r>
              <a:rPr lang="en-US" altLang="zh-CN" sz="2000" dirty="0" err="1">
                <a:cs typeface="+mn-ea"/>
                <a:sym typeface="+mn-lt"/>
              </a:rPr>
              <a:t>因为</a:t>
            </a:r>
            <a:r>
              <a:rPr lang="en-US" altLang="zh-CN" sz="2000" i="1" dirty="0" err="1">
                <a:cs typeface="+mn-ea"/>
                <a:sym typeface="+mn-lt"/>
              </a:rPr>
              <a:t>h</a:t>
            </a:r>
            <a:r>
              <a:rPr lang="en-US" altLang="zh-CN" sz="2000" dirty="0">
                <a:cs typeface="+mn-ea"/>
                <a:sym typeface="+mn-lt"/>
              </a:rPr>
              <a:t>(G) = 0</a:t>
            </a:r>
          </a:p>
          <a:p>
            <a:r>
              <a:rPr lang="en-US" altLang="zh-CN" sz="2000" dirty="0">
                <a:cs typeface="+mn-ea"/>
                <a:sym typeface="+mn-lt"/>
              </a:rPr>
              <a:t>f(G</a:t>
            </a:r>
            <a:r>
              <a:rPr lang="en-US" altLang="zh-CN" sz="2000" baseline="-25000" dirty="0">
                <a:cs typeface="+mn-ea"/>
                <a:sym typeface="+mn-lt"/>
              </a:rPr>
              <a:t>2</a:t>
            </a:r>
            <a:r>
              <a:rPr lang="en-US" altLang="zh-CN" sz="2000" dirty="0">
                <a:cs typeface="+mn-ea"/>
                <a:sym typeface="+mn-lt"/>
              </a:rPr>
              <a:t>)  &gt; f(G)	</a:t>
            </a:r>
            <a:r>
              <a:rPr lang="en-US" altLang="zh-CN" sz="2000" dirty="0" err="1">
                <a:cs typeface="+mn-ea"/>
                <a:sym typeface="+mn-lt"/>
              </a:rPr>
              <a:t>从上方</a:t>
            </a:r>
            <a:endParaRPr lang="en-US" altLang="zh-CN" sz="2000" dirty="0"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652357F-1C8F-53CD-DAAB-D88B726F0D0C}"/>
              </a:ext>
            </a:extLst>
          </p:cNvPr>
          <p:cNvGrpSpPr/>
          <p:nvPr/>
        </p:nvGrpSpPr>
        <p:grpSpPr>
          <a:xfrm>
            <a:off x="3986445" y="1853347"/>
            <a:ext cx="4028532" cy="2108539"/>
            <a:chOff x="3175970" y="495591"/>
            <a:chExt cx="5018729" cy="2638498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4BFF6D29-7994-9511-B5E9-8241554FCC13}"/>
                </a:ext>
              </a:extLst>
            </p:cNvPr>
            <p:cNvSpPr/>
            <p:nvPr/>
          </p:nvSpPr>
          <p:spPr>
            <a:xfrm>
              <a:off x="3175970" y="495591"/>
              <a:ext cx="5018729" cy="2638498"/>
            </a:xfrm>
            <a:prstGeom prst="roundRect">
              <a:avLst>
                <a:gd name="adj" fmla="val 3536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8" name="Picture 4" descr="astar-proof">
              <a:extLst>
                <a:ext uri="{FF2B5EF4-FFF2-40B4-BE49-F238E27FC236}">
                  <a16:creationId xmlns:a16="http://schemas.microsoft.com/office/drawing/2014/main" id="{A76DA0C5-78CB-0793-8B7E-DB5FDF0D8F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0221" y="717177"/>
              <a:ext cx="4590226" cy="2195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2A2958B3-9259-4BEF-AE3A-98467465DBAF}"/>
              </a:ext>
            </a:extLst>
          </p:cNvPr>
          <p:cNvSpPr txBox="1"/>
          <p:nvPr/>
        </p:nvSpPr>
        <p:spPr>
          <a:xfrm>
            <a:off x="9025968" y="2907617"/>
            <a:ext cx="1284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i="1" dirty="0">
                <a:solidFill>
                  <a:srgbClr val="FF0000"/>
                </a:solidFill>
                <a:cs typeface="+mn-ea"/>
                <a:sym typeface="+mn-lt"/>
              </a:rPr>
              <a:t>f(G</a:t>
            </a:r>
            <a:r>
              <a:rPr lang="en-US" altLang="zh-CN" sz="1800" i="1" baseline="-25000" dirty="0">
                <a:solidFill>
                  <a:srgbClr val="FF0000"/>
                </a:solidFill>
                <a:cs typeface="+mn-ea"/>
                <a:sym typeface="+mn-lt"/>
              </a:rPr>
              <a:t>2</a:t>
            </a:r>
            <a:r>
              <a:rPr lang="en-US" altLang="zh-CN" sz="1800" i="1" dirty="0">
                <a:solidFill>
                  <a:srgbClr val="FF0000"/>
                </a:solidFill>
                <a:cs typeface="+mn-ea"/>
                <a:sym typeface="+mn-lt"/>
              </a:rPr>
              <a:t>) &gt; f(n)</a:t>
            </a:r>
            <a:endParaRPr lang="en-US" altLang="zh-CN" sz="1800" dirty="0">
              <a:solidFill>
                <a:srgbClr val="FF000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75942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9A843-D829-49C2-A01A-4B7D9BD52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lang="en-US" altLang="zh-CN" baseline="30000" dirty="0">
                <a:latin typeface="+mn-lt"/>
                <a:ea typeface="+mn-ea"/>
                <a:cs typeface="+mn-ea"/>
                <a:sym typeface="+mn-lt"/>
              </a:rPr>
              <a:t>*</a:t>
            </a:r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的最优性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 (</a:t>
            </a:r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证明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A21381-93E7-4696-AA8D-3C561D27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fld id="{2515AB8F-1C56-49E9-90C8-78D22B0C1B97}" type="slidenum">
              <a:rPr lang="zh-CN" altLang="en-US" smtClean="0">
                <a:latin typeface="+mn-lt"/>
                <a:cs typeface="+mn-ea"/>
                <a:sym typeface="+mn-lt"/>
              </a:rPr>
              <a:t>22</a:t>
            </a:fld>
            <a:endParaRPr lang="zh-CN" altLang="en-US">
              <a:latin typeface="+mn-lt"/>
              <a:cs typeface="+mn-ea"/>
              <a:sym typeface="+mn-lt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287800B-95E9-1B3F-14D5-8E5E2539783F}"/>
              </a:ext>
            </a:extLst>
          </p:cNvPr>
          <p:cNvSpPr txBox="1">
            <a:spLocks/>
          </p:cNvSpPr>
          <p:nvPr/>
        </p:nvSpPr>
        <p:spPr>
          <a:xfrm>
            <a:off x="1091255" y="1144745"/>
            <a:ext cx="10230553" cy="5211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cs typeface="+mn-ea"/>
                <a:sym typeface="+mn-lt"/>
              </a:rPr>
              <a:t>假设存在一条次优目标路径</a:t>
            </a:r>
            <a:r>
              <a:rPr lang="en-US" altLang="zh-CN" sz="2000" i="1" dirty="0">
                <a:cs typeface="+mn-ea"/>
                <a:sym typeface="+mn-lt"/>
              </a:rPr>
              <a:t>G</a:t>
            </a:r>
            <a:r>
              <a:rPr lang="en-US" altLang="zh-CN" sz="2000" i="1" baseline="-25000" dirty="0">
                <a:cs typeface="+mn-ea"/>
                <a:sym typeface="+mn-lt"/>
              </a:rPr>
              <a:t>2</a:t>
            </a:r>
            <a:r>
              <a:rPr lang="en-US" altLang="zh-CN" sz="2000" i="1" dirty="0">
                <a:cs typeface="+mn-ea"/>
                <a:sym typeface="+mn-lt"/>
              </a:rPr>
              <a:t> </a:t>
            </a:r>
            <a:r>
              <a:rPr lang="en-US" altLang="zh-CN" sz="2000" dirty="0" err="1">
                <a:cs typeface="+mn-ea"/>
                <a:sym typeface="+mn-lt"/>
              </a:rPr>
              <a:t>已由A</a:t>
            </a:r>
            <a:r>
              <a:rPr lang="en-US" altLang="zh-CN" sz="2000" baseline="30000" dirty="0">
                <a:cs typeface="+mn-ea"/>
                <a:sym typeface="+mn-lt"/>
              </a:rPr>
              <a:t>*</a:t>
            </a:r>
            <a:r>
              <a:rPr lang="en-US" altLang="zh-CN" sz="2000" dirty="0" err="1">
                <a:cs typeface="+mn-ea"/>
                <a:sym typeface="+mn-lt"/>
              </a:rPr>
              <a:t>生成。让</a:t>
            </a:r>
            <a:r>
              <a:rPr lang="en-US" altLang="zh-CN" sz="2000" i="1" dirty="0" err="1">
                <a:cs typeface="+mn-ea"/>
                <a:sym typeface="+mn-lt"/>
              </a:rPr>
              <a:t>n</a:t>
            </a:r>
            <a:r>
              <a:rPr lang="en-US" altLang="zh-CN" sz="2000" dirty="0">
                <a:cs typeface="+mn-ea"/>
                <a:sym typeface="+mn-lt"/>
              </a:rPr>
              <a:t> </a:t>
            </a:r>
            <a:r>
              <a:rPr lang="en-US" altLang="zh-CN" sz="2000" dirty="0" err="1">
                <a:cs typeface="+mn-ea"/>
                <a:sym typeface="+mn-lt"/>
              </a:rPr>
              <a:t>是前沿中一个未展开的节点，使得</a:t>
            </a:r>
            <a:r>
              <a:rPr lang="en-US" altLang="zh-CN" sz="2000" i="1" dirty="0" err="1">
                <a:cs typeface="+mn-ea"/>
                <a:sym typeface="+mn-lt"/>
              </a:rPr>
              <a:t>n</a:t>
            </a:r>
            <a:r>
              <a:rPr lang="en-US" altLang="zh-CN" sz="2000" i="1" dirty="0">
                <a:cs typeface="+mn-ea"/>
                <a:sym typeface="+mn-lt"/>
              </a:rPr>
              <a:t> </a:t>
            </a:r>
            <a:r>
              <a:rPr lang="en-US" altLang="zh-CN" sz="2000" dirty="0" err="1">
                <a:cs typeface="+mn-ea"/>
                <a:sym typeface="+mn-lt"/>
              </a:rPr>
              <a:t>正处在通往最优目标的最短路径</a:t>
            </a:r>
            <a:r>
              <a:rPr lang="en-US" altLang="zh-CN" sz="2000" i="1" dirty="0" err="1">
                <a:cs typeface="+mn-ea"/>
                <a:sym typeface="+mn-lt"/>
              </a:rPr>
              <a:t>G</a:t>
            </a:r>
            <a:r>
              <a:rPr lang="en-US" altLang="zh-CN" sz="2000" dirty="0" err="1">
                <a:cs typeface="+mn-ea"/>
                <a:sym typeface="+mn-lt"/>
              </a:rPr>
              <a:t>上</a:t>
            </a:r>
            <a:r>
              <a:rPr lang="en-US" altLang="zh-CN" sz="2000" dirty="0">
                <a:cs typeface="+mn-ea"/>
                <a:sym typeface="+mn-lt"/>
              </a:rPr>
              <a:t>。</a:t>
            </a:r>
            <a:r>
              <a:rPr lang="en-US" altLang="zh-CN" sz="2000" dirty="0">
                <a:latin typeface="+mn-lt"/>
                <a:cs typeface="+mn-ea"/>
                <a:sym typeface="+mn-lt"/>
              </a:rPr>
              <a:t>
</a:t>
            </a:r>
          </a:p>
          <a:p>
            <a:endParaRPr lang="en-US" altLang="zh-CN" sz="2000" dirty="0">
              <a:latin typeface="+mn-lt"/>
              <a:cs typeface="+mn-ea"/>
              <a:sym typeface="+mn-lt"/>
            </a:endParaRPr>
          </a:p>
          <a:p>
            <a:endParaRPr lang="en-US" altLang="zh-CN" sz="2000" dirty="0">
              <a:latin typeface="+mn-lt"/>
              <a:cs typeface="+mn-ea"/>
              <a:sym typeface="+mn-lt"/>
            </a:endParaRPr>
          </a:p>
          <a:p>
            <a:endParaRPr lang="en-US" altLang="zh-CN" sz="2000" dirty="0">
              <a:latin typeface="+mn-lt"/>
              <a:cs typeface="+mn-ea"/>
              <a:sym typeface="+mn-lt"/>
            </a:endParaRPr>
          </a:p>
          <a:p>
            <a:endParaRPr lang="en-US" altLang="zh-CN" sz="2000" dirty="0">
              <a:latin typeface="+mn-lt"/>
              <a:cs typeface="+mn-ea"/>
              <a:sym typeface="+mn-lt"/>
            </a:endParaRPr>
          </a:p>
          <a:p>
            <a:pPr marL="0" indent="0">
              <a:buNone/>
            </a:pPr>
            <a:endParaRPr lang="en-US" altLang="zh-CN" sz="2000" dirty="0">
              <a:cs typeface="+mn-ea"/>
              <a:sym typeface="+mn-lt"/>
            </a:endParaRPr>
          </a:p>
          <a:p>
            <a:r>
              <a:rPr lang="en-US" altLang="zh-CN" sz="2000" dirty="0">
                <a:cs typeface="+mn-ea"/>
                <a:sym typeface="+mn-lt"/>
              </a:rPr>
              <a:t>f(G</a:t>
            </a:r>
            <a:r>
              <a:rPr lang="en-US" altLang="zh-CN" sz="2000" baseline="-25000" dirty="0">
                <a:cs typeface="+mn-ea"/>
                <a:sym typeface="+mn-lt"/>
              </a:rPr>
              <a:t>2</a:t>
            </a:r>
            <a:r>
              <a:rPr lang="en-US" altLang="zh-CN" sz="2000" dirty="0">
                <a:cs typeface="+mn-ea"/>
                <a:sym typeface="+mn-lt"/>
              </a:rPr>
              <a:t>)	&gt; f(G) 		</a:t>
            </a:r>
            <a:r>
              <a:rPr lang="en-US" altLang="zh-CN" sz="2000" dirty="0" err="1">
                <a:cs typeface="+mn-ea"/>
                <a:sym typeface="+mn-lt"/>
              </a:rPr>
              <a:t>来自上方</a:t>
            </a:r>
            <a:endParaRPr lang="en-US" altLang="zh-CN" sz="2000" dirty="0">
              <a:cs typeface="+mn-ea"/>
              <a:sym typeface="+mn-lt"/>
            </a:endParaRPr>
          </a:p>
          <a:p>
            <a:r>
              <a:rPr lang="en-US" altLang="zh-CN" sz="2000" dirty="0">
                <a:cs typeface="+mn-ea"/>
                <a:sym typeface="+mn-lt"/>
              </a:rPr>
              <a:t>h(n)≤ h*(n) </a:t>
            </a:r>
            <a:r>
              <a:rPr lang="en-US" altLang="zh-CN" sz="2000" dirty="0" err="1">
                <a:cs typeface="+mn-ea"/>
                <a:sym typeface="+mn-lt"/>
              </a:rPr>
              <a:t>因为</a:t>
            </a:r>
            <a:r>
              <a:rPr lang="en-US" altLang="zh-CN" sz="2000" dirty="0">
                <a:cs typeface="+mn-ea"/>
                <a:sym typeface="+mn-lt"/>
              </a:rPr>
              <a:t> h </a:t>
            </a:r>
            <a:r>
              <a:rPr lang="en-US" altLang="zh-CN" sz="2000" dirty="0" err="1">
                <a:cs typeface="+mn-ea"/>
                <a:sym typeface="+mn-lt"/>
              </a:rPr>
              <a:t>是可采纳的，所以</a:t>
            </a:r>
            <a:r>
              <a:rPr lang="en-US" altLang="zh-CN" sz="2000" dirty="0">
                <a:cs typeface="+mn-ea"/>
                <a:sym typeface="+mn-lt"/>
              </a:rPr>
              <a:t> h* </a:t>
            </a:r>
            <a:r>
              <a:rPr lang="en-US" altLang="zh-CN" sz="2000" dirty="0" err="1">
                <a:cs typeface="+mn-ea"/>
                <a:sym typeface="+mn-lt"/>
              </a:rPr>
              <a:t>是最小距离</a:t>
            </a:r>
            <a:r>
              <a:rPr lang="en-US" altLang="zh-CN" sz="2000" dirty="0">
                <a:cs typeface="+mn-ea"/>
                <a:sym typeface="+mn-lt"/>
              </a:rPr>
              <a:t>。</a:t>
            </a:r>
          </a:p>
          <a:p>
            <a:r>
              <a:rPr lang="en-US" altLang="zh-CN" sz="2000" dirty="0">
                <a:cs typeface="+mn-ea"/>
                <a:sym typeface="+mn-lt"/>
              </a:rPr>
              <a:t>g(n) + h(n)≤ g(n) + h</a:t>
            </a:r>
            <a:r>
              <a:rPr lang="en-US" altLang="zh-CN" sz="2000" baseline="30000" dirty="0">
                <a:cs typeface="+mn-ea"/>
                <a:sym typeface="+mn-lt"/>
              </a:rPr>
              <a:t>*</a:t>
            </a:r>
            <a:r>
              <a:rPr lang="en-US" altLang="zh-CN" sz="2000" dirty="0">
                <a:cs typeface="+mn-ea"/>
                <a:sym typeface="+mn-lt"/>
              </a:rPr>
              <a:t>(n)</a:t>
            </a:r>
          </a:p>
          <a:p>
            <a:r>
              <a:rPr lang="en-US" altLang="zh-CN" sz="2000" dirty="0">
                <a:cs typeface="+mn-ea"/>
                <a:sym typeface="+mn-lt"/>
              </a:rPr>
              <a:t>f(n)≤ f(G)</a:t>
            </a:r>
          </a:p>
          <a:p>
            <a:r>
              <a:rPr lang="en-US" altLang="zh-CN" sz="2000" dirty="0" err="1">
                <a:cs typeface="+mn-ea"/>
                <a:sym typeface="+mn-lt"/>
              </a:rPr>
              <a:t>因此</a:t>
            </a:r>
            <a:r>
              <a:rPr lang="en-US" altLang="zh-CN" sz="2000" i="1" dirty="0" err="1">
                <a:cs typeface="+mn-ea"/>
                <a:sym typeface="+mn-lt"/>
              </a:rPr>
              <a:t>f</a:t>
            </a:r>
            <a:r>
              <a:rPr lang="en-US" altLang="zh-CN" sz="2000" i="1" dirty="0">
                <a:cs typeface="+mn-ea"/>
                <a:sym typeface="+mn-lt"/>
              </a:rPr>
              <a:t>(G</a:t>
            </a:r>
            <a:r>
              <a:rPr lang="en-US" altLang="zh-CN" sz="2000" i="1" baseline="-25000" dirty="0">
                <a:cs typeface="+mn-ea"/>
                <a:sym typeface="+mn-lt"/>
              </a:rPr>
              <a:t>2</a:t>
            </a:r>
            <a:r>
              <a:rPr lang="en-US" altLang="zh-CN" sz="2000" i="1" dirty="0">
                <a:cs typeface="+mn-ea"/>
                <a:sym typeface="+mn-lt"/>
              </a:rPr>
              <a:t>) &gt; f(n)</a:t>
            </a:r>
            <a:r>
              <a:rPr lang="en-US" altLang="zh-CN" sz="2000" dirty="0">
                <a:cs typeface="+mn-ea"/>
                <a:sym typeface="+mn-lt"/>
              </a:rPr>
              <a:t>，A</a:t>
            </a:r>
            <a:r>
              <a:rPr lang="en-US" altLang="zh-CN" sz="2000" baseline="30000" dirty="0">
                <a:cs typeface="+mn-ea"/>
                <a:sym typeface="+mn-lt"/>
              </a:rPr>
              <a:t>*</a:t>
            </a:r>
            <a:r>
              <a:rPr lang="en-US" altLang="zh-CN" sz="2000" dirty="0">
                <a:cs typeface="+mn-ea"/>
                <a:sym typeface="+mn-lt"/>
              </a:rPr>
              <a:t> 永远不会选择G</a:t>
            </a:r>
            <a:r>
              <a:rPr lang="en-US" altLang="zh-CN" sz="2000" baseline="-25000" dirty="0">
                <a:cs typeface="+mn-ea"/>
                <a:sym typeface="+mn-lt"/>
              </a:rPr>
              <a:t>2</a:t>
            </a:r>
            <a:r>
              <a:rPr lang="en-US" altLang="zh-CN" sz="2000" dirty="0">
                <a:cs typeface="+mn-ea"/>
                <a:sym typeface="+mn-lt"/>
              </a:rPr>
              <a:t> </a:t>
            </a:r>
            <a:r>
              <a:rPr lang="en-US" altLang="zh-CN" sz="2000" dirty="0" err="1">
                <a:cs typeface="+mn-ea"/>
                <a:sym typeface="+mn-lt"/>
              </a:rPr>
              <a:t>用于扩展</a:t>
            </a:r>
            <a:endParaRPr lang="zh-CN" altLang="en-US" sz="2000" dirty="0"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652357F-1C8F-53CD-DAAB-D88B726F0D0C}"/>
              </a:ext>
            </a:extLst>
          </p:cNvPr>
          <p:cNvGrpSpPr/>
          <p:nvPr/>
        </p:nvGrpSpPr>
        <p:grpSpPr>
          <a:xfrm>
            <a:off x="3986445" y="1853347"/>
            <a:ext cx="4028532" cy="2108539"/>
            <a:chOff x="3175970" y="495591"/>
            <a:chExt cx="5018729" cy="2638498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4BFF6D29-7994-9511-B5E9-8241554FCC13}"/>
                </a:ext>
              </a:extLst>
            </p:cNvPr>
            <p:cNvSpPr/>
            <p:nvPr/>
          </p:nvSpPr>
          <p:spPr>
            <a:xfrm>
              <a:off x="3175970" y="495591"/>
              <a:ext cx="5018729" cy="2638498"/>
            </a:xfrm>
            <a:prstGeom prst="roundRect">
              <a:avLst>
                <a:gd name="adj" fmla="val 3536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8" name="Picture 4" descr="astar-proof">
              <a:extLst>
                <a:ext uri="{FF2B5EF4-FFF2-40B4-BE49-F238E27FC236}">
                  <a16:creationId xmlns:a16="http://schemas.microsoft.com/office/drawing/2014/main" id="{A76DA0C5-78CB-0793-8B7E-DB5FDF0D8F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0221" y="717177"/>
              <a:ext cx="4590226" cy="2195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2A2958B3-9259-4BEF-AE3A-98467465DBAF}"/>
              </a:ext>
            </a:extLst>
          </p:cNvPr>
          <p:cNvSpPr txBox="1"/>
          <p:nvPr/>
        </p:nvSpPr>
        <p:spPr>
          <a:xfrm>
            <a:off x="9025968" y="2907617"/>
            <a:ext cx="1284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i="1" dirty="0">
                <a:solidFill>
                  <a:srgbClr val="FF0000"/>
                </a:solidFill>
                <a:cs typeface="+mn-ea"/>
                <a:sym typeface="+mn-lt"/>
              </a:rPr>
              <a:t>f(G</a:t>
            </a:r>
            <a:r>
              <a:rPr lang="en-US" altLang="zh-CN" sz="1800" i="1" baseline="-25000" dirty="0">
                <a:solidFill>
                  <a:srgbClr val="FF0000"/>
                </a:solidFill>
                <a:cs typeface="+mn-ea"/>
                <a:sym typeface="+mn-lt"/>
              </a:rPr>
              <a:t>2</a:t>
            </a:r>
            <a:r>
              <a:rPr lang="en-US" altLang="zh-CN" sz="1800" i="1" dirty="0">
                <a:solidFill>
                  <a:srgbClr val="FF0000"/>
                </a:solidFill>
                <a:cs typeface="+mn-ea"/>
                <a:sym typeface="+mn-lt"/>
              </a:rPr>
              <a:t>) &gt; f(n)</a:t>
            </a:r>
            <a:endParaRPr lang="en-US" altLang="zh-CN" sz="1800" dirty="0">
              <a:solidFill>
                <a:srgbClr val="FF000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48509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9A843-D829-49C2-A01A-4B7D9BD52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一致的启发式方法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A21381-93E7-4696-AA8D-3C561D27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15AB8F-1C56-49E9-90C8-78D22B0C1B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3C51E2C-421E-8142-82C9-5A6E70AE1B4C}"/>
              </a:ext>
            </a:extLst>
          </p:cNvPr>
          <p:cNvGrpSpPr/>
          <p:nvPr/>
        </p:nvGrpSpPr>
        <p:grpSpPr>
          <a:xfrm>
            <a:off x="7913673" y="1805136"/>
            <a:ext cx="2691580" cy="3247727"/>
            <a:chOff x="7868265" y="2949677"/>
            <a:chExt cx="2389238" cy="2713704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59925D90-B3FF-7A51-2625-B1573A779C95}"/>
                </a:ext>
              </a:extLst>
            </p:cNvPr>
            <p:cNvSpPr/>
            <p:nvPr/>
          </p:nvSpPr>
          <p:spPr>
            <a:xfrm>
              <a:off x="7868265" y="2949677"/>
              <a:ext cx="2389238" cy="2713704"/>
            </a:xfrm>
            <a:prstGeom prst="roundRect">
              <a:avLst>
                <a:gd name="adj" fmla="val 3536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endParaRPr>
            </a:p>
          </p:txBody>
        </p:sp>
        <p:pic>
          <p:nvPicPr>
            <p:cNvPr id="8" name="Picture 4" descr="consistency">
              <a:extLst>
                <a:ext uri="{FF2B5EF4-FFF2-40B4-BE49-F238E27FC236}">
                  <a16:creationId xmlns:a16="http://schemas.microsoft.com/office/drawing/2014/main" id="{49CBA358-01DA-323F-AC7D-56BFC7312A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68780" y="3249691"/>
              <a:ext cx="1988207" cy="2113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Rectangle 3">
            <a:extLst>
              <a:ext uri="{FF2B5EF4-FFF2-40B4-BE49-F238E27FC236}">
                <a16:creationId xmlns:a16="http://schemas.microsoft.com/office/drawing/2014/main" id="{095F1FF3-361F-A2FA-C15F-0A678E088DE7}"/>
              </a:ext>
            </a:extLst>
          </p:cNvPr>
          <p:cNvSpPr txBox="1">
            <a:spLocks/>
          </p:cNvSpPr>
          <p:nvPr/>
        </p:nvSpPr>
        <p:spPr>
          <a:xfrm>
            <a:off x="1091255" y="1168603"/>
            <a:ext cx="10398770" cy="51877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70000"/>
              </a:lnSpc>
            </a:pPr>
            <a:r>
              <a:rPr kumimoji="0" lang="en-US" altLang="zh-CN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启发式是</a:t>
            </a:r>
            <a:r>
              <a:rPr kumimoji="0" lang="en-US" altLang="zh-CN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一致的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：</a:t>
            </a:r>
            <a:r>
              <a:rPr kumimoji="0" lang="en-US" altLang="zh-CN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如果对于每个节点</a:t>
            </a:r>
            <a:r>
              <a:rPr kumimoji="0" lang="en-US" altLang="zh-CN" sz="19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n</a:t>
            </a:r>
            <a:r>
              <a:rPr kumimoji="0" lang="en-US" altLang="zh-CN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，每个由</a:t>
            </a:r>
            <a:r>
              <a:rPr lang="en-US" altLang="zh-CN" sz="1900" i="1" dirty="0">
                <a:solidFill>
                  <a:srgbClr val="000000"/>
                </a:solidFill>
                <a:latin typeface="Arial" panose="020B0604020202020204"/>
                <a:cs typeface="+mn-ea"/>
                <a:sym typeface="+mn-lt"/>
              </a:rPr>
              <a:t>n</a:t>
            </a:r>
            <a:r>
              <a:rPr kumimoji="0" lang="en-US" altLang="zh-CN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任何行动</a:t>
            </a:r>
            <a:r>
              <a:rPr lang="en-US" altLang="zh-CN" sz="1900" i="1" dirty="0">
                <a:solidFill>
                  <a:srgbClr val="000000"/>
                </a:solidFill>
                <a:latin typeface="Arial" panose="020B0604020202020204"/>
                <a:cs typeface="+mn-ea"/>
                <a:sym typeface="+mn-lt"/>
              </a:rPr>
              <a:t>a</a:t>
            </a:r>
            <a:r>
              <a:rPr kumimoji="0" lang="en-US" altLang="zh-CN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生成</a:t>
            </a:r>
            <a:r>
              <a:rPr kumimoji="0" lang="zh-CN" altLang="en-US" sz="1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的</a:t>
            </a:r>
            <a:r>
              <a:rPr lang="en-US" altLang="zh-CN" sz="1900" i="1" dirty="0">
                <a:cs typeface="+mn-ea"/>
                <a:sym typeface="+mn-lt"/>
              </a:rPr>
              <a:t>n‘</a:t>
            </a:r>
            <a:r>
              <a:rPr lang="en-US" altLang="zh-CN" sz="1900" dirty="0">
                <a:solidFill>
                  <a:srgbClr val="000000"/>
                </a:solidFill>
                <a:latin typeface="Arial" panose="020B0604020202020204"/>
                <a:cs typeface="+mn-ea"/>
                <a:sym typeface="+mn-lt"/>
              </a:rPr>
              <a:t>, </a:t>
            </a:r>
            <a:r>
              <a:rPr lang="zh-CN" altLang="en-US" sz="1900" dirty="0">
                <a:solidFill>
                  <a:srgbClr val="000000"/>
                </a:solidFill>
                <a:latin typeface="Arial" panose="020B0604020202020204"/>
                <a:ea typeface="微软雅黑"/>
                <a:cs typeface="+mn-ea"/>
                <a:sym typeface="+mn-lt"/>
              </a:rPr>
              <a:t>则有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	</a:t>
            </a:r>
            <a:r>
              <a:rPr kumimoji="0" lang="en-US" altLang="zh-CN" sz="1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h(n)≤ c(n, a, n') + h(n')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
</a:t>
            </a: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直觉：总比走n’强。</a:t>
            </a:r>
            <a:b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</a:b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如果</a:t>
            </a:r>
            <a:r>
              <a:rPr kumimoji="0" lang="en-US" altLang="zh-CN" sz="1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h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 是一致的，我们有</a:t>
            </a: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f(n') = g(n') + h(n') = g(n) + c(n, a, n') + h(n')</a:t>
            </a: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          ≥g(n) + h(n) = f(n)</a:t>
            </a:r>
            <a:endParaRPr lang="en-US" altLang="zh-CN" sz="1900" dirty="0">
              <a:solidFill>
                <a:srgbClr val="000000"/>
              </a:solidFill>
              <a:latin typeface="Arial" panose="020B0604020202020204"/>
              <a:ea typeface="微软雅黑"/>
              <a:cs typeface="+mn-ea"/>
              <a:sym typeface="+mn-l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即。</a:t>
            </a:r>
            <a:r>
              <a:rPr kumimoji="0" lang="en-US" altLang="zh-CN" sz="19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f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(n)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 沿任何路径均不递减。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32204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9A843-D829-49C2-A01A-4B7D9BD52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一致的启发式方法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A21381-93E7-4696-AA8D-3C561D27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15AB8F-1C56-49E9-90C8-78D22B0C1B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95F1FF3-361F-A2FA-C15F-0A678E088DE7}"/>
              </a:ext>
            </a:extLst>
          </p:cNvPr>
          <p:cNvSpPr txBox="1">
            <a:spLocks/>
          </p:cNvSpPr>
          <p:nvPr/>
        </p:nvSpPr>
        <p:spPr>
          <a:xfrm>
            <a:off x="1091255" y="1168603"/>
            <a:ext cx="10398770" cy="51877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每个一致的启发式函数都是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可接受的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。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zh-CN" sz="1900" dirty="0">
              <a:solidFill>
                <a:srgbClr val="000000"/>
              </a:solidFill>
              <a:latin typeface="Arial" panose="020B0604020202020204"/>
              <a:ea typeface="微软雅黑"/>
              <a:cs typeface="+mn-ea"/>
              <a:sym typeface="+mn-l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如果</a:t>
            </a:r>
            <a:r>
              <a:rPr kumimoji="0" lang="en-US" altLang="zh-CN" sz="19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h</a:t>
            </a:r>
            <a:r>
              <a:rPr kumimoji="0" lang="en-US" altLang="zh-CN" sz="1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(n)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 是一致的，A</a:t>
            </a:r>
            <a:r>
              <a:rPr kumimoji="0" lang="en-US" altLang="zh-CN" sz="1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*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 是最优的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我们首次到达某个状态时，它将处于一条最优路径上，因此我们无需再将该状态重新添加到待处理队列中，也无需更改“已到达”表中的条目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022935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9A843-D829-49C2-A01A-4B7D9BD52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A的最优性</a:t>
            </a:r>
            <a:r>
              <a:rPr lang="en-US" altLang="zh-CN" sz="3600" baseline="30000" dirty="0">
                <a:latin typeface="+mn-lt"/>
                <a:ea typeface="+mn-ea"/>
                <a:cs typeface="+mn-ea"/>
                <a:sym typeface="+mn-lt"/>
              </a:rPr>
              <a:t>*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A21381-93E7-4696-AA8D-3C561D27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15AB8F-1C56-49E9-90C8-78D22B0C1B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AD55541-B3FB-AF79-742A-1C39DC494E49}"/>
              </a:ext>
            </a:extLst>
          </p:cNvPr>
          <p:cNvSpPr txBox="1">
            <a:spLocks/>
          </p:cNvSpPr>
          <p:nvPr/>
        </p:nvSpPr>
        <p:spPr>
          <a:xfrm>
            <a:off x="1091255" y="1556672"/>
            <a:ext cx="10006906" cy="22926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A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*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 按递增顺序展开节点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 值（这就是A*的工作原理）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
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逐渐添加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f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-节点的轮廓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轮廓</a:t>
            </a:r>
            <a:r>
              <a:rPr kumimoji="0" lang="en-US" altLang="zh-CN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 具有所有节点与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f=f</a:t>
            </a:r>
            <a:r>
              <a:rPr kumimoji="0" lang="en-US" altLang="zh-CN" sz="20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i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，其中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f</a:t>
            </a:r>
            <a:r>
              <a:rPr kumimoji="0" lang="en-US" altLang="zh-CN" sz="20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i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 &lt; f</a:t>
            </a:r>
            <a:r>
              <a:rPr kumimoji="0" lang="en-US" altLang="zh-CN" sz="20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i+1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
</a:t>
            </a:r>
          </a:p>
        </p:txBody>
      </p:sp>
      <p:pic>
        <p:nvPicPr>
          <p:cNvPr id="8" name="Picture 4" descr="f-circles">
            <a:extLst>
              <a:ext uri="{FF2B5EF4-FFF2-40B4-BE49-F238E27FC236}">
                <a16:creationId xmlns:a16="http://schemas.microsoft.com/office/drawing/2014/main" id="{7D94EF24-B7D2-C746-592C-8D0B7FB1A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808" y="3535719"/>
            <a:ext cx="5257800" cy="268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775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9A843-D829-49C2-A01A-4B7D9BD52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加权的A*搜索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A21381-93E7-4696-AA8D-3C561D27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15AB8F-1C56-49E9-90C8-78D22B0C1B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95F1FF3-361F-A2FA-C15F-0A678E088DE7}"/>
              </a:ext>
            </a:extLst>
          </p:cNvPr>
          <p:cNvSpPr txBox="1">
            <a:spLocks/>
          </p:cNvSpPr>
          <p:nvPr/>
        </p:nvSpPr>
        <p:spPr>
          <a:xfrm>
            <a:off x="1091255" y="1168603"/>
            <a:ext cx="10398770" cy="51877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如果h是可采纳的，A*能够找到最佳路径，但会耗费大量时间和空间。</a:t>
            </a: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f(n) = g(n) + W * h(n)，其中 W &gt; 1</a:t>
            </a: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加权搜索将已到达状态的轮廓聚焦于目标。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46763E5-C245-464A-B567-4377C3AC99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877" y="3034582"/>
            <a:ext cx="8032296" cy="314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3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9A843-D829-49C2-A01A-4B7D9BD52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>
            <a:normAutofit/>
          </a:bodyPr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比较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A21381-93E7-4696-AA8D-3C561D27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fld id="{2515AB8F-1C56-49E9-90C8-78D22B0C1B97}" type="slidenum">
              <a:rPr lang="zh-CN" altLang="en-US" smtClean="0">
                <a:latin typeface="+mn-lt"/>
                <a:cs typeface="+mn-ea"/>
                <a:sym typeface="+mn-lt"/>
              </a:rPr>
              <a:t>27</a:t>
            </a:fld>
            <a:endParaRPr lang="zh-CN" altLang="en-US">
              <a:latin typeface="+mn-lt"/>
              <a:cs typeface="+mn-ea"/>
              <a:sym typeface="+mn-l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2D4635A-93BE-444D-9432-B6EDBB15E6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421" y="1836231"/>
            <a:ext cx="10800225" cy="262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4305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50" name="Freeform 2"/>
          <p:cNvSpPr/>
          <p:nvPr/>
        </p:nvSpPr>
        <p:spPr bwMode="auto">
          <a:xfrm>
            <a:off x="9250359" y="2112965"/>
            <a:ext cx="965200" cy="828675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</p:txBody>
      </p:sp>
      <p:sp>
        <p:nvSpPr>
          <p:cNvPr id="821251" name="Freeform 3"/>
          <p:cNvSpPr/>
          <p:nvPr/>
        </p:nvSpPr>
        <p:spPr bwMode="auto">
          <a:xfrm>
            <a:off x="8866184" y="2112968"/>
            <a:ext cx="1725613" cy="1470025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</p:txBody>
      </p:sp>
      <p:sp>
        <p:nvSpPr>
          <p:cNvPr id="821252" name="Freeform 4"/>
          <p:cNvSpPr/>
          <p:nvPr/>
        </p:nvSpPr>
        <p:spPr bwMode="auto">
          <a:xfrm>
            <a:off x="9070978" y="2119313"/>
            <a:ext cx="1323975" cy="1162051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 err="1">
                <a:latin typeface="+mn-lt"/>
                <a:ea typeface="+mn-ea"/>
                <a:cs typeface="+mn-ea"/>
                <a:sym typeface="+mn-lt"/>
              </a:rPr>
              <a:t>迭代加深</a:t>
            </a:r>
            <a:endParaRPr lang="en-US" sz="3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0" name="Content Placeholder 29"/>
          <p:cNvSpPr>
            <a:spLocks noGrp="1"/>
          </p:cNvSpPr>
          <p:nvPr>
            <p:ph idx="4294967295"/>
          </p:nvPr>
        </p:nvSpPr>
        <p:spPr>
          <a:xfrm>
            <a:off x="1086647" y="1383553"/>
            <a:ext cx="6908800" cy="4729163"/>
          </a:xfrm>
        </p:spPr>
        <p:txBody>
          <a:bodyPr/>
          <a:lstStyle/>
          <a:p>
            <a:r>
              <a:rPr lang="en-US" sz="2800" dirty="0">
                <a:solidFill>
                  <a:srgbClr val="515223"/>
                </a:solidFill>
                <a:latin typeface="+mn-lt"/>
                <a:cs typeface="+mn-ea"/>
                <a:sym typeface="+mn-lt"/>
              </a:rPr>
              <a:t>思路：利用BFS的时间/浅层解法优势，获得DFS的空间优势。</a:t>
            </a:r>
          </a:p>
          <a:p>
            <a:pPr lvl="1"/>
            <a:r>
              <a:rPr lang="en-US" sz="2400" dirty="0">
                <a:latin typeface="+mn-lt"/>
                <a:cs typeface="+mn-ea"/>
                <a:sym typeface="+mn-lt"/>
              </a:rPr>
              <a:t>以深度限制为1运行DFS。如果无解……</a:t>
            </a:r>
          </a:p>
          <a:p>
            <a:pPr lvl="1"/>
            <a:r>
              <a:rPr lang="en-US" sz="2400" dirty="0">
                <a:latin typeface="+mn-lt"/>
                <a:cs typeface="+mn-ea"/>
                <a:sym typeface="+mn-lt"/>
              </a:rPr>
              <a:t>以深度限制为2运行DFS。若无解……</a:t>
            </a:r>
          </a:p>
          <a:p>
            <a:pPr lvl="1"/>
            <a:r>
              <a:rPr lang="en-US" sz="2400" dirty="0">
                <a:latin typeface="+mn-lt"/>
                <a:cs typeface="+mn-ea"/>
                <a:sym typeface="+mn-lt"/>
              </a:rPr>
              <a:t>以深度限制为3运行DFS……</a:t>
            </a:r>
          </a:p>
          <a:p>
            <a:pPr lvl="1"/>
            <a:endParaRPr lang="en-US" sz="2400" dirty="0">
              <a:latin typeface="+mn-lt"/>
              <a:cs typeface="+mn-ea"/>
              <a:sym typeface="+mn-lt"/>
            </a:endParaRPr>
          </a:p>
          <a:p>
            <a:r>
              <a:rPr lang="en-US" sz="2800" dirty="0">
                <a:solidFill>
                  <a:srgbClr val="515223"/>
                </a:solidFill>
                <a:latin typeface="+mn-lt"/>
                <a:cs typeface="+mn-ea"/>
                <a:sym typeface="+mn-lt"/>
              </a:rPr>
              <a:t>这不是很浪费、很冗余吗？</a:t>
            </a:r>
          </a:p>
          <a:p>
            <a:pPr lvl="1"/>
            <a:r>
              <a:rPr lang="en-US" sz="2400" dirty="0">
                <a:latin typeface="+mn-lt"/>
                <a:cs typeface="+mn-ea"/>
                <a:sym typeface="+mn-lt"/>
              </a:rPr>
              <a:t>一般来说，大部分工作都发生在搜索到的最低层级，所以还算不错！</a:t>
            </a:r>
          </a:p>
        </p:txBody>
      </p:sp>
      <p:sp>
        <p:nvSpPr>
          <p:cNvPr id="26679" name="Freeform 55"/>
          <p:cNvSpPr/>
          <p:nvPr/>
        </p:nvSpPr>
        <p:spPr bwMode="auto">
          <a:xfrm>
            <a:off x="8274051" y="2093912"/>
            <a:ext cx="2927351" cy="2554288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</p:txBody>
      </p:sp>
      <p:sp>
        <p:nvSpPr>
          <p:cNvPr id="26680" name="Oval 56"/>
          <p:cNvSpPr>
            <a:spLocks noChangeArrowheads="1"/>
          </p:cNvSpPr>
          <p:nvPr/>
        </p:nvSpPr>
        <p:spPr bwMode="auto">
          <a:xfrm>
            <a:off x="9628187" y="2024063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</p:txBody>
      </p:sp>
      <p:sp>
        <p:nvSpPr>
          <p:cNvPr id="26681" name="Oval 57"/>
          <p:cNvSpPr>
            <a:spLocks noChangeArrowheads="1"/>
          </p:cNvSpPr>
          <p:nvPr/>
        </p:nvSpPr>
        <p:spPr bwMode="auto">
          <a:xfrm>
            <a:off x="9396411" y="2449515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</p:txBody>
      </p:sp>
      <p:sp>
        <p:nvSpPr>
          <p:cNvPr id="26682" name="Oval 58"/>
          <p:cNvSpPr>
            <a:spLocks noChangeArrowheads="1"/>
          </p:cNvSpPr>
          <p:nvPr/>
        </p:nvSpPr>
        <p:spPr bwMode="auto">
          <a:xfrm>
            <a:off x="9872659" y="243998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</p:txBody>
      </p:sp>
      <p:sp>
        <p:nvSpPr>
          <p:cNvPr id="26683" name="Text Box 59"/>
          <p:cNvSpPr txBox="1">
            <a:spLocks noChangeArrowheads="1"/>
          </p:cNvSpPr>
          <p:nvPr/>
        </p:nvSpPr>
        <p:spPr bwMode="auto">
          <a:xfrm>
            <a:off x="9526589" y="2300291"/>
            <a:ext cx="274639" cy="6463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……</a:t>
            </a:r>
          </a:p>
        </p:txBody>
      </p:sp>
      <p:sp>
        <p:nvSpPr>
          <p:cNvPr id="26684" name="Freeform 60"/>
          <p:cNvSpPr/>
          <p:nvPr/>
        </p:nvSpPr>
        <p:spPr bwMode="auto">
          <a:xfrm>
            <a:off x="9509123" y="2254251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tailEnd type="triangle" w="sm" len="sm"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</p:txBody>
      </p:sp>
      <p:sp>
        <p:nvSpPr>
          <p:cNvPr id="26685" name="Text Box 61"/>
          <p:cNvSpPr txBox="1">
            <a:spLocks noChangeArrowheads="1"/>
          </p:cNvSpPr>
          <p:nvPr/>
        </p:nvSpPr>
        <p:spPr bwMode="auto">
          <a:xfrm>
            <a:off x="9910761" y="2052639"/>
            <a:ext cx="298451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b</a:t>
            </a:r>
          </a:p>
        </p:txBody>
      </p:sp>
      <p:sp>
        <p:nvSpPr>
          <p:cNvPr id="26686" name="Oval 62"/>
          <p:cNvSpPr>
            <a:spLocks noChangeArrowheads="1"/>
          </p:cNvSpPr>
          <p:nvPr/>
        </p:nvSpPr>
        <p:spPr bwMode="auto">
          <a:xfrm>
            <a:off x="10120311" y="3489325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</p:txBody>
      </p:sp>
      <p:sp>
        <p:nvSpPr>
          <p:cNvPr id="821312" name="Freeform 64"/>
          <p:cNvSpPr/>
          <p:nvPr/>
        </p:nvSpPr>
        <p:spPr bwMode="auto">
          <a:xfrm>
            <a:off x="9472614" y="2119315"/>
            <a:ext cx="511175" cy="419100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</a:ln>
        </p:spPr>
        <p:txBody>
          <a:bodyPr lIns="91432" tIns="45718" rIns="91432" bIns="4571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250" grpId="0" animBg="1"/>
      <p:bldP spid="821251" grpId="0" animBg="1"/>
      <p:bldP spid="821252" grpId="0" animBg="1"/>
      <p:bldP spid="8213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9A843-D829-49C2-A01A-4B7D9BD52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迭代加深A*搜索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A21381-93E7-4696-AA8D-3C561D27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15AB8F-1C56-49E9-90C8-78D22B0C1B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21128B-83D2-4B3B-9F04-B33C2AA9FD15}"/>
              </a:ext>
            </a:extLst>
          </p:cNvPr>
          <p:cNvSpPr txBox="1"/>
          <p:nvPr/>
        </p:nvSpPr>
        <p:spPr>
          <a:xfrm>
            <a:off x="1091255" y="1445754"/>
            <a:ext cx="943387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迭代加深（ID）：截止深度即为深度。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IDA* 的剪枝阈值是 f -成本。(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g+h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	在每次迭代中，截止值是上一次迭代中超过截止值的任意节点的最小f-代价。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04101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9A843-D829-49C2-A01A-4B7D9BD52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总结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A21381-93E7-4696-AA8D-3C561D27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15AB8F-1C56-49E9-90C8-78D22B0C1B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ea"/>
              <a:sym typeface="+mn-lt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E807C36-3240-9146-9073-03C2766202F4}"/>
              </a:ext>
            </a:extLst>
          </p:cNvPr>
          <p:cNvSpPr txBox="1">
            <a:spLocks/>
          </p:cNvSpPr>
          <p:nvPr/>
        </p:nvSpPr>
        <p:spPr>
          <a:xfrm>
            <a:off x="1091254" y="1475556"/>
            <a:ext cx="10287127" cy="4572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启发式函数用于估算最短路径的成本。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好的启发式方法可以显著降低搜索成本。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贪心最佳优先搜索扩展 h 值最低的节点。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不完整且并不总是最优的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A* 搜索扩展 g + h 值最低的节点。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完整且最优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同样具有最佳效率（直至决胜局）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可采纳的启发式方法可由松弛问题的精确解导出。</a:t>
            </a:r>
          </a:p>
        </p:txBody>
      </p:sp>
    </p:spTree>
    <p:extLst>
      <p:ext uri="{BB962C8B-B14F-4D97-AF65-F5344CB8AC3E}">
        <p14:creationId xmlns:p14="http://schemas.microsoft.com/office/powerpoint/2010/main" val="326097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95,&quot;left&quot;:276.85,&quot;top&quot;:108.7,&quot;width&quot;:668.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95,&quot;left&quot;:276.85,&quot;top&quot;:108.7,&quot;width&quot;:668.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95,&quot;left&quot;:276.85,&quot;top&quot;:108.7,&quot;width&quot;:668.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95,&quot;left&quot;:276.85,&quot;top&quot;:108.7,&quot;width&quot;:668.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95,&quot;left&quot;:276.85,&quot;top&quot;:108.7,&quot;width&quot;:668.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95,&quot;left&quot;:276.85,&quot;top&quot;:108.7,&quot;width&quot;:668.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95,&quot;left&quot;:276.85,&quot;top&quot;:108.7,&quot;width&quot;:668.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95,&quot;left&quot;:276.85,&quot;top&quot;:108.7,&quot;width&quot;:668.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95,&quot;left&quot;:276.85,&quot;top&quot;:108.7,&quot;width&quot;:668.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95,&quot;left&quot;:276.85,&quot;top&quot;:108.7,&quot;width&quot;:668.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95,&quot;left&quot;:276.85,&quot;top&quot;:108.7,&quot;width&quot;:668.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95,&quot;left&quot;:276.85,&quot;top&quot;:108.7,&quot;width&quot;:668.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95,&quot;left&quot;:276.85,&quot;top&quot;:108.7,&quot;width&quot;:668.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95,&quot;left&quot;:276.85,&quot;top&quot;:108.7,&quot;width&quot;:668.1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95,&quot;left&quot;:276.85,&quot;top&quot;:108.7,&quot;width&quot;:668.1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1.95,&quot;left&quot;:276.85,&quot;top&quot;:108.7,&quot;width&quot;:668.1}"/>
</p:tagLst>
</file>

<file path=ppt/theme/theme1.xml><?xml version="1.0" encoding="utf-8"?>
<a:theme xmlns:a="http://schemas.openxmlformats.org/drawingml/2006/main" name="Office 主题​​">
  <a:themeElements>
    <a:clrScheme name="S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05122"/>
      </a:accent1>
      <a:accent2>
        <a:srgbClr val="FDCA04"/>
      </a:accent2>
      <a:accent3>
        <a:srgbClr val="00529D"/>
      </a:accent3>
      <a:accent4>
        <a:srgbClr val="B01417"/>
      </a:accent4>
      <a:accent5>
        <a:srgbClr val="7F7611"/>
      </a:accent5>
      <a:accent6>
        <a:srgbClr val="5D6B70"/>
      </a:accent6>
      <a:hlink>
        <a:srgbClr val="868A8C"/>
      </a:hlink>
      <a:folHlink>
        <a:srgbClr val="C2C6C8"/>
      </a:folHlink>
    </a:clrScheme>
    <a:fontScheme name="nsf14e5z">
      <a:majorFont>
        <a:latin typeface="Arial" panose="020B06040202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nsf14e5z">
      <a:majorFont>
        <a:latin typeface="Arial" panose="020B06040202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S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05122"/>
      </a:accent1>
      <a:accent2>
        <a:srgbClr val="FDCA04"/>
      </a:accent2>
      <a:accent3>
        <a:srgbClr val="00529D"/>
      </a:accent3>
      <a:accent4>
        <a:srgbClr val="B01417"/>
      </a:accent4>
      <a:accent5>
        <a:srgbClr val="7F7611"/>
      </a:accent5>
      <a:accent6>
        <a:srgbClr val="5D6B70"/>
      </a:accent6>
      <a:hlink>
        <a:srgbClr val="868A8C"/>
      </a:hlink>
      <a:folHlink>
        <a:srgbClr val="C2C6C8"/>
      </a:folHlink>
    </a:clrScheme>
    <a:fontScheme name="ur0d410a">
      <a:majorFont>
        <a:latin typeface="Arial" panose="020B06040202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46489</TotalTime>
  <Words>1417</Words>
  <Application>Microsoft Office PowerPoint</Application>
  <PresentationFormat>宽屏</PresentationFormat>
  <Paragraphs>263</Paragraphs>
  <Slides>30</Slides>
  <Notes>15</Notes>
  <HiddenSlides>5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30</vt:i4>
      </vt:variant>
    </vt:vector>
  </HeadingPairs>
  <TitlesOfParts>
    <vt:vector size="40" baseType="lpstr">
      <vt:lpstr>Helvetica Regular</vt:lpstr>
      <vt:lpstr>等线</vt:lpstr>
      <vt:lpstr>微软雅黑</vt:lpstr>
      <vt:lpstr>Arial</vt:lpstr>
      <vt:lpstr>Cambria Math</vt:lpstr>
      <vt:lpstr>Helvetica</vt:lpstr>
      <vt:lpstr>Times New Roman</vt:lpstr>
      <vt:lpstr>Office 主题​​</vt:lpstr>
      <vt:lpstr>1_OfficePLUS</vt:lpstr>
      <vt:lpstr>1_Office 主题​​</vt:lpstr>
      <vt:lpstr>PowerPoint 演示文稿</vt:lpstr>
      <vt:lpstr>PowerPoint 演示文稿</vt:lpstr>
      <vt:lpstr>通用树搜索</vt:lpstr>
      <vt:lpstr>树搜索</vt:lpstr>
      <vt:lpstr>无信息vs. 有信息</vt:lpstr>
      <vt:lpstr>A* 搜索示例</vt:lpstr>
      <vt:lpstr>A* 搜索示例</vt:lpstr>
      <vt:lpstr>A* 搜索示例</vt:lpstr>
      <vt:lpstr>A* 搜索示例</vt:lpstr>
      <vt:lpstr>A* 搜索示例</vt:lpstr>
      <vt:lpstr>A* 搜索示例</vt:lpstr>
      <vt:lpstr>A* 搜索示例</vt:lpstr>
      <vt:lpstr>A* 搜索示例</vt:lpstr>
      <vt:lpstr>A* 搜索示例</vt:lpstr>
      <vt:lpstr>A* 搜索示例</vt:lpstr>
      <vt:lpstr>A* 搜索示例</vt:lpstr>
      <vt:lpstr>A* 搜索示例</vt:lpstr>
      <vt:lpstr>A* 搜索示例</vt:lpstr>
      <vt:lpstr>A* 最优吗？</vt:lpstr>
      <vt:lpstr>可接受的启发式方法</vt:lpstr>
      <vt:lpstr>A*的最优性 (证明）</vt:lpstr>
      <vt:lpstr>A*的最优性 (证明）</vt:lpstr>
      <vt:lpstr>一致的启发式方法</vt:lpstr>
      <vt:lpstr>一致的启发式方法</vt:lpstr>
      <vt:lpstr>A的最优性*</vt:lpstr>
      <vt:lpstr>加权的A*搜索</vt:lpstr>
      <vt:lpstr>比较</vt:lpstr>
      <vt:lpstr>迭代加深</vt:lpstr>
      <vt:lpstr>迭代加深A*搜索</vt:lpstr>
      <vt:lpstr>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叶 丁</dc:creator>
  <cp:lastModifiedBy>Administrator</cp:lastModifiedBy>
  <cp:revision>3376</cp:revision>
  <cp:lastPrinted>2025-03-03T10:55:24Z</cp:lastPrinted>
  <dcterms:created xsi:type="dcterms:W3CDTF">2018-12-16T05:38:48Z</dcterms:created>
  <dcterms:modified xsi:type="dcterms:W3CDTF">2026-03-23T01:16:52Z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2019-04-13T06:32:31.4153976Z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d5228a63-67d4-4fd6-959f-d3cab9a76c24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