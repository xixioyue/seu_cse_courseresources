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7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8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9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2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3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14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15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16.xml" ContentType="application/vnd.openxmlformats-officedocument.presentationml.notesSlide+xml"/>
  <Override PartName="/ppt/tags/tag71.xml" ContentType="application/vnd.openxmlformats-officedocument.presentationml.tags+xml"/>
  <Override PartName="/ppt/notesSlides/notesSlide17.xml" ContentType="application/vnd.openxmlformats-officedocument.presentationml.notesSlide+xml"/>
  <Override PartName="/ppt/tags/tag72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21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22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23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notesSlides/notesSlide24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25.xml" ContentType="application/vnd.openxmlformats-officedocument.presentationml.notesSlide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notesSlides/notesSlide29.xml" ContentType="application/vnd.openxmlformats-officedocument.presentationml.notesSlide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notesSlides/notesSlide30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77" r:id="rId2"/>
    <p:sldMasterId id="2147483679" r:id="rId3"/>
  </p:sldMasterIdLst>
  <p:notesMasterIdLst>
    <p:notesMasterId r:id="rId70"/>
  </p:notesMasterIdLst>
  <p:handoutMasterIdLst>
    <p:handoutMasterId r:id="rId71"/>
  </p:handoutMasterIdLst>
  <p:sldIdLst>
    <p:sldId id="523" r:id="rId4"/>
    <p:sldId id="585" r:id="rId5"/>
    <p:sldId id="646" r:id="rId6"/>
    <p:sldId id="664" r:id="rId7"/>
    <p:sldId id="665" r:id="rId8"/>
    <p:sldId id="666" r:id="rId9"/>
    <p:sldId id="667" r:id="rId10"/>
    <p:sldId id="668" r:id="rId11"/>
    <p:sldId id="669" r:id="rId12"/>
    <p:sldId id="655" r:id="rId13"/>
    <p:sldId id="656" r:id="rId14"/>
    <p:sldId id="657" r:id="rId15"/>
    <p:sldId id="659" r:id="rId16"/>
    <p:sldId id="660" r:id="rId17"/>
    <p:sldId id="661" r:id="rId18"/>
    <p:sldId id="662" r:id="rId19"/>
    <p:sldId id="658" r:id="rId20"/>
    <p:sldId id="663" r:id="rId21"/>
    <p:sldId id="537" r:id="rId22"/>
    <p:sldId id="670" r:id="rId23"/>
    <p:sldId id="259" r:id="rId24"/>
    <p:sldId id="309" r:id="rId25"/>
    <p:sldId id="306" r:id="rId26"/>
    <p:sldId id="307" r:id="rId27"/>
    <p:sldId id="262" r:id="rId28"/>
    <p:sldId id="449" r:id="rId29"/>
    <p:sldId id="312" r:id="rId30"/>
    <p:sldId id="265" r:id="rId31"/>
    <p:sldId id="311" r:id="rId32"/>
    <p:sldId id="267" r:id="rId33"/>
    <p:sldId id="313" r:id="rId34"/>
    <p:sldId id="287" r:id="rId35"/>
    <p:sldId id="268" r:id="rId36"/>
    <p:sldId id="269" r:id="rId37"/>
    <p:sldId id="270" r:id="rId38"/>
    <p:sldId id="273" r:id="rId39"/>
    <p:sldId id="314" r:id="rId40"/>
    <p:sldId id="274" r:id="rId41"/>
    <p:sldId id="315" r:id="rId42"/>
    <p:sldId id="275" r:id="rId43"/>
    <p:sldId id="294" r:id="rId44"/>
    <p:sldId id="272" r:id="rId45"/>
    <p:sldId id="299" r:id="rId46"/>
    <p:sldId id="671" r:id="rId47"/>
    <p:sldId id="457" r:id="rId48"/>
    <p:sldId id="448" r:id="rId49"/>
    <p:sldId id="388" r:id="rId50"/>
    <p:sldId id="459" r:id="rId51"/>
    <p:sldId id="460" r:id="rId52"/>
    <p:sldId id="461" r:id="rId53"/>
    <p:sldId id="390" r:id="rId54"/>
    <p:sldId id="462" r:id="rId55"/>
    <p:sldId id="452" r:id="rId56"/>
    <p:sldId id="672" r:id="rId57"/>
    <p:sldId id="673" r:id="rId58"/>
    <p:sldId id="364" r:id="rId59"/>
    <p:sldId id="365" r:id="rId60"/>
    <p:sldId id="366" r:id="rId61"/>
    <p:sldId id="674" r:id="rId62"/>
    <p:sldId id="675" r:id="rId63"/>
    <p:sldId id="676" r:id="rId64"/>
    <p:sldId id="464" r:id="rId65"/>
    <p:sldId id="310" r:id="rId66"/>
    <p:sldId id="345" r:id="rId67"/>
    <p:sldId id="445" r:id="rId68"/>
    <p:sldId id="297" r:id="rId69"/>
  </p:sldIdLst>
  <p:sldSz cx="12192000" cy="6858000"/>
  <p:notesSz cx="6797675" cy="9928225"/>
  <p:custDataLst>
    <p:tags r:id="rId7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50" userDrawn="1">
          <p15:clr>
            <a:srgbClr val="A4A3A4"/>
          </p15:clr>
        </p15:guide>
        <p15:guide id="4" pos="6630" userDrawn="1">
          <p15:clr>
            <a:srgbClr val="A4A3A4"/>
          </p15:clr>
        </p15:guide>
        <p15:guide id="5" orient="horz" pos="663" userDrawn="1">
          <p15:clr>
            <a:srgbClr val="A4A3A4"/>
          </p15:clr>
        </p15:guide>
        <p15:guide id="6" orient="horz" pos="731" userDrawn="1">
          <p15:clr>
            <a:srgbClr val="A4A3A4"/>
          </p15:clr>
        </p15:guide>
        <p15:guide id="7" orient="horz" pos="3952" userDrawn="1">
          <p15:clr>
            <a:srgbClr val="A4A3A4"/>
          </p15:clr>
        </p15:guide>
        <p15:guide id="8" orient="horz" pos="383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叶 丁" initials="叶" lastIdx="2" clrIdx="0">
    <p:extLst>
      <p:ext uri="{19B8F6BF-5375-455C-9EA6-DF929625EA0E}">
        <p15:presenceInfo xmlns:p15="http://schemas.microsoft.com/office/powerpoint/2012/main" userId="7525c676c6ae861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5223"/>
    <a:srgbClr val="141213"/>
    <a:srgbClr val="EAB908"/>
    <a:srgbClr val="EAB905"/>
    <a:srgbClr val="FECD54"/>
    <a:srgbClr val="817222"/>
    <a:srgbClr val="4B7D2B"/>
    <a:srgbClr val="9A8B3D"/>
    <a:srgbClr val="D3D1D2"/>
    <a:srgbClr val="56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4" autoAdjust="0"/>
    <p:restoredTop sz="86220" autoAdjust="0"/>
  </p:normalViewPr>
  <p:slideViewPr>
    <p:cSldViewPr snapToGrid="0" showGuides="1">
      <p:cViewPr varScale="1">
        <p:scale>
          <a:sx n="141" d="100"/>
          <a:sy n="141" d="100"/>
        </p:scale>
        <p:origin x="1384" y="216"/>
      </p:cViewPr>
      <p:guideLst>
        <p:guide orient="horz" pos="2273"/>
        <p:guide pos="3840"/>
        <p:guide pos="1050"/>
        <p:guide pos="6630"/>
        <p:guide orient="horz" pos="663"/>
        <p:guide orient="horz" pos="731"/>
        <p:guide orient="horz" pos="3952"/>
        <p:guide orient="horz" pos="383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2" d="100"/>
        <a:sy n="122" d="100"/>
      </p:scale>
      <p:origin x="0" y="-1392"/>
    </p:cViewPr>
  </p:sorterViewPr>
  <p:notesViewPr>
    <p:cSldViewPr snapToGrid="0" showGuides="1">
      <p:cViewPr varScale="1">
        <p:scale>
          <a:sx n="83" d="100"/>
          <a:sy n="83" d="100"/>
        </p:scale>
        <p:origin x="3992" y="208"/>
      </p:cViewPr>
      <p:guideLst/>
    </p:cSldViewPr>
  </p:notesViewPr>
  <p:gridSpacing cx="46800" cy="46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tags" Target="tags/tag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notesMaster" Target="notesMasters/notesMaster1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8C176BC-2537-496C-92BE-280C92B96ED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232F750-D334-4736-B10E-0035158269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01325C-51CE-41A1-8630-1A52C13085BB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29A2961-3AD5-4B21-AA67-7500903979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89F27F7-0D80-46EC-B423-14DAAD04B5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E3C29-C726-4695-AB77-50247DBF3D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2408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3B8505-E7BC-4327-812D-12C5E82484F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1B729-817F-448C-AF52-5327A9569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66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0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1615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952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38342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76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GB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14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462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331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449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44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20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/>
                <a:endParaRPr lang="en-US" altLang="zh-CN" dirty="0"/>
              </a:p>
              <a:p>
                <a:pPr lvl="1"/>
                <a:r>
                  <a:rPr lang="zh-CN" altLang="en-US" dirty="0"/>
                  <a:t>一阶逻辑：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en-US" altLang="zh-CN" dirty="0"/>
                  <a:t>Predicates</a:t>
                </a:r>
                <a:r>
                  <a:rPr lang="zh-CN" altLang="en-US" dirty="0"/>
                  <a:t>：谓词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Objects</a:t>
                </a:r>
                <a:r>
                  <a:rPr lang="zh-CN" altLang="en-US" dirty="0"/>
                  <a:t>：对象</a:t>
                </a:r>
              </a:p>
              <a:p>
                <a:endParaRPr lang="en-US" altLang="zh-CN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dirty="0"/>
                  <a:t>谓词</a:t>
                </a:r>
                <a:r>
                  <a:rPr lang="en-US" altLang="zh-CN" i="0" dirty="0">
                    <a:latin typeface="Cambria Math" panose="02040503050406030204" pitchFamily="18" charset="0"/>
                  </a:rPr>
                  <a:t>𝐵𝑎𝑠𝑘𝑒𝑡𝑏𝑎𝑙𝑙 (𝑏)</a:t>
                </a:r>
                <a:endParaRPr lang="en-US" altLang="zh-CN" dirty="0"/>
              </a:p>
              <a:p>
                <a:r>
                  <a:rPr lang="en-US" altLang="zh-CN" b="1" dirty="0"/>
                  <a:t>Reify</a:t>
                </a:r>
                <a:r>
                  <a:rPr lang="zh-CN" altLang="en-US" b="1" dirty="0"/>
                  <a:t>，</a:t>
                </a:r>
                <a:r>
                  <a:rPr lang="zh-CN" altLang="en-US" b="0" dirty="0"/>
                  <a:t>将类别</a:t>
                </a:r>
                <a:r>
                  <a:rPr lang="zh-CN" altLang="en-US" b="1" dirty="0"/>
                  <a:t>物化</a:t>
                </a:r>
                <a:r>
                  <a:rPr lang="zh-CN" altLang="en-US" b="0" dirty="0"/>
                  <a:t>为一个对象</a:t>
                </a:r>
                <a:endParaRPr lang="en-US" altLang="zh-CN" b="0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𝑀𝑒𝑚𝑏𝑒𝑟(𝑏, 𝐵𝑎𝑠𝑘𝑒𝑡𝑏𝑎𝑙𝑙𝑠</a:t>
                </a:r>
                <a:r>
                  <a:rPr lang="zh-CN" altLang="en-US" i="0" dirty="0">
                    <a:latin typeface="Cambria Math" panose="02040503050406030204" pitchFamily="18" charset="0"/>
                  </a:rPr>
                  <a:t>）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是篮球的一个成员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i="0" dirty="0">
                    <a:latin typeface="Cambria Math" panose="02040503050406030204" pitchFamily="18" charset="0"/>
                  </a:rPr>
                  <a:t>𝑆𝑢𝑏𝑠𝑒𝑡(𝐵𝑎𝑠𝑘𝑒𝑡𝑏𝑎𝑙𝑙𝑠, 𝐵𝑎𝑙𝑙𝑠)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 basketballs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是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balls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的一个子类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lang="en-US" altLang="zh-CN" dirty="0">
                  <a:latin typeface="Cambria Math" panose="02040503050406030204" pitchFamily="18" charset="0"/>
                </a:endParaRPr>
              </a:p>
              <a:p>
                <a:endParaRPr lang="zh-CN" altLang="en-US" b="0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9765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2883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856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754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001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690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5901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zh-CN" altLang="en-US" dirty="0">
              <a:latin typeface="+mn-ea"/>
              <a:cs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71B729-817F-448C-AF52-5327A956947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0902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49225" y="781050"/>
            <a:ext cx="6938963" cy="3903663"/>
          </a:xfrm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George Box: All models are wrong; some of them are useful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9652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652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652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652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91B7EDC-D532-E64C-A88A-8EDD91AF94E9}" type="slidenum">
              <a:rPr lang="en-US"/>
              <a:pPr eaLnBrk="1" hangingPunct="1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8065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8354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DE18D-B477-5540-A418-45080CBABEBE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324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7DE18D-B477-5540-A418-45080CBABEBE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0275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E18D-B477-5540-A418-45080CBABEBE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1445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E18D-B477-5540-A418-45080CBABEBE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633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E18D-B477-5540-A418-45080CBABEBE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5650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23839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52400" y="782638"/>
            <a:ext cx="6945313" cy="3908425"/>
          </a:xfrm>
          <a:ln/>
        </p:spPr>
      </p:sp>
      <p:sp>
        <p:nvSpPr>
          <p:cNvPr id="62466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>
                <a:latin typeface="Arial" pitchFamily="34" charset="0"/>
                <a:ea typeface="ＭＳ Ｐゴシック" pitchFamily="34" charset="-128"/>
              </a:rPr>
              <a:t>T</a:t>
            </a:r>
            <a:r>
              <a:rPr lang="en-US" altLang="en-US">
                <a:latin typeface="Arial" pitchFamily="34" charset="0"/>
                <a:ea typeface="ＭＳ Ｐゴシック" pitchFamily="34" charset="-128"/>
              </a:rPr>
              <a:t>’</a:t>
            </a:r>
            <a:r>
              <a:rPr lang="en-US">
                <a:latin typeface="Arial" pitchFamily="34" charset="0"/>
                <a:ea typeface="ＭＳ Ｐゴシック" pitchFamily="34" charset="-128"/>
              </a:rPr>
              <a:t>: traffic report</a:t>
            </a:r>
          </a:p>
        </p:txBody>
      </p:sp>
      <p:sp>
        <p:nvSpPr>
          <p:cNvPr id="624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C75A3D32-6BA7-4A1F-917C-754422230827}" type="slidenum">
              <a:rPr lang="en-US" sz="1300"/>
              <a:pPr eaLnBrk="1" hangingPunct="1"/>
              <a:t>56</a:t>
            </a:fld>
            <a:endParaRPr lang="en-US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0357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49225" y="781050"/>
            <a:ext cx="6938963" cy="3903663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7DE18D-B477-5540-A418-45080CBABEBE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77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55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547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5464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1017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24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3385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0161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91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191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2911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132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593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46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094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266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619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326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68182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9281A-630A-D647-F925-722D8BEC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B596E2-AA30-6792-684A-C4CF1875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Artificial Intelligence a modern approach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14ED86-3759-CE59-E80F-0BE6032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fld id="{5D839138-5554-4A72-89BF-BBFB0D949E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50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>
            <a:extLst>
              <a:ext uri="{FF2B5EF4-FFF2-40B4-BE49-F238E27FC236}">
                <a16:creationId xmlns:a16="http://schemas.microsoft.com/office/drawing/2014/main" id="{E27F0E8A-FBE3-41B6-A56B-7A14F7AAA7BA}"/>
              </a:ext>
            </a:extLst>
          </p:cNvPr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AB9554-0968-7F4C-B17C-055427BAAC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034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B478B4D-326B-4F22-B792-98AB7E9C8268}"/>
              </a:ext>
            </a:extLst>
          </p:cNvPr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2742BE2E-64C4-45DC-B5F2-9CE85916052B}"/>
              </a:ext>
            </a:extLst>
          </p:cNvPr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BEB662E1-75A1-469F-B2C5-6EC6E8255C44}"/>
              </a:ext>
            </a:extLst>
          </p:cNvPr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CF32DCCF-D109-144D-93EF-7A463349C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>
            <a:extLst>
              <a:ext uri="{FF2B5EF4-FFF2-40B4-BE49-F238E27FC236}">
                <a16:creationId xmlns:a16="http://schemas.microsoft.com/office/drawing/2014/main" id="{D607238F-89BF-434F-A2F2-C5D1BB90B6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3786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7CB78A0-538A-4F4C-97AC-5D6B9B36EAE3}"/>
              </a:ext>
            </a:extLst>
          </p:cNvPr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D3F2D1-9FCF-4792-8D92-8CA0C104ED79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E1FBCD60-E317-434E-9948-6517EE806648}"/>
              </a:ext>
            </a:extLst>
          </p:cNvPr>
          <p:cNvCxnSpPr>
            <a:cxnSpLocks/>
          </p:cNvCxnSpPr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E5FF972F-6C72-4EB1-91BD-22FC6A6BFE55}"/>
              </a:ext>
            </a:extLst>
          </p:cNvPr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ED22ADE-3337-4765-824B-2BCE393B3BC8}"/>
              </a:ext>
            </a:extLst>
          </p:cNvPr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7F0E457-CBAE-48A1-9FDD-0AD48E16BB0E}"/>
              </a:ext>
            </a:extLst>
          </p:cNvPr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BF5B61E3-C874-41BD-9977-575DE377EF7C}"/>
              </a:ext>
            </a:extLst>
          </p:cNvPr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79C958C-4261-4C02-847F-E854178B5EDF}"/>
              </a:ext>
            </a:extLst>
          </p:cNvPr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50FB6E99-D418-4444-914B-230678054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483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>
            <a:extLst>
              <a:ext uri="{FF2B5EF4-FFF2-40B4-BE49-F238E27FC236}">
                <a16:creationId xmlns:a16="http://schemas.microsoft.com/office/drawing/2014/main" id="{5FB16484-E5F7-4B77-B7A5-FDAB1703AF52}"/>
              </a:ext>
            </a:extLst>
          </p:cNvPr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FD6F57-F8D0-494A-A461-A05057362E3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F3C94DC-BC3D-4914-BCEA-9BADE3C91715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D3B89C71-934D-411D-A2EA-05C70F77FCCA}"/>
              </a:ext>
            </a:extLst>
          </p:cNvPr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>
            <a:extLst>
              <a:ext uri="{FF2B5EF4-FFF2-40B4-BE49-F238E27FC236}">
                <a16:creationId xmlns:a16="http://schemas.microsoft.com/office/drawing/2014/main" id="{A837D7F3-A47E-4687-B46E-2D3048C16002}"/>
              </a:ext>
            </a:extLst>
          </p:cNvPr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>
            <a:extLst>
              <a:ext uri="{FF2B5EF4-FFF2-40B4-BE49-F238E27FC236}">
                <a16:creationId xmlns:a16="http://schemas.microsoft.com/office/drawing/2014/main" id="{FE10A76B-7B22-4776-AAF9-D0EEE0D973D2}"/>
              </a:ext>
            </a:extLst>
          </p:cNvPr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80425897-AA01-4101-B050-A034992317B0}"/>
              </a:ext>
            </a:extLst>
          </p:cNvPr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>
            <a:extLst>
              <a:ext uri="{FF2B5EF4-FFF2-40B4-BE49-F238E27FC236}">
                <a16:creationId xmlns:a16="http://schemas.microsoft.com/office/drawing/2014/main" id="{1DC1ADFB-E837-4D7F-B9F3-657D2F4ACAB6}"/>
              </a:ext>
            </a:extLst>
          </p:cNvPr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34BB7AD-2674-4436-98EF-FC7061F098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54253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E3D9E87-D3B4-4F53-99F3-7438B7E4D4AB}"/>
              </a:ext>
            </a:extLst>
          </p:cNvPr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D21FE1-F1E4-4E14-BF8F-A4D4ED823FBC}"/>
              </a:ext>
            </a:extLst>
          </p:cNvPr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B76C3FD-32D6-4E41-B7F5-97F8A47A3D0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DD83EE6-28E8-42E1-9D1D-CEA16A3EF647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D2CCFA9F-ED6D-4706-AB87-12B0B7099A55}"/>
              </a:ext>
            </a:extLst>
          </p:cNvPr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53FD0E-8CED-473A-8132-8C32D5EB7E41}"/>
              </a:ext>
            </a:extLst>
          </p:cNvPr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6A2882-5AAA-4796-ACBF-11DE20417AB5}"/>
              </a:ext>
            </a:extLst>
          </p:cNvPr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65BF0DA-9E98-46CA-BC5A-2F733F99C372}"/>
              </a:ext>
            </a:extLst>
          </p:cNvPr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44B3714-021E-44F1-A9C0-8DB23D7B89E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7802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>
            <a:extLst>
              <a:ext uri="{FF2B5EF4-FFF2-40B4-BE49-F238E27FC236}">
                <a16:creationId xmlns:a16="http://schemas.microsoft.com/office/drawing/2014/main" id="{F4B8A56B-7F99-43EE-87F0-42D96BE6E0C1}"/>
              </a:ext>
            </a:extLst>
          </p:cNvPr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7A4933-BE2B-4B78-BB0B-EFF272C44588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73394E7-E5C6-4B02-8A31-9C03D9C6FA0B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>
            <a:extLst>
              <a:ext uri="{FF2B5EF4-FFF2-40B4-BE49-F238E27FC236}">
                <a16:creationId xmlns:a16="http://schemas.microsoft.com/office/drawing/2014/main" id="{9FDAE5AE-1C3F-4A93-B305-B77CDC3F4BE2}"/>
              </a:ext>
            </a:extLst>
          </p:cNvPr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>
            <a:extLst>
              <a:ext uri="{FF2B5EF4-FFF2-40B4-BE49-F238E27FC236}">
                <a16:creationId xmlns:a16="http://schemas.microsoft.com/office/drawing/2014/main" id="{8B831D4E-CDC6-4513-9163-9BB77DDB0516}"/>
              </a:ext>
            </a:extLst>
          </p:cNvPr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>
            <a:extLst>
              <a:ext uri="{FF2B5EF4-FFF2-40B4-BE49-F238E27FC236}">
                <a16:creationId xmlns:a16="http://schemas.microsoft.com/office/drawing/2014/main" id="{25618009-D285-438D-BF60-F87BDBE0685A}"/>
              </a:ext>
            </a:extLst>
          </p:cNvPr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>
            <a:extLst>
              <a:ext uri="{FF2B5EF4-FFF2-40B4-BE49-F238E27FC236}">
                <a16:creationId xmlns:a16="http://schemas.microsoft.com/office/drawing/2014/main" id="{4A10CB81-B3E3-411C-90C9-3480A10EDB9B}"/>
              </a:ext>
            </a:extLst>
          </p:cNvPr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D251409D-FDB9-430B-A00F-D4A65811924B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63A1AFEA-57CF-4E71-AF6C-91E549CCF7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74533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>
            <a:extLst>
              <a:ext uri="{FF2B5EF4-FFF2-40B4-BE49-F238E27FC236}">
                <a16:creationId xmlns:a16="http://schemas.microsoft.com/office/drawing/2014/main" id="{03B97F61-153E-4B6E-8D40-C8B9A7E64D60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B2B8D9-D400-4BD8-9CF6-DCEAAC82BDD5}"/>
              </a:ext>
            </a:extLst>
          </p:cNvPr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285F31B-D145-4BD9-A54B-96E8E681B170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>
            <a:extLst>
              <a:ext uri="{FF2B5EF4-FFF2-40B4-BE49-F238E27FC236}">
                <a16:creationId xmlns:a16="http://schemas.microsoft.com/office/drawing/2014/main" id="{883EB526-2712-4265-9BF4-5874AAB98515}"/>
              </a:ext>
            </a:extLst>
          </p:cNvPr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>
            <a:extLst>
              <a:ext uri="{FF2B5EF4-FFF2-40B4-BE49-F238E27FC236}">
                <a16:creationId xmlns:a16="http://schemas.microsoft.com/office/drawing/2014/main" id="{C7D4DE0F-D1AF-4276-ADBB-A15A5BFE8CB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>
            <a:extLst>
              <a:ext uri="{FF2B5EF4-FFF2-40B4-BE49-F238E27FC236}">
                <a16:creationId xmlns:a16="http://schemas.microsoft.com/office/drawing/2014/main" id="{DFA316F4-7F98-4275-AAEF-578596A2062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>
            <a:extLst>
              <a:ext uri="{FF2B5EF4-FFF2-40B4-BE49-F238E27FC236}">
                <a16:creationId xmlns:a16="http://schemas.microsoft.com/office/drawing/2014/main" id="{219BA2AF-DF75-4C32-85E3-CB62BA8F756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>
            <a:extLst>
              <a:ext uri="{FF2B5EF4-FFF2-40B4-BE49-F238E27FC236}">
                <a16:creationId xmlns:a16="http://schemas.microsoft.com/office/drawing/2014/main" id="{A86D27D2-3D87-4A30-89B6-7FAFD15E7EA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2BD5DBA0-D1E0-4B8B-AF12-F77A29B64E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8240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>
            <a:extLst>
              <a:ext uri="{FF2B5EF4-FFF2-40B4-BE49-F238E27FC236}">
                <a16:creationId xmlns:a16="http://schemas.microsoft.com/office/drawing/2014/main" id="{60753701-EC64-455B-B060-1320051E3FE3}"/>
              </a:ext>
            </a:extLst>
          </p:cNvPr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5CBE861-C433-4078-A9A5-2C401EE3B270}"/>
              </a:ext>
            </a:extLst>
          </p:cNvPr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2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3DD6575-0576-4AFA-9BC4-891ADAB845BD}"/>
              </a:ext>
            </a:extLst>
          </p:cNvPr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>
            <a:extLst>
              <a:ext uri="{FF2B5EF4-FFF2-40B4-BE49-F238E27FC236}">
                <a16:creationId xmlns:a16="http://schemas.microsoft.com/office/drawing/2014/main" id="{C48532B4-0A1B-49CC-99AA-FE75395721EF}"/>
              </a:ext>
            </a:extLst>
          </p:cNvPr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>
            <a:extLst>
              <a:ext uri="{FF2B5EF4-FFF2-40B4-BE49-F238E27FC236}">
                <a16:creationId xmlns:a16="http://schemas.microsoft.com/office/drawing/2014/main" id="{32356412-5283-4799-9197-98AEACE613AC}"/>
              </a:ext>
            </a:extLst>
          </p:cNvPr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>
            <a:extLst>
              <a:ext uri="{FF2B5EF4-FFF2-40B4-BE49-F238E27FC236}">
                <a16:creationId xmlns:a16="http://schemas.microsoft.com/office/drawing/2014/main" id="{4E421018-60A0-4F10-A9A6-A6EE3BBD8BF9}"/>
              </a:ext>
            </a:extLst>
          </p:cNvPr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>
            <a:extLst>
              <a:ext uri="{FF2B5EF4-FFF2-40B4-BE49-F238E27FC236}">
                <a16:creationId xmlns:a16="http://schemas.microsoft.com/office/drawing/2014/main" id="{9B17F2FA-61E0-4197-AD3A-2DE5104FF5C1}"/>
              </a:ext>
            </a:extLst>
          </p:cNvPr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>
            <a:extLst>
              <a:ext uri="{FF2B5EF4-FFF2-40B4-BE49-F238E27FC236}">
                <a16:creationId xmlns:a16="http://schemas.microsoft.com/office/drawing/2014/main" id="{1C86E54A-170E-4CA4-BE8B-1118DA74B7C4}"/>
              </a:ext>
            </a:extLst>
          </p:cNvPr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>
            <a:extLst>
              <a:ext uri="{FF2B5EF4-FFF2-40B4-BE49-F238E27FC236}">
                <a16:creationId xmlns:a16="http://schemas.microsoft.com/office/drawing/2014/main" id="{A5976A4D-F088-4D08-ABB4-FDF23F9CA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365434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2CF8FAE-6DBB-42F8-A821-12D15C788E8C}"/>
              </a:ext>
            </a:extLst>
          </p:cNvPr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B958D3BC-E7F4-4914-8CAC-14D6BF0FFFB3}"/>
              </a:ext>
            </a:extLst>
          </p:cNvPr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53FC77-9263-4C53-8F22-D64EBC3880B1}"/>
              </a:ext>
            </a:extLst>
          </p:cNvPr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B3BEEB7-FA72-410F-B92D-7D208F847B83}"/>
              </a:ext>
            </a:extLst>
          </p:cNvPr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2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47" name="图片 46">
            <a:extLst>
              <a:ext uri="{FF2B5EF4-FFF2-40B4-BE49-F238E27FC236}">
                <a16:creationId xmlns:a16="http://schemas.microsoft.com/office/drawing/2014/main" id="{C02326B7-0E5A-F24B-8BE7-D58545042A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7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>
            <a:extLst>
              <a:ext uri="{FF2B5EF4-FFF2-40B4-BE49-F238E27FC236}">
                <a16:creationId xmlns:a16="http://schemas.microsoft.com/office/drawing/2014/main" id="{EF621E98-351F-489A-ADCE-3FC79FDE6DDD}"/>
              </a:ext>
            </a:extLst>
          </p:cNvPr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25A5A92-C8E6-4CA8-AB93-8B885C5EA989}"/>
              </a:ext>
            </a:extLst>
          </p:cNvPr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>
            <a:extLst>
              <a:ext uri="{FF2B5EF4-FFF2-40B4-BE49-F238E27FC236}">
                <a16:creationId xmlns:a16="http://schemas.microsoft.com/office/drawing/2014/main" id="{0B284135-360D-47CC-8BC2-5C03015968F7}"/>
              </a:ext>
            </a:extLst>
          </p:cNvPr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>
            <a:extLst>
              <a:ext uri="{FF2B5EF4-FFF2-40B4-BE49-F238E27FC236}">
                <a16:creationId xmlns:a16="http://schemas.microsoft.com/office/drawing/2014/main" id="{D0824BE2-0B1A-47B1-BAAF-7C29E1879AE7}"/>
              </a:ext>
            </a:extLst>
          </p:cNvPr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8137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053D6D2E-F110-4473-8442-17B28C05A741}"/>
              </a:ext>
            </a:extLst>
          </p:cNvPr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6BEB427-D252-4942-9F34-301C64219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358D7B-1DA9-9E4B-AFF1-9A13B20D43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ACA3C166-80E6-1B4A-AD5B-C8D474568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>
            <a:extLst>
              <a:ext uri="{FF2B5EF4-FFF2-40B4-BE49-F238E27FC236}">
                <a16:creationId xmlns:a16="http://schemas.microsoft.com/office/drawing/2014/main" id="{4B77A5BA-0111-5844-9F86-5926B12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>
            <a:extLst>
              <a:ext uri="{FF2B5EF4-FFF2-40B4-BE49-F238E27FC236}">
                <a16:creationId xmlns:a16="http://schemas.microsoft.com/office/drawing/2014/main" id="{44B829B2-7BD2-9948-8F21-7182730A0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280651B-EA0A-1E41-B81D-87E3C43E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011397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B0862E3-9A13-49FB-8057-D6463602E7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33B73963-4941-42F0-9B00-7431FEF61A6C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9C71AABC-C91A-43D0-9AF8-0B6162EDCD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A32A9019-0CBC-4C4A-90F0-2676ED9FCD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1D06DB6D-BC70-544C-8EA4-3A3874C968F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365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80DB1628-9D3D-4F59-B275-C695A900F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F01A7288-9F85-304B-887D-2D1E13D7A2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DE14FD2D-7810-B34E-8AFB-9A17BDEA70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976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F03BE017-E7F3-4A34-ABC3-ECA964258175}"/>
              </a:ext>
            </a:extLst>
          </p:cNvPr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1727DAFC-E61B-4F89-B5C2-9CC360B9928B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>
            <a:extLst>
              <a:ext uri="{FF2B5EF4-FFF2-40B4-BE49-F238E27FC236}">
                <a16:creationId xmlns:a16="http://schemas.microsoft.com/office/drawing/2014/main" id="{D3B0A0DB-185C-4430-9224-1C0A227377F5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>
            <a:extLst>
              <a:ext uri="{FF2B5EF4-FFF2-40B4-BE49-F238E27FC236}">
                <a16:creationId xmlns:a16="http://schemas.microsoft.com/office/drawing/2014/main" id="{E3FA308D-84A8-4382-ADA4-2CD6EA622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68876A75-1BD3-9D4E-9D34-C6453E6DC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48222E54-5ACA-6D4B-9A58-9B51C83B622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286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0" name="图片占位符 6">
            <a:extLst>
              <a:ext uri="{FF2B5EF4-FFF2-40B4-BE49-F238E27FC236}">
                <a16:creationId xmlns:a16="http://schemas.microsoft.com/office/drawing/2014/main" id="{B49F2142-CAF1-4747-9CF9-CF77EE8A915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>
            <a:extLst>
              <a:ext uri="{FF2B5EF4-FFF2-40B4-BE49-F238E27FC236}">
                <a16:creationId xmlns:a16="http://schemas.microsoft.com/office/drawing/2014/main" id="{260C43B2-4304-44E2-A6F0-062D59008B9B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11D8ADCD-C58A-41B8-80C4-2341BB348593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>
            <a:extLst>
              <a:ext uri="{FF2B5EF4-FFF2-40B4-BE49-F238E27FC236}">
                <a16:creationId xmlns:a16="http://schemas.microsoft.com/office/drawing/2014/main" id="{841EB5B4-0657-4AE7-A427-642106D598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C81340F-C45F-6B4F-9864-73BF32BA9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31D45924-509B-5D4C-A99D-FF1FB6F34B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9776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EFA6140-51C5-4185-BAC6-C973BE6BC646}"/>
              </a:ext>
            </a:extLst>
          </p:cNvPr>
          <p:cNvCxnSpPr>
            <a:cxnSpLocks/>
          </p:cNvCxnSpPr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32E0A4-1678-4295-A72D-EFF568FFBAD8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91" name="图片占位符 90">
            <a:extLst>
              <a:ext uri="{FF2B5EF4-FFF2-40B4-BE49-F238E27FC236}">
                <a16:creationId xmlns:a16="http://schemas.microsoft.com/office/drawing/2014/main" id="{1D88D36A-B7BF-4F3A-AA10-0BECE80A55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>
            <a:extLst>
              <a:ext uri="{FF2B5EF4-FFF2-40B4-BE49-F238E27FC236}">
                <a16:creationId xmlns:a16="http://schemas.microsoft.com/office/drawing/2014/main" id="{DEC9F75E-9249-4FFE-AF96-E92B201A183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>
            <a:extLst>
              <a:ext uri="{FF2B5EF4-FFF2-40B4-BE49-F238E27FC236}">
                <a16:creationId xmlns:a16="http://schemas.microsoft.com/office/drawing/2014/main" id="{E7782F2A-850E-4B5F-8330-CF50AC9EFA7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>
            <a:extLst>
              <a:ext uri="{FF2B5EF4-FFF2-40B4-BE49-F238E27FC236}">
                <a16:creationId xmlns:a16="http://schemas.microsoft.com/office/drawing/2014/main" id="{25096E3E-9433-4D85-BA39-301B214A355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DF883148-B063-4C5A-9CC7-CE69774A8C94}"/>
              </a:ext>
            </a:extLst>
          </p:cNvPr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>
            <a:extLst>
              <a:ext uri="{FF2B5EF4-FFF2-40B4-BE49-F238E27FC236}">
                <a16:creationId xmlns:a16="http://schemas.microsoft.com/office/drawing/2014/main" id="{B8A4FF80-ED1E-4D1D-9434-215EB5FB8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B3A067A2-39E8-0940-8B54-688BC270D1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7D982EDC-1B4A-034E-9CE9-9172DBAF48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692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1039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F00C798-F4CB-49E3-81E0-4CD12D5AEA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8C1695A4-3593-4E25-8722-4214E3CC76B6}"/>
              </a:ext>
            </a:extLst>
          </p:cNvPr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>
            <a:extLst>
              <a:ext uri="{FF2B5EF4-FFF2-40B4-BE49-F238E27FC236}">
                <a16:creationId xmlns:a16="http://schemas.microsoft.com/office/drawing/2014/main" id="{A29C0276-5751-4797-BFA5-F68D05ACBB63}"/>
              </a:ext>
            </a:extLst>
          </p:cNvPr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D85E25CC-A5BC-44E2-9950-5BDC824D9AC1}"/>
              </a:ext>
            </a:extLst>
          </p:cNvPr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53117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EB2DFB5F-1361-46F4-B3DF-471ECD4DCA18}"/>
              </a:ext>
            </a:extLst>
          </p:cNvPr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385D4CE6-0BBF-450D-B3AB-7C163A40E793}"/>
              </a:ext>
            </a:extLst>
          </p:cNvPr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599382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 bwMode="auto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CD9281A-630A-D647-F925-722D8BEC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B596E2-AA30-6792-684A-C4CF18756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Artificial Intelligence a modern approach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F14ED86-3759-CE59-E80F-0BE6032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16600" y="1027114"/>
            <a:ext cx="609600" cy="441325"/>
          </a:xfrm>
        </p:spPr>
        <p:txBody>
          <a:bodyPr/>
          <a:lstStyle>
            <a:lvl1pPr>
              <a:defRPr/>
            </a:lvl1pPr>
          </a:lstStyle>
          <a:p>
            <a:fld id="{5D839138-5554-4A72-89BF-BBFB0D949EB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76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824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1" r:id="rId9"/>
    <p:sldLayoutId id="2147483669" r:id="rId10"/>
    <p:sldLayoutId id="2147483671" r:id="rId11"/>
    <p:sldLayoutId id="2147483674" r:id="rId12"/>
    <p:sldLayoutId id="2147483654" r:id="rId13"/>
    <p:sldLayoutId id="2147483675" r:id="rId14"/>
    <p:sldLayoutId id="2147483672" r:id="rId15"/>
    <p:sldLayoutId id="2147483673" r:id="rId16"/>
    <p:sldLayoutId id="2147483659" r:id="rId17"/>
    <p:sldLayoutId id="2147483657" r:id="rId18"/>
    <p:sldLayoutId id="2147483676" r:id="rId19"/>
    <p:sldLayoutId id="214748367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0209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23B942-3F1B-403C-8E85-6382B206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D93AE5-CDDD-4CA4-8BCF-44DD4A71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1383BD-F3E7-403E-84A3-6F01BCC23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9A1635-4D35-4F49-9AAC-DA6F5F0373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FD9E9-D991-439F-8738-F1CD489BA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9994C284-E105-48E5-B7ED-E6DDC39F64AA}"/>
              </a:ext>
            </a:extLst>
          </p:cNvPr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8E9773E7-896B-4ABE-A918-DD345AEA7B33}"/>
              </a:ext>
            </a:extLst>
          </p:cNvPr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68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88">
          <p15:clr>
            <a:srgbClr val="F26B43"/>
          </p15:clr>
        </p15:guide>
        <p15:guide id="2" pos="3840">
          <p15:clr>
            <a:srgbClr val="F26B43"/>
          </p15:clr>
        </p15:guide>
        <p15:guide id="3" pos="416">
          <p15:clr>
            <a:srgbClr val="F26B43"/>
          </p15:clr>
        </p15:guide>
        <p15:guide id="4" pos="7256">
          <p15:clr>
            <a:srgbClr val="F26B43"/>
          </p15:clr>
        </p15:guide>
        <p15:guide id="5" orient="horz" pos="648">
          <p15:clr>
            <a:srgbClr val="F26B43"/>
          </p15:clr>
        </p15:guide>
        <p15:guide id="6" orient="horz" pos="712">
          <p15:clr>
            <a:srgbClr val="F26B43"/>
          </p15:clr>
        </p15:guide>
        <p15:guide id="7" orient="horz" pos="3928">
          <p15:clr>
            <a:srgbClr val="F26B43"/>
          </p15:clr>
        </p15:guide>
        <p15:guide id="8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image" Target="../media/image12.png"/><Relationship Id="rId18" Type="http://schemas.openxmlformats.org/officeDocument/2006/relationships/image" Target="../media/image19.png"/><Relationship Id="rId3" Type="http://schemas.openxmlformats.org/officeDocument/2006/relationships/tags" Target="../tags/tag6.xml"/><Relationship Id="rId21" Type="http://schemas.openxmlformats.org/officeDocument/2006/relationships/image" Target="../media/image22.png"/><Relationship Id="rId7" Type="http://schemas.openxmlformats.org/officeDocument/2006/relationships/tags" Target="../tags/tag10.xml"/><Relationship Id="rId12" Type="http://schemas.openxmlformats.org/officeDocument/2006/relationships/notesSlide" Target="../notesSlides/notesSlide7.xml"/><Relationship Id="rId17" Type="http://schemas.openxmlformats.org/officeDocument/2006/relationships/image" Target="../media/image18.png"/><Relationship Id="rId2" Type="http://schemas.openxmlformats.org/officeDocument/2006/relationships/tags" Target="../tags/tag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8.xml"/><Relationship Id="rId15" Type="http://schemas.openxmlformats.org/officeDocument/2006/relationships/image" Target="../media/image16.png"/><Relationship Id="rId10" Type="http://schemas.openxmlformats.org/officeDocument/2006/relationships/tags" Target="../tags/tag13.xml"/><Relationship Id="rId19" Type="http://schemas.openxmlformats.org/officeDocument/2006/relationships/image" Target="../media/image20.pn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image" Target="../media/image27.png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26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25.png"/><Relationship Id="rId5" Type="http://schemas.openxmlformats.org/officeDocument/2006/relationships/tags" Target="../tags/tag18.xml"/><Relationship Id="rId10" Type="http://schemas.openxmlformats.org/officeDocument/2006/relationships/image" Target="../media/image24.png"/><Relationship Id="rId4" Type="http://schemas.openxmlformats.org/officeDocument/2006/relationships/tags" Target="../tags/tag17.xml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28.png"/><Relationship Id="rId5" Type="http://schemas.openxmlformats.org/officeDocument/2006/relationships/image" Target="../media/image29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13" Type="http://schemas.openxmlformats.org/officeDocument/2006/relationships/image" Target="../media/image33.png"/><Relationship Id="rId3" Type="http://schemas.openxmlformats.org/officeDocument/2006/relationships/tags" Target="../tags/tag24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32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image" Target="../media/image31.png"/><Relationship Id="rId5" Type="http://schemas.openxmlformats.org/officeDocument/2006/relationships/tags" Target="../tags/tag26.xml"/><Relationship Id="rId15" Type="http://schemas.openxmlformats.org/officeDocument/2006/relationships/image" Target="../media/image35.png"/><Relationship Id="rId10" Type="http://schemas.openxmlformats.org/officeDocument/2006/relationships/image" Target="../media/image28.png"/><Relationship Id="rId4" Type="http://schemas.openxmlformats.org/officeDocument/2006/relationships/tags" Target="../tags/tag25.xml"/><Relationship Id="rId9" Type="http://schemas.openxmlformats.org/officeDocument/2006/relationships/image" Target="../media/image30.png"/><Relationship Id="rId1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30.png"/><Relationship Id="rId3" Type="http://schemas.openxmlformats.org/officeDocument/2006/relationships/tags" Target="../tags/tag30.xml"/><Relationship Id="rId7" Type="http://schemas.openxmlformats.org/officeDocument/2006/relationships/notesSlide" Target="../notesSlides/notesSlide11.xml"/><Relationship Id="rId12" Type="http://schemas.openxmlformats.org/officeDocument/2006/relationships/image" Target="../media/image40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39.png"/><Relationship Id="rId5" Type="http://schemas.openxmlformats.org/officeDocument/2006/relationships/tags" Target="../tags/tag32.xml"/><Relationship Id="rId10" Type="http://schemas.openxmlformats.org/officeDocument/2006/relationships/image" Target="../media/image38.png"/><Relationship Id="rId4" Type="http://schemas.openxmlformats.org/officeDocument/2006/relationships/tags" Target="../tags/tag31.xml"/><Relationship Id="rId9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image" Target="../media/image28.png"/><Relationship Id="rId18" Type="http://schemas.openxmlformats.org/officeDocument/2006/relationships/image" Target="../media/image46.png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image" Target="../media/image41.png"/><Relationship Id="rId17" Type="http://schemas.openxmlformats.org/officeDocument/2006/relationships/image" Target="../media/image45.png"/><Relationship Id="rId2" Type="http://schemas.openxmlformats.org/officeDocument/2006/relationships/tags" Target="../tags/tag34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notesSlide" Target="../notesSlides/notesSlide12.xml"/><Relationship Id="rId5" Type="http://schemas.openxmlformats.org/officeDocument/2006/relationships/tags" Target="../tags/tag37.xml"/><Relationship Id="rId15" Type="http://schemas.openxmlformats.org/officeDocument/2006/relationships/image" Target="../media/image43.png"/><Relationship Id="rId10" Type="http://schemas.openxmlformats.org/officeDocument/2006/relationships/slideLayout" Target="../slideLayouts/slideLayout11.xml"/><Relationship Id="rId19" Type="http://schemas.openxmlformats.org/officeDocument/2006/relationships/image" Target="../media/image47.png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tags" Target="../tags/tag44.xml"/><Relationship Id="rId7" Type="http://schemas.openxmlformats.org/officeDocument/2006/relationships/image" Target="../media/image49.pn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51.png"/><Relationship Id="rId4" Type="http://schemas.openxmlformats.org/officeDocument/2006/relationships/tags" Target="../tags/tag45.xml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image" Target="../media/image52.png"/><Relationship Id="rId18" Type="http://schemas.openxmlformats.org/officeDocument/2006/relationships/image" Target="../media/image56.png"/><Relationship Id="rId3" Type="http://schemas.openxmlformats.org/officeDocument/2006/relationships/tags" Target="../tags/tag48.xml"/><Relationship Id="rId21" Type="http://schemas.openxmlformats.org/officeDocument/2006/relationships/image" Target="../media/image58.png"/><Relationship Id="rId7" Type="http://schemas.openxmlformats.org/officeDocument/2006/relationships/tags" Target="../tags/tag52.xml"/><Relationship Id="rId12" Type="http://schemas.openxmlformats.org/officeDocument/2006/relationships/notesSlide" Target="../notesSlides/notesSlide14.xml"/><Relationship Id="rId17" Type="http://schemas.openxmlformats.org/officeDocument/2006/relationships/image" Target="../media/image28.png"/><Relationship Id="rId2" Type="http://schemas.openxmlformats.org/officeDocument/2006/relationships/tags" Target="../tags/tag47.xml"/><Relationship Id="rId16" Type="http://schemas.openxmlformats.org/officeDocument/2006/relationships/image" Target="../media/image55.png"/><Relationship Id="rId20" Type="http://schemas.openxmlformats.org/officeDocument/2006/relationships/image" Target="../media/image43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slideLayout" Target="../slideLayouts/slideLayout11.xml"/><Relationship Id="rId5" Type="http://schemas.openxmlformats.org/officeDocument/2006/relationships/tags" Target="../tags/tag50.xml"/><Relationship Id="rId15" Type="http://schemas.openxmlformats.org/officeDocument/2006/relationships/image" Target="../media/image54.png"/><Relationship Id="rId10" Type="http://schemas.openxmlformats.org/officeDocument/2006/relationships/tags" Target="../tags/tag55.xml"/><Relationship Id="rId19" Type="http://schemas.openxmlformats.org/officeDocument/2006/relationships/image" Target="../media/image57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53.png"/><Relationship Id="rId22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notesSlide" Target="../notesSlides/notesSlide15.xml"/><Relationship Id="rId18" Type="http://schemas.openxmlformats.org/officeDocument/2006/relationships/image" Target="../media/image28.png"/><Relationship Id="rId3" Type="http://schemas.openxmlformats.org/officeDocument/2006/relationships/tags" Target="../tags/tag58.xml"/><Relationship Id="rId21" Type="http://schemas.openxmlformats.org/officeDocument/2006/relationships/image" Target="../media/image43.png"/><Relationship Id="rId7" Type="http://schemas.openxmlformats.org/officeDocument/2006/relationships/tags" Target="../tags/tag62.xml"/><Relationship Id="rId12" Type="http://schemas.openxmlformats.org/officeDocument/2006/relationships/slideLayout" Target="../slideLayouts/slideLayout11.xml"/><Relationship Id="rId17" Type="http://schemas.openxmlformats.org/officeDocument/2006/relationships/image" Target="../media/image55.png"/><Relationship Id="rId2" Type="http://schemas.openxmlformats.org/officeDocument/2006/relationships/tags" Target="../tags/tag57.xml"/><Relationship Id="rId16" Type="http://schemas.openxmlformats.org/officeDocument/2006/relationships/image" Target="../media/image54.png"/><Relationship Id="rId20" Type="http://schemas.openxmlformats.org/officeDocument/2006/relationships/image" Target="../media/image57.png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24" Type="http://schemas.openxmlformats.org/officeDocument/2006/relationships/image" Target="../media/image61.png"/><Relationship Id="rId5" Type="http://schemas.openxmlformats.org/officeDocument/2006/relationships/tags" Target="../tags/tag60.xml"/><Relationship Id="rId15" Type="http://schemas.openxmlformats.org/officeDocument/2006/relationships/image" Target="../media/image53.png"/><Relationship Id="rId23" Type="http://schemas.openxmlformats.org/officeDocument/2006/relationships/image" Target="../media/image59.png"/><Relationship Id="rId10" Type="http://schemas.openxmlformats.org/officeDocument/2006/relationships/tags" Target="../tags/tag65.xml"/><Relationship Id="rId19" Type="http://schemas.openxmlformats.org/officeDocument/2006/relationships/image" Target="../media/image56.png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image" Target="../media/image60.png"/><Relationship Id="rId22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tags" Target="../tags/tag69.xml"/><Relationship Id="rId7" Type="http://schemas.openxmlformats.org/officeDocument/2006/relationships/image" Target="../media/image28.png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62.png"/><Relationship Id="rId4" Type="http://schemas.openxmlformats.org/officeDocument/2006/relationships/tags" Target="../tags/tag70.xml"/><Relationship Id="rId9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1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7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tags" Target="../tags/tag75.xml"/><Relationship Id="rId7" Type="http://schemas.openxmlformats.org/officeDocument/2006/relationships/image" Target="../media/image6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tags" Target="../tags/tag78.xml"/><Relationship Id="rId7" Type="http://schemas.openxmlformats.org/officeDocument/2006/relationships/image" Target="../media/image69.png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6" Type="http://schemas.openxmlformats.org/officeDocument/2006/relationships/image" Target="../media/image68.png"/><Relationship Id="rId5" Type="http://schemas.openxmlformats.org/officeDocument/2006/relationships/slideLayout" Target="../slideLayouts/slideLayout11.xml"/><Relationship Id="rId4" Type="http://schemas.openxmlformats.org/officeDocument/2006/relationships/tags" Target="../tags/tag79.xml"/><Relationship Id="rId9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77.png"/><Relationship Id="rId3" Type="http://schemas.openxmlformats.org/officeDocument/2006/relationships/tags" Target="../tags/tag82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6.png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image" Target="../media/image75.png"/><Relationship Id="rId5" Type="http://schemas.openxmlformats.org/officeDocument/2006/relationships/tags" Target="../tags/tag84.xml"/><Relationship Id="rId1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tags" Target="../tags/tag83.xml"/><Relationship Id="rId9" Type="http://schemas.openxmlformats.org/officeDocument/2006/relationships/image" Target="../media/image73.png"/><Relationship Id="rId1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tags" Target="../tags/tag88.xml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85.png"/><Relationship Id="rId5" Type="http://schemas.openxmlformats.org/officeDocument/2006/relationships/tags" Target="../tags/tag90.xml"/><Relationship Id="rId10" Type="http://schemas.openxmlformats.org/officeDocument/2006/relationships/image" Target="../media/image84.png"/><Relationship Id="rId4" Type="http://schemas.openxmlformats.org/officeDocument/2006/relationships/tags" Target="../tags/tag89.xml"/><Relationship Id="rId9" Type="http://schemas.openxmlformats.org/officeDocument/2006/relationships/image" Target="../media/image8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tags" Target="../tags/tag93.xml"/><Relationship Id="rId7" Type="http://schemas.openxmlformats.org/officeDocument/2006/relationships/image" Target="../media/image88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92.png"/><Relationship Id="rId5" Type="http://schemas.openxmlformats.org/officeDocument/2006/relationships/tags" Target="../tags/tag95.xml"/><Relationship Id="rId10" Type="http://schemas.openxmlformats.org/officeDocument/2006/relationships/image" Target="../media/image91.png"/><Relationship Id="rId4" Type="http://schemas.openxmlformats.org/officeDocument/2006/relationships/tags" Target="../tags/tag94.xml"/><Relationship Id="rId9" Type="http://schemas.openxmlformats.org/officeDocument/2006/relationships/image" Target="../media/image9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96.xml"/><Relationship Id="rId4" Type="http://schemas.openxmlformats.org/officeDocument/2006/relationships/image" Target="../media/image10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tags" Target="../tags/tag99.xml"/><Relationship Id="rId7" Type="http://schemas.openxmlformats.org/officeDocument/2006/relationships/image" Target="../media/image107.png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image" Target="../media/image106.png"/><Relationship Id="rId5" Type="http://schemas.openxmlformats.org/officeDocument/2006/relationships/image" Target="../media/image101.png"/><Relationship Id="rId4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00.xml"/><Relationship Id="rId6" Type="http://schemas.openxmlformats.org/officeDocument/2006/relationships/image" Target="../media/image108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tags" Target="../tags/tag103.xml"/><Relationship Id="rId7" Type="http://schemas.openxmlformats.org/officeDocument/2006/relationships/image" Target="../media/image109.pn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notesSlide" Target="../notesSlides/notesSlide22.xml"/><Relationship Id="rId11" Type="http://schemas.openxmlformats.org/officeDocument/2006/relationships/image" Target="../media/image113.pn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08.png"/><Relationship Id="rId4" Type="http://schemas.openxmlformats.org/officeDocument/2006/relationships/tags" Target="../tags/tag104.xml"/><Relationship Id="rId9" Type="http://schemas.openxmlformats.org/officeDocument/2006/relationships/image" Target="../media/image112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13" Type="http://schemas.openxmlformats.org/officeDocument/2006/relationships/image" Target="../media/image117.png"/><Relationship Id="rId3" Type="http://schemas.openxmlformats.org/officeDocument/2006/relationships/tags" Target="../tags/tag10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101.png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image" Target="../media/image116.png"/><Relationship Id="rId5" Type="http://schemas.openxmlformats.org/officeDocument/2006/relationships/tags" Target="../tags/tag109.xml"/><Relationship Id="rId10" Type="http://schemas.openxmlformats.org/officeDocument/2006/relationships/image" Target="../media/image115.png"/><Relationship Id="rId4" Type="http://schemas.openxmlformats.org/officeDocument/2006/relationships/tags" Target="../tags/tag108.xml"/><Relationship Id="rId9" Type="http://schemas.openxmlformats.org/officeDocument/2006/relationships/image" Target="../media/image114.png"/><Relationship Id="rId14" Type="http://schemas.openxmlformats.org/officeDocument/2006/relationships/image" Target="../media/image11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tags" Target="../tags/tag113.xml"/><Relationship Id="rId7" Type="http://schemas.openxmlformats.org/officeDocument/2006/relationships/image" Target="../media/image121.png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23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4.xml"/><Relationship Id="rId4" Type="http://schemas.openxmlformats.org/officeDocument/2006/relationships/image" Target="../media/image128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tags" Target="../tags/tag117.xml"/><Relationship Id="rId7" Type="http://schemas.openxmlformats.org/officeDocument/2006/relationships/image" Target="../media/image130.png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129.pn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28.png"/><Relationship Id="rId4" Type="http://schemas.openxmlformats.org/officeDocument/2006/relationships/tags" Target="../tags/tag118.xml"/><Relationship Id="rId9" Type="http://schemas.openxmlformats.org/officeDocument/2006/relationships/image" Target="../media/image1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19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3" Type="http://schemas.openxmlformats.org/officeDocument/2006/relationships/tags" Target="../tags/tag122.xml"/><Relationship Id="rId7" Type="http://schemas.openxmlformats.org/officeDocument/2006/relationships/image" Target="../media/image133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notesSlide" Target="../notesSlides/notesSlide26.xml"/><Relationship Id="rId11" Type="http://schemas.openxmlformats.org/officeDocument/2006/relationships/image" Target="../media/image132.png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134.png"/><Relationship Id="rId4" Type="http://schemas.openxmlformats.org/officeDocument/2006/relationships/tags" Target="../tags/tag123.xml"/><Relationship Id="rId9" Type="http://schemas.openxmlformats.org/officeDocument/2006/relationships/image" Target="../media/image13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41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140.png"/><Relationship Id="rId5" Type="http://schemas.openxmlformats.org/officeDocument/2006/relationships/image" Target="../media/image139.emf"/><Relationship Id="rId4" Type="http://schemas.openxmlformats.org/officeDocument/2006/relationships/image" Target="../media/image138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3" Type="http://schemas.openxmlformats.org/officeDocument/2006/relationships/tags" Target="../tags/tag128.xml"/><Relationship Id="rId7" Type="http://schemas.openxmlformats.org/officeDocument/2006/relationships/image" Target="../media/image143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image" Target="../media/image142.png"/><Relationship Id="rId5" Type="http://schemas.openxmlformats.org/officeDocument/2006/relationships/notesSlide" Target="../notesSlides/notesSlide29.xml"/><Relationship Id="rId4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tags" Target="../tags/tag131.xml"/><Relationship Id="rId7" Type="http://schemas.openxmlformats.org/officeDocument/2006/relationships/image" Target="../media/image145.png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slideLayout" Target="../slideLayouts/slideLayout11.xml"/><Relationship Id="rId11" Type="http://schemas.openxmlformats.org/officeDocument/2006/relationships/image" Target="../media/image149.png"/><Relationship Id="rId5" Type="http://schemas.openxmlformats.org/officeDocument/2006/relationships/tags" Target="../tags/tag133.xml"/><Relationship Id="rId10" Type="http://schemas.openxmlformats.org/officeDocument/2006/relationships/image" Target="../media/image148.png"/><Relationship Id="rId4" Type="http://schemas.openxmlformats.org/officeDocument/2006/relationships/tags" Target="../tags/tag132.xml"/><Relationship Id="rId9" Type="http://schemas.openxmlformats.org/officeDocument/2006/relationships/image" Target="../media/image14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136.xml"/><Relationship Id="rId7" Type="http://schemas.openxmlformats.org/officeDocument/2006/relationships/image" Target="../media/image152.png"/><Relationship Id="rId2" Type="http://schemas.openxmlformats.org/officeDocument/2006/relationships/tags" Target="../tags/tag135.xml"/><Relationship Id="rId1" Type="http://schemas.openxmlformats.org/officeDocument/2006/relationships/tags" Target="../tags/tag134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image" Target="../media/image156.png"/><Relationship Id="rId18" Type="http://schemas.openxmlformats.org/officeDocument/2006/relationships/image" Target="../media/image161.png"/><Relationship Id="rId3" Type="http://schemas.openxmlformats.org/officeDocument/2006/relationships/tags" Target="../tags/tag141.xml"/><Relationship Id="rId21" Type="http://schemas.openxmlformats.org/officeDocument/2006/relationships/image" Target="../media/image164.png"/><Relationship Id="rId7" Type="http://schemas.openxmlformats.org/officeDocument/2006/relationships/tags" Target="../tags/tag145.xml"/><Relationship Id="rId12" Type="http://schemas.openxmlformats.org/officeDocument/2006/relationships/notesSlide" Target="../notesSlides/notesSlide30.xml"/><Relationship Id="rId17" Type="http://schemas.openxmlformats.org/officeDocument/2006/relationships/image" Target="../media/image160.png"/><Relationship Id="rId2" Type="http://schemas.openxmlformats.org/officeDocument/2006/relationships/tags" Target="../tags/tag140.xml"/><Relationship Id="rId16" Type="http://schemas.openxmlformats.org/officeDocument/2006/relationships/image" Target="../media/image159.png"/><Relationship Id="rId20" Type="http://schemas.openxmlformats.org/officeDocument/2006/relationships/image" Target="../media/image163.emf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67.png"/><Relationship Id="rId5" Type="http://schemas.openxmlformats.org/officeDocument/2006/relationships/tags" Target="../tags/tag143.xml"/><Relationship Id="rId15" Type="http://schemas.openxmlformats.org/officeDocument/2006/relationships/image" Target="../media/image158.png"/><Relationship Id="rId23" Type="http://schemas.openxmlformats.org/officeDocument/2006/relationships/image" Target="../media/image166.png"/><Relationship Id="rId10" Type="http://schemas.openxmlformats.org/officeDocument/2006/relationships/tags" Target="../tags/tag148.xml"/><Relationship Id="rId19" Type="http://schemas.openxmlformats.org/officeDocument/2006/relationships/image" Target="../media/image162.png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image" Target="../media/image157.png"/><Relationship Id="rId22" Type="http://schemas.openxmlformats.org/officeDocument/2006/relationships/image" Target="../media/image16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2.emf"/><Relationship Id="rId5" Type="http://schemas.openxmlformats.org/officeDocument/2006/relationships/image" Target="../media/image171.emf"/><Relationship Id="rId4" Type="http://schemas.openxmlformats.org/officeDocument/2006/relationships/image" Target="../media/image170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emf"/><Relationship Id="rId3" Type="http://schemas.openxmlformats.org/officeDocument/2006/relationships/tags" Target="../tags/tag151.xml"/><Relationship Id="rId7" Type="http://schemas.openxmlformats.org/officeDocument/2006/relationships/image" Target="../media/image179.png"/><Relationship Id="rId2" Type="http://schemas.openxmlformats.org/officeDocument/2006/relationships/tags" Target="../tags/tag150.xml"/><Relationship Id="rId1" Type="http://schemas.openxmlformats.org/officeDocument/2006/relationships/tags" Target="../tags/tag149.xml"/><Relationship Id="rId6" Type="http://schemas.openxmlformats.org/officeDocument/2006/relationships/image" Target="../media/image178.png"/><Relationship Id="rId5" Type="http://schemas.openxmlformats.org/officeDocument/2006/relationships/image" Target="../media/image177.png"/><Relationship Id="rId10" Type="http://schemas.openxmlformats.org/officeDocument/2006/relationships/image" Target="../media/image182.emf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1.e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emf"/><Relationship Id="rId2" Type="http://schemas.openxmlformats.org/officeDocument/2006/relationships/image" Target="../media/image180.emf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4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5F3D8B8-541B-475D-AED2-11349A7D54F0}"/>
              </a:ext>
            </a:extLst>
          </p:cNvPr>
          <p:cNvSpPr txBox="1">
            <a:spLocks/>
          </p:cNvSpPr>
          <p:nvPr/>
        </p:nvSpPr>
        <p:spPr>
          <a:xfrm>
            <a:off x="4204744" y="2170934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endParaRPr lang="en-US" altLang="zh-CN" sz="40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0" indent="0">
              <a:buNone/>
            </a:pPr>
            <a:r>
              <a:rPr lang="en-US" altLang="zh-CN" sz="4000" dirty="0">
                <a:cs typeface="+mn-ea"/>
                <a:sym typeface="+mn-lt"/>
              </a:rPr>
              <a:t>	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			Probability</a:t>
            </a:r>
          </a:p>
          <a:p>
            <a:endParaRPr lang="en-US" altLang="zh-CN" sz="4000" dirty="0">
              <a:cs typeface="+mn-ea"/>
              <a:sym typeface="+mn-lt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3FDA94B7-63AB-4449-B259-ABBFB1BD1237}"/>
              </a:ext>
            </a:extLst>
          </p:cNvPr>
          <p:cNvSpPr/>
          <p:nvPr/>
        </p:nvSpPr>
        <p:spPr>
          <a:xfrm>
            <a:off x="8043723" y="4972130"/>
            <a:ext cx="3003067" cy="611578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endParaRPr lang="zh-CN" altLang="en-US" sz="2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12F855B-6482-4247-8DD0-5666489F33A1}"/>
              </a:ext>
            </a:extLst>
          </p:cNvPr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占位符 1">
            <a:extLst>
              <a:ext uri="{FF2B5EF4-FFF2-40B4-BE49-F238E27FC236}">
                <a16:creationId xmlns:a16="http://schemas.microsoft.com/office/drawing/2014/main" id="{16EF73B1-DAC6-4426-8182-B5831FC6D3F6}"/>
              </a:ext>
            </a:extLst>
          </p:cNvPr>
          <p:cNvSpPr txBox="1">
            <a:spLocks/>
          </p:cNvSpPr>
          <p:nvPr/>
        </p:nvSpPr>
        <p:spPr>
          <a:xfrm>
            <a:off x="4204744" y="1160463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endParaRPr lang="en-US" altLang="zh-CN" sz="40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pPr marL="0" indent="0" algn="ctr">
              <a:buNone/>
            </a:pPr>
            <a:r>
              <a:rPr lang="en-US" altLang="zh-CN" sz="4000" dirty="0">
                <a:cs typeface="+mn-ea"/>
                <a:sym typeface="+mn-lt"/>
              </a:rPr>
              <a:t>	</a:t>
            </a:r>
            <a:r>
              <a:rPr lang="en-US" altLang="zh-CN" sz="4000" b="1" dirty="0">
                <a:solidFill>
                  <a:schemeClr val="accent1"/>
                </a:solidFill>
                <a:cs typeface="+mn-ea"/>
                <a:sym typeface="+mn-lt"/>
              </a:rPr>
              <a:t>			</a:t>
            </a:r>
            <a:r>
              <a:rPr lang="zh-CN" altLang="en-US" sz="4000" b="1" dirty="0">
                <a:solidFill>
                  <a:schemeClr val="accent1"/>
                </a:solidFill>
                <a:cs typeface="+mn-ea"/>
                <a:sym typeface="+mn-lt"/>
              </a:rPr>
              <a:t>概率</a:t>
            </a:r>
            <a:endParaRPr lang="en-US" altLang="zh-CN" sz="4000" b="1" dirty="0">
              <a:solidFill>
                <a:schemeClr val="accent1"/>
              </a:solidFill>
              <a:cs typeface="+mn-ea"/>
              <a:sym typeface="+mn-lt"/>
            </a:endParaRPr>
          </a:p>
          <a:p>
            <a:endParaRPr lang="en-US" altLang="zh-CN" sz="40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9178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内容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8" name="Picture 1">
            <a:extLst>
              <a:ext uri="{FF2B5EF4-FFF2-40B4-BE49-F238E27FC236}">
                <a16:creationId xmlns:a16="http://schemas.microsoft.com/office/drawing/2014/main" id="{797D3179-BA58-42C4-B6C7-A3EC6351E7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033" y="1321046"/>
            <a:ext cx="4704859" cy="4742956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399" y="1397001"/>
            <a:ext cx="6937829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kern="0" dirty="0" err="1">
                <a:solidFill>
                  <a:srgbClr val="333399"/>
                </a:solidFill>
                <a:cs typeface="+mn-ea"/>
                <a:sym typeface="+mn-lt"/>
              </a:rPr>
              <a:t>概率</a:t>
            </a:r>
            <a:endParaRPr lang="en-US" altLang="zh-CN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lvl="8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3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kern="0" dirty="0" err="1">
                <a:solidFill>
                  <a:srgbClr val="000000"/>
                </a:solidFill>
                <a:cs typeface="+mn-ea"/>
                <a:sym typeface="+mn-lt"/>
              </a:rPr>
              <a:t>随机变量</a:t>
            </a:r>
            <a:endParaRPr lang="en-US" altLang="zh-CN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kern="0" dirty="0" err="1">
                <a:solidFill>
                  <a:srgbClr val="000000"/>
                </a:solidFill>
                <a:cs typeface="+mn-ea"/>
                <a:sym typeface="+mn-lt"/>
              </a:rPr>
              <a:t>联合分布与边缘分布</a:t>
            </a:r>
            <a:endParaRPr lang="en-US" altLang="zh-CN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kern="0" dirty="0" err="1">
                <a:solidFill>
                  <a:srgbClr val="000000"/>
                </a:solidFill>
                <a:cs typeface="+mn-ea"/>
                <a:sym typeface="+mn-lt"/>
              </a:rPr>
              <a:t>条件分布</a:t>
            </a:r>
            <a:endParaRPr lang="en-US" altLang="zh-CN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07485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Ghostbusters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游戏中的推理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5" name="Picture 2" descr="\\.host\Shared Folders\Shared with PC\ghostbusters.png">
            <a:extLst>
              <a:ext uri="{FF2B5EF4-FFF2-40B4-BE49-F238E27FC236}">
                <a16:creationId xmlns:a16="http://schemas.microsoft.com/office/drawing/2014/main" id="{FCD8208D-B226-454D-9B78-9914592D0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249" y="1305971"/>
            <a:ext cx="4448175" cy="30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890D31C1-668C-471C-9A26-DDE1B3FC1A07}"/>
              </a:ext>
            </a:extLst>
          </p:cNvPr>
          <p:cNvSpPr txBox="1"/>
          <p:nvPr/>
        </p:nvSpPr>
        <p:spPr>
          <a:xfrm>
            <a:off x="839523" y="4523310"/>
            <a:ext cx="8194675" cy="546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cs typeface="+mn-ea"/>
                <a:sym typeface="+mn-lt"/>
              </a:rPr>
              <a:t>  </a:t>
            </a: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传感器存在噪声，但我们知道P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(</a:t>
            </a: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颜色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 | </a:t>
            </a: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距离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)。</a:t>
            </a:r>
          </a:p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aphicFrame>
        <p:nvGraphicFramePr>
          <p:cNvPr id="11" name="Group 242">
            <a:extLst>
              <a:ext uri="{FF2B5EF4-FFF2-40B4-BE49-F238E27FC236}">
                <a16:creationId xmlns:a16="http://schemas.microsoft.com/office/drawing/2014/main" id="{6AC55F60-AE47-4E5C-8D18-7BB2F7122B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568526"/>
              </p:ext>
            </p:extLst>
          </p:nvPr>
        </p:nvGraphicFramePr>
        <p:xfrm>
          <a:off x="1753670" y="5138377"/>
          <a:ext cx="8684660" cy="914328"/>
        </p:xfrm>
        <a:graphic>
          <a:graphicData uri="http://schemas.openxmlformats.org/drawingml/2006/table">
            <a:tbl>
              <a:tblPr/>
              <a:tblGrid>
                <a:gridCol w="2171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11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P(red | 3)</a:t>
                      </a:r>
                    </a:p>
                  </a:txBody>
                  <a:tcPr marL="91435" marR="91435"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P(orange | 3)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P(yellow | 3)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P(green | 3)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0.05</a:t>
                      </a:r>
                    </a:p>
                  </a:txBody>
                  <a:tcPr marL="91435" marR="91435" marT="45702" marB="4570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0.15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sz="24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333399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L="91435" marR="91435" marT="45702" marB="4570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C305F576-2D25-44E1-AFC2-8EEC0DD3D5F3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56896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某个地方的网格里有幽灵。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传感器读数显示一个方块距离幽灵有多近。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关于幽灵：红色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1 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格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：橙色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2 或3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格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：黄色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4+ 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格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：绿色</a:t>
            </a:r>
          </a:p>
        </p:txBody>
      </p:sp>
    </p:spTree>
    <p:extLst>
      <p:ext uri="{BB962C8B-B14F-4D97-AF65-F5344CB8AC3E}">
        <p14:creationId xmlns:p14="http://schemas.microsoft.com/office/powerpoint/2010/main" val="148687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不确定性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753872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总体情况：</a:t>
            </a:r>
          </a:p>
          <a:p>
            <a:pPr lvl="2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6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b="1" kern="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观测变量（证据</a:t>
            </a:r>
            <a:r>
              <a:rPr lang="en-US" altLang="zh-CN" sz="2000" b="1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）</a:t>
            </a:r>
            <a:r>
              <a:rPr lang="zh-CN" altLang="en-US" sz="2000" b="1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：</a:t>
            </a:r>
            <a:r>
              <a:rPr lang="en-US" altLang="zh-CN" sz="2000" kern="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智能体了解关于世界状态的某些信息（例如，传感器读数或症状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）。</a:t>
            </a:r>
          </a:p>
          <a:p>
            <a:pPr lvl="4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b="1" kern="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未观测变量</a:t>
            </a:r>
            <a:r>
              <a:rPr lang="zh-CN" altLang="en-US" sz="2000" b="1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：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智能体</a:t>
            </a:r>
            <a:r>
              <a:rPr lang="en-US" altLang="zh-CN" sz="2000" kern="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需要推理其他方面的问题（例如，物体位于何处或存在何种疾病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）。</a:t>
            </a:r>
          </a:p>
          <a:p>
            <a:pPr lvl="4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b="1" kern="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模型</a:t>
            </a:r>
            <a:r>
              <a:rPr lang="zh-CN" altLang="en-US" sz="2000" b="1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：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智能体</a:t>
            </a:r>
            <a:r>
              <a:rPr lang="en-US" altLang="zh-CN" sz="2000" kern="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知道已知变量与未知变量之间的某种关系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。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6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概率推理为我们提供了一个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处理置信度</a:t>
            </a: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和知识的框架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。</a:t>
            </a:r>
          </a:p>
          <a:p>
            <a:pPr>
              <a:lnSpc>
                <a:spcPct val="100000"/>
              </a:lnSpc>
            </a:pPr>
            <a:endParaRPr lang="en-US" altLang="zh-CN" dirty="0">
              <a:solidFill>
                <a:schemeClr val="accent6">
                  <a:lumMod val="40000"/>
                  <a:lumOff val="60000"/>
                </a:schemeClr>
              </a:solidFill>
              <a:latin typeface="+mn-lt"/>
              <a:cs typeface="+mn-ea"/>
              <a:sym typeface="+mn-lt"/>
            </a:endParaRP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378BBFB6-017D-4A81-A2A5-1A55E1FCD4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50300" y="1173340"/>
          <a:ext cx="1599052" cy="1599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Photo Editor Photo" r:id="rId4" imgW="2430780" imgH="2430780" progId="MSPhotoEd.3">
                  <p:embed/>
                </p:oleObj>
              </mc:Choice>
              <mc:Fallback>
                <p:oleObj name="Photo Editor Photo" r:id="rId4" imgW="2430780" imgH="2430780" progId="MSPhotoEd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378BBFB6-017D-4A81-A2A5-1A55E1FCD4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0300" y="1173340"/>
                        <a:ext cx="1599052" cy="15990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A5C04EE0-1158-4460-AEC5-C4B1F7177D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5144" y="2773540"/>
          <a:ext cx="1642962" cy="16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" name="Photo Editor Photo" r:id="rId6" imgW="2491740" imgH="2491740" progId="MSPhotoEd.3">
                  <p:embed/>
                </p:oleObj>
              </mc:Choice>
              <mc:Fallback>
                <p:oleObj name="Photo Editor Photo" r:id="rId6" imgW="2491740" imgH="2491740" progId="MSPhotoEd.3">
                  <p:embed/>
                  <p:pic>
                    <p:nvPicPr>
                      <p:cNvPr id="6" name="Object 7">
                        <a:extLst>
                          <a:ext uri="{FF2B5EF4-FFF2-40B4-BE49-F238E27FC236}">
                            <a16:creationId xmlns:a16="http://schemas.microsoft.com/office/drawing/2014/main" id="{A5C04EE0-1158-4460-AEC5-C4B1F7177D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000000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144" y="2773540"/>
                        <a:ext cx="1642962" cy="16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3">
            <a:extLst>
              <a:ext uri="{FF2B5EF4-FFF2-40B4-BE49-F238E27FC236}">
                <a16:creationId xmlns:a16="http://schemas.microsoft.com/office/drawing/2014/main" id="{339166B5-74A1-459F-9886-4D4FDCC23008}"/>
              </a:ext>
            </a:extLst>
          </p:cNvPr>
          <p:cNvGrpSpPr/>
          <p:nvPr/>
        </p:nvGrpSpPr>
        <p:grpSpPr bwMode="auto">
          <a:xfrm>
            <a:off x="8337311" y="4373740"/>
            <a:ext cx="1630154" cy="1562282"/>
            <a:chOff x="4027" y="3072"/>
            <a:chExt cx="891" cy="907"/>
          </a:xfrm>
        </p:grpSpPr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00D251CF-66BD-4354-BF2C-B7795A636A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32" y="3072"/>
            <a:ext cx="886" cy="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0" name="Photo Editor Photo" r:id="rId8" imgW="2461260" imgH="2446020" progId="MSPhotoEd.3">
                    <p:embed/>
                  </p:oleObj>
                </mc:Choice>
                <mc:Fallback>
                  <p:oleObj name="Photo Editor Photo" r:id="rId8" imgW="2461260" imgH="2446020" progId="MSPhotoEd.3">
                    <p:embed/>
                    <p:pic>
                      <p:nvPicPr>
                        <p:cNvPr id="9" name="Object 8">
                          <a:extLst>
                            <a:ext uri="{FF2B5EF4-FFF2-40B4-BE49-F238E27FC236}">
                              <a16:creationId xmlns:a16="http://schemas.microsoft.com/office/drawing/2014/main" id="{00D251CF-66BD-4354-BF2C-B7795A636A7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000000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072"/>
                          <a:ext cx="886" cy="8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" name="Picture 12">
              <a:extLst>
                <a:ext uri="{FF2B5EF4-FFF2-40B4-BE49-F238E27FC236}">
                  <a16:creationId xmlns:a16="http://schemas.microsoft.com/office/drawing/2014/main" id="{3B583F3B-0167-4D86-BE65-D2344C8F99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4143" r="62584" b="-1559"/>
            <a:stretch>
              <a:fillRect/>
            </a:stretch>
          </p:blipFill>
          <p:spPr bwMode="auto">
            <a:xfrm>
              <a:off x="4027" y="3643"/>
              <a:ext cx="336" cy="336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99402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随机变量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7585759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随机变量是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指</a:t>
            </a: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世界中我们（可能）存在不确定性的某个方面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。</a:t>
            </a:r>
          </a:p>
          <a:p>
            <a:pPr lvl="8" fontAlgn="base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R = 下雨了吗？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T = 是热还是冷？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D = 开车去上班需要多长时间？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L = 幽灵在哪里？</a:t>
            </a:r>
            <a:endParaRPr lang="en-US" altLang="zh-CN" sz="16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我们用大写字母表示随机变量。</a:t>
            </a:r>
            <a:endParaRPr lang="en-US" altLang="zh-CN" sz="16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与约束满足问题中的变量一样，随机变量也具有域。</a:t>
            </a:r>
          </a:p>
          <a:p>
            <a:pPr lvl="8" fontAlgn="base"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R ∈ {真，假} （通常写作 {+r,-r})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T 属于 {热，冷}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D 在 [0,</a:t>
            </a:r>
            <a:r>
              <a:rPr lang="zh-CN" altLang="en-US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无穷</a:t>
            </a: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)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L 在可能的位置，可能是 {(0,0), (0,1), …}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9FF70B-6CEA-46A4-B993-EE16EDFBA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820" y="1332374"/>
            <a:ext cx="4094076" cy="412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041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概率分布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5868102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为每个值关联一个概率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温度：</a:t>
            </a:r>
            <a:endParaRPr lang="en-US" altLang="zh-CN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6" name="Picture 91" descr="txp_fig">
            <a:extLst>
              <a:ext uri="{FF2B5EF4-FFF2-40B4-BE49-F238E27FC236}">
                <a16:creationId xmlns:a16="http://schemas.microsoft.com/office/drawing/2014/main" id="{C5030BF4-CEE2-4C6F-AD73-D6F02CE13388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1498" y="3506898"/>
            <a:ext cx="731837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24">
            <a:extLst>
              <a:ext uri="{FF2B5EF4-FFF2-40B4-BE49-F238E27FC236}">
                <a16:creationId xmlns:a16="http://schemas.microsoft.com/office/drawing/2014/main" id="{486C71B1-9B33-45D4-82FA-0AC6050FF5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999" y="3235290"/>
            <a:ext cx="2544888" cy="238294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E8A5A3F-72FC-4927-BC5C-D78A7AF33A00}"/>
              </a:ext>
            </a:extLst>
          </p:cNvPr>
          <p:cNvSpPr txBox="1"/>
          <p:nvPr/>
        </p:nvSpPr>
        <p:spPr bwMode="auto">
          <a:xfrm>
            <a:off x="6424737" y="1441865"/>
            <a:ext cx="4709342" cy="15693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6" tIns="45718" rIns="91436" bIns="45718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 lang="en-US" sz="2400" dirty="0">
              <a:latin typeface="+mn-lt"/>
              <a:cs typeface="+mn-ea"/>
              <a:sym typeface="+mn-lt"/>
            </a:endParaRPr>
          </a:p>
          <a:p>
            <a:endParaRPr lang="en-US" sz="2400" dirty="0">
              <a:latin typeface="+mn-lt"/>
              <a:cs typeface="+mn-ea"/>
              <a:sym typeface="+mn-lt"/>
            </a:endParaRPr>
          </a:p>
          <a:p>
            <a:pPr lvl="1"/>
            <a:r>
              <a:rPr lang="en-US" sz="2000" dirty="0">
                <a:latin typeface="+mn-lt"/>
                <a:cs typeface="+mn-ea"/>
                <a:sym typeface="+mn-lt"/>
              </a:rPr>
              <a:t>天气：</a:t>
            </a:r>
          </a:p>
          <a:p>
            <a:endParaRPr lang="en-US" sz="2400" dirty="0">
              <a:latin typeface="+mn-lt"/>
              <a:cs typeface="+mn-ea"/>
              <a:sym typeface="+mn-lt"/>
            </a:endParaRPr>
          </a:p>
          <a:p>
            <a:endParaRPr lang="en-US" sz="2400" dirty="0">
              <a:latin typeface="+mn-lt"/>
              <a:cs typeface="+mn-ea"/>
              <a:sym typeface="+mn-lt"/>
            </a:endParaRPr>
          </a:p>
          <a:p>
            <a:endParaRPr lang="en-US" sz="2400" dirty="0">
              <a:latin typeface="+mn-lt"/>
              <a:cs typeface="+mn-ea"/>
              <a:sym typeface="+mn-lt"/>
            </a:endParaRPr>
          </a:p>
          <a:p>
            <a:endParaRPr lang="en-US" sz="2400" dirty="0">
              <a:latin typeface="+mn-lt"/>
              <a:cs typeface="+mn-ea"/>
              <a:sym typeface="+mn-lt"/>
            </a:endParaRPr>
          </a:p>
          <a:p>
            <a:endParaRPr lang="en-US" sz="2400" dirty="0">
              <a:latin typeface="+mn-lt"/>
              <a:cs typeface="+mn-ea"/>
              <a:sym typeface="+mn-lt"/>
            </a:endParaRPr>
          </a:p>
          <a:p>
            <a:pPr lvl="3"/>
            <a:endParaRPr lang="en-US" sz="1200" dirty="0">
              <a:latin typeface="+mn-lt"/>
              <a:cs typeface="+mn-ea"/>
              <a:sym typeface="+mn-lt"/>
            </a:endParaRPr>
          </a:p>
        </p:txBody>
      </p:sp>
      <p:graphicFrame>
        <p:nvGraphicFramePr>
          <p:cNvPr id="10" name="Group 70">
            <a:extLst>
              <a:ext uri="{FF2B5EF4-FFF2-40B4-BE49-F238E27FC236}">
                <a16:creationId xmlns:a16="http://schemas.microsoft.com/office/drawing/2014/main" id="{C8B4B2D4-A8B6-4B84-A688-90E8CD7A925F}"/>
              </a:ext>
            </a:extLst>
          </p:cNvPr>
          <p:cNvGraphicFramePr>
            <a:graphicFrameLocks noGrp="1"/>
          </p:cNvGraphicFramePr>
          <p:nvPr/>
        </p:nvGraphicFramePr>
        <p:xfrm>
          <a:off x="9748222" y="3636086"/>
          <a:ext cx="1922463" cy="2286000"/>
        </p:xfrm>
        <a:graphic>
          <a:graphicData uri="http://schemas.openxmlformats.org/drawingml/2006/table">
            <a:tbl>
              <a:tblPr/>
              <a:tblGrid>
                <a:gridCol w="115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太阳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雨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雾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流星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0.0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1" name="Picture 90" descr="txp_fig">
            <a:extLst>
              <a:ext uri="{FF2B5EF4-FFF2-40B4-BE49-F238E27FC236}">
                <a16:creationId xmlns:a16="http://schemas.microsoft.com/office/drawing/2014/main" id="{E5BF23ED-6804-48D8-8FD6-3F17CB4AFBD0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709" y="3189898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5">
            <a:extLst>
              <a:ext uri="{FF2B5EF4-FFF2-40B4-BE49-F238E27FC236}">
                <a16:creationId xmlns:a16="http://schemas.microsoft.com/office/drawing/2014/main" id="{D9E4D165-47ED-43C6-8DC0-943AFD487B0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094" y="3352677"/>
            <a:ext cx="3211282" cy="2140854"/>
          </a:xfrm>
          <a:prstGeom prst="rect">
            <a:avLst/>
          </a:prstGeom>
        </p:spPr>
      </p:pic>
      <p:graphicFrame>
        <p:nvGraphicFramePr>
          <p:cNvPr id="13" name="Group 56">
            <a:extLst>
              <a:ext uri="{FF2B5EF4-FFF2-40B4-BE49-F238E27FC236}">
                <a16:creationId xmlns:a16="http://schemas.microsoft.com/office/drawing/2014/main" id="{38AF4F8D-5847-43E3-A477-81F9A35B0D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86309"/>
              </p:ext>
            </p:extLst>
          </p:nvPr>
        </p:nvGraphicFramePr>
        <p:xfrm>
          <a:off x="3376936" y="3884723"/>
          <a:ext cx="2182597" cy="1371600"/>
        </p:xfrm>
        <a:graphic>
          <a:graphicData uri="http://schemas.openxmlformats.org/drawingml/2006/table">
            <a:tbl>
              <a:tblPr/>
              <a:tblGrid>
                <a:gridCol w="1309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4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921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概率分布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未观测的随机变量具有分布。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3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分布是数值概率的表格。</a:t>
            </a:r>
            <a:endParaRPr lang="en-US" altLang="zh-CN" sz="12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概率（小写字母值）是一个单独的数字。</a:t>
            </a:r>
          </a:p>
          <a:p>
            <a:pPr marL="0" lvl="0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None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必须有：                                             和</a:t>
            </a:r>
          </a:p>
        </p:txBody>
      </p:sp>
      <p:graphicFrame>
        <p:nvGraphicFramePr>
          <p:cNvPr id="6" name="Group 56">
            <a:extLst>
              <a:ext uri="{FF2B5EF4-FFF2-40B4-BE49-F238E27FC236}">
                <a16:creationId xmlns:a16="http://schemas.microsoft.com/office/drawing/2014/main" id="{25E029B0-85DB-4DF4-8233-904855825F9B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35407686"/>
              </p:ext>
            </p:extLst>
          </p:nvPr>
        </p:nvGraphicFramePr>
        <p:xfrm>
          <a:off x="1229518" y="2512050"/>
          <a:ext cx="1428750" cy="118872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  <a:endParaRPr lang="en-US" sz="2000" b="0" i="0" kern="0" dirty="0">
                        <a:solidFill>
                          <a:srgbClr val="333399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altLang="zh-CN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  <a:endParaRPr lang="en-US" sz="2000" b="0" i="0" kern="0" dirty="0">
                        <a:solidFill>
                          <a:srgbClr val="333399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91" descr="txp_fig">
            <a:extLst>
              <a:ext uri="{FF2B5EF4-FFF2-40B4-BE49-F238E27FC236}">
                <a16:creationId xmlns:a16="http://schemas.microsoft.com/office/drawing/2014/main" id="{8ADC81FD-5B0E-4DA8-B40C-387A8D84EC4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138" y="1838315"/>
            <a:ext cx="731837" cy="298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Group 70">
            <a:extLst>
              <a:ext uri="{FF2B5EF4-FFF2-40B4-BE49-F238E27FC236}">
                <a16:creationId xmlns:a16="http://schemas.microsoft.com/office/drawing/2014/main" id="{A040A434-D785-470E-9E65-9246884CA45F}"/>
              </a:ext>
            </a:extLst>
          </p:cNvPr>
          <p:cNvGraphicFramePr>
            <a:graphicFrameLocks noGrp="1"/>
          </p:cNvGraphicFramePr>
          <p:nvPr/>
        </p:nvGraphicFramePr>
        <p:xfrm>
          <a:off x="3410425" y="2216140"/>
          <a:ext cx="1922463" cy="1981200"/>
        </p:xfrm>
        <a:graphic>
          <a:graphicData uri="http://schemas.openxmlformats.org/drawingml/2006/table">
            <a:tbl>
              <a:tblPr/>
              <a:tblGrid>
                <a:gridCol w="1153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太阳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雨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雾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流星</a:t>
                      </a:r>
                    </a:p>
                  </a:txBody>
                  <a:tcPr marL="91437" marR="9143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0.0</a:t>
                      </a:r>
                    </a:p>
                  </a:txBody>
                  <a:tcPr marL="91437" marR="9143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90" descr="txp_fig">
            <a:extLst>
              <a:ext uri="{FF2B5EF4-FFF2-40B4-BE49-F238E27FC236}">
                <a16:creationId xmlns:a16="http://schemas.microsoft.com/office/drawing/2014/main" id="{D8212A54-CBA1-4EF9-BE83-6219EA11983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913" y="1844665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8" descr="txp_fig.png">
            <a:extLst>
              <a:ext uri="{FF2B5EF4-FFF2-40B4-BE49-F238E27FC236}">
                <a16:creationId xmlns:a16="http://schemas.microsoft.com/office/drawing/2014/main" id="{B18DBF51-A720-48B3-9120-F6191725A4FA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33531" y="5688406"/>
            <a:ext cx="2583980" cy="29872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Picture 9" descr="txp_fig.png">
            <a:extLst>
              <a:ext uri="{FF2B5EF4-FFF2-40B4-BE49-F238E27FC236}">
                <a16:creationId xmlns:a16="http://schemas.microsoft.com/office/drawing/2014/main" id="{ABAA1594-E5C6-4689-B944-D051DE50596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20055" y="5616056"/>
            <a:ext cx="2492511" cy="5671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27D0AF1-98CB-4922-9B83-1B4756EC8CE4}"/>
              </a:ext>
            </a:extLst>
          </p:cNvPr>
          <p:cNvSpPr txBox="1"/>
          <p:nvPr/>
        </p:nvSpPr>
        <p:spPr bwMode="auto">
          <a:xfrm>
            <a:off x="7332189" y="1537649"/>
            <a:ext cx="4535502" cy="3137521"/>
          </a:xfrm>
          <a:prstGeom prst="rect">
            <a:avLst/>
          </a:prstGeom>
          <a:noFill/>
          <a:ln w="34925">
            <a:solidFill>
              <a:srgbClr val="000000"/>
            </a:solidFill>
            <a:miter lim="800000"/>
          </a:ln>
        </p:spPr>
        <p:txBody>
          <a:bodyPr vert="horz" wrap="square" lIns="91436" tIns="45718" rIns="91436" bIns="45718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lvl="0" indent="0">
              <a:buClr>
                <a:srgbClr val="333399"/>
              </a:buClr>
              <a:buNone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	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符号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简写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：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条件是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所有域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的名称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lt"/>
                <a:cs typeface="+mn-ea"/>
                <a:sym typeface="+mn-lt"/>
              </a:rPr>
              <a:t>都是唯一的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cs typeface="+mn-ea"/>
              <a:sym typeface="+mn-lt"/>
            </a:endParaRPr>
          </a:p>
        </p:txBody>
      </p:sp>
      <p:pic>
        <p:nvPicPr>
          <p:cNvPr id="19" name="Picture 12" descr="txp_fig.png">
            <a:extLst>
              <a:ext uri="{FF2B5EF4-FFF2-40B4-BE49-F238E27FC236}">
                <a16:creationId xmlns:a16="http://schemas.microsoft.com/office/drawing/2014/main" id="{2C22C6C9-4F48-4F79-9E82-31B69F555FE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246622" y="3884204"/>
            <a:ext cx="328405" cy="5971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Picture 13" descr="txp_fig">
            <a:extLst>
              <a:ext uri="{FF2B5EF4-FFF2-40B4-BE49-F238E27FC236}">
                <a16:creationId xmlns:a16="http://schemas.microsoft.com/office/drawing/2014/main" id="{D9CF5952-6FC1-4E63-BD41-313C7131363E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209" y="5218120"/>
            <a:ext cx="285115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16" descr="txp_fig.png">
            <a:extLst>
              <a:ext uri="{FF2B5EF4-FFF2-40B4-BE49-F238E27FC236}">
                <a16:creationId xmlns:a16="http://schemas.microsoft.com/office/drawing/2014/main" id="{917528FD-58B2-4943-96BD-1D6AC1B782C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43640" y="3289536"/>
            <a:ext cx="3627379" cy="298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Picture 17" descr="txp_fig.png">
            <a:extLst>
              <a:ext uri="{FF2B5EF4-FFF2-40B4-BE49-F238E27FC236}">
                <a16:creationId xmlns:a16="http://schemas.microsoft.com/office/drawing/2014/main" id="{37E70FB4-FA13-4855-8526-64F8CFF8CE21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93179" y="2251217"/>
            <a:ext cx="3179555" cy="298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3" name="Picture 10" descr="txp_fig.png">
            <a:extLst>
              <a:ext uri="{FF2B5EF4-FFF2-40B4-BE49-F238E27FC236}">
                <a16:creationId xmlns:a16="http://schemas.microsoft.com/office/drawing/2014/main" id="{02F73073-6B59-4252-9990-BBE79214ECF8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89807" y="2777845"/>
            <a:ext cx="3373612" cy="2985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89725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联合分布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A </a:t>
            </a:r>
            <a:r>
              <a:rPr lang="en-US" altLang="zh-CN" sz="2400" i="1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联合分布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关于一组随机变量：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None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	为每个赋值指定一个实数（或</a:t>
            </a:r>
            <a:r>
              <a:rPr lang="en-US" altLang="zh-CN" sz="2400" i="1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结果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): </a:t>
            </a:r>
          </a:p>
          <a:p>
            <a:pPr lvl="2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8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18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lvl="5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必须遵守：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200400" lvl="7" indent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None/>
            </a:pPr>
            <a:endParaRPr lang="en-US" altLang="zh-CN" sz="12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n个变量的取值域大小为d时，分布的大小是多少？</a:t>
            </a:r>
          </a:p>
          <a:p>
            <a:pPr lvl="4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12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对于除最小规模分布以外的所有分布，都难以一一写出！</a:t>
            </a:r>
          </a:p>
        </p:txBody>
      </p:sp>
      <p:pic>
        <p:nvPicPr>
          <p:cNvPr id="12" name="Picture 4" descr="txp_fig">
            <a:extLst>
              <a:ext uri="{FF2B5EF4-FFF2-40B4-BE49-F238E27FC236}">
                <a16:creationId xmlns:a16="http://schemas.microsoft.com/office/drawing/2014/main" id="{916BD10A-6C65-4B5E-A9C8-99FD4AD4F401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359" y="1448713"/>
            <a:ext cx="1803400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" descr="txp_fig.png">
            <a:extLst>
              <a:ext uri="{FF2B5EF4-FFF2-40B4-BE49-F238E27FC236}">
                <a16:creationId xmlns:a16="http://schemas.microsoft.com/office/drawing/2014/main" id="{08CD187F-4C4B-4444-8782-0B4B87326C2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6710" y="2388049"/>
            <a:ext cx="4867275" cy="29860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Picture 11" descr="txp_fig">
            <a:extLst>
              <a:ext uri="{FF2B5EF4-FFF2-40B4-BE49-F238E27FC236}">
                <a16:creationId xmlns:a16="http://schemas.microsoft.com/office/drawing/2014/main" id="{E4C95A7B-49F4-4BC8-89E5-26CFB8484C7D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422" y="2937118"/>
            <a:ext cx="2445348" cy="32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13" descr="txp_fig">
            <a:extLst>
              <a:ext uri="{FF2B5EF4-FFF2-40B4-BE49-F238E27FC236}">
                <a16:creationId xmlns:a16="http://schemas.microsoft.com/office/drawing/2014/main" id="{B5700AE2-09F1-48A6-9DEE-610E2BE3CB6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3822" y="3760065"/>
            <a:ext cx="2836863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5" descr="txp_fig">
            <a:extLst>
              <a:ext uri="{FF2B5EF4-FFF2-40B4-BE49-F238E27FC236}">
                <a16:creationId xmlns:a16="http://schemas.microsoft.com/office/drawing/2014/main" id="{DC0D3138-7374-4601-B0CB-F1432CF94EC5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80" y="4378783"/>
            <a:ext cx="4359275" cy="6715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" name="Group 46">
            <a:extLst>
              <a:ext uri="{FF2B5EF4-FFF2-40B4-BE49-F238E27FC236}">
                <a16:creationId xmlns:a16="http://schemas.microsoft.com/office/drawing/2014/main" id="{3732228E-CA03-4E4D-8AA9-948539AB3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37786"/>
              </p:ext>
            </p:extLst>
          </p:nvPr>
        </p:nvGraphicFramePr>
        <p:xfrm>
          <a:off x="8747249" y="3210126"/>
          <a:ext cx="2354953" cy="1981200"/>
        </p:xfrm>
        <a:graphic>
          <a:graphicData uri="http://schemas.openxmlformats.org/drawingml/2006/table">
            <a:tbl>
              <a:tblPr/>
              <a:tblGrid>
                <a:gridCol w="77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Picture 11" descr="txp_fig">
            <a:extLst>
              <a:ext uri="{FF2B5EF4-FFF2-40B4-BE49-F238E27FC236}">
                <a16:creationId xmlns:a16="http://schemas.microsoft.com/office/drawing/2014/main" id="{C5603ED2-0666-4333-86D7-E463FF16685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182" y="2742947"/>
            <a:ext cx="1179512" cy="298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7066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活动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sz="120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人工智能：一种现代方法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386080" y="1267618"/>
            <a:ext cx="854456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一个</a:t>
            </a:r>
            <a:r>
              <a:rPr lang="en-US" altLang="zh-CN" sz="2800" i="1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事件</a:t>
            </a:r>
            <a:r>
              <a:rPr lang="en-US" altLang="zh-CN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是一组结果E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657600" lvl="8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None/>
            </a:pPr>
            <a:endParaRPr lang="en-US" altLang="zh-CN" sz="1600" kern="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从联合分布中，我们可以计算任何事件的概率。</a:t>
            </a:r>
          </a:p>
          <a:p>
            <a:pPr lvl="3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16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既热又晴的概率？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它会热的概率？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天气炎热或晴朗的概率？</a:t>
            </a:r>
          </a:p>
          <a:p>
            <a:pPr marL="457200" lvl="1" indent="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None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通常，我们关注的事件</a:t>
            </a:r>
            <a:r>
              <a:rPr lang="zh-CN" alt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是</a:t>
            </a:r>
            <a:r>
              <a:rPr lang="en-US" altLang="zh-CN" sz="2800" i="1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部分</a:t>
            </a:r>
            <a:r>
              <a:rPr lang="zh-CN" altLang="en-US" sz="2800" i="1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条件</a:t>
            </a:r>
            <a:r>
              <a:rPr lang="en-US" altLang="zh-CN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，</a:t>
            </a:r>
            <a:r>
              <a:rPr lang="zh-CN" alt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比如</a:t>
            </a:r>
            <a:r>
              <a:rPr lang="en-US" altLang="zh-CN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P(T=hot)</a:t>
            </a: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32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None/>
            </a:pPr>
            <a:r>
              <a:rPr lang="en-US" altLang="zh-CN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</a:t>
            </a:r>
          </a:p>
        </p:txBody>
      </p:sp>
      <p:pic>
        <p:nvPicPr>
          <p:cNvPr id="5" name="Picture 31" descr="txp_fig">
            <a:extLst>
              <a:ext uri="{FF2B5EF4-FFF2-40B4-BE49-F238E27FC236}">
                <a16:creationId xmlns:a16="http://schemas.microsoft.com/office/drawing/2014/main" id="{AAEFF545-0323-485B-A2AE-9B5E47D68B5D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903" y="1893889"/>
            <a:ext cx="4049019" cy="62577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Group 46">
            <a:extLst>
              <a:ext uri="{FF2B5EF4-FFF2-40B4-BE49-F238E27FC236}">
                <a16:creationId xmlns:a16="http://schemas.microsoft.com/office/drawing/2014/main" id="{53281470-3E86-4006-9FEC-F49A827E3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3227"/>
              </p:ext>
            </p:extLst>
          </p:nvPr>
        </p:nvGraphicFramePr>
        <p:xfrm>
          <a:off x="8747249" y="3210126"/>
          <a:ext cx="2354953" cy="1981200"/>
        </p:xfrm>
        <a:graphic>
          <a:graphicData uri="http://schemas.openxmlformats.org/drawingml/2006/table">
            <a:tbl>
              <a:tblPr/>
              <a:tblGrid>
                <a:gridCol w="776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7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" name="Picture 11" descr="txp_fig">
            <a:extLst>
              <a:ext uri="{FF2B5EF4-FFF2-40B4-BE49-F238E27FC236}">
                <a16:creationId xmlns:a16="http://schemas.microsoft.com/office/drawing/2014/main" id="{0F836591-A57B-425B-872B-8B6BC975628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5182" y="2742947"/>
            <a:ext cx="1179512" cy="298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83768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边际分布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63F2F327-5736-43B9-9844-B2C68AD8E56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9999" y="1028699"/>
            <a:ext cx="2954357" cy="1935305"/>
          </a:xfrm>
          <a:prstGeom prst="rect">
            <a:avLst/>
          </a:prstGeom>
        </p:spPr>
      </p:pic>
      <p:graphicFrame>
        <p:nvGraphicFramePr>
          <p:cNvPr id="6" name="Group 6">
            <a:extLst>
              <a:ext uri="{FF2B5EF4-FFF2-40B4-BE49-F238E27FC236}">
                <a16:creationId xmlns:a16="http://schemas.microsoft.com/office/drawing/2014/main" id="{841B1FBC-FB3D-42A3-8EE4-78A5BE51A7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922440"/>
              </p:ext>
            </p:extLst>
          </p:nvPr>
        </p:nvGraphicFramePr>
        <p:xfrm>
          <a:off x="298678" y="3073404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roup 60">
            <a:extLst>
              <a:ext uri="{FF2B5EF4-FFF2-40B4-BE49-F238E27FC236}">
                <a16:creationId xmlns:a16="http://schemas.microsoft.com/office/drawing/2014/main" id="{03ED9859-A319-414C-8384-28FEA3E92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743822"/>
              </p:ext>
            </p:extLst>
          </p:nvPr>
        </p:nvGraphicFramePr>
        <p:xfrm>
          <a:off x="7138189" y="2575171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Group 61">
            <a:extLst>
              <a:ext uri="{FF2B5EF4-FFF2-40B4-BE49-F238E27FC236}">
                <a16:creationId xmlns:a16="http://schemas.microsoft.com/office/drawing/2014/main" id="{99775D38-5042-4D4A-8756-C1B596FEC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665257"/>
              </p:ext>
            </p:extLst>
          </p:nvPr>
        </p:nvGraphicFramePr>
        <p:xfrm>
          <a:off x="7138189" y="4403971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Line 81">
            <a:extLst>
              <a:ext uri="{FF2B5EF4-FFF2-40B4-BE49-F238E27FC236}">
                <a16:creationId xmlns:a16="http://schemas.microsoft.com/office/drawing/2014/main" id="{A3B35D8A-E562-4E39-81B9-C16B02C57B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6004" y="3195182"/>
            <a:ext cx="2743200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Line 82">
            <a:extLst>
              <a:ext uri="{FF2B5EF4-FFF2-40B4-BE49-F238E27FC236}">
                <a16:creationId xmlns:a16="http://schemas.microsoft.com/office/drawing/2014/main" id="{5D092FFE-0587-44CC-AE10-966ADB4AF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6004" y="4765922"/>
            <a:ext cx="2743200" cy="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12" name="Picture 67" descr="txp_fig">
            <a:extLst>
              <a:ext uri="{FF2B5EF4-FFF2-40B4-BE49-F238E27FC236}">
                <a16:creationId xmlns:a16="http://schemas.microsoft.com/office/drawing/2014/main" id="{808AFB7F-0E18-44C4-B23C-86564FD8468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16" y="2614617"/>
            <a:ext cx="1177925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90" descr="txp_fig">
            <a:extLst>
              <a:ext uri="{FF2B5EF4-FFF2-40B4-BE49-F238E27FC236}">
                <a16:creationId xmlns:a16="http://schemas.microsoft.com/office/drawing/2014/main" id="{1F096E61-41F7-444B-B98B-9E6CCB33C9F7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342" y="3444419"/>
            <a:ext cx="2433637" cy="566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91" descr="txp_fig">
            <a:extLst>
              <a:ext uri="{FF2B5EF4-FFF2-40B4-BE49-F238E27FC236}">
                <a16:creationId xmlns:a16="http://schemas.microsoft.com/office/drawing/2014/main" id="{6807B9D1-28E2-4718-ABD6-2CAE6D817C8F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039" y="2170359"/>
            <a:ext cx="731838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Picture 92" descr="txp_fig">
            <a:extLst>
              <a:ext uri="{FF2B5EF4-FFF2-40B4-BE49-F238E27FC236}">
                <a16:creationId xmlns:a16="http://schemas.microsoft.com/office/drawing/2014/main" id="{21BB6AB6-5C7A-4BAA-A84A-2997024EE458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04" y="4996109"/>
            <a:ext cx="2462213" cy="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Picture 68" descr="txp_fig">
            <a:extLst>
              <a:ext uri="{FF2B5EF4-FFF2-40B4-BE49-F238E27FC236}">
                <a16:creationId xmlns:a16="http://schemas.microsoft.com/office/drawing/2014/main" id="{47F4E41E-20C7-4CCA-972B-1C4D06B186A7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4439" y="3999159"/>
            <a:ext cx="850900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95" descr="txp_fig">
            <a:extLst>
              <a:ext uri="{FF2B5EF4-FFF2-40B4-BE49-F238E27FC236}">
                <a16:creationId xmlns:a16="http://schemas.microsoft.com/office/drawing/2014/main" id="{ED3C28E0-F38B-4018-9E57-C4D1ADFB38EF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580" y="5675314"/>
            <a:ext cx="5716588" cy="61118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1250893D-4BC4-4B95-93E3-CF161BC6909E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边际分布是</a:t>
            </a:r>
            <a:r>
              <a:rPr lang="zh-CN" alt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指</a:t>
            </a:r>
            <a:r>
              <a:rPr lang="en-US" altLang="zh-CN" sz="20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消除变量后的子表</a:t>
            </a:r>
            <a:r>
              <a:rPr lang="en-US" altLang="zh-CN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。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边际化（求和）：通过相加合并折叠的行</a:t>
            </a:r>
          </a:p>
        </p:txBody>
      </p:sp>
    </p:spTree>
    <p:extLst>
      <p:ext uri="{BB962C8B-B14F-4D97-AF65-F5344CB8AC3E}">
        <p14:creationId xmlns:p14="http://schemas.microsoft.com/office/powerpoint/2010/main" val="586323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测验：边际分布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graphicFrame>
        <p:nvGraphicFramePr>
          <p:cNvPr id="8" name="Group 6">
            <a:extLst>
              <a:ext uri="{FF2B5EF4-FFF2-40B4-BE49-F238E27FC236}">
                <a16:creationId xmlns:a16="http://schemas.microsoft.com/office/drawing/2014/main" id="{B4A0FB94-273B-456B-AF11-0E0FB1C17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361346"/>
              </p:ext>
            </p:extLst>
          </p:nvPr>
        </p:nvGraphicFramePr>
        <p:xfrm>
          <a:off x="314520" y="2495271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Group 60">
            <a:extLst>
              <a:ext uri="{FF2B5EF4-FFF2-40B4-BE49-F238E27FC236}">
                <a16:creationId xmlns:a16="http://schemas.microsoft.com/office/drawing/2014/main" id="{7B454499-91EB-4CE7-B3AD-C04680109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126712"/>
              </p:ext>
            </p:extLst>
          </p:nvPr>
        </p:nvGraphicFramePr>
        <p:xfrm>
          <a:off x="7119884" y="1914246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lang="en-US" sz="2000" b="0" i="0" kern="0" dirty="0">
                        <a:solidFill>
                          <a:srgbClr val="333399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lang="en-US" sz="2000" b="0" i="0" kern="0" dirty="0">
                        <a:solidFill>
                          <a:srgbClr val="333399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Group 61">
            <a:extLst>
              <a:ext uri="{FF2B5EF4-FFF2-40B4-BE49-F238E27FC236}">
                <a16:creationId xmlns:a16="http://schemas.microsoft.com/office/drawing/2014/main" id="{D54BA536-84E1-4282-A7BC-5164503B9E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47477"/>
              </p:ext>
            </p:extLst>
          </p:nvPr>
        </p:nvGraphicFramePr>
        <p:xfrm>
          <a:off x="7119884" y="3743046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Y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lang="en-US" sz="2000" b="0" i="0" kern="0" dirty="0">
                        <a:solidFill>
                          <a:srgbClr val="333399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lang="en-US" sz="2000" b="0" i="0" kern="0" dirty="0">
                        <a:solidFill>
                          <a:srgbClr val="333399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Line 81">
            <a:extLst>
              <a:ext uri="{FF2B5EF4-FFF2-40B4-BE49-F238E27FC236}">
                <a16:creationId xmlns:a16="http://schemas.microsoft.com/office/drawing/2014/main" id="{718B9A7D-9CE9-453E-8DCA-44925D3C69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71846" y="2617049"/>
            <a:ext cx="2743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12" name="Line 82">
            <a:extLst>
              <a:ext uri="{FF2B5EF4-FFF2-40B4-BE49-F238E27FC236}">
                <a16:creationId xmlns:a16="http://schemas.microsoft.com/office/drawing/2014/main" id="{30B4F1E1-9BFB-4B2A-8F2F-06ECA5EA2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1846" y="4187789"/>
            <a:ext cx="27432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13" name="Picture 2" descr="txp_fig.png">
            <a:extLst>
              <a:ext uri="{FF2B5EF4-FFF2-40B4-BE49-F238E27FC236}">
                <a16:creationId xmlns:a16="http://schemas.microsoft.com/office/drawing/2014/main" id="{D9779529-F71D-4E8B-9BEC-1453AFC187E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37468" y="2036484"/>
            <a:ext cx="1148104" cy="2982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Picture 4" descr="txp_fig.png">
            <a:extLst>
              <a:ext uri="{FF2B5EF4-FFF2-40B4-BE49-F238E27FC236}">
                <a16:creationId xmlns:a16="http://schemas.microsoft.com/office/drawing/2014/main" id="{E1E55075-2985-4532-962B-7238722F431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0532" y="2866286"/>
            <a:ext cx="2582940" cy="61214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Picture 5" descr="txp_fig.png">
            <a:extLst>
              <a:ext uri="{FF2B5EF4-FFF2-40B4-BE49-F238E27FC236}">
                <a16:creationId xmlns:a16="http://schemas.microsoft.com/office/drawing/2014/main" id="{8F151595-FD79-4E3E-9023-B77A43A6B8D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67863" y="1509434"/>
            <a:ext cx="791580" cy="2987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6" name="Picture 6" descr="txp_fig.png">
            <a:extLst>
              <a:ext uri="{FF2B5EF4-FFF2-40B4-BE49-F238E27FC236}">
                <a16:creationId xmlns:a16="http://schemas.microsoft.com/office/drawing/2014/main" id="{556551D4-340A-491F-8FD3-8CE6147C06A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2479" y="4417976"/>
            <a:ext cx="2551748" cy="56705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7" name="Picture 7" descr="txp_fig.png">
            <a:extLst>
              <a:ext uri="{FF2B5EF4-FFF2-40B4-BE49-F238E27FC236}">
                <a16:creationId xmlns:a16="http://schemas.microsoft.com/office/drawing/2014/main" id="{D96817A7-B1CD-4652-9FB9-35072C02FF12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0918" y="3338234"/>
            <a:ext cx="761332" cy="2985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Picture 1">
            <a:extLst>
              <a:ext uri="{FF2B5EF4-FFF2-40B4-BE49-F238E27FC236}">
                <a16:creationId xmlns:a16="http://schemas.microsoft.com/office/drawing/2014/main" id="{240BF0ED-DC3C-418C-9B2F-BC74615114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642" y="1144880"/>
            <a:ext cx="2954357" cy="193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49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条件概率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联合概率与条件概率之间的简单关系</a:t>
            </a:r>
          </a:p>
          <a:p>
            <a:pPr marL="742950" lvl="1" indent="-28575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r>
              <a:rPr lang="zh-CN" alt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实际上，这是条件概率的定义：</a:t>
            </a:r>
            <a:endParaRPr lang="en-US" altLang="zh-CN" sz="20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2157E96-9101-474F-9C1D-33E4985F2B61}"/>
              </a:ext>
            </a:extLst>
          </p:cNvPr>
          <p:cNvSpPr/>
          <p:nvPr/>
        </p:nvSpPr>
        <p:spPr>
          <a:xfrm>
            <a:off x="5817224" y="2213843"/>
            <a:ext cx="3174853" cy="2154643"/>
          </a:xfrm>
          <a:prstGeom prst="rect">
            <a:avLst/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DEB90031-8F9C-4852-8737-653B84831A15}"/>
              </a:ext>
            </a:extLst>
          </p:cNvPr>
          <p:cNvSpPr txBox="1"/>
          <p:nvPr/>
        </p:nvSpPr>
        <p:spPr>
          <a:xfrm>
            <a:off x="7097157" y="224647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E57071"/>
                </a:solidFill>
                <a:cs typeface="+mn-ea"/>
                <a:sym typeface="+mn-lt"/>
              </a:rPr>
              <a:t>P(</a:t>
            </a:r>
            <a:r>
              <a:rPr lang="en-US" sz="2000" i="1" dirty="0" err="1">
                <a:solidFill>
                  <a:srgbClr val="E57071"/>
                </a:solidFill>
                <a:cs typeface="+mn-ea"/>
                <a:sym typeface="+mn-lt"/>
              </a:rPr>
              <a:t>a,b</a:t>
            </a:r>
            <a:r>
              <a:rPr lang="en-US" sz="2000" i="1" dirty="0">
                <a:solidFill>
                  <a:srgbClr val="E57071"/>
                </a:solidFill>
                <a:cs typeface="+mn-ea"/>
                <a:sym typeface="+mn-lt"/>
              </a:rPr>
              <a:t>)</a:t>
            </a: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pic>
        <p:nvPicPr>
          <p:cNvPr id="5" name="Picture 6" descr="txp_fig">
            <a:extLst>
              <a:ext uri="{FF2B5EF4-FFF2-40B4-BE49-F238E27FC236}">
                <a16:creationId xmlns:a16="http://schemas.microsoft.com/office/drawing/2014/main" id="{59BACE92-69A6-4791-87C9-488F107683A8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118" y="2697162"/>
            <a:ext cx="2373312" cy="7318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roup 7">
            <a:extLst>
              <a:ext uri="{FF2B5EF4-FFF2-40B4-BE49-F238E27FC236}">
                <a16:creationId xmlns:a16="http://schemas.microsoft.com/office/drawing/2014/main" id="{5DA97D93-3416-49BD-B91E-F375BF3DED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39823"/>
              </p:ext>
            </p:extLst>
          </p:nvPr>
        </p:nvGraphicFramePr>
        <p:xfrm>
          <a:off x="1136528" y="4144965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21">
            <a:extLst>
              <a:ext uri="{FF2B5EF4-FFF2-40B4-BE49-F238E27FC236}">
                <a16:creationId xmlns:a16="http://schemas.microsoft.com/office/drawing/2014/main" id="{8096C1AB-4242-4744-94B8-F366D8BAFD68}"/>
              </a:ext>
            </a:extLst>
          </p:cNvPr>
          <p:cNvGrpSpPr/>
          <p:nvPr/>
        </p:nvGrpSpPr>
        <p:grpSpPr bwMode="auto">
          <a:xfrm>
            <a:off x="6350404" y="2612626"/>
            <a:ext cx="2197100" cy="1272154"/>
            <a:chOff x="5105400" y="2512724"/>
            <a:chExt cx="2895600" cy="1676400"/>
          </a:xfrm>
        </p:grpSpPr>
        <p:sp>
          <p:nvSpPr>
            <p:cNvPr id="9" name="Oval 33">
              <a:extLst>
                <a:ext uri="{FF2B5EF4-FFF2-40B4-BE49-F238E27FC236}">
                  <a16:creationId xmlns:a16="http://schemas.microsoft.com/office/drawing/2014/main" id="{50A911BB-CF3E-4A2B-86EC-AE45E83E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5400" y="2512724"/>
              <a:ext cx="1828800" cy="1676400"/>
            </a:xfrm>
            <a:prstGeom prst="ellipse">
              <a:avLst/>
            </a:prstGeom>
            <a:solidFill>
              <a:srgbClr val="3333FF">
                <a:alpha val="50195"/>
              </a:srgb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0" name="Oval 34">
              <a:extLst>
                <a:ext uri="{FF2B5EF4-FFF2-40B4-BE49-F238E27FC236}">
                  <a16:creationId xmlns:a16="http://schemas.microsoft.com/office/drawing/2014/main" id="{A6F6A751-6E93-4207-B89A-16EC9A210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72200" y="2512724"/>
              <a:ext cx="1828800" cy="1676400"/>
            </a:xfrm>
            <a:prstGeom prst="ellipse">
              <a:avLst/>
            </a:prstGeom>
            <a:solidFill>
              <a:srgbClr val="FF3300">
                <a:alpha val="50195"/>
              </a:srgbClr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11" name="Picture 20" descr="txp_fig">
            <a:extLst>
              <a:ext uri="{FF2B5EF4-FFF2-40B4-BE49-F238E27FC236}">
                <a16:creationId xmlns:a16="http://schemas.microsoft.com/office/drawing/2014/main" id="{BA65AF55-EF27-47B3-8183-9AE834397F7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566" y="3759202"/>
            <a:ext cx="1179512" cy="29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3" descr="txp_fig.png">
            <a:extLst>
              <a:ext uri="{FF2B5EF4-FFF2-40B4-BE49-F238E27FC236}">
                <a16:creationId xmlns:a16="http://schemas.microsoft.com/office/drawing/2014/main" id="{DE710669-84D2-4969-8E23-D770DC854F9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97587" y="4842771"/>
            <a:ext cx="3269608" cy="3135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FB8C3AA1-95C1-410A-BC1C-271B0A0481E1}"/>
              </a:ext>
            </a:extLst>
          </p:cNvPr>
          <p:cNvSpPr txBox="1"/>
          <p:nvPr/>
        </p:nvSpPr>
        <p:spPr>
          <a:xfrm>
            <a:off x="7631425" y="3914876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rgbClr val="FF9786"/>
                </a:solidFill>
                <a:cs typeface="+mn-ea"/>
                <a:sym typeface="+mn-lt"/>
              </a:rPr>
              <a:t>P(b)</a:t>
            </a:r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908AEB78-BF35-406B-B865-4DC7904DB8F4}"/>
              </a:ext>
            </a:extLst>
          </p:cNvPr>
          <p:cNvSpPr txBox="1"/>
          <p:nvPr/>
        </p:nvSpPr>
        <p:spPr>
          <a:xfrm>
            <a:off x="6615933" y="3908513"/>
            <a:ext cx="66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i="1" dirty="0">
                <a:solidFill>
                  <a:schemeClr val="accent3">
                    <a:lumMod val="75000"/>
                  </a:schemeClr>
                </a:solidFill>
                <a:cs typeface="+mn-ea"/>
                <a:sym typeface="+mn-lt"/>
              </a:rPr>
              <a:t>P(a)</a:t>
            </a:r>
          </a:p>
        </p:txBody>
      </p:sp>
      <p:pic>
        <p:nvPicPr>
          <p:cNvPr id="17" name="Picture 14" descr="txp_fig.png">
            <a:extLst>
              <a:ext uri="{FF2B5EF4-FFF2-40B4-BE49-F238E27FC236}">
                <a16:creationId xmlns:a16="http://schemas.microsoft.com/office/drawing/2014/main" id="{FF7A6E12-4EEE-4E7F-A8DE-97C01AF59C3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64138" y="4643624"/>
            <a:ext cx="2836647" cy="7315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8" name="Picture 15" descr="txp_fig.png">
            <a:extLst>
              <a:ext uri="{FF2B5EF4-FFF2-40B4-BE49-F238E27FC236}">
                <a16:creationId xmlns:a16="http://schemas.microsoft.com/office/drawing/2014/main" id="{ED47EFDB-AC3C-44B3-94CF-3569845E01AB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42370" y="4659941"/>
            <a:ext cx="836064" cy="6569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9" name="Picture 23" descr="txp_fig.png">
            <a:extLst>
              <a:ext uri="{FF2B5EF4-FFF2-40B4-BE49-F238E27FC236}">
                <a16:creationId xmlns:a16="http://schemas.microsoft.com/office/drawing/2014/main" id="{5CFBCDA9-AE8A-4899-AE2B-0922351192D3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54690" y="4880383"/>
            <a:ext cx="821135" cy="2239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0" name="Picture 25" descr="txp_fig.png">
            <a:extLst>
              <a:ext uri="{FF2B5EF4-FFF2-40B4-BE49-F238E27FC236}">
                <a16:creationId xmlns:a16="http://schemas.microsoft.com/office/drawing/2014/main" id="{347656B3-207E-4527-AD78-D9F9CCD6C803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6917" y="5759941"/>
            <a:ext cx="5643434" cy="2985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1" name="Picture 27" descr="txp_fig.png">
            <a:extLst>
              <a:ext uri="{FF2B5EF4-FFF2-40B4-BE49-F238E27FC236}">
                <a16:creationId xmlns:a16="http://schemas.microsoft.com/office/drawing/2014/main" id="{CE6DBB1F-611B-4B1B-A8FC-26E6CF48819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7014" y="6263888"/>
            <a:ext cx="1701988" cy="2538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22" name="Picture 9" descr="txp_fig.png">
            <a:extLst>
              <a:ext uri="{FF2B5EF4-FFF2-40B4-BE49-F238E27FC236}">
                <a16:creationId xmlns:a16="http://schemas.microsoft.com/office/drawing/2014/main" id="{6786B065-23CD-48A3-841E-50CF2CDBC1F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55278" y="6268865"/>
            <a:ext cx="806205" cy="22394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3" name="Rectangular Callout 10">
            <a:extLst>
              <a:ext uri="{FF2B5EF4-FFF2-40B4-BE49-F238E27FC236}">
                <a16:creationId xmlns:a16="http://schemas.microsoft.com/office/drawing/2014/main" id="{0F83C6BD-7004-484C-B53E-6DFDEB2907E0}"/>
              </a:ext>
            </a:extLst>
          </p:cNvPr>
          <p:cNvSpPr/>
          <p:nvPr/>
        </p:nvSpPr>
        <p:spPr>
          <a:xfrm>
            <a:off x="5114211" y="5661266"/>
            <a:ext cx="6020880" cy="997942"/>
          </a:xfrm>
          <a:prstGeom prst="wedgeRectCallout">
            <a:avLst>
              <a:gd name="adj1" fmla="val -1035"/>
              <a:gd name="adj2" fmla="val -81872"/>
            </a:avLst>
          </a:prstGeom>
          <a:noFill/>
          <a:ln w="254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21273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kern="0" dirty="0" err="1">
                <a:solidFill>
                  <a:srgbClr val="333399"/>
                </a:solidFill>
                <a:latin typeface="+mn-lt"/>
                <a:ea typeface="+mn-ea"/>
                <a:cs typeface="+mn-ea"/>
                <a:sym typeface="+mn-lt"/>
              </a:rPr>
              <a:t>条件分布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 dirty="0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77470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条件分布是在其他变量取定值的情况下，某些变量的概率分布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。</a:t>
            </a:r>
          </a:p>
        </p:txBody>
      </p:sp>
      <p:pic>
        <p:nvPicPr>
          <p:cNvPr id="6" name="Picture 57" descr="txp_fig">
            <a:extLst>
              <a:ext uri="{FF2B5EF4-FFF2-40B4-BE49-F238E27FC236}">
                <a16:creationId xmlns:a16="http://schemas.microsoft.com/office/drawing/2014/main" id="{8D681BF9-FC86-4AB2-A189-9B6D6D58751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0961" y="2681968"/>
            <a:ext cx="2071687" cy="31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" name="Group 7">
            <a:extLst>
              <a:ext uri="{FF2B5EF4-FFF2-40B4-BE49-F238E27FC236}">
                <a16:creationId xmlns:a16="http://schemas.microsoft.com/office/drawing/2014/main" id="{042C4C72-7E09-466C-A1A3-B73DA516B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48208"/>
              </p:ext>
            </p:extLst>
          </p:nvPr>
        </p:nvGraphicFramePr>
        <p:xfrm>
          <a:off x="7943169" y="3281135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" name="Group 60">
            <a:extLst>
              <a:ext uri="{FF2B5EF4-FFF2-40B4-BE49-F238E27FC236}">
                <a16:creationId xmlns:a16="http://schemas.microsoft.com/office/drawing/2014/main" id="{C404F50C-9019-4A7F-B960-017AD05B0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716417"/>
              </p:ext>
            </p:extLst>
          </p:nvPr>
        </p:nvGraphicFramePr>
        <p:xfrm>
          <a:off x="2015898" y="3123293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0" name="Picture 58" descr="txp_fig">
            <a:extLst>
              <a:ext uri="{FF2B5EF4-FFF2-40B4-BE49-F238E27FC236}">
                <a16:creationId xmlns:a16="http://schemas.microsoft.com/office/drawing/2014/main" id="{C364A272-24EC-490D-A892-DB177F0FCEE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273" y="4539343"/>
            <a:ext cx="2162175" cy="31273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Group 60">
            <a:extLst>
              <a:ext uri="{FF2B5EF4-FFF2-40B4-BE49-F238E27FC236}">
                <a16:creationId xmlns:a16="http://schemas.microsoft.com/office/drawing/2014/main" id="{80E2845A-2752-4F6C-B2A9-535EF7D702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7678916"/>
              </p:ext>
            </p:extLst>
          </p:nvPr>
        </p:nvGraphicFramePr>
        <p:xfrm>
          <a:off x="2020661" y="4980668"/>
          <a:ext cx="1828800" cy="118903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" name="Picture 50" descr="txp_fig">
            <a:extLst>
              <a:ext uri="{FF2B5EF4-FFF2-40B4-BE49-F238E27FC236}">
                <a16:creationId xmlns:a16="http://schemas.microsoft.com/office/drawing/2014/main" id="{8842E519-73A8-45DF-8B75-A8D52F208D6D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594" y="2857273"/>
            <a:ext cx="1179513" cy="2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55">
            <a:extLst>
              <a:ext uri="{FF2B5EF4-FFF2-40B4-BE49-F238E27FC236}">
                <a16:creationId xmlns:a16="http://schemas.microsoft.com/office/drawing/2014/main" id="{7422DE72-ADD4-4A87-8A27-EE575B507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573" y="2182216"/>
            <a:ext cx="3183164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zh-CN" altLang="en-US" sz="2000" kern="0" dirty="0">
                <a:solidFill>
                  <a:srgbClr val="333399"/>
                </a:solidFill>
                <a:latin typeface="+mn-lt"/>
                <a:ea typeface="+mn-ea"/>
                <a:cs typeface="+mn-ea"/>
                <a:sym typeface="+mn-lt"/>
              </a:rPr>
              <a:t>条件分布</a:t>
            </a:r>
            <a:endParaRPr lang="en-US" sz="2000" kern="0" dirty="0">
              <a:solidFill>
                <a:srgbClr val="3333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Box 56">
            <a:extLst>
              <a:ext uri="{FF2B5EF4-FFF2-40B4-BE49-F238E27FC236}">
                <a16:creationId xmlns:a16="http://schemas.microsoft.com/office/drawing/2014/main" id="{A638EBC5-6EB3-443C-90E7-C4A98A981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0956" y="2281858"/>
            <a:ext cx="2587625" cy="40011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90204" pitchFamily="34" charset="0"/>
                <a:ea typeface="MS PGothic" pitchFamily="34" charset="-128"/>
              </a:defRPr>
            </a:lvl9pPr>
          </a:lstStyle>
          <a:p>
            <a:pPr algn="ctr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</a:pPr>
            <a:r>
              <a:rPr lang="zh-CN" altLang="en-US" sz="2000" kern="0" dirty="0">
                <a:solidFill>
                  <a:srgbClr val="333399"/>
                </a:solidFill>
                <a:latin typeface="+mn-lt"/>
                <a:ea typeface="+mn-ea"/>
                <a:cs typeface="+mn-ea"/>
                <a:sym typeface="+mn-lt"/>
              </a:rPr>
              <a:t>联合分布</a:t>
            </a:r>
            <a:endParaRPr lang="en-US" sz="2000" kern="0" dirty="0">
              <a:solidFill>
                <a:srgbClr val="33339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Left Brace 59">
            <a:extLst>
              <a:ext uri="{FF2B5EF4-FFF2-40B4-BE49-F238E27FC236}">
                <a16:creationId xmlns:a16="http://schemas.microsoft.com/office/drawing/2014/main" id="{0E35D965-C49F-4A5C-9DC1-A117C54EFAB6}"/>
              </a:ext>
            </a:extLst>
          </p:cNvPr>
          <p:cNvSpPr/>
          <p:nvPr/>
        </p:nvSpPr>
        <p:spPr>
          <a:xfrm>
            <a:off x="1447573" y="2659743"/>
            <a:ext cx="207963" cy="351790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>
              <a:cs typeface="+mn-ea"/>
              <a:sym typeface="+mn-lt"/>
            </a:endParaRPr>
          </a:p>
        </p:txBody>
      </p:sp>
      <p:pic>
        <p:nvPicPr>
          <p:cNvPr id="16" name="Picture 61" descr="txp_fig">
            <a:extLst>
              <a:ext uri="{FF2B5EF4-FFF2-40B4-BE49-F238E27FC236}">
                <a16:creationId xmlns:a16="http://schemas.microsoft.com/office/drawing/2014/main" id="{E889CCA9-9A3D-4FBE-AB76-F852D778EA3C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211" y="3836081"/>
            <a:ext cx="312737" cy="11477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703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归一化技巧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graphicFrame>
        <p:nvGraphicFramePr>
          <p:cNvPr id="5" name="Group 7">
            <a:extLst>
              <a:ext uri="{FF2B5EF4-FFF2-40B4-BE49-F238E27FC236}">
                <a16:creationId xmlns:a16="http://schemas.microsoft.com/office/drawing/2014/main" id="{ADF6FCE4-E105-4E21-A87B-F813F0E3D1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392769"/>
              </p:ext>
            </p:extLst>
          </p:nvPr>
        </p:nvGraphicFramePr>
        <p:xfrm>
          <a:off x="303920" y="3102146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1" descr="txp_fig.png">
            <a:extLst>
              <a:ext uri="{FF2B5EF4-FFF2-40B4-BE49-F238E27FC236}">
                <a16:creationId xmlns:a16="http://schemas.microsoft.com/office/drawing/2014/main" id="{62FB4FB2-4F4B-47AA-81AA-6E2E82A02B7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9729" y="4777781"/>
            <a:ext cx="1909108" cy="21788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8" name="Picture 29" descr="txp_fig.png">
            <a:extLst>
              <a:ext uri="{FF2B5EF4-FFF2-40B4-BE49-F238E27FC236}">
                <a16:creationId xmlns:a16="http://schemas.microsoft.com/office/drawing/2014/main" id="{02E41CA0-724F-40F7-B664-9DD07280765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97693" y="5202189"/>
            <a:ext cx="3963475" cy="5179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9" name="Picture 1051683" descr="txp_fig.png">
            <a:extLst>
              <a:ext uri="{FF2B5EF4-FFF2-40B4-BE49-F238E27FC236}">
                <a16:creationId xmlns:a16="http://schemas.microsoft.com/office/drawing/2014/main" id="{41BD92AE-2B02-4999-ADC0-5A80E9330E4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1641" y="4628880"/>
            <a:ext cx="1960986" cy="5179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0" name="Picture 1051686" descr="txp_fig.png">
            <a:extLst>
              <a:ext uri="{FF2B5EF4-FFF2-40B4-BE49-F238E27FC236}">
                <a16:creationId xmlns:a16="http://schemas.microsoft.com/office/drawing/2014/main" id="{3EE108BB-D759-4972-9A69-02D607B8D24F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1787" y="5820987"/>
            <a:ext cx="1846854" cy="48621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1" name="Picture 15" descr="txp_fig">
            <a:extLst>
              <a:ext uri="{FF2B5EF4-FFF2-40B4-BE49-F238E27FC236}">
                <a16:creationId xmlns:a16="http://schemas.microsoft.com/office/drawing/2014/main" id="{6FB0CFB0-3327-437C-A9B4-3333647C6E38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78" y="2617154"/>
            <a:ext cx="1267467" cy="320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5" descr="txp_fig.png">
            <a:extLst>
              <a:ext uri="{FF2B5EF4-FFF2-40B4-BE49-F238E27FC236}">
                <a16:creationId xmlns:a16="http://schemas.microsoft.com/office/drawing/2014/main" id="{1176A6C7-30DF-4780-81C3-5FC28439149B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4886" y="1985833"/>
            <a:ext cx="1954844" cy="22310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3" name="Picture 17" descr="txp_fig.png">
            <a:extLst>
              <a:ext uri="{FF2B5EF4-FFF2-40B4-BE49-F238E27FC236}">
                <a16:creationId xmlns:a16="http://schemas.microsoft.com/office/drawing/2014/main" id="{DA6B5C7C-A754-409A-8BF4-33749E1B72E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4815" y="2414780"/>
            <a:ext cx="4058427" cy="5205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4" name="Picture 20" descr="txp_fig.png">
            <a:extLst>
              <a:ext uri="{FF2B5EF4-FFF2-40B4-BE49-F238E27FC236}">
                <a16:creationId xmlns:a16="http://schemas.microsoft.com/office/drawing/2014/main" id="{2101C560-FABD-4B67-9FEC-122C66762F50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84" y="1831680"/>
            <a:ext cx="2018590" cy="52058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pic>
        <p:nvPicPr>
          <p:cNvPr id="15" name="Picture 23" descr="txp_fig.png">
            <a:extLst>
              <a:ext uri="{FF2B5EF4-FFF2-40B4-BE49-F238E27FC236}">
                <a16:creationId xmlns:a16="http://schemas.microsoft.com/office/drawing/2014/main" id="{E29FEAA5-9A4C-40C7-BE97-0F9484390520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1982" y="2968286"/>
            <a:ext cx="1891099" cy="48871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graphicFrame>
        <p:nvGraphicFramePr>
          <p:cNvPr id="16" name="Group 46">
            <a:extLst>
              <a:ext uri="{FF2B5EF4-FFF2-40B4-BE49-F238E27FC236}">
                <a16:creationId xmlns:a16="http://schemas.microsoft.com/office/drawing/2014/main" id="{4F5D1D70-2E48-4197-A0B7-197E177BD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343086"/>
              </p:ext>
            </p:extLst>
          </p:nvPr>
        </p:nvGraphicFramePr>
        <p:xfrm>
          <a:off x="10246121" y="3659964"/>
          <a:ext cx="1581150" cy="118872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7" name="Picture 1051681" descr="txp_fig.png">
            <a:extLst>
              <a:ext uri="{FF2B5EF4-FFF2-40B4-BE49-F238E27FC236}">
                <a16:creationId xmlns:a16="http://schemas.microsoft.com/office/drawing/2014/main" id="{BB85B7E4-8213-47AA-A0CF-84C1F48E907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90677" y="3198001"/>
            <a:ext cx="1745932" cy="31337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8" name="Line 45">
            <a:extLst>
              <a:ext uri="{FF2B5EF4-FFF2-40B4-BE49-F238E27FC236}">
                <a16:creationId xmlns:a16="http://schemas.microsoft.com/office/drawing/2014/main" id="{A1AB7FF8-5C93-4D49-8A84-7EE3F46F0B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791013" y="3971222"/>
            <a:ext cx="5772525" cy="3177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67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正则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化技巧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chemeClr val="accent3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5" name="Text Box 60">
            <a:extLst>
              <a:ext uri="{FF2B5EF4-FFF2-40B4-BE49-F238E27FC236}">
                <a16:creationId xmlns:a16="http://schemas.microsoft.com/office/drawing/2014/main" id="{B5772F4F-37C9-44C0-838B-3A5431FE9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497" y="3198195"/>
            <a:ext cx="2195482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lvl="1" indent="0" algn="ctr" eaLnBrk="1" hangingPunct="1">
              <a:spcBef>
                <a:spcPct val="50000"/>
              </a:spcBef>
            </a:pPr>
            <a:r>
              <a:rPr lang="en-US" altLang="zh-CN" sz="2000" b="1" dirty="0" err="1">
                <a:cs typeface="+mn-ea"/>
                <a:sym typeface="+mn-lt"/>
              </a:rPr>
              <a:t>选择</a:t>
            </a:r>
            <a:r>
              <a:rPr lang="en-US" altLang="zh-CN" sz="2000" dirty="0">
                <a:cs typeface="+mn-ea"/>
                <a:sym typeface="+mn-lt"/>
              </a:rPr>
              <a:t> </a:t>
            </a:r>
            <a:r>
              <a:rPr lang="en-US" altLang="zh-CN" sz="2000" dirty="0" err="1">
                <a:cs typeface="+mn-ea"/>
                <a:sym typeface="+mn-lt"/>
              </a:rPr>
              <a:t>与证据相匹配的联合概率</a:t>
            </a:r>
            <a:endParaRPr lang="en-US" altLang="zh-CN" sz="2000" dirty="0">
              <a:cs typeface="+mn-ea"/>
              <a:sym typeface="+mn-lt"/>
            </a:endParaRPr>
          </a:p>
        </p:txBody>
      </p:sp>
      <p:graphicFrame>
        <p:nvGraphicFramePr>
          <p:cNvPr id="6" name="Group 7">
            <a:extLst>
              <a:ext uri="{FF2B5EF4-FFF2-40B4-BE49-F238E27FC236}">
                <a16:creationId xmlns:a16="http://schemas.microsoft.com/office/drawing/2014/main" id="{E118C7CF-8F3D-4048-89A2-68DC04CA1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30840"/>
              </p:ext>
            </p:extLst>
          </p:nvPr>
        </p:nvGraphicFramePr>
        <p:xfrm>
          <a:off x="303920" y="3300866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" name="Group 1051688">
            <a:extLst>
              <a:ext uri="{FF2B5EF4-FFF2-40B4-BE49-F238E27FC236}">
                <a16:creationId xmlns:a16="http://schemas.microsoft.com/office/drawing/2014/main" id="{802DCE3F-39CA-4782-BA95-F810F26F3D50}"/>
              </a:ext>
            </a:extLst>
          </p:cNvPr>
          <p:cNvGrpSpPr/>
          <p:nvPr/>
        </p:nvGrpSpPr>
        <p:grpSpPr bwMode="auto">
          <a:xfrm>
            <a:off x="4639173" y="5189825"/>
            <a:ext cx="3357110" cy="990267"/>
            <a:chOff x="3830658" y="4628880"/>
            <a:chExt cx="5101206" cy="1477080"/>
          </a:xfrm>
        </p:grpSpPr>
        <p:pic>
          <p:nvPicPr>
            <p:cNvPr id="9" name="Picture 26" descr="txp_fig.png">
              <a:extLst>
                <a:ext uri="{FF2B5EF4-FFF2-40B4-BE49-F238E27FC236}">
                  <a16:creationId xmlns:a16="http://schemas.microsoft.com/office/drawing/2014/main" id="{CF53F20C-0B28-4161-89AE-F5E066C06C1B}"/>
                </a:ext>
              </a:extLst>
            </p:cNvPr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830658" y="4759927"/>
              <a:ext cx="2046540" cy="19535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10" name="Picture 29" descr="txp_fig.png">
              <a:extLst>
                <a:ext uri="{FF2B5EF4-FFF2-40B4-BE49-F238E27FC236}">
                  <a16:creationId xmlns:a16="http://schemas.microsoft.com/office/drawing/2014/main" id="{CACC6A92-D5AE-4219-84B3-399710BA5E94}"/>
                </a:ext>
              </a:extLst>
            </p:cNvPr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78325" y="5133446"/>
              <a:ext cx="3553539" cy="45582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11" name="Picture 1051683" descr="txp_fig.png">
              <a:extLst>
                <a:ext uri="{FF2B5EF4-FFF2-40B4-BE49-F238E27FC236}">
                  <a16:creationId xmlns:a16="http://schemas.microsoft.com/office/drawing/2014/main" id="{56759BB1-9401-4FE1-85FE-4DA1A233EE13}"/>
                </a:ext>
              </a:extLst>
            </p:cNvPr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81865" y="4628880"/>
              <a:ext cx="1758164" cy="45582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12" name="Picture 1051686" descr="txp_fig.png">
              <a:extLst>
                <a:ext uri="{FF2B5EF4-FFF2-40B4-BE49-F238E27FC236}">
                  <a16:creationId xmlns:a16="http://schemas.microsoft.com/office/drawing/2014/main" id="{57E15B08-4C47-4AA8-8B85-CEBB474D45A2}"/>
                </a:ext>
              </a:extLst>
            </p:cNvPr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55099" y="5678047"/>
              <a:ext cx="1655837" cy="42791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</p:grpSp>
      <p:pic>
        <p:nvPicPr>
          <p:cNvPr id="13" name="Picture 15" descr="txp_fig">
            <a:extLst>
              <a:ext uri="{FF2B5EF4-FFF2-40B4-BE49-F238E27FC236}">
                <a16:creationId xmlns:a16="http://schemas.microsoft.com/office/drawing/2014/main" id="{23B1F45F-FD98-4F91-9396-DCD0ED2220B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778" y="2815874"/>
            <a:ext cx="1267467" cy="3207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roup 25">
            <a:extLst>
              <a:ext uri="{FF2B5EF4-FFF2-40B4-BE49-F238E27FC236}">
                <a16:creationId xmlns:a16="http://schemas.microsoft.com/office/drawing/2014/main" id="{73878D67-8F8B-48A2-BC05-ABD73EEB8FDF}"/>
              </a:ext>
            </a:extLst>
          </p:cNvPr>
          <p:cNvGrpSpPr/>
          <p:nvPr/>
        </p:nvGrpSpPr>
        <p:grpSpPr bwMode="auto">
          <a:xfrm>
            <a:off x="4592945" y="1578236"/>
            <a:ext cx="3605608" cy="1008935"/>
            <a:chOff x="3711749" y="2025130"/>
            <a:chExt cx="5117028" cy="1431867"/>
          </a:xfrm>
        </p:grpSpPr>
        <p:pic>
          <p:nvPicPr>
            <p:cNvPr id="15" name="Picture 5" descr="txp_fig.png">
              <a:extLst>
                <a:ext uri="{FF2B5EF4-FFF2-40B4-BE49-F238E27FC236}">
                  <a16:creationId xmlns:a16="http://schemas.microsoft.com/office/drawing/2014/main" id="{3803AB8F-BF69-41C9-8464-99FABBB7F2E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9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711749" y="2160935"/>
              <a:ext cx="1722173" cy="19655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16" name="Picture 17" descr="txp_fig.png">
              <a:extLst>
                <a:ext uri="{FF2B5EF4-FFF2-40B4-BE49-F238E27FC236}">
                  <a16:creationId xmlns:a16="http://schemas.microsoft.com/office/drawing/2014/main" id="{2BF75023-6A98-4690-8816-74CABBB535E1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53396" y="2538828"/>
              <a:ext cx="3575381" cy="45862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17" name="Picture 20" descr="txp_fig.png">
              <a:extLst>
                <a:ext uri="{FF2B5EF4-FFF2-40B4-BE49-F238E27FC236}">
                  <a16:creationId xmlns:a16="http://schemas.microsoft.com/office/drawing/2014/main" id="{727C88E2-BA6F-4FC8-8F65-BD957970C1DB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70372" y="2025130"/>
              <a:ext cx="1778331" cy="458622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  <p:pic>
          <p:nvPicPr>
            <p:cNvPr id="18" name="Picture 23" descr="txp_fig.png">
              <a:extLst>
                <a:ext uri="{FF2B5EF4-FFF2-40B4-BE49-F238E27FC236}">
                  <a16:creationId xmlns:a16="http://schemas.microsoft.com/office/drawing/2014/main" id="{D5747F65-21F5-47C0-843A-2BD280D5F82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242091" y="3026454"/>
              <a:ext cx="1666015" cy="43054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pic>
      </p:grpSp>
      <p:graphicFrame>
        <p:nvGraphicFramePr>
          <p:cNvPr id="19" name="Group 46">
            <a:extLst>
              <a:ext uri="{FF2B5EF4-FFF2-40B4-BE49-F238E27FC236}">
                <a16:creationId xmlns:a16="http://schemas.microsoft.com/office/drawing/2014/main" id="{4B0C16B2-2809-448F-8781-8E2D2BD21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563393"/>
              </p:ext>
            </p:extLst>
          </p:nvPr>
        </p:nvGraphicFramePr>
        <p:xfrm>
          <a:off x="10246121" y="3729084"/>
          <a:ext cx="1581150" cy="118872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0" name="Picture 1051681" descr="txp_fig.png">
            <a:extLst>
              <a:ext uri="{FF2B5EF4-FFF2-40B4-BE49-F238E27FC236}">
                <a16:creationId xmlns:a16="http://schemas.microsoft.com/office/drawing/2014/main" id="{C8EE63BE-38F3-409A-85E7-D7B65CBEEE0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090677" y="3267121"/>
            <a:ext cx="1745932" cy="31337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1" name="Line 30">
            <a:extLst>
              <a:ext uri="{FF2B5EF4-FFF2-40B4-BE49-F238E27FC236}">
                <a16:creationId xmlns:a16="http://schemas.microsoft.com/office/drawing/2014/main" id="{E4132552-D8A0-4ED3-8E43-B7ACF08128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71858" y="4216320"/>
            <a:ext cx="1026540" cy="5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graphicFrame>
        <p:nvGraphicFramePr>
          <p:cNvPr id="22" name="Group 31">
            <a:extLst>
              <a:ext uri="{FF2B5EF4-FFF2-40B4-BE49-F238E27FC236}">
                <a16:creationId xmlns:a16="http://schemas.microsoft.com/office/drawing/2014/main" id="{93F38024-34E3-41CF-A3CF-B770D57A4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3495320"/>
              </p:ext>
            </p:extLst>
          </p:nvPr>
        </p:nvGraphicFramePr>
        <p:xfrm>
          <a:off x="5294939" y="3520381"/>
          <a:ext cx="2045578" cy="1188720"/>
        </p:xfrm>
        <a:graphic>
          <a:graphicData uri="http://schemas.openxmlformats.org/drawingml/2006/table">
            <a:tbl>
              <a:tblPr/>
              <a:tblGrid>
                <a:gridCol w="670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8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1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marL="91408" marR="914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marL="91408" marR="914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3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marL="91408" marR="914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Line 45">
            <a:extLst>
              <a:ext uri="{FF2B5EF4-FFF2-40B4-BE49-F238E27FC236}">
                <a16:creationId xmlns:a16="http://schemas.microsoft.com/office/drawing/2014/main" id="{C0C7DD1F-8FFE-4923-8717-7A51935C5BAD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7742" y="4172690"/>
            <a:ext cx="1167859" cy="907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24" name="Picture 27" descr="txp_fig.png">
            <a:extLst>
              <a:ext uri="{FF2B5EF4-FFF2-40B4-BE49-F238E27FC236}">
                <a16:creationId xmlns:a16="http://schemas.microsoft.com/office/drawing/2014/main" id="{CF86A09A-D6EB-4696-8570-5C639249272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57956" y="3053213"/>
            <a:ext cx="1119543" cy="2985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25" name="Text Box 60">
            <a:extLst>
              <a:ext uri="{FF2B5EF4-FFF2-40B4-BE49-F238E27FC236}">
                <a16:creationId xmlns:a16="http://schemas.microsoft.com/office/drawing/2014/main" id="{79311AF7-02E6-425B-9263-99320F0A2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454" y="3226135"/>
            <a:ext cx="2868198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lvl="1" algn="ctr" eaLnBrk="1" hangingPunct="1">
              <a:lnSpc>
                <a:spcPct val="90000"/>
              </a:lnSpc>
            </a:pPr>
            <a:r>
              <a:rPr lang="en-US" altLang="zh-CN" sz="2000" b="1" dirty="0" err="1">
                <a:cs typeface="+mn-ea"/>
                <a:sym typeface="+mn-lt"/>
              </a:rPr>
              <a:t>标准化</a:t>
            </a:r>
            <a:r>
              <a:rPr lang="en-US" altLang="zh-CN" sz="2000" dirty="0" err="1">
                <a:cs typeface="+mn-ea"/>
                <a:sym typeface="+mn-lt"/>
              </a:rPr>
              <a:t>选择</a:t>
            </a:r>
            <a:endParaRPr lang="en-US" altLang="zh-CN" sz="2000" dirty="0">
              <a:cs typeface="+mn-ea"/>
              <a:sym typeface="+mn-lt"/>
            </a:endParaRPr>
          </a:p>
          <a:p>
            <a:pPr lvl="1" algn="ctr" eaLnBrk="1" hangingPunct="1">
              <a:lnSpc>
                <a:spcPct val="90000"/>
              </a:lnSpc>
            </a:pPr>
            <a:r>
              <a:rPr lang="en-US" altLang="zh-CN" sz="2000" dirty="0">
                <a:cs typeface="+mn-ea"/>
                <a:sym typeface="+mn-lt"/>
              </a:rPr>
              <a:t>(</a:t>
            </a:r>
            <a:r>
              <a:rPr lang="en-US" altLang="zh-CN" sz="2000" dirty="0" err="1">
                <a:cs typeface="+mn-ea"/>
                <a:sym typeface="+mn-lt"/>
              </a:rPr>
              <a:t>使其总和为一</a:t>
            </a:r>
            <a:r>
              <a:rPr lang="en-US" altLang="zh-CN" sz="2000" dirty="0">
                <a:cs typeface="+mn-ea"/>
                <a:sym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149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1" grpId="0" animBg="1"/>
      <p:bldP spid="23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类别和对象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graphicFrame>
        <p:nvGraphicFramePr>
          <p:cNvPr id="26" name="Group 7">
            <a:extLst>
              <a:ext uri="{FF2B5EF4-FFF2-40B4-BE49-F238E27FC236}">
                <a16:creationId xmlns:a16="http://schemas.microsoft.com/office/drawing/2014/main" id="{1C3E2350-FA50-4C5D-9C0C-4A0FC6B66B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389142"/>
              </p:ext>
            </p:extLst>
          </p:nvPr>
        </p:nvGraphicFramePr>
        <p:xfrm>
          <a:off x="516192" y="2182269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7" name="Picture 15" descr="txp_fig">
            <a:extLst>
              <a:ext uri="{FF2B5EF4-FFF2-40B4-BE49-F238E27FC236}">
                <a16:creationId xmlns:a16="http://schemas.microsoft.com/office/drawing/2014/main" id="{F64C2975-7B0A-4892-93AE-F352AFC0249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050" y="1697277"/>
            <a:ext cx="1267467" cy="320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" name="Group 46">
            <a:extLst>
              <a:ext uri="{FF2B5EF4-FFF2-40B4-BE49-F238E27FC236}">
                <a16:creationId xmlns:a16="http://schemas.microsoft.com/office/drawing/2014/main" id="{6EB83F6D-4418-40AD-A724-6F3691F127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672318"/>
              </p:ext>
            </p:extLst>
          </p:nvPr>
        </p:nvGraphicFramePr>
        <p:xfrm>
          <a:off x="10458393" y="2610487"/>
          <a:ext cx="1581150" cy="118872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9" name="Picture 1051681" descr="txp_fig.png">
            <a:extLst>
              <a:ext uri="{FF2B5EF4-FFF2-40B4-BE49-F238E27FC236}">
                <a16:creationId xmlns:a16="http://schemas.microsoft.com/office/drawing/2014/main" id="{51BDF373-6191-48B7-9E61-FDF38F00E74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302949" y="2148524"/>
            <a:ext cx="1745932" cy="31337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0" name="Line 30">
            <a:extLst>
              <a:ext uri="{FF2B5EF4-FFF2-40B4-BE49-F238E27FC236}">
                <a16:creationId xmlns:a16="http://schemas.microsoft.com/office/drawing/2014/main" id="{C43411F1-AEA2-4984-9EA0-6C77BE0DC6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84130" y="3097723"/>
            <a:ext cx="1026540" cy="54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aphicFrame>
        <p:nvGraphicFramePr>
          <p:cNvPr id="31" name="Group 31">
            <a:extLst>
              <a:ext uri="{FF2B5EF4-FFF2-40B4-BE49-F238E27FC236}">
                <a16:creationId xmlns:a16="http://schemas.microsoft.com/office/drawing/2014/main" id="{6665FFFE-F5BC-48B0-B467-0FFAA90D8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722686"/>
              </p:ext>
            </p:extLst>
          </p:nvPr>
        </p:nvGraphicFramePr>
        <p:xfrm>
          <a:off x="5520756" y="2665858"/>
          <a:ext cx="2091737" cy="1188720"/>
        </p:xfrm>
        <a:graphic>
          <a:graphicData uri="http://schemas.openxmlformats.org/drawingml/2006/table">
            <a:tbl>
              <a:tblPr/>
              <a:tblGrid>
                <a:gridCol w="68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5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marL="91408" marR="9140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marL="91408" marR="9140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35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marL="91408" marR="91408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L="91408" marR="91408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Line 45">
            <a:extLst>
              <a:ext uri="{FF2B5EF4-FFF2-40B4-BE49-F238E27FC236}">
                <a16:creationId xmlns:a16="http://schemas.microsoft.com/office/drawing/2014/main" id="{F52C9599-8953-440C-B4EC-5A2FDABEF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0014" y="3054093"/>
            <a:ext cx="1167859" cy="907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Text Box 60">
            <a:extLst>
              <a:ext uri="{FF2B5EF4-FFF2-40B4-BE49-F238E27FC236}">
                <a16:creationId xmlns:a16="http://schemas.microsoft.com/office/drawing/2014/main" id="{056516FD-67E0-4883-9282-6CF2FF6DA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460" y="1971444"/>
            <a:ext cx="2195482" cy="11233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lvl="1" indent="0" algn="ctr"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选择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 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与证据相匹配的联合概率</a:t>
            </a:r>
            <a:endParaRPr lang="en-US" altLang="zh-CN" sz="200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zh-CN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</p:txBody>
      </p:sp>
      <p:pic>
        <p:nvPicPr>
          <p:cNvPr id="34" name="Picture 27" descr="txp_fig.png">
            <a:extLst>
              <a:ext uri="{FF2B5EF4-FFF2-40B4-BE49-F238E27FC236}">
                <a16:creationId xmlns:a16="http://schemas.microsoft.com/office/drawing/2014/main" id="{8400D61B-0480-40E8-9C32-3A441D4C10D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54747" y="2259458"/>
            <a:ext cx="1119543" cy="29854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35" name="Text Box 60">
            <a:extLst>
              <a:ext uri="{FF2B5EF4-FFF2-40B4-BE49-F238E27FC236}">
                <a16:creationId xmlns:a16="http://schemas.microsoft.com/office/drawing/2014/main" id="{CBE1FC27-48E1-4D06-8F8D-EA0118F7E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4462" y="1975663"/>
            <a:ext cx="2868198" cy="10618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lvl="1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标准化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选择</a:t>
            </a:r>
            <a:endParaRPr lang="en-US" altLang="zh-CN" sz="200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lvl="1" algn="ctr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使其总和为一</a:t>
            </a:r>
            <a:r>
              <a:rPr lang="en-US" altLang="zh-CN" sz="2000" dirty="0">
                <a:solidFill>
                  <a:srgbClr val="000000"/>
                </a:solidFill>
                <a:latin typeface="+mn-lt"/>
                <a:cs typeface="+mn-ea"/>
                <a:sym typeface="+mn-lt"/>
              </a:rPr>
              <a:t>)</a:t>
            </a:r>
          </a:p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</a:pPr>
            <a:endParaRPr lang="en-US" altLang="zh-CN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36" name="Rectangle 3">
            <a:extLst>
              <a:ext uri="{FF2B5EF4-FFF2-40B4-BE49-F238E27FC236}">
                <a16:creationId xmlns:a16="http://schemas.microsoft.com/office/drawing/2014/main" id="{F5953D18-6D34-4B47-A1C8-D5F718586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97" y="4611524"/>
            <a:ext cx="10516203" cy="5857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36" tIns="45718" rIns="91436" bIns="45718" numCol="1" anchor="t" anchorCtr="0" compatLnSpc="1"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99"/>
              </a:buClr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为什么这样能行呢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 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因为选择的概率之和就是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P(evidence)!  (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此处为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P(T=c))</a:t>
            </a:r>
          </a:p>
          <a:p>
            <a:pPr>
              <a:buClr>
                <a:srgbClr val="333399"/>
              </a:buClr>
            </a:pP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</a:pPr>
            <a:endParaRPr lang="en-US" sz="2400" kern="0" dirty="0"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</a:pPr>
            <a:endParaRPr lang="en-US" sz="2400" kern="0" dirty="0"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</a:pPr>
            <a:endParaRPr lang="en-US" sz="2400" kern="0" dirty="0"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</a:pPr>
            <a:endParaRPr lang="en-US" sz="2400" kern="0" dirty="0"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</a:pPr>
            <a:endParaRPr lang="en-US" sz="2400" kern="0" dirty="0"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</a:pPr>
            <a:endParaRPr lang="en-US" sz="2400" kern="0" dirty="0">
              <a:latin typeface="+mn-lt"/>
              <a:cs typeface="+mn-ea"/>
              <a:sym typeface="+mn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kern="0" dirty="0">
                <a:latin typeface="+mn-lt"/>
                <a:cs typeface="+mn-ea"/>
                <a:sym typeface="+mn-lt"/>
              </a:rPr>
              <a:t> </a:t>
            </a:r>
          </a:p>
        </p:txBody>
      </p:sp>
      <p:pic>
        <p:nvPicPr>
          <p:cNvPr id="37" name="Picture 67" descr="txp_fig">
            <a:extLst>
              <a:ext uri="{FF2B5EF4-FFF2-40B4-BE49-F238E27FC236}">
                <a16:creationId xmlns:a16="http://schemas.microsoft.com/office/drawing/2014/main" id="{DAB9A0EB-D103-48A4-A7D8-5B06EE0C885F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24" y="5298743"/>
            <a:ext cx="5584825" cy="7921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045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测验：条件概率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5208814" y="1397001"/>
            <a:ext cx="6576786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P(+x | +y) ?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P(-x | +y) ?</a:t>
            </a: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742950" lvl="1" indent="-28575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P(-y | +x) ?</a:t>
            </a:r>
          </a:p>
          <a:p>
            <a:pPr marL="457200" lvl="1" indent="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None/>
            </a:pPr>
            <a:endParaRPr lang="en-US" altLang="zh-CN" sz="2000" kern="0" dirty="0">
              <a:solidFill>
                <a:srgbClr val="000000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endParaRPr lang="en-US" altLang="zh-CN" sz="20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342900" lvl="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None/>
            </a:pPr>
            <a:r>
              <a:rPr lang="en-US" altLang="zh-CN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</a:t>
            </a:r>
          </a:p>
        </p:txBody>
      </p:sp>
      <p:graphicFrame>
        <p:nvGraphicFramePr>
          <p:cNvPr id="5" name="Group 6">
            <a:extLst>
              <a:ext uri="{FF2B5EF4-FFF2-40B4-BE49-F238E27FC236}">
                <a16:creationId xmlns:a16="http://schemas.microsoft.com/office/drawing/2014/main" id="{A833D933-80C3-43A0-B917-BDF3A96C5B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91389"/>
              </p:ext>
            </p:extLst>
          </p:nvPr>
        </p:nvGraphicFramePr>
        <p:xfrm>
          <a:off x="1179935" y="2438400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 descr="txp_fig.png">
            <a:extLst>
              <a:ext uri="{FF2B5EF4-FFF2-40B4-BE49-F238E27FC236}">
                <a16:creationId xmlns:a16="http://schemas.microsoft.com/office/drawing/2014/main" id="{DAABA843-060C-454E-96F5-80753AFD455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02883" y="1979613"/>
            <a:ext cx="1148104" cy="2982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</p:spTree>
    <p:extLst>
      <p:ext uri="{BB962C8B-B14F-4D97-AF65-F5344CB8AC3E}">
        <p14:creationId xmlns:p14="http://schemas.microsoft.com/office/powerpoint/2010/main" val="742989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F881F89A-97EC-F1E7-D591-39E9B7647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测验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正则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化技巧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Footer Placeholder 4">
            <a:extLst>
              <a:ext uri="{FF2B5EF4-FFF2-40B4-BE49-F238E27FC236}">
                <a16:creationId xmlns:a16="http://schemas.microsoft.com/office/drawing/2014/main" id="{4536C200-443A-8523-16F4-CD80EB015D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zh-CN">
                <a:solidFill>
                  <a:srgbClr val="FFFFFF"/>
                </a:solidFill>
                <a:latin typeface="+mn-lt"/>
                <a:cs typeface="+mn-ea"/>
                <a:sym typeface="+mn-lt"/>
              </a:rPr>
              <a:t>Artificial Intelligence a modern approach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428197A-A08B-4D7C-B059-8495DFC13C6F}"/>
              </a:ext>
            </a:extLst>
          </p:cNvPr>
          <p:cNvSpPr txBox="1">
            <a:spLocks/>
          </p:cNvSpPr>
          <p:nvPr/>
        </p:nvSpPr>
        <p:spPr>
          <a:xfrm>
            <a:off x="406400" y="1397001"/>
            <a:ext cx="11379200" cy="47291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99"/>
              </a:buClr>
              <a:buFont typeface="Wingdings" panose="05000000000000000000" pitchFamily="2" charset="2"/>
              <a:buChar char="§"/>
            </a:pPr>
            <a:r>
              <a:rPr lang="en-US" altLang="zh-CN" sz="32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P(X | Y=-y) ?</a:t>
            </a:r>
          </a:p>
        </p:txBody>
      </p:sp>
      <p:graphicFrame>
        <p:nvGraphicFramePr>
          <p:cNvPr id="11" name="Group 7">
            <a:extLst>
              <a:ext uri="{FF2B5EF4-FFF2-40B4-BE49-F238E27FC236}">
                <a16:creationId xmlns:a16="http://schemas.microsoft.com/office/drawing/2014/main" id="{FF233615-6B08-4CBF-B3F7-C076CFEB1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590258"/>
              </p:ext>
            </p:extLst>
          </p:nvPr>
        </p:nvGraphicFramePr>
        <p:xfrm>
          <a:off x="793778" y="2873503"/>
          <a:ext cx="2743200" cy="19812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US" sz="20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" descr="txp_fig.png">
            <a:extLst>
              <a:ext uri="{FF2B5EF4-FFF2-40B4-BE49-F238E27FC236}">
                <a16:creationId xmlns:a16="http://schemas.microsoft.com/office/drawing/2014/main" id="{990C8982-81D2-4E2F-B1DF-179AE51EC8A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4680" y="2388511"/>
            <a:ext cx="1235379" cy="32087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</p:pic>
      <p:sp>
        <p:nvSpPr>
          <p:cNvPr id="13" name="Line 30">
            <a:extLst>
              <a:ext uri="{FF2B5EF4-FFF2-40B4-BE49-F238E27FC236}">
                <a16:creationId xmlns:a16="http://schemas.microsoft.com/office/drawing/2014/main" id="{EC93957A-07F2-445E-BDAD-B4DFD8637CD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61716" y="3788957"/>
            <a:ext cx="1026540" cy="5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14" name="Line 45">
            <a:extLst>
              <a:ext uri="{FF2B5EF4-FFF2-40B4-BE49-F238E27FC236}">
                <a16:creationId xmlns:a16="http://schemas.microsoft.com/office/drawing/2014/main" id="{82C633AB-DFC0-499A-ADA0-E080D44377D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27880" y="3745327"/>
            <a:ext cx="1167859" cy="907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tailEnd type="triangle" w="med" len="med"/>
          </a:ln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15" name="Text Box 60">
            <a:extLst>
              <a:ext uri="{FF2B5EF4-FFF2-40B4-BE49-F238E27FC236}">
                <a16:creationId xmlns:a16="http://schemas.microsoft.com/office/drawing/2014/main" id="{158F8849-20F7-44D6-AF80-2BE9CCDF8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958" y="2740719"/>
            <a:ext cx="2195482" cy="112338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marL="0" lvl="1" indent="0" algn="ctr" eaLnBrk="1" hangingPunct="1">
              <a:spcBef>
                <a:spcPct val="50000"/>
              </a:spcBef>
            </a:pPr>
            <a:r>
              <a:rPr lang="en-US" altLang="zh-CN" sz="2000" b="1" dirty="0" err="1">
                <a:latin typeface="+mn-lt"/>
                <a:cs typeface="+mn-ea"/>
                <a:sym typeface="+mn-lt"/>
              </a:rPr>
              <a:t>选择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 </a:t>
            </a:r>
            <a:r>
              <a:rPr lang="en-US" altLang="zh-CN" sz="2000" dirty="0" err="1">
                <a:latin typeface="+mn-lt"/>
                <a:cs typeface="+mn-ea"/>
                <a:sym typeface="+mn-lt"/>
              </a:rPr>
              <a:t>与证据匹配的联合概率</a:t>
            </a:r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16" name="Text Box 60">
            <a:extLst>
              <a:ext uri="{FF2B5EF4-FFF2-40B4-BE49-F238E27FC236}">
                <a16:creationId xmlns:a16="http://schemas.microsoft.com/office/drawing/2014/main" id="{0B1EE21E-0D54-4130-8C29-671401836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9279" y="2771496"/>
            <a:ext cx="2868198" cy="10618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lvl="1" algn="ctr" eaLnBrk="1" hangingPunct="1">
              <a:lnSpc>
                <a:spcPct val="90000"/>
              </a:lnSpc>
            </a:pPr>
            <a:r>
              <a:rPr lang="en-US" altLang="zh-CN" sz="2000" b="1" dirty="0" err="1">
                <a:latin typeface="+mn-lt"/>
                <a:cs typeface="+mn-ea"/>
                <a:sym typeface="+mn-lt"/>
              </a:rPr>
              <a:t>标准化</a:t>
            </a:r>
            <a:r>
              <a:rPr lang="en-US" altLang="zh-CN" sz="2000" dirty="0" err="1">
                <a:latin typeface="+mn-lt"/>
                <a:cs typeface="+mn-ea"/>
                <a:sym typeface="+mn-lt"/>
              </a:rPr>
              <a:t>选择</a:t>
            </a:r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lvl="1" algn="ctr" eaLnBrk="1" hangingPunct="1">
              <a:lnSpc>
                <a:spcPct val="90000"/>
              </a:lnSpc>
            </a:pPr>
            <a:r>
              <a:rPr lang="en-US" altLang="zh-CN" sz="2000" dirty="0">
                <a:latin typeface="+mn-lt"/>
                <a:cs typeface="+mn-ea"/>
                <a:sym typeface="+mn-lt"/>
              </a:rPr>
              <a:t>(</a:t>
            </a:r>
            <a:r>
              <a:rPr lang="en-US" altLang="zh-CN" sz="2000" dirty="0" err="1">
                <a:latin typeface="+mn-lt"/>
                <a:cs typeface="+mn-ea"/>
                <a:sym typeface="+mn-lt"/>
              </a:rPr>
              <a:t>使其总和为一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)</a:t>
            </a:r>
          </a:p>
          <a:p>
            <a:pPr algn="ctr" eaLnBrk="1" hangingPunct="1">
              <a:spcBef>
                <a:spcPct val="50000"/>
              </a:spcBef>
            </a:pPr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6615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D5F3D8B8-541B-475D-AED2-11349A7D54F0}"/>
              </a:ext>
            </a:extLst>
          </p:cNvPr>
          <p:cNvSpPr txBox="1">
            <a:spLocks/>
          </p:cNvSpPr>
          <p:nvPr/>
        </p:nvSpPr>
        <p:spPr>
          <a:xfrm>
            <a:off x="4160234" y="2315846"/>
            <a:ext cx="7021811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4000" b="1" dirty="0">
                <a:solidFill>
                  <a:srgbClr val="505122"/>
                </a:solidFill>
                <a:cs typeface="+mn-ea"/>
                <a:sym typeface="+mn-lt"/>
              </a:rPr>
              <a:t>Bayes’ Nets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B696F87A-50D9-4A47-8F75-C4FC6260D652}"/>
              </a:ext>
            </a:extLst>
          </p:cNvPr>
          <p:cNvSpPr/>
          <p:nvPr/>
        </p:nvSpPr>
        <p:spPr>
          <a:xfrm>
            <a:off x="4430773" y="4917127"/>
            <a:ext cx="6751272" cy="611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505122"/>
                </a:solidFill>
                <a:effectLst/>
                <a:uLnTx/>
                <a:uFillTx/>
                <a:cs typeface="+mn-ea"/>
                <a:sym typeface="+mn-lt"/>
              </a:rPr>
              <a:t>杨旭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05122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F12F855B-6482-4247-8DD0-5666489F33A1}"/>
              </a:ext>
            </a:extLst>
          </p:cNvPr>
          <p:cNvCxnSpPr/>
          <p:nvPr/>
        </p:nvCxnSpPr>
        <p:spPr>
          <a:xfrm>
            <a:off x="11226555" y="4069080"/>
            <a:ext cx="0" cy="1404000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EE2E2368-1A32-49C8-8086-354027C7A657}"/>
              </a:ext>
            </a:extLst>
          </p:cNvPr>
          <p:cNvSpPr txBox="1"/>
          <p:nvPr/>
        </p:nvSpPr>
        <p:spPr>
          <a:xfrm>
            <a:off x="5232400" y="217207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fontAlgn="auto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5400" b="1" dirty="0" err="1">
                <a:solidFill>
                  <a:srgbClr val="505122"/>
                </a:solidFill>
                <a:cs typeface="+mn-ea"/>
                <a:sym typeface="+mn-lt"/>
              </a:rPr>
              <a:t>贝叶斯网络</a:t>
            </a:r>
            <a:endParaRPr lang="en-US" altLang="zh-CN" sz="5400" b="1" dirty="0">
              <a:solidFill>
                <a:srgbClr val="505122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23644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914" y="1447800"/>
            <a:ext cx="5203085" cy="2729838"/>
          </a:xfrm>
          <a:prstGeom prst="rect">
            <a:avLst/>
          </a:prstGeom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+mn-lt"/>
                <a:ea typeface="+mn-ea"/>
                <a:cs typeface="+mn-ea"/>
                <a:sym typeface="+mn-lt"/>
              </a:rPr>
              <a:t>概率模型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524000"/>
            <a:ext cx="8676640" cy="4876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模型描述了（世界的一部分）是如何运作的。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dirty="0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模型总是对现实的简化。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可能无法涵盖每个变量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可能无法涵盖变量之间所有的交互作用</a:t>
            </a:r>
          </a:p>
          <a:p>
            <a:pPr lvl="1">
              <a:lnSpc>
                <a:spcPct val="80000"/>
              </a:lnSpc>
            </a:pPr>
            <a:r>
              <a:rPr lang="ja-JP" altLang="en-US" sz="2000" dirty="0">
                <a:latin typeface="+mn-lt"/>
                <a:cs typeface="+mn-ea"/>
                <a:sym typeface="+mn-lt"/>
              </a:rPr>
              <a:t>“</a:t>
            </a:r>
            <a:r>
              <a:rPr lang="en-US" sz="2000" dirty="0">
                <a:latin typeface="+mn-lt"/>
                <a:cs typeface="+mn-ea"/>
                <a:sym typeface="+mn-lt"/>
              </a:rPr>
              <a:t>所有模型都是错误的；但有些是有用的。</a:t>
            </a:r>
            <a:r>
              <a:rPr lang="ja-JP" altLang="en-US" sz="2000" dirty="0">
                <a:latin typeface="+mn-lt"/>
                <a:cs typeface="+mn-ea"/>
                <a:sym typeface="+mn-lt"/>
              </a:rPr>
              <a:t>”</a:t>
            </a:r>
            <a:br>
              <a:rPr lang="en-US" sz="2000" dirty="0">
                <a:latin typeface="+mn-lt"/>
                <a:cs typeface="+mn-ea"/>
                <a:sym typeface="+mn-lt"/>
              </a:rPr>
            </a:br>
            <a:r>
              <a:rPr lang="en-US" sz="2000" dirty="0">
                <a:latin typeface="+mn-lt"/>
                <a:cs typeface="+mn-ea"/>
                <a:sym typeface="+mn-lt"/>
              </a:rPr>
              <a:t>     </a:t>
            </a:r>
            <a:r>
              <a:rPr lang="en-US" altLang="zh-CN" sz="2000" dirty="0">
                <a:cs typeface="+mn-ea"/>
                <a:sym typeface="+mn-lt"/>
              </a:rPr>
              <a:t> – George E. P. Box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marL="2743200" lvl="6" indent="0">
              <a:lnSpc>
                <a:spcPct val="80000"/>
              </a:lnSpc>
              <a:buNone/>
            </a:pPr>
            <a:endParaRPr lang="en-US" sz="1600" dirty="0"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我们如何处理概率模型？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我们（或我们的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智能体</a:t>
            </a:r>
            <a:r>
              <a:rPr lang="en-US" sz="2000" dirty="0">
                <a:latin typeface="+mn-lt"/>
                <a:cs typeface="+mn-ea"/>
                <a:sym typeface="+mn-lt"/>
              </a:rPr>
              <a:t>）需要根据现有证据对未知变量进行推理。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示例：解释（诊断推理）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示例：预测（因果推理）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示例：信息的价值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独立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981200"/>
            <a:ext cx="4662898" cy="411002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独立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147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358900"/>
            <a:ext cx="7772400" cy="48768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如果两个变量满足以下条件，则它们是独立的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这表明它们的联合分布因素 转化为两种更简单的分布</a:t>
            </a:r>
          </a:p>
          <a:p>
            <a:pPr lvl="1">
              <a:lnSpc>
                <a:spcPct val="80000"/>
              </a:lnSpc>
            </a:pPr>
            <a:endParaRPr lang="zh-CN" alt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另一种形式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  <a:endParaRPr lang="en-US" sz="2400" dirty="0">
              <a:latin typeface="+mn-lt"/>
              <a:cs typeface="+mn-ea"/>
              <a:sym typeface="+mn-lt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4">
              <a:lnSpc>
                <a:spcPct val="80000"/>
              </a:lnSpc>
            </a:pPr>
            <a:endParaRPr lang="en-US" sz="12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我们写作</a:t>
            </a:r>
            <a:r>
              <a:rPr lang="en-US" sz="2000" dirty="0">
                <a:latin typeface="+mn-lt"/>
                <a:cs typeface="+mn-ea"/>
                <a:sym typeface="+mn-lt"/>
              </a:rPr>
              <a:t>: 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独立性是一种简化的建模假设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6">
              <a:lnSpc>
                <a:spcPct val="80000"/>
              </a:lnSpc>
            </a:pPr>
            <a:endParaRPr lang="en-US" sz="1200" i="1" dirty="0"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i="1" dirty="0">
                <a:latin typeface="+mn-lt"/>
                <a:cs typeface="+mn-ea"/>
                <a:sym typeface="+mn-lt"/>
              </a:rPr>
              <a:t>经验性的联合分布：充其量“接近”独立</a:t>
            </a:r>
          </a:p>
          <a:p>
            <a:pPr lvl="7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对于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{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天气、交通、龋齿、牙痛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}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，我们可以做哪些假设？</a:t>
            </a:r>
          </a:p>
        </p:txBody>
      </p:sp>
      <p:pic>
        <p:nvPicPr>
          <p:cNvPr id="5" name="Picture 4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68488" y="1925638"/>
            <a:ext cx="3795712" cy="29887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6" name="Picture 5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0024" y="3326055"/>
            <a:ext cx="3048000" cy="31376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7" name="Picture 6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51384" y="3967347"/>
            <a:ext cx="1016000" cy="26275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769" y="1828800"/>
            <a:ext cx="4257231" cy="375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80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示例：独立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？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0414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84499"/>
              </p:ext>
            </p:extLst>
          </p:nvPr>
        </p:nvGraphicFramePr>
        <p:xfrm>
          <a:off x="2278114" y="3277390"/>
          <a:ext cx="2209800" cy="1854201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41438" name="Group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506329"/>
              </p:ext>
            </p:extLst>
          </p:nvPr>
        </p:nvGraphicFramePr>
        <p:xfrm>
          <a:off x="7394626" y="3285327"/>
          <a:ext cx="2209800" cy="1854201"/>
        </p:xfrm>
        <a:graphic>
          <a:graphicData uri="http://schemas.openxmlformats.org/drawingml/2006/table">
            <a:tbl>
              <a:tblPr/>
              <a:tblGrid>
                <a:gridCol w="828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41464" name="Group 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188692"/>
              </p:ext>
            </p:extLst>
          </p:nvPr>
        </p:nvGraphicFramePr>
        <p:xfrm>
          <a:off x="5135614" y="2108990"/>
          <a:ext cx="1428750" cy="1114425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cold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41478" name="Group 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475847"/>
              </p:ext>
            </p:extLst>
          </p:nvPr>
        </p:nvGraphicFramePr>
        <p:xfrm>
          <a:off x="5140376" y="5076027"/>
          <a:ext cx="1428750" cy="1114425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W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sun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rain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Picture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22614" y="2848765"/>
            <a:ext cx="1296987" cy="2981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4" name="Picture 3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9789" y="1731165"/>
            <a:ext cx="731837" cy="2987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5" name="Picture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7876" y="4704552"/>
            <a:ext cx="850900" cy="29856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3" name="Picture 2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56589" y="2853527"/>
            <a:ext cx="1298575" cy="29852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37385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示例：独立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？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N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次公平、独立的硬币翻转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</p:txBody>
      </p:sp>
      <p:graphicFrame>
        <p:nvGraphicFramePr>
          <p:cNvPr id="1043475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558"/>
              </p:ext>
            </p:extLst>
          </p:nvPr>
        </p:nvGraphicFramePr>
        <p:xfrm>
          <a:off x="696501" y="2899410"/>
          <a:ext cx="1428750" cy="7429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663" name="Picture 2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64" y="2514600"/>
            <a:ext cx="9112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43477" name="Group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187104"/>
              </p:ext>
            </p:extLst>
          </p:nvPr>
        </p:nvGraphicFramePr>
        <p:xfrm>
          <a:off x="2471326" y="2889250"/>
          <a:ext cx="1428750" cy="7429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43489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020343"/>
              </p:ext>
            </p:extLst>
          </p:nvPr>
        </p:nvGraphicFramePr>
        <p:xfrm>
          <a:off x="5747926" y="2889250"/>
          <a:ext cx="1428750" cy="7429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7686" name="Picture 4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851" y="2514600"/>
            <a:ext cx="925513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7" name="Picture 4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601" y="2514600"/>
            <a:ext cx="9112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88" name="Picture 48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5876" y="3170238"/>
            <a:ext cx="46990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89" name="AutoShape 49"/>
          <p:cNvSpPr>
            <a:spLocks/>
          </p:cNvSpPr>
          <p:nvPr/>
        </p:nvSpPr>
        <p:spPr bwMode="auto">
          <a:xfrm rot="-5400000">
            <a:off x="3804826" y="590550"/>
            <a:ext cx="381000" cy="7124700"/>
          </a:xfrm>
          <a:prstGeom prst="leftBrace">
            <a:avLst>
              <a:gd name="adj1" fmla="val 15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27690" name="Rectangle 52"/>
          <p:cNvSpPr>
            <a:spLocks noChangeArrowheads="1"/>
          </p:cNvSpPr>
          <p:nvPr/>
        </p:nvSpPr>
        <p:spPr bwMode="auto">
          <a:xfrm>
            <a:off x="2667000" y="4956176"/>
            <a:ext cx="2895600" cy="12954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27691" name="AutoShape 57"/>
          <p:cNvSpPr>
            <a:spLocks/>
          </p:cNvSpPr>
          <p:nvPr/>
        </p:nvSpPr>
        <p:spPr bwMode="auto">
          <a:xfrm>
            <a:off x="2286000" y="4879976"/>
            <a:ext cx="152400" cy="1371600"/>
          </a:xfrm>
          <a:prstGeom prst="lef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27692" name="Picture 58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82" y="4562476"/>
            <a:ext cx="2465388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93" name="Picture 59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5362576"/>
            <a:ext cx="32861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94" name="Freeform 60"/>
          <p:cNvSpPr>
            <a:spLocks/>
          </p:cNvSpPr>
          <p:nvPr/>
        </p:nvSpPr>
        <p:spPr bwMode="auto">
          <a:xfrm>
            <a:off x="2590800" y="5565776"/>
            <a:ext cx="2971800" cy="457200"/>
          </a:xfrm>
          <a:custGeom>
            <a:avLst/>
            <a:gdLst>
              <a:gd name="T0" fmla="*/ 0 w 1872"/>
              <a:gd name="T1" fmla="*/ 2147483647 h 288"/>
              <a:gd name="T2" fmla="*/ 2147483647 w 1872"/>
              <a:gd name="T3" fmla="*/ 0 h 288"/>
              <a:gd name="T4" fmla="*/ 2147483647 w 1872"/>
              <a:gd name="T5" fmla="*/ 2147483647 h 288"/>
              <a:gd name="T6" fmla="*/ 2147483647 w 1872"/>
              <a:gd name="T7" fmla="*/ 0 h 288"/>
              <a:gd name="T8" fmla="*/ 2147483647 w 1872"/>
              <a:gd name="T9" fmla="*/ 2147483647 h 288"/>
              <a:gd name="T10" fmla="*/ 2147483647 w 1872"/>
              <a:gd name="T11" fmla="*/ 0 h 288"/>
              <a:gd name="T12" fmla="*/ 2147483647 w 1872"/>
              <a:gd name="T13" fmla="*/ 2147483647 h 288"/>
              <a:gd name="T14" fmla="*/ 2147483647 w 1872"/>
              <a:gd name="T15" fmla="*/ 2147483647 h 288"/>
              <a:gd name="T16" fmla="*/ 2147483647 w 1872"/>
              <a:gd name="T17" fmla="*/ 2147483647 h 288"/>
              <a:gd name="T18" fmla="*/ 2147483647 w 1872"/>
              <a:gd name="T19" fmla="*/ 2147483647 h 288"/>
              <a:gd name="T20" fmla="*/ 2147483647 w 1872"/>
              <a:gd name="T21" fmla="*/ 2147483647 h 288"/>
              <a:gd name="T22" fmla="*/ 2147483647 w 1872"/>
              <a:gd name="T23" fmla="*/ 2147483647 h 288"/>
              <a:gd name="T24" fmla="*/ 2147483647 w 1872"/>
              <a:gd name="T25" fmla="*/ 2147483647 h 288"/>
              <a:gd name="T26" fmla="*/ 0 w 1872"/>
              <a:gd name="T27" fmla="*/ 2147483647 h 288"/>
              <a:gd name="T28" fmla="*/ 0 w 1872"/>
              <a:gd name="T29" fmla="*/ 2147483647 h 28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1872"/>
              <a:gd name="T46" fmla="*/ 0 h 288"/>
              <a:gd name="T47" fmla="*/ 1872 w 1872"/>
              <a:gd name="T48" fmla="*/ 288 h 28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1872" h="288">
                <a:moveTo>
                  <a:pt x="0" y="115"/>
                </a:moveTo>
                <a:lnTo>
                  <a:pt x="197" y="0"/>
                </a:lnTo>
                <a:lnTo>
                  <a:pt x="493" y="58"/>
                </a:lnTo>
                <a:lnTo>
                  <a:pt x="837" y="0"/>
                </a:lnTo>
                <a:lnTo>
                  <a:pt x="1182" y="115"/>
                </a:lnTo>
                <a:lnTo>
                  <a:pt x="1576" y="0"/>
                </a:lnTo>
                <a:lnTo>
                  <a:pt x="1872" y="115"/>
                </a:lnTo>
                <a:lnTo>
                  <a:pt x="1872" y="230"/>
                </a:lnTo>
                <a:lnTo>
                  <a:pt x="1576" y="173"/>
                </a:lnTo>
                <a:lnTo>
                  <a:pt x="1182" y="288"/>
                </a:lnTo>
                <a:lnTo>
                  <a:pt x="841" y="136"/>
                </a:lnTo>
                <a:lnTo>
                  <a:pt x="502" y="201"/>
                </a:lnTo>
                <a:lnTo>
                  <a:pt x="197" y="173"/>
                </a:lnTo>
                <a:lnTo>
                  <a:pt x="0" y="230"/>
                </a:lnTo>
                <a:lnTo>
                  <a:pt x="0" y="1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24" y="1150853"/>
            <a:ext cx="3229661" cy="30854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609" y="4749346"/>
            <a:ext cx="4115264" cy="18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315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条件独立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00" y="1600200"/>
            <a:ext cx="6324599" cy="415515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 5"/>
          <p:cNvSpPr>
            <a:spLocks noChangeShapeType="1"/>
          </p:cNvSpPr>
          <p:nvPr/>
        </p:nvSpPr>
        <p:spPr bwMode="auto">
          <a:xfrm>
            <a:off x="7162800" y="39624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条件独立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874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437807"/>
            <a:ext cx="10871200" cy="47291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X</a:t>
            </a:r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和</a:t>
            </a:r>
            <a:r>
              <a:rPr lang="en-US" altLang="zh-CN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Y</a:t>
            </a:r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是</a:t>
            </a:r>
            <a:r>
              <a:rPr lang="zh-CN" altLang="en-US" kern="0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独立</a:t>
            </a:r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的如果：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  <a:p>
            <a:r>
              <a:rPr lang="en-US" altLang="zh-CN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给定Z</a:t>
            </a:r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，</a:t>
            </a:r>
            <a:r>
              <a:rPr lang="en-US" altLang="zh-CN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X</a:t>
            </a:r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和Y是</a:t>
            </a:r>
            <a:r>
              <a:rPr lang="en-US" altLang="zh-CN" sz="2800" dirty="0" err="1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条件独立</a:t>
            </a:r>
            <a:r>
              <a:rPr lang="zh-CN" altLang="en-US" sz="2800" dirty="0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：</a:t>
            </a:r>
            <a:endParaRPr lang="en-US" altLang="zh-CN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9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  <a:p>
            <a:r>
              <a:rPr lang="en-US" altLang="zh-CN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(</a:t>
            </a:r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条件独立性是某种分布所具有的性质。</a:t>
            </a:r>
            <a:endParaRPr lang="en-US" altLang="zh-CN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endParaRPr lang="en-US" dirty="0">
              <a:latin typeface="+mn-lt"/>
              <a:cs typeface="+mn-ea"/>
              <a:sym typeface="+mn-lt"/>
            </a:endParaRPr>
          </a:p>
          <a:p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例如</a:t>
            </a:r>
            <a:r>
              <a:rPr 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 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1087492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251075"/>
            <a:ext cx="101600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7493" name="Line 5"/>
          <p:cNvSpPr>
            <a:spLocks noChangeShapeType="1"/>
          </p:cNvSpPr>
          <p:nvPr/>
        </p:nvSpPr>
        <p:spPr bwMode="auto">
          <a:xfrm>
            <a:off x="5867400" y="2362200"/>
            <a:ext cx="10668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11" name="Picture 10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810000"/>
            <a:ext cx="5537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7496" name="Picture 8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12975"/>
            <a:ext cx="43100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7497" name="Picture 9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3810000"/>
            <a:ext cx="1401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160" y="4196080"/>
            <a:ext cx="4327711" cy="2885140"/>
          </a:xfrm>
          <a:prstGeom prst="rect">
            <a:avLst/>
          </a:prstGeom>
        </p:spPr>
      </p:pic>
      <p:pic>
        <p:nvPicPr>
          <p:cNvPr id="3" name="Picture 2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048" y="5410201"/>
            <a:ext cx="3469361" cy="3679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val="790818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条件独立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158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865120" y="1376680"/>
            <a:ext cx="8229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那么对于以下，如何条件独立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lvl="5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5">
              <a:lnSpc>
                <a:spcPct val="80000"/>
              </a:lnSpc>
            </a:pPr>
            <a:endParaRPr lang="en-US" altLang="zh-CN" sz="1200" dirty="0"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err="1">
                <a:latin typeface="+mn-lt"/>
                <a:cs typeface="+mn-ea"/>
                <a:sym typeface="+mn-lt"/>
              </a:rPr>
              <a:t>交通</a:t>
            </a:r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err="1">
                <a:latin typeface="+mn-lt"/>
                <a:cs typeface="+mn-ea"/>
                <a:sym typeface="+mn-lt"/>
              </a:rPr>
              <a:t>雨伞</a:t>
            </a:r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err="1">
                <a:latin typeface="+mn-lt"/>
                <a:cs typeface="+mn-ea"/>
                <a:sym typeface="+mn-lt"/>
              </a:rPr>
              <a:t>下雨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天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3760" y="3129684"/>
            <a:ext cx="5714999" cy="296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810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条件独立与链式法则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39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524000"/>
            <a:ext cx="10809288" cy="5029200"/>
          </a:xfrm>
        </p:spPr>
        <p:txBody>
          <a:bodyPr>
            <a:normAutofit/>
          </a:bodyPr>
          <a:lstStyle/>
          <a:p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链式法则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 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 </a:t>
            </a:r>
          </a:p>
          <a:p>
            <a:pPr marL="2743200" lvl="6" indent="0">
              <a:lnSpc>
                <a:spcPct val="80000"/>
              </a:lnSpc>
              <a:buNone/>
            </a:pPr>
            <a:endParaRPr lang="en-US" sz="1200" dirty="0"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条件分解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lvl="6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3">
              <a:lnSpc>
                <a:spcPct val="80000"/>
              </a:lnSpc>
            </a:pPr>
            <a:endParaRPr lang="en-US" sz="1200" dirty="0">
              <a:latin typeface="+mn-lt"/>
              <a:cs typeface="+mn-ea"/>
              <a:sym typeface="+mn-lt"/>
            </a:endParaRPr>
          </a:p>
          <a:p>
            <a:pPr lvl="5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在假设条件独立的情况下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 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贝叶斯网络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/</a:t>
            </a: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图模型有助于我们表达条件独立性假设</a:t>
            </a:r>
            <a:endParaRPr lang="en-US" sz="2400" dirty="0">
              <a:latin typeface="+mn-lt"/>
              <a:cs typeface="+mn-ea"/>
              <a:sym typeface="+mn-lt"/>
            </a:endParaRPr>
          </a:p>
        </p:txBody>
      </p:sp>
      <p:pic>
        <p:nvPicPr>
          <p:cNvPr id="10" name="Picture 9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3462000"/>
            <a:ext cx="7094537" cy="30718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9" name="Picture 8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3004800"/>
            <a:ext cx="4183062" cy="2987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1" name="Picture 10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4611010"/>
            <a:ext cx="4183062" cy="2987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2" name="Picture 11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00" y="5062200"/>
            <a:ext cx="6035675" cy="3099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8" name="Picture 7" descr="txp_fig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76600" y="1600200"/>
            <a:ext cx="7162800" cy="30246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2438400"/>
            <a:ext cx="3918800" cy="2031839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条件独立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1581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333500" y="1450257"/>
            <a:ext cx="822960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那么对于以下，如何条件独立</a:t>
            </a:r>
            <a:r>
              <a:rPr lang="en-US" sz="2400" dirty="0">
                <a:latin typeface="+mn-lt"/>
                <a:cs typeface="+mn-ea"/>
                <a:sym typeface="+mn-lt"/>
              </a:rPr>
              <a:t>:</a:t>
            </a:r>
          </a:p>
          <a:p>
            <a:pPr lvl="5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>
                <a:latin typeface="+mn-lt"/>
                <a:cs typeface="+mn-ea"/>
                <a:sym typeface="+mn-lt"/>
              </a:rPr>
              <a:t>火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err="1">
                <a:latin typeface="+mn-lt"/>
                <a:cs typeface="+mn-ea"/>
                <a:sym typeface="+mn-lt"/>
              </a:rPr>
              <a:t>烟雾</a:t>
            </a:r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000" dirty="0" err="1">
                <a:latin typeface="+mn-lt"/>
                <a:cs typeface="+mn-ea"/>
                <a:sym typeface="+mn-lt"/>
              </a:rPr>
              <a:t>警报</a:t>
            </a:r>
            <a:endParaRPr lang="en-US" altLang="zh-CN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701" y="1371600"/>
            <a:ext cx="3352797" cy="220273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1300" y="4038600"/>
            <a:ext cx="49911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09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1447800"/>
            <a:ext cx="7317022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3724" y="3581400"/>
            <a:ext cx="4182456" cy="30479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1447800"/>
            <a:ext cx="4115264" cy="1860625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35D70D6F-4237-40D5-A93B-4CDDFFFB2167}"/>
              </a:ext>
            </a:extLst>
          </p:cNvPr>
          <p:cNvSpPr txBox="1">
            <a:spLocks noChangeArrowheads="1"/>
          </p:cNvSpPr>
          <p:nvPr/>
        </p:nvSpPr>
        <p:spPr>
          <a:xfrm>
            <a:off x="619577" y="1267618"/>
            <a:ext cx="7137400" cy="4729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使用全联合分布表作为我们的概率模型存在的两个问题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：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除非变量数量很少，否则联合体的规模大到根本无法显式表示</a:t>
            </a:r>
            <a:r>
              <a:rPr lang="en-US" sz="2000" dirty="0">
                <a:latin typeface="+mn-lt"/>
                <a:cs typeface="+mn-ea"/>
                <a:sym typeface="+mn-lt"/>
              </a:rPr>
              <a:t>。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很难一次仅凭经验对超过几个变量的任何事物进行学习（或估计</a:t>
            </a:r>
            <a:r>
              <a:rPr lang="en-US" sz="2000" dirty="0">
                <a:latin typeface="+mn-lt"/>
                <a:cs typeface="+mn-ea"/>
                <a:sym typeface="+mn-lt"/>
              </a:rPr>
              <a:t>）。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sz="2400" dirty="0" err="1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贝叶斯网络：</a:t>
            </a: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一种利用简单、局部的分布（条件概率）来描述复杂联合分布（模型）的技术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。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更准确地称为</a:t>
            </a:r>
            <a:r>
              <a:rPr lang="en-US" sz="2000" dirty="0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 </a:t>
            </a:r>
            <a:r>
              <a:rPr lang="en-US" sz="2000" dirty="0" err="1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图模型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我们描述了变量之间的局部相互作用</a:t>
            </a:r>
            <a:r>
              <a:rPr lang="en-US" sz="2000" dirty="0">
                <a:latin typeface="+mn-lt"/>
                <a:cs typeface="+mn-ea"/>
                <a:sym typeface="+mn-lt"/>
              </a:rPr>
              <a:t>。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局部互动相互连接，从而产生全局性的间接互动</a:t>
            </a:r>
            <a:r>
              <a:rPr lang="en-US" sz="2000" dirty="0">
                <a:latin typeface="+mn-lt"/>
                <a:cs typeface="+mn-ea"/>
                <a:sym typeface="+mn-lt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59253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295400"/>
            <a:ext cx="7497763" cy="4957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图形模型表示法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58" b="49960"/>
          <a:stretch>
            <a:fillRect/>
          </a:stretch>
        </p:blipFill>
        <p:spPr bwMode="auto">
          <a:xfrm>
            <a:off x="6553200" y="1676400"/>
            <a:ext cx="1447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5715000" y="3125787"/>
            <a:ext cx="2805113" cy="1979613"/>
            <a:chOff x="3600" y="2208"/>
            <a:chExt cx="1767" cy="1247"/>
          </a:xfrm>
        </p:grpSpPr>
        <p:pic>
          <p:nvPicPr>
            <p:cNvPr id="17415" name="Picture 6"/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97"/>
            <a:stretch>
              <a:fillRect/>
            </a:stretch>
          </p:blipFill>
          <p:spPr bwMode="auto">
            <a:xfrm>
              <a:off x="3600" y="2208"/>
              <a:ext cx="1767" cy="1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16" name="Rectangle 7"/>
            <p:cNvSpPr>
              <a:spLocks noChangeArrowheads="1"/>
            </p:cNvSpPr>
            <p:nvPr/>
          </p:nvSpPr>
          <p:spPr bwMode="auto">
            <a:xfrm>
              <a:off x="3600" y="2208"/>
              <a:ext cx="336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1" y="3276600"/>
            <a:ext cx="3047998" cy="18227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9200" y="1219200"/>
            <a:ext cx="2743200" cy="182880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1BBD257-58A2-4954-A664-8131DCE7A087}"/>
              </a:ext>
            </a:extLst>
          </p:cNvPr>
          <p:cNvSpPr txBox="1">
            <a:spLocks noChangeArrowheads="1"/>
          </p:cNvSpPr>
          <p:nvPr/>
        </p:nvSpPr>
        <p:spPr>
          <a:xfrm>
            <a:off x="660400" y="1371600"/>
            <a:ext cx="5649912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节点：变量（带定义域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）</a:t>
            </a: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可以分配（观察）或未分配（未观察</a:t>
            </a:r>
            <a:r>
              <a:rPr lang="en-US" sz="2000" dirty="0">
                <a:latin typeface="+mn-lt"/>
                <a:cs typeface="+mn-ea"/>
                <a:sym typeface="+mn-lt"/>
              </a:rPr>
              <a:t>）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弧：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节点间的</a:t>
            </a: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互动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类似于CSP约束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指示</a:t>
            </a:r>
            <a:r>
              <a:rPr lang="ja-JP" altLang="en-US" sz="2000" dirty="0">
                <a:latin typeface="+mn-lt"/>
                <a:cs typeface="+mn-ea"/>
                <a:sym typeface="+mn-lt"/>
              </a:rPr>
              <a:t>“</a:t>
            </a:r>
            <a:r>
              <a:rPr lang="en-US" sz="2000" dirty="0" err="1">
                <a:latin typeface="+mn-lt"/>
                <a:cs typeface="+mn-ea"/>
                <a:sym typeface="+mn-lt"/>
              </a:rPr>
              <a:t>直接影响</a:t>
            </a:r>
            <a:r>
              <a:rPr lang="ja-JP" altLang="en-US" sz="2000" dirty="0">
                <a:latin typeface="+mn-lt"/>
                <a:cs typeface="+mn-ea"/>
                <a:sym typeface="+mn-lt"/>
              </a:rPr>
              <a:t>”</a:t>
            </a:r>
            <a:r>
              <a:rPr lang="en-US" sz="2000" dirty="0">
                <a:latin typeface="+mn-lt"/>
                <a:cs typeface="+mn-ea"/>
                <a:sym typeface="+mn-lt"/>
              </a:rPr>
              <a:t> </a:t>
            </a:r>
            <a:r>
              <a:rPr lang="en-US" sz="2000" dirty="0" err="1">
                <a:latin typeface="+mn-lt"/>
                <a:cs typeface="+mn-ea"/>
                <a:sym typeface="+mn-lt"/>
              </a:rPr>
              <a:t>变量之间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形式化地：编码条件独立性</a:t>
            </a: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示例：抛硬币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439" name="Rectangle 7"/>
          <p:cNvSpPr>
            <a:spLocks noGrp="1" noChangeArrowheads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/>
          <a:lstStyle/>
          <a:p>
            <a:pPr eaLnBrk="1" hangingPunct="1"/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N次独立的硬币投掷</a:t>
            </a:r>
            <a:endParaRPr lang="en-US" altLang="zh-CN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变量之间无交互作用：</a:t>
            </a:r>
            <a:r>
              <a:rPr lang="en-US" altLang="zh-CN" sz="2800" dirty="0" err="1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绝对独立</a:t>
            </a:r>
            <a:endParaRPr lang="en-US" altLang="zh-CN" sz="28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  <a:p>
            <a:pPr eaLnBrk="1" hangingPunct="1"/>
            <a:endParaRPr 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1447800" y="32004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X</a:t>
            </a:r>
            <a:r>
              <a:rPr lang="en-US" sz="2800" baseline="-25000" dirty="0">
                <a:cs typeface="+mn-ea"/>
                <a:sym typeface="+mn-lt"/>
              </a:rPr>
              <a:t>1</a:t>
            </a: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3124200" y="32004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X</a:t>
            </a:r>
            <a:r>
              <a:rPr lang="en-US" sz="2800" baseline="-25000">
                <a:cs typeface="+mn-ea"/>
                <a:sym typeface="+mn-lt"/>
              </a:rPr>
              <a:t>2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6553200" y="32004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X</a:t>
            </a:r>
            <a:r>
              <a:rPr lang="en-US" sz="2800" i="1" baseline="-25000">
                <a:cs typeface="+mn-ea"/>
                <a:sym typeface="+mn-lt"/>
              </a:rPr>
              <a:t>n</a:t>
            </a:r>
          </a:p>
        </p:txBody>
      </p:sp>
      <p:pic>
        <p:nvPicPr>
          <p:cNvPr id="18438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505200"/>
            <a:ext cx="46990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7928" y="1447800"/>
            <a:ext cx="287138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257800" y="1250042"/>
            <a:ext cx="9855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marL="0" indent="0">
              <a:buNone/>
            </a:pPr>
            <a:br>
              <a:rPr lang="en-US" sz="2400" dirty="0">
                <a:latin typeface="+mn-lt"/>
                <a:cs typeface="+mn-ea"/>
                <a:sym typeface="+mn-lt"/>
              </a:rPr>
            </a:br>
            <a:endParaRPr lang="en-US" sz="2400" dirty="0">
              <a:latin typeface="+mn-lt"/>
              <a:cs typeface="+mn-ea"/>
              <a:sym typeface="+mn-lt"/>
            </a:endParaRPr>
          </a:p>
          <a:p>
            <a:pPr lvl="3"/>
            <a:endParaRPr lang="en-US" sz="1200" dirty="0">
              <a:latin typeface="+mn-lt"/>
              <a:cs typeface="+mn-ea"/>
              <a:sym typeface="+mn-lt"/>
            </a:endParaRPr>
          </a:p>
          <a:p>
            <a:pPr marL="228600" indent="-2286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模型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2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 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雨导致交通拥堵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endParaRPr lang="en-US" sz="2400" dirty="0">
              <a:latin typeface="+mn-lt"/>
              <a:cs typeface="+mn-ea"/>
              <a:sym typeface="+mn-lt"/>
            </a:endParaRP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示例：交通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659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397000"/>
            <a:ext cx="4490720" cy="47291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sz="2220" kern="0" dirty="0" err="1">
                <a:solidFill>
                  <a:srgbClr val="333399"/>
                </a:solidFill>
                <a:cs typeface="+mn-ea"/>
                <a:sym typeface="+mn-lt"/>
              </a:rPr>
              <a:t>变量</a:t>
            </a:r>
            <a:r>
              <a:rPr lang="en-US" altLang="zh-CN" sz="2220" kern="0" dirty="0">
                <a:solidFill>
                  <a:srgbClr val="333399"/>
                </a:solidFill>
                <a:cs typeface="+mn-ea"/>
                <a:sym typeface="+mn-lt"/>
              </a:rPr>
              <a:t>：</a:t>
            </a:r>
          </a:p>
          <a:p>
            <a:pPr lvl="1"/>
            <a:r>
              <a:rPr lang="en-US" altLang="zh-CN" sz="1850" dirty="0" err="1">
                <a:cs typeface="+mn-ea"/>
                <a:sym typeface="+mn-lt"/>
              </a:rPr>
              <a:t>R：下雨了</a:t>
            </a:r>
            <a:r>
              <a:rPr lang="en-US" altLang="zh-CN" sz="1850" dirty="0">
                <a:cs typeface="+mn-ea"/>
                <a:sym typeface="+mn-lt"/>
              </a:rPr>
              <a:t>。</a:t>
            </a:r>
          </a:p>
          <a:p>
            <a:pPr lvl="1"/>
            <a:r>
              <a:rPr lang="en-US" altLang="zh-CN" sz="1850" dirty="0" err="1">
                <a:cs typeface="+mn-ea"/>
                <a:sym typeface="+mn-lt"/>
              </a:rPr>
              <a:t>T：有交通拥堵</a:t>
            </a:r>
            <a:r>
              <a:rPr lang="en-US" altLang="zh-CN" sz="1850" dirty="0">
                <a:cs typeface="+mn-ea"/>
                <a:sym typeface="+mn-lt"/>
              </a:rPr>
              <a:t>。</a:t>
            </a:r>
          </a:p>
          <a:p>
            <a:pPr lvl="1"/>
            <a:endParaRPr lang="en-US" altLang="zh-CN" sz="2000" dirty="0"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220" kern="0" dirty="0">
                <a:solidFill>
                  <a:srgbClr val="333399"/>
                </a:solidFill>
                <a:cs typeface="+mn-ea"/>
                <a:sym typeface="+mn-lt"/>
              </a:rPr>
              <a:t>模型1：独立性</a:t>
            </a:r>
          </a:p>
          <a:p>
            <a:endParaRPr lang="en-US" altLang="zh-CN" sz="2400" dirty="0">
              <a:cs typeface="+mn-ea"/>
              <a:sym typeface="+mn-lt"/>
            </a:endParaRPr>
          </a:p>
          <a:p>
            <a:endParaRPr lang="en-US" altLang="zh-CN" sz="2400" dirty="0">
              <a:cs typeface="+mn-ea"/>
              <a:sym typeface="+mn-lt"/>
            </a:endParaRPr>
          </a:p>
          <a:p>
            <a:pPr lvl="3"/>
            <a:endParaRPr lang="en-US" altLang="zh-CN" sz="1200" dirty="0">
              <a:cs typeface="+mn-ea"/>
              <a:sym typeface="+mn-lt"/>
            </a:endParaRPr>
          </a:p>
          <a:p>
            <a:pPr marL="0" indent="0">
              <a:buNone/>
            </a:pPr>
            <a:endParaRPr lang="en-US" altLang="zh-CN" sz="2400" dirty="0">
              <a:cs typeface="+mn-ea"/>
              <a:sym typeface="+mn-lt"/>
            </a:endParaRPr>
          </a:p>
          <a:p>
            <a:endParaRPr lang="en-US" altLang="zh-CN" sz="2400" dirty="0">
              <a:cs typeface="+mn-ea"/>
              <a:sym typeface="+mn-lt"/>
            </a:endParaRPr>
          </a:p>
          <a:p>
            <a:endParaRPr lang="en-US" altLang="zh-CN" sz="2400" dirty="0">
              <a:cs typeface="+mn-ea"/>
              <a:sym typeface="+mn-lt"/>
            </a:endParaRPr>
          </a:p>
          <a:p>
            <a:pPr lvl="3"/>
            <a:endParaRPr lang="en-US" altLang="zh-CN" sz="1200" dirty="0"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altLang="zh-CN" sz="2220" kern="0" dirty="0">
                <a:solidFill>
                  <a:srgbClr val="333399"/>
                </a:solidFill>
                <a:cs typeface="+mn-ea"/>
                <a:sym typeface="+mn-lt"/>
              </a:rPr>
              <a:t>为什么使用模型2的</a:t>
            </a:r>
            <a:r>
              <a:rPr lang="zh-CN" altLang="en-US" sz="2220" kern="0" dirty="0">
                <a:solidFill>
                  <a:srgbClr val="333399"/>
                </a:solidFill>
                <a:cs typeface="+mn-ea"/>
                <a:sym typeface="+mn-lt"/>
              </a:rPr>
              <a:t>智能体</a:t>
            </a:r>
            <a:r>
              <a:rPr lang="en-US" altLang="zh-CN" sz="2220" kern="0" dirty="0" err="1">
                <a:solidFill>
                  <a:srgbClr val="333399"/>
                </a:solidFill>
                <a:cs typeface="+mn-ea"/>
                <a:sym typeface="+mn-lt"/>
              </a:rPr>
              <a:t>更好</a:t>
            </a:r>
            <a:r>
              <a:rPr lang="en-US" altLang="zh-CN" sz="2220" kern="0" dirty="0">
                <a:solidFill>
                  <a:srgbClr val="333399"/>
                </a:solidFill>
                <a:cs typeface="+mn-ea"/>
                <a:sym typeface="+mn-lt"/>
              </a:rPr>
              <a:t>？</a:t>
            </a:r>
          </a:p>
          <a:p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2362200" y="35052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R</a:t>
            </a:r>
            <a:endParaRPr lang="en-US" sz="2800" baseline="-25000" dirty="0">
              <a:cs typeface="+mn-ea"/>
              <a:sym typeface="+mn-lt"/>
            </a:endParaRP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2373086" y="44958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T</a:t>
            </a:r>
            <a:endParaRPr lang="en-US" sz="2800" baseline="-25000" dirty="0"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961" y="977900"/>
            <a:ext cx="3886198" cy="1628965"/>
          </a:xfrm>
          <a:prstGeom prst="rect">
            <a:avLst/>
          </a:prstGeom>
        </p:spPr>
      </p:pic>
      <p:sp>
        <p:nvSpPr>
          <p:cNvPr id="8" name="Oval 4"/>
          <p:cNvSpPr>
            <a:spLocks noChangeArrowheads="1"/>
          </p:cNvSpPr>
          <p:nvPr/>
        </p:nvSpPr>
        <p:spPr bwMode="auto">
          <a:xfrm>
            <a:off x="7391400" y="35052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R</a:t>
            </a:r>
            <a:endParaRPr lang="en-US" sz="2800" baseline="-25000" dirty="0">
              <a:cs typeface="+mn-ea"/>
              <a:sym typeface="+mn-lt"/>
            </a:endParaRPr>
          </a:p>
        </p:txBody>
      </p:sp>
      <p:sp>
        <p:nvSpPr>
          <p:cNvPr id="9" name="Oval 5"/>
          <p:cNvSpPr>
            <a:spLocks noChangeArrowheads="1"/>
          </p:cNvSpPr>
          <p:nvPr/>
        </p:nvSpPr>
        <p:spPr bwMode="auto">
          <a:xfrm>
            <a:off x="7391400" y="4619435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T</a:t>
            </a:r>
            <a:endParaRPr lang="en-US" sz="2800" baseline="-25000">
              <a:cs typeface="+mn-ea"/>
              <a:sym typeface="+mn-lt"/>
            </a:endParaRPr>
          </a:p>
        </p:txBody>
      </p:sp>
      <p:cxnSp>
        <p:nvCxnSpPr>
          <p:cNvPr id="10" name="AutoShape 6"/>
          <p:cNvCxnSpPr>
            <a:cxnSpLocks noChangeShapeType="1"/>
            <a:stCxn id="8" idx="4"/>
            <a:endCxn id="9" idx="0"/>
          </p:cNvCxnSpPr>
          <p:nvPr/>
        </p:nvCxnSpPr>
        <p:spPr bwMode="auto">
          <a:xfrm>
            <a:off x="7772400" y="4267200"/>
            <a:ext cx="0" cy="35223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9160" y="1130300"/>
            <a:ext cx="1496345" cy="144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nimBg="1"/>
      <p:bldP spid="19461" grpId="0" animBg="1"/>
      <p:bldP spid="8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贝叶斯网络语义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667000"/>
            <a:ext cx="12382500" cy="8255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贝叶斯网络语义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8229600" y="1930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 dirty="0">
                <a:cs typeface="+mn-ea"/>
                <a:sym typeface="+mn-lt"/>
              </a:rPr>
              <a:t>A</a:t>
            </a:r>
            <a:r>
              <a:rPr lang="en-US" sz="2400" baseline="-25000" dirty="0">
                <a:cs typeface="+mn-ea"/>
                <a:sym typeface="+mn-lt"/>
              </a:rPr>
              <a:t>1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8839200" y="33020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X</a:t>
            </a:r>
            <a:endParaRPr lang="en-US" sz="2400" baseline="-25000">
              <a:cs typeface="+mn-ea"/>
              <a:sym typeface="+mn-lt"/>
            </a:endParaRPr>
          </a:p>
        </p:txBody>
      </p:sp>
      <p:cxnSp>
        <p:nvCxnSpPr>
          <p:cNvPr id="23558" name="AutoShape 6"/>
          <p:cNvCxnSpPr>
            <a:cxnSpLocks noChangeShapeType="1"/>
            <a:stCxn id="23556" idx="4"/>
            <a:endCxn id="23557" idx="1"/>
          </p:cNvCxnSpPr>
          <p:nvPr/>
        </p:nvCxnSpPr>
        <p:spPr bwMode="auto">
          <a:xfrm>
            <a:off x="8496300" y="2478088"/>
            <a:ext cx="420688" cy="887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9753600" y="1930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A</a:t>
            </a:r>
            <a:r>
              <a:rPr lang="en-US" sz="2400" i="1" baseline="-25000">
                <a:cs typeface="+mn-ea"/>
                <a:sym typeface="+mn-lt"/>
              </a:rPr>
              <a:t>n</a:t>
            </a:r>
          </a:p>
        </p:txBody>
      </p:sp>
      <p:cxnSp>
        <p:nvCxnSpPr>
          <p:cNvPr id="23560" name="AutoShape 8"/>
          <p:cNvCxnSpPr>
            <a:cxnSpLocks noChangeShapeType="1"/>
            <a:stCxn id="23559" idx="4"/>
            <a:endCxn id="23557" idx="7"/>
          </p:cNvCxnSpPr>
          <p:nvPr/>
        </p:nvCxnSpPr>
        <p:spPr bwMode="auto">
          <a:xfrm flipH="1">
            <a:off x="9294813" y="2478088"/>
            <a:ext cx="725487" cy="887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23561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2082800"/>
            <a:ext cx="46990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3562" name="AutoShape 10"/>
          <p:cNvCxnSpPr>
            <a:cxnSpLocks noChangeShapeType="1"/>
            <a:endCxn id="23557" idx="0"/>
          </p:cNvCxnSpPr>
          <p:nvPr/>
        </p:nvCxnSpPr>
        <p:spPr bwMode="auto">
          <a:xfrm flipH="1">
            <a:off x="9105900" y="2540000"/>
            <a:ext cx="152400" cy="7477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pic>
        <p:nvPicPr>
          <p:cNvPr id="6" name="Picture 5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05800" y="4368800"/>
            <a:ext cx="2057400" cy="30213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sp>
        <p:nvSpPr>
          <p:cNvPr id="23564" name="AutoShape 12"/>
          <p:cNvSpPr>
            <a:spLocks noChangeArrowheads="1"/>
          </p:cNvSpPr>
          <p:nvPr/>
        </p:nvSpPr>
        <p:spPr bwMode="auto">
          <a:xfrm rot="5400000">
            <a:off x="9563100" y="3492500"/>
            <a:ext cx="609600" cy="6858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5898240 60000 65536"/>
              <a:gd name="T10" fmla="*/ 5898240 60000 65536"/>
              <a:gd name="T11" fmla="*/ 0 60000 65536"/>
              <a:gd name="T12" fmla="*/ 12427 w 21600"/>
              <a:gd name="T13" fmla="*/ 4100 h 21600"/>
              <a:gd name="T14" fmla="*/ 19055 w 21600"/>
              <a:gd name="T15" fmla="*/ 805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21600" y="6079"/>
                </a:moveTo>
                <a:lnTo>
                  <a:pt x="13781" y="0"/>
                </a:lnTo>
                <a:lnTo>
                  <a:pt x="13781" y="4100"/>
                </a:lnTo>
                <a:lnTo>
                  <a:pt x="12427" y="4100"/>
                </a:lnTo>
                <a:cubicBezTo>
                  <a:pt x="5564" y="4100"/>
                  <a:pt x="0" y="7708"/>
                  <a:pt x="0" y="12158"/>
                </a:cubicBezTo>
                <a:lnTo>
                  <a:pt x="0" y="21600"/>
                </a:lnTo>
                <a:lnTo>
                  <a:pt x="4046" y="21600"/>
                </a:lnTo>
                <a:lnTo>
                  <a:pt x="4046" y="12158"/>
                </a:lnTo>
                <a:cubicBezTo>
                  <a:pt x="4046" y="9894"/>
                  <a:pt x="7798" y="8058"/>
                  <a:pt x="12427" y="8058"/>
                </a:cubicBezTo>
                <a:lnTo>
                  <a:pt x="13781" y="8058"/>
                </a:lnTo>
                <a:lnTo>
                  <a:pt x="13781" y="12158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5" name="Picture 4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5600" y="4343400"/>
            <a:ext cx="1927225" cy="3020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914400" y="5638224"/>
            <a:ext cx="107442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i="1" dirty="0" err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贝叶斯网络</a:t>
            </a:r>
            <a:r>
              <a:rPr lang="en-US" altLang="zh-CN" sz="3200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 = </a:t>
            </a:r>
            <a:r>
              <a:rPr lang="en-US" altLang="zh-CN" sz="3200" i="1" dirty="0" err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拓扑结构（图</a:t>
            </a:r>
            <a:r>
              <a:rPr lang="en-US" altLang="zh-CN" sz="3200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）+ </a:t>
            </a:r>
            <a:r>
              <a:rPr lang="en-US" altLang="zh-CN" sz="3200" i="1" dirty="0" err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局部条件概率</a:t>
            </a:r>
            <a:endParaRPr lang="en-US" altLang="zh-CN" sz="3200" i="1" dirty="0">
              <a:solidFill>
                <a:srgbClr val="CC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52400"/>
            <a:ext cx="2743200" cy="1828800"/>
          </a:xfrm>
          <a:prstGeom prst="rect">
            <a:avLst/>
          </a:prstGeom>
        </p:spPr>
      </p:pic>
      <p:sp>
        <p:nvSpPr>
          <p:cNvPr id="16" name="Rectangle 3">
            <a:extLst>
              <a:ext uri="{FF2B5EF4-FFF2-40B4-BE49-F238E27FC236}">
                <a16:creationId xmlns:a16="http://schemas.microsoft.com/office/drawing/2014/main" id="{020B055A-0FA6-4044-909C-83FE6708496A}"/>
              </a:ext>
            </a:extLst>
          </p:cNvPr>
          <p:cNvSpPr txBox="1">
            <a:spLocks noChangeArrowheads="1"/>
          </p:cNvSpPr>
          <p:nvPr/>
        </p:nvSpPr>
        <p:spPr>
          <a:xfrm>
            <a:off x="660400" y="1397000"/>
            <a:ext cx="6197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一组节点，每个变量X对应一个节点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228600" lvl="2">
              <a:spcBef>
                <a:spcPts val="1000"/>
              </a:spcBef>
            </a:pP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一个有向非循环图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每个节点的条件分布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7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一个关于X的分布集合，每个分布对应于一组父节点的组合</a:t>
            </a:r>
            <a:r>
              <a:rPr lang="en-US" sz="2000" dirty="0">
                <a:latin typeface="+mn-lt"/>
                <a:cs typeface="+mn-ea"/>
                <a:sym typeface="+mn-lt"/>
              </a:rPr>
              <a:t>。</a:t>
            </a:r>
          </a:p>
          <a:p>
            <a:pPr lvl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1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CPT：条件概率表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7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+mn-lt"/>
                <a:cs typeface="+mn-ea"/>
                <a:sym typeface="+mn-lt"/>
              </a:rPr>
              <a:t>描述</a:t>
            </a:r>
            <a:r>
              <a:rPr lang="ja-JP" altLang="en-US" sz="2000" dirty="0">
                <a:latin typeface="+mn-lt"/>
                <a:cs typeface="+mn-ea"/>
                <a:sym typeface="+mn-lt"/>
              </a:rPr>
              <a:t>“</a:t>
            </a:r>
            <a:r>
              <a:rPr lang="en-US" sz="2000" dirty="0" err="1">
                <a:latin typeface="+mn-lt"/>
                <a:cs typeface="+mn-ea"/>
                <a:sym typeface="+mn-lt"/>
              </a:rPr>
              <a:t>因果</a:t>
            </a:r>
            <a:r>
              <a:rPr lang="ja-JP" altLang="en-US" sz="2000" dirty="0">
                <a:latin typeface="+mn-lt"/>
                <a:cs typeface="+mn-ea"/>
                <a:sym typeface="+mn-lt"/>
              </a:rPr>
              <a:t>”</a:t>
            </a:r>
            <a:r>
              <a:rPr lang="en-US" sz="2000" dirty="0">
                <a:latin typeface="+mn-lt"/>
                <a:cs typeface="+mn-ea"/>
                <a:sym typeface="+mn-lt"/>
              </a:rPr>
              <a:t> </a:t>
            </a:r>
            <a:r>
              <a:rPr lang="en-US" sz="2000" dirty="0" err="1">
                <a:latin typeface="+mn-lt"/>
                <a:cs typeface="+mn-ea"/>
                <a:sym typeface="+mn-lt"/>
              </a:rPr>
              <a:t>过程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4">
              <a:lnSpc>
                <a:spcPct val="80000"/>
              </a:lnSpc>
            </a:pPr>
            <a:endParaRPr lang="en-US" sz="1200" dirty="0">
              <a:latin typeface="+mn-lt"/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endParaRPr lang="en-US" sz="700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92568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贝叶斯网络中的概率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524000"/>
            <a:ext cx="1113536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贝叶斯</a:t>
            </a:r>
            <a:r>
              <a:rPr lang="zh-CN" altLang="en-US" sz="2400" kern="0" dirty="0">
                <a:solidFill>
                  <a:srgbClr val="333399"/>
                </a:solidFill>
                <a:cs typeface="+mn-ea"/>
                <a:sym typeface="+mn-lt"/>
              </a:rPr>
              <a:t>网络</a:t>
            </a:r>
            <a:r>
              <a:rPr lang="en-US" altLang="zh-CN" sz="2400" dirty="0" err="1">
                <a:solidFill>
                  <a:srgbClr val="CC0000"/>
                </a:solidFill>
                <a:cs typeface="+mn-ea"/>
                <a:sym typeface="+mn-lt"/>
              </a:rPr>
              <a:t>隐含地</a:t>
            </a:r>
            <a:r>
              <a:rPr lang="en-US" altLang="zh-CN" sz="2400" dirty="0">
                <a:cs typeface="+mn-ea"/>
                <a:sym typeface="+mn-lt"/>
              </a:rPr>
              <a:t> </a:t>
            </a: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编码联合分布</a:t>
            </a:r>
            <a:endParaRPr lang="en-US" altLang="zh-CN" sz="24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lvl="8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 err="1">
                <a:cs typeface="+mn-ea"/>
                <a:sym typeface="+mn-lt"/>
              </a:rPr>
              <a:t>作为局部条件分布的产物</a:t>
            </a:r>
            <a:endParaRPr lang="en-US" altLang="zh-CN" sz="2000" dirty="0">
              <a:cs typeface="+mn-ea"/>
              <a:sym typeface="+mn-lt"/>
            </a:endParaRPr>
          </a:p>
          <a:p>
            <a:pPr lvl="8">
              <a:lnSpc>
                <a:spcPct val="80000"/>
              </a:lnSpc>
            </a:pPr>
            <a:endParaRPr lang="en-US" altLang="zh-CN" sz="1200" dirty="0"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 err="1">
                <a:cs typeface="+mn-ea"/>
                <a:sym typeface="+mn-lt"/>
              </a:rPr>
              <a:t>要查看一个贝叶斯网络对完整赋值所给出的概率，只需将所有相关的条件概率相乘即可</a:t>
            </a:r>
            <a:r>
              <a:rPr lang="en-US" altLang="zh-CN" sz="2000" dirty="0">
                <a:cs typeface="+mn-ea"/>
                <a:sym typeface="+mn-lt"/>
              </a:rPr>
              <a:t>：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示例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7162800" y="4038600"/>
            <a:ext cx="2119313" cy="1495425"/>
            <a:chOff x="3600" y="2208"/>
            <a:chExt cx="1767" cy="1247"/>
          </a:xfrm>
        </p:grpSpPr>
        <p:pic>
          <p:nvPicPr>
            <p:cNvPr id="24584" name="Picture 5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097"/>
            <a:stretch>
              <a:fillRect/>
            </a:stretch>
          </p:blipFill>
          <p:spPr bwMode="auto">
            <a:xfrm>
              <a:off x="3600" y="2208"/>
              <a:ext cx="1767" cy="1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5" name="Rectangle 6"/>
            <p:cNvSpPr>
              <a:spLocks noChangeArrowheads="1"/>
            </p:cNvSpPr>
            <p:nvPr/>
          </p:nvSpPr>
          <p:spPr bwMode="auto">
            <a:xfrm>
              <a:off x="3600" y="2208"/>
              <a:ext cx="336" cy="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3" name="Picture 2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6200" y="3276600"/>
            <a:ext cx="4876800" cy="6718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1" y="4191000"/>
            <a:ext cx="1911361" cy="114299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52400"/>
            <a:ext cx="2743200" cy="182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贝叶斯网络中的概率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371600"/>
            <a:ext cx="7569200" cy="48006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zh-CN" alt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为什么我们能确保设置</a:t>
            </a: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8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lvl="5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7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zh-CN" alt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  会导致正确的联合分布</a:t>
            </a:r>
            <a:r>
              <a:rPr 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  </a:t>
            </a:r>
          </a:p>
          <a:p>
            <a:pPr lvl="7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zh-CN" alt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链式法则（对所有分布均有效</a:t>
            </a:r>
            <a:r>
              <a:rPr 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): </a:t>
            </a:r>
          </a:p>
          <a:p>
            <a:pPr eaLnBrk="1" hangingPunct="1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zh-CN" alt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假设条件独立性</a:t>
            </a:r>
            <a:r>
              <a:rPr 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 </a:t>
            </a:r>
          </a:p>
          <a:p>
            <a:pPr eaLnBrk="1" hangingPunct="1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      </a:t>
            </a:r>
            <a:r>
              <a:rPr lang="zh-CN" alt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结果</a:t>
            </a:r>
            <a:r>
              <a:rPr 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endParaRPr lang="en-US" sz="26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r>
              <a:rPr lang="zh-CN" altLang="en-US" sz="26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拓扑结构强制执行某些条件独立性</a:t>
            </a:r>
            <a:endParaRPr lang="en-US" sz="1200" dirty="0">
              <a:cs typeface="+mn-ea"/>
              <a:sym typeface="+mn-lt"/>
            </a:endParaRPr>
          </a:p>
        </p:txBody>
      </p:sp>
      <p:pic>
        <p:nvPicPr>
          <p:cNvPr id="4" name="Picture 3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19200" y="1842796"/>
            <a:ext cx="4876800" cy="67180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5" name="Picture 4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5359" y="3352295"/>
            <a:ext cx="5115374" cy="7425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7" name="Picture 6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05200" y="4677376"/>
            <a:ext cx="5078413" cy="69957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800" y="152400"/>
            <a:ext cx="2743200" cy="1828800"/>
          </a:xfrm>
          <a:prstGeom prst="rect">
            <a:avLst/>
          </a:prstGeom>
        </p:spPr>
      </p:pic>
      <p:pic>
        <p:nvPicPr>
          <p:cNvPr id="6" name="Picture 5" descr="txp_fig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68040" y="4207372"/>
            <a:ext cx="4754535" cy="27205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745947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7" name="Text Box 47"/>
          <p:cNvSpPr txBox="1">
            <a:spLocks noChangeArrowheads="1"/>
          </p:cNvSpPr>
          <p:nvPr/>
        </p:nvSpPr>
        <p:spPr bwMode="auto">
          <a:xfrm>
            <a:off x="2298700" y="5612694"/>
            <a:ext cx="6705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i="1" dirty="0" err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只有变量完全独立的分布才能用没有</a:t>
            </a:r>
            <a:r>
              <a:rPr lang="zh-CN" altLang="en-US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边</a:t>
            </a:r>
            <a:r>
              <a:rPr lang="en-US" altLang="zh-CN" i="1" dirty="0" err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的贝叶斯</a:t>
            </a:r>
            <a:r>
              <a:rPr lang="zh-CN" altLang="en-US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网络</a:t>
            </a:r>
            <a:r>
              <a:rPr lang="en-US" altLang="zh-CN" i="1" dirty="0" err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表示</a:t>
            </a:r>
            <a:r>
              <a:rPr lang="en-US" altLang="zh-CN" sz="1800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。</a:t>
            </a: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示例：抛硬币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071108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36070"/>
              </p:ext>
            </p:extLst>
          </p:nvPr>
        </p:nvGraphicFramePr>
        <p:xfrm>
          <a:off x="1219200" y="3448050"/>
          <a:ext cx="1428750" cy="7429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888" y="3070225"/>
            <a:ext cx="911225" cy="2987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graphicFrame>
        <p:nvGraphicFramePr>
          <p:cNvPr id="1071120" name="Group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152196"/>
              </p:ext>
            </p:extLst>
          </p:nvPr>
        </p:nvGraphicFramePr>
        <p:xfrm>
          <a:off x="2990850" y="3444875"/>
          <a:ext cx="1428750" cy="7429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71131" name="Group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208398"/>
              </p:ext>
            </p:extLst>
          </p:nvPr>
        </p:nvGraphicFramePr>
        <p:xfrm>
          <a:off x="6267450" y="3444875"/>
          <a:ext cx="1428750" cy="742950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6375" y="3070225"/>
            <a:ext cx="925513" cy="29855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3" name="Picture 2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86125" y="3070225"/>
            <a:ext cx="911225" cy="29876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25640" name="Picture 40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725863"/>
            <a:ext cx="46990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42" name="Oval 42"/>
          <p:cNvSpPr>
            <a:spLocks noChangeArrowheads="1"/>
          </p:cNvSpPr>
          <p:nvPr/>
        </p:nvSpPr>
        <p:spPr bwMode="auto">
          <a:xfrm>
            <a:off x="1600200" y="19050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X</a:t>
            </a:r>
            <a:r>
              <a:rPr lang="en-US" sz="2800" baseline="-25000">
                <a:cs typeface="+mn-ea"/>
                <a:sym typeface="+mn-lt"/>
              </a:rPr>
              <a:t>1</a:t>
            </a:r>
          </a:p>
        </p:txBody>
      </p:sp>
      <p:sp>
        <p:nvSpPr>
          <p:cNvPr id="25643" name="Oval 43"/>
          <p:cNvSpPr>
            <a:spLocks noChangeArrowheads="1"/>
          </p:cNvSpPr>
          <p:nvPr/>
        </p:nvSpPr>
        <p:spPr bwMode="auto">
          <a:xfrm>
            <a:off x="3276600" y="19050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X</a:t>
            </a:r>
            <a:r>
              <a:rPr lang="en-US" sz="2800" baseline="-25000">
                <a:cs typeface="+mn-ea"/>
                <a:sym typeface="+mn-lt"/>
              </a:rPr>
              <a:t>2</a:t>
            </a:r>
          </a:p>
        </p:txBody>
      </p:sp>
      <p:sp>
        <p:nvSpPr>
          <p:cNvPr id="25644" name="Oval 44"/>
          <p:cNvSpPr>
            <a:spLocks noChangeArrowheads="1"/>
          </p:cNvSpPr>
          <p:nvPr/>
        </p:nvSpPr>
        <p:spPr bwMode="auto">
          <a:xfrm>
            <a:off x="6705600" y="190500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X</a:t>
            </a:r>
            <a:r>
              <a:rPr lang="en-US" sz="2800" i="1" baseline="-25000">
                <a:cs typeface="+mn-ea"/>
                <a:sym typeface="+mn-lt"/>
              </a:rPr>
              <a:t>n</a:t>
            </a:r>
          </a:p>
        </p:txBody>
      </p:sp>
      <p:pic>
        <p:nvPicPr>
          <p:cNvPr id="25645" name="Picture 45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209800"/>
            <a:ext cx="469900" cy="8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txp_fig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5263" y="5108575"/>
            <a:ext cx="1971675" cy="29873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400" y="1447798"/>
            <a:ext cx="2893913" cy="27647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示例：交通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397000"/>
            <a:ext cx="10718800" cy="47291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因果方向</a:t>
            </a:r>
            <a:endParaRPr lang="en-US" altLang="zh-CN" sz="32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914400" y="305435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R</a:t>
            </a:r>
            <a:endParaRPr lang="en-US" sz="2800" baseline="-25000">
              <a:cs typeface="+mn-ea"/>
              <a:sym typeface="+mn-lt"/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914400" y="4730750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>
                <a:cs typeface="+mn-ea"/>
                <a:sym typeface="+mn-lt"/>
              </a:rPr>
              <a:t>T</a:t>
            </a:r>
            <a:endParaRPr lang="en-US" sz="2800" baseline="-25000">
              <a:cs typeface="+mn-ea"/>
              <a:sym typeface="+mn-lt"/>
            </a:endParaRPr>
          </a:p>
        </p:txBody>
      </p:sp>
      <p:cxnSp>
        <p:nvCxnSpPr>
          <p:cNvPr id="28678" name="AutoShape 6"/>
          <p:cNvCxnSpPr>
            <a:cxnSpLocks noChangeShapeType="1"/>
            <a:stCxn id="28676" idx="4"/>
            <a:endCxn id="28677" idx="0"/>
          </p:cNvCxnSpPr>
          <p:nvPr/>
        </p:nvCxnSpPr>
        <p:spPr bwMode="auto">
          <a:xfrm>
            <a:off x="1295400" y="3830638"/>
            <a:ext cx="0" cy="885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1078279" name="Group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52965"/>
              </p:ext>
            </p:extLst>
          </p:nvPr>
        </p:nvGraphicFramePr>
        <p:xfrm>
          <a:off x="2533650" y="3124200"/>
          <a:ext cx="1428750" cy="7429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3/4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2" name="Picture 1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19413" y="2749550"/>
            <a:ext cx="731837" cy="298709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graphicFrame>
        <p:nvGraphicFramePr>
          <p:cNvPr id="1078291" name="Group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319193"/>
              </p:ext>
            </p:extLst>
          </p:nvPr>
        </p:nvGraphicFramePr>
        <p:xfrm>
          <a:off x="2152650" y="4565650"/>
          <a:ext cx="2190750" cy="7429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3/4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1/4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 descr="txp_fi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67000" y="4186238"/>
            <a:ext cx="1060450" cy="3136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graphicFrame>
        <p:nvGraphicFramePr>
          <p:cNvPr id="1078305" name="Group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529804"/>
              </p:ext>
            </p:extLst>
          </p:nvPr>
        </p:nvGraphicFramePr>
        <p:xfrm>
          <a:off x="2152650" y="5429250"/>
          <a:ext cx="2190750" cy="7429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1/2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1/2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78318" name="Group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924602"/>
              </p:ext>
            </p:extLst>
          </p:nvPr>
        </p:nvGraphicFramePr>
        <p:xfrm>
          <a:off x="5638800" y="4044950"/>
          <a:ext cx="2190750" cy="14859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3/16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1/16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6/16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6/16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18238" y="3597275"/>
            <a:ext cx="1090612" cy="29879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=""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=""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="" xmlns:a14="http://schemas.microsoft.com/office/drawing/2010/main"/>
            </a:ext>
          </a:extLst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1295400"/>
            <a:ext cx="4485974" cy="18803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1447800"/>
            <a:ext cx="1689842" cy="163501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示例：报警网络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680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295400"/>
            <a:ext cx="10718800" cy="4729163"/>
          </a:xfrm>
        </p:spPr>
        <p:txBody>
          <a:bodyPr/>
          <a:lstStyle/>
          <a:p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变量</a:t>
            </a:r>
            <a:endParaRPr lang="en-US" altLang="zh-CN" sz="24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B：入室盗窃</a:t>
            </a:r>
            <a:endParaRPr lang="en-US" altLang="zh-CN" sz="2000" dirty="0"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A：闹钟响了</a:t>
            </a:r>
            <a:endParaRPr lang="en-US" altLang="zh-CN" sz="2000" dirty="0"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M：玛丽来电</a:t>
            </a:r>
            <a:endParaRPr lang="en-US" altLang="zh-CN" sz="2000" dirty="0"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J：约翰打电话</a:t>
            </a:r>
            <a:endParaRPr lang="en-US" altLang="zh-CN" sz="2000" dirty="0"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E：地震</a:t>
            </a:r>
            <a:r>
              <a:rPr lang="en-US" altLang="zh-CN" sz="2000" dirty="0">
                <a:cs typeface="+mn-ea"/>
                <a:sym typeface="+mn-lt"/>
              </a:rPr>
              <a:t>！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1" y="1295400"/>
            <a:ext cx="6759927" cy="449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3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199" y="1143001"/>
            <a:ext cx="2666998" cy="1773729"/>
          </a:xfrm>
          <a:prstGeom prst="rect">
            <a:avLst/>
          </a:prstGeom>
        </p:spPr>
      </p:pic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示例：报警网络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Oval 4"/>
          <p:cNvSpPr/>
          <p:nvPr/>
        </p:nvSpPr>
        <p:spPr>
          <a:xfrm>
            <a:off x="2971800" y="1554162"/>
            <a:ext cx="1524000" cy="762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cs typeface="+mn-ea"/>
                <a:sym typeface="+mn-lt"/>
              </a:rPr>
              <a:t>B</a:t>
            </a:r>
            <a:r>
              <a:rPr lang="en-US" dirty="0">
                <a:cs typeface="+mn-ea"/>
                <a:sym typeface="+mn-lt"/>
              </a:rPr>
              <a:t>urglary</a:t>
            </a:r>
            <a:endParaRPr lang="en-US" b="1" dirty="0">
              <a:cs typeface="+mn-ea"/>
              <a:sym typeface="+mn-lt"/>
            </a:endParaRPr>
          </a:p>
        </p:txBody>
      </p:sp>
      <p:sp>
        <p:nvSpPr>
          <p:cNvPr id="6" name="Oval 5"/>
          <p:cNvSpPr/>
          <p:nvPr/>
        </p:nvSpPr>
        <p:spPr>
          <a:xfrm>
            <a:off x="4800600" y="1554162"/>
            <a:ext cx="1447800" cy="838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 err="1">
                <a:cs typeface="+mn-ea"/>
                <a:sym typeface="+mn-lt"/>
              </a:rPr>
              <a:t>E</a:t>
            </a:r>
            <a:r>
              <a:rPr lang="en-US" dirty="0" err="1">
                <a:cs typeface="+mn-ea"/>
                <a:sym typeface="+mn-lt"/>
              </a:rPr>
              <a:t>arthqk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7" name="Oval 6"/>
          <p:cNvSpPr/>
          <p:nvPr/>
        </p:nvSpPr>
        <p:spPr>
          <a:xfrm>
            <a:off x="3962400" y="2544762"/>
            <a:ext cx="1143000" cy="9906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cs typeface="+mn-ea"/>
                <a:sym typeface="+mn-lt"/>
              </a:rPr>
              <a:t>A</a:t>
            </a:r>
            <a:r>
              <a:rPr lang="en-US" dirty="0">
                <a:cs typeface="+mn-ea"/>
                <a:sym typeface="+mn-lt"/>
              </a:rPr>
              <a:t>larm</a:t>
            </a:r>
          </a:p>
        </p:txBody>
      </p:sp>
      <p:sp>
        <p:nvSpPr>
          <p:cNvPr id="8" name="Oval 7"/>
          <p:cNvSpPr/>
          <p:nvPr/>
        </p:nvSpPr>
        <p:spPr>
          <a:xfrm>
            <a:off x="2819400" y="3611562"/>
            <a:ext cx="1066800" cy="8985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cs typeface="+mn-ea"/>
                <a:sym typeface="+mn-lt"/>
              </a:rPr>
              <a:t>J</a:t>
            </a:r>
            <a:r>
              <a:rPr lang="en-US" dirty="0">
                <a:cs typeface="+mn-ea"/>
                <a:sym typeface="+mn-lt"/>
              </a:rPr>
              <a:t>ohn calls</a:t>
            </a:r>
          </a:p>
        </p:txBody>
      </p:sp>
      <p:sp>
        <p:nvSpPr>
          <p:cNvPr id="9" name="Oval 8"/>
          <p:cNvSpPr/>
          <p:nvPr/>
        </p:nvSpPr>
        <p:spPr>
          <a:xfrm>
            <a:off x="5105400" y="3611562"/>
            <a:ext cx="1066800" cy="914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cs typeface="+mn-ea"/>
                <a:sym typeface="+mn-lt"/>
              </a:rPr>
              <a:t>M</a:t>
            </a:r>
            <a:r>
              <a:rPr lang="en-US" dirty="0">
                <a:cs typeface="+mn-ea"/>
                <a:sym typeface="+mn-lt"/>
              </a:rPr>
              <a:t>ary calls</a:t>
            </a:r>
          </a:p>
        </p:txBody>
      </p:sp>
      <p:cxnSp>
        <p:nvCxnSpPr>
          <p:cNvPr id="11" name="Straight Arrow Connector 10"/>
          <p:cNvCxnSpPr>
            <a:stCxn id="5" idx="4"/>
            <a:endCxn id="7" idx="1"/>
          </p:cNvCxnSpPr>
          <p:nvPr/>
        </p:nvCxnSpPr>
        <p:spPr>
          <a:xfrm rot="16200000" flipH="1">
            <a:off x="3744912" y="2305050"/>
            <a:ext cx="373063" cy="395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4"/>
            <a:endCxn id="7" idx="7"/>
          </p:cNvCxnSpPr>
          <p:nvPr/>
        </p:nvCxnSpPr>
        <p:spPr>
          <a:xfrm rot="5400000">
            <a:off x="5083175" y="2247900"/>
            <a:ext cx="296863" cy="5857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7" idx="3"/>
            <a:endCxn id="8" idx="0"/>
          </p:cNvCxnSpPr>
          <p:nvPr/>
        </p:nvCxnSpPr>
        <p:spPr>
          <a:xfrm rot="5400000">
            <a:off x="3630613" y="3113087"/>
            <a:ext cx="220662" cy="776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5"/>
            <a:endCxn id="9" idx="0"/>
          </p:cNvCxnSpPr>
          <p:nvPr/>
        </p:nvCxnSpPr>
        <p:spPr>
          <a:xfrm rot="16200000" flipH="1">
            <a:off x="5178426" y="3151187"/>
            <a:ext cx="220662" cy="7000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406841"/>
              </p:ext>
            </p:extLst>
          </p:nvPr>
        </p:nvGraphicFramePr>
        <p:xfrm>
          <a:off x="1524000" y="1427162"/>
          <a:ext cx="1295400" cy="134619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7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B</a:t>
                      </a:r>
                    </a:p>
                  </a:txBody>
                  <a:tcPr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P(B)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+b</a:t>
                      </a:r>
                    </a:p>
                  </a:txBody>
                  <a:tcPr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-b</a:t>
                      </a:r>
                    </a:p>
                  </a:txBody>
                  <a:tcPr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sz="1800" b="0" i="0" kern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961427"/>
              </p:ext>
            </p:extLst>
          </p:nvPr>
        </p:nvGraphicFramePr>
        <p:xfrm>
          <a:off x="7010400" y="1350962"/>
          <a:ext cx="1298575" cy="134619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733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E</a:t>
                      </a:r>
                    </a:p>
                  </a:txBody>
                  <a:tcPr marL="91418" marR="91418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P(E)</a:t>
                      </a:r>
                    </a:p>
                  </a:txBody>
                  <a:tcPr marL="91418" marR="914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+e</a:t>
                      </a:r>
                    </a:p>
                  </a:txBody>
                  <a:tcPr marL="91418" marR="91418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0.002</a:t>
                      </a:r>
                    </a:p>
                  </a:txBody>
                  <a:tcPr marL="91418" marR="914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-e</a:t>
                      </a:r>
                    </a:p>
                  </a:txBody>
                  <a:tcPr marL="91418" marR="91418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0.998</a:t>
                      </a:r>
                    </a:p>
                  </a:txBody>
                  <a:tcPr marL="91418" marR="9141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870734"/>
              </p:ext>
            </p:extLst>
          </p:nvPr>
        </p:nvGraphicFramePr>
        <p:xfrm>
          <a:off x="7010400" y="3200400"/>
          <a:ext cx="2819400" cy="330697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3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9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963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P(A|B,E)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0.95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0.05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0.94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0.06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0.29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0.71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0.001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25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-b</a:t>
                      </a:r>
                    </a:p>
                  </a:txBody>
                  <a:tcPr marT="45716" marB="4571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-e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+mn-lt"/>
                          <a:ea typeface="+mn-ea"/>
                          <a:cs typeface="+mn-ea"/>
                          <a:sym typeface="+mn-lt"/>
                        </a:rPr>
                        <a:t>0.999</a:t>
                      </a:r>
                    </a:p>
                  </a:txBody>
                  <a:tcPr marT="45716" marB="4571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7652154"/>
              </p:ext>
            </p:extLst>
          </p:nvPr>
        </p:nvGraphicFramePr>
        <p:xfrm>
          <a:off x="1676400" y="4678362"/>
          <a:ext cx="1981200" cy="184467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7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13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J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P(J|A)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+j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-j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+j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0.05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-j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0.95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147020"/>
              </p:ext>
            </p:extLst>
          </p:nvPr>
        </p:nvGraphicFramePr>
        <p:xfrm>
          <a:off x="4267200" y="4678362"/>
          <a:ext cx="2057400" cy="184467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29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3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131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M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P(M|A)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+m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0.7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-m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+m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0.01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8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-a</a:t>
                      </a:r>
                    </a:p>
                  </a:txBody>
                  <a:tcPr marT="45736" marB="45736">
                    <a:lnL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-m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333399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0.99</a:t>
                      </a:r>
                    </a:p>
                  </a:txBody>
                  <a:tcPr marT="45736" marB="4573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 err="1">
                <a:latin typeface="+mn-lt"/>
                <a:ea typeface="+mn-ea"/>
                <a:cs typeface="+mn-ea"/>
                <a:sym typeface="+mn-lt"/>
              </a:rPr>
              <a:t>贝叶斯网络中的独立性</a:t>
            </a:r>
            <a:endParaRPr lang="en-US" sz="3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8851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2209800" y="1524000"/>
            <a:ext cx="9601200" cy="4800600"/>
          </a:xfrm>
        </p:spPr>
        <p:txBody>
          <a:bodyPr/>
          <a:lstStyle/>
          <a:p>
            <a:r>
              <a:rPr lang="en-US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关于</a:t>
            </a:r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贝叶斯网络</a:t>
            </a:r>
            <a:r>
              <a:rPr lang="en-US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的一个重要问题</a:t>
            </a:r>
            <a:r>
              <a:rPr 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：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在给定某些证据的情况下，两个节点是否独立？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如果是，可以用代数方法证明（通常比较繁琐）。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如果不是，可以用反例证明。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示例：</a:t>
            </a:r>
          </a:p>
          <a:p>
            <a:pPr lvl="1" eaLnBrk="1" hangingPunct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问题：X和Z一定相互独立吗？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答案：不是。例如：低气压引发降雨，进而导致交通拥堵。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X 可以影响 Z，Z 也可以通过 Y 影响 X。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另外的，</a:t>
            </a:r>
            <a:r>
              <a:rPr lang="en-US" sz="2000" dirty="0" err="1">
                <a:latin typeface="+mn-lt"/>
                <a:cs typeface="+mn-ea"/>
                <a:sym typeface="+mn-lt"/>
              </a:rPr>
              <a:t>他们可以保持独立：如何做到</a:t>
            </a:r>
            <a:r>
              <a:rPr lang="en-US" sz="2000" dirty="0">
                <a:latin typeface="+mn-lt"/>
                <a:cs typeface="+mn-ea"/>
                <a:sym typeface="+mn-lt"/>
              </a:rPr>
              <a:t>？</a:t>
            </a:r>
          </a:p>
        </p:txBody>
      </p:sp>
      <p:sp>
        <p:nvSpPr>
          <p:cNvPr id="1088516" name="Oval 4"/>
          <p:cNvSpPr>
            <a:spLocks noChangeArrowheads="1"/>
          </p:cNvSpPr>
          <p:nvPr/>
        </p:nvSpPr>
        <p:spPr bwMode="auto">
          <a:xfrm>
            <a:off x="4419600" y="3810000"/>
            <a:ext cx="609600" cy="609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X</a:t>
            </a:r>
          </a:p>
        </p:txBody>
      </p:sp>
      <p:sp>
        <p:nvSpPr>
          <p:cNvPr id="1088517" name="Oval 5"/>
          <p:cNvSpPr>
            <a:spLocks noChangeArrowheads="1"/>
          </p:cNvSpPr>
          <p:nvPr/>
        </p:nvSpPr>
        <p:spPr bwMode="auto">
          <a:xfrm>
            <a:off x="5638800" y="3810000"/>
            <a:ext cx="609600" cy="609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Y</a:t>
            </a:r>
          </a:p>
        </p:txBody>
      </p:sp>
      <p:sp>
        <p:nvSpPr>
          <p:cNvPr id="1088518" name="Oval 6"/>
          <p:cNvSpPr>
            <a:spLocks noChangeArrowheads="1"/>
          </p:cNvSpPr>
          <p:nvPr/>
        </p:nvSpPr>
        <p:spPr bwMode="auto">
          <a:xfrm>
            <a:off x="6781800" y="3810000"/>
            <a:ext cx="609600" cy="6096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ea"/>
                <a:sym typeface="+mn-lt"/>
              </a:rPr>
              <a:t>Z</a:t>
            </a:r>
          </a:p>
        </p:txBody>
      </p:sp>
      <p:cxnSp>
        <p:nvCxnSpPr>
          <p:cNvPr id="1088519" name="AutoShape 7"/>
          <p:cNvCxnSpPr>
            <a:cxnSpLocks noChangeShapeType="1"/>
            <a:stCxn id="1088516" idx="6"/>
            <a:endCxn id="1088517" idx="2"/>
          </p:cNvCxnSpPr>
          <p:nvPr/>
        </p:nvCxnSpPr>
        <p:spPr bwMode="auto">
          <a:xfrm>
            <a:off x="5043487" y="4114800"/>
            <a:ext cx="5810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1088520" name="AutoShape 8"/>
          <p:cNvCxnSpPr>
            <a:cxnSpLocks noChangeShapeType="1"/>
            <a:stCxn id="1088517" idx="6"/>
            <a:endCxn id="1088518" idx="2"/>
          </p:cNvCxnSpPr>
          <p:nvPr/>
        </p:nvCxnSpPr>
        <p:spPr bwMode="auto">
          <a:xfrm>
            <a:off x="6262687" y="4114800"/>
            <a:ext cx="504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63737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5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8516" grpId="0" animBg="1"/>
      <p:bldP spid="1088517" grpId="0" animBg="1"/>
      <p:bldP spid="108851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D-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分离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1295400"/>
            <a:ext cx="6733473" cy="497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636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D-</a:t>
            </a:r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分离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315" name="Content Placeholder 2"/>
          <p:cNvSpPr>
            <a:spLocks noGrp="1"/>
          </p:cNvSpPr>
          <p:nvPr>
            <p:ph idx="4294967295"/>
          </p:nvPr>
        </p:nvSpPr>
        <p:spPr>
          <a:xfrm>
            <a:off x="876300" y="1404937"/>
            <a:ext cx="10642600" cy="4729163"/>
          </a:xfrm>
        </p:spPr>
        <p:txBody>
          <a:bodyPr/>
          <a:lstStyle/>
          <a:p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研究三元组的独立性性质</a:t>
            </a:r>
            <a:endParaRPr lang="en-US" altLang="zh-CN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endParaRPr lang="en-US" altLang="zh-CN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从三元组的角度分析复杂案例</a:t>
            </a:r>
            <a:endParaRPr lang="en-US" altLang="zh-CN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endParaRPr lang="en-US" altLang="zh-CN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D-分离：一种用于回答此类查询的条件</a:t>
            </a:r>
            <a:r>
              <a:rPr lang="en-US" altLang="zh-CN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/</a:t>
            </a:r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算法</a:t>
            </a:r>
            <a:endParaRPr lang="en-US" altLang="zh-CN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endParaRPr lang="en-US" altLang="zh-CN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65812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因果链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895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83920" y="1371600"/>
            <a:ext cx="4831080" cy="51054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以下设置</a:t>
            </a: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是一个</a:t>
            </a:r>
            <a:r>
              <a:rPr lang="ja-JP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“</a:t>
            </a:r>
            <a:r>
              <a:rPr lang="en-US" altLang="ja-JP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因果链</a:t>
            </a:r>
            <a:r>
              <a:rPr lang="ja-JP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”</a:t>
            </a:r>
            <a:endParaRPr lang="en-US" altLang="ja-JP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3" eaLnBrk="1" hangingPunct="1">
              <a:lnSpc>
                <a:spcPct val="80000"/>
              </a:lnSpc>
            </a:pPr>
            <a:endParaRPr lang="en-US" sz="16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</p:txBody>
      </p:sp>
      <p:pic>
        <p:nvPicPr>
          <p:cNvPr id="54280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7" y="5486400"/>
            <a:ext cx="43354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81" name="Text Box 14"/>
          <p:cNvSpPr txBox="1">
            <a:spLocks noChangeArrowheads="1"/>
          </p:cNvSpPr>
          <p:nvPr/>
        </p:nvSpPr>
        <p:spPr bwMode="auto">
          <a:xfrm>
            <a:off x="762000" y="4583668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X: Low pressure 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（低压）</a:t>
            </a: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       Y: Rain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（下雨）</a:t>
            </a: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                          Z: Traffic 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（交通拥堵）</a:t>
            </a:r>
            <a:endParaRPr 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53" y="2057400"/>
            <a:ext cx="5561146" cy="2438400"/>
          </a:xfrm>
          <a:prstGeom prst="rect">
            <a:avLst/>
          </a:prstGeom>
        </p:spPr>
      </p:pic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172200" y="1371600"/>
            <a:ext cx="5943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X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与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Z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独立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   </a:t>
            </a:r>
            <a:r>
              <a:rPr lang="en-US" sz="2400" i="1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No!</a:t>
            </a:r>
          </a:p>
          <a:p>
            <a:pPr lvl="4">
              <a:lnSpc>
                <a:spcPct val="8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其中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X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与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Z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并非相互独立</a:t>
            </a:r>
          </a:p>
          <a:p>
            <a:pPr lvl="2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+mn-lt"/>
                <a:cs typeface="+mn-ea"/>
                <a:sym typeface="+mn-lt"/>
              </a:rPr>
              <a:t>Example:</a:t>
            </a:r>
          </a:p>
          <a:p>
            <a:pPr lvl="6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低气压引发降雨，导致交通受阻。</a:t>
            </a: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 高压导致无雨，导致无交通堵塞</a:t>
            </a:r>
          </a:p>
          <a:p>
            <a:pPr lvl="2">
              <a:lnSpc>
                <a:spcPct val="80000"/>
              </a:lnSpc>
            </a:pPr>
            <a:endParaRPr lang="en-US" sz="1600" dirty="0">
              <a:latin typeface="+mn-lt"/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用数学表示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</a:p>
          <a:p>
            <a:pPr marL="914353" lvl="2" indent="0">
              <a:lnSpc>
                <a:spcPct val="80000"/>
              </a:lnSpc>
              <a:buNone/>
            </a:pPr>
            <a:r>
              <a:rPr lang="en-US" sz="2000" dirty="0">
                <a:latin typeface="+mn-lt"/>
                <a:cs typeface="+mn-ea"/>
                <a:sym typeface="+mn-lt"/>
              </a:rPr>
              <a:t>	</a:t>
            </a:r>
          </a:p>
          <a:p>
            <a:pPr marL="914353" lvl="2" indent="0">
              <a:lnSpc>
                <a:spcPct val="80000"/>
              </a:lnSpc>
              <a:buNone/>
            </a:pPr>
            <a:r>
              <a:rPr lang="en-US" sz="2000" dirty="0">
                <a:latin typeface="+mn-lt"/>
                <a:cs typeface="+mn-ea"/>
                <a:sym typeface="+mn-lt"/>
              </a:rPr>
              <a:t>    P( +y | +x ) = 1, P( -y | - x ) = 1,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+mn-lt"/>
                <a:cs typeface="+mn-ea"/>
                <a:sym typeface="+mn-lt"/>
              </a:rPr>
              <a:t>    P( +z | +y ) = 1, P( -z | -y ) = 1</a:t>
            </a:r>
          </a:p>
          <a:p>
            <a:pPr lvl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因果链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172200" y="1371600"/>
            <a:ext cx="5943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在给定Y的情况下，X与Z独立吗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？</a:t>
            </a:r>
          </a:p>
          <a:p>
            <a:pPr lvl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400" dirty="0">
              <a:solidFill>
                <a:srgbClr val="CC0000"/>
              </a:solidFill>
              <a:latin typeface="+mn-lt"/>
              <a:cs typeface="+mn-ea"/>
              <a:sym typeface="+mn-lt"/>
            </a:endParaRPr>
          </a:p>
          <a:p>
            <a:pPr lvl="5">
              <a:lnSpc>
                <a:spcPct val="80000"/>
              </a:lnSpc>
            </a:pPr>
            <a:endParaRPr lang="en-US" sz="1600" dirty="0">
              <a:solidFill>
                <a:srgbClr val="CC0000"/>
              </a:solidFill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400" dirty="0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因果链上的证据块的影响</a:t>
            </a:r>
          </a:p>
        </p:txBody>
      </p:sp>
      <p:pic>
        <p:nvPicPr>
          <p:cNvPr id="8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362200"/>
            <a:ext cx="3028950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429000"/>
            <a:ext cx="29845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572000"/>
            <a:ext cx="12763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458200" y="5105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Yes!</a:t>
            </a:r>
          </a:p>
        </p:txBody>
      </p:sp>
      <p:pic>
        <p:nvPicPr>
          <p:cNvPr id="14" name="Picture 9" descr="txp_fig">
            <a:extLst>
              <a:ext uri="{FF2B5EF4-FFF2-40B4-BE49-F238E27FC236}">
                <a16:creationId xmlns:a16="http://schemas.microsoft.com/office/drawing/2014/main" id="{BB8C5B63-04CB-4937-A866-E1E90CD4204D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537" y="5486400"/>
            <a:ext cx="43354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14">
            <a:extLst>
              <a:ext uri="{FF2B5EF4-FFF2-40B4-BE49-F238E27FC236}">
                <a16:creationId xmlns:a16="http://schemas.microsoft.com/office/drawing/2014/main" id="{004D7BAF-16AF-48C4-A7EB-4C4056B59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583668"/>
            <a:ext cx="54864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X: Low pressure 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（低压）</a:t>
            </a: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       Y: Rain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（下雨）</a:t>
            </a: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                          Z: Traffic 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（交通拥堵）</a:t>
            </a:r>
            <a:endParaRPr 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6" name="Picture 1">
            <a:extLst>
              <a:ext uri="{FF2B5EF4-FFF2-40B4-BE49-F238E27FC236}">
                <a16:creationId xmlns:a16="http://schemas.microsoft.com/office/drawing/2014/main" id="{0E778173-43CC-469F-A861-8F8FF1271286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53" y="2057400"/>
            <a:ext cx="5561146" cy="2438400"/>
          </a:xfrm>
          <a:prstGeom prst="rect">
            <a:avLst/>
          </a:prstGeo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7BDFE493-DB38-4E40-8FAA-E4835365DC63}"/>
              </a:ext>
            </a:extLst>
          </p:cNvPr>
          <p:cNvSpPr txBox="1">
            <a:spLocks noChangeArrowheads="1"/>
          </p:cNvSpPr>
          <p:nvPr/>
        </p:nvSpPr>
        <p:spPr>
          <a:xfrm>
            <a:off x="883920" y="1371600"/>
            <a:ext cx="483108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以下设置</a:t>
            </a:r>
            <a:r>
              <a:rPr lang="en-US" altLang="zh-CN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是一个</a:t>
            </a:r>
            <a:r>
              <a:rPr lang="ja-JP" altLang="en-US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“</a:t>
            </a:r>
            <a:r>
              <a:rPr lang="en-US" altLang="ja-JP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因果链</a:t>
            </a:r>
            <a:r>
              <a:rPr lang="ja-JP" altLang="en-US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”</a:t>
            </a:r>
            <a:endParaRPr lang="en-US" altLang="ja-JP" sz="2400" kern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3">
              <a:lnSpc>
                <a:spcPct val="80000"/>
              </a:lnSpc>
            </a:pPr>
            <a:endParaRPr lang="en-US" sz="160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400343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共因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8953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41680" y="1371600"/>
            <a:ext cx="497332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以下配置是一个“共因</a:t>
            </a:r>
            <a:r>
              <a:rPr lang="ja-JP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”</a:t>
            </a:r>
            <a:endParaRPr lang="en-US" altLang="ja-JP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3" eaLnBrk="1" hangingPunct="1">
              <a:lnSpc>
                <a:spcPct val="80000"/>
              </a:lnSpc>
            </a:pPr>
            <a:endParaRPr lang="en-US" sz="16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800" dirty="0">
              <a:latin typeface="+mn-lt"/>
              <a:cs typeface="+mn-ea"/>
              <a:sym typeface="+mn-lt"/>
            </a:endParaRPr>
          </a:p>
        </p:txBody>
      </p:sp>
      <p:pic>
        <p:nvPicPr>
          <p:cNvPr id="4" name="Picture 3" descr="txp_fig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1485" y="5881699"/>
            <a:ext cx="4320615" cy="3117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172200" y="1371600"/>
            <a:ext cx="5943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X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与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Z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独立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  </a:t>
            </a:r>
            <a:r>
              <a:rPr lang="en-US" sz="2400" i="1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 No!</a:t>
            </a:r>
          </a:p>
          <a:p>
            <a:pPr lvl="4">
              <a:lnSpc>
                <a:spcPct val="8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其中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X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与</a:t>
            </a:r>
            <a:r>
              <a:rPr lang="en-US" altLang="zh-CN" sz="2000" dirty="0">
                <a:latin typeface="+mn-lt"/>
                <a:cs typeface="+mn-ea"/>
                <a:sym typeface="+mn-lt"/>
              </a:rPr>
              <a:t>Z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并不独立</a:t>
            </a:r>
          </a:p>
          <a:p>
            <a:pPr marL="457176" lvl="1" indent="0">
              <a:lnSpc>
                <a:spcPct val="80000"/>
              </a:lnSpc>
              <a:buNone/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示例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</a:p>
          <a:p>
            <a:pPr lvl="6">
              <a:lnSpc>
                <a:spcPct val="80000"/>
              </a:lnSpc>
            </a:pPr>
            <a:endParaRPr lang="en-US" sz="1200" dirty="0"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项目临近截止日期同时导致讨论繁忙	    和实验室人满</a:t>
            </a:r>
          </a:p>
          <a:p>
            <a:pPr lvl="2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2">
              <a:lnSpc>
                <a:spcPct val="8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数学表示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</a:p>
          <a:p>
            <a:pPr marL="914353" lvl="2" indent="0">
              <a:lnSpc>
                <a:spcPct val="80000"/>
              </a:lnSpc>
              <a:buNone/>
            </a:pPr>
            <a:r>
              <a:rPr lang="en-US" sz="2000" dirty="0">
                <a:latin typeface="+mn-lt"/>
                <a:cs typeface="+mn-ea"/>
                <a:sym typeface="+mn-lt"/>
              </a:rPr>
              <a:t>	</a:t>
            </a:r>
          </a:p>
          <a:p>
            <a:pPr marL="914353" lvl="2" indent="0">
              <a:lnSpc>
                <a:spcPct val="80000"/>
              </a:lnSpc>
              <a:buNone/>
            </a:pPr>
            <a:r>
              <a:rPr lang="en-US" sz="2000" dirty="0">
                <a:latin typeface="+mn-lt"/>
                <a:cs typeface="+mn-ea"/>
                <a:sym typeface="+mn-lt"/>
              </a:rPr>
              <a:t>         P( +x | +y ) = 1, P( -x | -y ) = 1,</a:t>
            </a:r>
          </a:p>
          <a:p>
            <a:pPr lvl="2"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+mn-lt"/>
                <a:cs typeface="+mn-ea"/>
                <a:sym typeface="+mn-lt"/>
              </a:rPr>
              <a:t>	     P( +z | +y ) = 1, P( -z | -y ) = 1</a:t>
            </a:r>
          </a:p>
          <a:p>
            <a:pPr lvl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  <a:buFont typeface="Wingdings" pitchFamily="2" charset="2"/>
              <a:buNone/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81200"/>
            <a:ext cx="3191715" cy="3838613"/>
          </a:xfrm>
          <a:prstGeom prst="rect">
            <a:avLst/>
          </a:prstGeom>
        </p:spPr>
      </p:pic>
      <p:sp>
        <p:nvSpPr>
          <p:cNvPr id="10" name="Text Box 13"/>
          <p:cNvSpPr txBox="1">
            <a:spLocks noChangeArrowheads="1"/>
          </p:cNvSpPr>
          <p:nvPr/>
        </p:nvSpPr>
        <p:spPr bwMode="auto">
          <a:xfrm>
            <a:off x="838200" y="2057400"/>
            <a:ext cx="15798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Y: Project due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（项目截止日期）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316435" y="3546228"/>
            <a:ext cx="157988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X: Forums busy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（讨论繁忙）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4531362" y="4784160"/>
            <a:ext cx="194564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Z: Lab full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（实验室人满）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339609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>
            <a:extLst>
              <a:ext uri="{FF2B5EF4-FFF2-40B4-BE49-F238E27FC236}">
                <a16:creationId xmlns:a16="http://schemas.microsoft.com/office/drawing/2014/main" id="{8956CFA2-D42C-430F-876F-61594B060B2C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981200"/>
            <a:ext cx="3191715" cy="3838613"/>
          </a:xfrm>
          <a:prstGeom prst="rect">
            <a:avLst/>
          </a:prstGeom>
        </p:spPr>
      </p:pic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6172200" y="1371600"/>
            <a:ext cx="5943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给定Y，X和Z独立吗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</a:t>
            </a: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marL="1828709" lvl="4" indent="0">
              <a:lnSpc>
                <a:spcPct val="80000"/>
              </a:lnSpc>
              <a:buNone/>
            </a:pPr>
            <a:endParaRPr lang="en-US" sz="12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90000"/>
              </a:lnSpc>
              <a:buClr>
                <a:srgbClr val="000000"/>
              </a:buClr>
            </a:pPr>
            <a:r>
              <a:rPr lang="en-US" altLang="zh-CN" sz="2400" kern="0" dirty="0" err="1">
                <a:solidFill>
                  <a:srgbClr val="CC0000"/>
                </a:solidFill>
                <a:cs typeface="+mn-ea"/>
                <a:sym typeface="+mn-lt"/>
              </a:rPr>
              <a:t>观察原因可避免</a:t>
            </a:r>
            <a:r>
              <a:rPr lang="zh-CN" altLang="en-US" sz="2400" kern="0" dirty="0">
                <a:solidFill>
                  <a:srgbClr val="CC0000"/>
                </a:solidFill>
                <a:cs typeface="+mn-ea"/>
                <a:sym typeface="+mn-lt"/>
              </a:rPr>
              <a:t>结果</a:t>
            </a:r>
            <a:r>
              <a:rPr lang="en-US" altLang="zh-CN" sz="2400" kern="0" dirty="0" err="1">
                <a:solidFill>
                  <a:srgbClr val="CC0000"/>
                </a:solidFill>
                <a:cs typeface="+mn-ea"/>
                <a:sym typeface="+mn-lt"/>
              </a:rPr>
              <a:t>之间的相互影响</a:t>
            </a:r>
            <a:r>
              <a:rPr lang="en-US" sz="2400" kern="0" dirty="0">
                <a:solidFill>
                  <a:srgbClr val="CC0000"/>
                </a:solidFill>
                <a:latin typeface="+mn-lt"/>
                <a:cs typeface="+mn-ea"/>
                <a:sym typeface="+mn-lt"/>
              </a:rPr>
              <a:t>.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</p:txBody>
      </p:sp>
      <p:pic>
        <p:nvPicPr>
          <p:cNvPr id="11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09800"/>
            <a:ext cx="3028950" cy="728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572000"/>
            <a:ext cx="1276350" cy="31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8458200" y="4986447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Yes!</a:t>
            </a:r>
          </a:p>
        </p:txBody>
      </p:sp>
      <p:pic>
        <p:nvPicPr>
          <p:cNvPr id="17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352800"/>
            <a:ext cx="2970213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ectangle 2">
            <a:extLst>
              <a:ext uri="{FF2B5EF4-FFF2-40B4-BE49-F238E27FC236}">
                <a16:creationId xmlns:a16="http://schemas.microsoft.com/office/drawing/2014/main" id="{14660538-6960-4AD1-878D-3F6CEE83C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1255" y="237834"/>
            <a:ext cx="8168208" cy="790865"/>
          </a:xfrm>
        </p:spPr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共因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E5642A35-E96D-425A-8280-E05BAD429D6C}"/>
              </a:ext>
            </a:extLst>
          </p:cNvPr>
          <p:cNvSpPr txBox="1">
            <a:spLocks noChangeArrowheads="1"/>
          </p:cNvSpPr>
          <p:nvPr/>
        </p:nvSpPr>
        <p:spPr>
          <a:xfrm>
            <a:off x="741680" y="1371600"/>
            <a:ext cx="497332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Helvetica Regular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zh-CN" altLang="en-US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以下配置是一个“共因</a:t>
            </a:r>
            <a:r>
              <a:rPr lang="ja-JP" altLang="en-US" sz="2400" kern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”</a:t>
            </a:r>
            <a:endParaRPr lang="en-US" altLang="ja-JP" sz="2400" kern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1"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 lvl="3">
              <a:lnSpc>
                <a:spcPct val="80000"/>
              </a:lnSpc>
            </a:pPr>
            <a:endParaRPr lang="en-US" sz="1600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>
              <a:latin typeface="+mn-lt"/>
              <a:cs typeface="+mn-ea"/>
              <a:sym typeface="+mn-lt"/>
            </a:endParaRPr>
          </a:p>
          <a:p>
            <a:pPr>
              <a:lnSpc>
                <a:spcPct val="80000"/>
              </a:lnSpc>
            </a:pPr>
            <a:endParaRPr 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25" name="Picture 3" descr="txp_fig.png">
            <a:extLst>
              <a:ext uri="{FF2B5EF4-FFF2-40B4-BE49-F238E27FC236}">
                <a16:creationId xmlns:a16="http://schemas.microsoft.com/office/drawing/2014/main" id="{46D105F9-3B0F-46C9-BD82-BA1AF6F22E8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1485" y="5881699"/>
            <a:ext cx="4320615" cy="31179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sp>
        <p:nvSpPr>
          <p:cNvPr id="26" name="Text Box 13">
            <a:extLst>
              <a:ext uri="{FF2B5EF4-FFF2-40B4-BE49-F238E27FC236}">
                <a16:creationId xmlns:a16="http://schemas.microsoft.com/office/drawing/2014/main" id="{990D0B40-845D-435B-9608-48966F13E8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057400"/>
            <a:ext cx="157988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Y: Project due</a:t>
            </a: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（项目截止日期）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7" name="Text Box 13">
            <a:extLst>
              <a:ext uri="{FF2B5EF4-FFF2-40B4-BE49-F238E27FC236}">
                <a16:creationId xmlns:a16="http://schemas.microsoft.com/office/drawing/2014/main" id="{4D0E2DCD-1303-40B1-BF9C-0A61992315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435" y="3546228"/>
            <a:ext cx="157988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X: Forums busy</a:t>
            </a:r>
          </a:p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（讨论繁忙）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" name="Text Box 13">
            <a:extLst>
              <a:ext uri="{FF2B5EF4-FFF2-40B4-BE49-F238E27FC236}">
                <a16:creationId xmlns:a16="http://schemas.microsoft.com/office/drawing/2014/main" id="{A8968722-DE65-452A-A2B4-0B55961FF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1362" y="4784160"/>
            <a:ext cx="194564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+mn-lt"/>
                <a:ea typeface="+mn-ea"/>
                <a:cs typeface="+mn-ea"/>
                <a:sym typeface="+mn-lt"/>
              </a:rPr>
              <a:t>Z: Lab full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+mn-lt"/>
                <a:ea typeface="+mn-ea"/>
                <a:cs typeface="+mn-ea"/>
                <a:sym typeface="+mn-lt"/>
              </a:rPr>
              <a:t>（实验室人满）</a:t>
            </a:r>
            <a:endParaRPr lang="en-US" sz="2000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14881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90800"/>
            <a:ext cx="3068642" cy="3886199"/>
          </a:xfrm>
          <a:prstGeom prst="rect">
            <a:avLst/>
          </a:prstGeom>
        </p:spPr>
      </p:pic>
      <p:sp>
        <p:nvSpPr>
          <p:cNvPr id="58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共同结果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9158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219200"/>
            <a:ext cx="4749800" cy="4800600"/>
          </a:xfrm>
        </p:spPr>
        <p:txBody>
          <a:bodyPr/>
          <a:lstStyle/>
          <a:p>
            <a:pPr eaLnBrk="1" hangingPunct="1"/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两个原因导致一个结果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(v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结构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)</a:t>
            </a:r>
          </a:p>
          <a:p>
            <a:pPr eaLnBrk="1" hangingPunct="1"/>
            <a:endParaRPr lang="en-US" sz="2400" dirty="0">
              <a:latin typeface="+mn-lt"/>
              <a:cs typeface="+mn-ea"/>
              <a:sym typeface="+mn-lt"/>
            </a:endParaRPr>
          </a:p>
        </p:txBody>
      </p:sp>
      <p:sp>
        <p:nvSpPr>
          <p:cNvPr id="58376" name="Text Box 9"/>
          <p:cNvSpPr txBox="1">
            <a:spLocks noChangeArrowheads="1"/>
          </p:cNvSpPr>
          <p:nvPr/>
        </p:nvSpPr>
        <p:spPr bwMode="auto">
          <a:xfrm>
            <a:off x="1066800" y="5459333"/>
            <a:ext cx="12795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Z: Traffic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交通堵塞</a:t>
            </a:r>
            <a:endParaRPr 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5638800" y="1219200"/>
            <a:ext cx="63246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X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和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Y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是独立的吗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</a:t>
            </a:r>
          </a:p>
          <a:p>
            <a:pPr lvl="8"/>
            <a:endParaRPr lang="en-US" sz="800" dirty="0">
              <a:cs typeface="+mn-ea"/>
              <a:sym typeface="+mn-lt"/>
            </a:endParaRPr>
          </a:p>
          <a:p>
            <a:pPr lvl="1"/>
            <a:r>
              <a:rPr lang="en-US" sz="2000" i="1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Yes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球赛和降雨导致交通拥堵，但二者并无关联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pPr lvl="8"/>
            <a:endParaRPr lang="en-US" sz="800" dirty="0">
              <a:cs typeface="+mn-ea"/>
              <a:sym typeface="+mn-lt"/>
            </a:endParaRPr>
          </a:p>
          <a:p>
            <a:pPr lvl="7"/>
            <a:endParaRPr lang="en-US" sz="1600" dirty="0">
              <a:cs typeface="+mn-ea"/>
              <a:sym typeface="+mn-lt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在给定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Z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的情况下，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X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和</a:t>
            </a:r>
            <a:r>
              <a:rPr lang="en-US" altLang="zh-CN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Y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是否独立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?</a:t>
            </a:r>
          </a:p>
          <a:p>
            <a:pPr lvl="6"/>
            <a:endParaRPr lang="en-US" sz="1200" dirty="0">
              <a:cs typeface="+mn-ea"/>
              <a:sym typeface="+mn-lt"/>
            </a:endParaRPr>
          </a:p>
          <a:p>
            <a:pPr lvl="1"/>
            <a:r>
              <a:rPr lang="en-US" sz="2000" i="1" dirty="0">
                <a:solidFill>
                  <a:srgbClr val="FF0000"/>
                </a:solidFill>
                <a:latin typeface="+mn-lt"/>
                <a:cs typeface="+mn-ea"/>
                <a:sym typeface="+mn-lt"/>
              </a:rPr>
              <a:t>No</a:t>
            </a:r>
            <a:r>
              <a:rPr lang="en-US" sz="2000" dirty="0">
                <a:latin typeface="+mn-lt"/>
                <a:cs typeface="+mn-ea"/>
                <a:sym typeface="+mn-lt"/>
              </a:rPr>
              <a:t>:</a:t>
            </a:r>
            <a:r>
              <a:rPr lang="zh-CN" altLang="en-US" sz="2000" dirty="0">
                <a:latin typeface="+mn-lt"/>
                <a:cs typeface="+mn-ea"/>
                <a:sym typeface="+mn-lt"/>
              </a:rPr>
              <a:t>依据交通状况，雨天与球赛便成了竞争关系</a:t>
            </a:r>
            <a:r>
              <a:rPr lang="en-US" sz="2000" dirty="0">
                <a:latin typeface="+mn-lt"/>
                <a:cs typeface="+mn-ea"/>
                <a:sym typeface="+mn-lt"/>
              </a:rPr>
              <a:t>.</a:t>
            </a:r>
          </a:p>
          <a:p>
            <a:pPr lvl="7"/>
            <a:endParaRPr lang="en-US" sz="1600" dirty="0">
              <a:cs typeface="+mn-ea"/>
              <a:sym typeface="+mn-lt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这与其他情况正好相反</a:t>
            </a: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8"/>
            <a:endParaRPr lang="en-US" sz="800" dirty="0">
              <a:solidFill>
                <a:srgbClr val="CC0000"/>
              </a:solidFill>
              <a:cs typeface="+mn-ea"/>
              <a:sym typeface="+mn-lt"/>
            </a:endParaRPr>
          </a:p>
          <a:p>
            <a:pPr lvl="1"/>
            <a:r>
              <a:rPr lang="zh-CN" altLang="en-US" sz="2000" dirty="0">
                <a:latin typeface="+mn-lt"/>
                <a:cs typeface="+mn-ea"/>
                <a:sym typeface="+mn-lt"/>
              </a:rPr>
              <a:t>观察一个结果对可能的原因的影响</a:t>
            </a:r>
            <a:endParaRPr lang="en-US" sz="2000" dirty="0">
              <a:latin typeface="+mn-lt"/>
              <a:cs typeface="+mn-ea"/>
              <a:sym typeface="+mn-lt"/>
            </a:endParaRPr>
          </a:p>
          <a:p>
            <a:endParaRPr lang="en-US" sz="2800" dirty="0">
              <a:latin typeface="+mn-lt"/>
              <a:cs typeface="+mn-ea"/>
              <a:sym typeface="+mn-lt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181100" y="1944469"/>
            <a:ext cx="152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X: Raining 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下雨</a:t>
            </a:r>
            <a:endParaRPr 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2819722" y="1944469"/>
            <a:ext cx="152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800" dirty="0">
                <a:latin typeface="+mn-lt"/>
                <a:ea typeface="+mn-ea"/>
                <a:cs typeface="+mn-ea"/>
                <a:sym typeface="+mn-lt"/>
              </a:rPr>
              <a:t>Y: Ballgame</a:t>
            </a:r>
            <a:r>
              <a:rPr lang="zh-CN" altLang="en-US" sz="1800" dirty="0">
                <a:latin typeface="+mn-lt"/>
                <a:ea typeface="+mn-ea"/>
                <a:cs typeface="+mn-ea"/>
                <a:sym typeface="+mn-lt"/>
              </a:rPr>
              <a:t>球赛</a:t>
            </a:r>
            <a:endParaRPr lang="en-US" sz="1800" dirty="0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一般情况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815" y="1524000"/>
            <a:ext cx="6946984" cy="440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837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480" y="2209800"/>
            <a:ext cx="3772710" cy="2971800"/>
          </a:xfrm>
          <a:prstGeom prst="rect">
            <a:avLst/>
          </a:prstGeom>
        </p:spPr>
      </p:pic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一般情况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676400"/>
            <a:ext cx="7630160" cy="4449763"/>
          </a:xfrm>
        </p:spPr>
        <p:txBody>
          <a:bodyPr/>
          <a:lstStyle/>
          <a:p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一般问题：在给定的贝叶斯网络中，两个变量在已知证据的情况下是否独立</a:t>
            </a:r>
            <a:r>
              <a:rPr lang="en-US" altLang="zh-CN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？</a:t>
            </a:r>
          </a:p>
          <a:p>
            <a:pPr eaLnBrk="1" hangingPunct="1"/>
            <a:endParaRPr lang="en-US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r>
              <a:rPr lang="en-US" altLang="zh-CN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解决方案：分析图表</a:t>
            </a:r>
            <a:endParaRPr lang="en-US" altLang="zh-CN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eaLnBrk="1" hangingPunct="1"/>
            <a:endParaRPr lang="en-US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任何复杂的例子都可以被分解转化为以上三个经典案例的重复形式</a:t>
            </a:r>
            <a:endParaRPr lang="en-US" sz="2800" dirty="0">
              <a:latin typeface="+mn-lt"/>
              <a:cs typeface="+mn-ea"/>
              <a:sym typeface="+mn-lt"/>
            </a:endParaRPr>
          </a:p>
          <a:p>
            <a:pPr marL="0" indent="0" eaLnBrk="1" hangingPunct="1">
              <a:buNone/>
            </a:pPr>
            <a:endParaRPr lang="en-US" sz="2800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6397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dirty="0">
                <a:latin typeface="+mn-lt"/>
                <a:ea typeface="+mn-ea"/>
                <a:cs typeface="+mn-ea"/>
                <a:sym typeface="+mn-lt"/>
              </a:rPr>
              <a:t>活动/非活动路径</a:t>
            </a:r>
          </a:p>
        </p:txBody>
      </p:sp>
      <p:sp>
        <p:nvSpPr>
          <p:cNvPr id="59394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199515"/>
            <a:ext cx="6942138" cy="50292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问题：在给定证据变量{Z}的情况下，X和Y是否条件独立？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是的，如果X和Y</a:t>
            </a:r>
            <a:r>
              <a:rPr lang="ja-JP" altLang="en-US" sz="1800" dirty="0">
                <a:latin typeface="+mn-lt"/>
                <a:cs typeface="+mn-ea"/>
                <a:sym typeface="+mn-lt"/>
              </a:rPr>
              <a:t>“</a:t>
            </a:r>
            <a:r>
              <a:rPr lang="en-US" altLang="ja-JP" sz="1800" dirty="0">
                <a:latin typeface="+mn-lt"/>
                <a:cs typeface="+mn-ea"/>
                <a:sym typeface="+mn-lt"/>
              </a:rPr>
              <a:t>d-分离的</a:t>
            </a:r>
            <a:r>
              <a:rPr lang="ja-JP" altLang="en-US" sz="1800" dirty="0">
                <a:latin typeface="+mn-lt"/>
                <a:cs typeface="+mn-ea"/>
                <a:sym typeface="+mn-lt"/>
              </a:rPr>
              <a:t>”</a:t>
            </a:r>
            <a:r>
              <a:rPr lang="en-US" altLang="ja-JP" sz="1800" dirty="0">
                <a:latin typeface="+mn-lt"/>
                <a:cs typeface="+mn-ea"/>
                <a:sym typeface="+mn-lt"/>
              </a:rPr>
              <a:t> 由Z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考虑从X到Y的所有（无向）路径。</a:t>
            </a:r>
            <a:endParaRPr lang="en-US" sz="9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11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无活动路径 = 独立！</a:t>
            </a:r>
          </a:p>
          <a:p>
            <a:pPr lvl="2" eaLnBrk="1" hangingPunct="1">
              <a:lnSpc>
                <a:spcPct val="110000"/>
              </a:lnSpc>
            </a:pPr>
            <a:endParaRPr lang="en-US" sz="1400" dirty="0">
              <a:latin typeface="+mn-lt"/>
              <a:cs typeface="+mn-ea"/>
              <a:sym typeface="+mn-lt"/>
            </a:endParaRPr>
          </a:p>
          <a:p>
            <a:pPr eaLnBrk="1" hangingPunct="1">
              <a:lnSpc>
                <a:spcPct val="11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>
              <a:lnSpc>
                <a:spcPct val="110000"/>
              </a:lnSpc>
            </a:pP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如果每个三元组都处于活动状态，则路径即为活动状态：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1800" dirty="0" err="1">
                <a:latin typeface="+mn-lt"/>
                <a:cs typeface="+mn-ea"/>
                <a:sym typeface="+mn-lt"/>
              </a:rPr>
              <a:t>因果链A</a:t>
            </a:r>
            <a:r>
              <a:rPr lang="en-US" sz="1800" dirty="0">
                <a:latin typeface="+mn-lt"/>
                <a:cs typeface="+mn-ea"/>
                <a:sym typeface="+mn-lt"/>
              </a:rPr>
              <a:t>-&gt;B -&gt;</a:t>
            </a:r>
            <a:r>
              <a:rPr lang="en-US" sz="1800" dirty="0" err="1">
                <a:latin typeface="+mn-lt"/>
                <a:cs typeface="+mn-ea"/>
                <a:sym typeface="+mn-lt"/>
              </a:rPr>
              <a:t>C，其中B未被观测（任一方向</a:t>
            </a:r>
            <a:r>
              <a:rPr lang="en-US" sz="1800" dirty="0">
                <a:latin typeface="+mn-lt"/>
                <a:cs typeface="+mn-ea"/>
                <a:sym typeface="+mn-lt"/>
              </a:rPr>
              <a:t>）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1800" dirty="0">
                <a:latin typeface="+mn-lt"/>
                <a:cs typeface="+mn-ea"/>
                <a:sym typeface="+mn-lt"/>
              </a:rPr>
              <a:t>共同原因：</a:t>
            </a:r>
            <a:r>
              <a:rPr lang="en-US" sz="1800" dirty="0">
                <a:latin typeface="+mn-lt"/>
                <a:cs typeface="+mn-ea"/>
                <a:sym typeface="+mn-lt"/>
              </a:rPr>
              <a:t>A&lt;-B -&gt;C 其中 B 未被观测到</a:t>
            </a:r>
          </a:p>
          <a:p>
            <a:pPr lvl="1" eaLnBrk="1" hangingPunct="1">
              <a:lnSpc>
                <a:spcPct val="11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共同效应（又称v型结构）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1800" dirty="0">
                <a:latin typeface="+mn-lt"/>
                <a:cs typeface="+mn-ea"/>
                <a:sym typeface="+mn-lt"/>
              </a:rPr>
              <a:t>	A -&gt;B &lt;-C 在 B </a:t>
            </a:r>
            <a:r>
              <a:rPr lang="en-US" sz="1800" dirty="0" err="1">
                <a:latin typeface="+mn-lt"/>
                <a:cs typeface="+mn-ea"/>
                <a:sym typeface="+mn-lt"/>
              </a:rPr>
              <a:t>处或其之一后代</a:t>
            </a:r>
            <a:r>
              <a:rPr lang="en-US" sz="1800" dirty="0">
                <a:latin typeface="+mn-lt"/>
                <a:cs typeface="+mn-ea"/>
                <a:sym typeface="+mn-lt"/>
              </a:rPr>
              <a:t> 被观察到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1000" dirty="0">
                <a:latin typeface="+mn-lt"/>
                <a:cs typeface="+mn-ea"/>
                <a:sym typeface="+mn-lt"/>
              </a:rPr>
              <a:t>	</a:t>
            </a:r>
          </a:p>
          <a:p>
            <a:pPr eaLnBrk="1" hangingPunct="1">
              <a:lnSpc>
                <a:spcPct val="110000"/>
              </a:lnSpc>
              <a:buClr>
                <a:srgbClr val="333399"/>
              </a:buClr>
            </a:pPr>
            <a:endParaRPr lang="en-US" sz="240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110000"/>
              </a:lnSpc>
              <a:buClr>
                <a:srgbClr val="333399"/>
              </a:buClr>
            </a:pP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只需一段未激活的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路径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，</a:t>
            </a: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就能阻挡一条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路径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。</a:t>
            </a: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endParaRPr lang="en-US" sz="18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sz="1800" dirty="0">
                <a:latin typeface="+mn-lt"/>
                <a:cs typeface="+mn-ea"/>
                <a:sym typeface="+mn-lt"/>
              </a:rPr>
              <a:t>	</a:t>
            </a:r>
          </a:p>
        </p:txBody>
      </p:sp>
      <p:grpSp>
        <p:nvGrpSpPr>
          <p:cNvPr id="59395" name="Group 186"/>
          <p:cNvGrpSpPr>
            <a:grpSpLocks/>
          </p:cNvGrpSpPr>
          <p:nvPr/>
        </p:nvGrpSpPr>
        <p:grpSpPr bwMode="auto">
          <a:xfrm>
            <a:off x="7620000" y="2041525"/>
            <a:ext cx="1600200" cy="320675"/>
            <a:chOff x="4572000" y="1676400"/>
            <a:chExt cx="1905000" cy="381000"/>
          </a:xfrm>
        </p:grpSpPr>
        <p:sp>
          <p:nvSpPr>
            <p:cNvPr id="59437" name="Oval 9"/>
            <p:cNvSpPr>
              <a:spLocks noChangeArrowheads="1"/>
            </p:cNvSpPr>
            <p:nvPr/>
          </p:nvSpPr>
          <p:spPr bwMode="auto">
            <a:xfrm>
              <a:off x="4572000" y="16764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38" name="Oval 9"/>
            <p:cNvSpPr>
              <a:spLocks noChangeArrowheads="1"/>
            </p:cNvSpPr>
            <p:nvPr/>
          </p:nvSpPr>
          <p:spPr bwMode="auto">
            <a:xfrm>
              <a:off x="5334000" y="16764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39" name="Oval 9"/>
            <p:cNvSpPr>
              <a:spLocks noChangeArrowheads="1"/>
            </p:cNvSpPr>
            <p:nvPr/>
          </p:nvSpPr>
          <p:spPr bwMode="auto">
            <a:xfrm>
              <a:off x="6096000" y="16764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40" name="AutoShape 10"/>
            <p:cNvCxnSpPr>
              <a:cxnSpLocks noChangeShapeType="1"/>
              <a:stCxn id="59437" idx="6"/>
              <a:endCxn id="59438" idx="2"/>
            </p:cNvCxnSpPr>
            <p:nvPr/>
          </p:nvCxnSpPr>
          <p:spPr bwMode="auto">
            <a:xfrm>
              <a:off x="4953000" y="1866900"/>
              <a:ext cx="3810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41" name="AutoShape 10"/>
            <p:cNvCxnSpPr>
              <a:cxnSpLocks noChangeShapeType="1"/>
              <a:stCxn id="59438" idx="6"/>
              <a:endCxn id="59439" idx="2"/>
            </p:cNvCxnSpPr>
            <p:nvPr/>
          </p:nvCxnSpPr>
          <p:spPr bwMode="auto">
            <a:xfrm>
              <a:off x="5715000" y="1866900"/>
              <a:ext cx="3810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59396" name="Group 185"/>
          <p:cNvGrpSpPr>
            <a:grpSpLocks/>
          </p:cNvGrpSpPr>
          <p:nvPr/>
        </p:nvGrpSpPr>
        <p:grpSpPr bwMode="auto">
          <a:xfrm>
            <a:off x="9982200" y="2041525"/>
            <a:ext cx="1600200" cy="320675"/>
            <a:chOff x="6934200" y="1676400"/>
            <a:chExt cx="1905000" cy="381000"/>
          </a:xfrm>
        </p:grpSpPr>
        <p:sp>
          <p:nvSpPr>
            <p:cNvPr id="59432" name="Oval 9"/>
            <p:cNvSpPr>
              <a:spLocks noChangeArrowheads="1"/>
            </p:cNvSpPr>
            <p:nvPr/>
          </p:nvSpPr>
          <p:spPr bwMode="auto">
            <a:xfrm>
              <a:off x="6934200" y="16764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92" name="Oval 9"/>
            <p:cNvSpPr>
              <a:spLocks noChangeArrowheads="1"/>
            </p:cNvSpPr>
            <p:nvPr/>
          </p:nvSpPr>
          <p:spPr bwMode="auto">
            <a:xfrm>
              <a:off x="7695823" y="1676400"/>
              <a:ext cx="381756" cy="381000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34" name="Oval 9"/>
            <p:cNvSpPr>
              <a:spLocks noChangeArrowheads="1"/>
            </p:cNvSpPr>
            <p:nvPr/>
          </p:nvSpPr>
          <p:spPr bwMode="auto">
            <a:xfrm>
              <a:off x="8458200" y="16764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35" name="AutoShape 10"/>
            <p:cNvCxnSpPr>
              <a:cxnSpLocks noChangeShapeType="1"/>
              <a:stCxn id="59432" idx="6"/>
              <a:endCxn id="92" idx="2"/>
            </p:cNvCxnSpPr>
            <p:nvPr/>
          </p:nvCxnSpPr>
          <p:spPr bwMode="auto">
            <a:xfrm>
              <a:off x="7315200" y="1866900"/>
              <a:ext cx="3810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36" name="AutoShape 10"/>
            <p:cNvCxnSpPr>
              <a:cxnSpLocks noChangeShapeType="1"/>
              <a:stCxn id="92" idx="6"/>
              <a:endCxn id="59434" idx="2"/>
            </p:cNvCxnSpPr>
            <p:nvPr/>
          </p:nvCxnSpPr>
          <p:spPr bwMode="auto">
            <a:xfrm>
              <a:off x="8077200" y="1866900"/>
              <a:ext cx="381000" cy="158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59397" name="Group 187"/>
          <p:cNvGrpSpPr>
            <a:grpSpLocks/>
          </p:cNvGrpSpPr>
          <p:nvPr/>
        </p:nvGrpSpPr>
        <p:grpSpPr bwMode="auto">
          <a:xfrm>
            <a:off x="7620000" y="2776538"/>
            <a:ext cx="1600200" cy="576262"/>
            <a:chOff x="4572000" y="2362200"/>
            <a:chExt cx="1905000" cy="685800"/>
          </a:xfrm>
        </p:grpSpPr>
        <p:sp>
          <p:nvSpPr>
            <p:cNvPr id="59427" name="Oval 9"/>
            <p:cNvSpPr>
              <a:spLocks noChangeArrowheads="1"/>
            </p:cNvSpPr>
            <p:nvPr/>
          </p:nvSpPr>
          <p:spPr bwMode="auto">
            <a:xfrm>
              <a:off x="4572000" y="2667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28" name="Oval 9"/>
            <p:cNvSpPr>
              <a:spLocks noChangeArrowheads="1"/>
            </p:cNvSpPr>
            <p:nvPr/>
          </p:nvSpPr>
          <p:spPr bwMode="auto">
            <a:xfrm>
              <a:off x="5334000" y="23622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29" name="Oval 9"/>
            <p:cNvSpPr>
              <a:spLocks noChangeArrowheads="1"/>
            </p:cNvSpPr>
            <p:nvPr/>
          </p:nvSpPr>
          <p:spPr bwMode="auto">
            <a:xfrm>
              <a:off x="6096000" y="2667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30" name="AutoShape 10"/>
            <p:cNvCxnSpPr>
              <a:cxnSpLocks noChangeShapeType="1"/>
              <a:stCxn id="59428" idx="2"/>
              <a:endCxn id="59427" idx="7"/>
            </p:cNvCxnSpPr>
            <p:nvPr/>
          </p:nvCxnSpPr>
          <p:spPr bwMode="auto">
            <a:xfrm rot="10800000" flipV="1">
              <a:off x="4897204" y="2552700"/>
              <a:ext cx="436796" cy="1700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31" name="AutoShape 10"/>
            <p:cNvCxnSpPr>
              <a:cxnSpLocks noChangeShapeType="1"/>
              <a:stCxn id="59428" idx="6"/>
              <a:endCxn id="59429" idx="1"/>
            </p:cNvCxnSpPr>
            <p:nvPr/>
          </p:nvCxnSpPr>
          <p:spPr bwMode="auto">
            <a:xfrm>
              <a:off x="5715000" y="2552700"/>
              <a:ext cx="436796" cy="1700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59398" name="Group 184"/>
          <p:cNvGrpSpPr>
            <a:grpSpLocks/>
          </p:cNvGrpSpPr>
          <p:nvPr/>
        </p:nvGrpSpPr>
        <p:grpSpPr bwMode="auto">
          <a:xfrm>
            <a:off x="9982200" y="2776538"/>
            <a:ext cx="1600200" cy="576262"/>
            <a:chOff x="6934200" y="2362200"/>
            <a:chExt cx="1905000" cy="685800"/>
          </a:xfrm>
        </p:grpSpPr>
        <p:sp>
          <p:nvSpPr>
            <p:cNvPr id="59422" name="Oval 9"/>
            <p:cNvSpPr>
              <a:spLocks noChangeArrowheads="1"/>
            </p:cNvSpPr>
            <p:nvPr/>
          </p:nvSpPr>
          <p:spPr bwMode="auto">
            <a:xfrm>
              <a:off x="6934200" y="2667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107" name="Oval 9"/>
            <p:cNvSpPr>
              <a:spLocks noChangeArrowheads="1"/>
            </p:cNvSpPr>
            <p:nvPr/>
          </p:nvSpPr>
          <p:spPr bwMode="auto">
            <a:xfrm>
              <a:off x="7695823" y="2362200"/>
              <a:ext cx="381756" cy="381630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24" name="Oval 9"/>
            <p:cNvSpPr>
              <a:spLocks noChangeArrowheads="1"/>
            </p:cNvSpPr>
            <p:nvPr/>
          </p:nvSpPr>
          <p:spPr bwMode="auto">
            <a:xfrm>
              <a:off x="8458200" y="2667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25" name="AutoShape 10"/>
            <p:cNvCxnSpPr>
              <a:cxnSpLocks noChangeShapeType="1"/>
              <a:stCxn id="107" idx="2"/>
              <a:endCxn id="59422" idx="7"/>
            </p:cNvCxnSpPr>
            <p:nvPr/>
          </p:nvCxnSpPr>
          <p:spPr bwMode="auto">
            <a:xfrm rot="10800000" flipV="1">
              <a:off x="7259404" y="2552700"/>
              <a:ext cx="436796" cy="1700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26" name="AutoShape 10"/>
            <p:cNvCxnSpPr>
              <a:cxnSpLocks noChangeShapeType="1"/>
              <a:stCxn id="107" idx="6"/>
              <a:endCxn id="59424" idx="1"/>
            </p:cNvCxnSpPr>
            <p:nvPr/>
          </p:nvCxnSpPr>
          <p:spPr bwMode="auto">
            <a:xfrm>
              <a:off x="8077200" y="2552700"/>
              <a:ext cx="436796" cy="1700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59399" name="Group 183"/>
          <p:cNvGrpSpPr>
            <a:grpSpLocks/>
          </p:cNvGrpSpPr>
          <p:nvPr/>
        </p:nvGrpSpPr>
        <p:grpSpPr bwMode="auto">
          <a:xfrm>
            <a:off x="9982200" y="4084638"/>
            <a:ext cx="1600200" cy="639762"/>
            <a:chOff x="6934200" y="3810000"/>
            <a:chExt cx="1905000" cy="762000"/>
          </a:xfrm>
        </p:grpSpPr>
        <p:sp>
          <p:nvSpPr>
            <p:cNvPr id="59417" name="Oval 9"/>
            <p:cNvSpPr>
              <a:spLocks noChangeArrowheads="1"/>
            </p:cNvSpPr>
            <p:nvPr/>
          </p:nvSpPr>
          <p:spPr bwMode="auto">
            <a:xfrm>
              <a:off x="69342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18" name="Oval 9"/>
            <p:cNvSpPr>
              <a:spLocks noChangeArrowheads="1"/>
            </p:cNvSpPr>
            <p:nvPr/>
          </p:nvSpPr>
          <p:spPr bwMode="auto">
            <a:xfrm>
              <a:off x="7696200" y="4191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19" name="Oval 9"/>
            <p:cNvSpPr>
              <a:spLocks noChangeArrowheads="1"/>
            </p:cNvSpPr>
            <p:nvPr/>
          </p:nvSpPr>
          <p:spPr bwMode="auto">
            <a:xfrm>
              <a:off x="84582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20" name="AutoShape 10"/>
            <p:cNvCxnSpPr>
              <a:cxnSpLocks noChangeShapeType="1"/>
              <a:stCxn id="59417" idx="6"/>
              <a:endCxn id="59418" idx="1"/>
            </p:cNvCxnSpPr>
            <p:nvPr/>
          </p:nvCxnSpPr>
          <p:spPr bwMode="auto">
            <a:xfrm>
              <a:off x="7315200" y="4000500"/>
              <a:ext cx="436796" cy="246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21" name="AutoShape 10"/>
            <p:cNvCxnSpPr>
              <a:cxnSpLocks noChangeShapeType="1"/>
              <a:stCxn id="59419" idx="2"/>
              <a:endCxn id="59418" idx="7"/>
            </p:cNvCxnSpPr>
            <p:nvPr/>
          </p:nvCxnSpPr>
          <p:spPr bwMode="auto">
            <a:xfrm rot="10800000" flipV="1">
              <a:off x="8021404" y="4000500"/>
              <a:ext cx="436796" cy="246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59400" name="Group 188"/>
          <p:cNvGrpSpPr>
            <a:grpSpLocks/>
          </p:cNvGrpSpPr>
          <p:nvPr/>
        </p:nvGrpSpPr>
        <p:grpSpPr bwMode="auto">
          <a:xfrm>
            <a:off x="7620000" y="4084638"/>
            <a:ext cx="1600200" cy="639762"/>
            <a:chOff x="4572000" y="3810000"/>
            <a:chExt cx="1905000" cy="762000"/>
          </a:xfrm>
        </p:grpSpPr>
        <p:sp>
          <p:nvSpPr>
            <p:cNvPr id="59412" name="Oval 9"/>
            <p:cNvSpPr>
              <a:spLocks noChangeArrowheads="1"/>
            </p:cNvSpPr>
            <p:nvPr/>
          </p:nvSpPr>
          <p:spPr bwMode="auto">
            <a:xfrm>
              <a:off x="4572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134" name="Oval 9"/>
            <p:cNvSpPr>
              <a:spLocks noChangeArrowheads="1"/>
            </p:cNvSpPr>
            <p:nvPr/>
          </p:nvSpPr>
          <p:spPr bwMode="auto">
            <a:xfrm>
              <a:off x="5333623" y="4191946"/>
              <a:ext cx="381756" cy="380054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14" name="Oval 9"/>
            <p:cNvSpPr>
              <a:spLocks noChangeArrowheads="1"/>
            </p:cNvSpPr>
            <p:nvPr/>
          </p:nvSpPr>
          <p:spPr bwMode="auto">
            <a:xfrm>
              <a:off x="6096000" y="38100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15" name="AutoShape 10"/>
            <p:cNvCxnSpPr>
              <a:cxnSpLocks noChangeShapeType="1"/>
              <a:stCxn id="59412" idx="6"/>
              <a:endCxn id="134" idx="1"/>
            </p:cNvCxnSpPr>
            <p:nvPr/>
          </p:nvCxnSpPr>
          <p:spPr bwMode="auto">
            <a:xfrm>
              <a:off x="4953000" y="4000500"/>
              <a:ext cx="436796" cy="246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16" name="AutoShape 10"/>
            <p:cNvCxnSpPr>
              <a:cxnSpLocks noChangeShapeType="1"/>
              <a:stCxn id="59414" idx="2"/>
              <a:endCxn id="134" idx="7"/>
            </p:cNvCxnSpPr>
            <p:nvPr/>
          </p:nvCxnSpPr>
          <p:spPr bwMode="auto">
            <a:xfrm rot="10800000" flipV="1">
              <a:off x="5659204" y="4000500"/>
              <a:ext cx="436796" cy="246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</p:grpSp>
      <p:grpSp>
        <p:nvGrpSpPr>
          <p:cNvPr id="59401" name="Group 189"/>
          <p:cNvGrpSpPr>
            <a:grpSpLocks/>
          </p:cNvGrpSpPr>
          <p:nvPr/>
        </p:nvGrpSpPr>
        <p:grpSpPr bwMode="auto">
          <a:xfrm>
            <a:off x="7620000" y="5029200"/>
            <a:ext cx="1600200" cy="1600200"/>
            <a:chOff x="4572000" y="4800600"/>
            <a:chExt cx="1905000" cy="1905000"/>
          </a:xfrm>
        </p:grpSpPr>
        <p:sp>
          <p:nvSpPr>
            <p:cNvPr id="59405" name="Oval 9"/>
            <p:cNvSpPr>
              <a:spLocks noChangeArrowheads="1"/>
            </p:cNvSpPr>
            <p:nvPr/>
          </p:nvSpPr>
          <p:spPr bwMode="auto">
            <a:xfrm>
              <a:off x="4572000" y="48006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06" name="Oval 9"/>
            <p:cNvSpPr>
              <a:spLocks noChangeArrowheads="1"/>
            </p:cNvSpPr>
            <p:nvPr/>
          </p:nvSpPr>
          <p:spPr bwMode="auto">
            <a:xfrm>
              <a:off x="6096000" y="48006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cxnSp>
          <p:nvCxnSpPr>
            <p:cNvPr id="59407" name="AutoShape 10"/>
            <p:cNvCxnSpPr>
              <a:cxnSpLocks noChangeShapeType="1"/>
              <a:stCxn id="59405" idx="6"/>
              <a:endCxn id="59410" idx="1"/>
            </p:cNvCxnSpPr>
            <p:nvPr/>
          </p:nvCxnSpPr>
          <p:spPr bwMode="auto">
            <a:xfrm>
              <a:off x="4953000" y="4991100"/>
              <a:ext cx="436796" cy="246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cxnSp>
          <p:nvCxnSpPr>
            <p:cNvPr id="59408" name="AutoShape 10"/>
            <p:cNvCxnSpPr>
              <a:cxnSpLocks noChangeShapeType="1"/>
              <a:stCxn id="59406" idx="2"/>
              <a:endCxn id="59410" idx="7"/>
            </p:cNvCxnSpPr>
            <p:nvPr/>
          </p:nvCxnSpPr>
          <p:spPr bwMode="auto">
            <a:xfrm rot="10800000" flipV="1">
              <a:off x="5659204" y="4991100"/>
              <a:ext cx="436796" cy="24629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sp>
          <p:nvSpPr>
            <p:cNvPr id="149" name="Oval 9"/>
            <p:cNvSpPr>
              <a:spLocks noChangeArrowheads="1"/>
            </p:cNvSpPr>
            <p:nvPr/>
          </p:nvSpPr>
          <p:spPr bwMode="auto">
            <a:xfrm>
              <a:off x="5333623" y="6323844"/>
              <a:ext cx="381756" cy="381756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59410" name="Oval 9"/>
            <p:cNvSpPr>
              <a:spLocks noChangeArrowheads="1"/>
            </p:cNvSpPr>
            <p:nvPr/>
          </p:nvSpPr>
          <p:spPr bwMode="auto">
            <a:xfrm>
              <a:off x="5334000" y="5181600"/>
              <a:ext cx="381000" cy="381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>
                <a:cs typeface="+mn-ea"/>
                <a:sym typeface="+mn-lt"/>
              </a:endParaRPr>
            </a:p>
          </p:txBody>
        </p:sp>
        <p:sp>
          <p:nvSpPr>
            <p:cNvPr id="158" name="Freeform 157"/>
            <p:cNvSpPr/>
            <p:nvPr/>
          </p:nvSpPr>
          <p:spPr>
            <a:xfrm>
              <a:off x="5312833" y="5562223"/>
              <a:ext cx="468690" cy="752173"/>
            </a:xfrm>
            <a:custGeom>
              <a:avLst/>
              <a:gdLst>
                <a:gd name="connsiteX0" fmla="*/ 200186 w 467532"/>
                <a:gd name="connsiteY0" fmla="*/ 0 h 836909"/>
                <a:gd name="connsiteX1" fmla="*/ 440410 w 467532"/>
                <a:gd name="connsiteY1" fmla="*/ 294468 h 836909"/>
                <a:gd name="connsiteX2" fmla="*/ 37454 w 467532"/>
                <a:gd name="connsiteY2" fmla="*/ 503695 h 836909"/>
                <a:gd name="connsiteX3" fmla="*/ 215684 w 467532"/>
                <a:gd name="connsiteY3" fmla="*/ 836909 h 836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67532" h="836909">
                  <a:moveTo>
                    <a:pt x="200186" y="0"/>
                  </a:moveTo>
                  <a:cubicBezTo>
                    <a:pt x="333859" y="105259"/>
                    <a:pt x="467532" y="210519"/>
                    <a:pt x="440410" y="294468"/>
                  </a:cubicBezTo>
                  <a:cubicBezTo>
                    <a:pt x="413288" y="378417"/>
                    <a:pt x="74908" y="413288"/>
                    <a:pt x="37454" y="503695"/>
                  </a:cubicBezTo>
                  <a:cubicBezTo>
                    <a:pt x="0" y="594102"/>
                    <a:pt x="107842" y="715505"/>
                    <a:pt x="215684" y="836909"/>
                  </a:cubicBezTo>
                </a:path>
              </a:pathLst>
            </a:custGeom>
            <a:ln w="28575">
              <a:solidFill>
                <a:schemeClr val="tx1"/>
              </a:solidFill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cs typeface="+mn-ea"/>
                <a:sym typeface="+mn-lt"/>
              </a:endParaRPr>
            </a:p>
          </p:txBody>
        </p:sp>
      </p:grpSp>
      <p:cxnSp>
        <p:nvCxnSpPr>
          <p:cNvPr id="182" name="Straight Connector 181"/>
          <p:cNvCxnSpPr/>
          <p:nvPr/>
        </p:nvCxnSpPr>
        <p:spPr>
          <a:xfrm rot="5400000">
            <a:off x="7124700" y="4076700"/>
            <a:ext cx="4954588" cy="158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403" name="TextBox 190"/>
          <p:cNvSpPr txBox="1">
            <a:spLocks noChangeArrowheads="1"/>
          </p:cNvSpPr>
          <p:nvPr/>
        </p:nvSpPr>
        <p:spPr bwMode="auto">
          <a:xfrm>
            <a:off x="7620000" y="1371600"/>
            <a:ext cx="160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00B050"/>
                </a:solidFill>
                <a:latin typeface="+mn-lt"/>
                <a:ea typeface="+mn-ea"/>
                <a:cs typeface="+mn-ea"/>
                <a:sym typeface="+mn-lt"/>
              </a:rPr>
              <a:t>活跃三元组</a:t>
            </a:r>
          </a:p>
        </p:txBody>
      </p:sp>
      <p:sp>
        <p:nvSpPr>
          <p:cNvPr id="59404" name="TextBox 191"/>
          <p:cNvSpPr txBox="1">
            <a:spLocks noChangeArrowheads="1"/>
          </p:cNvSpPr>
          <p:nvPr/>
        </p:nvSpPr>
        <p:spPr bwMode="auto">
          <a:xfrm>
            <a:off x="9982200" y="1371600"/>
            <a:ext cx="1752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非活跃三元组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7106A11-4EB2-4092-B374-2531249F2B4E}"/>
              </a:ext>
            </a:extLst>
          </p:cNvPr>
          <p:cNvSpPr/>
          <p:nvPr/>
        </p:nvSpPr>
        <p:spPr>
          <a:xfrm>
            <a:off x="8265929" y="4404519"/>
            <a:ext cx="305301" cy="3132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0B143413-1A5E-40BC-8F7A-05A3390AAACA}"/>
              </a:ext>
            </a:extLst>
          </p:cNvPr>
          <p:cNvSpPr/>
          <p:nvPr/>
        </p:nvSpPr>
        <p:spPr>
          <a:xfrm>
            <a:off x="10621962" y="2037412"/>
            <a:ext cx="305301" cy="3132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940C990D-C1A8-4EBA-95E6-286B5F25DD6F}"/>
              </a:ext>
            </a:extLst>
          </p:cNvPr>
          <p:cNvSpPr/>
          <p:nvPr/>
        </p:nvSpPr>
        <p:spPr>
          <a:xfrm>
            <a:off x="10633350" y="2776538"/>
            <a:ext cx="305301" cy="3132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7673490A-96AC-4B64-9470-ACE047445F5A}"/>
              </a:ext>
            </a:extLst>
          </p:cNvPr>
          <p:cNvSpPr/>
          <p:nvPr/>
        </p:nvSpPr>
        <p:spPr>
          <a:xfrm>
            <a:off x="8274819" y="6316187"/>
            <a:ext cx="305301" cy="3132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275" y="3105854"/>
            <a:ext cx="4583532" cy="3384163"/>
          </a:xfrm>
          <a:prstGeom prst="rect">
            <a:avLst/>
          </a:prstGeom>
        </p:spPr>
      </p:pic>
      <p:sp>
        <p:nvSpPr>
          <p:cNvPr id="6041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latin typeface="+mn-lt"/>
                <a:ea typeface="+mn-ea"/>
                <a:cs typeface="+mn-ea"/>
                <a:sym typeface="+mn-lt"/>
              </a:rPr>
              <a:t>D-分离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4294967295"/>
          </p:nvPr>
        </p:nvSpPr>
        <p:spPr>
          <a:xfrm>
            <a:off x="660400" y="1371600"/>
            <a:ext cx="9931400" cy="4678363"/>
          </a:xfrm>
        </p:spPr>
        <p:txBody>
          <a:bodyPr/>
          <a:lstStyle/>
          <a:p>
            <a:pPr>
              <a:buFont typeface="Wingdings" charset="0"/>
              <a:buChar char="§"/>
              <a:defRPr/>
            </a:pPr>
            <a:r>
              <a:rPr 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查询：</a:t>
            </a:r>
            <a:r>
              <a:rPr lang="en-US" sz="2800" dirty="0">
                <a:latin typeface="+mn-lt"/>
                <a:cs typeface="+mn-ea"/>
                <a:sym typeface="+mn-lt"/>
              </a:rPr>
              <a:t>	</a:t>
            </a:r>
            <a:endParaRPr lang="en-US" sz="1200" dirty="0">
              <a:latin typeface="+mn-lt"/>
              <a:cs typeface="+mn-ea"/>
              <a:sym typeface="+mn-lt"/>
            </a:endParaRPr>
          </a:p>
          <a:p>
            <a:pPr>
              <a:buFont typeface="Wingdings" charset="0"/>
              <a:buChar char="§"/>
              <a:defRPr/>
            </a:pPr>
            <a:endParaRPr lang="en-US" sz="1600" dirty="0">
              <a:latin typeface="+mn-lt"/>
              <a:cs typeface="+mn-ea"/>
              <a:sym typeface="+mn-lt"/>
            </a:endParaRPr>
          </a:p>
          <a:p>
            <a:pPr>
              <a:buFont typeface="Wingdings" charset="0"/>
              <a:buChar char="§"/>
              <a:defRPr/>
            </a:pPr>
            <a:r>
              <a:rPr lang="en-US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检查</a:t>
            </a:r>
            <a:r>
              <a:rPr 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       和       </a:t>
            </a:r>
            <a:r>
              <a:rPr lang="en-US" sz="28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之间所有（无向）路径</a:t>
            </a:r>
            <a:endParaRPr lang="en-US" sz="28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7">
              <a:buFont typeface="Wingdings" charset="0"/>
              <a:buChar char="§"/>
              <a:defRPr/>
            </a:pPr>
            <a:endParaRPr lang="en-US" sz="600" dirty="0">
              <a:cs typeface="+mn-ea"/>
              <a:sym typeface="+mn-lt"/>
            </a:endParaRP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latin typeface="+mn-lt"/>
                <a:cs typeface="+mn-ea"/>
                <a:sym typeface="+mn-lt"/>
              </a:rPr>
              <a:t>如果有一个或多个处于激活状态，则独立性无法保证。</a:t>
            </a:r>
          </a:p>
          <a:p>
            <a:pPr marL="0" indent="0">
              <a:buNone/>
              <a:defRPr/>
            </a:pPr>
            <a:r>
              <a:rPr lang="en-US" sz="2800" dirty="0">
                <a:latin typeface="+mn-lt"/>
                <a:cs typeface="+mn-ea"/>
                <a:sym typeface="+mn-lt"/>
              </a:rPr>
              <a:t>   </a:t>
            </a:r>
            <a:endParaRPr lang="en-US" dirty="0">
              <a:latin typeface="+mn-lt"/>
              <a:cs typeface="+mn-ea"/>
              <a:sym typeface="+mn-lt"/>
            </a:endParaRPr>
          </a:p>
          <a:p>
            <a:pPr lvl="1">
              <a:buFont typeface="Wingdings" charset="0"/>
              <a:buChar char="§"/>
              <a:defRPr/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buFont typeface="Wingdings" charset="0"/>
              <a:buChar char="§"/>
              <a:defRPr/>
            </a:pPr>
            <a:r>
              <a:rPr lang="en-US" sz="2400" dirty="0">
                <a:latin typeface="+mn-lt"/>
                <a:cs typeface="+mn-ea"/>
                <a:sym typeface="+mn-lt"/>
              </a:rPr>
              <a:t>否则（即，如果所有路径均未激活），</a:t>
            </a:r>
          </a:p>
          <a:p>
            <a:pPr marL="457176" lvl="1" indent="0">
              <a:buNone/>
              <a:defRPr/>
            </a:pPr>
            <a:r>
              <a:rPr lang="en-US" sz="2400" dirty="0">
                <a:latin typeface="+mn-lt"/>
                <a:cs typeface="+mn-ea"/>
                <a:sym typeface="+mn-lt"/>
              </a:rPr>
              <a:t>    那么独立性就得到了保障。</a:t>
            </a:r>
          </a:p>
        </p:txBody>
      </p:sp>
      <p:pic>
        <p:nvPicPr>
          <p:cNvPr id="60420" name="Picture 4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447800"/>
            <a:ext cx="47625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21" name="Picture 5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429000"/>
            <a:ext cx="451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TextBox 8"/>
          <p:cNvSpPr txBox="1">
            <a:spLocks noChangeArrowheads="1"/>
          </p:cNvSpPr>
          <p:nvPr/>
        </p:nvSpPr>
        <p:spPr bwMode="auto">
          <a:xfrm>
            <a:off x="7299566" y="1219200"/>
            <a:ext cx="49885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4400" dirty="0">
                <a:latin typeface="+mn-lt"/>
                <a:ea typeface="+mn-ea"/>
                <a:cs typeface="+mn-ea"/>
                <a:sym typeface="+mn-lt"/>
              </a:rPr>
              <a:t>?</a:t>
            </a:r>
          </a:p>
        </p:txBody>
      </p:sp>
      <p:pic>
        <p:nvPicPr>
          <p:cNvPr id="60423" name="Picture 1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5190331"/>
            <a:ext cx="43434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84800"/>
            <a:ext cx="457200" cy="381000"/>
          </a:xfrm>
          <a:prstGeom prst="rect">
            <a:avLst/>
          </a:prstGeom>
        </p:spPr>
      </p:pic>
      <p:pic>
        <p:nvPicPr>
          <p:cNvPr id="5" name="Picture 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2053" y="2257315"/>
            <a:ext cx="495300" cy="419100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r="2700000" dist="37357" rotWithShape="0">
                    <a:scrgbClr b="0" g="0" r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dir="t" rig="threeP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2895600" y="3429000"/>
            <a:ext cx="381000" cy="381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示例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96709" name="Text Box 5"/>
          <p:cNvSpPr txBox="1">
            <a:spLocks noChangeArrowheads="1"/>
          </p:cNvSpPr>
          <p:nvPr/>
        </p:nvSpPr>
        <p:spPr bwMode="auto">
          <a:xfrm>
            <a:off x="4972050" y="243840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 dirty="0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</a:t>
            </a:r>
          </a:p>
        </p:txBody>
      </p:sp>
      <p:pic>
        <p:nvPicPr>
          <p:cNvPr id="17" name="Picture 16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563" y="2578100"/>
            <a:ext cx="981075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7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100" y="3181350"/>
            <a:ext cx="13477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6" name="Rectangle 8"/>
          <p:cNvSpPr>
            <a:spLocks noChangeArrowheads="1"/>
          </p:cNvSpPr>
          <p:nvPr/>
        </p:nvSpPr>
        <p:spPr bwMode="auto">
          <a:xfrm>
            <a:off x="6096000" y="4267200"/>
            <a:ext cx="1447800" cy="2286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61448" name="Oval 4"/>
          <p:cNvSpPr>
            <a:spLocks noChangeArrowheads="1"/>
          </p:cNvSpPr>
          <p:nvPr/>
        </p:nvSpPr>
        <p:spPr bwMode="auto">
          <a:xfrm>
            <a:off x="7772400" y="23622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R</a:t>
            </a:r>
            <a:endParaRPr lang="en-US" sz="2400" baseline="-25000">
              <a:cs typeface="+mn-ea"/>
              <a:sym typeface="+mn-lt"/>
            </a:endParaRPr>
          </a:p>
        </p:txBody>
      </p:sp>
      <p:sp>
        <p:nvSpPr>
          <p:cNvPr id="61449" name="Oval 5"/>
          <p:cNvSpPr>
            <a:spLocks noChangeArrowheads="1"/>
          </p:cNvSpPr>
          <p:nvPr/>
        </p:nvSpPr>
        <p:spPr bwMode="auto">
          <a:xfrm>
            <a:off x="8382000" y="37338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endParaRPr lang="en-US" sz="2400" baseline="-25000">
              <a:cs typeface="+mn-ea"/>
              <a:sym typeface="+mn-lt"/>
            </a:endParaRPr>
          </a:p>
        </p:txBody>
      </p:sp>
      <p:cxnSp>
        <p:nvCxnSpPr>
          <p:cNvPr id="61450" name="AutoShape 6"/>
          <p:cNvCxnSpPr>
            <a:cxnSpLocks noChangeShapeType="1"/>
            <a:stCxn id="61448" idx="4"/>
            <a:endCxn id="61449" idx="1"/>
          </p:cNvCxnSpPr>
          <p:nvPr/>
        </p:nvCxnSpPr>
        <p:spPr bwMode="auto">
          <a:xfrm>
            <a:off x="8039100" y="2909888"/>
            <a:ext cx="420688" cy="887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1451" name="Oval 7"/>
          <p:cNvSpPr>
            <a:spLocks noChangeArrowheads="1"/>
          </p:cNvSpPr>
          <p:nvPr/>
        </p:nvSpPr>
        <p:spPr bwMode="auto">
          <a:xfrm>
            <a:off x="9220200" y="23622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B</a:t>
            </a:r>
          </a:p>
        </p:txBody>
      </p:sp>
      <p:cxnSp>
        <p:nvCxnSpPr>
          <p:cNvPr id="61452" name="AutoShape 8"/>
          <p:cNvCxnSpPr>
            <a:cxnSpLocks noChangeShapeType="1"/>
            <a:stCxn id="61451" idx="4"/>
            <a:endCxn id="61449" idx="7"/>
          </p:cNvCxnSpPr>
          <p:nvPr/>
        </p:nvCxnSpPr>
        <p:spPr bwMode="auto">
          <a:xfrm flipH="1">
            <a:off x="8837613" y="2909888"/>
            <a:ext cx="649287" cy="887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1453" name="Oval 13"/>
          <p:cNvSpPr>
            <a:spLocks noChangeArrowheads="1"/>
          </p:cNvSpPr>
          <p:nvPr/>
        </p:nvSpPr>
        <p:spPr bwMode="auto">
          <a:xfrm>
            <a:off x="8382000" y="5105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r>
              <a:rPr lang="ja-JP" altLang="en-US" sz="2400" i="1">
                <a:cs typeface="+mn-ea"/>
                <a:sym typeface="+mn-lt"/>
              </a:rPr>
              <a:t>’</a:t>
            </a:r>
            <a:endParaRPr lang="en-US" sz="2400" i="1">
              <a:cs typeface="+mn-ea"/>
              <a:sym typeface="+mn-lt"/>
            </a:endParaRPr>
          </a:p>
        </p:txBody>
      </p:sp>
      <p:cxnSp>
        <p:nvCxnSpPr>
          <p:cNvPr id="61454" name="AutoShape 14"/>
          <p:cNvCxnSpPr>
            <a:cxnSpLocks noChangeShapeType="1"/>
            <a:stCxn id="61449" idx="4"/>
            <a:endCxn id="61453" idx="0"/>
          </p:cNvCxnSpPr>
          <p:nvPr/>
        </p:nvCxnSpPr>
        <p:spPr bwMode="auto">
          <a:xfrm>
            <a:off x="8648700" y="4281488"/>
            <a:ext cx="0" cy="8096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20" name="Picture 19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810000"/>
            <a:ext cx="1436687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0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示例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3491" name="Oval 4"/>
          <p:cNvSpPr>
            <a:spLocks noChangeArrowheads="1"/>
          </p:cNvSpPr>
          <p:nvPr/>
        </p:nvSpPr>
        <p:spPr bwMode="auto">
          <a:xfrm>
            <a:off x="7831137" y="2819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R</a:t>
            </a:r>
            <a:endParaRPr lang="en-US" sz="2400" baseline="-25000">
              <a:cs typeface="+mn-ea"/>
              <a:sym typeface="+mn-lt"/>
            </a:endParaRPr>
          </a:p>
        </p:txBody>
      </p:sp>
      <p:sp>
        <p:nvSpPr>
          <p:cNvPr id="63492" name="Oval 5"/>
          <p:cNvSpPr>
            <a:spLocks noChangeArrowheads="1"/>
          </p:cNvSpPr>
          <p:nvPr/>
        </p:nvSpPr>
        <p:spPr bwMode="auto">
          <a:xfrm>
            <a:off x="8440737" y="41910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endParaRPr lang="en-US" sz="2400" baseline="-25000">
              <a:cs typeface="+mn-ea"/>
              <a:sym typeface="+mn-lt"/>
            </a:endParaRPr>
          </a:p>
        </p:txBody>
      </p:sp>
      <p:cxnSp>
        <p:nvCxnSpPr>
          <p:cNvPr id="63493" name="AutoShape 6"/>
          <p:cNvCxnSpPr>
            <a:cxnSpLocks noChangeShapeType="1"/>
            <a:stCxn id="63491" idx="4"/>
            <a:endCxn id="63492" idx="1"/>
          </p:cNvCxnSpPr>
          <p:nvPr/>
        </p:nvCxnSpPr>
        <p:spPr bwMode="auto">
          <a:xfrm>
            <a:off x="8097837" y="3367088"/>
            <a:ext cx="420688" cy="887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3494" name="Oval 7"/>
          <p:cNvSpPr>
            <a:spLocks noChangeArrowheads="1"/>
          </p:cNvSpPr>
          <p:nvPr/>
        </p:nvSpPr>
        <p:spPr bwMode="auto">
          <a:xfrm>
            <a:off x="9278937" y="2819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B</a:t>
            </a:r>
          </a:p>
        </p:txBody>
      </p:sp>
      <p:cxnSp>
        <p:nvCxnSpPr>
          <p:cNvPr id="63495" name="AutoShape 8"/>
          <p:cNvCxnSpPr>
            <a:cxnSpLocks noChangeShapeType="1"/>
            <a:stCxn id="63494" idx="4"/>
            <a:endCxn id="63492" idx="7"/>
          </p:cNvCxnSpPr>
          <p:nvPr/>
        </p:nvCxnSpPr>
        <p:spPr bwMode="auto">
          <a:xfrm flipH="1">
            <a:off x="8896350" y="3367088"/>
            <a:ext cx="649287" cy="8874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3496" name="Oval 9"/>
          <p:cNvSpPr>
            <a:spLocks noChangeArrowheads="1"/>
          </p:cNvSpPr>
          <p:nvPr/>
        </p:nvSpPr>
        <p:spPr bwMode="auto">
          <a:xfrm>
            <a:off x="7259637" y="4176713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D</a:t>
            </a:r>
            <a:endParaRPr lang="en-US" sz="2400" baseline="-25000">
              <a:cs typeface="+mn-ea"/>
              <a:sym typeface="+mn-lt"/>
            </a:endParaRPr>
          </a:p>
        </p:txBody>
      </p:sp>
      <p:cxnSp>
        <p:nvCxnSpPr>
          <p:cNvPr id="63497" name="AutoShape 10"/>
          <p:cNvCxnSpPr>
            <a:cxnSpLocks noChangeShapeType="1"/>
            <a:stCxn id="63491" idx="4"/>
            <a:endCxn id="63496" idx="0"/>
          </p:cNvCxnSpPr>
          <p:nvPr/>
        </p:nvCxnSpPr>
        <p:spPr bwMode="auto">
          <a:xfrm flipH="1">
            <a:off x="7526337" y="3367088"/>
            <a:ext cx="571500" cy="79533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3498" name="Oval 11"/>
          <p:cNvSpPr>
            <a:spLocks noChangeArrowheads="1"/>
          </p:cNvSpPr>
          <p:nvPr/>
        </p:nvSpPr>
        <p:spPr bwMode="auto">
          <a:xfrm>
            <a:off x="7832725" y="1676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L</a:t>
            </a:r>
          </a:p>
        </p:txBody>
      </p:sp>
      <p:cxnSp>
        <p:nvCxnSpPr>
          <p:cNvPr id="63499" name="AutoShape 12"/>
          <p:cNvCxnSpPr>
            <a:cxnSpLocks noChangeShapeType="1"/>
            <a:stCxn id="63498" idx="4"/>
            <a:endCxn id="63491" idx="0"/>
          </p:cNvCxnSpPr>
          <p:nvPr/>
        </p:nvCxnSpPr>
        <p:spPr bwMode="auto">
          <a:xfrm flipH="1">
            <a:off x="8097837" y="2224088"/>
            <a:ext cx="1588" cy="581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3500" name="Oval 13"/>
          <p:cNvSpPr>
            <a:spLocks noChangeArrowheads="1"/>
          </p:cNvSpPr>
          <p:nvPr/>
        </p:nvSpPr>
        <p:spPr bwMode="auto">
          <a:xfrm>
            <a:off x="8440737" y="55626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r>
              <a:rPr lang="ja-JP" altLang="en-US" sz="2400" i="1">
                <a:cs typeface="+mn-ea"/>
                <a:sym typeface="+mn-lt"/>
              </a:rPr>
              <a:t>’</a:t>
            </a:r>
            <a:endParaRPr lang="en-US" sz="2400" i="1">
              <a:cs typeface="+mn-ea"/>
              <a:sym typeface="+mn-lt"/>
            </a:endParaRPr>
          </a:p>
        </p:txBody>
      </p:sp>
      <p:cxnSp>
        <p:nvCxnSpPr>
          <p:cNvPr id="63501" name="AutoShape 14"/>
          <p:cNvCxnSpPr>
            <a:cxnSpLocks noChangeShapeType="1"/>
            <a:stCxn id="63492" idx="4"/>
            <a:endCxn id="63500" idx="0"/>
          </p:cNvCxnSpPr>
          <p:nvPr/>
        </p:nvCxnSpPr>
        <p:spPr bwMode="auto">
          <a:xfrm>
            <a:off x="8707437" y="4738688"/>
            <a:ext cx="0" cy="8096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1097743" name="Picture 1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87" y="2514600"/>
            <a:ext cx="138430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7744" name="Picture 1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137" y="3238500"/>
            <a:ext cx="946150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7745" name="Picture 17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087" y="3860800"/>
            <a:ext cx="1314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7746" name="Picture 18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450" y="4514850"/>
            <a:ext cx="1401762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7747" name="Picture 19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295900"/>
            <a:ext cx="1735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7748" name="Text Box 20"/>
          <p:cNvSpPr txBox="1">
            <a:spLocks noChangeArrowheads="1"/>
          </p:cNvSpPr>
          <p:nvPr/>
        </p:nvSpPr>
        <p:spPr bwMode="auto">
          <a:xfrm>
            <a:off x="4935537" y="243840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</a:t>
            </a:r>
          </a:p>
        </p:txBody>
      </p:sp>
      <p:sp>
        <p:nvSpPr>
          <p:cNvPr id="1097749" name="Text Box 21"/>
          <p:cNvSpPr txBox="1">
            <a:spLocks noChangeArrowheads="1"/>
          </p:cNvSpPr>
          <p:nvPr/>
        </p:nvSpPr>
        <p:spPr bwMode="auto">
          <a:xfrm>
            <a:off x="4935537" y="304800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</a:t>
            </a:r>
          </a:p>
        </p:txBody>
      </p:sp>
      <p:sp>
        <p:nvSpPr>
          <p:cNvPr id="1097750" name="Text Box 22"/>
          <p:cNvSpPr txBox="1">
            <a:spLocks noChangeArrowheads="1"/>
          </p:cNvSpPr>
          <p:nvPr/>
        </p:nvSpPr>
        <p:spPr bwMode="auto">
          <a:xfrm>
            <a:off x="4935537" y="510540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48" grpId="0"/>
      <p:bldP spid="1097749" grpId="0"/>
      <p:bldP spid="1097750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示例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9875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12800" y="1371600"/>
            <a:ext cx="11379200" cy="4729163"/>
          </a:xfrm>
        </p:spPr>
        <p:txBody>
          <a:bodyPr/>
          <a:lstStyle/>
          <a:p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变量</a:t>
            </a:r>
            <a:r>
              <a:rPr 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lvl="1"/>
            <a:r>
              <a:rPr lang="en-US" altLang="zh-CN" dirty="0" err="1">
                <a:cs typeface="+mn-ea"/>
                <a:sym typeface="+mn-lt"/>
              </a:rPr>
              <a:t>R：下雨了</a:t>
            </a:r>
            <a:endParaRPr lang="en-US" altLang="zh-CN" dirty="0">
              <a:cs typeface="+mn-ea"/>
              <a:sym typeface="+mn-lt"/>
            </a:endParaRPr>
          </a:p>
          <a:p>
            <a:pPr lvl="1"/>
            <a:r>
              <a:rPr lang="en-US" altLang="zh-CN" dirty="0" err="1">
                <a:cs typeface="+mn-ea"/>
                <a:sym typeface="+mn-lt"/>
              </a:rPr>
              <a:t>T：交通</a:t>
            </a:r>
            <a:endParaRPr lang="en-US" altLang="zh-CN" dirty="0">
              <a:cs typeface="+mn-ea"/>
              <a:sym typeface="+mn-lt"/>
            </a:endParaRPr>
          </a:p>
          <a:p>
            <a:pPr lvl="1"/>
            <a:r>
              <a:rPr lang="en-US" altLang="zh-CN" dirty="0" err="1">
                <a:cs typeface="+mn-ea"/>
                <a:sym typeface="+mn-lt"/>
              </a:rPr>
              <a:t>D：屋顶滴水</a:t>
            </a:r>
            <a:endParaRPr lang="en-US" altLang="zh-CN" dirty="0">
              <a:cs typeface="+mn-ea"/>
              <a:sym typeface="+mn-lt"/>
            </a:endParaRPr>
          </a:p>
          <a:p>
            <a:pPr lvl="1"/>
            <a:r>
              <a:rPr lang="en-US" dirty="0">
                <a:latin typeface="+mn-lt"/>
                <a:cs typeface="+mn-ea"/>
                <a:sym typeface="+mn-lt"/>
              </a:rPr>
              <a:t>S:</a:t>
            </a:r>
            <a:r>
              <a:rPr lang="zh-CN" altLang="en-US" dirty="0">
                <a:latin typeface="+mn-lt"/>
                <a:cs typeface="+mn-ea"/>
                <a:sym typeface="+mn-lt"/>
              </a:rPr>
              <a:t>我很伤心</a:t>
            </a:r>
          </a:p>
          <a:p>
            <a:pPr marL="457200" lvl="1" indent="0" eaLnBrk="1" hangingPunct="1">
              <a:buNone/>
            </a:pPr>
            <a:endParaRPr lang="en-US" altLang="ja-JP" dirty="0">
              <a:latin typeface="+mn-lt"/>
              <a:cs typeface="+mn-ea"/>
              <a:sym typeface="+mn-lt"/>
            </a:endParaRPr>
          </a:p>
          <a:p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问题</a:t>
            </a:r>
            <a:r>
              <a:rPr 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:</a:t>
            </a:r>
          </a:p>
          <a:p>
            <a:pPr lvl="1" eaLnBrk="1" hangingPunct="1"/>
            <a:endParaRPr 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64515" name="Oval 4"/>
          <p:cNvSpPr>
            <a:spLocks noChangeArrowheads="1"/>
          </p:cNvSpPr>
          <p:nvPr/>
        </p:nvSpPr>
        <p:spPr bwMode="auto">
          <a:xfrm>
            <a:off x="7239000" y="33528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endParaRPr lang="en-US" sz="2400" baseline="-25000">
              <a:cs typeface="+mn-ea"/>
              <a:sym typeface="+mn-lt"/>
            </a:endParaRPr>
          </a:p>
        </p:txBody>
      </p:sp>
      <p:sp>
        <p:nvSpPr>
          <p:cNvPr id="64516" name="Oval 5"/>
          <p:cNvSpPr>
            <a:spLocks noChangeArrowheads="1"/>
          </p:cNvSpPr>
          <p:nvPr/>
        </p:nvSpPr>
        <p:spPr bwMode="auto">
          <a:xfrm>
            <a:off x="7924800" y="44958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S</a:t>
            </a:r>
          </a:p>
        </p:txBody>
      </p:sp>
      <p:cxnSp>
        <p:nvCxnSpPr>
          <p:cNvPr id="64517" name="AutoShape 6"/>
          <p:cNvCxnSpPr>
            <a:cxnSpLocks noChangeShapeType="1"/>
            <a:stCxn id="64515" idx="4"/>
            <a:endCxn id="64516" idx="1"/>
          </p:cNvCxnSpPr>
          <p:nvPr/>
        </p:nvCxnSpPr>
        <p:spPr bwMode="auto">
          <a:xfrm>
            <a:off x="7505700" y="3900488"/>
            <a:ext cx="496888" cy="6588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4518" name="Oval 7"/>
          <p:cNvSpPr>
            <a:spLocks noChangeArrowheads="1"/>
          </p:cNvSpPr>
          <p:nvPr/>
        </p:nvSpPr>
        <p:spPr bwMode="auto">
          <a:xfrm>
            <a:off x="8686800" y="33528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D</a:t>
            </a:r>
          </a:p>
        </p:txBody>
      </p:sp>
      <p:cxnSp>
        <p:nvCxnSpPr>
          <p:cNvPr id="64519" name="AutoShape 8"/>
          <p:cNvCxnSpPr>
            <a:cxnSpLocks noChangeShapeType="1"/>
            <a:stCxn id="64518" idx="4"/>
            <a:endCxn id="64516" idx="7"/>
          </p:cNvCxnSpPr>
          <p:nvPr/>
        </p:nvCxnSpPr>
        <p:spPr bwMode="auto">
          <a:xfrm flipH="1">
            <a:off x="8380413" y="3900488"/>
            <a:ext cx="573087" cy="6588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64520" name="Oval 9"/>
          <p:cNvSpPr>
            <a:spLocks noChangeArrowheads="1"/>
          </p:cNvSpPr>
          <p:nvPr/>
        </p:nvSpPr>
        <p:spPr bwMode="auto">
          <a:xfrm>
            <a:off x="7924800" y="22098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R</a:t>
            </a:r>
          </a:p>
        </p:txBody>
      </p:sp>
      <p:cxnSp>
        <p:nvCxnSpPr>
          <p:cNvPr id="64521" name="AutoShape 10"/>
          <p:cNvCxnSpPr>
            <a:cxnSpLocks noChangeShapeType="1"/>
            <a:stCxn id="64520" idx="3"/>
            <a:endCxn id="64515" idx="0"/>
          </p:cNvCxnSpPr>
          <p:nvPr/>
        </p:nvCxnSpPr>
        <p:spPr bwMode="auto">
          <a:xfrm flipH="1">
            <a:off x="7505700" y="2679700"/>
            <a:ext cx="496888" cy="6588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64522" name="AutoShape 11"/>
          <p:cNvCxnSpPr>
            <a:cxnSpLocks noChangeShapeType="1"/>
            <a:stCxn id="64520" idx="5"/>
            <a:endCxn id="64518" idx="0"/>
          </p:cNvCxnSpPr>
          <p:nvPr/>
        </p:nvCxnSpPr>
        <p:spPr bwMode="auto">
          <a:xfrm>
            <a:off x="8380413" y="2679700"/>
            <a:ext cx="573087" cy="6588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1098764" name="Text Box 12"/>
          <p:cNvSpPr txBox="1">
            <a:spLocks noChangeArrowheads="1"/>
          </p:cNvSpPr>
          <p:nvPr/>
        </p:nvSpPr>
        <p:spPr bwMode="auto">
          <a:xfrm>
            <a:off x="5314950" y="4935140"/>
            <a:ext cx="152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i="1">
                <a:solidFill>
                  <a:srgbClr val="CC0000"/>
                </a:solidFill>
                <a:latin typeface="+mn-lt"/>
                <a:ea typeface="+mn-ea"/>
                <a:cs typeface="+mn-ea"/>
                <a:sym typeface="+mn-lt"/>
              </a:rPr>
              <a:t>Yes</a:t>
            </a:r>
          </a:p>
        </p:txBody>
      </p:sp>
      <p:pic>
        <p:nvPicPr>
          <p:cNvPr id="1098765" name="Picture 13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4473178"/>
            <a:ext cx="981075" cy="2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8766" name="Picture 14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5024040"/>
            <a:ext cx="13843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8767" name="Picture 15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5150" y="5620940"/>
            <a:ext cx="1787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764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091" y="3656935"/>
            <a:ext cx="10285809" cy="2477165"/>
          </a:xfrm>
          <a:prstGeom prst="rect">
            <a:avLst/>
          </a:prstGeom>
        </p:spPr>
      </p:pic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6400800" y="1447800"/>
            <a:ext cx="54102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示例：</a:t>
            </a:r>
          </a:p>
          <a:p>
            <a:pPr lvl="8">
              <a:lnSpc>
                <a:spcPct val="90000"/>
              </a:lnSpc>
            </a:pPr>
            <a:endParaRPr lang="en-US" sz="1000" dirty="0"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后验概率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r>
              <a:rPr lang="en-US" sz="2400" dirty="0">
                <a:latin typeface="+mn-lt"/>
                <a:cs typeface="+mn-ea"/>
                <a:sym typeface="+mn-lt"/>
              </a:rPr>
              <a:t>最可能的解释：</a:t>
            </a: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</p:txBody>
      </p:sp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latin typeface="+mn-lt"/>
                <a:ea typeface="+mn-ea"/>
                <a:cs typeface="+mn-ea"/>
                <a:sym typeface="+mn-lt"/>
              </a:rPr>
              <a:t>推理</a:t>
            </a:r>
          </a:p>
        </p:txBody>
      </p:sp>
      <p:sp>
        <p:nvSpPr>
          <p:cNvPr id="1945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18569" y="1447800"/>
            <a:ext cx="54102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推理</a:t>
            </a:r>
            <a:r>
              <a:rPr 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：从联合概率分布中计算出某种有用的数量。</a:t>
            </a:r>
          </a:p>
          <a:p>
            <a:pPr lvl="8">
              <a:lnSpc>
                <a:spcPct val="90000"/>
              </a:lnSpc>
            </a:pPr>
            <a:endParaRPr lang="en-US" sz="1600" dirty="0"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  <a:p>
            <a:pPr lvl="1">
              <a:lnSpc>
                <a:spcPct val="90000"/>
              </a:lnSpc>
            </a:pPr>
            <a:endParaRPr lang="en-US" sz="2400" dirty="0">
              <a:latin typeface="+mn-lt"/>
              <a:cs typeface="+mn-ea"/>
              <a:sym typeface="+mn-lt"/>
            </a:endParaRPr>
          </a:p>
        </p:txBody>
      </p:sp>
      <p:pic>
        <p:nvPicPr>
          <p:cNvPr id="8" name="Picture 15" descr="txp_fig">
            <a:extLst>
              <a:ext uri="{FF2B5EF4-FFF2-40B4-BE49-F238E27FC236}">
                <a16:creationId xmlns:a16="http://schemas.microsoft.com/office/drawing/2014/main" id="{587895A8-F9BA-44DB-A1BE-A0D99FF0086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2667000"/>
            <a:ext cx="37338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6" descr="txp_fig">
            <a:extLst>
              <a:ext uri="{FF2B5EF4-FFF2-40B4-BE49-F238E27FC236}">
                <a16:creationId xmlns:a16="http://schemas.microsoft.com/office/drawing/2014/main" id="{2D9788F3-0215-43FC-AE38-C3B0F65B361F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3886200"/>
            <a:ext cx="4413250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>
                <a:latin typeface="+mn-lt"/>
                <a:ea typeface="+mn-ea"/>
                <a:cs typeface="+mn-ea"/>
                <a:sym typeface="+mn-lt"/>
              </a:rPr>
              <a:t>枚举推理</a:t>
            </a:r>
          </a:p>
        </p:txBody>
      </p:sp>
      <p:sp>
        <p:nvSpPr>
          <p:cNvPr id="1044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73760" y="1295400"/>
            <a:ext cx="7355840" cy="13287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一般情况：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证据变量：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查询*变量：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1800" dirty="0">
                <a:latin typeface="+mn-lt"/>
                <a:cs typeface="+mn-ea"/>
                <a:sym typeface="+mn-lt"/>
              </a:rPr>
              <a:t>隐藏变量：</a:t>
            </a:r>
          </a:p>
          <a:p>
            <a:pPr lvl="1" eaLnBrk="1" hangingPunct="1">
              <a:lnSpc>
                <a:spcPct val="80000"/>
              </a:lnSpc>
            </a:pPr>
            <a:endParaRPr lang="en-US" sz="16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80000"/>
              </a:lnSpc>
            </a:pPr>
            <a:endParaRPr lang="en-US" sz="1600" dirty="0">
              <a:latin typeface="+mn-lt"/>
              <a:cs typeface="+mn-ea"/>
              <a:sym typeface="+mn-lt"/>
            </a:endParaRPr>
          </a:p>
        </p:txBody>
      </p:sp>
      <p:pic>
        <p:nvPicPr>
          <p:cNvPr id="18437" name="Picture 15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973" y="1610535"/>
            <a:ext cx="2095500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16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673" y="1929623"/>
            <a:ext cx="169863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748" y="2234423"/>
            <a:ext cx="95885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17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704" y="1873689"/>
            <a:ext cx="2067441" cy="35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5" name="AutoShape 22"/>
          <p:cNvSpPr>
            <a:spLocks/>
          </p:cNvSpPr>
          <p:nvPr/>
        </p:nvSpPr>
        <p:spPr bwMode="auto">
          <a:xfrm>
            <a:off x="5379898" y="1559239"/>
            <a:ext cx="228600" cy="914400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18447" name="TextBox 20"/>
          <p:cNvSpPr txBox="1">
            <a:spLocks noChangeArrowheads="1"/>
          </p:cNvSpPr>
          <p:nvPr/>
        </p:nvSpPr>
        <p:spPr bwMode="auto">
          <a:xfrm>
            <a:off x="9461298" y="1218671"/>
            <a:ext cx="23333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400" i="1" dirty="0">
                <a:latin typeface="+mn-lt"/>
                <a:cs typeface="+mn-ea"/>
                <a:sym typeface="+mn-lt"/>
              </a:rPr>
              <a:t>* 也适用于多个查询变量，效果良好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7779228" y="1296460"/>
            <a:ext cx="3997028" cy="863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我们想要：</a:t>
            </a:r>
          </a:p>
          <a:p>
            <a:pPr lvl="1">
              <a:lnSpc>
                <a:spcPct val="80000"/>
              </a:lnSpc>
            </a:pPr>
            <a:endParaRPr lang="en-US" sz="1600" dirty="0">
              <a:latin typeface="+mn-lt"/>
              <a:cs typeface="+mn-ea"/>
              <a:sym typeface="+mn-lt"/>
            </a:endParaRPr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59401" y="3085809"/>
            <a:ext cx="2826696" cy="1025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步骤1：选择与证据相符的条目</a:t>
            </a: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095697" y="3081163"/>
            <a:ext cx="3822722" cy="63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步骤2：将H求和，得到查询与证据的联合。</a:t>
            </a:r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8618168" y="3072764"/>
            <a:ext cx="2786348" cy="463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0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步骤3：归一化</a:t>
            </a:r>
          </a:p>
          <a:p>
            <a:pPr>
              <a:lnSpc>
                <a:spcPct val="80000"/>
              </a:lnSpc>
            </a:pPr>
            <a:endParaRPr lang="en-US" sz="2000" dirty="0">
              <a:latin typeface="+mn-lt"/>
              <a:cs typeface="+mn-ea"/>
              <a:sym typeface="+mn-lt"/>
            </a:endParaRPr>
          </a:p>
        </p:txBody>
      </p:sp>
      <p:pic>
        <p:nvPicPr>
          <p:cNvPr id="25" name="Picture 5" descr="txp_fig">
            <a:extLst>
              <a:ext uri="{FF2B5EF4-FFF2-40B4-BE49-F238E27FC236}">
                <a16:creationId xmlns:a16="http://schemas.microsoft.com/office/drawing/2014/main" id="{D283D432-E343-40C7-9DA4-7A456421DABA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081" y="1699187"/>
            <a:ext cx="1574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23">
            <a:extLst>
              <a:ext uri="{FF2B5EF4-FFF2-40B4-BE49-F238E27FC236}">
                <a16:creationId xmlns:a16="http://schemas.microsoft.com/office/drawing/2014/main" id="{3E4D6A74-882A-4AD1-8F8A-CA66BD98E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1431" y="1968119"/>
            <a:ext cx="1524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i="1" dirty="0">
                <a:latin typeface="+mn-lt"/>
                <a:cs typeface="+mn-ea"/>
                <a:sym typeface="+mn-lt"/>
              </a:rPr>
              <a:t>All variables</a:t>
            </a:r>
          </a:p>
        </p:txBody>
      </p:sp>
      <p:pic>
        <p:nvPicPr>
          <p:cNvPr id="27" name="Picture 1">
            <a:extLst>
              <a:ext uri="{FF2B5EF4-FFF2-40B4-BE49-F238E27FC236}">
                <a16:creationId xmlns:a16="http://schemas.microsoft.com/office/drawing/2014/main" id="{3E290D8B-2B39-48A5-89DC-31EA50A09BAA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15" y="3720856"/>
            <a:ext cx="2926482" cy="1683167"/>
          </a:xfrm>
          <a:prstGeom prst="rect">
            <a:avLst/>
          </a:prstGeom>
        </p:spPr>
      </p:pic>
      <p:pic>
        <p:nvPicPr>
          <p:cNvPr id="28" name="Picture 2">
            <a:extLst>
              <a:ext uri="{FF2B5EF4-FFF2-40B4-BE49-F238E27FC236}">
                <a16:creationId xmlns:a16="http://schemas.microsoft.com/office/drawing/2014/main" id="{261A1AFE-99F5-4073-96D0-AFEDBE7DF79A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1" y="3720856"/>
            <a:ext cx="2463800" cy="1642533"/>
          </a:xfrm>
          <a:prstGeom prst="rect">
            <a:avLst/>
          </a:prstGeom>
        </p:spPr>
      </p:pic>
      <p:pic>
        <p:nvPicPr>
          <p:cNvPr id="29" name="Picture 9" descr="latex-image-1.pdf">
            <a:extLst>
              <a:ext uri="{FF2B5EF4-FFF2-40B4-BE49-F238E27FC236}">
                <a16:creationId xmlns:a16="http://schemas.microsoft.com/office/drawing/2014/main" id="{2A4C4AE8-28CA-4776-A105-7E862AF771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7742" y="3632200"/>
            <a:ext cx="569504" cy="766242"/>
          </a:xfrm>
          <a:prstGeom prst="rect">
            <a:avLst/>
          </a:prstGeom>
        </p:spPr>
      </p:pic>
      <p:pic>
        <p:nvPicPr>
          <p:cNvPr id="30" name="Picture 4" descr="TP_tmp.png">
            <a:extLst>
              <a:ext uri="{FF2B5EF4-FFF2-40B4-BE49-F238E27FC236}">
                <a16:creationId xmlns:a16="http://schemas.microsoft.com/office/drawing/2014/main" id="{636982A1-D3CD-40F9-B644-83D93D45ECE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442" y="4729421"/>
            <a:ext cx="2463800" cy="584200"/>
          </a:xfrm>
          <a:prstGeom prst="rect">
            <a:avLst/>
          </a:prstGeom>
        </p:spPr>
      </p:pic>
      <p:pic>
        <p:nvPicPr>
          <p:cNvPr id="31" name="Picture 18" descr="txp_fig">
            <a:extLst>
              <a:ext uri="{FF2B5EF4-FFF2-40B4-BE49-F238E27FC236}">
                <a16:creationId xmlns:a16="http://schemas.microsoft.com/office/drawing/2014/main" id="{DD273786-74C7-4FF3-9563-9D539EB427C0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102" y="5581278"/>
            <a:ext cx="1885950" cy="25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19" descr="txp_fig">
            <a:extLst>
              <a:ext uri="{FF2B5EF4-FFF2-40B4-BE49-F238E27FC236}">
                <a16:creationId xmlns:a16="http://schemas.microsoft.com/office/drawing/2014/main" id="{8A033364-D80A-495C-B91B-A8F38AA3833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1331" y="5499320"/>
            <a:ext cx="32575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AutoShape 20">
            <a:extLst>
              <a:ext uri="{FF2B5EF4-FFF2-40B4-BE49-F238E27FC236}">
                <a16:creationId xmlns:a16="http://schemas.microsoft.com/office/drawing/2014/main" id="{E1253F7E-C9F8-4645-A74B-66AEDECA9A71}"/>
              </a:ext>
            </a:extLst>
          </p:cNvPr>
          <p:cNvSpPr>
            <a:spLocks/>
          </p:cNvSpPr>
          <p:nvPr/>
        </p:nvSpPr>
        <p:spPr bwMode="auto">
          <a:xfrm rot="16200000">
            <a:off x="6015146" y="4807241"/>
            <a:ext cx="174830" cy="2134655"/>
          </a:xfrm>
          <a:prstGeom prst="leftBrace">
            <a:avLst>
              <a:gd name="adj1" fmla="val 10833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cs typeface="+mn-ea"/>
              <a:sym typeface="+mn-lt"/>
            </a:endParaRPr>
          </a:p>
        </p:txBody>
      </p:sp>
      <p:pic>
        <p:nvPicPr>
          <p:cNvPr id="34" name="Picture 21" descr="txp_fig">
            <a:extLst>
              <a:ext uri="{FF2B5EF4-FFF2-40B4-BE49-F238E27FC236}">
                <a16:creationId xmlns:a16="http://schemas.microsoft.com/office/drawing/2014/main" id="{BD3F6CA6-7250-4F69-81BE-A64663D88D6C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1443" y="6057276"/>
            <a:ext cx="1574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5" descr="TP_tmp.png">
            <a:extLst>
              <a:ext uri="{FF2B5EF4-FFF2-40B4-BE49-F238E27FC236}">
                <a16:creationId xmlns:a16="http://schemas.microsoft.com/office/drawing/2014/main" id="{CB40CDA0-04D6-4012-8B81-24C7B57D8B8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33736" y="5752476"/>
            <a:ext cx="3657600" cy="533400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 xmlns="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</p:spTree>
    <p:extLst>
      <p:ext uri="{BB962C8B-B14F-4D97-AF65-F5344CB8AC3E}">
        <p14:creationId xmlns:p14="http://schemas.microsoft.com/office/powerpoint/2010/main" val="13738475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7" grpId="0"/>
      <p:bldP spid="17" grpId="0"/>
      <p:bldP spid="18" grpId="0"/>
      <p:bldP spid="21" grpId="0"/>
      <p:bldP spid="3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+mn-lt"/>
                <a:ea typeface="+mn-ea"/>
                <a:cs typeface="+mn-ea"/>
                <a:sym typeface="+mn-lt"/>
              </a:rPr>
              <a:t>贝叶斯网络中的枚举推理</a:t>
            </a: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48739" y="1139967"/>
            <a:ext cx="8360174" cy="4729163"/>
          </a:xfrm>
        </p:spPr>
        <p:txBody>
          <a:bodyPr>
            <a:normAutofit/>
          </a:bodyPr>
          <a:lstStyle/>
          <a:p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在时间无限的情况下，贝叶斯网络中的推理是容易的。</a:t>
            </a:r>
          </a:p>
          <a:p>
            <a:pPr lvl="7"/>
            <a:endParaRPr lang="en-US" sz="2400" kern="0" dirty="0">
              <a:solidFill>
                <a:srgbClr val="333399"/>
              </a:solidFill>
              <a:cs typeface="+mn-ea"/>
              <a:sym typeface="+mn-lt"/>
            </a:endParaRPr>
          </a:p>
          <a:p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举例</a:t>
            </a: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：</a:t>
            </a:r>
            <a:r>
              <a:rPr lang="en-US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枚举推理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：</a:t>
            </a:r>
          </a:p>
        </p:txBody>
      </p:sp>
      <p:sp>
        <p:nvSpPr>
          <p:cNvPr id="19" name="Oval 4"/>
          <p:cNvSpPr>
            <a:spLocks noChangeArrowheads="1"/>
          </p:cNvSpPr>
          <p:nvPr/>
        </p:nvSpPr>
        <p:spPr bwMode="auto">
          <a:xfrm>
            <a:off x="8360174" y="1303999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B</a:t>
            </a:r>
            <a:endParaRPr lang="en-US" sz="2800" baseline="-25000" dirty="0">
              <a:cs typeface="+mn-ea"/>
              <a:sym typeface="+mn-lt"/>
            </a:endParaRPr>
          </a:p>
        </p:txBody>
      </p:sp>
      <p:sp>
        <p:nvSpPr>
          <p:cNvPr id="20" name="Oval 4"/>
          <p:cNvSpPr>
            <a:spLocks noChangeArrowheads="1"/>
          </p:cNvSpPr>
          <p:nvPr/>
        </p:nvSpPr>
        <p:spPr bwMode="auto">
          <a:xfrm>
            <a:off x="10468306" y="1303999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E</a:t>
            </a:r>
            <a:endParaRPr lang="en-US" sz="2800" baseline="-25000" dirty="0">
              <a:cs typeface="+mn-ea"/>
              <a:sym typeface="+mn-lt"/>
            </a:endParaRPr>
          </a:p>
        </p:txBody>
      </p:sp>
      <p:sp>
        <p:nvSpPr>
          <p:cNvPr id="21" name="Oval 4"/>
          <p:cNvSpPr>
            <a:spLocks noChangeArrowheads="1"/>
          </p:cNvSpPr>
          <p:nvPr/>
        </p:nvSpPr>
        <p:spPr bwMode="auto">
          <a:xfrm>
            <a:off x="9457653" y="2415866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A</a:t>
            </a:r>
            <a:endParaRPr lang="en-US" sz="2800" baseline="-25000" dirty="0">
              <a:cs typeface="+mn-ea"/>
              <a:sym typeface="+mn-lt"/>
            </a:endParaRPr>
          </a:p>
        </p:txBody>
      </p:sp>
      <p:sp>
        <p:nvSpPr>
          <p:cNvPr id="22" name="Oval 4"/>
          <p:cNvSpPr>
            <a:spLocks noChangeArrowheads="1"/>
          </p:cNvSpPr>
          <p:nvPr/>
        </p:nvSpPr>
        <p:spPr bwMode="auto">
          <a:xfrm>
            <a:off x="10583206" y="3670658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M</a:t>
            </a:r>
            <a:endParaRPr lang="en-US" sz="2800" baseline="-25000" dirty="0">
              <a:cs typeface="+mn-ea"/>
              <a:sym typeface="+mn-lt"/>
            </a:endParaRPr>
          </a:p>
        </p:txBody>
      </p:sp>
      <p:sp>
        <p:nvSpPr>
          <p:cNvPr id="23" name="Oval 4"/>
          <p:cNvSpPr>
            <a:spLocks noChangeArrowheads="1"/>
          </p:cNvSpPr>
          <p:nvPr/>
        </p:nvSpPr>
        <p:spPr bwMode="auto">
          <a:xfrm>
            <a:off x="8527913" y="3670658"/>
            <a:ext cx="762000" cy="7620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i="1" dirty="0">
                <a:cs typeface="+mn-ea"/>
                <a:sym typeface="+mn-lt"/>
              </a:rPr>
              <a:t>J</a:t>
            </a:r>
            <a:endParaRPr lang="en-US" sz="2800" baseline="-25000" dirty="0">
              <a:cs typeface="+mn-ea"/>
              <a:sym typeface="+mn-lt"/>
            </a:endParaRPr>
          </a:p>
        </p:txBody>
      </p:sp>
      <p:cxnSp>
        <p:nvCxnSpPr>
          <p:cNvPr id="24" name="AutoShape 6"/>
          <p:cNvCxnSpPr>
            <a:cxnSpLocks noChangeShapeType="1"/>
            <a:endCxn id="22" idx="1"/>
          </p:cNvCxnSpPr>
          <p:nvPr/>
        </p:nvCxnSpPr>
        <p:spPr bwMode="auto">
          <a:xfrm>
            <a:off x="10111369" y="3072138"/>
            <a:ext cx="583429" cy="710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5" name="AutoShape 6"/>
          <p:cNvCxnSpPr>
            <a:cxnSpLocks noChangeShapeType="1"/>
            <a:endCxn id="23" idx="7"/>
          </p:cNvCxnSpPr>
          <p:nvPr/>
        </p:nvCxnSpPr>
        <p:spPr bwMode="auto">
          <a:xfrm flipH="1">
            <a:off x="9178321" y="3072138"/>
            <a:ext cx="394232" cy="710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6" name="AutoShape 6"/>
          <p:cNvCxnSpPr>
            <a:cxnSpLocks noChangeShapeType="1"/>
            <a:stCxn id="20" idx="3"/>
            <a:endCxn id="21" idx="7"/>
          </p:cNvCxnSpPr>
          <p:nvPr/>
        </p:nvCxnSpPr>
        <p:spPr bwMode="auto">
          <a:xfrm flipH="1">
            <a:off x="10108061" y="1954407"/>
            <a:ext cx="471837" cy="57305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7" name="AutoShape 6"/>
          <p:cNvCxnSpPr>
            <a:cxnSpLocks noChangeShapeType="1"/>
            <a:stCxn id="19" idx="5"/>
            <a:endCxn id="21" idx="1"/>
          </p:cNvCxnSpPr>
          <p:nvPr/>
        </p:nvCxnSpPr>
        <p:spPr bwMode="auto">
          <a:xfrm>
            <a:off x="9010582" y="1954407"/>
            <a:ext cx="558663" cy="57305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2" name="Picture 1" descr="latex-image-1.pdf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514600"/>
            <a:ext cx="2362200" cy="370345"/>
          </a:xfrm>
          <a:prstGeom prst="rect">
            <a:avLst/>
          </a:prstGeom>
        </p:spPr>
      </p:pic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438400"/>
            <a:ext cx="3048000" cy="407133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352800"/>
            <a:ext cx="3390249" cy="726482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4419600"/>
            <a:ext cx="6324600" cy="765759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6400"/>
            <a:ext cx="12192000" cy="7089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枚举推理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?</a:t>
            </a:r>
          </a:p>
        </p:txBody>
      </p:sp>
      <p:pic>
        <p:nvPicPr>
          <p:cNvPr id="22531" name="Picture 4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600200"/>
            <a:ext cx="6380163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019800"/>
            <a:ext cx="71628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枚举推理与变量消元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3554" name="Content Placeholder 2"/>
          <p:cNvSpPr>
            <a:spLocks noGrp="1"/>
          </p:cNvSpPr>
          <p:nvPr>
            <p:ph idx="4294967295"/>
          </p:nvPr>
        </p:nvSpPr>
        <p:spPr>
          <a:xfrm>
            <a:off x="0" y="1219200"/>
            <a:ext cx="5019040" cy="1295400"/>
          </a:xfrm>
        </p:spPr>
        <p:txBody>
          <a:bodyPr>
            <a:normAutofit/>
          </a:bodyPr>
          <a:lstStyle/>
          <a:p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为什么枚举推理如此缓慢</a:t>
            </a:r>
            <a:r>
              <a:rPr lang="en-US" altLang="zh-CN" sz="2400" kern="0" dirty="0">
                <a:solidFill>
                  <a:srgbClr val="333399"/>
                </a:solidFill>
                <a:cs typeface="+mn-ea"/>
                <a:sym typeface="+mn-lt"/>
              </a:rPr>
              <a:t>？</a:t>
            </a: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在对隐变量求和之前</a:t>
            </a:r>
            <a:r>
              <a:rPr lang="en-US" altLang="zh-CN" sz="2000" dirty="0">
                <a:cs typeface="+mn-ea"/>
                <a:sym typeface="+mn-lt"/>
              </a:rPr>
              <a:t>，</a:t>
            </a:r>
            <a:r>
              <a:rPr lang="zh-CN" altLang="en-US" sz="2000" dirty="0">
                <a:cs typeface="+mn-ea"/>
                <a:sym typeface="+mn-lt"/>
              </a:rPr>
              <a:t>需要</a:t>
            </a:r>
            <a:r>
              <a:rPr lang="en-US" altLang="zh-CN" sz="2000" dirty="0" err="1">
                <a:cs typeface="+mn-ea"/>
                <a:sym typeface="+mn-lt"/>
              </a:rPr>
              <a:t>先将整个联合分布连接起来</a:t>
            </a:r>
            <a:r>
              <a:rPr lang="en-US" altLang="zh-CN" sz="2000" dirty="0">
                <a:cs typeface="+mn-ea"/>
                <a:sym typeface="+mn-lt"/>
              </a:rPr>
              <a:t>。</a:t>
            </a:r>
          </a:p>
          <a:p>
            <a:pPr lvl="1"/>
            <a:endParaRPr lang="en-US" sz="1800" dirty="0">
              <a:latin typeface="+mn-lt"/>
              <a:cs typeface="+mn-ea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493964"/>
            <a:ext cx="5181600" cy="3454400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096000" y="1219200"/>
            <a:ext cx="527304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400" kern="0" dirty="0" err="1">
                <a:solidFill>
                  <a:srgbClr val="333399"/>
                </a:solidFill>
                <a:cs typeface="+mn-ea"/>
                <a:sym typeface="+mn-lt"/>
              </a:rPr>
              <a:t>想法：将连接与边缘化交错进行</a:t>
            </a:r>
            <a:r>
              <a:rPr 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!</a:t>
            </a:r>
          </a:p>
          <a:p>
            <a:pPr lvl="1"/>
            <a:r>
              <a:rPr lang="zh-CN" altLang="en-US" sz="2000" dirty="0">
                <a:latin typeface="+mn-lt"/>
                <a:cs typeface="+mn-ea"/>
                <a:sym typeface="+mn-lt"/>
              </a:rPr>
              <a:t>称之为</a:t>
            </a:r>
            <a:r>
              <a:rPr lang="ja-JP" altLang="en-US" sz="2000" dirty="0">
                <a:cs typeface="+mn-ea"/>
                <a:sym typeface="+mn-lt"/>
              </a:rPr>
              <a:t>“</a:t>
            </a:r>
            <a:r>
              <a:rPr lang="en-US" altLang="ja-JP" sz="2000" dirty="0" err="1">
                <a:cs typeface="+mn-ea"/>
                <a:sym typeface="+mn-lt"/>
              </a:rPr>
              <a:t>变量消元</a:t>
            </a:r>
            <a:r>
              <a:rPr lang="ja-JP" altLang="en-US" sz="2000" dirty="0">
                <a:cs typeface="+mn-ea"/>
                <a:sym typeface="+mn-lt"/>
              </a:rPr>
              <a:t>”</a:t>
            </a:r>
            <a:endParaRPr lang="en-US" altLang="ja-JP" sz="2000" dirty="0">
              <a:cs typeface="+mn-ea"/>
              <a:sym typeface="+mn-lt"/>
            </a:endParaRPr>
          </a:p>
          <a:p>
            <a:pPr lvl="1"/>
            <a:r>
              <a:rPr lang="en-US" altLang="zh-CN" sz="2000" dirty="0" err="1">
                <a:cs typeface="+mn-ea"/>
                <a:sym typeface="+mn-lt"/>
              </a:rPr>
              <a:t>仍然属于NP-hard问题，但通常比枚举推理快得多</a:t>
            </a:r>
            <a:r>
              <a:rPr lang="en-US" altLang="zh-CN" sz="2000" dirty="0">
                <a:cs typeface="+mn-ea"/>
                <a:sym typeface="+mn-lt"/>
              </a:rPr>
              <a:t>。</a:t>
            </a: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marL="457176" lvl="1" indent="0">
              <a:buNone/>
            </a:pPr>
            <a:endParaRPr lang="zh-CN" altLang="en-US" sz="2000" dirty="0">
              <a:latin typeface="+mn-lt"/>
              <a:cs typeface="+mn-ea"/>
              <a:sym typeface="+mn-lt"/>
            </a:endParaRPr>
          </a:p>
          <a:p>
            <a:pPr lvl="1"/>
            <a:r>
              <a:rPr lang="zh-CN" altLang="en-US" sz="2000" dirty="0">
                <a:latin typeface="+mn-lt"/>
                <a:cs typeface="+mn-ea"/>
                <a:sym typeface="+mn-lt"/>
              </a:rPr>
              <a:t>首先，我们需要一些新的符号：因子。</a:t>
            </a:r>
          </a:p>
          <a:p>
            <a:pPr lvl="1"/>
            <a:endParaRPr lang="zh-CN" alt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zh-CN" alt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  <a:p>
            <a:pPr lvl="1"/>
            <a:endParaRPr lang="en-US" sz="2000" dirty="0">
              <a:latin typeface="+mn-lt"/>
              <a:cs typeface="+mn-ea"/>
              <a:sym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2811464"/>
            <a:ext cx="5567369" cy="2819399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交通堵塞问题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4294967295"/>
          </p:nvPr>
        </p:nvSpPr>
        <p:spPr>
          <a:xfrm>
            <a:off x="2006600" y="1600200"/>
            <a:ext cx="10185400" cy="4525963"/>
          </a:xfrm>
        </p:spPr>
        <p:txBody>
          <a:bodyPr/>
          <a:lstStyle/>
          <a:p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随机变量</a:t>
            </a:r>
            <a:endParaRPr lang="en-US" altLang="zh-CN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1"/>
            <a:r>
              <a:rPr lang="en-US" dirty="0">
                <a:latin typeface="+mn-lt"/>
                <a:cs typeface="+mn-ea"/>
                <a:sym typeface="+mn-lt"/>
              </a:rPr>
              <a:t>R: Raining</a:t>
            </a:r>
          </a:p>
          <a:p>
            <a:pPr lvl="1"/>
            <a:r>
              <a:rPr lang="en-US" dirty="0">
                <a:latin typeface="+mn-lt"/>
                <a:cs typeface="+mn-ea"/>
                <a:sym typeface="+mn-lt"/>
              </a:rPr>
              <a:t>T: Traffic</a:t>
            </a:r>
          </a:p>
          <a:p>
            <a:pPr lvl="1"/>
            <a:r>
              <a:rPr lang="en-US" dirty="0">
                <a:latin typeface="+mn-lt"/>
                <a:cs typeface="+mn-ea"/>
                <a:sym typeface="+mn-lt"/>
              </a:rPr>
              <a:t>L: Late for class!</a:t>
            </a:r>
          </a:p>
          <a:p>
            <a:pPr lvl="1"/>
            <a:endParaRPr 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6172200" y="3200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endParaRPr lang="en-US" sz="2400" baseline="-25000">
              <a:cs typeface="+mn-ea"/>
              <a:sym typeface="+mn-lt"/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6172200" y="42672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L</a:t>
            </a:r>
            <a:endParaRPr lang="en-US" sz="2400" baseline="-25000">
              <a:cs typeface="+mn-ea"/>
              <a:sym typeface="+mn-lt"/>
            </a:endParaRPr>
          </a:p>
        </p:txBody>
      </p:sp>
      <p:cxnSp>
        <p:nvCxnSpPr>
          <p:cNvPr id="28678" name="AutoShape 6"/>
          <p:cNvCxnSpPr>
            <a:cxnSpLocks noChangeShapeType="1"/>
            <a:stCxn id="28676" idx="4"/>
            <a:endCxn id="28677" idx="0"/>
          </p:cNvCxnSpPr>
          <p:nvPr/>
        </p:nvCxnSpPr>
        <p:spPr bwMode="auto">
          <a:xfrm rot="5400000">
            <a:off x="6172201" y="4000500"/>
            <a:ext cx="533400" cy="3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79" name="Oval 11"/>
          <p:cNvSpPr>
            <a:spLocks noChangeArrowheads="1"/>
          </p:cNvSpPr>
          <p:nvPr/>
        </p:nvSpPr>
        <p:spPr bwMode="auto">
          <a:xfrm>
            <a:off x="6173788" y="21336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R</a:t>
            </a:r>
          </a:p>
        </p:txBody>
      </p:sp>
      <p:cxnSp>
        <p:nvCxnSpPr>
          <p:cNvPr id="28680" name="AutoShape 12"/>
          <p:cNvCxnSpPr>
            <a:cxnSpLocks noChangeShapeType="1"/>
            <a:stCxn id="28679" idx="4"/>
            <a:endCxn id="28676" idx="0"/>
          </p:cNvCxnSpPr>
          <p:nvPr/>
        </p:nvCxnSpPr>
        <p:spPr bwMode="auto">
          <a:xfrm rot="5400000">
            <a:off x="6172994" y="2932906"/>
            <a:ext cx="53340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20" name="Picture 19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895600"/>
            <a:ext cx="1058863" cy="312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1565275"/>
            <a:ext cx="731837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txp_fig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45450" y="4800600"/>
            <a:ext cx="1030288" cy="31356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 xmlns="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xmlns="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 xmlns=""/>
            </a:ext>
          </a:extLst>
        </p:spPr>
      </p:pic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31550"/>
              </p:ext>
            </p:extLst>
          </p:nvPr>
        </p:nvGraphicFramePr>
        <p:xfrm>
          <a:off x="7924800" y="1946275"/>
          <a:ext cx="1219200" cy="56832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marL="9525" marR="9525" marT="953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marL="9525" marR="9525" marT="953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marL="9525" marR="9525" marT="953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</a:t>
                      </a:r>
                    </a:p>
                  </a:txBody>
                  <a:tcPr marL="9525" marR="9525" marT="9536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3101262"/>
              </p:ext>
            </p:extLst>
          </p:nvPr>
        </p:nvGraphicFramePr>
        <p:xfrm>
          <a:off x="7696200" y="3276600"/>
          <a:ext cx="1828800" cy="11353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0.8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+r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0.2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-r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20438"/>
              </p:ext>
            </p:extLst>
          </p:nvPr>
        </p:nvGraphicFramePr>
        <p:xfrm>
          <a:off x="7696200" y="5229225"/>
          <a:ext cx="1828800" cy="113533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+l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0.3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-l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0.7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+l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0.1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7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-t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-l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+mn-ea"/>
                          <a:sym typeface="+mn-lt"/>
                        </a:rPr>
                        <a:t>0.9</a:t>
                      </a:r>
                    </a:p>
                  </a:txBody>
                  <a:tcPr marL="9525" marR="9525" marT="9513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4254500"/>
            <a:ext cx="1828800" cy="4699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6345" y="4936330"/>
            <a:ext cx="2049055" cy="731161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229" y="5864740"/>
            <a:ext cx="3051324" cy="688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示例</a:t>
            </a:r>
            <a:r>
              <a:rPr lang="en-US" altLang="zh-CN" sz="3600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交通堵塞问题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8674" name="Content Placeholder 2"/>
          <p:cNvSpPr>
            <a:spLocks noGrp="1"/>
          </p:cNvSpPr>
          <p:nvPr>
            <p:ph idx="4294967295"/>
          </p:nvPr>
        </p:nvSpPr>
        <p:spPr>
          <a:xfrm>
            <a:off x="1887563" y="1836737"/>
            <a:ext cx="4876800" cy="3459163"/>
          </a:xfrm>
        </p:spPr>
        <p:txBody>
          <a:bodyPr/>
          <a:lstStyle/>
          <a:p>
            <a:r>
              <a:rPr lang="zh-CN" altLang="en-US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枚举推理</a:t>
            </a:r>
          </a:p>
          <a:p>
            <a:pPr lvl="1"/>
            <a:endParaRPr lang="en-US" dirty="0">
              <a:latin typeface="+mn-lt"/>
              <a:cs typeface="+mn-ea"/>
              <a:sym typeface="+mn-lt"/>
            </a:endParaRPr>
          </a:p>
        </p:txBody>
      </p:sp>
      <p:sp>
        <p:nvSpPr>
          <p:cNvPr id="28676" name="Oval 4"/>
          <p:cNvSpPr>
            <a:spLocks noChangeArrowheads="1"/>
          </p:cNvSpPr>
          <p:nvPr/>
        </p:nvSpPr>
        <p:spPr bwMode="auto">
          <a:xfrm>
            <a:off x="531812" y="25146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T</a:t>
            </a:r>
            <a:endParaRPr lang="en-US" sz="2400" baseline="-25000">
              <a:cs typeface="+mn-ea"/>
              <a:sym typeface="+mn-lt"/>
            </a:endParaRPr>
          </a:p>
        </p:txBody>
      </p:sp>
      <p:sp>
        <p:nvSpPr>
          <p:cNvPr id="28677" name="Oval 5"/>
          <p:cNvSpPr>
            <a:spLocks noChangeArrowheads="1"/>
          </p:cNvSpPr>
          <p:nvPr/>
        </p:nvSpPr>
        <p:spPr bwMode="auto">
          <a:xfrm>
            <a:off x="531812" y="35814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L</a:t>
            </a:r>
            <a:endParaRPr lang="en-US" sz="2400" baseline="-25000">
              <a:cs typeface="+mn-ea"/>
              <a:sym typeface="+mn-lt"/>
            </a:endParaRPr>
          </a:p>
        </p:txBody>
      </p:sp>
      <p:cxnSp>
        <p:nvCxnSpPr>
          <p:cNvPr id="28678" name="AutoShape 6"/>
          <p:cNvCxnSpPr>
            <a:cxnSpLocks noChangeShapeType="1"/>
            <a:stCxn id="28676" idx="4"/>
            <a:endCxn id="28677" idx="0"/>
          </p:cNvCxnSpPr>
          <p:nvPr/>
        </p:nvCxnSpPr>
        <p:spPr bwMode="auto">
          <a:xfrm rot="5400000">
            <a:off x="531813" y="3314700"/>
            <a:ext cx="533400" cy="31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sp>
        <p:nvSpPr>
          <p:cNvPr id="28679" name="Oval 11"/>
          <p:cNvSpPr>
            <a:spLocks noChangeArrowheads="1"/>
          </p:cNvSpPr>
          <p:nvPr/>
        </p:nvSpPr>
        <p:spPr bwMode="auto">
          <a:xfrm>
            <a:off x="533400" y="1447800"/>
            <a:ext cx="533400" cy="533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i="1">
                <a:cs typeface="+mn-ea"/>
                <a:sym typeface="+mn-lt"/>
              </a:rPr>
              <a:t>R</a:t>
            </a:r>
          </a:p>
        </p:txBody>
      </p:sp>
      <p:cxnSp>
        <p:nvCxnSpPr>
          <p:cNvPr id="28680" name="AutoShape 12"/>
          <p:cNvCxnSpPr>
            <a:cxnSpLocks noChangeShapeType="1"/>
            <a:stCxn id="28679" idx="4"/>
            <a:endCxn id="28676" idx="0"/>
          </p:cNvCxnSpPr>
          <p:nvPr/>
        </p:nvCxnSpPr>
        <p:spPr bwMode="auto">
          <a:xfrm rot="5400000">
            <a:off x="532606" y="2247106"/>
            <a:ext cx="533400" cy="1588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283757"/>
            <a:ext cx="1676400" cy="430742"/>
          </a:xfrm>
          <a:prstGeom prst="rect">
            <a:avLst/>
          </a:prstGeom>
        </p:spPr>
      </p:pic>
      <p:sp>
        <p:nvSpPr>
          <p:cNvPr id="22" name="Content Placeholder 2"/>
          <p:cNvSpPr txBox="1">
            <a:spLocks/>
          </p:cNvSpPr>
          <p:nvPr/>
        </p:nvSpPr>
        <p:spPr bwMode="auto">
          <a:xfrm>
            <a:off x="6781800" y="1836737"/>
            <a:ext cx="487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变量消元</a:t>
            </a:r>
            <a:endParaRPr lang="en-US" dirty="0">
              <a:latin typeface="+mn-lt"/>
              <a:cs typeface="+mn-ea"/>
              <a:sym typeface="+mn-lt"/>
            </a:endParaRPr>
          </a:p>
        </p:txBody>
      </p:sp>
      <p:pic>
        <p:nvPicPr>
          <p:cNvPr id="9" name="Picture 8" descr="latex-image-1.pdf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552700"/>
            <a:ext cx="3505200" cy="63806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22932" y="3210478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Join on 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2087" y="327501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Join on 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9243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Join on 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2445" y="4533900"/>
            <a:ext cx="1056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Join on 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9243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Eliminate 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0600" y="5295900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Eliminate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533900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Eliminate r</a:t>
            </a:r>
          </a:p>
        </p:txBody>
      </p:sp>
      <p:pic>
        <p:nvPicPr>
          <p:cNvPr id="11" name="Picture 10" descr="latex-image-1.pdf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628900"/>
            <a:ext cx="3098822" cy="57220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00400" y="5231368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cs typeface="+mn-ea"/>
                <a:sym typeface="+mn-lt"/>
              </a:rPr>
              <a:t>Eliminate t</a:t>
            </a:r>
          </a:p>
        </p:txBody>
      </p:sp>
      <p:sp>
        <p:nvSpPr>
          <p:cNvPr id="12" name="Left Brace 11"/>
          <p:cNvSpPr/>
          <p:nvPr/>
        </p:nvSpPr>
        <p:spPr>
          <a:xfrm>
            <a:off x="4419600" y="2552700"/>
            <a:ext cx="304800" cy="12954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33" name="Left Brace 32"/>
          <p:cNvSpPr/>
          <p:nvPr/>
        </p:nvSpPr>
        <p:spPr>
          <a:xfrm>
            <a:off x="4093346" y="2743905"/>
            <a:ext cx="228600" cy="20574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34" name="Left Brace 33"/>
          <p:cNvSpPr/>
          <p:nvPr/>
        </p:nvSpPr>
        <p:spPr>
          <a:xfrm>
            <a:off x="3962400" y="3210478"/>
            <a:ext cx="152400" cy="24384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35" name="Left Brace 34"/>
          <p:cNvSpPr/>
          <p:nvPr/>
        </p:nvSpPr>
        <p:spPr>
          <a:xfrm>
            <a:off x="3723469" y="3656896"/>
            <a:ext cx="152400" cy="28956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36" name="Left Brace 35"/>
          <p:cNvSpPr/>
          <p:nvPr/>
        </p:nvSpPr>
        <p:spPr>
          <a:xfrm>
            <a:off x="10058400" y="2476500"/>
            <a:ext cx="228600" cy="13716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37" name="Left Brace 36"/>
          <p:cNvSpPr/>
          <p:nvPr/>
        </p:nvSpPr>
        <p:spPr>
          <a:xfrm>
            <a:off x="9829055" y="2857500"/>
            <a:ext cx="228600" cy="18288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38" name="Left Brace 37"/>
          <p:cNvSpPr/>
          <p:nvPr/>
        </p:nvSpPr>
        <p:spPr>
          <a:xfrm>
            <a:off x="9448055" y="3066120"/>
            <a:ext cx="228600" cy="27432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39" name="Left Brace 38"/>
          <p:cNvSpPr/>
          <p:nvPr/>
        </p:nvSpPr>
        <p:spPr>
          <a:xfrm>
            <a:off x="9219455" y="3448484"/>
            <a:ext cx="228600" cy="3276600"/>
          </a:xfrm>
          <a:prstGeom prst="leftBrace">
            <a:avLst/>
          </a:prstGeom>
          <a:ln w="41275">
            <a:solidFill>
              <a:srgbClr val="FF0000"/>
            </a:solidFill>
          </a:ln>
          <a:effectLst/>
          <a:scene3d>
            <a:camera prst="orthographicFront">
              <a:rot lat="0" lon="0" rev="5400000"/>
            </a:camera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F28C9A1-2D8D-43D0-B02A-95DCFE8188DB}"/>
              </a:ext>
            </a:extLst>
          </p:cNvPr>
          <p:cNvSpPr txBox="1">
            <a:spLocks/>
          </p:cNvSpPr>
          <p:nvPr/>
        </p:nvSpPr>
        <p:spPr bwMode="auto">
          <a:xfrm>
            <a:off x="6874339" y="5684678"/>
            <a:ext cx="5148922" cy="553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marL="342882" indent="-342882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3200">
                <a:solidFill>
                  <a:schemeClr val="accent2"/>
                </a:solidFill>
                <a:latin typeface="Calibri" pitchFamily="34" charset="0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28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条件独立</a:t>
            </a:r>
          </a:p>
          <a:p>
            <a:pPr lvl="1"/>
            <a:endParaRPr lang="en-US" dirty="0">
              <a:latin typeface="+mn-lt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247004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 err="1">
                <a:latin typeface="+mn-lt"/>
                <a:ea typeface="+mn-ea"/>
                <a:cs typeface="+mn-ea"/>
                <a:sym typeface="+mn-lt"/>
              </a:rPr>
              <a:t>贝叶斯</a:t>
            </a:r>
            <a:r>
              <a:rPr lang="zh-CN" altLang="en-US" sz="3600" dirty="0">
                <a:latin typeface="+mn-lt"/>
                <a:ea typeface="+mn-ea"/>
                <a:cs typeface="+mn-ea"/>
                <a:sym typeface="+mn-lt"/>
              </a:rPr>
              <a:t>网络</a:t>
            </a:r>
            <a:endParaRPr 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660400" y="1397000"/>
            <a:ext cx="5486400" cy="47291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首先：</a:t>
            </a: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贝叶斯网络如何编码联合分布</a:t>
            </a: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endParaRPr lang="en-US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en-US" altLang="zh-CN" sz="2400" kern="0" dirty="0" err="1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下一步：如何查询有关的分布</a:t>
            </a:r>
            <a:endParaRPr lang="en-US" altLang="zh-CN" sz="2400" kern="0" dirty="0">
              <a:solidFill>
                <a:srgbClr val="333399"/>
              </a:solidFill>
              <a:latin typeface="+mn-lt"/>
              <a:cs typeface="+mn-ea"/>
              <a:sym typeface="+mn-lt"/>
            </a:endParaRPr>
          </a:p>
          <a:p>
            <a:pPr lvl="2">
              <a:lnSpc>
                <a:spcPct val="100000"/>
              </a:lnSpc>
            </a:pPr>
            <a:r>
              <a:rPr lang="zh-CN" altLang="en-US" sz="1800" dirty="0">
                <a:latin typeface="+mn-lt"/>
                <a:cs typeface="+mn-ea"/>
                <a:sym typeface="+mn-lt"/>
              </a:rPr>
              <a:t>首次利用条件独立性的直观概念作为因果关系来构建贝叶斯网络。</a:t>
            </a:r>
          </a:p>
          <a:p>
            <a:pPr lvl="2">
              <a:lnSpc>
                <a:spcPct val="100000"/>
              </a:lnSpc>
            </a:pPr>
            <a:r>
              <a:rPr lang="zh-CN" altLang="en-US" sz="1800" dirty="0">
                <a:latin typeface="+mn-lt"/>
                <a:cs typeface="+mn-ea"/>
                <a:sym typeface="+mn-lt"/>
              </a:rPr>
              <a:t>然后发现，关键属性是条件独立性</a:t>
            </a:r>
            <a:endParaRPr lang="en-US" sz="1600" dirty="0">
              <a:latin typeface="+mn-lt"/>
              <a:cs typeface="+mn-ea"/>
              <a:sym typeface="+mn-lt"/>
            </a:endParaRPr>
          </a:p>
          <a:p>
            <a:pPr lvl="1" eaLnBrk="1" hangingPunct="1">
              <a:lnSpc>
                <a:spcPct val="100000"/>
              </a:lnSpc>
            </a:pPr>
            <a:r>
              <a:rPr lang="zh-CN" altLang="en-US" sz="2000" dirty="0">
                <a:latin typeface="+mn-lt"/>
                <a:cs typeface="+mn-ea"/>
                <a:sym typeface="+mn-lt"/>
              </a:rPr>
              <a:t>主要目标：解答关于条件独立性和结果的查询问题</a:t>
            </a:r>
          </a:p>
          <a:p>
            <a:pPr marL="457200" lvl="1" indent="0" eaLnBrk="1" hangingPunct="1">
              <a:lnSpc>
                <a:spcPct val="100000"/>
              </a:lnSpc>
              <a:buNone/>
            </a:pPr>
            <a:endParaRPr lang="en-US" sz="2000" dirty="0">
              <a:latin typeface="+mn-lt"/>
              <a:cs typeface="+mn-ea"/>
              <a:sym typeface="+mn-lt"/>
            </a:endParaRPr>
          </a:p>
          <a:p>
            <a:pPr>
              <a:lnSpc>
                <a:spcPct val="100000"/>
              </a:lnSpc>
            </a:pPr>
            <a:r>
              <a:rPr lang="zh-CN" altLang="en-US" sz="2400" kern="0" dirty="0">
                <a:solidFill>
                  <a:srgbClr val="333399"/>
                </a:solidFill>
                <a:latin typeface="+mn-lt"/>
                <a:cs typeface="+mn-ea"/>
                <a:sym typeface="+mn-lt"/>
              </a:rPr>
              <a:t>之后：如何回答数值查询（推理）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722" y="1524000"/>
            <a:ext cx="5332633" cy="3886199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85048d72-9778-4851-a03f-75f68a879583}"/>
  <p:tag name="TABLE_ENDDRAG_ORIGIN_RECT" val="112*122"/>
  <p:tag name="TABLE_ENDDRAG_RECT" val="107*174*112*8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forall x \ \, P(X=x) \ge 0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3"/>
  <p:tag name="PICTUREFILESIZE" val="844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sum_x P(X=x) = 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67"/>
  <p:tag name="PICTUREFILESIZE" val="888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ldots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"/>
  <p:tag name="PICTUREFILESIZE" val="31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rain) = 0.1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1"/>
  <p:tag name="PICTUREFILESIZE" val="827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rain) = P(W=rain),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43"/>
  <p:tag name="PICTUREFILESIZE" val="1194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&#10;\[&#10;P(hot) = P(T = hot),  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3"/>
  <p:tag name="PICTUREFILESIZE" val="965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&#10;\[&#10;P(cold) = P(T = cold),  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6"/>
  <p:tag name="PICTUREFILESIZE" val="104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{X_1, X_2, \ldots X_n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31"/>
  <p:tag name="PICTUREFILESIZE" val="625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P(X_1=x_1, X_2=x_2, \ldots X_n=x_n)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26"/>
  <p:tag name="PICTUREFILESIZE" val="1302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P(x_1, x_2, \ldots x_n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49"/>
  <p:tag name="PICTUREFILESIZE" val="697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P(x_1, x_2, \ldots x_n) \ge 0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874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sum_{(x_1, x_2, \ldots x_n)} P(x_1, x_2, \ldots x_n)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2"/>
  <p:tag name="PICTUREFILESIZE" val="1611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E) = \sum_{(x_1 \ldots x_n) \in E}P(x_1 \ldots x_n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1"/>
  <p:tag name="PICTUREFILESIZE" val="1623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 = \sum_{s} P(t, s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63"/>
  <p:tag name="PICTUREFILESIZE" val="987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T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49"/>
  <p:tag name="PICTUREFILESIZE" val="273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s) = \sum_{t} P(t, s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65"/>
  <p:tag name="PICTUREFILESIZE" val="9349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9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1 = x_1) = \sum_{x_2} P(X_1 = x_1, X_2 = x_2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83"/>
  <p:tag name="PICTUREFILESIZE" val="1913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452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) = \sum_{y} 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3"/>
  <p:tag name="PICTUREFILESIZE" val="1117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3"/>
  <p:tag name="PICTUREFILESIZE" val="328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) = \sum_{x} 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1"/>
  <p:tag name="PICTUREFILESIZE" val="1045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1"/>
  <p:tag name="PICTUREFILESIZE" val="300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a | b) = \frac{P(a, b)}{P(b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59"/>
  <p:tag name="PICTUREFILESIZE" val="12487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s | T=c) = ???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9"/>
  <p:tag name="PICTUREFILESIZE" val="874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T=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1179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2}{0.5} 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6"/>
  <p:tag name="PICTUREFILESIZE" val="365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0.4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5"/>
  <p:tag name="PICTUREFILESIZE" val="169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P(W = s ,T = c) + P(W = r,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78"/>
  <p:tag name="PICTUREFILESIZE" val="1365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0.2 + 0.3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4"/>
  <p:tag name="PICTUREFILESIZE" val="4303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0.5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4"/>
  <p:tag name="PICTUREFILESIZE" val="1817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|T = hot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9"/>
  <p:tag name="PICTUREFILESIZE" val="724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|T = cold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45"/>
  <p:tag name="PICTUREFILESIZE" val="7497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|T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455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r | T=c) =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4"/>
  <p:tag name="PICTUREFILESIZE" val="7084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r ,T = c)}{P(W = s, T=c) + P(W = r, 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2"/>
  <p:tag name="PICTUREFILESIZE" val="2227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r ,T = c)}{P(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9"/>
  <p:tag name="PICTUREFILESIZE" val="1162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3}{0.2 + 0.3} = 0.6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8"/>
  <p:tag name="PICTUREFILESIZE" val="966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&#10;\documentclass{slides}\pagestyle{empty}&#10;&#10;\begin{document}&#10;\[&#10;P(W=s | T= c ) = 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84"/>
  <p:tag name="PICTUREFILESIZE" val="722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W = s, T=c) + P(W = r,  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2"/>
  <p:tag name="PICTUREFILESIZE" val="2244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1179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2}{0.2 + 0.3} = 0.4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8"/>
  <p:tag name="PICTUREFILESIZE" val="915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 |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5699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 |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5699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c, 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5"/>
  <p:tag name="PICTUREFILESIZE" val="4532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&#10;\documentclass{slides}\pagestyle{empty}&#10;&#10;\begin{document}&#10;\[&#10;P(W=s | T= c ) = &#10;\]&#10;\end{document}&#10;"/>
  <p:tag name="FILENAME" val="txp_fig"/>
  <p:tag name="FORMAT" val="pngmono"/>
  <p:tag name="RES" val="1200"/>
  <p:tag name="BLEND" val="0"/>
  <p:tag name="TRANSPARENT" val="1"/>
  <p:tag name="TBUG" val="0"/>
  <p:tag name="ALLOWFS" val="0"/>
  <p:tag name="ORIGWIDTH" val="184"/>
  <p:tag name="PICTUREFILESIZE" val="722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W = s, T=c) + P(W = r,  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2"/>
  <p:tag name="PICTUREFILESIZE" val="2244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s ,T = c)}{P(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0"/>
  <p:tag name="PICTUREFILESIZE" val="11793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2}{0.2 + 0.3} = 0.4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8"/>
  <p:tag name="PICTUREFILESIZE" val="9153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=r | T=c) = ???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0"/>
  <p:tag name="PICTUREFILESIZE" val="859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r ,T = c)}{P(W = s, T=c) + P(W = r, 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2"/>
  <p:tag name="PICTUREFILESIZE" val="222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P(W = r ,T = c)}{P(T = c)}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9"/>
  <p:tag name="PICTUREFILESIZE" val="1162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= \frac{0.3}{0.2 + 0.3} = 0.6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78"/>
  <p:tag name="PICTUREFILESIZE" val="966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9"/>
  <p:tag name="PICTUREFILESIZE" val="458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 | T = c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7"/>
  <p:tag name="PICTUREFILESIZE" val="569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c, 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5"/>
  <p:tag name="PICTUREFILESIZE" val="453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1 | x_2) = \frac{P(x_1, x_2)}{P(x_2)} = \frac{P(x_1, x_2)}{\sum_{x_1} P(x_1, x_2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74"/>
  <p:tag name="PICTUREFILESIZE" val="2950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452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, 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452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forall x,y: P(x, y) = P(x) P(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54"/>
  <p:tag name="PICTUREFILESIZE" val="1245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forall x,y: P(x | y) = P(x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04"/>
  <p:tag name="PICTUREFILESIZE" val="1022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X \indep Y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8"/>
  <p:tag name="PICTUREFILESIZE" val="242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_1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87"/>
  <p:tag name="PICTUREFILESIZE" val="4836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9"/>
  <p:tag name="PICTUREFILESIZE" val="2727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7"/>
  <p:tag name="PICTUREFILESIZE" val="3489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_2(T,W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87"/>
  <p:tag name="PICTUREFILESIZE" val="5269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1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61"/>
  <p:tag name="PICTUREFILESIZE" val="36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n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62"/>
  <p:tag name="PICTUREFILESIZE" val="404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2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61"/>
  <p:tag name="PICTUREFILESIZE" val="397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P(X_1, X_2, \ldots X_n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65"/>
  <p:tag name="PICTUREFILESIZE" val="796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2^n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153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X \indep Y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8"/>
  <p:tag name="PICTUREFILESIZE" val="2419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\forall x,y,z \,\,\, P(x,y|z) = P(x|z)P(y|z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16"/>
  <p:tag name="PICTUREFILESIZE" val="1827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\forall x,y \,\,\, P(x,y) = P(x)P(y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46"/>
  <p:tag name="PICTUREFILESIZE" val="1241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X \indep Y | Z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80"/>
  <p:tag name="PICTUREFILESIZE" val="380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Alarm  \indep  Fire  |   Smoke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98"/>
  <p:tag name="PICTUREFILESIZE" val="10988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\mbox{Rain}) P(\mbox{Traffic} | \mbox{Rain}) P(\mbox{Umbrella} | \mbox{Rain}, \mbox{Traffic}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85"/>
  <p:tag name="PICTUREFILESIZE" val="21285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\mbox{Traffic}, \mbox{Rain}, \mbox{Umbrella}) =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80"/>
  <p:tag name="PICTUREFILESIZE" val="11459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\mbox{Traffic}, \mbox{Rain}, \mbox{Umbrella}) = 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80"/>
  <p:tag name="PICTUREFILESIZE" val="11459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\mbox{Rain}) P(\mbox{Traffic} | \mbox{Rain}) P(\mbox{Umbrella} | \mbox{Rain}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09"/>
  <p:tag name="PICTUREFILESIZE" val="19698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P(X_1, X_2, \ldots X_n) = P(X_1) P(X_2 | X_1) P(X_3|X_1,X_2) \ldots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21"/>
  <p:tag name="PICTUREFILESIZE" val="2589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|A_1 \ldots A_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43"/>
  <p:tag name="PICTUREFILESIZE" val="703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|a_1 \ldots a_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4"/>
  <p:tag name="PICTUREFILESIZE" val="673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1, x_2, \ldots x_n) = \prod_{i=1}^n P(x_i | \mbox{\it parents}(X_i)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92"/>
  <p:tag name="PICTUREFILESIZE" val="23944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1, x_2, \ldots x_n) = \prod_{i=1}^n P(x_i | \mbox{\it parents}(X_i)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92"/>
  <p:tag name="PICTUREFILESIZE" val="2394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1, x_2, \ldots x_n) = \prod_{i=1}^n P(x_i | x_1 \ldots x_{i-1}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72"/>
  <p:tag name="PICTUREFILESIZE" val="1937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1, x_2, \ldots x_n) = \prod_{i=1}^n P(x_i | \mbox{\it parents}(X_i)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92"/>
  <p:tag name="PICTUREFILESIZE" val="2394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i | x_1, \ldots x_{i-1}) = P(x_i | \mbox{\it parents}(X_i)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67"/>
  <p:tag name="PICTUREFILESIZE" val="1885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1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61"/>
  <p:tag name="PICTUREFILESIZE" val="368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n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62"/>
  <p:tag name="PICTUREFILESIZE" val="404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X_2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61"/>
  <p:tag name="PICTUREFILESIZE" val="4048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ldot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h, h, t, h) =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2"/>
  <p:tag name="PICTUREFILESIZE" val="6438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R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9"/>
  <p:tag name="PICTUREFILESIZE" val="303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|R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1"/>
  <p:tag name="PICTUREFILESIZE" val="402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,R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3"/>
  <p:tag name="PICTUREFILESIZE" val="408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P(x,y,z) = P(x)P(y|x)P(z|y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2"/>
  <p:tag name="PICTUREFILESIZE" val="1637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P(z|x,y) = \frac{P(x,y,z)}{P(x,y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4"/>
  <p:tag name="PICTUREFILESIZE" val="16939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= \frac{P(x)P(y|x)P(z|y)}{P(x)P(y|x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1"/>
  <p:tag name="PICTUREFILESIZE" val="18719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= P(z|y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86"/>
  <p:tag name="PICTUREFILESIZE" val="453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P(x,y,z) = P(x)P(y|x)P(z|y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2"/>
  <p:tag name="PICTUREFILESIZE" val="16377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P(x,y,z) = P(y)P(x|y)P(z|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91"/>
  <p:tag name="PICTUREFILESIZE" val="16173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P(z|x,y) = \frac{P(x,y,z)}{P(x,y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4"/>
  <p:tag name="PICTUREFILESIZE" val="1693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= P(z|y)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86"/>
  <p:tag name="PICTUREFILESIZE" val="453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= \frac{P(y)P(x|y)P(z|y)}{P(y)P(x|y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0"/>
  <p:tag name="PICTUREFILESIZE" val="19598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P(x,y,z) = P(y)P(x|y)P(z|y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91"/>
  <p:tag name="PICTUREFILESIZE" val="1617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&#10;\pagestyle{empty}&#10;&#10;\begin{document}&#10;$X_i$&#10;&#10;\end{document}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49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&#10;\pagestyle{empty}&#10;&#10;\begin{document}&#10;$X_j$&#10;&#10;\end{document}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3"/>
  <p:tag name="PICTUREFILESIZE" val="1616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R \indep B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56"/>
  <p:tag name="PICTUREFILESIZE" val="2233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R \indep B | T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7"/>
  <p:tag name="PICTUREFILESIZE" val="3203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newcommand{\indep}{{\;\bot\!\!\!\!\!\!\bot\;}} &#10;\begin{document}&#10;\[&#10;R \indep B | T'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82"/>
  <p:tag name="PICTUREFILESIZE" val="353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L \indep T' | T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79"/>
  <p:tag name="PICTUREFILESIZE" val="2845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L \indep B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1837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L \indep B | T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75"/>
  <p:tag name="PICTUREFILESIZE" val="2827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L \indep B | T'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80"/>
  <p:tag name="PICTUREFILESIZE" val="3226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L \indep B | T, R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99"/>
  <p:tag name="PICTUREFILESIZE" val="440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T \indep D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6"/>
  <p:tag name="PICTUREFILESIZE" val="184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T \indep D | R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79"/>
  <p:tag name="PICTUREFILESIZE" val="309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newcommand{\indep}{{\;\bot\!\!\!\!\!\!\bot\;}} &#10;\begin{document}&#10;\[&#10;T \indep D | R, S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02"/>
  <p:tag name="PICTUREFILESIZE" val="4676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P(Q| E_1 = e_1, \ldots E_k = e_k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47"/>
  <p:tag name="PICTUREFILESIZE" val="1009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\mbox{argmax}_q \,\, P(Q = q| E_1 = e_1 \ldots)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92"/>
  <p:tag name="PICTUREFILESIZE" val="1294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E_1 \ldots E_k = e_1 \ldots e_k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85"/>
  <p:tag name="PICTUREFILESIZE" val="609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5"/>
  <p:tag name="PICTUREFILESIZE" val="1484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H_1 \ldots H_r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85"/>
  <p:tag name="PICTUREFILESIZE" val="2327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P(Q | e_1 \ldots e_k)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28"/>
  <p:tag name="PICTUREFILESIZE" val="678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1, X_2, \ldots X_n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31"/>
  <p:tag name="PICTUREFILESIZE" val="625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&#10;\pagestyle{empty}&#10;&#10;\begin{document}&#10;\[&#10;Z = \sum_{q} P(Q, e_1 \cdots e_k)&#10;\]&#10;\end{document}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97"/>
  <p:tag name="PICTUREFILESIZE" val="825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Q, e_1 \ldots e_k) =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57"/>
  <p:tag name="PICTUREFILESIZE" val="7089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\sum_{h_1 \ldots h_r} P(Q, h_1 \ldots h_r, e_1 \ldots e_k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71"/>
  <p:tag name="PICTUREFILESIZE" val="15519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1, X_2, \ldots X_n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31"/>
  <p:tag name="PICTUREFILESIZE" val="6256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&#10;&#10;\pagestyle{empty}&#10;&#10;\begin{document}&#10;\[&#10;P( Q | e_1 \cdots e_k )  = \frac{1}{Z}  P(Q, e_1 \cdots e_k)&#10;\]&#10;\end{document}"/>
  <p:tag name="FILENAME" val="TP_tmp"/>
  <p:tag name="FORMAT" val="png16m"/>
  <p:tag name="RES" val="1200"/>
  <p:tag name="BLEND" val="0"/>
  <p:tag name="TRANSPARENT" val="0"/>
  <p:tag name="TBUG" val="0"/>
  <p:tag name="ALLOWFS" val="0"/>
  <p:tag name="ORIGWIDTH" val="144"/>
  <p:tag name="PICTUREFILESIZE" val="962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T|R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71"/>
  <p:tag name="PICTUREFILESIZE" val="4029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R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9"/>
  <p:tag name="PICTUREFILESIZE" val="3026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[&#10;P(L|T)&#10;\]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69"/>
  <p:tag name="PICTUREFILESIZE" val="3625"/>
</p:tagLst>
</file>

<file path=ppt/theme/theme1.xml><?xml version="1.0" encoding="utf-8"?>
<a:theme xmlns:a="http://schemas.openxmlformats.org/drawingml/2006/main" name="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pbtpixjy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btpixjy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d1jj4eph">
      <a:majorFont>
        <a:latin typeface="Arial" panose="020B06040202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52960</TotalTime>
  <Words>2443</Words>
  <Application>Microsoft Office PowerPoint</Application>
  <PresentationFormat>宽屏</PresentationFormat>
  <Paragraphs>1174</Paragraphs>
  <Slides>66</Slides>
  <Notes>31</Notes>
  <HiddenSlides>3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7" baseType="lpstr">
      <vt:lpstr>Helvetica Regular</vt:lpstr>
      <vt:lpstr>等线</vt:lpstr>
      <vt:lpstr>微软雅黑</vt:lpstr>
      <vt:lpstr>Arial</vt:lpstr>
      <vt:lpstr>Calibri</vt:lpstr>
      <vt:lpstr>Helvetica</vt:lpstr>
      <vt:lpstr>Wingdings</vt:lpstr>
      <vt:lpstr>Office 主题​​</vt:lpstr>
      <vt:lpstr>1_OfficePLUS</vt:lpstr>
      <vt:lpstr>1_Office 主题​​</vt:lpstr>
      <vt:lpstr>Photo Editor Photo</vt:lpstr>
      <vt:lpstr>PowerPoint 演示文稿</vt:lpstr>
      <vt:lpstr>内容</vt:lpstr>
      <vt:lpstr>Ghostbusters游戏中的推理</vt:lpstr>
      <vt:lpstr>不确定性</vt:lpstr>
      <vt:lpstr>随机变量</vt:lpstr>
      <vt:lpstr>概率分布</vt:lpstr>
      <vt:lpstr>概率分布</vt:lpstr>
      <vt:lpstr>联合分布</vt:lpstr>
      <vt:lpstr>活动</vt:lpstr>
      <vt:lpstr>边际分布</vt:lpstr>
      <vt:lpstr>测验：边际分布</vt:lpstr>
      <vt:lpstr>条件概率</vt:lpstr>
      <vt:lpstr>条件分布</vt:lpstr>
      <vt:lpstr>归一化技巧</vt:lpstr>
      <vt:lpstr>正则化技巧</vt:lpstr>
      <vt:lpstr>类别和对象</vt:lpstr>
      <vt:lpstr>测验：条件概率</vt:lpstr>
      <vt:lpstr>测验：正则化技巧</vt:lpstr>
      <vt:lpstr>PowerPoint 演示文稿</vt:lpstr>
      <vt:lpstr>概率模型</vt:lpstr>
      <vt:lpstr>独立</vt:lpstr>
      <vt:lpstr>独立</vt:lpstr>
      <vt:lpstr>示例：独立？</vt:lpstr>
      <vt:lpstr>示例：独立？</vt:lpstr>
      <vt:lpstr>条件独立</vt:lpstr>
      <vt:lpstr>条件独立</vt:lpstr>
      <vt:lpstr>条件独立</vt:lpstr>
      <vt:lpstr>条件独立与链式法则</vt:lpstr>
      <vt:lpstr>条件独立</vt:lpstr>
      <vt:lpstr>贝叶斯网络</vt:lpstr>
      <vt:lpstr>贝叶斯网络</vt:lpstr>
      <vt:lpstr>贝叶斯网络</vt:lpstr>
      <vt:lpstr>图形模型表示法</vt:lpstr>
      <vt:lpstr>示例：抛硬币</vt:lpstr>
      <vt:lpstr>示例：交通</vt:lpstr>
      <vt:lpstr>贝叶斯网络语义</vt:lpstr>
      <vt:lpstr>贝叶斯网络语义</vt:lpstr>
      <vt:lpstr>贝叶斯网络中的概率</vt:lpstr>
      <vt:lpstr>贝叶斯网络中的概率</vt:lpstr>
      <vt:lpstr>示例：抛硬币</vt:lpstr>
      <vt:lpstr>示例：交通</vt:lpstr>
      <vt:lpstr>示例：报警网络</vt:lpstr>
      <vt:lpstr>示例：报警网络</vt:lpstr>
      <vt:lpstr>贝叶斯网络中的独立性</vt:lpstr>
      <vt:lpstr>D-分离</vt:lpstr>
      <vt:lpstr>D-分离</vt:lpstr>
      <vt:lpstr>因果链</vt:lpstr>
      <vt:lpstr>因果链</vt:lpstr>
      <vt:lpstr>共因</vt:lpstr>
      <vt:lpstr>共因</vt:lpstr>
      <vt:lpstr>共同结果</vt:lpstr>
      <vt:lpstr>一般情况</vt:lpstr>
      <vt:lpstr>一般情况</vt:lpstr>
      <vt:lpstr>活动/非活动路径</vt:lpstr>
      <vt:lpstr>D-分离</vt:lpstr>
      <vt:lpstr>示例</vt:lpstr>
      <vt:lpstr>示例</vt:lpstr>
      <vt:lpstr>示例</vt:lpstr>
      <vt:lpstr>推理</vt:lpstr>
      <vt:lpstr>枚举推理</vt:lpstr>
      <vt:lpstr>贝叶斯网络中的枚举推理</vt:lpstr>
      <vt:lpstr>枚举推理?</vt:lpstr>
      <vt:lpstr>枚举推理与变量消元</vt:lpstr>
      <vt:lpstr>示例：交通堵塞问题</vt:lpstr>
      <vt:lpstr>示例：交通堵塞问题</vt:lpstr>
      <vt:lpstr>贝叶斯网络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叶 丁</dc:creator>
  <cp:lastModifiedBy>Administrator</cp:lastModifiedBy>
  <cp:revision>3442</cp:revision>
  <cp:lastPrinted>2022-11-10T04:57:55Z</cp:lastPrinted>
  <dcterms:created xsi:type="dcterms:W3CDTF">2018-12-16T05:38:48Z</dcterms:created>
  <dcterms:modified xsi:type="dcterms:W3CDTF">2026-04-20T01:21:04Z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Nuaxnuy@DESKTOP-GLORKB7</vt:lpwstr>
  </property>
  <property fmtid="{D5CDD505-2E9C-101B-9397-08002B2CF9AE}" pid="5" name="MSIP_Label_f42aa342-8706-4288-bd11-ebb85995028c_SetDate">
    <vt:lpwstr>2019-04-13T06:32:31.4153976Z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d5228a63-67d4-4fd6-959f-d3cab9a76c24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