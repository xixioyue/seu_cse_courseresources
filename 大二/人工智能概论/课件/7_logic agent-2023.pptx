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7" r:id="rId2"/>
    <p:sldMasterId id="2147483679" r:id="rId3"/>
    <p:sldMasterId id="2147483700" r:id="rId4"/>
  </p:sldMasterIdLst>
  <p:notesMasterIdLst>
    <p:notesMasterId r:id="rId74"/>
  </p:notesMasterIdLst>
  <p:handoutMasterIdLst>
    <p:handoutMasterId r:id="rId75"/>
  </p:handoutMasterIdLst>
  <p:sldIdLst>
    <p:sldId id="523" r:id="rId5"/>
    <p:sldId id="644" r:id="rId6"/>
    <p:sldId id="645" r:id="rId7"/>
    <p:sldId id="646" r:id="rId8"/>
    <p:sldId id="647" r:id="rId9"/>
    <p:sldId id="648" r:id="rId10"/>
    <p:sldId id="649" r:id="rId11"/>
    <p:sldId id="628" r:id="rId12"/>
    <p:sldId id="650" r:id="rId13"/>
    <p:sldId id="651" r:id="rId14"/>
    <p:sldId id="629" r:id="rId15"/>
    <p:sldId id="630" r:id="rId16"/>
    <p:sldId id="631" r:id="rId17"/>
    <p:sldId id="632" r:id="rId18"/>
    <p:sldId id="652" r:id="rId19"/>
    <p:sldId id="261" r:id="rId20"/>
    <p:sldId id="639" r:id="rId21"/>
    <p:sldId id="633" r:id="rId22"/>
    <p:sldId id="634" r:id="rId23"/>
    <p:sldId id="635" r:id="rId24"/>
    <p:sldId id="636" r:id="rId25"/>
    <p:sldId id="577" r:id="rId26"/>
    <p:sldId id="578" r:id="rId27"/>
    <p:sldId id="579" r:id="rId28"/>
    <p:sldId id="580" r:id="rId29"/>
    <p:sldId id="262" r:id="rId30"/>
    <p:sldId id="581" r:id="rId31"/>
    <p:sldId id="654" r:id="rId32"/>
    <p:sldId id="655" r:id="rId33"/>
    <p:sldId id="640" r:id="rId34"/>
    <p:sldId id="585" r:id="rId35"/>
    <p:sldId id="642" r:id="rId36"/>
    <p:sldId id="587" r:id="rId37"/>
    <p:sldId id="279" r:id="rId38"/>
    <p:sldId id="588" r:id="rId39"/>
    <p:sldId id="656" r:id="rId40"/>
    <p:sldId id="657" r:id="rId41"/>
    <p:sldId id="590" r:id="rId42"/>
    <p:sldId id="643" r:id="rId43"/>
    <p:sldId id="591" r:id="rId44"/>
    <p:sldId id="594" r:id="rId45"/>
    <p:sldId id="595" r:id="rId46"/>
    <p:sldId id="596" r:id="rId47"/>
    <p:sldId id="597" r:id="rId48"/>
    <p:sldId id="598" r:id="rId49"/>
    <p:sldId id="599" r:id="rId50"/>
    <p:sldId id="600" r:id="rId51"/>
    <p:sldId id="601" r:id="rId52"/>
    <p:sldId id="637" r:id="rId53"/>
    <p:sldId id="602" r:id="rId54"/>
    <p:sldId id="603" r:id="rId55"/>
    <p:sldId id="604" r:id="rId56"/>
    <p:sldId id="283" r:id="rId57"/>
    <p:sldId id="638" r:id="rId58"/>
    <p:sldId id="606" r:id="rId59"/>
    <p:sldId id="607" r:id="rId60"/>
    <p:sldId id="608" r:id="rId61"/>
    <p:sldId id="609" r:id="rId62"/>
    <p:sldId id="610" r:id="rId63"/>
    <p:sldId id="611" r:id="rId64"/>
    <p:sldId id="282" r:id="rId65"/>
    <p:sldId id="613" r:id="rId66"/>
    <p:sldId id="614" r:id="rId67"/>
    <p:sldId id="658" r:id="rId68"/>
    <p:sldId id="659" r:id="rId69"/>
    <p:sldId id="285" r:id="rId70"/>
    <p:sldId id="622" r:id="rId71"/>
    <p:sldId id="623" r:id="rId72"/>
    <p:sldId id="527" r:id="rId73"/>
  </p:sldIdLst>
  <p:sldSz cx="12192000" cy="6858000"/>
  <p:notesSz cx="6858000" cy="9144000"/>
  <p:custDataLst>
    <p:tags r:id="rId7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050" userDrawn="1">
          <p15:clr>
            <a:srgbClr val="A4A3A4"/>
          </p15:clr>
        </p15:guide>
        <p15:guide id="4" pos="6630" userDrawn="1">
          <p15:clr>
            <a:srgbClr val="A4A3A4"/>
          </p15:clr>
        </p15:guide>
        <p15:guide id="5" orient="horz" pos="648" userDrawn="1">
          <p15:clr>
            <a:srgbClr val="A4A3A4"/>
          </p15:clr>
        </p15:guide>
        <p15:guide id="6" orient="horz" pos="731" userDrawn="1">
          <p15:clr>
            <a:srgbClr val="A4A3A4"/>
          </p15:clr>
        </p15:guide>
        <p15:guide id="7" orient="horz" pos="3906" userDrawn="1">
          <p15:clr>
            <a:srgbClr val="A4A3A4"/>
          </p15:clr>
        </p15:guide>
        <p15:guide id="8" orient="horz" pos="3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叶 丁" initials="叶" lastIdx="2" clrIdx="0">
    <p:extLst>
      <p:ext uri="{19B8F6BF-5375-455C-9EA6-DF929625EA0E}">
        <p15:presenceInfo xmlns:p15="http://schemas.microsoft.com/office/powerpoint/2012/main" userId="7525c676c6ae861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223"/>
    <a:srgbClr val="141213"/>
    <a:srgbClr val="EAB908"/>
    <a:srgbClr val="EAB905"/>
    <a:srgbClr val="FECD54"/>
    <a:srgbClr val="817222"/>
    <a:srgbClr val="4B7D2B"/>
    <a:srgbClr val="9A8B3D"/>
    <a:srgbClr val="D3D1D2"/>
    <a:srgbClr val="565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0" autoAdjust="0"/>
    <p:restoredTop sz="78030" autoAdjust="0"/>
  </p:normalViewPr>
  <p:slideViewPr>
    <p:cSldViewPr snapToGrid="0" showGuides="1">
      <p:cViewPr varScale="1">
        <p:scale>
          <a:sx n="127" d="100"/>
          <a:sy n="127" d="100"/>
        </p:scale>
        <p:origin x="1176" y="92"/>
      </p:cViewPr>
      <p:guideLst>
        <p:guide orient="horz" pos="2273"/>
        <p:guide pos="3840"/>
        <p:guide pos="1050"/>
        <p:guide pos="6630"/>
        <p:guide orient="horz" pos="648"/>
        <p:guide orient="horz" pos="731"/>
        <p:guide orient="horz" pos="3906"/>
        <p:guide orient="horz"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2" d="100"/>
        <a:sy n="122" d="100"/>
      </p:scale>
      <p:origin x="0" y="-1392"/>
    </p:cViewPr>
  </p:sorterViewPr>
  <p:notesViewPr>
    <p:cSldViewPr snapToGrid="0" showGuides="1">
      <p:cViewPr varScale="1">
        <p:scale>
          <a:sx n="83" d="100"/>
          <a:sy n="83" d="100"/>
        </p:scale>
        <p:origin x="3992" y="208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notesMaster" Target="notesMasters/notesMaster1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ags" Target="tags/tag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8C176BC-2537-496C-92BE-280C92B96E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32F750-D334-4736-B10E-0035158269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1325C-51CE-41A1-8630-1A52C13085BB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9A2961-3AD5-4B21-AA67-7500903979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9F27F7-0D80-46EC-B423-14DAAD04B5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E3C29-C726-4695-AB77-50247DBF3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240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B8505-E7BC-4327-812D-12C5E82484FC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1B729-817F-448C-AF52-5327A9569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66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90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之前学过约束满足问题，提到推理的概念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侦探小说为例，推理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893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，基于知识的</a:t>
            </a:r>
            <a:r>
              <a:rPr lang="en-US" altLang="zh-CN" dirty="0">
                <a:solidFill>
                  <a:schemeClr val="tx1"/>
                </a:solidFill>
              </a:rPr>
              <a:t>agent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 err="1">
                <a:solidFill>
                  <a:schemeClr val="tx1"/>
                </a:solidFill>
              </a:rPr>
              <a:t>wumpus</a:t>
            </a:r>
            <a:r>
              <a:rPr lang="zh-CN" altLang="en-US" dirty="0">
                <a:solidFill>
                  <a:schemeClr val="tx1"/>
                </a:solidFill>
              </a:rPr>
              <a:t>世界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，逻辑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，命题逻辑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，命题逻辑定理证明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6</a:t>
            </a:r>
            <a:r>
              <a:rPr lang="zh-CN" altLang="en-US" dirty="0">
                <a:solidFill>
                  <a:schemeClr val="tx1"/>
                </a:solidFill>
              </a:rPr>
              <a:t>，命题逻辑模型检验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7</a:t>
            </a:r>
            <a:r>
              <a:rPr lang="zh-CN" altLang="en-US" dirty="0">
                <a:solidFill>
                  <a:schemeClr val="tx1"/>
                </a:solidFill>
              </a:rPr>
              <a:t>，基于命题逻辑的</a:t>
            </a:r>
            <a:r>
              <a:rPr lang="en-US" altLang="zh-CN" dirty="0">
                <a:solidFill>
                  <a:schemeClr val="tx1"/>
                </a:solidFill>
              </a:rPr>
              <a:t>agent</a:t>
            </a: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Propositional Logic </a:t>
            </a:r>
            <a:r>
              <a:rPr lang="zh-CN" altLang="en-US" dirty="0">
                <a:solidFill>
                  <a:schemeClr val="tx1"/>
                </a:solidFill>
              </a:rPr>
              <a:t>命题逻辑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这门课与离散数学的区别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598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Propositional Logic </a:t>
            </a:r>
            <a:r>
              <a:rPr lang="zh-CN" altLang="en-US" dirty="0">
                <a:solidFill>
                  <a:schemeClr val="tx1"/>
                </a:solidFill>
              </a:rPr>
              <a:t>命题逻辑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242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5757988-8435-BAFE-010F-4D54BC7B04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3A6A118-E93A-E0CC-16C9-DA068C6AF1A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Knowledge base </a:t>
            </a:r>
            <a:r>
              <a:rPr lang="zh-CN" altLang="en-US" dirty="0"/>
              <a:t>知识库：</a:t>
            </a:r>
            <a:r>
              <a:rPr lang="en-US" altLang="zh-CN" dirty="0"/>
              <a:t>Central component of a knowledge-based agent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0" dirty="0"/>
              <a:t>Sentences</a:t>
            </a:r>
            <a:r>
              <a:rPr lang="zh-CN" altLang="en-US" b="1" dirty="0"/>
              <a:t>：语句，</a:t>
            </a:r>
            <a:r>
              <a:rPr lang="zh-CN" altLang="en-US" b="0" dirty="0"/>
              <a:t>关于世界的某些断言。用知识表示语言表示。</a:t>
            </a:r>
            <a:endParaRPr lang="en-US" altLang="zh-CN" b="0" dirty="0"/>
          </a:p>
          <a:p>
            <a:endParaRPr lang="en-US" altLang="zh-CN" dirty="0"/>
          </a:p>
          <a:p>
            <a:r>
              <a:rPr lang="en-US" altLang="zh-CN" dirty="0"/>
              <a:t>Axiom</a:t>
            </a:r>
            <a:r>
              <a:rPr lang="zh-CN" altLang="en-US" dirty="0"/>
              <a:t>：公理，直接给定的而不是推导的。</a:t>
            </a: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A2F7808-A7E7-4D70-50B1-1C2464C97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5757988-8435-BAFE-010F-4D54BC7B04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3A6A118-E93A-E0CC-16C9-DA068C6AF1A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r>
              <a:rPr lang="zh-CN" altLang="en-US" b="1" dirty="0"/>
              <a:t>告诉</a:t>
            </a:r>
            <a:r>
              <a:rPr lang="zh-CN" altLang="en-US" dirty="0"/>
              <a:t> 和</a:t>
            </a:r>
            <a:r>
              <a:rPr lang="zh-CN" altLang="en-US" b="1" dirty="0"/>
              <a:t> 询问</a:t>
            </a:r>
            <a:r>
              <a:rPr lang="zh-CN" altLang="en-US" dirty="0"/>
              <a:t>：这两种操作可能涉及推理，即从原有语句中推导出新语句。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推理必须遵循基本要求，即当</a:t>
            </a:r>
            <a:r>
              <a:rPr lang="en-US" altLang="zh-CN" dirty="0"/>
              <a:t>ask</a:t>
            </a:r>
            <a:r>
              <a:rPr lang="zh-CN" altLang="en-US" dirty="0"/>
              <a:t>知识库一个问题时，答案应该遵循事先告诉知识库的内容。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follow</a:t>
            </a:r>
            <a:r>
              <a:rPr lang="en-US" altLang="zh-CN" dirty="0"/>
              <a:t> </a:t>
            </a:r>
            <a:r>
              <a:rPr lang="zh-CN" altLang="en-US" dirty="0"/>
              <a:t>遵循：可以理解成推理过程不应该虚构事实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A2F7808-A7E7-4D70-50B1-1C2464C97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737795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5757988-8435-BAFE-010F-4D54BC7B04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3A6A118-E93A-E0CC-16C9-DA068C6AF1A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In the process of answering this query, extensive reasoning may be done about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the current state of the world, about the outcomes of possible action sequences, and so on.</a:t>
            </a:r>
            <a:endParaRPr lang="zh-CN" altLang="en-US" dirty="0"/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A2F7808-A7E7-4D70-50B1-1C2464C97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30468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5757988-8435-BAFE-010F-4D54BC7B04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3A6A118-E93A-E0CC-16C9-DA068C6AF1A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In the process of answering this query, extensive reasoning may be done about</a:t>
            </a:r>
          </a:p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the current state of the world, about the outcomes of possible action sequences, and so on.</a:t>
            </a:r>
            <a:endParaRPr lang="zh-CN" altLang="en-US" dirty="0"/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A2F7808-A7E7-4D70-50B1-1C2464C97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956962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5757988-8435-BAFE-010F-4D54BC7B04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3A6A118-E93A-E0CC-16C9-DA068C6AF1A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Propositional Logic </a:t>
            </a:r>
            <a:r>
              <a:rPr lang="zh-CN" altLang="en-US" dirty="0">
                <a:solidFill>
                  <a:schemeClr val="tx1"/>
                </a:solidFill>
              </a:rPr>
              <a:t>命题逻辑</a:t>
            </a:r>
            <a:endParaRPr lang="zh-CN" altLang="en-US" dirty="0"/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A2F7808-A7E7-4D70-50B1-1C2464C97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81874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5757988-8435-BAFE-010F-4D54BC7B04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4" name="Notes Placeholder 2">
                <a:extLst>
                  <a:ext uri="{FF2B5EF4-FFF2-40B4-BE49-F238E27FC236}">
                    <a16:creationId xmlns:a16="http://schemas.microsoft.com/office/drawing/2014/main" id="{E3A6A118-E93A-E0CC-16C9-DA068C6AF1AA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>
              <a:ln/>
            </p:spPr>
            <p:txBody>
              <a:bodyPr/>
              <a:lstStyle/>
              <a:p>
                <a:r>
                  <a:rPr lang="zh-CN" altLang="en-US" dirty="0"/>
                  <a:t>本节将综述逻辑表示和推理的所有基本概念。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Knowledge bases consist of sentences </a:t>
                </a:r>
                <a:r>
                  <a:rPr lang="zh-CN" altLang="en-US" dirty="0"/>
                  <a:t>知识库是由语句组成</a:t>
                </a:r>
                <a:endParaRPr lang="en-US" altLang="zh-CN" dirty="0"/>
              </a:p>
              <a:p>
                <a:r>
                  <a:rPr lang="en-US" altLang="zh-CN" b="0" dirty="0"/>
                  <a:t>Syntax</a:t>
                </a:r>
                <a:r>
                  <a:rPr lang="zh-CN" altLang="en-US" b="0" dirty="0"/>
                  <a:t>语法，例如，在算数中，</a:t>
                </a:r>
                <a:r>
                  <a:rPr lang="en-US" altLang="zh-CN" b="0" dirty="0" err="1"/>
                  <a:t>x+y</a:t>
                </a:r>
                <a:r>
                  <a:rPr lang="en-US" altLang="zh-CN" b="0" dirty="0"/>
                  <a:t>=4</a:t>
                </a:r>
                <a:r>
                  <a:rPr lang="zh-CN" altLang="en-US" b="0" dirty="0"/>
                  <a:t>是合法语法，而</a:t>
                </a:r>
                <a:r>
                  <a:rPr lang="en-US" altLang="zh-CN" b="0" dirty="0"/>
                  <a:t>x4y+=</a:t>
                </a:r>
                <a:r>
                  <a:rPr lang="zh-CN" altLang="en-US" b="0" dirty="0"/>
                  <a:t>不是。</a:t>
                </a:r>
                <a:endParaRPr lang="en-US" altLang="zh-CN" b="0" dirty="0"/>
              </a:p>
              <a:p>
                <a:r>
                  <a:rPr lang="en-US" altLang="zh-CN" dirty="0"/>
                  <a:t>Semantics</a:t>
                </a:r>
                <a:r>
                  <a:rPr lang="zh-CN" altLang="en-US" dirty="0"/>
                  <a:t>语义，语句的含义。语义定义了每个语句在每个可能世界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模型的真值。例如，</a:t>
                </a:r>
                <a:r>
                  <a:rPr lang="en-US" altLang="zh-CN" dirty="0" err="1"/>
                  <a:t>x+y</a:t>
                </a:r>
                <a:r>
                  <a:rPr lang="en-US" altLang="zh-CN" dirty="0"/>
                  <a:t>=4</a:t>
                </a:r>
                <a:r>
                  <a:rPr lang="zh-CN" altLang="en-US" dirty="0"/>
                  <a:t>，在</a:t>
                </a:r>
                <a:r>
                  <a:rPr lang="en-US" altLang="zh-CN" dirty="0"/>
                  <a:t>x=2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y=2</a:t>
                </a:r>
                <a:r>
                  <a:rPr lang="zh-CN" altLang="en-US" dirty="0"/>
                  <a:t>的世界中为真，在</a:t>
                </a:r>
                <a:r>
                  <a:rPr lang="en-US" altLang="zh-CN" dirty="0"/>
                  <a:t>x=1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y=1</a:t>
                </a:r>
                <a:r>
                  <a:rPr lang="zh-CN" altLang="en-US" dirty="0"/>
                  <a:t>的世界中为假。每个语句在每个可能世界中非真即假。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思政举例：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：全国经济增长率</a:t>
                </a:r>
                <a:r>
                  <a:rPr lang="en-US" altLang="zh-CN" dirty="0"/>
                  <a:t>5%</a:t>
                </a:r>
                <a:r>
                  <a:rPr lang="zh-CN" altLang="en-US" dirty="0"/>
                  <a:t>以上。</a:t>
                </a:r>
                <a:r>
                  <a:rPr lang="en-US" altLang="zh-CN" dirty="0"/>
                  <a:t>Model</a:t>
                </a:r>
                <a:r>
                  <a:rPr lang="zh-CN" altLang="en-US" dirty="0"/>
                  <a:t>，中国为真，美国为假。</a:t>
                </a:r>
                <a:endParaRPr lang="en-US" altLang="zh-CN" dirty="0"/>
              </a:p>
              <a:p>
                <a:endParaRPr lang="zh-CN" altLang="en-US" b="0" dirty="0"/>
              </a:p>
            </p:txBody>
          </p:sp>
        </mc:Choice>
        <mc:Fallback xmlns="">
          <p:sp>
            <p:nvSpPr>
              <p:cNvPr id="18434" name="Notes Placeholder 2">
                <a:extLst>
                  <a:ext uri="{FF2B5EF4-FFF2-40B4-BE49-F238E27FC236}">
                    <a16:creationId xmlns:a16="http://schemas.microsoft.com/office/drawing/2014/main" id="{E3A6A118-E93A-E0CC-16C9-DA068C6AF1AA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>
              <a:ln/>
            </p:spPr>
            <p:txBody>
              <a:bodyPr/>
              <a:lstStyle/>
              <a:p>
                <a:r>
                  <a:rPr lang="zh-CN" altLang="en-US" dirty="0"/>
                  <a:t>本节将综述逻辑表示和推理的所有基本概念。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Knowledge bases consist of sentences </a:t>
                </a:r>
                <a:r>
                  <a:rPr lang="zh-CN" altLang="en-US" dirty="0"/>
                  <a:t>知识库是由语句组成</a:t>
                </a:r>
                <a:endParaRPr lang="en-US" altLang="zh-CN" dirty="0"/>
              </a:p>
              <a:p>
                <a:r>
                  <a:rPr lang="en-US" altLang="zh-CN" b="0" dirty="0"/>
                  <a:t>Syntax</a:t>
                </a:r>
                <a:r>
                  <a:rPr lang="zh-CN" altLang="en-US" b="0" dirty="0"/>
                  <a:t>语法，例如，在算数中，</a:t>
                </a:r>
                <a:r>
                  <a:rPr lang="en-US" altLang="zh-CN" b="0" dirty="0" err="1"/>
                  <a:t>x+y</a:t>
                </a:r>
                <a:r>
                  <a:rPr lang="en-US" altLang="zh-CN" b="0" dirty="0"/>
                  <a:t>=4</a:t>
                </a:r>
                <a:r>
                  <a:rPr lang="zh-CN" altLang="en-US" b="0" dirty="0"/>
                  <a:t>是合法语法，而</a:t>
                </a:r>
                <a:r>
                  <a:rPr lang="en-US" altLang="zh-CN" b="0" dirty="0"/>
                  <a:t>x4y+=</a:t>
                </a:r>
                <a:r>
                  <a:rPr lang="zh-CN" altLang="en-US" b="0" dirty="0"/>
                  <a:t>不是。</a:t>
                </a:r>
                <a:endParaRPr lang="en-US" altLang="zh-CN" b="0" dirty="0"/>
              </a:p>
              <a:p>
                <a:r>
                  <a:rPr lang="en-US" altLang="zh-CN" dirty="0"/>
                  <a:t>Semantics</a:t>
                </a:r>
                <a:r>
                  <a:rPr lang="zh-CN" altLang="en-US" dirty="0"/>
                  <a:t>语义，语句的含义。语义定义了每个语句在每个可能世界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模型的真值。例如，</a:t>
                </a:r>
                <a:r>
                  <a:rPr lang="en-US" altLang="zh-CN" dirty="0" err="1"/>
                  <a:t>x+y</a:t>
                </a:r>
                <a:r>
                  <a:rPr lang="en-US" altLang="zh-CN" dirty="0"/>
                  <a:t>=4</a:t>
                </a:r>
                <a:r>
                  <a:rPr lang="zh-CN" altLang="en-US" dirty="0"/>
                  <a:t>，在</a:t>
                </a:r>
                <a:r>
                  <a:rPr lang="en-US" altLang="zh-CN" dirty="0"/>
                  <a:t>x=2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y=2</a:t>
                </a:r>
                <a:r>
                  <a:rPr lang="zh-CN" altLang="en-US" dirty="0"/>
                  <a:t>的世界中为真，在</a:t>
                </a:r>
                <a:r>
                  <a:rPr lang="en-US" altLang="zh-CN" dirty="0"/>
                  <a:t>x=1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y=1</a:t>
                </a:r>
                <a:r>
                  <a:rPr lang="zh-CN" altLang="en-US" dirty="0"/>
                  <a:t>的世界中为假。每个语句在每个可能世界中非真即假。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思政举例：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𝛼</a:t>
                </a:r>
                <a:r>
                  <a:rPr lang="zh-CN" altLang="en-US" dirty="0"/>
                  <a:t>：全国经济增长率</a:t>
                </a:r>
                <a:r>
                  <a:rPr lang="en-US" altLang="zh-CN" dirty="0"/>
                  <a:t>5%</a:t>
                </a:r>
                <a:r>
                  <a:rPr lang="zh-CN" altLang="en-US" dirty="0"/>
                  <a:t>以上。</a:t>
                </a:r>
                <a:r>
                  <a:rPr lang="en-US" altLang="zh-CN" dirty="0"/>
                  <a:t>Model</a:t>
                </a:r>
                <a:r>
                  <a:rPr lang="zh-CN" altLang="en-US" dirty="0"/>
                  <a:t>，中国为真，美国为假。</a:t>
                </a:r>
                <a:endParaRPr lang="en-US" altLang="zh-CN" dirty="0"/>
              </a:p>
              <a:p>
                <a:endParaRPr lang="zh-CN" altLang="en-US" b="0" dirty="0"/>
              </a:p>
            </p:txBody>
          </p:sp>
        </mc:Fallback>
      </mc:AlternateContent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A2F7808-A7E7-4D70-50B1-1C2464C97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380172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5757988-8435-BAFE-010F-4D54BC7B04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4" name="Notes Placeholder 2">
                <a:extLst>
                  <a:ext uri="{FF2B5EF4-FFF2-40B4-BE49-F238E27FC236}">
                    <a16:creationId xmlns:a16="http://schemas.microsoft.com/office/drawing/2014/main" id="{E3A6A118-E93A-E0CC-16C9-DA068C6AF1AA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>
              <a:ln/>
            </p:spPr>
            <p:txBody>
              <a:bodyPr/>
              <a:lstStyle/>
              <a:p>
                <a:r>
                  <a:rPr lang="zh-CN" altLang="en-US" dirty="0"/>
                  <a:t>本节将综述逻辑表示和推理的所有基本概念。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Knowledge bases consist of sentences </a:t>
                </a:r>
                <a:r>
                  <a:rPr lang="zh-CN" altLang="en-US" dirty="0"/>
                  <a:t>知识库是由语句组成</a:t>
                </a:r>
                <a:endParaRPr lang="en-US" altLang="zh-CN" dirty="0"/>
              </a:p>
              <a:p>
                <a:r>
                  <a:rPr lang="en-US" altLang="zh-CN" b="0" dirty="0"/>
                  <a:t>Syntax</a:t>
                </a:r>
                <a:r>
                  <a:rPr lang="zh-CN" altLang="en-US" b="0" dirty="0"/>
                  <a:t>语法，例如，在算数中，</a:t>
                </a:r>
                <a:r>
                  <a:rPr lang="en-US" altLang="zh-CN" b="0" dirty="0" err="1"/>
                  <a:t>x+y</a:t>
                </a:r>
                <a:r>
                  <a:rPr lang="en-US" altLang="zh-CN" b="0" dirty="0"/>
                  <a:t>=4</a:t>
                </a:r>
                <a:r>
                  <a:rPr lang="zh-CN" altLang="en-US" b="0" dirty="0"/>
                  <a:t>是合法语法，而</a:t>
                </a:r>
                <a:r>
                  <a:rPr lang="en-US" altLang="zh-CN" b="0" dirty="0"/>
                  <a:t>x4y+=</a:t>
                </a:r>
                <a:r>
                  <a:rPr lang="zh-CN" altLang="en-US" b="0" dirty="0"/>
                  <a:t>不是。</a:t>
                </a:r>
                <a:endParaRPr lang="en-US" altLang="zh-CN" b="0" dirty="0"/>
              </a:p>
              <a:p>
                <a:r>
                  <a:rPr lang="en-US" altLang="zh-CN" dirty="0"/>
                  <a:t>Semantics</a:t>
                </a:r>
                <a:r>
                  <a:rPr lang="zh-CN" altLang="en-US" dirty="0"/>
                  <a:t>语义，语句的含义。语义定义了每个语句在每个可能世界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模型的真值。例如，</a:t>
                </a:r>
                <a:r>
                  <a:rPr lang="en-US" altLang="zh-CN" dirty="0" err="1"/>
                  <a:t>x+y</a:t>
                </a:r>
                <a:r>
                  <a:rPr lang="en-US" altLang="zh-CN" dirty="0"/>
                  <a:t>=4</a:t>
                </a:r>
                <a:r>
                  <a:rPr lang="zh-CN" altLang="en-US" dirty="0"/>
                  <a:t>，在</a:t>
                </a:r>
                <a:r>
                  <a:rPr lang="en-US" altLang="zh-CN" dirty="0"/>
                  <a:t>x=2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y=2</a:t>
                </a:r>
                <a:r>
                  <a:rPr lang="zh-CN" altLang="en-US" dirty="0"/>
                  <a:t>的世界中为真，在</a:t>
                </a:r>
                <a:r>
                  <a:rPr lang="en-US" altLang="zh-CN" dirty="0"/>
                  <a:t>x=1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y=1</a:t>
                </a:r>
                <a:r>
                  <a:rPr lang="zh-CN" altLang="en-US" dirty="0"/>
                  <a:t>的世界中为假。每个语句在每个可能世界中非真即假。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思政举例：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：全国经济增长率</a:t>
                </a:r>
                <a:r>
                  <a:rPr lang="en-US" altLang="zh-CN" dirty="0"/>
                  <a:t>5%</a:t>
                </a:r>
                <a:r>
                  <a:rPr lang="zh-CN" altLang="en-US" dirty="0"/>
                  <a:t>以上。</a:t>
                </a:r>
                <a:r>
                  <a:rPr lang="en-US" altLang="zh-CN" dirty="0"/>
                  <a:t>Model</a:t>
                </a:r>
                <a:r>
                  <a:rPr lang="zh-CN" altLang="en-US" dirty="0"/>
                  <a:t>，中国为真，美国为假。</a:t>
                </a:r>
                <a:endParaRPr lang="en-US" altLang="zh-CN" dirty="0"/>
              </a:p>
              <a:p>
                <a:endParaRPr lang="zh-CN" altLang="en-US" b="0" dirty="0"/>
              </a:p>
            </p:txBody>
          </p:sp>
        </mc:Choice>
        <mc:Fallback xmlns="">
          <p:sp>
            <p:nvSpPr>
              <p:cNvPr id="18434" name="Notes Placeholder 2">
                <a:extLst>
                  <a:ext uri="{FF2B5EF4-FFF2-40B4-BE49-F238E27FC236}">
                    <a16:creationId xmlns:a16="http://schemas.microsoft.com/office/drawing/2014/main" id="{E3A6A118-E93A-E0CC-16C9-DA068C6AF1AA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>
              <a:ln/>
            </p:spPr>
            <p:txBody>
              <a:bodyPr/>
              <a:lstStyle/>
              <a:p>
                <a:r>
                  <a:rPr lang="zh-CN" altLang="en-US" dirty="0"/>
                  <a:t>本节将综述逻辑表示和推理的所有基本概念。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Knowledge bases consist of sentences </a:t>
                </a:r>
                <a:r>
                  <a:rPr lang="zh-CN" altLang="en-US" dirty="0"/>
                  <a:t>知识库是由语句组成</a:t>
                </a:r>
                <a:endParaRPr lang="en-US" altLang="zh-CN" dirty="0"/>
              </a:p>
              <a:p>
                <a:r>
                  <a:rPr lang="en-US" altLang="zh-CN" b="0" dirty="0"/>
                  <a:t>Syntax</a:t>
                </a:r>
                <a:r>
                  <a:rPr lang="zh-CN" altLang="en-US" b="0" dirty="0"/>
                  <a:t>语法，例如，在算数中，</a:t>
                </a:r>
                <a:r>
                  <a:rPr lang="en-US" altLang="zh-CN" b="0" dirty="0" err="1"/>
                  <a:t>x+y</a:t>
                </a:r>
                <a:r>
                  <a:rPr lang="en-US" altLang="zh-CN" b="0" dirty="0"/>
                  <a:t>=4</a:t>
                </a:r>
                <a:r>
                  <a:rPr lang="zh-CN" altLang="en-US" b="0" dirty="0"/>
                  <a:t>是合法语法，而</a:t>
                </a:r>
                <a:r>
                  <a:rPr lang="en-US" altLang="zh-CN" b="0" dirty="0"/>
                  <a:t>x4y+=</a:t>
                </a:r>
                <a:r>
                  <a:rPr lang="zh-CN" altLang="en-US" b="0" dirty="0"/>
                  <a:t>不是。</a:t>
                </a:r>
                <a:endParaRPr lang="en-US" altLang="zh-CN" b="0" dirty="0"/>
              </a:p>
              <a:p>
                <a:r>
                  <a:rPr lang="en-US" altLang="zh-CN" dirty="0"/>
                  <a:t>Semantics</a:t>
                </a:r>
                <a:r>
                  <a:rPr lang="zh-CN" altLang="en-US" dirty="0"/>
                  <a:t>语义，语句的含义。语义定义了每个语句在每个可能世界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模型的真值。例如，</a:t>
                </a:r>
                <a:r>
                  <a:rPr lang="en-US" altLang="zh-CN" dirty="0" err="1"/>
                  <a:t>x+y</a:t>
                </a:r>
                <a:r>
                  <a:rPr lang="en-US" altLang="zh-CN" dirty="0"/>
                  <a:t>=4</a:t>
                </a:r>
                <a:r>
                  <a:rPr lang="zh-CN" altLang="en-US" dirty="0"/>
                  <a:t>，在</a:t>
                </a:r>
                <a:r>
                  <a:rPr lang="en-US" altLang="zh-CN" dirty="0"/>
                  <a:t>x=2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y=2</a:t>
                </a:r>
                <a:r>
                  <a:rPr lang="zh-CN" altLang="en-US" dirty="0"/>
                  <a:t>的世界中为真，在</a:t>
                </a:r>
                <a:r>
                  <a:rPr lang="en-US" altLang="zh-CN" dirty="0"/>
                  <a:t>x=1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y=1</a:t>
                </a:r>
                <a:r>
                  <a:rPr lang="zh-CN" altLang="en-US" dirty="0"/>
                  <a:t>的世界中为假。每个语句在每个可能世界中非真即假。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思政举例：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𝛼</a:t>
                </a:r>
                <a:r>
                  <a:rPr lang="zh-CN" altLang="en-US" dirty="0"/>
                  <a:t>：全国经济增长率</a:t>
                </a:r>
                <a:r>
                  <a:rPr lang="en-US" altLang="zh-CN" dirty="0"/>
                  <a:t>5%</a:t>
                </a:r>
                <a:r>
                  <a:rPr lang="zh-CN" altLang="en-US" dirty="0"/>
                  <a:t>以上。</a:t>
                </a:r>
                <a:r>
                  <a:rPr lang="en-US" altLang="zh-CN" dirty="0"/>
                  <a:t>Model</a:t>
                </a:r>
                <a:r>
                  <a:rPr lang="zh-CN" altLang="en-US" dirty="0"/>
                  <a:t>，中国为真，美国为假。</a:t>
                </a:r>
                <a:endParaRPr lang="en-US" altLang="zh-CN" dirty="0"/>
              </a:p>
              <a:p>
                <a:endParaRPr lang="zh-CN" altLang="en-US" b="0" dirty="0"/>
              </a:p>
            </p:txBody>
          </p:sp>
        </mc:Fallback>
      </mc:AlternateContent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A2F7808-A7E7-4D70-50B1-1C2464C97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649184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5757988-8435-BAFE-010F-4D54BC7B04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4" name="Notes Placeholder 2">
                <a:extLst>
                  <a:ext uri="{FF2B5EF4-FFF2-40B4-BE49-F238E27FC236}">
                    <a16:creationId xmlns:a16="http://schemas.microsoft.com/office/drawing/2014/main" id="{E3A6A118-E93A-E0CC-16C9-DA068C6AF1AA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>
              <a:ln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Logical entailment</a:t>
                </a:r>
                <a:r>
                  <a:rPr lang="zh-CN" altLang="en-US" b="1" dirty="0"/>
                  <a:t>：</a:t>
                </a:r>
                <a:r>
                  <a:rPr lang="zh-CN" altLang="en-US" b="0" dirty="0"/>
                  <a:t>逻辑</a:t>
                </a:r>
                <a:r>
                  <a:rPr lang="zh-CN" altLang="en-US" b="1" dirty="0"/>
                  <a:t>蕴含</a:t>
                </a:r>
                <a:r>
                  <a:rPr lang="zh-CN" altLang="en-US" b="0" dirty="0"/>
                  <a:t>关系，某语句逻辑上跟随另一个语句。</a:t>
                </a:r>
                <a:endParaRPr lang="en-US" altLang="zh-CN" b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dirty="0"/>
                  <a:t> entails the sentence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b="0" dirty="0"/>
                  <a:t>语句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b="0" dirty="0"/>
                  <a:t>蕴含语句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zh-CN" b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|=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b="0" dirty="0"/>
                  <a:t>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b="0" dirty="0"/>
                  <a:t>比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b="0" dirty="0"/>
                  <a:t>更强的断言：排除了更多可能的世界</a:t>
                </a:r>
                <a:endParaRPr lang="en-US" altLang="zh-CN" b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b="0" dirty="0"/>
                  <a:t>M(alpha):</a:t>
                </a:r>
                <a:r>
                  <a:rPr lang="zh-CN" altLang="en-US" b="0" dirty="0"/>
                  <a:t>猴子 </a:t>
                </a:r>
                <a:r>
                  <a:rPr lang="en-US" altLang="zh-CN" b="0" dirty="0"/>
                  <a:t>M(beta):</a:t>
                </a:r>
                <a:r>
                  <a:rPr lang="zh-CN" altLang="en-US" b="0" dirty="0"/>
                  <a:t>动物</a:t>
                </a:r>
                <a:endParaRPr lang="en-US" altLang="zh-CN" b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Completeness</a:t>
                </a:r>
                <a:r>
                  <a:rPr lang="zh-CN" altLang="en-US" dirty="0"/>
                  <a:t>完备性，如果推理算法可以生成任一蕴含句，则他是完备的。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b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b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8434" name="Notes Placeholder 2">
                <a:extLst>
                  <a:ext uri="{FF2B5EF4-FFF2-40B4-BE49-F238E27FC236}">
                    <a16:creationId xmlns:a16="http://schemas.microsoft.com/office/drawing/2014/main" id="{E3A6A118-E93A-E0CC-16C9-DA068C6AF1AA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>
              <a:ln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Logical entailment</a:t>
                </a:r>
                <a:r>
                  <a:rPr lang="zh-CN" altLang="en-US" b="1" dirty="0"/>
                  <a:t>：</a:t>
                </a:r>
                <a:r>
                  <a:rPr lang="zh-CN" altLang="en-US" b="0" dirty="0"/>
                  <a:t>逻辑</a:t>
                </a:r>
                <a:r>
                  <a:rPr lang="zh-CN" altLang="en-US" b="1" dirty="0"/>
                  <a:t>蕴含</a:t>
                </a:r>
                <a:r>
                  <a:rPr lang="zh-CN" altLang="en-US" b="0" dirty="0"/>
                  <a:t>关系，某语句逻辑上跟随另一个语句。</a:t>
                </a:r>
                <a:endParaRPr lang="en-US" altLang="zh-CN" b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𝛼</a:t>
                </a:r>
                <a:r>
                  <a:rPr lang="en-US" altLang="zh-CN" dirty="0"/>
                  <a:t> entails the sentence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𝛽</a:t>
                </a:r>
                <a:r>
                  <a:rPr lang="zh-CN" altLang="en-US" i="0" dirty="0">
                    <a:latin typeface="Cambria Math" panose="02040503050406030204" pitchFamily="18" charset="0"/>
                  </a:rPr>
                  <a:t>：</a:t>
                </a:r>
                <a:r>
                  <a:rPr lang="zh-CN" altLang="en-US" b="0" dirty="0"/>
                  <a:t>语句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𝛼</a:t>
                </a:r>
                <a:r>
                  <a:rPr lang="zh-CN" altLang="en-US" b="0" dirty="0"/>
                  <a:t>蕴含语句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𝛽</a:t>
                </a:r>
                <a:endParaRPr lang="en-US" altLang="zh-CN" b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𝛼 |= 𝛽 </a:t>
                </a:r>
                <a:r>
                  <a:rPr lang="en-US" altLang="zh-CN" b="0" dirty="0"/>
                  <a:t>,</a:t>
                </a:r>
                <a:r>
                  <a:rPr lang="en-US" altLang="zh-CN" dirty="0"/>
                  <a:t>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𝛼</a:t>
                </a:r>
                <a:r>
                  <a:rPr lang="zh-CN" altLang="en-US" b="0" dirty="0"/>
                  <a:t>比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𝛽</a:t>
                </a:r>
                <a:r>
                  <a:rPr lang="zh-CN" altLang="en-US" b="0" dirty="0"/>
                  <a:t>更强的断言：排除了更多可能的世界</a:t>
                </a:r>
                <a:endParaRPr lang="en-US" altLang="zh-CN" b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b="0" dirty="0"/>
                  <a:t>M(alpha):</a:t>
                </a:r>
                <a:r>
                  <a:rPr lang="zh-CN" altLang="en-US" b="0" dirty="0"/>
                  <a:t>猴子 </a:t>
                </a:r>
                <a:r>
                  <a:rPr lang="en-US" altLang="zh-CN" b="0" dirty="0"/>
                  <a:t>M(beta):</a:t>
                </a:r>
                <a:r>
                  <a:rPr lang="zh-CN" altLang="en-US" b="0" dirty="0"/>
                  <a:t>动物</a:t>
                </a:r>
                <a:endParaRPr lang="en-US" altLang="zh-CN" b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Completeness</a:t>
                </a:r>
                <a:r>
                  <a:rPr lang="zh-CN" altLang="en-US" dirty="0"/>
                  <a:t>完备性，如果推理算法可以生成任一蕴含句，则他是完备的。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b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b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zh-CN" altLang="en-US" dirty="0"/>
              </a:p>
            </p:txBody>
          </p:sp>
        </mc:Fallback>
      </mc:AlternateContent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A2F7808-A7E7-4D70-50B1-1C2464C97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876097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5757988-8435-BAFE-010F-4D54BC7B04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4" name="Notes Placeholder 2">
                <a:extLst>
                  <a:ext uri="{FF2B5EF4-FFF2-40B4-BE49-F238E27FC236}">
                    <a16:creationId xmlns:a16="http://schemas.microsoft.com/office/drawing/2014/main" id="{E3A6A118-E93A-E0CC-16C9-DA068C6AF1AA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>
              <a:ln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𝐾𝐵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|= 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在</a:t>
                </a:r>
                <a:r>
                  <a:rPr lang="en-US" altLang="zh-CN" dirty="0"/>
                  <a:t>KB</a:t>
                </a:r>
                <a:r>
                  <a:rPr lang="zh-CN" altLang="en-US" dirty="0"/>
                  <a:t>为真的每个模型中，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也为真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𝐾𝐵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|≠ 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dirty="0"/>
                  <a:t>，在</a:t>
                </a:r>
                <a:r>
                  <a:rPr lang="en-US" altLang="zh-CN" dirty="0"/>
                  <a:t>KB</a:t>
                </a:r>
                <a:r>
                  <a:rPr lang="zh-CN" altLang="en-US" dirty="0"/>
                  <a:t>为真的某些模型中，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dirty="0"/>
                  <a:t>为假，或者是，无法得出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dirty="0"/>
                  <a:t>的结论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𝐾𝐵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l-GR" altLang="zh-CN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，推理算法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可以根据</a:t>
                </a:r>
                <a:r>
                  <a:rPr lang="en-US" altLang="zh-CN" dirty="0"/>
                  <a:t>kb</a:t>
                </a:r>
                <a:r>
                  <a:rPr lang="zh-CN" altLang="en-US" dirty="0"/>
                  <a:t>推导出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，读作：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通过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从</a:t>
                </a:r>
                <a:r>
                  <a:rPr lang="en-US" altLang="zh-CN" dirty="0"/>
                  <a:t>kb</a:t>
                </a:r>
                <a:r>
                  <a:rPr lang="zh-CN" altLang="en-US" dirty="0"/>
                  <a:t>导出，或者 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从</a:t>
                </a:r>
                <a:r>
                  <a:rPr lang="en-US" altLang="zh-CN" dirty="0"/>
                  <a:t>kb</a:t>
                </a:r>
                <a:r>
                  <a:rPr lang="zh-CN" altLang="en-US" dirty="0"/>
                  <a:t>导出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完备性：如果推理算法可以生成任一蕴含语句，则它是完备的。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zh-CN" altLang="en-US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zh-CN" altLang="en-US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8434" name="Notes Placeholder 2">
                <a:extLst>
                  <a:ext uri="{FF2B5EF4-FFF2-40B4-BE49-F238E27FC236}">
                    <a16:creationId xmlns:a16="http://schemas.microsoft.com/office/drawing/2014/main" id="{E3A6A118-E93A-E0CC-16C9-DA068C6AF1AA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>
              <a:ln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𝐾𝐵 |= </a:t>
                </a:r>
                <a:r>
                  <a:rPr lang="el-GR" altLang="zh-CN" i="0" dirty="0">
                    <a:latin typeface="Cambria Math" panose="02040503050406030204" pitchFamily="18" charset="0"/>
                  </a:rPr>
                  <a:t>𝛼1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在</a:t>
                </a:r>
                <a:r>
                  <a:rPr lang="en-US" altLang="zh-CN" dirty="0"/>
                  <a:t>KB</a:t>
                </a:r>
                <a:r>
                  <a:rPr lang="zh-CN" altLang="en-US" dirty="0"/>
                  <a:t>为真的每个模型中，</a:t>
                </a:r>
                <a:r>
                  <a:rPr lang="el-GR" altLang="zh-CN" i="0" dirty="0">
                    <a:latin typeface="Cambria Math" panose="02040503050406030204" pitchFamily="18" charset="0"/>
                  </a:rPr>
                  <a:t>𝛼1</a:t>
                </a:r>
                <a:r>
                  <a:rPr lang="zh-CN" altLang="en-US" dirty="0"/>
                  <a:t>也为真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𝐾𝐵 |≠ </a:t>
                </a:r>
                <a:r>
                  <a:rPr lang="el-GR" altLang="zh-CN" i="0" dirty="0">
                    <a:latin typeface="Cambria Math" panose="02040503050406030204" pitchFamily="18" charset="0"/>
                  </a:rPr>
                  <a:t>𝛼2</a:t>
                </a:r>
                <a:r>
                  <a:rPr lang="zh-CN" altLang="en-US" dirty="0"/>
                  <a:t>，在</a:t>
                </a:r>
                <a:r>
                  <a:rPr lang="en-US" altLang="zh-CN" dirty="0"/>
                  <a:t>KB</a:t>
                </a:r>
                <a:r>
                  <a:rPr lang="zh-CN" altLang="en-US" dirty="0"/>
                  <a:t>为真的某些模型中，</a:t>
                </a:r>
                <a:r>
                  <a:rPr lang="el-GR" altLang="zh-CN" i="0" dirty="0">
                    <a:latin typeface="Cambria Math" panose="02040503050406030204" pitchFamily="18" charset="0"/>
                  </a:rPr>
                  <a:t>𝛼2</a:t>
                </a:r>
                <a:r>
                  <a:rPr lang="zh-CN" altLang="en-US" dirty="0"/>
                  <a:t>为假，或者是，无法得出</a:t>
                </a:r>
                <a:r>
                  <a:rPr lang="el-GR" altLang="zh-CN" i="0" dirty="0">
                    <a:latin typeface="Cambria Math" panose="02040503050406030204" pitchFamily="18" charset="0"/>
                  </a:rPr>
                  <a:t>𝛼2</a:t>
                </a:r>
                <a:r>
                  <a:rPr lang="zh-CN" altLang="en-US" dirty="0"/>
                  <a:t>的结论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𝐾𝐵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|−</a:t>
                </a:r>
                <a:r>
                  <a:rPr lang="zh-CN" altLang="en-US" i="0" dirty="0">
                    <a:latin typeface="Cambria Math" panose="02040503050406030204" pitchFamily="18" charset="0"/>
                  </a:rPr>
                  <a:t>_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𝑖</a:t>
                </a:r>
                <a:r>
                  <a:rPr lang="el-GR" altLang="zh-CN" i="0" dirty="0">
                    <a:latin typeface="Cambria Math" panose="02040503050406030204" pitchFamily="18" charset="0"/>
                  </a:rPr>
                  <a:t> 𝛼</a:t>
                </a:r>
                <a:r>
                  <a:rPr lang="zh-CN" altLang="en-US" dirty="0"/>
                  <a:t>，推理算法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可以根据</a:t>
                </a:r>
                <a:r>
                  <a:rPr lang="en-US" altLang="zh-CN" dirty="0"/>
                  <a:t>kb</a:t>
                </a:r>
                <a:r>
                  <a:rPr lang="zh-CN" altLang="en-US" dirty="0"/>
                  <a:t>推导出</a:t>
                </a:r>
                <a:r>
                  <a:rPr lang="el-GR" altLang="zh-CN" i="0" dirty="0">
                    <a:latin typeface="Cambria Math" panose="02040503050406030204" pitchFamily="18" charset="0"/>
                  </a:rPr>
                  <a:t>𝛼</a:t>
                </a:r>
                <a:r>
                  <a:rPr lang="zh-CN" altLang="en-US" dirty="0"/>
                  <a:t>，读作：</a:t>
                </a:r>
                <a:r>
                  <a:rPr lang="el-GR" altLang="zh-CN" i="0" dirty="0">
                    <a:latin typeface="Cambria Math" panose="02040503050406030204" pitchFamily="18" charset="0"/>
                  </a:rPr>
                  <a:t>𝛼</a:t>
                </a:r>
                <a:r>
                  <a:rPr lang="zh-CN" altLang="en-US" dirty="0"/>
                  <a:t>通过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从</a:t>
                </a:r>
                <a:r>
                  <a:rPr lang="en-US" altLang="zh-CN" dirty="0"/>
                  <a:t>kb</a:t>
                </a:r>
                <a:r>
                  <a:rPr lang="zh-CN" altLang="en-US" dirty="0"/>
                  <a:t>导出，或者 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从</a:t>
                </a:r>
                <a:r>
                  <a:rPr lang="en-US" altLang="zh-CN" dirty="0"/>
                  <a:t>kb</a:t>
                </a:r>
                <a:r>
                  <a:rPr lang="zh-CN" altLang="en-US" dirty="0"/>
                  <a:t>导出</a:t>
                </a:r>
                <a:r>
                  <a:rPr lang="el-GR" altLang="zh-CN" i="0" dirty="0">
                    <a:latin typeface="Cambria Math" panose="02040503050406030204" pitchFamily="18" charset="0"/>
                  </a:rPr>
                  <a:t>𝛼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完备性：如果推理算法可以生成任一蕴含语句，则它是完备的。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zh-CN" altLang="en-US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zh-CN" altLang="en-US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A2F7808-A7E7-4D70-50B1-1C2464C97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6590843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5757988-8435-BAFE-010F-4D54BC7B04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3A6A118-E93A-E0CC-16C9-DA068C6AF1A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r>
              <a:rPr lang="en-US" altLang="zh-CN" dirty="0"/>
              <a:t>How do we know that KB is true in the real world?</a:t>
            </a:r>
          </a:p>
          <a:p>
            <a:pPr lvl="1"/>
            <a:r>
              <a:rPr lang="en-US" altLang="zh-CN" dirty="0"/>
              <a:t>The agent’s sensors create the connection.</a:t>
            </a:r>
          </a:p>
          <a:p>
            <a:pPr lvl="1"/>
            <a:r>
              <a:rPr lang="en-US" altLang="zh-CN" dirty="0"/>
              <a:t>For example, our </a:t>
            </a:r>
            <a:r>
              <a:rPr lang="en-US" altLang="zh-CN" dirty="0" err="1"/>
              <a:t>wumpus</a:t>
            </a:r>
            <a:r>
              <a:rPr lang="en-US" altLang="zh-CN" dirty="0"/>
              <a:t>-world agent has a smell sensor. The agent program creates a suitable sentence whenever there is a smell.</a:t>
            </a:r>
          </a:p>
          <a:p>
            <a:pPr lvl="1"/>
            <a:r>
              <a:rPr lang="en-US" altLang="zh-CN" dirty="0"/>
              <a:t>General rules are produced by a sentence construction process called </a:t>
            </a:r>
            <a:r>
              <a:rPr lang="en-US" altLang="zh-CN" b="1" dirty="0"/>
              <a:t>learning.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2A2F7808-A7E7-4D70-50B1-1C2464C97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392289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C78FC0E3-4007-0CDC-544F-81B1C667545D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1629BF66-9260-7F09-3939-453576CFE4E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Propositional Logic </a:t>
            </a:r>
            <a:r>
              <a:rPr lang="zh-CN" altLang="en-US" dirty="0">
                <a:solidFill>
                  <a:schemeClr val="tx1"/>
                </a:solidFill>
              </a:rPr>
              <a:t>命题逻辑，逻辑的一种</a:t>
            </a:r>
            <a:endParaRPr lang="zh-CN" altLang="en-US" dirty="0"/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EAA72ABA-6859-D855-AC59-1A7A14A2F5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/>
                </a:solidFill>
              </a:rPr>
              <a:t>Propositional Logic </a:t>
            </a:r>
            <a:r>
              <a:rPr lang="zh-CN" altLang="en-US" dirty="0">
                <a:solidFill>
                  <a:schemeClr val="tx1"/>
                </a:solidFill>
              </a:rPr>
              <a:t>命题逻辑</a:t>
            </a:r>
            <a:endParaRPr lang="en-US" altLang="zh-CN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ea typeface="MS PGothic" panose="020B0600070205080204" pitchFamily="34" charset="-128"/>
              </a:rPr>
              <a:t>Propositional logic is the simplest logic –  illustrates basic ideas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Syntax</a:t>
            </a:r>
            <a:r>
              <a:rPr lang="zh-CN" altLang="en-US" dirty="0"/>
              <a:t>语法</a:t>
            </a:r>
            <a:endParaRPr lang="en-US" altLang="zh-CN" dirty="0"/>
          </a:p>
          <a:p>
            <a:r>
              <a:rPr lang="en-US" altLang="zh-CN" dirty="0"/>
              <a:t>True</a:t>
            </a:r>
            <a:r>
              <a:rPr lang="zh-CN" altLang="en-US" dirty="0"/>
              <a:t>是永真命题；</a:t>
            </a:r>
            <a:r>
              <a:rPr lang="en-US" altLang="zh-CN" dirty="0"/>
              <a:t>false</a:t>
            </a:r>
            <a:r>
              <a:rPr lang="zh-CN" altLang="en-US" dirty="0"/>
              <a:t>是永假命题。</a:t>
            </a:r>
          </a:p>
          <a:p>
            <a:r>
              <a:rPr lang="en-US" altLang="zh-CN" b="0" dirty="0"/>
              <a:t>Conjunction: </a:t>
            </a:r>
            <a:r>
              <a:rPr lang="zh-CN" altLang="en-US" b="0" dirty="0"/>
              <a:t>合取式，各个部分称为</a:t>
            </a:r>
            <a:r>
              <a:rPr lang="zh-CN" altLang="en-US" b="1" dirty="0"/>
              <a:t>合取</a:t>
            </a:r>
            <a:r>
              <a:rPr lang="zh-CN" altLang="en-US" b="0" dirty="0"/>
              <a:t>子句。</a:t>
            </a:r>
            <a:endParaRPr lang="en-US" altLang="zh-CN" b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0" dirty="0"/>
              <a:t>Disjunction</a:t>
            </a:r>
            <a:r>
              <a:rPr lang="zh-CN" altLang="en-US" b="0" dirty="0"/>
              <a:t>：析取式，各个部分称为</a:t>
            </a:r>
            <a:r>
              <a:rPr lang="zh-CN" altLang="en-US" b="1" dirty="0"/>
              <a:t>析取</a:t>
            </a:r>
            <a:r>
              <a:rPr lang="zh-CN" altLang="en-US" b="0" dirty="0"/>
              <a:t>子句。</a:t>
            </a:r>
            <a:endParaRPr lang="en-US" altLang="zh-CN" b="0" dirty="0"/>
          </a:p>
          <a:p>
            <a:r>
              <a:rPr lang="en-US" altLang="zh-CN" b="0" dirty="0"/>
              <a:t>Implication: </a:t>
            </a:r>
            <a:r>
              <a:rPr lang="zh-CN" altLang="en-US" b="1" dirty="0"/>
              <a:t>蕴含</a:t>
            </a:r>
            <a:r>
              <a:rPr lang="zh-CN" altLang="en-US" b="0" dirty="0"/>
              <a:t>式，</a:t>
            </a:r>
            <a:r>
              <a:rPr lang="zh-CN" altLang="en-US" b="1" dirty="0"/>
              <a:t>前提（前项），结论（后项</a:t>
            </a:r>
            <a:r>
              <a:rPr lang="zh-CN" altLang="en-US" b="0" dirty="0"/>
              <a:t>），或者</a:t>
            </a:r>
            <a:r>
              <a:rPr lang="en-US" altLang="zh-CN" b="0" dirty="0"/>
              <a:t>if then</a:t>
            </a:r>
          </a:p>
          <a:p>
            <a:r>
              <a:rPr lang="en-US" altLang="zh-CN" dirty="0"/>
              <a:t>⇔</a:t>
            </a:r>
            <a:r>
              <a:rPr lang="zh-CN" altLang="en-US" dirty="0"/>
              <a:t>双向蕴含式</a:t>
            </a:r>
            <a:endParaRPr lang="zh-CN" altLang="en-US" b="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1634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/>
                </a:solidFill>
              </a:rPr>
              <a:t>Propositional Logic </a:t>
            </a:r>
            <a:r>
              <a:rPr lang="zh-CN" altLang="en-US" dirty="0">
                <a:solidFill>
                  <a:schemeClr val="tx1"/>
                </a:solidFill>
              </a:rPr>
              <a:t>命题逻辑</a:t>
            </a:r>
            <a:endParaRPr lang="en-US" altLang="zh-CN" dirty="0">
              <a:solidFill>
                <a:schemeClr val="tx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dirty="0">
                <a:ea typeface="MS PGothic" panose="020B0600070205080204" pitchFamily="34" charset="-128"/>
              </a:rPr>
              <a:t>Propositional logic is the simplest logic –  illustrates basic ideas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Syntax</a:t>
            </a:r>
            <a:r>
              <a:rPr lang="zh-CN" altLang="en-US" dirty="0"/>
              <a:t>语法</a:t>
            </a:r>
            <a:endParaRPr lang="en-US" altLang="zh-CN" dirty="0"/>
          </a:p>
          <a:p>
            <a:r>
              <a:rPr lang="en-US" altLang="zh-CN" dirty="0"/>
              <a:t>True</a:t>
            </a:r>
            <a:r>
              <a:rPr lang="zh-CN" altLang="en-US" dirty="0"/>
              <a:t>是永真命题；</a:t>
            </a:r>
            <a:r>
              <a:rPr lang="en-US" altLang="zh-CN" dirty="0"/>
              <a:t>false</a:t>
            </a:r>
            <a:r>
              <a:rPr lang="zh-CN" altLang="en-US" dirty="0"/>
              <a:t>是永假命题。</a:t>
            </a:r>
          </a:p>
          <a:p>
            <a:r>
              <a:rPr lang="en-US" altLang="zh-CN" b="0" dirty="0"/>
              <a:t>Conjunction: </a:t>
            </a:r>
            <a:r>
              <a:rPr lang="zh-CN" altLang="en-US" b="0" dirty="0"/>
              <a:t>合取式，各个部分称为</a:t>
            </a:r>
            <a:r>
              <a:rPr lang="zh-CN" altLang="en-US" b="1" dirty="0"/>
              <a:t>合取</a:t>
            </a:r>
            <a:r>
              <a:rPr lang="zh-CN" altLang="en-US" b="0" dirty="0"/>
              <a:t>子句。</a:t>
            </a:r>
            <a:endParaRPr lang="en-US" altLang="zh-CN" b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0" dirty="0"/>
              <a:t>Disjunction</a:t>
            </a:r>
            <a:r>
              <a:rPr lang="zh-CN" altLang="en-US" b="0" dirty="0"/>
              <a:t>：析取式，各个部分称为</a:t>
            </a:r>
            <a:r>
              <a:rPr lang="zh-CN" altLang="en-US" b="1" dirty="0"/>
              <a:t>析取</a:t>
            </a:r>
            <a:r>
              <a:rPr lang="zh-CN" altLang="en-US" b="0" dirty="0"/>
              <a:t>子句。</a:t>
            </a:r>
            <a:endParaRPr lang="en-US" altLang="zh-CN" b="0" dirty="0"/>
          </a:p>
          <a:p>
            <a:r>
              <a:rPr lang="en-US" altLang="zh-CN" b="0" dirty="0"/>
              <a:t>Implication: </a:t>
            </a:r>
            <a:r>
              <a:rPr lang="zh-CN" altLang="en-US" b="1" dirty="0"/>
              <a:t>蕴含</a:t>
            </a:r>
            <a:r>
              <a:rPr lang="zh-CN" altLang="en-US" b="0" dirty="0"/>
              <a:t>式，</a:t>
            </a:r>
            <a:r>
              <a:rPr lang="zh-CN" altLang="en-US" b="1" dirty="0"/>
              <a:t>前提（前项），结论（后项</a:t>
            </a:r>
            <a:r>
              <a:rPr lang="zh-CN" altLang="en-US" b="0" dirty="0"/>
              <a:t>），或者</a:t>
            </a:r>
            <a:r>
              <a:rPr lang="en-US" altLang="zh-CN" b="0" dirty="0"/>
              <a:t>if then</a:t>
            </a:r>
          </a:p>
          <a:p>
            <a:r>
              <a:rPr lang="en-US" altLang="zh-CN" dirty="0"/>
              <a:t>⇔</a:t>
            </a:r>
            <a:r>
              <a:rPr lang="zh-CN" altLang="en-US" dirty="0"/>
              <a:t>双向蕴含式</a:t>
            </a:r>
            <a:endParaRPr lang="zh-CN" altLang="en-US" b="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806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Semantics</a:t>
            </a:r>
            <a:r>
              <a:rPr lang="zh-CN" altLang="en-US" dirty="0"/>
              <a:t>：语义</a:t>
            </a:r>
            <a:endParaRPr lang="en-US" altLang="zh-CN" dirty="0"/>
          </a:p>
          <a:p>
            <a:r>
              <a:rPr lang="zh-CN" altLang="en-US" dirty="0"/>
              <a:t>语义定义了用于判定特定模型中的语句真值的规则。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每个模型中的</a:t>
            </a:r>
            <a:r>
              <a:rPr lang="en-US" altLang="zh-CN" dirty="0"/>
              <a:t>true</a:t>
            </a:r>
            <a:r>
              <a:rPr lang="zh-CN" altLang="en-US" dirty="0"/>
              <a:t>都为真，</a:t>
            </a:r>
            <a:r>
              <a:rPr lang="en-US" altLang="zh-CN" dirty="0"/>
              <a:t>false</a:t>
            </a:r>
            <a:r>
              <a:rPr lang="zh-CN" altLang="en-US" dirty="0"/>
              <a:t>都为假。</a:t>
            </a:r>
            <a:endParaRPr lang="en-US" altLang="zh-CN" dirty="0"/>
          </a:p>
          <a:p>
            <a:r>
              <a:rPr lang="zh-CN" altLang="en-US" dirty="0"/>
              <a:t>每个命题词的真值必须在模型中直接指定。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498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不太符合人们如果</a:t>
            </a:r>
            <a:r>
              <a:rPr lang="en-US" altLang="zh-CN" dirty="0"/>
              <a:t>P</a:t>
            </a:r>
            <a:r>
              <a:rPr lang="zh-CN" altLang="en-US" dirty="0"/>
              <a:t>那么</a:t>
            </a:r>
            <a:r>
              <a:rPr lang="en-US" altLang="zh-CN" dirty="0"/>
              <a:t>Q</a:t>
            </a:r>
            <a:r>
              <a:rPr lang="zh-CN" altLang="en-US" dirty="0"/>
              <a:t>的直觉理解。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</a:t>
            </a:r>
            <a:r>
              <a:rPr lang="en-US" altLang="zh-CN" baseline="0" dirty="0"/>
              <a:t> </a:t>
            </a:r>
            <a:r>
              <a:rPr lang="zh-CN" altLang="en-US" dirty="0"/>
              <a:t>一方面，命题逻辑不要求</a:t>
            </a:r>
            <a:r>
              <a:rPr lang="en-US" altLang="zh-CN" dirty="0"/>
              <a:t>P</a:t>
            </a:r>
            <a:r>
              <a:rPr lang="zh-CN" altLang="en-US" dirty="0"/>
              <a:t>和</a:t>
            </a:r>
            <a:r>
              <a:rPr lang="en-US" altLang="zh-CN" dirty="0"/>
              <a:t>Q</a:t>
            </a:r>
            <a:r>
              <a:rPr lang="zh-CN" altLang="en-US" dirty="0"/>
              <a:t>之间存在相关性或因果关系。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前提为假的任何蕴含都为真。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该语句为假的唯一条件是，如果</a:t>
            </a:r>
            <a:r>
              <a:rPr lang="en-US" altLang="zh-CN" dirty="0"/>
              <a:t>P</a:t>
            </a:r>
            <a:r>
              <a:rPr lang="zh-CN" altLang="en-US" dirty="0"/>
              <a:t>为真而</a:t>
            </a:r>
            <a:r>
              <a:rPr lang="en-US" altLang="zh-CN" dirty="0"/>
              <a:t>Q</a:t>
            </a:r>
            <a:r>
              <a:rPr lang="zh-CN" altLang="en-US" dirty="0"/>
              <a:t>为假。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P⇒Q  </a:t>
            </a:r>
            <a:r>
              <a:rPr lang="zh-CN" altLang="en-US" dirty="0"/>
              <a:t>看作“如果</a:t>
            </a:r>
            <a:r>
              <a:rPr lang="en-US" altLang="zh-CN" dirty="0"/>
              <a:t>P</a:t>
            </a:r>
            <a:r>
              <a:rPr lang="zh-CN" altLang="en-US" dirty="0"/>
              <a:t>为真，则我主张</a:t>
            </a:r>
            <a:r>
              <a:rPr lang="en-US" altLang="zh-CN" dirty="0"/>
              <a:t>Q</a:t>
            </a:r>
            <a:r>
              <a:rPr lang="zh-CN" altLang="en-US" dirty="0"/>
              <a:t>为真；否则无可奉告”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例子：</a:t>
            </a:r>
            <a:r>
              <a:rPr lang="en-US" altLang="zh-CN" dirty="0"/>
              <a:t>P</a:t>
            </a:r>
            <a:r>
              <a:rPr lang="zh-CN" altLang="en-US" dirty="0"/>
              <a:t>身体健康，</a:t>
            </a:r>
            <a:r>
              <a:rPr lang="en-US" altLang="zh-CN" dirty="0"/>
              <a:t>Q</a:t>
            </a:r>
            <a:r>
              <a:rPr lang="zh-CN" altLang="en-US" dirty="0"/>
              <a:t>上课。健康不上课是不对的。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0142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5568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9671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A simple knowledge base </a:t>
            </a:r>
            <a:r>
              <a:rPr lang="zh-CN" altLang="en-US" dirty="0"/>
              <a:t>一个简单的知识库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2817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板书：如何推导出￢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zh-CN" altLang="en-US" dirty="0"/>
                  <a:t>，即</a:t>
                </a:r>
                <a:r>
                  <a:rPr lang="en-US" altLang="zh-CN" dirty="0"/>
                  <a:t>1,2</a:t>
                </a:r>
                <a:r>
                  <a:rPr lang="zh-CN" altLang="en-US" dirty="0"/>
                  <a:t>处没有洞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语句标注</a:t>
                </a:r>
                <a:r>
                  <a:rPr lang="en-US" altLang="zh-CN" sz="1200" b="0" i="0" u="none" strike="noStrike" kern="1200" baseline="0" dirty="0" err="1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Ri</a:t>
                </a:r>
                <a:endParaRPr lang="en-US" altLang="zh-CN" sz="1200" b="0" i="0" u="none" strike="noStrike" kern="1200" baseline="0" dirty="0">
                  <a:solidFill>
                    <a:schemeClr val="tx1"/>
                  </a:solidFill>
                  <a:latin typeface="Arial" panose="020B0604020202090204" pitchFamily="34" charset="0"/>
                  <a:ea typeface="+mn-ea"/>
                  <a:cs typeface="+mn-cs"/>
                </a:endParaRPr>
              </a:p>
              <a:p>
                <a:endParaRPr lang="en-US" altLang="zh-CN" sz="1200" b="0" i="0" u="none" strike="noStrike" kern="1200" baseline="0" dirty="0">
                  <a:solidFill>
                    <a:schemeClr val="tx1"/>
                  </a:solidFill>
                  <a:latin typeface="Arial" panose="020B0604020202090204" pitchFamily="34" charset="0"/>
                  <a:ea typeface="+mn-ea"/>
                  <a:cs typeface="+mn-cs"/>
                </a:endParaRPr>
              </a:p>
              <a:p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R1,R2,R3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在所有的</a:t>
                </a:r>
                <a:r>
                  <a:rPr lang="en-US" altLang="zh-CN" sz="1200" b="0" i="0" u="none" strike="noStrike" kern="1200" baseline="0" dirty="0" err="1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wumpus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世界中都为真。</a:t>
                </a:r>
                <a:endParaRPr lang="en-US" altLang="zh-CN" sz="1200" b="0" i="0" u="none" strike="noStrike" kern="1200" baseline="0" dirty="0">
                  <a:solidFill>
                    <a:schemeClr val="tx1"/>
                  </a:solidFill>
                  <a:latin typeface="Arial" panose="020B0604020202090204" pitchFamily="34" charset="0"/>
                  <a:ea typeface="+mn-ea"/>
                  <a:cs typeface="+mn-cs"/>
                </a:endParaRPr>
              </a:p>
              <a:p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将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agent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所处的特定世界中的信息包括进来：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R4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，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R5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。</a:t>
                </a:r>
                <a:endParaRPr lang="en-US" altLang="zh-CN" sz="1200" b="0" i="0" u="none" strike="noStrike" kern="1200" baseline="0" dirty="0">
                  <a:solidFill>
                    <a:schemeClr val="tx1"/>
                  </a:solidFill>
                  <a:latin typeface="Arial" panose="020B0604020202090204" pitchFamily="34" charset="0"/>
                  <a:ea typeface="+mn-ea"/>
                  <a:cs typeface="+mn-cs"/>
                </a:endParaRPr>
              </a:p>
              <a:p>
                <a:r>
                  <a:rPr lang="zh-CN" altLang="en-US" sz="1200" b="1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知识库由</a:t>
                </a:r>
                <a:r>
                  <a:rPr lang="en-US" altLang="zh-CN" sz="1200" b="1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r1</a:t>
                </a:r>
                <a:r>
                  <a:rPr lang="zh-CN" altLang="en-US" sz="1200" b="1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到</a:t>
                </a:r>
                <a:r>
                  <a:rPr lang="en-US" altLang="zh-CN" sz="1200" b="1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r5</a:t>
                </a:r>
                <a:r>
                  <a:rPr lang="zh-CN" altLang="en-US" sz="1200" b="1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这些语句组成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。也可以当做单一语句，即合取式：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r1</a:t>
                </a:r>
                <a:r>
                  <a:rPr lang="zh-CN" altLang="en-US" dirty="0"/>
                  <a:t>∧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r2</a:t>
                </a:r>
                <a:r>
                  <a:rPr lang="zh-CN" altLang="en-US" dirty="0"/>
                  <a:t>∧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r3</a:t>
                </a:r>
                <a:r>
                  <a:rPr lang="zh-CN" altLang="en-US" dirty="0"/>
                  <a:t>∧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r4</a:t>
                </a:r>
                <a:r>
                  <a:rPr lang="zh-CN" altLang="en-US" dirty="0"/>
                  <a:t>∧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r5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板书：如何推导出￢</a:t>
                </a:r>
                <a:r>
                  <a:rPr lang="en-US" altLang="zh-CN" b="0" i="0">
                    <a:latin typeface="Cambria Math" panose="02040503050406030204" pitchFamily="18" charset="0"/>
                  </a:rPr>
                  <a:t>𝑃_1,2</a:t>
                </a:r>
                <a:r>
                  <a:rPr lang="zh-CN" altLang="en-US" dirty="0"/>
                  <a:t>，即</a:t>
                </a:r>
                <a:r>
                  <a:rPr lang="en-US" altLang="zh-CN" dirty="0"/>
                  <a:t>1,2</a:t>
                </a:r>
                <a:r>
                  <a:rPr lang="zh-CN" altLang="en-US" dirty="0"/>
                  <a:t>处没有洞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语句标注</a:t>
                </a:r>
                <a:r>
                  <a:rPr lang="en-US" altLang="zh-CN" sz="1200" b="0" i="0" u="none" strike="noStrike" kern="1200" baseline="0" dirty="0" err="1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Ri</a:t>
                </a:r>
                <a:endParaRPr lang="en-US" altLang="zh-CN" sz="1200" b="0" i="0" u="none" strike="noStrike" kern="1200" baseline="0" dirty="0">
                  <a:solidFill>
                    <a:schemeClr val="tx1"/>
                  </a:solidFill>
                  <a:latin typeface="Arial" panose="020B0604020202090204" pitchFamily="34" charset="0"/>
                  <a:ea typeface="+mn-ea"/>
                  <a:cs typeface="+mn-cs"/>
                </a:endParaRPr>
              </a:p>
              <a:p>
                <a:endParaRPr lang="en-US" altLang="zh-CN" sz="1200" b="0" i="0" u="none" strike="noStrike" kern="1200" baseline="0" dirty="0">
                  <a:solidFill>
                    <a:schemeClr val="tx1"/>
                  </a:solidFill>
                  <a:latin typeface="Arial" panose="020B0604020202090204" pitchFamily="34" charset="0"/>
                  <a:ea typeface="+mn-ea"/>
                  <a:cs typeface="+mn-cs"/>
                </a:endParaRPr>
              </a:p>
              <a:p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R1,R2,R3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在所有的</a:t>
                </a:r>
                <a:r>
                  <a:rPr lang="en-US" altLang="zh-CN" sz="1200" b="0" i="0" u="none" strike="noStrike" kern="1200" baseline="0" dirty="0" err="1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wumpus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世界中都为真。</a:t>
                </a:r>
                <a:endParaRPr lang="en-US" altLang="zh-CN" sz="1200" b="0" i="0" u="none" strike="noStrike" kern="1200" baseline="0" dirty="0">
                  <a:solidFill>
                    <a:schemeClr val="tx1"/>
                  </a:solidFill>
                  <a:latin typeface="Arial" panose="020B0604020202090204" pitchFamily="34" charset="0"/>
                  <a:ea typeface="+mn-ea"/>
                  <a:cs typeface="+mn-cs"/>
                </a:endParaRPr>
              </a:p>
              <a:p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将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agent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所处的特定世界中的信息包括进来：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R4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，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R5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。</a:t>
                </a:r>
                <a:endParaRPr lang="en-US" altLang="zh-CN" sz="1200" b="0" i="0" u="none" strike="noStrike" kern="1200" baseline="0" dirty="0">
                  <a:solidFill>
                    <a:schemeClr val="tx1"/>
                  </a:solidFill>
                  <a:latin typeface="Arial" panose="020B0604020202090204" pitchFamily="34" charset="0"/>
                  <a:ea typeface="+mn-ea"/>
                  <a:cs typeface="+mn-cs"/>
                </a:endParaRPr>
              </a:p>
              <a:p>
                <a:r>
                  <a:rPr lang="zh-CN" altLang="en-US" sz="1200" b="1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知识库由</a:t>
                </a:r>
                <a:r>
                  <a:rPr lang="en-US" altLang="zh-CN" sz="1200" b="1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r1</a:t>
                </a:r>
                <a:r>
                  <a:rPr lang="zh-CN" altLang="en-US" sz="1200" b="1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到</a:t>
                </a:r>
                <a:r>
                  <a:rPr lang="en-US" altLang="zh-CN" sz="1200" b="1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r5</a:t>
                </a:r>
                <a:r>
                  <a:rPr lang="zh-CN" altLang="en-US" sz="1200" b="1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这些语句组成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。也可以当做单一语句，即合取式：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r1</a:t>
                </a:r>
                <a:r>
                  <a:rPr lang="zh-CN" altLang="en-US" dirty="0"/>
                  <a:t>∧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r2</a:t>
                </a:r>
                <a:r>
                  <a:rPr lang="zh-CN" altLang="en-US" dirty="0"/>
                  <a:t>∧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r3</a:t>
                </a:r>
                <a:r>
                  <a:rPr lang="zh-CN" altLang="en-US" dirty="0"/>
                  <a:t>∧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r4</a:t>
                </a:r>
                <a:r>
                  <a:rPr lang="zh-CN" altLang="en-US" dirty="0"/>
                  <a:t>∧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r5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6869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第一个推理算法检验模型：枚举出所有模型，检验</a:t>
            </a:r>
            <a:r>
              <a:rPr lang="en-US" altLang="zh-CN" dirty="0"/>
              <a:t>α</a:t>
            </a:r>
            <a:r>
              <a:rPr lang="zh-CN" altLang="en-US" dirty="0"/>
              <a:t>在</a:t>
            </a:r>
            <a:r>
              <a:rPr lang="en-US" altLang="zh-CN" dirty="0"/>
              <a:t>KB</a:t>
            </a:r>
            <a:r>
              <a:rPr lang="zh-CN" altLang="en-US" dirty="0"/>
              <a:t>为真的每个模型种为真。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例如，在</a:t>
            </a:r>
            <a:r>
              <a:rPr lang="en-US" altLang="zh-CN" dirty="0" err="1"/>
              <a:t>wumpus</a:t>
            </a:r>
            <a:r>
              <a:rPr lang="zh-CN" altLang="en-US" dirty="0"/>
              <a:t>世界中，有</a:t>
            </a:r>
            <a:r>
              <a:rPr lang="en-US" altLang="zh-CN" dirty="0"/>
              <a:t>7</a:t>
            </a:r>
            <a:r>
              <a:rPr lang="zh-CN" altLang="en-US" dirty="0"/>
              <a:t>个命题词</a:t>
            </a:r>
            <a:r>
              <a:rPr lang="en-US" altLang="zh-CN" dirty="0"/>
              <a:t>B</a:t>
            </a:r>
            <a:r>
              <a:rPr lang="en-US" altLang="zh-CN" sz="1000" dirty="0"/>
              <a:t>1,1</a:t>
            </a:r>
            <a:r>
              <a:rPr lang="en-US" altLang="zh-CN" dirty="0"/>
              <a:t>, B</a:t>
            </a:r>
            <a:r>
              <a:rPr lang="en-US" altLang="zh-CN" sz="1000" dirty="0"/>
              <a:t>2,1</a:t>
            </a:r>
            <a:r>
              <a:rPr lang="en-US" altLang="zh-CN" dirty="0"/>
              <a:t>, P</a:t>
            </a:r>
            <a:r>
              <a:rPr lang="en-US" altLang="zh-CN" sz="1000" dirty="0"/>
              <a:t>1,1</a:t>
            </a:r>
            <a:r>
              <a:rPr lang="en-US" altLang="zh-CN" dirty="0"/>
              <a:t>, P</a:t>
            </a:r>
            <a:r>
              <a:rPr lang="en-US" altLang="zh-CN" sz="1000" dirty="0"/>
              <a:t>1,2</a:t>
            </a:r>
            <a:r>
              <a:rPr lang="en-US" altLang="zh-CN" dirty="0"/>
              <a:t>, P</a:t>
            </a:r>
            <a:r>
              <a:rPr lang="en-US" altLang="zh-CN" sz="1000" dirty="0"/>
              <a:t>2,1</a:t>
            </a:r>
            <a:r>
              <a:rPr lang="en-US" altLang="zh-CN" dirty="0"/>
              <a:t>, P</a:t>
            </a:r>
            <a:r>
              <a:rPr lang="en-US" altLang="zh-CN" sz="1000" dirty="0"/>
              <a:t>2,2</a:t>
            </a:r>
            <a:r>
              <a:rPr lang="en-US" altLang="zh-CN" dirty="0"/>
              <a:t>, and P</a:t>
            </a:r>
            <a:r>
              <a:rPr lang="en-US" altLang="zh-CN" sz="1000" dirty="0"/>
              <a:t>3,1</a:t>
            </a:r>
            <a:r>
              <a:rPr lang="zh-CN" altLang="en-US" sz="1200" dirty="0"/>
              <a:t>，共有</a:t>
            </a:r>
            <a:r>
              <a:rPr lang="en-US" altLang="zh-CN" sz="1200" dirty="0"/>
              <a:t>2^7=128</a:t>
            </a:r>
            <a:r>
              <a:rPr lang="zh-CN" altLang="en-US" sz="1200" dirty="0"/>
              <a:t>种可能的模型。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7028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B11</a:t>
            </a:r>
            <a:r>
              <a:rPr lang="zh-CN" altLang="en-US" dirty="0"/>
              <a:t>，</a:t>
            </a:r>
            <a:r>
              <a:rPr lang="en-US" altLang="zh-CN" dirty="0"/>
              <a:t>B21</a:t>
            </a:r>
            <a:r>
              <a:rPr lang="zh-CN" altLang="en-US" dirty="0"/>
              <a:t>，</a:t>
            </a:r>
            <a:r>
              <a:rPr lang="en-US" altLang="zh-CN" dirty="0"/>
              <a:t>P11</a:t>
            </a:r>
            <a:r>
              <a:rPr lang="zh-CN" altLang="en-US" dirty="0"/>
              <a:t>，。。。称为符号</a:t>
            </a:r>
            <a:r>
              <a:rPr lang="en-US" altLang="zh-CN" dirty="0"/>
              <a:t>symbol,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个符号组成</a:t>
            </a:r>
            <a:r>
              <a:rPr lang="en-US" altLang="zh-CN" dirty="0"/>
              <a:t>128</a:t>
            </a:r>
            <a:r>
              <a:rPr lang="zh-CN" altLang="en-US" dirty="0"/>
              <a:t>种可能的模型</a:t>
            </a:r>
            <a:r>
              <a:rPr lang="en-US" altLang="zh-CN" dirty="0"/>
              <a:t>model</a:t>
            </a:r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、其中三个模型中，</a:t>
            </a:r>
            <a:r>
              <a:rPr lang="en-US" altLang="zh-CN" dirty="0"/>
              <a:t>KB</a:t>
            </a:r>
            <a:r>
              <a:rPr lang="zh-CN" altLang="en-US" dirty="0"/>
              <a:t>为真。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、这三个模型中，非</a:t>
            </a:r>
            <a:r>
              <a:rPr lang="en-US" altLang="zh-CN" dirty="0"/>
              <a:t>P12</a:t>
            </a:r>
            <a:r>
              <a:rPr lang="zh-CN" altLang="en-US" dirty="0"/>
              <a:t>为真，因此</a:t>
            </a:r>
            <a:r>
              <a:rPr lang="en-US" altLang="zh-CN" dirty="0"/>
              <a:t>[1,2]</a:t>
            </a:r>
            <a:r>
              <a:rPr lang="zh-CN" altLang="en-US" dirty="0"/>
              <a:t>中没有无底洞。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、另一方面，</a:t>
            </a:r>
            <a:r>
              <a:rPr lang="en-US" altLang="zh-CN" dirty="0"/>
              <a:t>P22</a:t>
            </a:r>
            <a:r>
              <a:rPr lang="zh-CN" altLang="en-US" dirty="0"/>
              <a:t>在这三个模型里两个为真，另一个为假，所以无法判断</a:t>
            </a:r>
            <a:r>
              <a:rPr lang="en-US" altLang="zh-CN" dirty="0"/>
              <a:t>[2,2]</a:t>
            </a:r>
            <a:r>
              <a:rPr lang="zh-CN" altLang="en-US" dirty="0"/>
              <a:t>中是否有无底洞。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9459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判断命题逻辑的蕴含的一个通用算法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TT</a:t>
            </a:r>
            <a:r>
              <a:rPr lang="zh-CN" altLang="en-US" dirty="0"/>
              <a:t>：</a:t>
            </a:r>
            <a:r>
              <a:rPr lang="en-US" altLang="zh-CN" dirty="0"/>
              <a:t>truth table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7691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该算法是完备的，可用于任意</a:t>
            </a:r>
            <a:r>
              <a:rPr lang="en-US" altLang="zh-CN" dirty="0"/>
              <a:t>kb</a:t>
            </a:r>
            <a:r>
              <a:rPr lang="zh-CN" altLang="en-US" dirty="0"/>
              <a:t>和</a:t>
            </a:r>
            <a:r>
              <a:rPr lang="en-US" altLang="zh-CN" dirty="0"/>
              <a:t>alpha</a:t>
            </a:r>
            <a:r>
              <a:rPr lang="zh-CN" altLang="en-US" dirty="0"/>
              <a:t>，且总能终止。因为存在有限多个需要检验的模型。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5567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solidFill>
                      <a:schemeClr val="tx1"/>
                    </a:solidFill>
                  </a:rPr>
                  <a:t>命题逻辑定理证明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弧相容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对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</a:t>
                </a:r>
                <a:r>
                  <a:rPr lang="en-US" altLang="zh-CN" sz="1200" i="0" dirty="0">
                    <a:latin typeface="Cambria Math" panose="02040503050406030204" pitchFamily="18" charset="0"/>
                  </a:rPr>
                  <a:t>𝑖</a:t>
                </a:r>
                <a:r>
                  <a:rPr lang="en-US" altLang="zh-CN" sz="1200" dirty="0"/>
                  <a:t> </a:t>
                </a:r>
                <a:r>
                  <a:rPr lang="zh-CN" altLang="en-US" sz="1200" dirty="0"/>
                  <a:t>中的每一个值，都存在一些数值满足二元约束。</a:t>
                </a:r>
                <a:endParaRPr lang="en-US" altLang="zh-CN" sz="1200" dirty="0"/>
              </a:p>
              <a:p>
                <a:r>
                  <a:rPr lang="en-US" altLang="zh-CN" sz="1200" dirty="0"/>
                  <a:t>Y=x^2; &lt;(</a:t>
                </a:r>
                <a:r>
                  <a:rPr lang="en-US" altLang="zh-CN" sz="1200" dirty="0" err="1"/>
                  <a:t>x,y</a:t>
                </a:r>
                <a:r>
                  <a:rPr lang="en-US" altLang="zh-CN" sz="1200" dirty="0"/>
                  <a:t>),{(0,0),(1,1),(2,4),(3,9)}&gt;, </a:t>
                </a:r>
                <a:r>
                  <a:rPr lang="en-US" altLang="zh-CN" sz="1200" dirty="0" err="1"/>
                  <a:t>Dx</a:t>
                </a:r>
                <a:r>
                  <a:rPr lang="en-US" altLang="zh-CN" sz="1200" dirty="0"/>
                  <a:t>={0,1,2,3},</a:t>
                </a:r>
                <a:r>
                  <a:rPr lang="en-US" altLang="zh-CN" sz="1200" dirty="0" err="1"/>
                  <a:t>Dy</a:t>
                </a:r>
                <a:r>
                  <a:rPr lang="en-US" altLang="zh-CN" sz="1200" dirty="0"/>
                  <a:t>={0,1,4,9}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AC-3</a:t>
                </a:r>
                <a:r>
                  <a:rPr lang="zh-CN" altLang="en-US" dirty="0"/>
                  <a:t>的发明人，</a:t>
                </a:r>
                <a:r>
                  <a:rPr lang="en-US" altLang="zh-CN" dirty="0" err="1"/>
                  <a:t>Mackworth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1977</a:t>
                </a:r>
                <a:r>
                  <a:rPr lang="zh-CN" altLang="en-US" dirty="0"/>
                  <a:t>，提出了三个版本，在其论文里第三个版本，被命名为</a:t>
                </a:r>
                <a:r>
                  <a:rPr lang="en-US" altLang="zh-CN" dirty="0"/>
                  <a:t>AC3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6235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上一节，我们通过枚举模型，来验证语句在所有模型中的真假。</a:t>
                </a:r>
                <a:endParaRPr lang="en-US" altLang="zh-CN" dirty="0"/>
              </a:p>
              <a:p>
                <a:r>
                  <a:rPr lang="zh-CN" altLang="en-US" dirty="0"/>
                  <a:t>这节，我们通过定理证明来判断蕴含：在知识库的语句上直接应用推理规则以构建目标语句的证明，而无需关注模型。</a:t>
                </a:r>
                <a:endParaRPr lang="en-US" altLang="zh-CN" dirty="0"/>
              </a:p>
              <a:p>
                <a:r>
                  <a:rPr lang="zh-CN" altLang="en-US" dirty="0"/>
                  <a:t>如果模型数目庞大，则定理证明比模型检验更有效。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与蕴含相关的附加概念：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1. </a:t>
                </a:r>
                <a:r>
                  <a:rPr lang="zh-CN" altLang="en-US" b="1" dirty="0"/>
                  <a:t>逻辑等价</a:t>
                </a:r>
                <a:r>
                  <a:rPr lang="zh-CN" altLang="en-US" dirty="0"/>
                  <a:t>：如果两语句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在同样的模型集合中为真，则他们是逻辑等价的。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。比如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且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且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是等价的。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2. </a:t>
                </a:r>
                <a:r>
                  <a:rPr lang="zh-CN" altLang="en-US" b="1" dirty="0"/>
                  <a:t>有效性</a:t>
                </a:r>
                <a:r>
                  <a:rPr lang="zh-CN" altLang="en-US" dirty="0"/>
                  <a:t>：一个语句是有效的，如果在</a:t>
                </a:r>
                <a:r>
                  <a:rPr lang="zh-CN" altLang="en-US" b="1" dirty="0"/>
                  <a:t>所有模型中都为真</a:t>
                </a:r>
                <a:r>
                  <a:rPr lang="zh-CN" altLang="en-US" dirty="0"/>
                  <a:t>。例如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￢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i="1" dirty="0">
                    <a:latin typeface="Cambria Math" panose="02040503050406030204" pitchFamily="18" charset="0"/>
                  </a:rPr>
                  <a:t>。</a:t>
                </a:r>
                <a:endParaRPr lang="en-US" altLang="zh-CN" dirty="0"/>
              </a:p>
              <a:p>
                <a:r>
                  <a:rPr lang="en-US" altLang="zh-CN" dirty="0"/>
                  <a:t>3. </a:t>
                </a:r>
                <a:r>
                  <a:rPr lang="zh-CN" altLang="en-US" b="1" dirty="0"/>
                  <a:t>可满足性</a:t>
                </a:r>
                <a:r>
                  <a:rPr lang="zh-CN" altLang="en-US" dirty="0"/>
                  <a:t>：如果一个语句在</a:t>
                </a:r>
                <a:r>
                  <a:rPr lang="zh-CN" altLang="en-US" b="1" dirty="0"/>
                  <a:t>某些模型中为真</a:t>
                </a:r>
                <a:r>
                  <a:rPr lang="zh-CN" altLang="en-US" dirty="0"/>
                  <a:t>，那么这句子是可满足的。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/>
                <a:r>
                  <a:rPr lang="en-US" altLang="zh-CN" dirty="0"/>
                  <a:t>If revise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𝐷_𝑖</a:t>
                </a:r>
                <a:r>
                  <a:rPr lang="en-US" altLang="zh-CN" sz="1400" dirty="0"/>
                  <a:t>, </a:t>
                </a:r>
                <a:r>
                  <a:rPr lang="en-US" altLang="zh-CN" dirty="0"/>
                  <a:t>we add all arcs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(𝑋_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𝑘,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  )</a:t>
                </a:r>
                <a:r>
                  <a:rPr lang="en-US" altLang="zh-CN" dirty="0"/>
                  <a:t> where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𝑋_𝑘</a:t>
                </a:r>
                <a:r>
                  <a:rPr lang="en-US" altLang="zh-CN" sz="1400" dirty="0"/>
                  <a:t> </a:t>
                </a:r>
                <a:r>
                  <a:rPr lang="en-US" altLang="zh-CN" dirty="0"/>
                  <a:t>is a neighbor of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  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We need to do that because the change in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𝐷_𝑖</a:t>
                </a:r>
                <a:r>
                  <a:rPr lang="en-US" altLang="zh-CN" sz="1400" dirty="0"/>
                  <a:t> </a:t>
                </a:r>
                <a:r>
                  <a:rPr lang="en-US" altLang="zh-CN" dirty="0"/>
                  <a:t>might enable further reductions in the domains of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𝐷_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𝑘</a:t>
                </a:r>
                <a:endParaRPr lang="en-US" altLang="zh-CN" b="0" dirty="0"/>
              </a:p>
              <a:p>
                <a:pPr lvl="1"/>
                <a:r>
                  <a:rPr lang="zh-CN" altLang="en-US" dirty="0"/>
                  <a:t>如果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𝐷_𝑖</a:t>
                </a:r>
                <a:r>
                  <a:rPr lang="zh-CN" altLang="en-US" dirty="0"/>
                  <a:t>发生变化（变小），那么每个指向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</a:t>
                </a:r>
                <a:r>
                  <a:rPr lang="zh-CN" altLang="en-US" dirty="0"/>
                  <a:t>的弧都必须重新插入队列中检验。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1</a:t>
                </a:r>
                <a:r>
                  <a:rPr lang="zh-CN" altLang="en-US" dirty="0"/>
                  <a:t>，初始，用队列包含所有弧</a:t>
                </a:r>
                <a:endParaRPr lang="en-US" altLang="zh-CN" dirty="0"/>
              </a:p>
              <a:p>
                <a:r>
                  <a:rPr lang="en-US" altLang="zh-CN" dirty="0"/>
                  <a:t>2</a:t>
                </a:r>
                <a:r>
                  <a:rPr lang="zh-CN" altLang="en-US" dirty="0"/>
                  <a:t>，从队列中弹出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(𝑋_𝑖</a:t>
                </a:r>
                <a:r>
                  <a:rPr lang="en-US" altLang="zh-CN" i="0" dirty="0" err="1">
                    <a:latin typeface="Cambria Math" panose="02040503050406030204" pitchFamily="18" charset="0"/>
                  </a:rPr>
                  <a:t>,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𝑋_𝑗 )</a:t>
                </a:r>
                <a:r>
                  <a:rPr lang="zh-CN" altLang="en-US" dirty="0"/>
                  <a:t>，确认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</a:t>
                </a:r>
                <a:r>
                  <a:rPr lang="zh-CN" altLang="en-US" dirty="0"/>
                  <a:t>和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𝑋_𝑗</a:t>
                </a:r>
                <a:r>
                  <a:rPr lang="zh-CN" altLang="en-US" dirty="0"/>
                  <a:t>弧相容</a:t>
                </a:r>
                <a:endParaRPr lang="en-US" altLang="zh-CN" dirty="0"/>
              </a:p>
              <a:p>
                <a:r>
                  <a:rPr lang="en-US" altLang="zh-CN" dirty="0"/>
                  <a:t>3</a:t>
                </a:r>
                <a:r>
                  <a:rPr lang="zh-CN" altLang="en-US" dirty="0"/>
                  <a:t>，如果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〖 𝐷〗_𝑖</a:t>
                </a:r>
                <a:r>
                  <a:rPr lang="zh-CN" altLang="en-US" i="0" dirty="0">
                    <a:latin typeface="Cambria Math" panose="02040503050406030204" pitchFamily="18" charset="0"/>
                  </a:rPr>
                  <a:t> 没变</a:t>
                </a:r>
                <a:r>
                  <a:rPr lang="zh-CN" altLang="en-US" dirty="0"/>
                  <a:t>，则处理下一条弧</a:t>
                </a:r>
                <a:endParaRPr lang="en-US" altLang="zh-CN" dirty="0"/>
              </a:p>
              <a:p>
                <a:r>
                  <a:rPr lang="en-US" altLang="zh-CN" dirty="0"/>
                  <a:t>4</a:t>
                </a:r>
                <a:r>
                  <a:rPr lang="zh-CN" altLang="en-US" dirty="0"/>
                  <a:t>，如果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〖 𝐷〗_𝑖</a:t>
                </a:r>
                <a:r>
                  <a:rPr lang="zh-CN" altLang="en-US" i="0" dirty="0">
                    <a:latin typeface="Cambria Math" panose="02040503050406030204" pitchFamily="18" charset="0"/>
                  </a:rPr>
                  <a:t> 改变</a:t>
                </a:r>
                <a:r>
                  <a:rPr lang="zh-CN" altLang="en-US" dirty="0"/>
                  <a:t>，则将所有指向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</a:t>
                </a:r>
                <a:r>
                  <a:rPr lang="zh-CN" altLang="en-US" dirty="0"/>
                  <a:t>的弧进队列，这里的改变是指删除一个值</a:t>
                </a:r>
                <a:endParaRPr lang="en-US" altLang="zh-CN" dirty="0"/>
              </a:p>
              <a:p>
                <a:r>
                  <a:rPr lang="en-US" altLang="zh-CN" dirty="0"/>
                  <a:t>5</a:t>
                </a:r>
                <a:r>
                  <a:rPr lang="zh-CN" altLang="en-US" dirty="0"/>
                  <a:t>，如果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𝐷_𝑖</a:t>
                </a:r>
                <a:r>
                  <a:rPr lang="zh-CN" altLang="en-US" dirty="0"/>
                  <a:t>为空，则失败。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4052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上一节，我们通过枚举模型，来验证语句在所有模型中的真假。</a:t>
                </a:r>
                <a:endParaRPr lang="en-US" altLang="zh-CN" dirty="0"/>
              </a:p>
              <a:p>
                <a:r>
                  <a:rPr lang="zh-CN" altLang="en-US" dirty="0"/>
                  <a:t>这节，我们通过定理证明来判断蕴含：在知识库的语句上直接应用推理规则以构建目标语句的证明，而无需关注模型。</a:t>
                </a:r>
                <a:endParaRPr lang="en-US" altLang="zh-CN" dirty="0"/>
              </a:p>
              <a:p>
                <a:r>
                  <a:rPr lang="zh-CN" altLang="en-US" dirty="0"/>
                  <a:t>如果模型数目庞大，则定理证明比模型检验更有效。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与蕴含相关的附加概念：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1. </a:t>
                </a:r>
                <a:r>
                  <a:rPr lang="zh-CN" altLang="en-US" b="1" dirty="0"/>
                  <a:t>逻辑等价</a:t>
                </a:r>
                <a:r>
                  <a:rPr lang="zh-CN" altLang="en-US" dirty="0"/>
                  <a:t>：如果两语句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在同样的模型集合中为真，则他们是逻辑等价的。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。比如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且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且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是等价的。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2. </a:t>
                </a:r>
                <a:r>
                  <a:rPr lang="zh-CN" altLang="en-US" b="1" dirty="0"/>
                  <a:t>有效性</a:t>
                </a:r>
                <a:r>
                  <a:rPr lang="zh-CN" altLang="en-US" dirty="0"/>
                  <a:t>：一个语句是有效的，如果在</a:t>
                </a:r>
                <a:r>
                  <a:rPr lang="zh-CN" altLang="en-US" b="1" dirty="0"/>
                  <a:t>所有模型中都为真</a:t>
                </a:r>
                <a:r>
                  <a:rPr lang="zh-CN" altLang="en-US" dirty="0"/>
                  <a:t>。例如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￢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i="1" dirty="0">
                    <a:latin typeface="Cambria Math" panose="02040503050406030204" pitchFamily="18" charset="0"/>
                  </a:rPr>
                  <a:t>。</a:t>
                </a:r>
                <a:endParaRPr lang="en-US" altLang="zh-CN" dirty="0"/>
              </a:p>
              <a:p>
                <a:r>
                  <a:rPr lang="en-US" altLang="zh-CN" dirty="0"/>
                  <a:t>3. </a:t>
                </a:r>
                <a:r>
                  <a:rPr lang="zh-CN" altLang="en-US" b="1" dirty="0"/>
                  <a:t>可满足性</a:t>
                </a:r>
                <a:r>
                  <a:rPr lang="zh-CN" altLang="en-US" dirty="0"/>
                  <a:t>：如果一个语句在</a:t>
                </a:r>
                <a:r>
                  <a:rPr lang="zh-CN" altLang="en-US" b="1" dirty="0"/>
                  <a:t>某些模型中为真</a:t>
                </a:r>
                <a:r>
                  <a:rPr lang="zh-CN" altLang="en-US" dirty="0"/>
                  <a:t>，那么这句子是可满足的。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/>
                <a:r>
                  <a:rPr lang="en-US" altLang="zh-CN" dirty="0"/>
                  <a:t>If revise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𝐷_𝑖</a:t>
                </a:r>
                <a:r>
                  <a:rPr lang="en-US" altLang="zh-CN" sz="1400" dirty="0"/>
                  <a:t>, </a:t>
                </a:r>
                <a:r>
                  <a:rPr lang="en-US" altLang="zh-CN" dirty="0"/>
                  <a:t>we add all arcs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(𝑋_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𝑘,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  )</a:t>
                </a:r>
                <a:r>
                  <a:rPr lang="en-US" altLang="zh-CN" dirty="0"/>
                  <a:t> where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𝑋_𝑘</a:t>
                </a:r>
                <a:r>
                  <a:rPr lang="en-US" altLang="zh-CN" sz="1400" dirty="0"/>
                  <a:t> </a:t>
                </a:r>
                <a:r>
                  <a:rPr lang="en-US" altLang="zh-CN" dirty="0"/>
                  <a:t>is a neighbor of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  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We need to do that because the change in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𝐷_𝑖</a:t>
                </a:r>
                <a:r>
                  <a:rPr lang="en-US" altLang="zh-CN" sz="1400" dirty="0"/>
                  <a:t> </a:t>
                </a:r>
                <a:r>
                  <a:rPr lang="en-US" altLang="zh-CN" dirty="0"/>
                  <a:t>might enable further reductions in the domains of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𝐷_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𝑘</a:t>
                </a:r>
                <a:endParaRPr lang="en-US" altLang="zh-CN" b="0" dirty="0"/>
              </a:p>
              <a:p>
                <a:pPr lvl="1"/>
                <a:r>
                  <a:rPr lang="zh-CN" altLang="en-US" dirty="0"/>
                  <a:t>如果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𝐷_𝑖</a:t>
                </a:r>
                <a:r>
                  <a:rPr lang="zh-CN" altLang="en-US" dirty="0"/>
                  <a:t>发生变化（变小），那么每个指向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</a:t>
                </a:r>
                <a:r>
                  <a:rPr lang="zh-CN" altLang="en-US" dirty="0"/>
                  <a:t>的弧都必须重新插入队列中检验。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1</a:t>
                </a:r>
                <a:r>
                  <a:rPr lang="zh-CN" altLang="en-US" dirty="0"/>
                  <a:t>，初始，用队列包含所有弧</a:t>
                </a:r>
                <a:endParaRPr lang="en-US" altLang="zh-CN" dirty="0"/>
              </a:p>
              <a:p>
                <a:r>
                  <a:rPr lang="en-US" altLang="zh-CN" dirty="0"/>
                  <a:t>2</a:t>
                </a:r>
                <a:r>
                  <a:rPr lang="zh-CN" altLang="en-US" dirty="0"/>
                  <a:t>，从队列中弹出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(𝑋_𝑖</a:t>
                </a:r>
                <a:r>
                  <a:rPr lang="en-US" altLang="zh-CN" i="0" dirty="0" err="1">
                    <a:latin typeface="Cambria Math" panose="02040503050406030204" pitchFamily="18" charset="0"/>
                  </a:rPr>
                  <a:t>,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𝑋_𝑗 )</a:t>
                </a:r>
                <a:r>
                  <a:rPr lang="zh-CN" altLang="en-US" dirty="0"/>
                  <a:t>，确认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</a:t>
                </a:r>
                <a:r>
                  <a:rPr lang="zh-CN" altLang="en-US" dirty="0"/>
                  <a:t>和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𝑋_𝑗</a:t>
                </a:r>
                <a:r>
                  <a:rPr lang="zh-CN" altLang="en-US" dirty="0"/>
                  <a:t>弧相容</a:t>
                </a:r>
                <a:endParaRPr lang="en-US" altLang="zh-CN" dirty="0"/>
              </a:p>
              <a:p>
                <a:r>
                  <a:rPr lang="en-US" altLang="zh-CN" dirty="0"/>
                  <a:t>3</a:t>
                </a:r>
                <a:r>
                  <a:rPr lang="zh-CN" altLang="en-US" dirty="0"/>
                  <a:t>，如果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〖 𝐷〗_𝑖</a:t>
                </a:r>
                <a:r>
                  <a:rPr lang="zh-CN" altLang="en-US" i="0" dirty="0">
                    <a:latin typeface="Cambria Math" panose="02040503050406030204" pitchFamily="18" charset="0"/>
                  </a:rPr>
                  <a:t> 没变</a:t>
                </a:r>
                <a:r>
                  <a:rPr lang="zh-CN" altLang="en-US" dirty="0"/>
                  <a:t>，则处理下一条弧</a:t>
                </a:r>
                <a:endParaRPr lang="en-US" altLang="zh-CN" dirty="0"/>
              </a:p>
              <a:p>
                <a:r>
                  <a:rPr lang="en-US" altLang="zh-CN" dirty="0"/>
                  <a:t>4</a:t>
                </a:r>
                <a:r>
                  <a:rPr lang="zh-CN" altLang="en-US" dirty="0"/>
                  <a:t>，如果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〖 𝐷〗_𝑖</a:t>
                </a:r>
                <a:r>
                  <a:rPr lang="zh-CN" altLang="en-US" i="0" dirty="0">
                    <a:latin typeface="Cambria Math" panose="02040503050406030204" pitchFamily="18" charset="0"/>
                  </a:rPr>
                  <a:t> 改变</a:t>
                </a:r>
                <a:r>
                  <a:rPr lang="zh-CN" altLang="en-US" dirty="0"/>
                  <a:t>，则将所有指向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</a:t>
                </a:r>
                <a:r>
                  <a:rPr lang="zh-CN" altLang="en-US" dirty="0"/>
                  <a:t>的弧进队列，这里的改变是指删除一个值</a:t>
                </a:r>
                <a:endParaRPr lang="en-US" altLang="zh-CN" dirty="0"/>
              </a:p>
              <a:p>
                <a:r>
                  <a:rPr lang="en-US" altLang="zh-CN" dirty="0"/>
                  <a:t>5</a:t>
                </a:r>
                <a:r>
                  <a:rPr lang="zh-CN" altLang="en-US" dirty="0"/>
                  <a:t>，如果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𝐷_𝑖</a:t>
                </a:r>
                <a:r>
                  <a:rPr lang="zh-CN" altLang="en-US" dirty="0"/>
                  <a:t>为空，则失败。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1542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Contraposition </a:t>
            </a:r>
            <a:r>
              <a:rPr lang="zh-CN" altLang="en-US" dirty="0"/>
              <a:t>反证法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6155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上一节，我们通过枚举模型，来验证语句在所有模型中的真假。</a:t>
                </a:r>
                <a:endParaRPr lang="en-US" altLang="zh-CN" dirty="0"/>
              </a:p>
              <a:p>
                <a:r>
                  <a:rPr lang="zh-CN" altLang="en-US" dirty="0"/>
                  <a:t>这节，我们通过定理证明来判断蕴含：在知识库的语句上直接应用推理规则以构建目标语句的证明，而无需关注模型。</a:t>
                </a:r>
                <a:endParaRPr lang="en-US" altLang="zh-CN" dirty="0"/>
              </a:p>
              <a:p>
                <a:r>
                  <a:rPr lang="zh-CN" altLang="en-US" dirty="0"/>
                  <a:t>如果模型数目庞大，则定理证明比模型检验更有效。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与蕴含相关的附加概念：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1. </a:t>
                </a:r>
                <a:r>
                  <a:rPr lang="zh-CN" altLang="en-US" b="1" dirty="0"/>
                  <a:t>逻辑等价</a:t>
                </a:r>
                <a:r>
                  <a:rPr lang="zh-CN" altLang="en-US" dirty="0"/>
                  <a:t>：如果两语句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在同样的模型集合中为真，则他们是逻辑等价的。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。比如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且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且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是等价的。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2. </a:t>
                </a:r>
                <a:r>
                  <a:rPr lang="zh-CN" altLang="en-US" b="1" dirty="0"/>
                  <a:t>有效性</a:t>
                </a:r>
                <a:r>
                  <a:rPr lang="zh-CN" altLang="en-US" dirty="0"/>
                  <a:t>：一个语句是有效的，如果在</a:t>
                </a:r>
                <a:r>
                  <a:rPr lang="zh-CN" altLang="en-US" b="1" dirty="0"/>
                  <a:t>所有模型中都为真</a:t>
                </a:r>
                <a:r>
                  <a:rPr lang="zh-CN" altLang="en-US" dirty="0"/>
                  <a:t>。例如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￢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i="1" dirty="0">
                    <a:latin typeface="Cambria Math" panose="02040503050406030204" pitchFamily="18" charset="0"/>
                  </a:rPr>
                  <a:t>。</a:t>
                </a:r>
                <a:endParaRPr lang="en-US" altLang="zh-CN" dirty="0"/>
              </a:p>
              <a:p>
                <a:r>
                  <a:rPr lang="en-US" altLang="zh-CN" dirty="0"/>
                  <a:t>3. </a:t>
                </a:r>
                <a:r>
                  <a:rPr lang="zh-CN" altLang="en-US" b="1" dirty="0"/>
                  <a:t>可满足性</a:t>
                </a:r>
                <a:r>
                  <a:rPr lang="zh-CN" altLang="en-US" dirty="0"/>
                  <a:t>：如果一个语句在</a:t>
                </a:r>
                <a:r>
                  <a:rPr lang="zh-CN" altLang="en-US" b="1" dirty="0"/>
                  <a:t>某些模型中为真</a:t>
                </a:r>
                <a:r>
                  <a:rPr lang="zh-CN" altLang="en-US" dirty="0"/>
                  <a:t>，那么这句子是可满足的。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/>
                <a:r>
                  <a:rPr lang="en-US" altLang="zh-CN" dirty="0"/>
                  <a:t>If revise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𝐷_𝑖</a:t>
                </a:r>
                <a:r>
                  <a:rPr lang="en-US" altLang="zh-CN" sz="1400" dirty="0"/>
                  <a:t>, </a:t>
                </a:r>
                <a:r>
                  <a:rPr lang="en-US" altLang="zh-CN" dirty="0"/>
                  <a:t>we add all arcs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(𝑋_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𝑘,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  )</a:t>
                </a:r>
                <a:r>
                  <a:rPr lang="en-US" altLang="zh-CN" dirty="0"/>
                  <a:t> where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𝑋_𝑘</a:t>
                </a:r>
                <a:r>
                  <a:rPr lang="en-US" altLang="zh-CN" sz="1400" dirty="0"/>
                  <a:t> </a:t>
                </a:r>
                <a:r>
                  <a:rPr lang="en-US" altLang="zh-CN" dirty="0"/>
                  <a:t>is a neighbor of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  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We need to do that because the change in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𝐷_𝑖</a:t>
                </a:r>
                <a:r>
                  <a:rPr lang="en-US" altLang="zh-CN" sz="1400" dirty="0"/>
                  <a:t> </a:t>
                </a:r>
                <a:r>
                  <a:rPr lang="en-US" altLang="zh-CN" dirty="0"/>
                  <a:t>might enable further reductions in the domains of 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𝐷_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𝑘</a:t>
                </a:r>
                <a:endParaRPr lang="en-US" altLang="zh-CN" b="0" dirty="0"/>
              </a:p>
              <a:p>
                <a:pPr lvl="1"/>
                <a:r>
                  <a:rPr lang="zh-CN" altLang="en-US" dirty="0"/>
                  <a:t>如果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𝐷_𝑖</a:t>
                </a:r>
                <a:r>
                  <a:rPr lang="zh-CN" altLang="en-US" dirty="0"/>
                  <a:t>发生变化（变小），那么每个指向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</a:t>
                </a:r>
                <a:r>
                  <a:rPr lang="zh-CN" altLang="en-US" dirty="0"/>
                  <a:t>的弧都必须重新插入队列中检验。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1</a:t>
                </a:r>
                <a:r>
                  <a:rPr lang="zh-CN" altLang="en-US" dirty="0"/>
                  <a:t>，初始，用队列包含所有弧</a:t>
                </a:r>
                <a:endParaRPr lang="en-US" altLang="zh-CN" dirty="0"/>
              </a:p>
              <a:p>
                <a:r>
                  <a:rPr lang="en-US" altLang="zh-CN" dirty="0"/>
                  <a:t>2</a:t>
                </a:r>
                <a:r>
                  <a:rPr lang="zh-CN" altLang="en-US" dirty="0"/>
                  <a:t>，从队列中弹出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(𝑋_𝑖</a:t>
                </a:r>
                <a:r>
                  <a:rPr lang="en-US" altLang="zh-CN" i="0" dirty="0" err="1">
                    <a:latin typeface="Cambria Math" panose="02040503050406030204" pitchFamily="18" charset="0"/>
                  </a:rPr>
                  <a:t>,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𝑋_𝑗 )</a:t>
                </a:r>
                <a:r>
                  <a:rPr lang="zh-CN" altLang="en-US" dirty="0"/>
                  <a:t>，确认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</a:t>
                </a:r>
                <a:r>
                  <a:rPr lang="zh-CN" altLang="en-US" dirty="0"/>
                  <a:t>和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𝑋_𝑗</a:t>
                </a:r>
                <a:r>
                  <a:rPr lang="zh-CN" altLang="en-US" dirty="0"/>
                  <a:t>弧相容</a:t>
                </a:r>
                <a:endParaRPr lang="en-US" altLang="zh-CN" dirty="0"/>
              </a:p>
              <a:p>
                <a:r>
                  <a:rPr lang="en-US" altLang="zh-CN" dirty="0"/>
                  <a:t>3</a:t>
                </a:r>
                <a:r>
                  <a:rPr lang="zh-CN" altLang="en-US" dirty="0"/>
                  <a:t>，如果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〖 𝐷〗_𝑖</a:t>
                </a:r>
                <a:r>
                  <a:rPr lang="zh-CN" altLang="en-US" i="0" dirty="0">
                    <a:latin typeface="Cambria Math" panose="02040503050406030204" pitchFamily="18" charset="0"/>
                  </a:rPr>
                  <a:t> 没变</a:t>
                </a:r>
                <a:r>
                  <a:rPr lang="zh-CN" altLang="en-US" dirty="0"/>
                  <a:t>，则处理下一条弧</a:t>
                </a:r>
                <a:endParaRPr lang="en-US" altLang="zh-CN" dirty="0"/>
              </a:p>
              <a:p>
                <a:r>
                  <a:rPr lang="en-US" altLang="zh-CN" dirty="0"/>
                  <a:t>4</a:t>
                </a:r>
                <a:r>
                  <a:rPr lang="zh-CN" altLang="en-US" dirty="0"/>
                  <a:t>，如果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〖 𝐷〗_𝑖</a:t>
                </a:r>
                <a:r>
                  <a:rPr lang="zh-CN" altLang="en-US" i="0" dirty="0">
                    <a:latin typeface="Cambria Math" panose="02040503050406030204" pitchFamily="18" charset="0"/>
                  </a:rPr>
                  <a:t> 改变</a:t>
                </a:r>
                <a:r>
                  <a:rPr lang="zh-CN" altLang="en-US" dirty="0"/>
                  <a:t>，则将所有指向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</a:t>
                </a:r>
                <a:r>
                  <a:rPr lang="zh-CN" altLang="en-US" dirty="0"/>
                  <a:t>的弧进队列，这里的改变是指删除一个值</a:t>
                </a:r>
                <a:endParaRPr lang="en-US" altLang="zh-CN" dirty="0"/>
              </a:p>
              <a:p>
                <a:r>
                  <a:rPr lang="en-US" altLang="zh-CN" dirty="0"/>
                  <a:t>5</a:t>
                </a:r>
                <a:r>
                  <a:rPr lang="zh-CN" altLang="en-US" dirty="0"/>
                  <a:t>，如果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𝐷_𝑖</a:t>
                </a:r>
                <a:r>
                  <a:rPr lang="zh-CN" altLang="en-US" dirty="0"/>
                  <a:t>为空，则失败。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4148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本章讨论应用推理规则得到一个证明，即一系列结论直到目标语句。</a:t>
                </a:r>
                <a:r>
                  <a:rPr lang="zh-CN" altLang="en-US" b="1" dirty="0"/>
                  <a:t>上下的形式表示“推导出”。</a:t>
                </a:r>
                <a:endParaRPr lang="en-US" altLang="zh-CN" b="1" dirty="0"/>
              </a:p>
              <a:p>
                <a:endParaRPr lang="en-US" altLang="zh-CN" dirty="0"/>
              </a:p>
              <a:p>
                <a:r>
                  <a:rPr lang="zh-CN" altLang="en-US" b="1" dirty="0"/>
                  <a:t>板书举例：</a:t>
                </a:r>
                <a:endParaRPr lang="en-US" altLang="zh-CN" b="1" dirty="0"/>
              </a:p>
              <a:p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b="1" dirty="0"/>
                  <a:t>Modus Ponens</a:t>
                </a:r>
                <a:r>
                  <a:rPr lang="zh-CN" altLang="en-US" b="1" dirty="0"/>
                  <a:t>（拉丁文）</a:t>
                </a:r>
                <a:r>
                  <a:rPr lang="zh-CN" altLang="en-US" b="0" baseline="0" dirty="0"/>
                  <a:t> 假言推理规则。已知任何形式的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zh-CN" altLang="en-US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zh-CN" altLang="en-US" dirty="0"/>
                  <a:t>语句，就可以推导出语句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学习好</a:t>
                </a:r>
                <a:r>
                  <a:rPr lang="en-US" altLang="zh-CN" dirty="0"/>
                  <a:t>⇒ </a:t>
                </a:r>
                <a:r>
                  <a:rPr lang="zh-CN" altLang="en-US" dirty="0"/>
                  <a:t>成绩高</a:t>
                </a:r>
                <a:r>
                  <a:rPr lang="en-US" altLang="zh-CN" dirty="0"/>
                  <a:t>, and </a:t>
                </a:r>
                <a:r>
                  <a:rPr lang="zh-CN" altLang="en-US" dirty="0"/>
                  <a:t>学习好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得到：成绩高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And-Elimination </a:t>
                </a:r>
                <a:r>
                  <a:rPr lang="zh-CN" altLang="en-US" b="1" dirty="0"/>
                  <a:t>消去合取词</a:t>
                </a:r>
                <a:r>
                  <a:rPr lang="zh-CN" altLang="en-US" dirty="0"/>
                  <a:t>：即从合取式中推导出任何子句。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(</a:t>
                </a:r>
                <a:r>
                  <a:rPr lang="zh-CN" altLang="en-US" dirty="0"/>
                  <a:t>学习好</a:t>
                </a:r>
                <a:r>
                  <a:rPr lang="en-US" altLang="zh-CN" dirty="0"/>
                  <a:t> ∧ </a:t>
                </a:r>
                <a:r>
                  <a:rPr lang="zh-CN" altLang="en-US" dirty="0"/>
                  <a:t>身体好</a:t>
                </a:r>
                <a:r>
                  <a:rPr lang="en-US" altLang="zh-CN" dirty="0"/>
                  <a:t>) </a:t>
                </a:r>
              </a:p>
              <a:p>
                <a:pPr lvl="1"/>
                <a:r>
                  <a:rPr lang="zh-CN" altLang="en-US" dirty="0"/>
                  <a:t>学习好</a:t>
                </a:r>
                <a:r>
                  <a:rPr lang="en-US" altLang="zh-CN" dirty="0"/>
                  <a:t> can be inferred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所有逻辑等价都可以作为推理规则</a:t>
                </a:r>
                <a:endParaRPr lang="en-US" altLang="zh-CN" dirty="0"/>
              </a:p>
              <a:p>
                <a:r>
                  <a:rPr lang="en-GB" altLang="zh-CN" sz="1200" i="1" kern="1200" dirty="0">
                    <a:solidFill>
                      <a:schemeClr val="tx1"/>
                    </a:solidFill>
                    <a:effectLst/>
                    <a:latin typeface="Arial" panose="020B0604020202090204" pitchFamily="34" charset="0"/>
                    <a:ea typeface="+mn-ea"/>
                    <a:cs typeface="+mn-cs"/>
                  </a:rPr>
                  <a:t>whenever any sentences of the form   )   and   are given, then</a:t>
                </a:r>
                <a:r>
                  <a:rPr lang="zh-CN" altLang="en-US" sz="1200" i="0" kern="1200" dirty="0">
                    <a:solidFill>
                      <a:schemeClr val="tx1"/>
                    </a:solidFill>
                    <a:effectLst/>
                    <a:latin typeface="Arial" panose="020B0604020202090204" pitchFamily="34" charset="0"/>
                    <a:ea typeface="+mn-ea"/>
                    <a:cs typeface="+mn-cs"/>
                  </a:rPr>
                  <a:t> </a:t>
                </a:r>
                <a:r>
                  <a:rPr lang="en-GB" altLang="zh-CN" sz="1200" i="1" kern="1200" dirty="0">
                    <a:solidFill>
                      <a:schemeClr val="tx1"/>
                    </a:solidFill>
                    <a:effectLst/>
                    <a:latin typeface="Arial" panose="020B0604020202090204" pitchFamily="34" charset="0"/>
                    <a:ea typeface="+mn-ea"/>
                    <a:cs typeface="+mn-cs"/>
                  </a:rPr>
                  <a:t>the sentence   can be inferred</a:t>
                </a:r>
                <a:endParaRPr lang="en-GB" altLang="zh-CN" sz="1200" kern="1200" dirty="0">
                  <a:solidFill>
                    <a:schemeClr val="tx1"/>
                  </a:solidFill>
                  <a:effectLst/>
                  <a:latin typeface="Arial" panose="020B0604020202090204" pitchFamily="34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Each arc (</a:t>
                </a:r>
                <a:r>
                  <a:rPr lang="en-US" altLang="zh-CN" sz="1200" b="0" i="0" u="none" strike="noStrike" kern="1200" baseline="0" dirty="0" err="1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Xk,Xi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) can be inserted in the queue only d times because Xi has at most d values to delete.</a:t>
                </a:r>
              </a:p>
              <a:p>
                <a:endParaRPr lang="en-US" altLang="zh-CN" sz="1200" b="0" i="0" u="none" strike="noStrike" kern="1200" baseline="0" dirty="0">
                  <a:solidFill>
                    <a:schemeClr val="tx1"/>
                  </a:solidFill>
                  <a:latin typeface="Arial" panose="020B0604020202090204" pitchFamily="34" charset="0"/>
                  <a:ea typeface="+mn-ea"/>
                  <a:cs typeface="+mn-cs"/>
                </a:endParaRPr>
              </a:p>
              <a:p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复杂度：</a:t>
                </a:r>
                <a:endParaRPr lang="en-US" altLang="zh-CN" sz="1200" b="0" i="0" u="none" strike="noStrike" kern="1200" baseline="0" dirty="0">
                  <a:solidFill>
                    <a:schemeClr val="tx1"/>
                  </a:solidFill>
                  <a:latin typeface="Arial" panose="020B0604020202090204" pitchFamily="34" charset="0"/>
                  <a:ea typeface="+mn-ea"/>
                  <a:cs typeface="+mn-cs"/>
                </a:endParaRPr>
              </a:p>
              <a:p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每条弧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(𝑋_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𝑘,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  )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最多只能进队列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d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次，因为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𝑋_𝑖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最多只能有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d</a:t>
                </a: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个值可删除。</a:t>
                </a:r>
                <a:endParaRPr lang="en-US" altLang="zh-CN" sz="1200" b="0" i="0" u="none" strike="noStrike" kern="1200" baseline="0" dirty="0">
                  <a:solidFill>
                    <a:schemeClr val="tx1"/>
                  </a:solidFill>
                  <a:latin typeface="Arial" panose="020B0604020202090204" pitchFamily="34" charset="0"/>
                  <a:ea typeface="+mn-ea"/>
                  <a:cs typeface="+mn-cs"/>
                </a:endParaRPr>
              </a:p>
              <a:p>
                <a:endParaRPr lang="en-US" altLang="zh-CN" sz="1200" b="0" i="0" u="none" strike="noStrike" kern="1200" baseline="0" dirty="0">
                  <a:solidFill>
                    <a:schemeClr val="tx1"/>
                  </a:solidFill>
                  <a:latin typeface="Arial" panose="020B0604020202090204" pitchFamily="34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检验一条弧的相容性可以在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𝑂(𝑑^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2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)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内完成，最坏情况下复杂度为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𝑂(𝑐𝑑^3)</a:t>
                </a:r>
                <a:r>
                  <a:rPr lang="en-US" altLang="zh-CN" dirty="0"/>
                  <a:t>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总共有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条</a:t>
                </a:r>
                <a:r>
                  <a:rPr lang="en-US" altLang="zh-CN" dirty="0"/>
                  <a:t>arc</a:t>
                </a:r>
                <a:r>
                  <a:rPr lang="zh-CN" altLang="en-US" dirty="0"/>
                  <a:t>，对于每一个</a:t>
                </a:r>
                <a:r>
                  <a:rPr lang="en-US" altLang="zh-CN" dirty="0"/>
                  <a:t>arc</a:t>
                </a:r>
                <a:r>
                  <a:rPr lang="zh-CN" altLang="en-US" dirty="0"/>
                  <a:t>，其连接两个</a:t>
                </a:r>
                <a:r>
                  <a:rPr lang="en-US" altLang="zh-CN" dirty="0"/>
                  <a:t>node xi xk</a:t>
                </a:r>
                <a:r>
                  <a:rPr lang="zh-CN" altLang="en-US" dirty="0"/>
                  <a:t>，那么对于</a:t>
                </a:r>
                <a:r>
                  <a:rPr lang="en-US" altLang="zh-CN" dirty="0"/>
                  <a:t>xi,</a:t>
                </a:r>
                <a:r>
                  <a:rPr lang="zh-CN" altLang="en-US" dirty="0"/>
                  <a:t>其最多有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个值可以选，所以其最多进入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次，或者说最多被删除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次，然后对于每个</a:t>
                </a:r>
                <a:r>
                  <a:rPr lang="en-US" altLang="zh-CN" dirty="0"/>
                  <a:t>arc</a:t>
                </a:r>
                <a:r>
                  <a:rPr lang="zh-CN" altLang="en-US" dirty="0"/>
                  <a:t>，因为</a:t>
                </a:r>
                <a:r>
                  <a:rPr lang="en-US" altLang="zh-CN" dirty="0"/>
                  <a:t>x_i x_k</a:t>
                </a:r>
                <a:r>
                  <a:rPr lang="zh-CN" altLang="en-US" dirty="0"/>
                  <a:t>都最多有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个值，那么检查完所有的可能就要</a:t>
                </a:r>
                <a:r>
                  <a:rPr lang="en-US" altLang="zh-CN" dirty="0"/>
                  <a:t>d^2</a:t>
                </a:r>
                <a:r>
                  <a:rPr lang="zh-CN" altLang="en-US" dirty="0"/>
                  <a:t>次，乘起来就要</a:t>
                </a:r>
                <a:r>
                  <a:rPr lang="en-US" altLang="zh-CN" dirty="0"/>
                  <a:t>cd^3</a:t>
                </a:r>
                <a:r>
                  <a:rPr lang="zh-CN" altLang="en-US" dirty="0"/>
                  <a:t>次</a:t>
                </a:r>
                <a:endParaRPr lang="en-US" altLang="zh-CN" sz="1200" b="0" i="0" u="none" strike="noStrike" kern="1200" baseline="0" dirty="0">
                  <a:solidFill>
                    <a:schemeClr val="tx1"/>
                  </a:solidFill>
                  <a:latin typeface="Arial" panose="020B0604020202090204" pitchFamily="34" charset="0"/>
                  <a:ea typeface="+mn-ea"/>
                  <a:cs typeface="+mn-cs"/>
                </a:endParaRPr>
              </a:p>
              <a:p>
                <a:endParaRPr lang="en-US" altLang="zh-CN" sz="1200" b="0" i="0" u="none" strike="noStrike" kern="1200" baseline="0" dirty="0">
                  <a:solidFill>
                    <a:schemeClr val="tx1"/>
                  </a:solidFill>
                  <a:latin typeface="Arial" panose="020B0604020202090204" pitchFamily="34" charset="0"/>
                  <a:ea typeface="+mn-ea"/>
                  <a:cs typeface="+mn-cs"/>
                </a:endParaRP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4854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之前通过枚举真值表的方法，求解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zh-CN" altLang="en-US" dirty="0"/>
                  <a:t>为假。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现在我们通过定理证明的方法来求解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从包含</a:t>
                </a:r>
                <a:r>
                  <a:rPr lang="en-US" altLang="zh-CN" dirty="0"/>
                  <a:t>R1</a:t>
                </a:r>
                <a:r>
                  <a:rPr lang="zh-CN" altLang="en-US" dirty="0"/>
                  <a:t>到</a:t>
                </a:r>
                <a:r>
                  <a:rPr lang="en-US" altLang="zh-CN" dirty="0"/>
                  <a:t>R5</a:t>
                </a:r>
                <a:r>
                  <a:rPr lang="zh-CN" altLang="en-US" dirty="0"/>
                  <a:t>的知识库开始，如何证明￢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zh-CN" altLang="en-US" dirty="0"/>
                  <a:t>，即证明</a:t>
                </a:r>
                <a:r>
                  <a:rPr lang="en-US" altLang="zh-CN" dirty="0"/>
                  <a:t>[1,2]</a:t>
                </a:r>
                <a:r>
                  <a:rPr lang="zh-CN" altLang="en-US" dirty="0"/>
                  <a:t>中没有无底洞。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R6</a:t>
                </a:r>
                <a:r>
                  <a:rPr lang="zh-CN" altLang="en-US" dirty="0"/>
                  <a:t>、将双向蕴含消去应用于</a:t>
                </a:r>
                <a:r>
                  <a:rPr lang="en-US" altLang="zh-CN" dirty="0"/>
                  <a:t>R2</a:t>
                </a:r>
                <a:r>
                  <a:rPr lang="zh-CN" altLang="en-US" dirty="0"/>
                  <a:t>，得到</a:t>
                </a:r>
                <a:r>
                  <a:rPr lang="en-US" altLang="zh-CN" dirty="0"/>
                  <a:t>R6</a:t>
                </a:r>
                <a:r>
                  <a:rPr lang="zh-CN" altLang="en-US" dirty="0"/>
                  <a:t>，</a:t>
                </a:r>
                <a:r>
                  <a:rPr lang="en-US" altLang="zh-CN" sz="12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sz="1200" dirty="0"/>
                  <a:t> ⇒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sz="1200" dirty="0"/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sz="1200" dirty="0"/>
                  <a:t>)) ∧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200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1200" dirty="0">
                        <a:latin typeface="Cambria Math" panose="02040503050406030204" pitchFamily="18" charset="0"/>
                      </a:rPr>
                      <m:t> ∨ 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1200" dirty="0">
                        <a:latin typeface="Cambria Math" panose="02040503050406030204" pitchFamily="18" charset="0"/>
                      </a:rPr>
                      <m:t>)⇒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sz="1200" dirty="0"/>
                  <a:t>)</a:t>
                </a:r>
                <a:endParaRPr lang="en-US" altLang="zh-CN" dirty="0"/>
              </a:p>
              <a:p>
                <a:r>
                  <a:rPr lang="en-US" altLang="zh-CN" dirty="0"/>
                  <a:t>R7</a:t>
                </a:r>
                <a:r>
                  <a:rPr lang="zh-CN" altLang="en-US" dirty="0"/>
                  <a:t>、对</a:t>
                </a:r>
                <a:r>
                  <a:rPr lang="en-US" altLang="zh-CN" dirty="0"/>
                  <a:t>R6</a:t>
                </a:r>
                <a:r>
                  <a:rPr lang="zh-CN" altLang="en-US" dirty="0"/>
                  <a:t>消去合取词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200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1200" dirty="0">
                        <a:latin typeface="Cambria Math" panose="02040503050406030204" pitchFamily="18" charset="0"/>
                      </a:rPr>
                      <m:t> ∨ 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1200" dirty="0">
                        <a:latin typeface="Cambria Math" panose="02040503050406030204" pitchFamily="18" charset="0"/>
                      </a:rPr>
                      <m:t>)⇒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R8</a:t>
                </a:r>
                <a:r>
                  <a:rPr lang="zh-CN" altLang="en-US" dirty="0"/>
                  <a:t>、给出逆否命题 </a:t>
                </a:r>
                <a:r>
                  <a:rPr lang="zh-CN" altLang="en-US" sz="1200" dirty="0"/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sz="1200" dirty="0"/>
                  <a:t> ⇒ </a:t>
                </a:r>
                <a:r>
                  <a:rPr lang="zh-CN" altLang="en-US" sz="1200" dirty="0"/>
                  <a:t>￢</a:t>
                </a:r>
                <a:r>
                  <a:rPr lang="en-US" altLang="zh-CN" sz="12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200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1200" dirty="0">
                        <a:latin typeface="Cambria Math" panose="02040503050406030204" pitchFamily="18" charset="0"/>
                      </a:rPr>
                      <m:t> ∨ 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12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R9 </a:t>
                </a:r>
                <a:r>
                  <a:rPr lang="zh-CN" altLang="en-US" dirty="0"/>
                  <a:t>、对</a:t>
                </a:r>
                <a:r>
                  <a:rPr lang="en-US" altLang="zh-CN" dirty="0"/>
                  <a:t>R8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R4</a:t>
                </a:r>
                <a:r>
                  <a:rPr lang="zh-CN" altLang="en-US" dirty="0"/>
                  <a:t>运用假言推理  </a:t>
                </a:r>
                <a:r>
                  <a:rPr lang="zh-CN" altLang="en-US" sz="1200" dirty="0"/>
                  <a:t>￢</a:t>
                </a:r>
                <a:r>
                  <a:rPr lang="en-US" altLang="zh-CN" sz="12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1200" dirty="0">
                        <a:latin typeface="Cambria Math" panose="02040503050406030204" pitchFamily="18" charset="0"/>
                      </a:rPr>
                      <m:t> ∨ 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sz="1200" dirty="0"/>
                  <a:t>) </a:t>
                </a:r>
                <a:endParaRPr lang="en-US" altLang="zh-CN" dirty="0"/>
              </a:p>
              <a:p>
                <a:r>
                  <a:rPr lang="en-US" altLang="zh-CN" dirty="0"/>
                  <a:t>R10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de </a:t>
                </a:r>
                <a:r>
                  <a:rPr lang="en-US" altLang="zh-CN" dirty="0" err="1"/>
                  <a:t>morgan</a:t>
                </a:r>
                <a:r>
                  <a:rPr lang="zh-CN" altLang="en-US" dirty="0"/>
                  <a:t>定律  </a:t>
                </a:r>
                <a:r>
                  <a:rPr lang="zh-CN" altLang="en-US" sz="1200" dirty="0"/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sz="1200" dirty="0"/>
                  <a:t> ∧ </a:t>
                </a:r>
                <a:r>
                  <a:rPr lang="zh-CN" altLang="en-US" sz="1200" dirty="0"/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之前通过枚举真值表的方法，求解</a:t>
                </a:r>
                <a:r>
                  <a:rPr lang="en-US" altLang="zh-CN" i="0">
                    <a:latin typeface="Cambria Math" panose="02040503050406030204" pitchFamily="18" charset="0"/>
                  </a:rPr>
                  <a:t>𝑃_1,2</a:t>
                </a:r>
                <a:r>
                  <a:rPr lang="zh-CN" altLang="en-US" dirty="0"/>
                  <a:t>为假。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现在我们通过定理证明的方法来求解</a:t>
                </a:r>
                <a:r>
                  <a:rPr lang="en-US" altLang="zh-CN" i="0">
                    <a:latin typeface="Cambria Math" panose="02040503050406030204" pitchFamily="18" charset="0"/>
                  </a:rPr>
                  <a:t>𝑃_1,2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从包含</a:t>
                </a:r>
                <a:r>
                  <a:rPr lang="en-US" altLang="zh-CN" dirty="0"/>
                  <a:t>R1</a:t>
                </a:r>
                <a:r>
                  <a:rPr lang="zh-CN" altLang="en-US" dirty="0"/>
                  <a:t>到</a:t>
                </a:r>
                <a:r>
                  <a:rPr lang="en-US" altLang="zh-CN" dirty="0"/>
                  <a:t>R5</a:t>
                </a:r>
                <a:r>
                  <a:rPr lang="zh-CN" altLang="en-US" dirty="0"/>
                  <a:t>的知识库开始，如何证明￢</a:t>
                </a:r>
                <a:r>
                  <a:rPr lang="en-US" altLang="zh-CN" i="0">
                    <a:latin typeface="Cambria Math" panose="02040503050406030204" pitchFamily="18" charset="0"/>
                  </a:rPr>
                  <a:t>𝑃_1,2</a:t>
                </a:r>
                <a:r>
                  <a:rPr lang="zh-CN" altLang="en-US" dirty="0"/>
                  <a:t>，即证明</a:t>
                </a:r>
                <a:r>
                  <a:rPr lang="en-US" altLang="zh-CN" dirty="0"/>
                  <a:t>[1,2]</a:t>
                </a:r>
                <a:r>
                  <a:rPr lang="zh-CN" altLang="en-US" dirty="0"/>
                  <a:t>中没有无底洞。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R6</a:t>
                </a:r>
                <a:r>
                  <a:rPr lang="zh-CN" altLang="en-US" dirty="0"/>
                  <a:t>、将双向蕴含消去应用于</a:t>
                </a:r>
                <a:r>
                  <a:rPr lang="en-US" altLang="zh-CN" dirty="0"/>
                  <a:t>R2</a:t>
                </a:r>
                <a:r>
                  <a:rPr lang="zh-CN" altLang="en-US" dirty="0"/>
                  <a:t>，得到</a:t>
                </a:r>
                <a:r>
                  <a:rPr lang="en-US" altLang="zh-CN" dirty="0"/>
                  <a:t>R6</a:t>
                </a:r>
                <a:r>
                  <a:rPr lang="zh-CN" altLang="en-US" dirty="0"/>
                  <a:t>，</a:t>
                </a:r>
                <a:r>
                  <a:rPr lang="en-US" altLang="zh-CN" sz="1200" dirty="0"/>
                  <a:t>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𝐵_1,1</a:t>
                </a:r>
                <a:r>
                  <a:rPr lang="en-US" altLang="zh-CN" sz="1200" dirty="0"/>
                  <a:t> ⇒ 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𝑃_1,2</a:t>
                </a:r>
                <a:r>
                  <a:rPr lang="en-US" altLang="zh-CN" sz="1200" dirty="0"/>
                  <a:t> ∨ 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𝑃_2,1</a:t>
                </a:r>
                <a:r>
                  <a:rPr lang="en-US" altLang="zh-CN" sz="1200" dirty="0"/>
                  <a:t>)) ∧ (</a:t>
                </a:r>
                <a:r>
                  <a:rPr lang="en-US" altLang="zh-CN" sz="1200" i="0" dirty="0">
                    <a:latin typeface="Cambria Math" panose="02040503050406030204" pitchFamily="18" charset="0"/>
                  </a:rPr>
                  <a:t>"(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" 𝑃_1,2</a:t>
                </a:r>
                <a:r>
                  <a:rPr lang="en-US" altLang="zh-CN" sz="1200" i="0" dirty="0">
                    <a:latin typeface="Cambria Math" panose="02040503050406030204" pitchFamily="18" charset="0"/>
                  </a:rPr>
                  <a:t> " ∨ 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" 𝑃_2,1</a:t>
                </a:r>
                <a:r>
                  <a:rPr lang="en-US" altLang="zh-CN" sz="1200" i="0" dirty="0">
                    <a:latin typeface="Cambria Math" panose="02040503050406030204" pitchFamily="18" charset="0"/>
                  </a:rPr>
                  <a:t> ")⇒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" 𝐵_1,1</a:t>
                </a:r>
                <a:r>
                  <a:rPr lang="en-US" altLang="zh-CN" sz="1200" dirty="0"/>
                  <a:t>)</a:t>
                </a:r>
                <a:endParaRPr lang="en-US" altLang="zh-CN" dirty="0"/>
              </a:p>
              <a:p>
                <a:r>
                  <a:rPr lang="en-US" altLang="zh-CN" dirty="0"/>
                  <a:t>R7</a:t>
                </a:r>
                <a:r>
                  <a:rPr lang="zh-CN" altLang="en-US" dirty="0"/>
                  <a:t>、对</a:t>
                </a:r>
                <a:r>
                  <a:rPr lang="en-US" altLang="zh-CN" dirty="0"/>
                  <a:t>R6</a:t>
                </a:r>
                <a:r>
                  <a:rPr lang="zh-CN" altLang="en-US" dirty="0"/>
                  <a:t>消去合取词</a:t>
                </a:r>
                <a:r>
                  <a:rPr lang="en-US" altLang="zh-CN" sz="1200" i="0" dirty="0">
                    <a:latin typeface="Cambria Math" panose="02040503050406030204" pitchFamily="18" charset="0"/>
                  </a:rPr>
                  <a:t>"(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" 𝑃_1,2</a:t>
                </a:r>
                <a:r>
                  <a:rPr lang="en-US" altLang="zh-CN" sz="1200" i="0" dirty="0">
                    <a:latin typeface="Cambria Math" panose="02040503050406030204" pitchFamily="18" charset="0"/>
                  </a:rPr>
                  <a:t> " ∨ 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" 𝑃_2,1</a:t>
                </a:r>
                <a:r>
                  <a:rPr lang="en-US" altLang="zh-CN" sz="1200" i="0" dirty="0">
                    <a:latin typeface="Cambria Math" panose="02040503050406030204" pitchFamily="18" charset="0"/>
                  </a:rPr>
                  <a:t> ")⇒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" 𝐵_1,1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R8</a:t>
                </a:r>
                <a:r>
                  <a:rPr lang="zh-CN" altLang="en-US" dirty="0"/>
                  <a:t>、给出逆否命题 </a:t>
                </a:r>
                <a:r>
                  <a:rPr lang="zh-CN" altLang="en-US" sz="1200" dirty="0"/>
                  <a:t>￢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𝐵_1,1</a:t>
                </a:r>
                <a:r>
                  <a:rPr lang="en-US" altLang="zh-CN" sz="1200" dirty="0"/>
                  <a:t> ⇒ </a:t>
                </a:r>
                <a:r>
                  <a:rPr lang="zh-CN" altLang="en-US" sz="1200" dirty="0"/>
                  <a:t>￢</a:t>
                </a:r>
                <a:r>
                  <a:rPr lang="en-US" altLang="zh-CN" sz="1200" dirty="0"/>
                  <a:t> </a:t>
                </a:r>
                <a:r>
                  <a:rPr lang="en-US" altLang="zh-CN" sz="1200" i="0" dirty="0">
                    <a:latin typeface="Cambria Math" panose="02040503050406030204" pitchFamily="18" charset="0"/>
                  </a:rPr>
                  <a:t>"(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" 𝑃_1,2</a:t>
                </a:r>
                <a:r>
                  <a:rPr lang="en-US" altLang="zh-CN" sz="1200" i="0" dirty="0">
                    <a:latin typeface="Cambria Math" panose="02040503050406030204" pitchFamily="18" charset="0"/>
                  </a:rPr>
                  <a:t> " ∨ 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" 𝑃_2,1</a:t>
                </a:r>
                <a:r>
                  <a:rPr lang="en-US" altLang="zh-CN" sz="1200" i="0" dirty="0">
                    <a:latin typeface="Cambria Math" panose="02040503050406030204" pitchFamily="18" charset="0"/>
                  </a:rPr>
                  <a:t> ")</a:t>
                </a:r>
                <a:r>
                  <a:rPr lang="zh-CN" altLang="en-US" sz="1200" i="0" dirty="0">
                    <a:latin typeface="Cambria Math" panose="02040503050406030204" pitchFamily="18" charset="0"/>
                  </a:rPr>
                  <a:t>"</a:t>
                </a:r>
                <a:endParaRPr lang="en-US" altLang="zh-CN" dirty="0"/>
              </a:p>
              <a:p>
                <a:r>
                  <a:rPr lang="en-US" altLang="zh-CN" dirty="0"/>
                  <a:t>R9 </a:t>
                </a:r>
                <a:r>
                  <a:rPr lang="zh-CN" altLang="en-US" dirty="0"/>
                  <a:t>、对</a:t>
                </a:r>
                <a:r>
                  <a:rPr lang="en-US" altLang="zh-CN" dirty="0"/>
                  <a:t>R8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R4</a:t>
                </a:r>
                <a:r>
                  <a:rPr lang="zh-CN" altLang="en-US" dirty="0"/>
                  <a:t>运用假言推理  </a:t>
                </a:r>
                <a:r>
                  <a:rPr lang="zh-CN" altLang="en-US" sz="1200" dirty="0"/>
                  <a:t>￢</a:t>
                </a:r>
                <a:r>
                  <a:rPr lang="en-US" altLang="zh-CN" sz="1200" dirty="0"/>
                  <a:t>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𝑃_1,2</a:t>
                </a:r>
                <a:r>
                  <a:rPr lang="en-US" altLang="zh-CN" sz="1200" i="0" dirty="0">
                    <a:latin typeface="Cambria Math" panose="02040503050406030204" pitchFamily="18" charset="0"/>
                  </a:rPr>
                  <a:t> " ∨ 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" 𝑃_2,1</a:t>
                </a:r>
                <a:r>
                  <a:rPr lang="en-US" altLang="zh-CN" sz="1200" dirty="0"/>
                  <a:t>) </a:t>
                </a:r>
                <a:endParaRPr lang="en-US" altLang="zh-CN" dirty="0"/>
              </a:p>
              <a:p>
                <a:r>
                  <a:rPr lang="en-US" altLang="zh-CN" dirty="0"/>
                  <a:t>R10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de </a:t>
                </a:r>
                <a:r>
                  <a:rPr lang="en-US" altLang="zh-CN" dirty="0" err="1"/>
                  <a:t>morgan</a:t>
                </a:r>
                <a:r>
                  <a:rPr lang="zh-CN" altLang="en-US" dirty="0"/>
                  <a:t>定律  </a:t>
                </a:r>
                <a:r>
                  <a:rPr lang="zh-CN" altLang="en-US" sz="1200" dirty="0"/>
                  <a:t>￢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𝑃_1,2</a:t>
                </a:r>
                <a:r>
                  <a:rPr lang="en-US" altLang="zh-CN" sz="1200" dirty="0"/>
                  <a:t> ∧ </a:t>
                </a:r>
                <a:r>
                  <a:rPr lang="zh-CN" altLang="en-US" sz="1200" dirty="0"/>
                  <a:t>￢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𝑃_2,1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1458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Search: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a sequence of steps</a:t>
            </a: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Arial" panose="020B0604020202090204" pitchFamily="34" charset="0"/>
              <a:ea typeface="+mn-ea"/>
              <a:cs typeface="+mn-cs"/>
            </a:endParaRPr>
          </a:p>
          <a:p>
            <a:r>
              <a:rPr lang="zh-CN" altLang="en-US" dirty="0"/>
              <a:t>我们试图用第</a:t>
            </a:r>
            <a:r>
              <a:rPr lang="en-US" altLang="zh-CN" dirty="0"/>
              <a:t>3</a:t>
            </a:r>
            <a:r>
              <a:rPr lang="zh-CN" altLang="en-US" dirty="0"/>
              <a:t>章给出的任意搜索算法来找出证明序列。只需如下定义证明问题：初始状态，行动，结果，目标。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、初始状态：初始知识库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、行动：匹配推理规则的上半部分，比如</a:t>
            </a:r>
            <a:r>
              <a:rPr lang="en-US" altLang="zh-CN" sz="1200" dirty="0">
                <a:solidFill>
                  <a:srgbClr val="FF0000"/>
                </a:solidFill>
              </a:rPr>
              <a:t>biconditional elimination 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、结果：将推理规则的下半部分的语句实例加入知识库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、目标：要证明语句的状态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搜索证明是模型枚举的额一个替换方法。在实际问题中，它可以忽略不相干命题。</a:t>
            </a:r>
            <a:endParaRPr lang="en-US" altLang="zh-CN" dirty="0"/>
          </a:p>
          <a:p>
            <a:r>
              <a:rPr lang="zh-CN" altLang="en-US" dirty="0"/>
              <a:t>而简单的真值表算法则会由于模型的指数爆炸而失效。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7150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Search: </a:t>
            </a: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a sequence of steps</a:t>
            </a: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Arial" panose="020B0604020202090204" pitchFamily="34" charset="0"/>
              <a:ea typeface="+mn-ea"/>
              <a:cs typeface="+mn-cs"/>
            </a:endParaRPr>
          </a:p>
          <a:p>
            <a:r>
              <a:rPr lang="zh-CN" altLang="en-US" dirty="0"/>
              <a:t>我们试图用第</a:t>
            </a:r>
            <a:r>
              <a:rPr lang="en-US" altLang="zh-CN" dirty="0"/>
              <a:t>3</a:t>
            </a:r>
            <a:r>
              <a:rPr lang="zh-CN" altLang="en-US" dirty="0"/>
              <a:t>章给出的任意搜索算法来找出证明序列。只需如下定义证明问题：初始状态，行动，结果，目标。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、初始状态：初始知识库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、行动：匹配推理规则的上半部分，比如</a:t>
            </a:r>
            <a:r>
              <a:rPr lang="en-US" altLang="zh-CN" sz="1200" dirty="0">
                <a:solidFill>
                  <a:srgbClr val="FF0000"/>
                </a:solidFill>
              </a:rPr>
              <a:t>biconditional elimination 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、结果：将推理规则的下半部分的语句实例加入知识库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、目标：要证明语句的状态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搜索证明是模型枚举的额一个替换方法。在实际问题中，它可以忽略不相干命题。</a:t>
            </a:r>
            <a:endParaRPr lang="en-US" altLang="zh-CN" dirty="0"/>
          </a:p>
          <a:p>
            <a:r>
              <a:rPr lang="zh-CN" altLang="en-US" dirty="0"/>
              <a:t>而简单的真值表算法则会由于模型的指数爆炸而失效。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1B729-817F-448C-AF52-5327A95694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31624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Resolution </a:t>
            </a:r>
            <a:r>
              <a:rPr lang="zh-CN" altLang="en-US" dirty="0"/>
              <a:t>归结证明：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迄今为止涉及的推理规则都是可靠的，但是仍未对使用他们的推理算法的完备性问题进行讨论。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本节介绍一个推理规则即</a:t>
            </a:r>
            <a:r>
              <a:rPr lang="zh-CN" altLang="en-US" b="1" dirty="0"/>
              <a:t>归结</a:t>
            </a:r>
            <a:r>
              <a:rPr lang="zh-CN" altLang="en-US" dirty="0"/>
              <a:t>，当他和任何一个完备的搜索算法相结合时，可以得到完备的推理算反。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1B729-817F-448C-AF52-5327A95694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56181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归结证明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讨论推理算法的完备性。如果可用的推理规则不够充分，那么目标将不可达，即只用那些推理规则找不到证明。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例如，如果去除双向蕴涵消去规则，则前一节的证明将无法继续。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Unit resolution </a:t>
                </a:r>
                <a:r>
                  <a:rPr lang="zh-CN" altLang="en-US" dirty="0"/>
                  <a:t>单元归结，其中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𝒎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</a:rPr>
                  <a:t> 是互补文字</a:t>
                </a:r>
                <a:r>
                  <a:rPr lang="zh-CN" altLang="en-US" dirty="0"/>
                  <a:t>，即一个文字是另一个的否定式。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/>
                  <a:t>直观上来理解：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为真，那么给定非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为真的时候，必然是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为真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归结证明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讨论推理算法的完备性。如果可用的推理规则不够充分，那么目标将不可达，即只用那些推理规则找不到证明。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例如，如果去除双向蕴涵消去规则，则前一节的证明将无法继续。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Unit resolution </a:t>
                </a:r>
                <a:r>
                  <a:rPr lang="zh-CN" altLang="en-US" dirty="0"/>
                  <a:t>单元归结，其中</a:t>
                </a:r>
                <a:r>
                  <a:rPr lang="en-US" altLang="zh-CN" b="1" i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𝒍_𝒊</a:t>
                </a:r>
                <a:r>
                  <a:rPr lang="en-US" altLang="zh-CN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and </a:t>
                </a:r>
                <a:r>
                  <a:rPr lang="en-US" altLang="zh-CN" b="1" i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𝒎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 是互补文字</a:t>
                </a:r>
                <a:r>
                  <a:rPr lang="zh-CN" altLang="en-US" dirty="0"/>
                  <a:t>，即一个文字是另一个的否定式。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/>
                  <a:t>直观上来理解：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为真，那么给定非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为真的时候，必然是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为真</a:t>
                </a:r>
                <a:endParaRPr lang="en-US" altLang="zh-CN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2458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单元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归结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规则可以推广为</a:t>
                </a:r>
                <a:r>
                  <a:rPr lang="zh-CN" alt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全归结</a:t>
                </a:r>
                <a:r>
                  <a:rPr lang="zh-CN" altLang="en-US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规则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是互补文字</a:t>
                </a:r>
                <a:r>
                  <a:rPr lang="en-US" altLang="zh-CN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单元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归结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规则可以推广为</a:t>
                </a:r>
                <a:r>
                  <a:rPr lang="zh-CN" alt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全归结</a:t>
                </a:r>
                <a:r>
                  <a:rPr lang="zh-CN" altLang="en-US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规则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。其中，</a:t>
                </a:r>
                <a:r>
                  <a:rPr lang="en-US" altLang="zh-CN" b="0" i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𝑙_𝑖</a:t>
                </a:r>
                <a:r>
                  <a:rPr lang="zh-CN" altLang="en-US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:r>
                  <a:rPr lang="en-US" altLang="zh-CN" b="0" i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𝑚_𝑗</a:t>
                </a:r>
                <a:r>
                  <a:rPr lang="zh-CN" altLang="en-US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是互补文字</a:t>
                </a:r>
                <a:r>
                  <a:rPr lang="en-US" altLang="zh-CN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6755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单元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归结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规则可以推广为</a:t>
                </a:r>
                <a:r>
                  <a:rPr lang="zh-CN" alt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全归结</a:t>
                </a:r>
                <a:r>
                  <a:rPr lang="zh-CN" altLang="en-US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规则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是互补文字</a:t>
                </a:r>
                <a:r>
                  <a:rPr lang="en-US" altLang="zh-CN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单元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归结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规则可以推广为</a:t>
                </a:r>
                <a:r>
                  <a:rPr lang="zh-CN" alt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全归结</a:t>
                </a:r>
                <a:r>
                  <a:rPr lang="zh-CN" altLang="en-US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规则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。其中，</a:t>
                </a:r>
                <a:r>
                  <a:rPr lang="en-US" altLang="zh-CN" b="0" i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𝑙_𝑖</a:t>
                </a:r>
                <a:r>
                  <a:rPr lang="zh-CN" altLang="en-US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:r>
                  <a:rPr lang="en-US" altLang="zh-CN" b="0" i="0">
                    <a:solidFill>
                      <a:srgbClr val="002060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𝑚_𝑗</a:t>
                </a:r>
                <a:r>
                  <a:rPr lang="zh-CN" altLang="en-US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是互补文字</a:t>
                </a:r>
                <a:r>
                  <a:rPr lang="en-US" altLang="zh-CN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4194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Factoring</a:t>
            </a:r>
            <a:r>
              <a:rPr lang="zh-CN" altLang="en-US" dirty="0"/>
              <a:t>：</a:t>
            </a:r>
            <a:r>
              <a:rPr lang="zh-CN" altLang="en-US" b="1" dirty="0"/>
              <a:t>归并</a:t>
            </a:r>
            <a:r>
              <a:rPr lang="zh-CN" altLang="en-US" dirty="0"/>
              <a:t>，去除文字的多余副本。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举例可以板书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3557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对于所有的命题逻辑，它如何实现完备的推理过程？答案是命题逻辑的每个语句逻辑上都等价于某子句的</a:t>
            </a:r>
            <a:r>
              <a:rPr lang="zh-CN" altLang="en-US" b="1" dirty="0"/>
              <a:t>合取式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Conjunctive normal form</a:t>
            </a:r>
            <a:r>
              <a:rPr lang="zh-CN" altLang="en-US" dirty="0"/>
              <a:t>：合取范式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以子句的合取式表达的语句被称为合取范式，</a:t>
            </a:r>
            <a:r>
              <a:rPr lang="en-US" altLang="zh-CN" dirty="0"/>
              <a:t>CNF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1049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合取范式，</a:t>
                </a:r>
                <a:r>
                  <a:rPr lang="en-US" altLang="zh-CN" dirty="0"/>
                  <a:t>CNF</a:t>
                </a:r>
                <a:endParaRPr lang="zh-CN" altLang="en-US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/>
                  <a:t> 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或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 err="1"/>
                  <a:t>distributivity</a:t>
                </a:r>
                <a:r>
                  <a:rPr lang="en-US" altLang="zh-CN" dirty="0"/>
                  <a:t> law</a:t>
                </a:r>
                <a:r>
                  <a:rPr lang="zh-CN" altLang="en-US" dirty="0"/>
                  <a:t>：分配律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至此，最初的语句转化成</a:t>
                </a:r>
                <a:r>
                  <a:rPr lang="en-US" altLang="zh-CN" dirty="0"/>
                  <a:t>CNF</a:t>
                </a:r>
                <a:r>
                  <a:rPr lang="zh-CN" altLang="en-US" dirty="0"/>
                  <a:t>，是三个语句的合取式。更不容易阅读，但是他将成为归结过程的输入。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合取范式，</a:t>
                </a:r>
                <a:r>
                  <a:rPr lang="en-US" altLang="zh-CN" dirty="0"/>
                  <a:t>CNF</a:t>
                </a:r>
                <a:endParaRPr lang="zh-CN" altLang="en-US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𝑃_1,2</a:t>
                </a:r>
                <a:r>
                  <a:rPr lang="en-US" altLang="zh-CN" dirty="0"/>
                  <a:t> ∨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𝑃_2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,1</a:t>
                </a:r>
                <a:r>
                  <a:rPr lang="en-US" altLang="zh-CN" dirty="0"/>
                  <a:t>  </a:t>
                </a:r>
                <a:r>
                  <a:rPr lang="zh-CN" altLang="en-US" dirty="0"/>
                  <a:t>或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 err="1"/>
                  <a:t>distributivity</a:t>
                </a:r>
                <a:r>
                  <a:rPr lang="en-US" altLang="zh-CN" dirty="0"/>
                  <a:t> law</a:t>
                </a:r>
                <a:r>
                  <a:rPr lang="zh-CN" altLang="en-US" dirty="0"/>
                  <a:t>：分配律</a:t>
                </a: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至此，最初的语句转化成</a:t>
                </a:r>
                <a:r>
                  <a:rPr lang="en-US" altLang="zh-CN" dirty="0"/>
                  <a:t>CNF</a:t>
                </a:r>
                <a:r>
                  <a:rPr lang="zh-CN" altLang="en-US" dirty="0"/>
                  <a:t>，是三个语句的合取式。更不容易阅读，但是他将成为归结过程的输入。</a:t>
                </a:r>
                <a:endParaRPr lang="en-US" altLang="zh-CN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3745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Proof by contradiction</a:t>
            </a:r>
            <a:r>
              <a:rPr lang="zh-CN" altLang="en-US" dirty="0"/>
              <a:t>：反证法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30861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归结算法，此过程一直持续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直到：</a:t>
                </a:r>
                <a:endParaRPr lang="en-US" altLang="zh-CN" dirty="0"/>
              </a:p>
              <a:p>
                <a:r>
                  <a:rPr lang="en-US" altLang="zh-CN" dirty="0"/>
                  <a:t>1</a:t>
                </a:r>
                <a:r>
                  <a:rPr lang="zh-CN" altLang="en-US" dirty="0"/>
                  <a:t>、没有可以添加的新语句，这种情况下，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不蕴含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zh-CN" altLang="en-US" dirty="0"/>
                  <a:t>，或者</a:t>
                </a:r>
                <a:endParaRPr lang="en-US" altLang="zh-CN" dirty="0"/>
              </a:p>
              <a:p>
                <a:r>
                  <a:rPr lang="en-US" altLang="zh-CN" dirty="0"/>
                  <a:t>2</a:t>
                </a:r>
                <a:r>
                  <a:rPr lang="zh-CN" altLang="en-US" dirty="0"/>
                  <a:t>、两个子句归结出空子句，这种情况下，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蕴含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lang="zh-CN" altLang="en-US" dirty="0"/>
                  <a:t>。只要出现</a:t>
                </a:r>
                <a:r>
                  <a:rPr lang="en-US" altLang="zh-CN" dirty="0"/>
                  <a:t>empty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clause</a:t>
                </a:r>
                <a:r>
                  <a:rPr lang="zh-CN" altLang="en-US" dirty="0"/>
                  <a:t>就可以了，不是说归结到最后全是空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归结算法，此过程一直持续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直到：</a:t>
                </a:r>
                <a:endParaRPr lang="en-US" altLang="zh-CN" dirty="0"/>
              </a:p>
              <a:p>
                <a:r>
                  <a:rPr lang="en-US" altLang="zh-CN" dirty="0"/>
                  <a:t>1</a:t>
                </a:r>
                <a:r>
                  <a:rPr lang="zh-CN" altLang="en-US" dirty="0"/>
                  <a:t>、没有可以添加的新语句，这种情况下，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𝛼</a:t>
                </a:r>
                <a:r>
                  <a:rPr lang="zh-CN" altLang="en-US" dirty="0"/>
                  <a:t>不蕴含</a:t>
                </a:r>
                <a:r>
                  <a:rPr lang="zh-CN" altLang="en-US" b="1" i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𝜷</a:t>
                </a:r>
                <a:r>
                  <a:rPr lang="zh-CN" altLang="en-US" dirty="0"/>
                  <a:t>，或者</a:t>
                </a:r>
                <a:endParaRPr lang="en-US" altLang="zh-CN" dirty="0"/>
              </a:p>
              <a:p>
                <a:r>
                  <a:rPr lang="en-US" altLang="zh-CN" dirty="0"/>
                  <a:t>2</a:t>
                </a:r>
                <a:r>
                  <a:rPr lang="zh-CN" altLang="en-US" dirty="0"/>
                  <a:t>、两个子句归结出空子句，这种情况下，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𝛼</a:t>
                </a:r>
                <a:r>
                  <a:rPr lang="zh-CN" altLang="en-US" dirty="0"/>
                  <a:t>蕴含</a:t>
                </a:r>
                <a:r>
                  <a:rPr lang="zh-CN" altLang="en-US" b="1" i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𝜷</a:t>
                </a:r>
                <a:r>
                  <a:rPr lang="zh-CN" altLang="en-US" dirty="0"/>
                  <a:t>。只要出现</a:t>
                </a:r>
                <a:r>
                  <a:rPr lang="en-US" altLang="zh-CN" dirty="0"/>
                  <a:t>empty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clause</a:t>
                </a:r>
                <a:r>
                  <a:rPr lang="zh-CN" altLang="en-US" dirty="0"/>
                  <a:t>就可以了，不是说归结到最后全是空</a:t>
                </a:r>
                <a:endParaRPr lang="en-US" altLang="zh-CN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87786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PL-RESOLVE </a:t>
                </a:r>
                <a:r>
                  <a:rPr lang="zh-CN" altLang="en-US" sz="1200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返回对两个输入子句进行归结得到的所有结果子句的集合。</a:t>
                </a:r>
                <a:endParaRPr lang="en-US" altLang="zh-CN" sz="1200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20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228600" indent="-228600">
                  <a:buAutoNum type="arabicParenBoth"/>
                </a:pPr>
                <a:r>
                  <a:rPr lang="en-US" altLang="zh-CN" sz="1200" b="1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US" altLang="zh-CN" sz="120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200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new</m:t>
                    </m:r>
                    <m:r>
                      <a:rPr lang="en-US" altLang="zh-CN" sz="1200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US" altLang="zh-CN" sz="1200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clauses</m:t>
                    </m:r>
                    <m:r>
                      <a:rPr lang="en-US" altLang="zh-CN" sz="1200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1200" b="1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return </a:t>
                </a:r>
                <a:r>
                  <a:rPr lang="en-US" altLang="zh-CN" sz="120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false</a:t>
                </a:r>
              </a:p>
              <a:p>
                <a:pPr marL="228600" indent="-228600">
                  <a:buAutoNum type="arabicParenBoth"/>
                </a:pPr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resolvents</a:t>
                </a:r>
                <a:r>
                  <a:rPr lang="en-US" altLang="zh-CN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contains the empty clause </a:t>
                </a:r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return </a:t>
                </a:r>
                <a:r>
                  <a:rPr lang="en-US" altLang="zh-CN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true</a:t>
                </a:r>
              </a:p>
              <a:p>
                <a:pPr marL="0" indent="0">
                  <a:buNone/>
                </a:pPr>
                <a:endPara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28600" indent="-228600">
                  <a:buAutoNum type="arabicParenBoth"/>
                </a:pPr>
                <a:endPara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b="1" dirty="0"/>
                  <a:t>PL-RESOLUTION</a:t>
                </a:r>
                <a:r>
                  <a:rPr lang="en-US" altLang="zh-CN" dirty="0"/>
                  <a:t> is complete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Resolution closure RC(S) </a:t>
                </a:r>
              </a:p>
              <a:p>
                <a:pPr lvl="1"/>
                <a:r>
                  <a:rPr lang="en-US" altLang="zh-CN" dirty="0"/>
                  <a:t>PL-RESOLUTION</a:t>
                </a:r>
                <a:r>
                  <a:rPr lang="en-US" altLang="zh-CN" sz="800" dirty="0"/>
                  <a:t> </a:t>
                </a:r>
                <a:r>
                  <a:rPr lang="en-US" altLang="zh-CN" dirty="0"/>
                  <a:t>computes RC(S) as the final value of the variable clauses</a:t>
                </a:r>
              </a:p>
              <a:p>
                <a:pPr lvl="1"/>
                <a:endParaRPr lang="en-US" altLang="zh-CN" dirty="0"/>
              </a:p>
              <a:p>
                <a:r>
                  <a:rPr lang="zh-CN" altLang="en-US" dirty="0"/>
                  <a:t>归结的完备性：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PL-RESOLUTION</a:t>
                </a:r>
                <a:r>
                  <a:rPr lang="zh-CN" altLang="en-US" dirty="0"/>
                  <a:t>函数是完备的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Resolution closure RC(S) </a:t>
                </a:r>
                <a:r>
                  <a:rPr lang="zh-CN" altLang="en-US" dirty="0"/>
                  <a:t>：归结闭包。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中的子句通过归结原则生成的所有子句集合。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PL-RESOLUTION</a:t>
                </a:r>
                <a:r>
                  <a:rPr lang="zh-CN" altLang="en-US" dirty="0"/>
                  <a:t>计算的归结闭包是变量</a:t>
                </a:r>
                <a:r>
                  <a:rPr lang="en-US" altLang="zh-CN" dirty="0"/>
                  <a:t>clauses</a:t>
                </a:r>
                <a:r>
                  <a:rPr lang="zh-CN" altLang="en-US" dirty="0"/>
                  <a:t>的值。</a:t>
                </a:r>
                <a:r>
                  <a:rPr lang="en-US" altLang="zh-CN" dirty="0"/>
                  <a:t>RC(S)</a:t>
                </a:r>
                <a:r>
                  <a:rPr lang="zh-CN" altLang="en-US" dirty="0"/>
                  <a:t>一定是有限的，因为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中出现的符号只能构成有限多个不同的子句。所以，</a:t>
                </a:r>
                <a:r>
                  <a:rPr lang="en-US" altLang="zh-CN" dirty="0"/>
                  <a:t>PL-RESOLUTION</a:t>
                </a:r>
                <a:r>
                  <a:rPr lang="zh-CN" altLang="en-US" dirty="0"/>
                  <a:t>可终止。</a:t>
                </a:r>
                <a:endParaRPr lang="en-US" altLang="zh-CN" dirty="0"/>
              </a:p>
              <a:p>
                <a:pPr lvl="1"/>
                <a:endParaRPr lang="zh-CN" altLang="en-US" dirty="0"/>
              </a:p>
              <a:p>
                <a:pPr marL="228600" indent="-228600">
                  <a:buAutoNum type="arabicParenBoth"/>
                </a:pPr>
                <a:endParaRPr lang="zh-CN" altLang="en-US" i="0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PL-RESOLVE </a:t>
                </a:r>
                <a:r>
                  <a:rPr lang="zh-CN" altLang="en-US" sz="1200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返回对两个输入子句进行归结得到的所有结果子句的集合。</a:t>
                </a:r>
                <a:endParaRPr lang="en-US" altLang="zh-CN" sz="1200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20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228600" indent="-228600">
                  <a:buAutoNum type="arabicParenBoth"/>
                </a:pPr>
                <a:r>
                  <a:rPr lang="en-US" altLang="zh-CN" sz="1200" b="1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US" altLang="zh-CN" sz="120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200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new</a:t>
                </a:r>
                <a:r>
                  <a:rPr lang="en-US" altLang="zh-CN" sz="1200" i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⊂clauses </a:t>
                </a:r>
                <a:r>
                  <a:rPr lang="en-US" altLang="zh-CN" sz="1200" b="1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return </a:t>
                </a:r>
                <a:r>
                  <a:rPr lang="en-US" altLang="zh-CN" sz="1200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false</a:t>
                </a:r>
              </a:p>
              <a:p>
                <a:pPr marL="228600" indent="-228600">
                  <a:buAutoNum type="arabicParenBoth"/>
                </a:pPr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resolvents</a:t>
                </a:r>
                <a:r>
                  <a:rPr lang="en-US" altLang="zh-CN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contains the empty clause </a:t>
                </a:r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return </a:t>
                </a:r>
                <a:r>
                  <a:rPr lang="en-US" altLang="zh-CN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true</a:t>
                </a:r>
              </a:p>
              <a:p>
                <a:pPr marL="0" indent="0">
                  <a:buNone/>
                </a:pPr>
                <a:endPara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28600" indent="-228600">
                  <a:buAutoNum type="arabicParenBoth"/>
                </a:pPr>
                <a:endPara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b="1" dirty="0"/>
                  <a:t>PL-RESOLUTION</a:t>
                </a:r>
                <a:r>
                  <a:rPr lang="en-US" altLang="zh-CN" dirty="0"/>
                  <a:t> is complete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Resolution closure RC(S) </a:t>
                </a:r>
              </a:p>
              <a:p>
                <a:pPr lvl="1"/>
                <a:r>
                  <a:rPr lang="en-US" altLang="zh-CN" dirty="0"/>
                  <a:t>PL-RESOLUTION</a:t>
                </a:r>
                <a:r>
                  <a:rPr lang="en-US" altLang="zh-CN" sz="800" dirty="0"/>
                  <a:t> </a:t>
                </a:r>
                <a:r>
                  <a:rPr lang="en-US" altLang="zh-CN" dirty="0"/>
                  <a:t>computes RC(S) as the final value of the variable clauses</a:t>
                </a:r>
              </a:p>
              <a:p>
                <a:pPr lvl="1"/>
                <a:endParaRPr lang="en-US" altLang="zh-CN" dirty="0"/>
              </a:p>
              <a:p>
                <a:r>
                  <a:rPr lang="zh-CN" altLang="en-US" dirty="0"/>
                  <a:t>归结的完备性：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PL-RESOLUTION</a:t>
                </a:r>
                <a:r>
                  <a:rPr lang="zh-CN" altLang="en-US" dirty="0"/>
                  <a:t>函数是完备的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Resolution closure RC(S) </a:t>
                </a:r>
                <a:r>
                  <a:rPr lang="zh-CN" altLang="en-US" dirty="0"/>
                  <a:t>：归结闭包。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中的子句通过归结原则生成的所有子句集合。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PL-RESOLUTION</a:t>
                </a:r>
                <a:r>
                  <a:rPr lang="zh-CN" altLang="en-US" dirty="0"/>
                  <a:t>计算的归结闭包是变量</a:t>
                </a:r>
                <a:r>
                  <a:rPr lang="en-US" altLang="zh-CN" dirty="0"/>
                  <a:t>clauses</a:t>
                </a:r>
                <a:r>
                  <a:rPr lang="zh-CN" altLang="en-US" dirty="0"/>
                  <a:t>的值。</a:t>
                </a:r>
                <a:r>
                  <a:rPr lang="en-US" altLang="zh-CN" dirty="0"/>
                  <a:t>RC(S)</a:t>
                </a:r>
                <a:r>
                  <a:rPr lang="zh-CN" altLang="en-US" dirty="0"/>
                  <a:t>一定是有限的，因为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中出现的符号只能构成有限多个不同的子句。所以，</a:t>
                </a:r>
                <a:r>
                  <a:rPr lang="en-US" altLang="zh-CN" dirty="0"/>
                  <a:t>PL-RESOLUTION</a:t>
                </a:r>
                <a:r>
                  <a:rPr lang="zh-CN" altLang="en-US" dirty="0"/>
                  <a:t>可终止。</a:t>
                </a:r>
                <a:endParaRPr lang="en-US" altLang="zh-CN" dirty="0"/>
              </a:p>
              <a:p>
                <a:pPr lvl="1"/>
                <a:endParaRPr lang="zh-CN" altLang="en-US" dirty="0"/>
              </a:p>
              <a:p>
                <a:pPr marL="228600" indent="-228600">
                  <a:buAutoNum type="arabicParenBoth"/>
                </a:pPr>
                <a:endParaRPr lang="zh-CN" altLang="en-US" i="0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3582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04439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合取范式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归结：析取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zh-CN" altLang="en-US" dirty="0"/>
                  <a:t>归结时得到了空子句，用小方框表示。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合取范式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归结：析取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当</a:t>
                </a:r>
                <a:r>
                  <a:rPr lang="en-US" altLang="zh-CN" i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¬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𝑃_1,2</a:t>
                </a:r>
                <a:r>
                  <a:rPr lang="zh-CN" altLang="en-US" dirty="0"/>
                  <a:t>和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𝑃_1,2</a:t>
                </a:r>
                <a:r>
                  <a:rPr lang="zh-CN" altLang="en-US" dirty="0"/>
                  <a:t>归结时得到了空子句，用小方框表示。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78843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归结的完备性使其成为非常重要的推理方法。然而，很多实际情况中并不需要用到归结的全部能力。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Arial" panose="020B0604020202090204" pitchFamily="34" charset="0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一些现实世界的知识库满足他们所包含的语句形式的特定限制，这使得他们可以使用更受限也更有效的推理算法。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Arial" panose="020B0604020202090204" pitchFamily="34" charset="0"/>
              <a:ea typeface="+mn-ea"/>
              <a:cs typeface="+mn-cs"/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02931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Arial" panose="020B060402020209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Horn clauses and definite clauses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：</a:t>
            </a:r>
            <a:r>
              <a:rPr lang="en-US" altLang="zh-CN" sz="1200" b="1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horn</a:t>
            </a:r>
            <a:r>
              <a:rPr lang="zh-CN" altLang="en-US" sz="1200" b="1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子句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和</a:t>
            </a:r>
            <a:r>
              <a:rPr lang="zh-CN" altLang="en-US" sz="1200" b="1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限定子句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。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Arial" panose="020B0604020202090204" pitchFamily="34" charset="0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>
              <a:solidFill>
                <a:schemeClr val="tx1"/>
              </a:solidFill>
              <a:latin typeface="Arial" panose="020B0604020202090204" pitchFamily="34" charset="0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限定子句：恰好只有一个</a:t>
            </a:r>
            <a:r>
              <a:rPr lang="zh-CN" altLang="en-US" sz="1200" b="1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正文字</a:t>
            </a:r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的析取式。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Arial" panose="020B0604020202090204" pitchFamily="34" charset="0"/>
              <a:ea typeface="+mn-ea"/>
              <a:cs typeface="+mn-cs"/>
            </a:endParaRPr>
          </a:p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79545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Horn</a:t>
            </a:r>
            <a:r>
              <a:rPr lang="zh-CN" altLang="en-US" dirty="0"/>
              <a:t>子句：指至多只有一个正文字的析取式。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Horn</a:t>
            </a:r>
            <a:r>
              <a:rPr lang="zh-CN" altLang="en-US" dirty="0"/>
              <a:t>子句在归结下是封闭的。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因此，所有限定子句都是</a:t>
            </a:r>
            <a:r>
              <a:rPr lang="en-US" altLang="zh-CN" dirty="0"/>
              <a:t>Horn</a:t>
            </a:r>
            <a:r>
              <a:rPr lang="zh-CN" altLang="en-US" dirty="0"/>
              <a:t>子句，没有正文字的析取式也是</a:t>
            </a:r>
            <a:r>
              <a:rPr lang="en-US" altLang="zh-CN" dirty="0"/>
              <a:t>horn</a:t>
            </a:r>
            <a:r>
              <a:rPr lang="zh-CN" altLang="en-US" dirty="0"/>
              <a:t>子句；这些称为目标子句。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+mn-ea"/>
                <a:cs typeface="+mn-cs"/>
              </a:rPr>
              <a:t>霍恩子句得名于逻辑学家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+mn-ea"/>
                <a:cs typeface="+mn-cs"/>
              </a:rPr>
              <a:t>Alfred Horn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+mn-ea"/>
                <a:cs typeface="+mn-cs"/>
              </a:rPr>
              <a:t>，他在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+mn-ea"/>
                <a:cs typeface="+mn-cs"/>
              </a:rPr>
              <a:t>1951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+mn-ea"/>
                <a:cs typeface="+mn-cs"/>
              </a:rPr>
              <a:t>年首先在文章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+mn-ea"/>
                <a:cs typeface="+mn-cs"/>
              </a:rPr>
              <a:t>《On sentences which are true of direct unions of algebras》, Journal of Symbolic Logic, 16, 14-21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90204" pitchFamily="34" charset="0"/>
                <a:ea typeface="+mn-ea"/>
                <a:cs typeface="+mn-cs"/>
              </a:rPr>
              <a:t>中指出这种子句的重要性。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00021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281BD4C0-0327-BD3A-02E4-F55FA138F7A4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04219CEB-FE9D-34E0-F146-55E0E8AF7E5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r>
              <a:rPr lang="en-US" altLang="zh-CN" baseline="0" dirty="0"/>
              <a:t>1</a:t>
            </a:r>
            <a:r>
              <a:rPr lang="zh-CN" altLang="en-US" baseline="0" dirty="0"/>
              <a:t>、每个</a:t>
            </a:r>
            <a:r>
              <a:rPr lang="zh-CN" altLang="en-US" b="1" baseline="0" dirty="0"/>
              <a:t>限定子句</a:t>
            </a:r>
            <a:r>
              <a:rPr lang="zh-CN" altLang="en-US" baseline="0" dirty="0"/>
              <a:t>都可以写成蕴含式，他的前提为正文字的合取式，结论为单个正文字。</a:t>
            </a:r>
            <a:endParaRPr lang="zh-CN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883327F5-7DE9-D6FF-B136-4F0C4859CE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8079362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281BD4C0-0327-BD3A-02E4-F55FA138F7A4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04219CEB-FE9D-34E0-F146-55E0E8AF7E5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r>
              <a:rPr lang="en-US" altLang="zh-CN" b="1" dirty="0"/>
              <a:t>forward-chaining </a:t>
            </a:r>
            <a:r>
              <a:rPr lang="en-US" altLang="zh-CN" dirty="0"/>
              <a:t>and </a:t>
            </a:r>
            <a:r>
              <a:rPr lang="en-US" altLang="zh-CN" b="1" dirty="0"/>
              <a:t>backward</a:t>
            </a:r>
            <a:r>
              <a:rPr lang="en-US" altLang="zh-CN" dirty="0"/>
              <a:t> </a:t>
            </a:r>
            <a:r>
              <a:rPr lang="en-US" altLang="zh-CN" b="1" dirty="0"/>
              <a:t>chaining </a:t>
            </a:r>
            <a:r>
              <a:rPr lang="zh-CN" altLang="en-US" b="1" dirty="0"/>
              <a:t>前向链接，反向链接。这种类型的推理构成了逻辑程序设计的基础。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Horn</a:t>
            </a:r>
            <a:r>
              <a:rPr lang="zh-CN" altLang="en-US" b="1" dirty="0"/>
              <a:t>子句判定蕴含需要的时间与知识库大小成线性关系。</a:t>
            </a:r>
            <a:endParaRPr lang="zh-CN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883327F5-7DE9-D6FF-B136-4F0C4859CE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归结的完备性使其成为非常重要的推理方法。然而，很多实际情况中并不需要用到归结的全部能力。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Arial" panose="020B0604020202090204" pitchFamily="34" charset="0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rPr>
              <a:t>一些现实世界的知识库满足他们所包含的语句形式的特定限制，这使得他们可以使用更受限也更有效的推理算法。</a:t>
            </a:r>
            <a:endParaRPr lang="en-US" altLang="zh-CN" sz="1200" b="0" i="0" u="none" strike="noStrike" kern="1200" baseline="0" dirty="0">
              <a:solidFill>
                <a:schemeClr val="tx1"/>
              </a:solidFill>
              <a:latin typeface="Arial" panose="020B0604020202090204" pitchFamily="34" charset="0"/>
              <a:ea typeface="+mn-ea"/>
              <a:cs typeface="+mn-cs"/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60274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281BD4C0-0327-BD3A-02E4-F55FA138F7A4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04219CEB-FE9D-34E0-F146-55E0E8AF7E5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The forward-chaining algorithm</a:t>
            </a:r>
            <a:r>
              <a:rPr lang="zh-CN" altLang="en-US" baseline="0" dirty="0"/>
              <a:t> </a:t>
            </a:r>
            <a:endParaRPr lang="en-US" altLang="zh-CN" baseline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前向链接算法：判定单个命题词</a:t>
            </a:r>
            <a:r>
              <a:rPr lang="en-US" altLang="zh-CN" dirty="0"/>
              <a:t>q</a:t>
            </a:r>
            <a:r>
              <a:rPr lang="zh-CN" altLang="en-US" dirty="0"/>
              <a:t>是否被</a:t>
            </a:r>
            <a:r>
              <a:rPr lang="zh-CN" altLang="en-US" b="1" dirty="0"/>
              <a:t>限定子句</a:t>
            </a:r>
            <a:r>
              <a:rPr lang="zh-CN" altLang="en-US" dirty="0"/>
              <a:t>的知识库所蕴含。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</a:t>
            </a:r>
            <a:r>
              <a:rPr lang="zh-CN" altLang="en-US" dirty="0"/>
              <a:t>、它从知识库中的已知事实（正文字）出发。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</a:t>
            </a:r>
            <a:r>
              <a:rPr lang="zh-CN" altLang="en-US" dirty="0"/>
              <a:t>、如果蕴含式的所有前提已知，那么就把他的结论添加到已知事实集。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3</a:t>
            </a:r>
            <a:r>
              <a:rPr lang="zh-CN" altLang="en-US" dirty="0"/>
              <a:t>、这个过程持续进行，直到查询</a:t>
            </a:r>
            <a:r>
              <a:rPr lang="en-US" altLang="zh-CN" dirty="0"/>
              <a:t>q</a:t>
            </a:r>
            <a:r>
              <a:rPr lang="zh-CN" altLang="en-US" dirty="0"/>
              <a:t>被添加或者无法进行更进一步的推理。</a:t>
            </a: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883327F5-7DE9-D6FF-B136-4F0C4859CE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74288034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281BD4C0-0327-BD3A-02E4-F55FA138F7A4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46" name="Notes Placeholder 2">
                <a:extLst>
                  <a:ext uri="{FF2B5EF4-FFF2-40B4-BE49-F238E27FC236}">
                    <a16:creationId xmlns:a16="http://schemas.microsoft.com/office/drawing/2014/main" id="{04219CEB-FE9D-34E0-F146-55E0E8AF7E59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>
              <a:ln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1" dirty="0"/>
                  <a:t>限定子句 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𝐵𝑟𝑒𝑒𝑧𝑒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∨ 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altLang="zh-CN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746" name="Notes Placeholder 2">
                <a:extLst>
                  <a:ext uri="{FF2B5EF4-FFF2-40B4-BE49-F238E27FC236}">
                    <a16:creationId xmlns:a16="http://schemas.microsoft.com/office/drawing/2014/main" id="{04219CEB-FE9D-34E0-F146-55E0E8AF7E59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>
              <a:ln/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1" dirty="0"/>
                  <a:t>限定子句 </a:t>
                </a:r>
                <a:r>
                  <a:rPr lang="en-US" altLang="zh-CN" b="1" dirty="0"/>
                  <a:t> 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(</a:t>
                </a:r>
                <a:r>
                  <a:rPr lang="en-US" altLang="zh-CN" i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¬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𝐿_1,1  ∨</a:t>
                </a:r>
                <a:r>
                  <a:rPr lang="en-US" altLang="zh-CN" i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¬</a:t>
                </a:r>
                <a:r>
                  <a:rPr lang="en-US" altLang="zh-CN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𝐵𝑟𝑒𝑒𝑧𝑒 ∨ 𝐵_1,1) </a:t>
                </a:r>
                <a:r>
                  <a:rPr lang="en-US" altLang="zh-CN" b="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:endParaRPr lang="zh-CN" altLang="en-US" dirty="0"/>
              </a:p>
            </p:txBody>
          </p:sp>
        </mc:Fallback>
      </mc:AlternateContent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883327F5-7DE9-D6FF-B136-4F0C4859CE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51213308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281BD4C0-0327-BD3A-02E4-F55FA138F7A4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04219CEB-FE9D-34E0-F146-55E0E8AF7E5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r>
              <a:rPr lang="en-US" altLang="zh-CN" dirty="0"/>
              <a:t> (a)   Horn</a:t>
            </a:r>
            <a:r>
              <a:rPr lang="zh-CN" altLang="en-US" dirty="0"/>
              <a:t>子句集合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）对应的与或图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在与或图中，由弧线联系起来的多条连线代表合取</a:t>
            </a:r>
            <a:r>
              <a:rPr lang="en-US" altLang="zh-CN" dirty="0"/>
              <a:t>——</a:t>
            </a:r>
            <a:r>
              <a:rPr lang="zh-CN" altLang="en-US" dirty="0"/>
              <a:t>每条连接都必须证明，而没有弧线的多条连接表示析取</a:t>
            </a:r>
            <a:r>
              <a:rPr lang="en-US" altLang="zh-CN" dirty="0"/>
              <a:t>——</a:t>
            </a:r>
            <a:r>
              <a:rPr lang="zh-CN" altLang="en-US" dirty="0"/>
              <a:t>任一连线都可以证明。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A</a:t>
            </a:r>
            <a:r>
              <a:rPr lang="zh-CN" altLang="en-US" b="1" dirty="0"/>
              <a:t>和</a:t>
            </a:r>
            <a:r>
              <a:rPr lang="en-US" altLang="zh-CN" b="1" dirty="0"/>
              <a:t>B</a:t>
            </a:r>
            <a:r>
              <a:rPr lang="zh-CN" altLang="en-US" b="1" dirty="0"/>
              <a:t>是已知事实</a:t>
            </a:r>
            <a:r>
              <a:rPr lang="zh-CN" altLang="en-US" dirty="0"/>
              <a:t>。</a:t>
            </a: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883327F5-7DE9-D6FF-B136-4F0C4859CE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45220892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281BD4C0-0327-BD3A-02E4-F55FA138F7A4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04219CEB-FE9D-34E0-F146-55E0E8AF7E5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r>
              <a:rPr lang="en-US" altLang="zh-CN" dirty="0"/>
              <a:t>(a)Horn</a:t>
            </a:r>
            <a:r>
              <a:rPr lang="zh-CN" altLang="en-US" dirty="0"/>
              <a:t>子句集合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）对应的与或图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在与或图中，由弧线联系起来的多条连线代表合取</a:t>
            </a:r>
            <a:r>
              <a:rPr lang="en-US" altLang="zh-CN" dirty="0"/>
              <a:t>——</a:t>
            </a:r>
            <a:r>
              <a:rPr lang="zh-CN" altLang="en-US" dirty="0"/>
              <a:t>每条连接都必须证明，而没有弧线的多条连接表示析取</a:t>
            </a:r>
            <a:r>
              <a:rPr lang="en-US" altLang="zh-CN" dirty="0"/>
              <a:t>——</a:t>
            </a:r>
            <a:r>
              <a:rPr lang="zh-CN" altLang="en-US" dirty="0"/>
              <a:t>任一连线都可以证明。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A</a:t>
            </a:r>
            <a:r>
              <a:rPr lang="zh-CN" altLang="en-US" b="1" dirty="0"/>
              <a:t>和</a:t>
            </a:r>
            <a:r>
              <a:rPr lang="en-US" altLang="zh-CN" b="1" dirty="0"/>
              <a:t>B</a:t>
            </a:r>
            <a:r>
              <a:rPr lang="zh-CN" altLang="en-US" b="1" dirty="0"/>
              <a:t>是已知事实</a:t>
            </a:r>
            <a:r>
              <a:rPr lang="zh-CN" altLang="en-US" dirty="0"/>
              <a:t>。</a:t>
            </a: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883327F5-7DE9-D6FF-B136-4F0C4859CE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97822865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281BD4C0-0327-BD3A-02E4-F55FA138F7A4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04219CEB-FE9D-34E0-F146-55E0E8AF7E5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r>
              <a:rPr lang="en-US" altLang="zh-CN" dirty="0"/>
              <a:t>(a)Horn</a:t>
            </a:r>
            <a:r>
              <a:rPr lang="zh-CN" altLang="en-US" dirty="0"/>
              <a:t>子句集合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）对应的与或图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在与或图中，由弧线联系起来的多条连线代表合取</a:t>
            </a:r>
            <a:r>
              <a:rPr lang="en-US" altLang="zh-CN" dirty="0"/>
              <a:t>——</a:t>
            </a:r>
            <a:r>
              <a:rPr lang="zh-CN" altLang="en-US" dirty="0"/>
              <a:t>每条连接都必须证明，而没有弧线的多条连接表示析取</a:t>
            </a:r>
            <a:r>
              <a:rPr lang="en-US" altLang="zh-CN" dirty="0"/>
              <a:t>——</a:t>
            </a:r>
            <a:r>
              <a:rPr lang="zh-CN" altLang="en-US" dirty="0"/>
              <a:t>任一连线都可以证明。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A</a:t>
            </a:r>
            <a:r>
              <a:rPr lang="zh-CN" altLang="en-US" b="1" dirty="0"/>
              <a:t>和</a:t>
            </a:r>
            <a:r>
              <a:rPr lang="en-US" altLang="zh-CN" b="1" dirty="0"/>
              <a:t>B</a:t>
            </a:r>
            <a:r>
              <a:rPr lang="zh-CN" altLang="en-US" b="1" dirty="0"/>
              <a:t>是已知事实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883327F5-7DE9-D6FF-B136-4F0C4859CE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67604939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281BD4C0-0327-BD3A-02E4-F55FA138F7A4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04219CEB-FE9D-34E0-F146-55E0E8AF7E5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r>
              <a:rPr lang="en-US" altLang="zh-CN" dirty="0"/>
              <a:t>(a)Horn</a:t>
            </a:r>
            <a:r>
              <a:rPr lang="zh-CN" altLang="en-US" dirty="0"/>
              <a:t>子句集合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）对应的与或图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在与或图中，由弧线联系起来的多条连线代表合取</a:t>
            </a:r>
            <a:r>
              <a:rPr lang="en-US" altLang="zh-CN" dirty="0"/>
              <a:t>——</a:t>
            </a:r>
            <a:r>
              <a:rPr lang="zh-CN" altLang="en-US" dirty="0"/>
              <a:t>每条连接都必须证明，而没有弧线的多条连接表示析取</a:t>
            </a:r>
            <a:r>
              <a:rPr lang="en-US" altLang="zh-CN" dirty="0"/>
              <a:t>——</a:t>
            </a:r>
            <a:r>
              <a:rPr lang="zh-CN" altLang="en-US" dirty="0"/>
              <a:t>任一连线都可以证明。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A</a:t>
            </a:r>
            <a:r>
              <a:rPr lang="zh-CN" altLang="en-US" b="1" dirty="0"/>
              <a:t>和</a:t>
            </a:r>
            <a:r>
              <a:rPr lang="en-US" altLang="zh-CN" b="1" dirty="0"/>
              <a:t>B</a:t>
            </a:r>
            <a:r>
              <a:rPr lang="zh-CN" altLang="en-US" b="1" dirty="0"/>
              <a:t>是已知事实</a:t>
            </a:r>
            <a:r>
              <a:rPr lang="zh-CN" altLang="en-US" dirty="0"/>
              <a:t>。</a:t>
            </a: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883327F5-7DE9-D6FF-B136-4F0C4859CE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44526195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4B9714C5-38D5-C4A6-8412-68EFFF4420C8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CC5554BE-AADB-80CA-3C93-6A0775FF611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r>
              <a:rPr lang="en-US" altLang="zh-CN" dirty="0"/>
              <a:t>(a)Horn</a:t>
            </a:r>
            <a:r>
              <a:rPr lang="zh-CN" altLang="en-US" dirty="0"/>
              <a:t>子句集合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）对应的与或图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在与或图中，由弧线联系起来的多条连线代表合取</a:t>
            </a:r>
            <a:r>
              <a:rPr lang="en-US" altLang="zh-CN" dirty="0"/>
              <a:t>——</a:t>
            </a:r>
            <a:r>
              <a:rPr lang="zh-CN" altLang="en-US" dirty="0"/>
              <a:t>每条连接都必须证明，而没有弧线的多条连接表示析取</a:t>
            </a:r>
            <a:r>
              <a:rPr lang="en-US" altLang="zh-CN" dirty="0"/>
              <a:t>——</a:t>
            </a:r>
            <a:r>
              <a:rPr lang="zh-CN" altLang="en-US" dirty="0"/>
              <a:t>任一连线都可以证明。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A</a:t>
            </a:r>
            <a:r>
              <a:rPr lang="zh-CN" altLang="en-US" b="1" dirty="0"/>
              <a:t>和</a:t>
            </a:r>
            <a:r>
              <a:rPr lang="en-US" altLang="zh-CN" b="1" dirty="0"/>
              <a:t>B</a:t>
            </a:r>
            <a:r>
              <a:rPr lang="zh-CN" altLang="en-US" b="1" dirty="0"/>
              <a:t>是已知事实</a:t>
            </a:r>
            <a:r>
              <a:rPr lang="zh-CN" altLang="en-US" dirty="0"/>
              <a:t>。</a:t>
            </a: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60BC5B99-D9DE-9441-D46D-3ACDBFD9DC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4B9714C5-38D5-C4A6-8412-68EFFF4420C8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CC5554BE-AADB-80CA-3C93-6A0775FF611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r>
              <a:rPr lang="zh-CN" altLang="en-US" dirty="0"/>
              <a:t>反向链接算法正如他的名字，从查询开始进行推理。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、如果查询</a:t>
            </a:r>
            <a:r>
              <a:rPr lang="en-US" altLang="zh-CN" dirty="0"/>
              <a:t>q</a:t>
            </a:r>
            <a:r>
              <a:rPr lang="zh-CN" altLang="en-US" dirty="0"/>
              <a:t>已知为真，那么无须进行任何操作。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、否则，算法寻找知识库中那些能以</a:t>
            </a:r>
            <a:r>
              <a:rPr lang="en-US" altLang="zh-CN" dirty="0"/>
              <a:t>q</a:t>
            </a:r>
            <a:r>
              <a:rPr lang="zh-CN" altLang="en-US" dirty="0"/>
              <a:t>为结论的蕴含式。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、如果其中某个蕴含式的所有前提都能证明为真，则</a:t>
            </a:r>
            <a:r>
              <a:rPr lang="en-US" altLang="zh-CN" dirty="0"/>
              <a:t>q</a:t>
            </a:r>
            <a:r>
              <a:rPr lang="zh-CN" altLang="en-US" dirty="0"/>
              <a:t>为真。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当把反向链接算法应用于图中的查询</a:t>
            </a:r>
            <a:r>
              <a:rPr lang="en-US" altLang="zh-CN" dirty="0"/>
              <a:t>q</a:t>
            </a:r>
            <a:r>
              <a:rPr lang="zh-CN" altLang="en-US" dirty="0"/>
              <a:t>时，他将沿着图后退，直到构成证明基础的已知事实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组成的集合为止。</a:t>
            </a:r>
            <a:endParaRPr lang="en-US" altLang="zh-CN" dirty="0"/>
          </a:p>
          <a:p>
            <a:endParaRPr lang="zh-CN" altLang="en-US" dirty="0"/>
          </a:p>
          <a:p>
            <a:endParaRPr lang="zh-CN" altLang="zh-CN" dirty="0">
              <a:ea typeface="MS PGothic" panose="020B0600070205080204" pitchFamily="34" charset="-128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60BC5B99-D9DE-9441-D46D-3ACDBFD9DC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19283692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4B9714C5-38D5-C4A6-8412-68EFFF4420C8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CC5554BE-AADB-80CA-3C93-6A0775FF611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ln/>
        </p:spPr>
        <p:txBody>
          <a:bodyPr/>
          <a:lstStyle/>
          <a:p>
            <a:r>
              <a:rPr lang="en-US" altLang="zh-CN" dirty="0"/>
              <a:t>(a)Horn</a:t>
            </a:r>
            <a:r>
              <a:rPr lang="zh-CN" altLang="en-US" dirty="0"/>
              <a:t>子句集合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）对应的与或图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在与或图中，由弧线联系起来的多条连线代表合取</a:t>
            </a:r>
            <a:r>
              <a:rPr lang="en-US" altLang="zh-CN" dirty="0"/>
              <a:t>——</a:t>
            </a:r>
            <a:r>
              <a:rPr lang="zh-CN" altLang="en-US" dirty="0"/>
              <a:t>每条连接都必须证明，而没有弧线的多条连接表示析取</a:t>
            </a:r>
            <a:r>
              <a:rPr lang="en-US" altLang="zh-CN" dirty="0"/>
              <a:t>——</a:t>
            </a:r>
            <a:r>
              <a:rPr lang="zh-CN" altLang="en-US" dirty="0"/>
              <a:t>任一连线都可以证明。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A</a:t>
            </a:r>
            <a:r>
              <a:rPr lang="zh-CN" altLang="en-US" b="1" dirty="0"/>
              <a:t>和</a:t>
            </a:r>
            <a:r>
              <a:rPr lang="en-US" altLang="zh-CN" b="1" dirty="0"/>
              <a:t>B</a:t>
            </a:r>
            <a:r>
              <a:rPr lang="zh-CN" altLang="en-US" b="1" dirty="0"/>
              <a:t>是已知事实</a:t>
            </a:r>
            <a:r>
              <a:rPr lang="zh-CN" altLang="en-US" dirty="0"/>
              <a:t>。</a:t>
            </a: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60BC5B99-D9DE-9441-D46D-3ACDBFD9DC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01411309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幻灯片图像占位符 1">
            <a:extLst>
              <a:ext uri="{FF2B5EF4-FFF2-40B4-BE49-F238E27FC236}">
                <a16:creationId xmlns:a16="http://schemas.microsoft.com/office/drawing/2014/main" id="{26092B96-777B-1A8E-0DCE-7BBE11EB43C6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0" name="文本占位符 2">
                <a:extLst>
                  <a:ext uri="{FF2B5EF4-FFF2-40B4-BE49-F238E27FC236}">
                    <a16:creationId xmlns:a16="http://schemas.microsoft.com/office/drawing/2014/main" id="{C0E4730B-E431-D64E-F192-583A6AA5D355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solidFill>
                      <a:schemeClr val="tx1"/>
                    </a:solidFill>
                  </a:rPr>
                  <a:t>有效的命题逻辑模型检验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The problem of determining the satisfiability of sentences</a:t>
                </a:r>
              </a:p>
              <a:p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SAT in propositional logic—the </a:t>
                </a:r>
                <a:r>
                  <a:rPr lang="en-US" altLang="zh-CN" sz="1200" b="1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SAT </a:t>
                </a:r>
                <a:r>
                  <a:rPr lang="en-US" altLang="zh-CN" sz="1200" b="0" i="0" u="none" strike="noStrike" kern="1200" baseline="0" dirty="0">
                    <a:solidFill>
                      <a:schemeClr val="tx1"/>
                    </a:solidFill>
                    <a:latin typeface="Arial" panose="020B0604020202090204" pitchFamily="34" charset="0"/>
                    <a:ea typeface="+mn-ea"/>
                    <a:cs typeface="+mn-cs"/>
                  </a:rPr>
                  <a:t>problem—was the first problem proved to be NP-complete.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7890" name="文本占位符 2">
                <a:extLst>
                  <a:ext uri="{FF2B5EF4-FFF2-40B4-BE49-F238E27FC236}">
                    <a16:creationId xmlns:a16="http://schemas.microsoft.com/office/drawing/2014/main" id="{C0E4730B-E431-D64E-F192-583A6AA5D355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The constraint graph:</a:t>
                </a:r>
                <a:r>
                  <a:rPr lang="en-US" altLang="zh-CN" baseline="0" dirty="0"/>
                  <a:t> </a:t>
                </a:r>
                <a:r>
                  <a:rPr lang="zh-CN" altLang="en-US" baseline="0" dirty="0"/>
                  <a:t>约束图</a:t>
                </a:r>
                <a:endParaRPr lang="en-US" altLang="zh-CN" baseline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aseline="0" dirty="0"/>
                  <a:t>在处理实际问题时，我们通常希望将它分解为很多子问题。</a:t>
                </a:r>
                <a:endParaRPr lang="en-US" altLang="zh-CN" baseline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baseline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aseline="0" dirty="0"/>
                  <a:t>例如，在着色问题中，</a:t>
                </a:r>
                <a:r>
                  <a:rPr lang="en-US" altLang="zh-CN" baseline="0" dirty="0"/>
                  <a:t>Tasmania</a:t>
                </a:r>
                <a:r>
                  <a:rPr lang="zh-CN" altLang="en-US" baseline="0" dirty="0"/>
                  <a:t>和大陆不相连。直观上来看，显然对</a:t>
                </a:r>
                <a:r>
                  <a:rPr lang="en-US" altLang="zh-CN" baseline="0" dirty="0"/>
                  <a:t>Tasmania</a:t>
                </a:r>
                <a:r>
                  <a:rPr lang="zh-CN" altLang="en-US" baseline="0" dirty="0"/>
                  <a:t>和大陆着色是两个独立的子问题。即，任何</a:t>
                </a:r>
                <a:r>
                  <a:rPr lang="en-US" altLang="zh-CN" baseline="0" dirty="0"/>
                  <a:t>Tasmania</a:t>
                </a:r>
                <a:r>
                  <a:rPr lang="zh-CN" altLang="en-US" baseline="0" dirty="0"/>
                  <a:t>的着色和大陆的着色合并起来都是整个问题的解。</a:t>
                </a:r>
                <a:endParaRPr lang="en-US" altLang="zh-CN" baseline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baseline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aseline="0" dirty="0"/>
                  <a:t>独立性：通过搜寻约束图中的</a:t>
                </a:r>
                <a:r>
                  <a:rPr lang="zh-CN" altLang="en-US" b="1" baseline="0" dirty="0"/>
                  <a:t>连通子图</a:t>
                </a:r>
                <a:r>
                  <a:rPr lang="zh-CN" altLang="en-US" baseline="0" dirty="0"/>
                  <a:t>来确定。</a:t>
                </a:r>
                <a:endParaRPr lang="en-US" altLang="zh-CN" baseline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b="1" dirty="0"/>
                  <a:t>connected components </a:t>
                </a:r>
                <a:r>
                  <a:rPr lang="zh-CN" altLang="en-US" b="1" baseline="0" dirty="0"/>
                  <a:t>连通子图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zh-CN" altLang="en-US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独立性可以通过约束图中寻找</a:t>
                </a:r>
                <a:r>
                  <a:rPr lang="zh-CN" alt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连通域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来确定。每个连通域对应于一个子问题</a:t>
                </a:r>
                <a:r>
                  <a:rPr lang="en-US" altLang="zh-CN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〖𝑪𝑺𝑷〗_𝒊 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。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zh-CN" alt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1624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幻灯片图像占位符 1">
            <a:extLst>
              <a:ext uri="{FF2B5EF4-FFF2-40B4-BE49-F238E27FC236}">
                <a16:creationId xmlns:a16="http://schemas.microsoft.com/office/drawing/2014/main" id="{26092B96-777B-1A8E-0DCE-7BBE11EB43C6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0" name="文本占位符 2">
                <a:extLst>
                  <a:ext uri="{FF2B5EF4-FFF2-40B4-BE49-F238E27FC236}">
                    <a16:creationId xmlns:a16="http://schemas.microsoft.com/office/drawing/2014/main" id="{C0E4730B-E431-D64E-F192-583A6AA5D355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构造基于命题逻辑的</a:t>
                </a:r>
                <a:r>
                  <a:rPr lang="en-US" altLang="zh-CN" dirty="0" err="1"/>
                  <a:t>wumpus</a:t>
                </a:r>
                <a:r>
                  <a:rPr lang="zh-CN" altLang="en-US" dirty="0"/>
                  <a:t>世界</a:t>
                </a:r>
                <a:r>
                  <a:rPr lang="en-US" altLang="zh-CN" dirty="0"/>
                  <a:t>agent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1</a:t>
                </a:r>
                <a:r>
                  <a:rPr lang="zh-CN" altLang="en-US" dirty="0"/>
                  <a:t>、给定感知历史信息下，保证</a:t>
                </a:r>
                <a:r>
                  <a:rPr lang="en-US" altLang="zh-CN" dirty="0"/>
                  <a:t>agent</a:t>
                </a:r>
                <a:r>
                  <a:rPr lang="zh-CN" altLang="en-US" dirty="0"/>
                  <a:t>对世界状态进行推理</a:t>
                </a:r>
                <a:endParaRPr lang="en-US" altLang="zh-CN" dirty="0"/>
              </a:p>
              <a:p>
                <a:r>
                  <a:rPr lang="en-US" altLang="zh-CN" dirty="0"/>
                  <a:t>2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agent</a:t>
                </a:r>
                <a:r>
                  <a:rPr lang="zh-CN" altLang="en-US" dirty="0"/>
                  <a:t>能有效跟踪世界的变化</a:t>
                </a:r>
                <a:endParaRPr lang="en-US" altLang="zh-CN" dirty="0"/>
              </a:p>
              <a:p>
                <a:r>
                  <a:rPr lang="en-US" altLang="zh-CN" dirty="0"/>
                  <a:t>3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agent</a:t>
                </a:r>
                <a:r>
                  <a:rPr lang="zh-CN" altLang="en-US" dirty="0"/>
                  <a:t>如何使用逻辑推理确保达到目标</a:t>
                </a:r>
              </a:p>
            </p:txBody>
          </p:sp>
        </mc:Choice>
        <mc:Fallback xmlns="">
          <p:sp>
            <p:nvSpPr>
              <p:cNvPr id="37890" name="文本占位符 2">
                <a:extLst>
                  <a:ext uri="{FF2B5EF4-FFF2-40B4-BE49-F238E27FC236}">
                    <a16:creationId xmlns:a16="http://schemas.microsoft.com/office/drawing/2014/main" id="{C0E4730B-E431-D64E-F192-583A6AA5D355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dirty="0"/>
                  <a:t>The constraint graph:</a:t>
                </a:r>
                <a:r>
                  <a:rPr lang="en-US" altLang="zh-CN" baseline="0" dirty="0"/>
                  <a:t> </a:t>
                </a:r>
                <a:r>
                  <a:rPr lang="zh-CN" altLang="en-US" baseline="0" dirty="0"/>
                  <a:t>约束图</a:t>
                </a:r>
                <a:endParaRPr lang="en-US" altLang="zh-CN" baseline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aseline="0" dirty="0"/>
                  <a:t>在处理实际问题时，我们通常希望将它分解为很多子问题。</a:t>
                </a:r>
                <a:endParaRPr lang="en-US" altLang="zh-CN" baseline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baseline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aseline="0" dirty="0"/>
                  <a:t>例如，在着色问题中，</a:t>
                </a:r>
                <a:r>
                  <a:rPr lang="en-US" altLang="zh-CN" baseline="0" dirty="0"/>
                  <a:t>Tasmania</a:t>
                </a:r>
                <a:r>
                  <a:rPr lang="zh-CN" altLang="en-US" baseline="0" dirty="0"/>
                  <a:t>和大陆不相连。直观上来看，显然对</a:t>
                </a:r>
                <a:r>
                  <a:rPr lang="en-US" altLang="zh-CN" baseline="0" dirty="0"/>
                  <a:t>Tasmania</a:t>
                </a:r>
                <a:r>
                  <a:rPr lang="zh-CN" altLang="en-US" baseline="0" dirty="0"/>
                  <a:t>和大陆着色是两个独立的子问题。即，任何</a:t>
                </a:r>
                <a:r>
                  <a:rPr lang="en-US" altLang="zh-CN" baseline="0" dirty="0"/>
                  <a:t>Tasmania</a:t>
                </a:r>
                <a:r>
                  <a:rPr lang="zh-CN" altLang="en-US" baseline="0" dirty="0"/>
                  <a:t>的着色和大陆的着色合并起来都是整个问题的解。</a:t>
                </a:r>
                <a:endParaRPr lang="en-US" altLang="zh-CN" baseline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baseline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aseline="0" dirty="0"/>
                  <a:t>独立性：通过搜寻约束图中的</a:t>
                </a:r>
                <a:r>
                  <a:rPr lang="zh-CN" altLang="en-US" b="1" baseline="0" dirty="0"/>
                  <a:t>连通子图</a:t>
                </a:r>
                <a:r>
                  <a:rPr lang="zh-CN" altLang="en-US" baseline="0" dirty="0"/>
                  <a:t>来确定。</a:t>
                </a:r>
                <a:endParaRPr lang="en-US" altLang="zh-CN" baseline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b="1" dirty="0"/>
                  <a:t>connected components </a:t>
                </a:r>
                <a:r>
                  <a:rPr lang="zh-CN" altLang="en-US" b="1" baseline="0" dirty="0"/>
                  <a:t>连通子图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zh-CN" altLang="en-US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独立性可以通过约束图中寻找</a:t>
                </a:r>
                <a:r>
                  <a:rPr lang="zh-CN" alt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连通域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来确定。每个连通域对应于一个子问题</a:t>
                </a:r>
                <a:r>
                  <a:rPr lang="en-US" altLang="zh-CN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〖𝑪𝑺𝑷〗_𝒊  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+mn-ea"/>
                  </a:rPr>
                  <a:t>。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zh-CN" alt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918497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>
            <a:extLst>
              <a:ext uri="{FF2B5EF4-FFF2-40B4-BE49-F238E27FC236}">
                <a16:creationId xmlns:a16="http://schemas.microsoft.com/office/drawing/2014/main" id="{9447DD22-729B-D0DB-A7E5-77D9C40F2B00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9938" name="文本占位符 2">
            <a:extLst>
              <a:ext uri="{FF2B5EF4-FFF2-40B4-BE49-F238E27FC236}">
                <a16:creationId xmlns:a16="http://schemas.microsoft.com/office/drawing/2014/main" id="{2CF34ED2-149E-524A-2692-FAF4DAFF703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>
            <a:extLst>
              <a:ext uri="{FF2B5EF4-FFF2-40B4-BE49-F238E27FC236}">
                <a16:creationId xmlns:a16="http://schemas.microsoft.com/office/drawing/2014/main" id="{9447DD22-729B-D0DB-A7E5-77D9C40F2B00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38" name="文本占位符 2">
                <a:extLst>
                  <a:ext uri="{FF2B5EF4-FFF2-40B4-BE49-F238E27FC236}">
                    <a16:creationId xmlns:a16="http://schemas.microsoft.com/office/drawing/2014/main" id="{2CF34ED2-149E-524A-2692-FAF4DAFF703B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/>
              <a:lstStyle/>
              <a:p>
                <a:endParaRPr lang="zh-CN" altLang="en-US" dirty="0"/>
              </a:p>
            </p:txBody>
          </p:sp>
        </mc:Choice>
        <mc:Fallback xmlns="">
          <p:sp>
            <p:nvSpPr>
              <p:cNvPr id="39938" name="文本占位符 2">
                <a:extLst>
                  <a:ext uri="{FF2B5EF4-FFF2-40B4-BE49-F238E27FC236}">
                    <a16:creationId xmlns:a16="http://schemas.microsoft.com/office/drawing/2014/main" id="{2CF34ED2-149E-524A-2692-FAF4DAFF703B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/>
              <a:lstStyle/>
              <a:p>
                <a:r>
                  <a:rPr lang="en-US" altLang="zh-CN" b="1" dirty="0"/>
                  <a:t>cycle </a:t>
                </a:r>
                <a:r>
                  <a:rPr lang="en-US" altLang="zh-CN" b="1" dirty="0" err="1"/>
                  <a:t>cutset</a:t>
                </a:r>
                <a:r>
                  <a:rPr lang="en-US" altLang="zh-CN" b="1" dirty="0"/>
                  <a:t> </a:t>
                </a:r>
                <a:r>
                  <a:rPr lang="zh-CN" altLang="en-US" b="1" dirty="0"/>
                  <a:t>环割集</a:t>
                </a:r>
                <a:endParaRPr lang="en-US" altLang="zh-CN" b="1" dirty="0"/>
              </a:p>
              <a:p>
                <a:endParaRPr lang="en-US" altLang="zh-CN" b="1" dirty="0"/>
              </a:p>
              <a:p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）从</a:t>
                </a:r>
                <a:r>
                  <a:rPr lang="en-US" altLang="zh-CN" b="0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𝑉𝐴𝑅𝐼𝐴𝐵𝐿𝐸[𝑐𝑠𝑝]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中选择一个子集</a:t>
                </a:r>
                <a:r>
                  <a:rPr lang="en-US" altLang="zh-CN" b="0" i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𝑆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，使得约束图在删除</a:t>
                </a:r>
                <a:r>
                  <a:rPr lang="en-US" altLang="zh-CN" b="0" i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𝑆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之后成为一棵树。</a:t>
                </a:r>
                <a:r>
                  <a:rPr lang="en-US" altLang="zh-CN" b="0" dirty="0">
                    <a:cs typeface="Times New Roman" panose="02020603050405020304" pitchFamily="18" charset="0"/>
                  </a:rPr>
                  <a:t> </a:t>
                </a:r>
                <a:r>
                  <a:rPr lang="en-US" altLang="zh-CN" b="0" i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𝑆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称为</a:t>
                </a:r>
                <a:r>
                  <a:rPr lang="zh-CN" altLang="en-US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环割集（</a:t>
                </a:r>
                <a:r>
                  <a:rPr lang="en-US" altLang="zh-CN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cycle </a:t>
                </a:r>
                <a:r>
                  <a:rPr lang="en-US" altLang="zh-CN" b="0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cutset</a:t>
                </a:r>
                <a:r>
                  <a:rPr lang="zh-CN" altLang="en-US" b="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）对于满足</a:t>
                </a:r>
                <a:r>
                  <a:rPr lang="en-US" altLang="zh-CN" b="0" i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𝑆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所有约束条件变量的每个可能赋值：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(a) 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从剩余变量的值域中删除与</a:t>
                </a:r>
                <a:r>
                  <a:rPr lang="en-US" altLang="zh-CN" b="0" i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𝑆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的赋值不相容的值，并且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CN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</a:t>
                </a:r>
                <a:r>
                  <a:rPr lang="zh-CN" alt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如果去掉</a:t>
                </a:r>
                <a:r>
                  <a:rPr lang="en-US" altLang="zh-CN" sz="1200" b="0" i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𝑆</a:t>
                </a:r>
                <a:r>
                  <a:rPr lang="zh-CN" alt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后的剩余</a:t>
                </a:r>
                <a:r>
                  <a:rPr lang="en-US" altLang="zh-CN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CSP</a:t>
                </a:r>
                <a:r>
                  <a:rPr lang="zh-CN" alt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有解，把解和</a:t>
                </a:r>
                <a:r>
                  <a:rPr lang="en-US" altLang="zh-CN" sz="1200" b="0" i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𝑆</a:t>
                </a:r>
                <a:r>
                  <a:rPr lang="zh-CN" altLang="en-US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的赋值一起返回。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找到最小的环割集是一个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NP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难题，但是有些高效的近似算法。算法的总体方法叫</a:t>
                </a:r>
                <a:r>
                  <a:rPr lang="zh-CN" alt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割集调整（</a:t>
                </a:r>
                <a:r>
                  <a:rPr lang="en-US" altLang="zh-CN" b="1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cutset</a:t>
                </a:r>
                <a:r>
                  <a:rPr lang="en-US" altLang="zh-CN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conditioning</a:t>
                </a:r>
                <a:r>
                  <a:rPr lang="zh-CN" alt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r>
                  <a: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191329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>
            <a:extLst>
              <a:ext uri="{FF2B5EF4-FFF2-40B4-BE49-F238E27FC236}">
                <a16:creationId xmlns:a16="http://schemas.microsoft.com/office/drawing/2014/main" id="{9447DD22-729B-D0DB-A7E5-77D9C40F2B00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9938" name="文本占位符 2">
            <a:extLst>
              <a:ext uri="{FF2B5EF4-FFF2-40B4-BE49-F238E27FC236}">
                <a16:creationId xmlns:a16="http://schemas.microsoft.com/office/drawing/2014/main" id="{2CF34ED2-149E-524A-2692-FAF4DAFF703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64498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652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>
            <a:extLst>
              <a:ext uri="{FF2B5EF4-FFF2-40B4-BE49-F238E27FC236}">
                <a16:creationId xmlns:a16="http://schemas.microsoft.com/office/drawing/2014/main" id="{E27F0E8A-FBE3-41B6-A56B-7A14F7AAA7BA}"/>
              </a:ext>
            </a:extLst>
          </p:cNvPr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AB9554-0968-7F4C-B17C-055427BAAC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5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B478B4D-326B-4F22-B792-98AB7E9C8268}"/>
              </a:ext>
            </a:extLst>
          </p:cNvPr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742BE2E-64C4-45DC-B5F2-9CE85916052B}"/>
              </a:ext>
            </a:extLst>
          </p:cNvPr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BEB662E1-75A1-469F-B2C5-6EC6E8255C44}"/>
              </a:ext>
            </a:extLst>
          </p:cNvPr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CF32DCCF-D109-144D-93EF-7A463349C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D607238F-89BF-434F-A2F2-C5D1BB90B6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06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7CB78A0-538A-4F4C-97AC-5D6B9B36EAE3}"/>
              </a:ext>
            </a:extLst>
          </p:cNvPr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D3F2D1-9FCF-4792-8D92-8CA0C104ED79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1FBCD60-E317-434E-9948-6517EE806648}"/>
              </a:ext>
            </a:extLst>
          </p:cNvPr>
          <p:cNvCxnSpPr>
            <a:cxnSpLocks/>
          </p:cNvCxnSpPr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E5FF972F-6C72-4EB1-91BD-22FC6A6BFE55}"/>
              </a:ext>
            </a:extLst>
          </p:cNvPr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ED22ADE-3337-4765-824B-2BCE393B3BC8}"/>
              </a:ext>
            </a:extLst>
          </p:cNvPr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7F0E457-CBAE-48A1-9FDD-0AD48E16BB0E}"/>
              </a:ext>
            </a:extLst>
          </p:cNvPr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F5B61E3-C874-41BD-9977-575DE377EF7C}"/>
              </a:ext>
            </a:extLst>
          </p:cNvPr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79C958C-4261-4C02-847F-E854178B5EDF}"/>
              </a:ext>
            </a:extLst>
          </p:cNvPr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50FB6E99-D418-4444-914B-2306780544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547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>
            <a:extLst>
              <a:ext uri="{FF2B5EF4-FFF2-40B4-BE49-F238E27FC236}">
                <a16:creationId xmlns:a16="http://schemas.microsoft.com/office/drawing/2014/main" id="{5FB16484-E5F7-4B77-B7A5-FDAB1703AF52}"/>
              </a:ext>
            </a:extLst>
          </p:cNvPr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FD6F57-F8D0-494A-A461-A05057362E3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F3C94DC-BC3D-4914-BCEA-9BADE3C91715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D3B89C71-934D-411D-A2EA-05C70F77FCCA}"/>
              </a:ext>
            </a:extLst>
          </p:cNvPr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A837D7F3-A47E-4687-B46E-2D3048C16002}"/>
              </a:ext>
            </a:extLst>
          </p:cNvPr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FE10A76B-7B22-4776-AAF9-D0EEE0D973D2}"/>
              </a:ext>
            </a:extLst>
          </p:cNvPr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80425897-AA01-4101-B050-A034992317B0}"/>
              </a:ext>
            </a:extLst>
          </p:cNvPr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1DC1ADFB-E837-4D7F-B9F3-657D2F4ACAB6}"/>
              </a:ext>
            </a:extLst>
          </p:cNvPr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34BB7AD-2674-4436-98EF-FC7061F098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546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3D9E87-D3B4-4F53-99F3-7438B7E4D4AB}"/>
              </a:ext>
            </a:extLst>
          </p:cNvPr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D21FE1-F1E4-4E14-BF8F-A4D4ED823FBC}"/>
              </a:ext>
            </a:extLst>
          </p:cNvPr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76C3FD-32D6-4E41-B7F5-97F8A47A3D0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DD83EE6-28E8-42E1-9D1D-CEA16A3EF647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2CCFA9F-ED6D-4706-AB87-12B0B7099A55}"/>
              </a:ext>
            </a:extLst>
          </p:cNvPr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53FD0E-8CED-473A-8132-8C32D5EB7E41}"/>
              </a:ext>
            </a:extLst>
          </p:cNvPr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6A2882-5AAA-4796-ACBF-11DE20417AB5}"/>
              </a:ext>
            </a:extLst>
          </p:cNvPr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5BF0DA-9E98-46CA-BC5A-2F733F99C372}"/>
              </a:ext>
            </a:extLst>
          </p:cNvPr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44B3714-021E-44F1-A9C0-8DB23D7B89E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1017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>
            <a:extLst>
              <a:ext uri="{FF2B5EF4-FFF2-40B4-BE49-F238E27FC236}">
                <a16:creationId xmlns:a16="http://schemas.microsoft.com/office/drawing/2014/main" id="{F4B8A56B-7F99-43EE-87F0-42D96BE6E0C1}"/>
              </a:ext>
            </a:extLst>
          </p:cNvPr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7A4933-BE2B-4B78-BB0B-EFF272C4458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73394E7-E5C6-4B02-8A31-9C03D9C6FA0B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>
            <a:extLst>
              <a:ext uri="{FF2B5EF4-FFF2-40B4-BE49-F238E27FC236}">
                <a16:creationId xmlns:a16="http://schemas.microsoft.com/office/drawing/2014/main" id="{9FDAE5AE-1C3F-4A93-B305-B77CDC3F4BE2}"/>
              </a:ext>
            </a:extLst>
          </p:cNvPr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>
            <a:extLst>
              <a:ext uri="{FF2B5EF4-FFF2-40B4-BE49-F238E27FC236}">
                <a16:creationId xmlns:a16="http://schemas.microsoft.com/office/drawing/2014/main" id="{8B831D4E-CDC6-4513-9163-9BB77DDB0516}"/>
              </a:ext>
            </a:extLst>
          </p:cNvPr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>
            <a:extLst>
              <a:ext uri="{FF2B5EF4-FFF2-40B4-BE49-F238E27FC236}">
                <a16:creationId xmlns:a16="http://schemas.microsoft.com/office/drawing/2014/main" id="{25618009-D285-438D-BF60-F87BDBE0685A}"/>
              </a:ext>
            </a:extLst>
          </p:cNvPr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>
            <a:extLst>
              <a:ext uri="{FF2B5EF4-FFF2-40B4-BE49-F238E27FC236}">
                <a16:creationId xmlns:a16="http://schemas.microsoft.com/office/drawing/2014/main" id="{4A10CB81-B3E3-411C-90C9-3480A10EDB9B}"/>
              </a:ext>
            </a:extLst>
          </p:cNvPr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D251409D-FDB9-430B-A00F-D4A65811924B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63A1AFEA-57CF-4E71-AF6C-91E549CCF7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424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>
            <a:extLst>
              <a:ext uri="{FF2B5EF4-FFF2-40B4-BE49-F238E27FC236}">
                <a16:creationId xmlns:a16="http://schemas.microsoft.com/office/drawing/2014/main" id="{03B97F61-153E-4B6E-8D40-C8B9A7E64D60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B2B8D9-D400-4BD8-9CF6-DCEAAC82BDD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85F31B-D145-4BD9-A54B-96E8E681B170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>
            <a:extLst>
              <a:ext uri="{FF2B5EF4-FFF2-40B4-BE49-F238E27FC236}">
                <a16:creationId xmlns:a16="http://schemas.microsoft.com/office/drawing/2014/main" id="{883EB526-2712-4265-9BF4-5874AAB98515}"/>
              </a:ext>
            </a:extLst>
          </p:cNvPr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C7D4DE0F-D1AF-4276-ADBB-A15A5BFE8CB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>
            <a:extLst>
              <a:ext uri="{FF2B5EF4-FFF2-40B4-BE49-F238E27FC236}">
                <a16:creationId xmlns:a16="http://schemas.microsoft.com/office/drawing/2014/main" id="{DFA316F4-7F98-4275-AAEF-578596A2062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>
            <a:extLst>
              <a:ext uri="{FF2B5EF4-FFF2-40B4-BE49-F238E27FC236}">
                <a16:creationId xmlns:a16="http://schemas.microsoft.com/office/drawing/2014/main" id="{219BA2AF-DF75-4C32-85E3-CB62BA8F756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>
            <a:extLst>
              <a:ext uri="{FF2B5EF4-FFF2-40B4-BE49-F238E27FC236}">
                <a16:creationId xmlns:a16="http://schemas.microsoft.com/office/drawing/2014/main" id="{A86D27D2-3D87-4A30-89B6-7FAFD15E7EA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BD5DBA0-D1E0-4B8B-AF12-F77A29B64E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338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>
            <a:extLst>
              <a:ext uri="{FF2B5EF4-FFF2-40B4-BE49-F238E27FC236}">
                <a16:creationId xmlns:a16="http://schemas.microsoft.com/office/drawing/2014/main" id="{60753701-EC64-455B-B060-1320051E3FE3}"/>
              </a:ext>
            </a:extLst>
          </p:cNvPr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CBE861-C433-4078-A9A5-2C401EE3B270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DD6575-0576-4AFA-9BC4-891ADAB845BD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>
            <a:extLst>
              <a:ext uri="{FF2B5EF4-FFF2-40B4-BE49-F238E27FC236}">
                <a16:creationId xmlns:a16="http://schemas.microsoft.com/office/drawing/2014/main" id="{C48532B4-0A1B-49CC-99AA-FE75395721EF}"/>
              </a:ext>
            </a:extLst>
          </p:cNvPr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>
            <a:extLst>
              <a:ext uri="{FF2B5EF4-FFF2-40B4-BE49-F238E27FC236}">
                <a16:creationId xmlns:a16="http://schemas.microsoft.com/office/drawing/2014/main" id="{32356412-5283-4799-9197-98AEACE613AC}"/>
              </a:ext>
            </a:extLst>
          </p:cNvPr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>
            <a:extLst>
              <a:ext uri="{FF2B5EF4-FFF2-40B4-BE49-F238E27FC236}">
                <a16:creationId xmlns:a16="http://schemas.microsoft.com/office/drawing/2014/main" id="{4E421018-60A0-4F10-A9A6-A6EE3BBD8BF9}"/>
              </a:ext>
            </a:extLst>
          </p:cNvPr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>
            <a:extLst>
              <a:ext uri="{FF2B5EF4-FFF2-40B4-BE49-F238E27FC236}">
                <a16:creationId xmlns:a16="http://schemas.microsoft.com/office/drawing/2014/main" id="{9B17F2FA-61E0-4197-AD3A-2DE5104FF5C1}"/>
              </a:ext>
            </a:extLst>
          </p:cNvPr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>
            <a:extLst>
              <a:ext uri="{FF2B5EF4-FFF2-40B4-BE49-F238E27FC236}">
                <a16:creationId xmlns:a16="http://schemas.microsoft.com/office/drawing/2014/main" id="{1C86E54A-170E-4CA4-BE8B-1118DA74B7C4}"/>
              </a:ext>
            </a:extLst>
          </p:cNvPr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A5976A4D-F088-4D08-ABB4-FDF23F9CA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016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2CF8FAE-6DBB-42F8-A821-12D15C788E8C}"/>
              </a:ext>
            </a:extLst>
          </p:cNvPr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958D3BC-E7F4-4914-8CAC-14D6BF0FFFB3}"/>
              </a:ext>
            </a:extLst>
          </p:cNvPr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53FC77-9263-4C53-8F22-D64EBC3880B1}"/>
              </a:ext>
            </a:extLst>
          </p:cNvPr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B3BEEB7-FA72-410F-B92D-7D208F847B83}"/>
              </a:ext>
            </a:extLst>
          </p:cNvPr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2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C02326B7-0E5A-F24B-8BE7-D58545042A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391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EF621E98-351F-489A-ADCE-3FC79FDE6DDD}"/>
              </a:ext>
            </a:extLst>
          </p:cNvPr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C25A5A92-C8E6-4CA8-AB93-8B885C5EA989}"/>
              </a:ext>
            </a:extLst>
          </p:cNvPr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>
            <a:extLst>
              <a:ext uri="{FF2B5EF4-FFF2-40B4-BE49-F238E27FC236}">
                <a16:creationId xmlns:a16="http://schemas.microsoft.com/office/drawing/2014/main" id="{0B284135-360D-47CC-8BC2-5C03015968F7}"/>
              </a:ext>
            </a:extLst>
          </p:cNvPr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>
            <a:extLst>
              <a:ext uri="{FF2B5EF4-FFF2-40B4-BE49-F238E27FC236}">
                <a16:creationId xmlns:a16="http://schemas.microsoft.com/office/drawing/2014/main" id="{D0824BE2-0B1A-47B1-BAAF-7C29E1879AE7}"/>
              </a:ext>
            </a:extLst>
          </p:cNvPr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191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053D6D2E-F110-4473-8442-17B28C05A741}"/>
              </a:ext>
            </a:extLst>
          </p:cNvPr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BEB427-D252-4942-9F34-301C64219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358D7B-1DA9-9E4B-AFF1-9A13B20D4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ACA3C166-80E6-1B4A-AD5B-C8D474568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4B77A5BA-0111-5844-9F86-5926B121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44B829B2-7BD2-9948-8F21-7182730A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6280651B-EA0A-1E41-B81D-87E3C43E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8291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B0862E3-9A13-49FB-8057-D6463602E7B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33B73963-4941-42F0-9B00-7431FEF61A6C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9C71AABC-C91A-43D0-9AF8-0B6162EDC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A32A9019-0CBC-4C4A-90F0-2676ED9FC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1D06DB6D-BC70-544C-8EA4-3A3874C968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32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80DB1628-9D3D-4F59-B275-C695A900F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F01A7288-9F85-304B-887D-2D1E13D7A2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DE14FD2D-7810-B34E-8AFB-9A17BDEA70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93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F03BE017-E7F3-4A34-ABC3-ECA964258175}"/>
              </a:ext>
            </a:extLst>
          </p:cNvPr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>
            <a:extLst>
              <a:ext uri="{FF2B5EF4-FFF2-40B4-BE49-F238E27FC236}">
                <a16:creationId xmlns:a16="http://schemas.microsoft.com/office/drawing/2014/main" id="{D3B0A0DB-185C-4430-9224-1C0A227377F5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>
            <a:extLst>
              <a:ext uri="{FF2B5EF4-FFF2-40B4-BE49-F238E27FC236}">
                <a16:creationId xmlns:a16="http://schemas.microsoft.com/office/drawing/2014/main" id="{E3FA308D-84A8-4382-ADA4-2CD6EA622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68876A75-1BD3-9D4E-9D34-C6453E6DC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48222E54-5ACA-6D4B-9A58-9B51C83B62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14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>
            <a:extLst>
              <a:ext uri="{FF2B5EF4-FFF2-40B4-BE49-F238E27FC236}">
                <a16:creationId xmlns:a16="http://schemas.microsoft.com/office/drawing/2014/main" id="{260C43B2-4304-44E2-A6F0-062D59008B9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11D8ADCD-C58A-41B8-80C4-2341BB348593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>
            <a:extLst>
              <a:ext uri="{FF2B5EF4-FFF2-40B4-BE49-F238E27FC236}">
                <a16:creationId xmlns:a16="http://schemas.microsoft.com/office/drawing/2014/main" id="{841EB5B4-0657-4AE7-A427-642106D5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EC81340F-C45F-6B4F-9864-73BF32BA9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31D45924-509B-5D4C-A99D-FF1FB6F34B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94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D88D36A-B7BF-4F3A-AA10-0BECE80A55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>
            <a:extLst>
              <a:ext uri="{FF2B5EF4-FFF2-40B4-BE49-F238E27FC236}">
                <a16:creationId xmlns:a16="http://schemas.microsoft.com/office/drawing/2014/main" id="{DEC9F75E-9249-4FFE-AF96-E92B201A1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>
            <a:extLst>
              <a:ext uri="{FF2B5EF4-FFF2-40B4-BE49-F238E27FC236}">
                <a16:creationId xmlns:a16="http://schemas.microsoft.com/office/drawing/2014/main" id="{E7782F2A-850E-4B5F-8330-CF50AC9EFA7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>
            <a:extLst>
              <a:ext uri="{FF2B5EF4-FFF2-40B4-BE49-F238E27FC236}">
                <a16:creationId xmlns:a16="http://schemas.microsoft.com/office/drawing/2014/main" id="{25096E3E-9433-4D85-BA39-301B214A35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DF883148-B063-4C5A-9CC7-CE69774A8C94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B8A4FF80-ED1E-4D1D-9434-215EB5FB8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B3A067A2-39E8-0940-8B54-688BC270D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7D982EDC-1B4A-034E-9CE9-9172DBAF4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266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619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F00C798-F4CB-49E3-81E0-4CD12D5AEA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C1695A4-3593-4E25-8722-4214E3CC76B6}"/>
              </a:ext>
            </a:extLst>
          </p:cNvPr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A29C0276-5751-4797-BFA5-F68D05ACBB63}"/>
              </a:ext>
            </a:extLst>
          </p:cNvPr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D85E25CC-A5BC-44E2-9950-5BDC824D9AC1}"/>
              </a:ext>
            </a:extLst>
          </p:cNvPr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3267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B2DFB5F-1361-46F4-B3DF-471ECD4DCA18}"/>
              </a:ext>
            </a:extLst>
          </p:cNvPr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85D4CE6-0BBF-450D-B3AB-7C163A40E793}"/>
              </a:ext>
            </a:extLst>
          </p:cNvPr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68182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 bwMode="auto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D9281A-630A-D647-F925-722D8BEC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B596E2-AA30-6792-684A-C4CF1875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Artificial Intelligence a modern approach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14ED86-3759-CE59-E80F-0BE6032F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16600" y="1027114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fld id="{5D839138-5554-4A72-89BF-BBFB0D949EB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50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>
            <a:extLst>
              <a:ext uri="{FF2B5EF4-FFF2-40B4-BE49-F238E27FC236}">
                <a16:creationId xmlns:a16="http://schemas.microsoft.com/office/drawing/2014/main" id="{E27F0E8A-FBE3-41B6-A56B-7A14F7AAA7BA}"/>
              </a:ext>
            </a:extLst>
          </p:cNvPr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AB9554-0968-7F4C-B17C-055427BAAC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9419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B478B4D-326B-4F22-B792-98AB7E9C8268}"/>
              </a:ext>
            </a:extLst>
          </p:cNvPr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742BE2E-64C4-45DC-B5F2-9CE85916052B}"/>
              </a:ext>
            </a:extLst>
          </p:cNvPr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BEB662E1-75A1-469F-B2C5-6EC6E8255C44}"/>
              </a:ext>
            </a:extLst>
          </p:cNvPr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CF32DCCF-D109-144D-93EF-7A463349C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D607238F-89BF-434F-A2F2-C5D1BB90B6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791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7CB78A0-538A-4F4C-97AC-5D6B9B36EAE3}"/>
              </a:ext>
            </a:extLst>
          </p:cNvPr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D3F2D1-9FCF-4792-8D92-8CA0C104ED79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1FBCD60-E317-434E-9948-6517EE806648}"/>
              </a:ext>
            </a:extLst>
          </p:cNvPr>
          <p:cNvCxnSpPr>
            <a:cxnSpLocks/>
          </p:cNvCxnSpPr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E5FF972F-6C72-4EB1-91BD-22FC6A6BFE55}"/>
              </a:ext>
            </a:extLst>
          </p:cNvPr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ED22ADE-3337-4765-824B-2BCE393B3BC8}"/>
              </a:ext>
            </a:extLst>
          </p:cNvPr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7F0E457-CBAE-48A1-9FDD-0AD48E16BB0E}"/>
              </a:ext>
            </a:extLst>
          </p:cNvPr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F5B61E3-C874-41BD-9977-575DE377EF7C}"/>
              </a:ext>
            </a:extLst>
          </p:cNvPr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79C958C-4261-4C02-847F-E854178B5EDF}"/>
              </a:ext>
            </a:extLst>
          </p:cNvPr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50FB6E99-D418-4444-914B-2306780544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80141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>
            <a:extLst>
              <a:ext uri="{FF2B5EF4-FFF2-40B4-BE49-F238E27FC236}">
                <a16:creationId xmlns:a16="http://schemas.microsoft.com/office/drawing/2014/main" id="{5FB16484-E5F7-4B77-B7A5-FDAB1703AF52}"/>
              </a:ext>
            </a:extLst>
          </p:cNvPr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FD6F57-F8D0-494A-A461-A05057362E3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F3C94DC-BC3D-4914-BCEA-9BADE3C91715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D3B89C71-934D-411D-A2EA-05C70F77FCCA}"/>
              </a:ext>
            </a:extLst>
          </p:cNvPr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A837D7F3-A47E-4687-B46E-2D3048C16002}"/>
              </a:ext>
            </a:extLst>
          </p:cNvPr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FE10A76B-7B22-4776-AAF9-D0EEE0D973D2}"/>
              </a:ext>
            </a:extLst>
          </p:cNvPr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80425897-AA01-4101-B050-A034992317B0}"/>
              </a:ext>
            </a:extLst>
          </p:cNvPr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1DC1ADFB-E837-4D7F-B9F3-657D2F4ACAB6}"/>
              </a:ext>
            </a:extLst>
          </p:cNvPr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34BB7AD-2674-4436-98EF-FC7061F098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09037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3D9E87-D3B4-4F53-99F3-7438B7E4D4AB}"/>
              </a:ext>
            </a:extLst>
          </p:cNvPr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D21FE1-F1E4-4E14-BF8F-A4D4ED823FBC}"/>
              </a:ext>
            </a:extLst>
          </p:cNvPr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76C3FD-32D6-4E41-B7F5-97F8A47A3D0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DD83EE6-28E8-42E1-9D1D-CEA16A3EF647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2CCFA9F-ED6D-4706-AB87-12B0B7099A55}"/>
              </a:ext>
            </a:extLst>
          </p:cNvPr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53FD0E-8CED-473A-8132-8C32D5EB7E41}"/>
              </a:ext>
            </a:extLst>
          </p:cNvPr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6A2882-5AAA-4796-ACBF-11DE20417AB5}"/>
              </a:ext>
            </a:extLst>
          </p:cNvPr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5BF0DA-9E98-46CA-BC5A-2F733F99C372}"/>
              </a:ext>
            </a:extLst>
          </p:cNvPr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44B3714-021E-44F1-A9C0-8DB23D7B89E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78887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>
            <a:extLst>
              <a:ext uri="{FF2B5EF4-FFF2-40B4-BE49-F238E27FC236}">
                <a16:creationId xmlns:a16="http://schemas.microsoft.com/office/drawing/2014/main" id="{F4B8A56B-7F99-43EE-87F0-42D96BE6E0C1}"/>
              </a:ext>
            </a:extLst>
          </p:cNvPr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7A4933-BE2B-4B78-BB0B-EFF272C4458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73394E7-E5C6-4B02-8A31-9C03D9C6FA0B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>
            <a:extLst>
              <a:ext uri="{FF2B5EF4-FFF2-40B4-BE49-F238E27FC236}">
                <a16:creationId xmlns:a16="http://schemas.microsoft.com/office/drawing/2014/main" id="{9FDAE5AE-1C3F-4A93-B305-B77CDC3F4BE2}"/>
              </a:ext>
            </a:extLst>
          </p:cNvPr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>
            <a:extLst>
              <a:ext uri="{FF2B5EF4-FFF2-40B4-BE49-F238E27FC236}">
                <a16:creationId xmlns:a16="http://schemas.microsoft.com/office/drawing/2014/main" id="{8B831D4E-CDC6-4513-9163-9BB77DDB0516}"/>
              </a:ext>
            </a:extLst>
          </p:cNvPr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>
            <a:extLst>
              <a:ext uri="{FF2B5EF4-FFF2-40B4-BE49-F238E27FC236}">
                <a16:creationId xmlns:a16="http://schemas.microsoft.com/office/drawing/2014/main" id="{25618009-D285-438D-BF60-F87BDBE0685A}"/>
              </a:ext>
            </a:extLst>
          </p:cNvPr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>
            <a:extLst>
              <a:ext uri="{FF2B5EF4-FFF2-40B4-BE49-F238E27FC236}">
                <a16:creationId xmlns:a16="http://schemas.microsoft.com/office/drawing/2014/main" id="{4A10CB81-B3E3-411C-90C9-3480A10EDB9B}"/>
              </a:ext>
            </a:extLst>
          </p:cNvPr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D251409D-FDB9-430B-A00F-D4A65811924B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63A1AFEA-57CF-4E71-AF6C-91E549CCF7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30350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>
            <a:extLst>
              <a:ext uri="{FF2B5EF4-FFF2-40B4-BE49-F238E27FC236}">
                <a16:creationId xmlns:a16="http://schemas.microsoft.com/office/drawing/2014/main" id="{03B97F61-153E-4B6E-8D40-C8B9A7E64D60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B2B8D9-D400-4BD8-9CF6-DCEAAC82BDD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85F31B-D145-4BD9-A54B-96E8E681B170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>
            <a:extLst>
              <a:ext uri="{FF2B5EF4-FFF2-40B4-BE49-F238E27FC236}">
                <a16:creationId xmlns:a16="http://schemas.microsoft.com/office/drawing/2014/main" id="{883EB526-2712-4265-9BF4-5874AAB98515}"/>
              </a:ext>
            </a:extLst>
          </p:cNvPr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C7D4DE0F-D1AF-4276-ADBB-A15A5BFE8CB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>
            <a:extLst>
              <a:ext uri="{FF2B5EF4-FFF2-40B4-BE49-F238E27FC236}">
                <a16:creationId xmlns:a16="http://schemas.microsoft.com/office/drawing/2014/main" id="{DFA316F4-7F98-4275-AAEF-578596A2062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>
            <a:extLst>
              <a:ext uri="{FF2B5EF4-FFF2-40B4-BE49-F238E27FC236}">
                <a16:creationId xmlns:a16="http://schemas.microsoft.com/office/drawing/2014/main" id="{219BA2AF-DF75-4C32-85E3-CB62BA8F756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>
            <a:extLst>
              <a:ext uri="{FF2B5EF4-FFF2-40B4-BE49-F238E27FC236}">
                <a16:creationId xmlns:a16="http://schemas.microsoft.com/office/drawing/2014/main" id="{A86D27D2-3D87-4A30-89B6-7FAFD15E7EA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BD5DBA0-D1E0-4B8B-AF12-F77A29B64E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30533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>
            <a:extLst>
              <a:ext uri="{FF2B5EF4-FFF2-40B4-BE49-F238E27FC236}">
                <a16:creationId xmlns:a16="http://schemas.microsoft.com/office/drawing/2014/main" id="{60753701-EC64-455B-B060-1320051E3FE3}"/>
              </a:ext>
            </a:extLst>
          </p:cNvPr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CBE861-C433-4078-A9A5-2C401EE3B270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DD6575-0576-4AFA-9BC4-891ADAB845BD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>
            <a:extLst>
              <a:ext uri="{FF2B5EF4-FFF2-40B4-BE49-F238E27FC236}">
                <a16:creationId xmlns:a16="http://schemas.microsoft.com/office/drawing/2014/main" id="{C48532B4-0A1B-49CC-99AA-FE75395721EF}"/>
              </a:ext>
            </a:extLst>
          </p:cNvPr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>
            <a:extLst>
              <a:ext uri="{FF2B5EF4-FFF2-40B4-BE49-F238E27FC236}">
                <a16:creationId xmlns:a16="http://schemas.microsoft.com/office/drawing/2014/main" id="{32356412-5283-4799-9197-98AEACE613AC}"/>
              </a:ext>
            </a:extLst>
          </p:cNvPr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>
            <a:extLst>
              <a:ext uri="{FF2B5EF4-FFF2-40B4-BE49-F238E27FC236}">
                <a16:creationId xmlns:a16="http://schemas.microsoft.com/office/drawing/2014/main" id="{4E421018-60A0-4F10-A9A6-A6EE3BBD8BF9}"/>
              </a:ext>
            </a:extLst>
          </p:cNvPr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>
            <a:extLst>
              <a:ext uri="{FF2B5EF4-FFF2-40B4-BE49-F238E27FC236}">
                <a16:creationId xmlns:a16="http://schemas.microsoft.com/office/drawing/2014/main" id="{9B17F2FA-61E0-4197-AD3A-2DE5104FF5C1}"/>
              </a:ext>
            </a:extLst>
          </p:cNvPr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>
            <a:extLst>
              <a:ext uri="{FF2B5EF4-FFF2-40B4-BE49-F238E27FC236}">
                <a16:creationId xmlns:a16="http://schemas.microsoft.com/office/drawing/2014/main" id="{1C86E54A-170E-4CA4-BE8B-1118DA74B7C4}"/>
              </a:ext>
            </a:extLst>
          </p:cNvPr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A5976A4D-F088-4D08-ABB4-FDF23F9CA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64541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2CF8FAE-6DBB-42F8-A821-12D15C788E8C}"/>
              </a:ext>
            </a:extLst>
          </p:cNvPr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958D3BC-E7F4-4914-8CAC-14D6BF0FFFB3}"/>
              </a:ext>
            </a:extLst>
          </p:cNvPr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53FC77-9263-4C53-8F22-D64EBC3880B1}"/>
              </a:ext>
            </a:extLst>
          </p:cNvPr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B3BEEB7-FA72-410F-B92D-7D208F847B83}"/>
              </a:ext>
            </a:extLst>
          </p:cNvPr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2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C02326B7-0E5A-F24B-8BE7-D58545042A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2817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EF621E98-351F-489A-ADCE-3FC79FDE6DDD}"/>
              </a:ext>
            </a:extLst>
          </p:cNvPr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C25A5A92-C8E6-4CA8-AB93-8B885C5EA989}"/>
              </a:ext>
            </a:extLst>
          </p:cNvPr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>
            <a:extLst>
              <a:ext uri="{FF2B5EF4-FFF2-40B4-BE49-F238E27FC236}">
                <a16:creationId xmlns:a16="http://schemas.microsoft.com/office/drawing/2014/main" id="{0B284135-360D-47CC-8BC2-5C03015968F7}"/>
              </a:ext>
            </a:extLst>
          </p:cNvPr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>
            <a:extLst>
              <a:ext uri="{FF2B5EF4-FFF2-40B4-BE49-F238E27FC236}">
                <a16:creationId xmlns:a16="http://schemas.microsoft.com/office/drawing/2014/main" id="{D0824BE2-0B1A-47B1-BAAF-7C29E1879AE7}"/>
              </a:ext>
            </a:extLst>
          </p:cNvPr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8020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053D6D2E-F110-4473-8442-17B28C05A741}"/>
              </a:ext>
            </a:extLst>
          </p:cNvPr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BEB427-D252-4942-9F34-301C64219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358D7B-1DA9-9E4B-AFF1-9A13B20D4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ACA3C166-80E6-1B4A-AD5B-C8D474568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4B77A5BA-0111-5844-9F86-5926B121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44B829B2-7BD2-9948-8F21-7182730A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6280651B-EA0A-1E41-B81D-87E3C43E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53745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B0862E3-9A13-49FB-8057-D6463602E7B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33B73963-4941-42F0-9B00-7431FEF61A6C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9C71AABC-C91A-43D0-9AF8-0B6162EDC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A32A9019-0CBC-4C4A-90F0-2676ED9FC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1D06DB6D-BC70-544C-8EA4-3A3874C968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875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80DB1628-9D3D-4F59-B275-C695A900F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F01A7288-9F85-304B-887D-2D1E13D7A2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DE14FD2D-7810-B34E-8AFB-9A17BDEA70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7392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F03BE017-E7F3-4A34-ABC3-ECA964258175}"/>
              </a:ext>
            </a:extLst>
          </p:cNvPr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>
            <a:extLst>
              <a:ext uri="{FF2B5EF4-FFF2-40B4-BE49-F238E27FC236}">
                <a16:creationId xmlns:a16="http://schemas.microsoft.com/office/drawing/2014/main" id="{D3B0A0DB-185C-4430-9224-1C0A227377F5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>
            <a:extLst>
              <a:ext uri="{FF2B5EF4-FFF2-40B4-BE49-F238E27FC236}">
                <a16:creationId xmlns:a16="http://schemas.microsoft.com/office/drawing/2014/main" id="{E3FA308D-84A8-4382-ADA4-2CD6EA622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68876A75-1BD3-9D4E-9D34-C6453E6DC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48222E54-5ACA-6D4B-9A58-9B51C83B62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2988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>
            <a:extLst>
              <a:ext uri="{FF2B5EF4-FFF2-40B4-BE49-F238E27FC236}">
                <a16:creationId xmlns:a16="http://schemas.microsoft.com/office/drawing/2014/main" id="{260C43B2-4304-44E2-A6F0-062D59008B9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11D8ADCD-C58A-41B8-80C4-2341BB348593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>
            <a:extLst>
              <a:ext uri="{FF2B5EF4-FFF2-40B4-BE49-F238E27FC236}">
                <a16:creationId xmlns:a16="http://schemas.microsoft.com/office/drawing/2014/main" id="{841EB5B4-0657-4AE7-A427-642106D5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EC81340F-C45F-6B4F-9864-73BF32BA9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31D45924-509B-5D4C-A99D-FF1FB6F34B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789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D88D36A-B7BF-4F3A-AA10-0BECE80A55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>
            <a:extLst>
              <a:ext uri="{FF2B5EF4-FFF2-40B4-BE49-F238E27FC236}">
                <a16:creationId xmlns:a16="http://schemas.microsoft.com/office/drawing/2014/main" id="{DEC9F75E-9249-4FFE-AF96-E92B201A1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>
            <a:extLst>
              <a:ext uri="{FF2B5EF4-FFF2-40B4-BE49-F238E27FC236}">
                <a16:creationId xmlns:a16="http://schemas.microsoft.com/office/drawing/2014/main" id="{E7782F2A-850E-4B5F-8330-CF50AC9EFA7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>
            <a:extLst>
              <a:ext uri="{FF2B5EF4-FFF2-40B4-BE49-F238E27FC236}">
                <a16:creationId xmlns:a16="http://schemas.microsoft.com/office/drawing/2014/main" id="{25096E3E-9433-4D85-BA39-301B214A35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DF883148-B063-4C5A-9CC7-CE69774A8C94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B8A4FF80-ED1E-4D1D-9434-215EB5FB8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B3A067A2-39E8-0940-8B54-688BC270D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7D982EDC-1B4A-034E-9CE9-9172DBAF4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192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4143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F00C798-F4CB-49E3-81E0-4CD12D5AEA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C1695A4-3593-4E25-8722-4214E3CC76B6}"/>
              </a:ext>
            </a:extLst>
          </p:cNvPr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A29C0276-5751-4797-BFA5-F68D05ACBB63}"/>
              </a:ext>
            </a:extLst>
          </p:cNvPr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D85E25CC-A5BC-44E2-9950-5BDC824D9AC1}"/>
              </a:ext>
            </a:extLst>
          </p:cNvPr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0564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B2DFB5F-1361-46F4-B3DF-471ECD4DCA18}"/>
              </a:ext>
            </a:extLst>
          </p:cNvPr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85D4CE6-0BBF-450D-B3AB-7C163A40E793}"/>
              </a:ext>
            </a:extLst>
          </p:cNvPr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43127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 bwMode="auto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D9281A-630A-D647-F925-722D8BEC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B596E2-AA30-6792-684A-C4CF1875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Artificial Intelligence a modern approach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14ED86-3759-CE59-E80F-0BE6032F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16600" y="1027114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fld id="{5D839138-5554-4A72-89BF-BBFB0D949EB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41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>
            <a:extLst>
              <a:ext uri="{FF2B5EF4-FFF2-40B4-BE49-F238E27FC236}">
                <a16:creationId xmlns:a16="http://schemas.microsoft.com/office/drawing/2014/main" id="{E27F0E8A-FBE3-41B6-A56B-7A14F7AAA7BA}"/>
              </a:ext>
            </a:extLst>
          </p:cNvPr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AB9554-0968-7F4C-B17C-055427BAAC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056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B478B4D-326B-4F22-B792-98AB7E9C8268}"/>
              </a:ext>
            </a:extLst>
          </p:cNvPr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742BE2E-64C4-45DC-B5F2-9CE85916052B}"/>
              </a:ext>
            </a:extLst>
          </p:cNvPr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BEB662E1-75A1-469F-B2C5-6EC6E8255C44}"/>
              </a:ext>
            </a:extLst>
          </p:cNvPr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CF32DCCF-D109-144D-93EF-7A463349C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D607238F-89BF-434F-A2F2-C5D1BB90B6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3580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7CB78A0-538A-4F4C-97AC-5D6B9B36EAE3}"/>
              </a:ext>
            </a:extLst>
          </p:cNvPr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D3F2D1-9FCF-4792-8D92-8CA0C104ED79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1FBCD60-E317-434E-9948-6517EE806648}"/>
              </a:ext>
            </a:extLst>
          </p:cNvPr>
          <p:cNvCxnSpPr>
            <a:cxnSpLocks/>
          </p:cNvCxnSpPr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E5FF972F-6C72-4EB1-91BD-22FC6A6BFE55}"/>
              </a:ext>
            </a:extLst>
          </p:cNvPr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ED22ADE-3337-4765-824B-2BCE393B3BC8}"/>
              </a:ext>
            </a:extLst>
          </p:cNvPr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7F0E457-CBAE-48A1-9FDD-0AD48E16BB0E}"/>
              </a:ext>
            </a:extLst>
          </p:cNvPr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F5B61E3-C874-41BD-9977-575DE377EF7C}"/>
              </a:ext>
            </a:extLst>
          </p:cNvPr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79C958C-4261-4C02-847F-E854178B5EDF}"/>
              </a:ext>
            </a:extLst>
          </p:cNvPr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50FB6E99-D418-4444-914B-2306780544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7816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>
            <a:extLst>
              <a:ext uri="{FF2B5EF4-FFF2-40B4-BE49-F238E27FC236}">
                <a16:creationId xmlns:a16="http://schemas.microsoft.com/office/drawing/2014/main" id="{5FB16484-E5F7-4B77-B7A5-FDAB1703AF52}"/>
              </a:ext>
            </a:extLst>
          </p:cNvPr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FD6F57-F8D0-494A-A461-A05057362E3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F3C94DC-BC3D-4914-BCEA-9BADE3C91715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D3B89C71-934D-411D-A2EA-05C70F77FCCA}"/>
              </a:ext>
            </a:extLst>
          </p:cNvPr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A837D7F3-A47E-4687-B46E-2D3048C16002}"/>
              </a:ext>
            </a:extLst>
          </p:cNvPr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FE10A76B-7B22-4776-AAF9-D0EEE0D973D2}"/>
              </a:ext>
            </a:extLst>
          </p:cNvPr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80425897-AA01-4101-B050-A034992317B0}"/>
              </a:ext>
            </a:extLst>
          </p:cNvPr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1DC1ADFB-E837-4D7F-B9F3-657D2F4ACAB6}"/>
              </a:ext>
            </a:extLst>
          </p:cNvPr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34BB7AD-2674-4436-98EF-FC7061F098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832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3D9E87-D3B4-4F53-99F3-7438B7E4D4AB}"/>
              </a:ext>
            </a:extLst>
          </p:cNvPr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D21FE1-F1E4-4E14-BF8F-A4D4ED823FBC}"/>
              </a:ext>
            </a:extLst>
          </p:cNvPr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76C3FD-32D6-4E41-B7F5-97F8A47A3D0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DD83EE6-28E8-42E1-9D1D-CEA16A3EF647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2CCFA9F-ED6D-4706-AB87-12B0B7099A55}"/>
              </a:ext>
            </a:extLst>
          </p:cNvPr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53FD0E-8CED-473A-8132-8C32D5EB7E41}"/>
              </a:ext>
            </a:extLst>
          </p:cNvPr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6A2882-5AAA-4796-ACBF-11DE20417AB5}"/>
              </a:ext>
            </a:extLst>
          </p:cNvPr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5BF0DA-9E98-46CA-BC5A-2F733F99C372}"/>
              </a:ext>
            </a:extLst>
          </p:cNvPr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44B3714-021E-44F1-A9C0-8DB23D7B89E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47449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>
            <a:extLst>
              <a:ext uri="{FF2B5EF4-FFF2-40B4-BE49-F238E27FC236}">
                <a16:creationId xmlns:a16="http://schemas.microsoft.com/office/drawing/2014/main" id="{F4B8A56B-7F99-43EE-87F0-42D96BE6E0C1}"/>
              </a:ext>
            </a:extLst>
          </p:cNvPr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7A4933-BE2B-4B78-BB0B-EFF272C4458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73394E7-E5C6-4B02-8A31-9C03D9C6FA0B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>
            <a:extLst>
              <a:ext uri="{FF2B5EF4-FFF2-40B4-BE49-F238E27FC236}">
                <a16:creationId xmlns:a16="http://schemas.microsoft.com/office/drawing/2014/main" id="{9FDAE5AE-1C3F-4A93-B305-B77CDC3F4BE2}"/>
              </a:ext>
            </a:extLst>
          </p:cNvPr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>
            <a:extLst>
              <a:ext uri="{FF2B5EF4-FFF2-40B4-BE49-F238E27FC236}">
                <a16:creationId xmlns:a16="http://schemas.microsoft.com/office/drawing/2014/main" id="{8B831D4E-CDC6-4513-9163-9BB77DDB0516}"/>
              </a:ext>
            </a:extLst>
          </p:cNvPr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>
            <a:extLst>
              <a:ext uri="{FF2B5EF4-FFF2-40B4-BE49-F238E27FC236}">
                <a16:creationId xmlns:a16="http://schemas.microsoft.com/office/drawing/2014/main" id="{25618009-D285-438D-BF60-F87BDBE0685A}"/>
              </a:ext>
            </a:extLst>
          </p:cNvPr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>
            <a:extLst>
              <a:ext uri="{FF2B5EF4-FFF2-40B4-BE49-F238E27FC236}">
                <a16:creationId xmlns:a16="http://schemas.microsoft.com/office/drawing/2014/main" id="{4A10CB81-B3E3-411C-90C9-3480A10EDB9B}"/>
              </a:ext>
            </a:extLst>
          </p:cNvPr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D251409D-FDB9-430B-A00F-D4A65811924B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63A1AFEA-57CF-4E71-AF6C-91E549CCF7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38125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>
            <a:extLst>
              <a:ext uri="{FF2B5EF4-FFF2-40B4-BE49-F238E27FC236}">
                <a16:creationId xmlns:a16="http://schemas.microsoft.com/office/drawing/2014/main" id="{03B97F61-153E-4B6E-8D40-C8B9A7E64D60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B2B8D9-D400-4BD8-9CF6-DCEAAC82BDD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85F31B-D145-4BD9-A54B-96E8E681B170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>
            <a:extLst>
              <a:ext uri="{FF2B5EF4-FFF2-40B4-BE49-F238E27FC236}">
                <a16:creationId xmlns:a16="http://schemas.microsoft.com/office/drawing/2014/main" id="{883EB526-2712-4265-9BF4-5874AAB98515}"/>
              </a:ext>
            </a:extLst>
          </p:cNvPr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C7D4DE0F-D1AF-4276-ADBB-A15A5BFE8CB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>
            <a:extLst>
              <a:ext uri="{FF2B5EF4-FFF2-40B4-BE49-F238E27FC236}">
                <a16:creationId xmlns:a16="http://schemas.microsoft.com/office/drawing/2014/main" id="{DFA316F4-7F98-4275-AAEF-578596A2062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>
            <a:extLst>
              <a:ext uri="{FF2B5EF4-FFF2-40B4-BE49-F238E27FC236}">
                <a16:creationId xmlns:a16="http://schemas.microsoft.com/office/drawing/2014/main" id="{219BA2AF-DF75-4C32-85E3-CB62BA8F756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>
            <a:extLst>
              <a:ext uri="{FF2B5EF4-FFF2-40B4-BE49-F238E27FC236}">
                <a16:creationId xmlns:a16="http://schemas.microsoft.com/office/drawing/2014/main" id="{A86D27D2-3D87-4A30-89B6-7FAFD15E7EA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BD5DBA0-D1E0-4B8B-AF12-F77A29B64E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321990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>
            <a:extLst>
              <a:ext uri="{FF2B5EF4-FFF2-40B4-BE49-F238E27FC236}">
                <a16:creationId xmlns:a16="http://schemas.microsoft.com/office/drawing/2014/main" id="{60753701-EC64-455B-B060-1320051E3FE3}"/>
              </a:ext>
            </a:extLst>
          </p:cNvPr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CBE861-C433-4078-A9A5-2C401EE3B270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DD6575-0576-4AFA-9BC4-891ADAB845BD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>
            <a:extLst>
              <a:ext uri="{FF2B5EF4-FFF2-40B4-BE49-F238E27FC236}">
                <a16:creationId xmlns:a16="http://schemas.microsoft.com/office/drawing/2014/main" id="{C48532B4-0A1B-49CC-99AA-FE75395721EF}"/>
              </a:ext>
            </a:extLst>
          </p:cNvPr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>
            <a:extLst>
              <a:ext uri="{FF2B5EF4-FFF2-40B4-BE49-F238E27FC236}">
                <a16:creationId xmlns:a16="http://schemas.microsoft.com/office/drawing/2014/main" id="{32356412-5283-4799-9197-98AEACE613AC}"/>
              </a:ext>
            </a:extLst>
          </p:cNvPr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>
            <a:extLst>
              <a:ext uri="{FF2B5EF4-FFF2-40B4-BE49-F238E27FC236}">
                <a16:creationId xmlns:a16="http://schemas.microsoft.com/office/drawing/2014/main" id="{4E421018-60A0-4F10-A9A6-A6EE3BBD8BF9}"/>
              </a:ext>
            </a:extLst>
          </p:cNvPr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>
            <a:extLst>
              <a:ext uri="{FF2B5EF4-FFF2-40B4-BE49-F238E27FC236}">
                <a16:creationId xmlns:a16="http://schemas.microsoft.com/office/drawing/2014/main" id="{9B17F2FA-61E0-4197-AD3A-2DE5104FF5C1}"/>
              </a:ext>
            </a:extLst>
          </p:cNvPr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>
            <a:extLst>
              <a:ext uri="{FF2B5EF4-FFF2-40B4-BE49-F238E27FC236}">
                <a16:creationId xmlns:a16="http://schemas.microsoft.com/office/drawing/2014/main" id="{1C86E54A-170E-4CA4-BE8B-1118DA74B7C4}"/>
              </a:ext>
            </a:extLst>
          </p:cNvPr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A5976A4D-F088-4D08-ABB4-FDF23F9CA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556774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2CF8FAE-6DBB-42F8-A821-12D15C788E8C}"/>
              </a:ext>
            </a:extLst>
          </p:cNvPr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958D3BC-E7F4-4914-8CAC-14D6BF0FFFB3}"/>
              </a:ext>
            </a:extLst>
          </p:cNvPr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53FC77-9263-4C53-8F22-D64EBC3880B1}"/>
              </a:ext>
            </a:extLst>
          </p:cNvPr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B3BEEB7-FA72-410F-B92D-7D208F847B83}"/>
              </a:ext>
            </a:extLst>
          </p:cNvPr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2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C02326B7-0E5A-F24B-8BE7-D58545042A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4245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EF621E98-351F-489A-ADCE-3FC79FDE6DDD}"/>
              </a:ext>
            </a:extLst>
          </p:cNvPr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C25A5A92-C8E6-4CA8-AB93-8B885C5EA989}"/>
              </a:ext>
            </a:extLst>
          </p:cNvPr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>
            <a:extLst>
              <a:ext uri="{FF2B5EF4-FFF2-40B4-BE49-F238E27FC236}">
                <a16:creationId xmlns:a16="http://schemas.microsoft.com/office/drawing/2014/main" id="{0B284135-360D-47CC-8BC2-5C03015968F7}"/>
              </a:ext>
            </a:extLst>
          </p:cNvPr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>
            <a:extLst>
              <a:ext uri="{FF2B5EF4-FFF2-40B4-BE49-F238E27FC236}">
                <a16:creationId xmlns:a16="http://schemas.microsoft.com/office/drawing/2014/main" id="{D0824BE2-0B1A-47B1-BAAF-7C29E1879AE7}"/>
              </a:ext>
            </a:extLst>
          </p:cNvPr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16933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053D6D2E-F110-4473-8442-17B28C05A741}"/>
              </a:ext>
            </a:extLst>
          </p:cNvPr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BEB427-D252-4942-9F34-301C64219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358D7B-1DA9-9E4B-AFF1-9A13B20D4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ACA3C166-80E6-1B4A-AD5B-C8D474568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4B77A5BA-0111-5844-9F86-5926B121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44B829B2-7BD2-9948-8F21-7182730A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6280651B-EA0A-1E41-B81D-87E3C43E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632966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B0862E3-9A13-49FB-8057-D6463602E7B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33B73963-4941-42F0-9B00-7431FEF61A6C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9C71AABC-C91A-43D0-9AF8-0B6162EDC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A32A9019-0CBC-4C4A-90F0-2676ED9FC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1D06DB6D-BC70-544C-8EA4-3A3874C968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380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80DB1628-9D3D-4F59-B275-C695A900F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F01A7288-9F85-304B-887D-2D1E13D7A2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DE14FD2D-7810-B34E-8AFB-9A17BDEA70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49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F03BE017-E7F3-4A34-ABC3-ECA964258175}"/>
              </a:ext>
            </a:extLst>
          </p:cNvPr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>
            <a:extLst>
              <a:ext uri="{FF2B5EF4-FFF2-40B4-BE49-F238E27FC236}">
                <a16:creationId xmlns:a16="http://schemas.microsoft.com/office/drawing/2014/main" id="{D3B0A0DB-185C-4430-9224-1C0A227377F5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>
            <a:extLst>
              <a:ext uri="{FF2B5EF4-FFF2-40B4-BE49-F238E27FC236}">
                <a16:creationId xmlns:a16="http://schemas.microsoft.com/office/drawing/2014/main" id="{E3FA308D-84A8-4382-ADA4-2CD6EA622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68876A75-1BD3-9D4E-9D34-C6453E6DC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48222E54-5ACA-6D4B-9A58-9B51C83B62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551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>
            <a:extLst>
              <a:ext uri="{FF2B5EF4-FFF2-40B4-BE49-F238E27FC236}">
                <a16:creationId xmlns:a16="http://schemas.microsoft.com/office/drawing/2014/main" id="{260C43B2-4304-44E2-A6F0-062D59008B9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11D8ADCD-C58A-41B8-80C4-2341BB348593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>
            <a:extLst>
              <a:ext uri="{FF2B5EF4-FFF2-40B4-BE49-F238E27FC236}">
                <a16:creationId xmlns:a16="http://schemas.microsoft.com/office/drawing/2014/main" id="{841EB5B4-0657-4AE7-A427-642106D5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EC81340F-C45F-6B4F-9864-73BF32BA9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31D45924-509B-5D4C-A99D-FF1FB6F34B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7848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D88D36A-B7BF-4F3A-AA10-0BECE80A55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>
            <a:extLst>
              <a:ext uri="{FF2B5EF4-FFF2-40B4-BE49-F238E27FC236}">
                <a16:creationId xmlns:a16="http://schemas.microsoft.com/office/drawing/2014/main" id="{DEC9F75E-9249-4FFE-AF96-E92B201A1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>
            <a:extLst>
              <a:ext uri="{FF2B5EF4-FFF2-40B4-BE49-F238E27FC236}">
                <a16:creationId xmlns:a16="http://schemas.microsoft.com/office/drawing/2014/main" id="{E7782F2A-850E-4B5F-8330-CF50AC9EFA7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>
            <a:extLst>
              <a:ext uri="{FF2B5EF4-FFF2-40B4-BE49-F238E27FC236}">
                <a16:creationId xmlns:a16="http://schemas.microsoft.com/office/drawing/2014/main" id="{25096E3E-9433-4D85-BA39-301B214A35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DF883148-B063-4C5A-9CC7-CE69774A8C94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B8A4FF80-ED1E-4D1D-9434-215EB5FB8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B3A067A2-39E8-0940-8B54-688BC270D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7D982EDC-1B4A-034E-9CE9-9172DBAF4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569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4489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F00C798-F4CB-49E3-81E0-4CD12D5AEA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C1695A4-3593-4E25-8722-4214E3CC76B6}"/>
              </a:ext>
            </a:extLst>
          </p:cNvPr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A29C0276-5751-4797-BFA5-F68D05ACBB63}"/>
              </a:ext>
            </a:extLst>
          </p:cNvPr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D85E25CC-A5BC-44E2-9950-5BDC824D9AC1}"/>
              </a:ext>
            </a:extLst>
          </p:cNvPr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68410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B2DFB5F-1361-46F4-B3DF-471ECD4DCA18}"/>
              </a:ext>
            </a:extLst>
          </p:cNvPr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85D4CE6-0BBF-450D-B3AB-7C163A40E793}"/>
              </a:ext>
            </a:extLst>
          </p:cNvPr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808001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 bwMode="auto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D9281A-630A-D647-F925-722D8BEC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B596E2-AA30-6792-684A-C4CF1875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Artificial Intelligence a modern approach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14ED86-3759-CE59-E80F-0BE6032F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16600" y="1027114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fld id="{5D839138-5554-4A72-89BF-BBFB0D949EB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786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23B942-3F1B-403C-8E85-6382B206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D93AE5-CDDD-4CA4-8BCF-44DD4A714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1383BD-F3E7-403E-84A3-6F01BCC23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A1635-4D35-4F49-9AAC-DA6F5F037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FD9E9-D991-439F-8738-F1CD489BA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994C284-E105-48E5-B7ED-E6DDC39F64AA}"/>
              </a:ext>
            </a:extLst>
          </p:cNvPr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E9773E7-896B-4ABE-A918-DD345AEA7B33}"/>
              </a:ext>
            </a:extLst>
          </p:cNvPr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82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1" r:id="rId9"/>
    <p:sldLayoutId id="2147483669" r:id="rId10"/>
    <p:sldLayoutId id="2147483671" r:id="rId11"/>
    <p:sldLayoutId id="2147483674" r:id="rId12"/>
    <p:sldLayoutId id="2147483654" r:id="rId13"/>
    <p:sldLayoutId id="2147483675" r:id="rId14"/>
    <p:sldLayoutId id="2147483672" r:id="rId15"/>
    <p:sldLayoutId id="2147483673" r:id="rId16"/>
    <p:sldLayoutId id="2147483659" r:id="rId17"/>
    <p:sldLayoutId id="2147483657" r:id="rId18"/>
    <p:sldLayoutId id="2147483676" r:id="rId19"/>
    <p:sldLayoutId id="214748367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0209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23B942-3F1B-403C-8E85-6382B206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D93AE5-CDDD-4CA4-8BCF-44DD4A714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1383BD-F3E7-403E-84A3-6F01BCC23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A1635-4D35-4F49-9AAC-DA6F5F037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FD9E9-D991-439F-8738-F1CD489BA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994C284-E105-48E5-B7ED-E6DDC39F64AA}"/>
              </a:ext>
            </a:extLst>
          </p:cNvPr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E9773E7-896B-4ABE-A918-DD345AEA7B33}"/>
              </a:ext>
            </a:extLst>
          </p:cNvPr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03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23B942-3F1B-403C-8E85-6382B206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D93AE5-CDDD-4CA4-8BCF-44DD4A714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1383BD-F3E7-403E-84A3-6F01BCC23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A1635-4D35-4F49-9AAC-DA6F5F037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FD9E9-D991-439F-8738-F1CD489BA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994C284-E105-48E5-B7ED-E6DDC39F64AA}"/>
              </a:ext>
            </a:extLst>
          </p:cNvPr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E9773E7-896B-4ABE-A918-DD345AEA7B33}"/>
              </a:ext>
            </a:extLst>
          </p:cNvPr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69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9.png"/><Relationship Id="rId4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6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>
            <a:extLst>
              <a:ext uri="{FF2B5EF4-FFF2-40B4-BE49-F238E27FC236}">
                <a16:creationId xmlns:a16="http://schemas.microsoft.com/office/drawing/2014/main" id="{D5F3D8B8-541B-475D-AED2-11349A7D54F0}"/>
              </a:ext>
            </a:extLst>
          </p:cNvPr>
          <p:cNvSpPr txBox="1">
            <a:spLocks/>
          </p:cNvSpPr>
          <p:nvPr/>
        </p:nvSpPr>
        <p:spPr>
          <a:xfrm>
            <a:off x="4250993" y="1073654"/>
            <a:ext cx="7021811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逻辑智能体</a:t>
            </a:r>
            <a:endParaRPr lang="en-US" altLang="zh-CN" sz="4000" b="1" dirty="0">
              <a:solidFill>
                <a:schemeClr val="accent1"/>
              </a:solidFill>
              <a:cs typeface="+mn-ea"/>
              <a:sym typeface="+mn-lt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en-US" altLang="zh-CN" sz="4000" b="1" dirty="0">
                <a:solidFill>
                  <a:schemeClr val="accent1"/>
                </a:solidFill>
                <a:cs typeface="+mn-ea"/>
                <a:sym typeface="+mn-lt"/>
              </a:rPr>
              <a:t>Logical Agents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FDA94B7-63AB-4449-B259-ABBFB1BD1237}"/>
              </a:ext>
            </a:extLst>
          </p:cNvPr>
          <p:cNvSpPr/>
          <p:nvPr/>
        </p:nvSpPr>
        <p:spPr>
          <a:xfrm>
            <a:off x="8043723" y="4972130"/>
            <a:ext cx="3003067" cy="611578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endParaRPr lang="zh-CN" altLang="en-US" sz="28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696F87A-50D9-4A47-8F75-C4FC6260D652}"/>
              </a:ext>
            </a:extLst>
          </p:cNvPr>
          <p:cNvSpPr/>
          <p:nvPr/>
        </p:nvSpPr>
        <p:spPr>
          <a:xfrm>
            <a:off x="4295518" y="4861566"/>
            <a:ext cx="6751272" cy="611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2800" dirty="0">
                <a:solidFill>
                  <a:schemeClr val="accent1"/>
                </a:solidFill>
                <a:cs typeface="+mn-ea"/>
                <a:sym typeface="+mn-lt"/>
              </a:rPr>
              <a:t>杨旭</a:t>
            </a:r>
            <a:endParaRPr lang="en-US" altLang="zh-CN" sz="28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12F855B-6482-4247-8DD0-5666489F33A1}"/>
              </a:ext>
            </a:extLst>
          </p:cNvPr>
          <p:cNvCxnSpPr/>
          <p:nvPr/>
        </p:nvCxnSpPr>
        <p:spPr>
          <a:xfrm>
            <a:off x="11226555" y="4069080"/>
            <a:ext cx="0" cy="1404000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78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6E002FA-3F98-449E-A48F-5543321E91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逻辑智能体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386" name="Footer Placeholder 4">
            <a:extLst>
              <a:ext uri="{FF2B5EF4-FFF2-40B4-BE49-F238E27FC236}">
                <a16:creationId xmlns:a16="http://schemas.microsoft.com/office/drawing/2014/main" id="{0BBEA3B0-7731-B75C-566A-00CCDB04F5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ECAD072-793F-41F9-A0EB-24714A7EE210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人类智能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并非仅靠纯粹的反射机制</a:t>
            </a:r>
          </a:p>
          <a:p>
            <a:pPr lvl="1"/>
            <a:r>
              <a:rPr lang="en-US" altLang="zh-CN" sz="2400" b="1" dirty="0" err="1">
                <a:latin typeface="+mn-lt"/>
                <a:cs typeface="+mn-ea"/>
                <a:sym typeface="+mn-lt"/>
              </a:rPr>
              <a:t>原因</a:t>
            </a:r>
            <a:r>
              <a:rPr lang="zh-CN" altLang="en-US" dirty="0">
                <a:latin typeface="+mn-lt"/>
                <a:cs typeface="+mn-ea"/>
                <a:sym typeface="+mn-lt"/>
              </a:rPr>
              <a:t>在于</a:t>
            </a:r>
            <a:r>
              <a:rPr lang="zh-CN" altLang="en-US" sz="2400" b="1" dirty="0">
                <a:latin typeface="+mn-lt"/>
                <a:cs typeface="+mn-ea"/>
                <a:sym typeface="+mn-lt"/>
              </a:rPr>
              <a:t>知识内部表征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基于知识的智能体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利用对知识的内部表征进行推理过程，以决定采取何种行动。</a:t>
            </a:r>
            <a:endParaRPr lang="en-US" altLang="zh-CN" dirty="0">
              <a:solidFill>
                <a:schemeClr val="accent3"/>
              </a:solidFill>
              <a:latin typeface="+mn-lt"/>
              <a:cs typeface="+mn-ea"/>
              <a:sym typeface="+mn-lt"/>
            </a:endParaRPr>
          </a:p>
          <a:p>
            <a:endParaRPr lang="zh-CN" altLang="en-US" dirty="0">
              <a:latin typeface="+mn-lt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6E002FA-3F98-449E-A48F-5543321E91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逻辑智能体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386" name="Footer Placeholder 4">
            <a:extLst>
              <a:ext uri="{FF2B5EF4-FFF2-40B4-BE49-F238E27FC236}">
                <a16:creationId xmlns:a16="http://schemas.microsoft.com/office/drawing/2014/main" id="{0BBEA3B0-7731-B75C-566A-00CCDB04F5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46C9889-E15D-4491-9307-77F6D9932B29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基于知识的智能体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逻辑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命题逻辑：一种非常简单的逻辑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zh-CN" altLang="en-US" sz="2800" dirty="0">
                <a:latin typeface="+mn-lt"/>
                <a:cs typeface="+mn-ea"/>
                <a:sym typeface="+mn-lt"/>
              </a:rPr>
              <a:t>乌普思</a:t>
            </a:r>
            <a:r>
              <a:rPr lang="en-US" altLang="zh-CN" sz="2800" dirty="0" err="1">
                <a:latin typeface="+mn-lt"/>
                <a:cs typeface="+mn-ea"/>
                <a:sym typeface="+mn-lt"/>
              </a:rPr>
              <a:t>世界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命题定理证明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有效的命题模型检验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基于命题逻辑的代理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D0333E-7FCA-4177-BC6A-174F0CEB5484}"/>
              </a:ext>
            </a:extLst>
          </p:cNvPr>
          <p:cNvSpPr txBox="1"/>
          <p:nvPr/>
        </p:nvSpPr>
        <p:spPr>
          <a:xfrm>
            <a:off x="3877408" y="1397001"/>
            <a:ext cx="8739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cs typeface="+mn-ea"/>
                <a:sym typeface="+mn-lt"/>
              </a:rPr>
              <a:t>Knowledge-Based Agents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C9D0A6-D400-4751-9D80-E9BE2861BC90}"/>
              </a:ext>
            </a:extLst>
          </p:cNvPr>
          <p:cNvSpPr txBox="1"/>
          <p:nvPr/>
        </p:nvSpPr>
        <p:spPr>
          <a:xfrm>
            <a:off x="1589943" y="1949969"/>
            <a:ext cx="8604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cs typeface="+mn-ea"/>
                <a:sym typeface="+mn-lt"/>
              </a:rPr>
              <a:t>Logic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8DB2ED-6F22-4204-966D-CD9C7BF41D46}"/>
              </a:ext>
            </a:extLst>
          </p:cNvPr>
          <p:cNvSpPr txBox="1"/>
          <p:nvPr/>
        </p:nvSpPr>
        <p:spPr>
          <a:xfrm>
            <a:off x="5892312" y="2468759"/>
            <a:ext cx="8604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cs typeface="+mn-ea"/>
                <a:sym typeface="+mn-lt"/>
              </a:rPr>
              <a:t>Propositional Logic: A Very Simple Logic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3C54C0-CE3E-421D-A87C-2AED31CC79CD}"/>
              </a:ext>
            </a:extLst>
          </p:cNvPr>
          <p:cNvSpPr txBox="1"/>
          <p:nvPr/>
        </p:nvSpPr>
        <p:spPr>
          <a:xfrm>
            <a:off x="2661138" y="2952575"/>
            <a:ext cx="8604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cs typeface="+mn-ea"/>
                <a:sym typeface="+mn-lt"/>
              </a:rPr>
              <a:t>The Wumpus World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2DA5D0-CFDA-4C47-A7C7-B0855A0BD410}"/>
              </a:ext>
            </a:extLst>
          </p:cNvPr>
          <p:cNvSpPr txBox="1"/>
          <p:nvPr/>
        </p:nvSpPr>
        <p:spPr>
          <a:xfrm>
            <a:off x="3151175" y="3473369"/>
            <a:ext cx="8604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cs typeface="+mn-ea"/>
                <a:sym typeface="+mn-lt"/>
              </a:rPr>
              <a:t>Propositional Theorem Proving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715EAF-DDD8-4D12-BE5F-B30465A5C358}"/>
              </a:ext>
            </a:extLst>
          </p:cNvPr>
          <p:cNvSpPr txBox="1"/>
          <p:nvPr/>
        </p:nvSpPr>
        <p:spPr>
          <a:xfrm>
            <a:off x="4132385" y="3993975"/>
            <a:ext cx="7250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cs typeface="+mn-ea"/>
                <a:sym typeface="+mn-lt"/>
              </a:rPr>
              <a:t>Effective Propositional Model Checking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65098E7-1823-4F31-95D6-9F2F52C60D9D}"/>
              </a:ext>
            </a:extLst>
          </p:cNvPr>
          <p:cNvSpPr txBox="1"/>
          <p:nvPr/>
        </p:nvSpPr>
        <p:spPr>
          <a:xfrm>
            <a:off x="4132385" y="4514581"/>
            <a:ext cx="7250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cs typeface="+mn-ea"/>
                <a:sym typeface="+mn-lt"/>
              </a:rPr>
              <a:t>Agents Based on Propositional Logic</a:t>
            </a:r>
            <a:endParaRPr lang="zh-CN" altLang="en-US" sz="1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379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6E002FA-3F98-449E-A48F-5543321E91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逻辑智能体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386" name="Footer Placeholder 4">
            <a:extLst>
              <a:ext uri="{FF2B5EF4-FFF2-40B4-BE49-F238E27FC236}">
                <a16:creationId xmlns:a16="http://schemas.microsoft.com/office/drawing/2014/main" id="{0BBEA3B0-7731-B75C-566A-00CCDB04F5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8D9581A-C895-4BB5-9E9B-DCB7B95A7A3F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基于知识的智能体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乌普思</a:t>
            </a:r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世界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逻辑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命题逻辑：一种非常简单的逻辑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命题定理证明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有效的命题模型检验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基于命题逻辑的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智能体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98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90E902EB-0355-4E7B-D8C7-F539BB123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基于知识的智能体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410" name="Footer Placeholder 5">
            <a:extLst>
              <a:ext uri="{FF2B5EF4-FFF2-40B4-BE49-F238E27FC236}">
                <a16:creationId xmlns:a16="http://schemas.microsoft.com/office/drawing/2014/main" id="{5DDF6FDA-813C-07D5-B26F-4B6820785D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57A505B-196A-491C-A716-ACC21F2F17BC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知识库（KB）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一组</a:t>
            </a:r>
            <a:r>
              <a:rPr lang="en-US" altLang="zh-CN" sz="2400" b="1" dirty="0">
                <a:latin typeface="+mn-lt"/>
                <a:cs typeface="+mn-ea"/>
                <a:sym typeface="+mn-lt"/>
              </a:rPr>
              <a:t>句子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句子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代表一些</a:t>
            </a:r>
            <a:r>
              <a:rPr lang="en-US" altLang="zh-CN" sz="400" dirty="0">
                <a:latin typeface="+mn-lt"/>
                <a:cs typeface="+mn-ea"/>
                <a:sym typeface="+mn-lt"/>
              </a:rPr>
              <a:t> 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关于现实世界的断言</a:t>
            </a:r>
          </a:p>
          <a:p>
            <a:r>
              <a:rPr lang="en-US" altLang="zh-CN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公理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未从其他句子中派生</a:t>
            </a:r>
          </a:p>
          <a:p>
            <a:pPr lvl="1"/>
            <a:endParaRPr lang="en-US" altLang="zh-CN" b="1" dirty="0">
              <a:latin typeface="+mn-lt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90E902EB-0355-4E7B-D8C7-F539BB123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基于知识的智能体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410" name="Footer Placeholder 5">
            <a:extLst>
              <a:ext uri="{FF2B5EF4-FFF2-40B4-BE49-F238E27FC236}">
                <a16:creationId xmlns:a16="http://schemas.microsoft.com/office/drawing/2014/main" id="{5DDF6FDA-813C-07D5-B26F-4B6820785D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F1E051F-4249-4B8F-BC54-4062C79DE919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 err="1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操作</a:t>
            </a:r>
            <a:r>
              <a:rPr lang="zh-CN" altLang="en-US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知识库</a:t>
            </a:r>
            <a:endParaRPr lang="en-US" altLang="zh-CN" sz="2800" dirty="0">
              <a:solidFill>
                <a:schemeClr val="accent3"/>
              </a:solidFill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b="1" dirty="0">
                <a:latin typeface="+mn-lt"/>
                <a:cs typeface="+mn-ea"/>
                <a:sym typeface="+mn-lt"/>
              </a:rPr>
              <a:t>告诉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：添加新句子</a:t>
            </a:r>
          </a:p>
          <a:p>
            <a:pPr lvl="1"/>
            <a:r>
              <a:rPr lang="en-US" altLang="zh-CN" sz="2400" b="1" dirty="0">
                <a:latin typeface="+mn-lt"/>
                <a:cs typeface="+mn-ea"/>
                <a:sym typeface="+mn-lt"/>
              </a:rPr>
              <a:t>问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查询已知内容</a:t>
            </a:r>
          </a:p>
          <a:p>
            <a:pPr lvl="1"/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两项操作均涉及</a:t>
            </a:r>
            <a:r>
              <a:rPr lang="en-US" altLang="zh-CN" sz="2800" b="1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推理</a:t>
            </a:r>
            <a:endParaRPr lang="en-US" altLang="zh-CN" dirty="0">
              <a:solidFill>
                <a:schemeClr val="accent3"/>
              </a:solidFill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从旧句中推导出新句</a:t>
            </a: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必须</a:t>
            </a:r>
            <a:r>
              <a:rPr lang="en-US" altLang="zh-CN" sz="2400" b="1" dirty="0" err="1">
                <a:latin typeface="+mn-lt"/>
                <a:cs typeface="+mn-ea"/>
                <a:sym typeface="+mn-lt"/>
              </a:rPr>
              <a:t>关注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之前的知识</a:t>
            </a:r>
            <a:endParaRPr lang="zh-CN" altLang="en-US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818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90E902EB-0355-4E7B-D8C7-F539BB123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基于知识的智能体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410" name="Footer Placeholder 5">
            <a:extLst>
              <a:ext uri="{FF2B5EF4-FFF2-40B4-BE49-F238E27FC236}">
                <a16:creationId xmlns:a16="http://schemas.microsoft.com/office/drawing/2014/main" id="{5DDF6FDA-813C-07D5-B26F-4B6820785D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E8B4942-7CF8-4180-987F-0D45227E1567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基于知识的智能体程序</a:t>
            </a:r>
          </a:p>
          <a:p>
            <a:pPr lvl="1"/>
            <a:endParaRPr lang="en-US" altLang="zh-CN" dirty="0">
              <a:solidFill>
                <a:srgbClr val="FF0000"/>
              </a:solidFill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 err="1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告诉</a:t>
            </a:r>
            <a:r>
              <a:rPr lang="zh-CN" altLang="en-US" dirty="0">
                <a:latin typeface="+mn-lt"/>
                <a:cs typeface="+mn-ea"/>
                <a:sym typeface="+mn-lt"/>
              </a:rPr>
              <a:t>知识库</a:t>
            </a:r>
            <a:r>
              <a:rPr lang="zh-CN" altLang="en-US" sz="2400" dirty="0">
                <a:latin typeface="+mn-lt"/>
                <a:cs typeface="+mn-ea"/>
                <a:sym typeface="+mn-lt"/>
              </a:rPr>
              <a:t>它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感知到</a:t>
            </a:r>
            <a:r>
              <a:rPr lang="zh-CN" altLang="en-US" sz="2400" dirty="0">
                <a:latin typeface="+mn-lt"/>
                <a:cs typeface="+mn-ea"/>
                <a:sym typeface="+mn-lt"/>
              </a:rPr>
              <a:t>什么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pPr lvl="1"/>
            <a:endParaRPr lang="en-US" altLang="zh-CN" dirty="0">
              <a:solidFill>
                <a:srgbClr val="FF0000"/>
              </a:solidFill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问</a:t>
            </a:r>
            <a:r>
              <a:rPr lang="zh-CN" altLang="en-US" sz="2400" dirty="0">
                <a:latin typeface="+mn-lt"/>
                <a:cs typeface="+mn-ea"/>
                <a:sym typeface="+mn-lt"/>
              </a:rPr>
              <a:t>知识库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什么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行动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它应该执行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pPr lvl="1"/>
            <a:endParaRPr lang="en-US" altLang="zh-CN" dirty="0"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 err="1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告诉</a:t>
            </a:r>
            <a:r>
              <a:rPr lang="zh-CN" altLang="en-US" sz="2400" dirty="0">
                <a:latin typeface="+mn-lt"/>
                <a:cs typeface="+mn-ea"/>
                <a:sym typeface="+mn-lt"/>
              </a:rPr>
              <a:t>知识库什么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行动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是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选定的</a:t>
            </a:r>
            <a:endParaRPr lang="en-US" altLang="zh-CN" sz="2400" dirty="0">
              <a:solidFill>
                <a:srgbClr val="FF0000"/>
              </a:solidFill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752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90E902EB-0355-4E7B-D8C7-F539BB123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基于知识的智能体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410" name="Footer Placeholder 5">
            <a:extLst>
              <a:ext uri="{FF2B5EF4-FFF2-40B4-BE49-F238E27FC236}">
                <a16:creationId xmlns:a16="http://schemas.microsoft.com/office/drawing/2014/main" id="{5DDF6FDA-813C-07D5-B26F-4B6820785D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881570E-9176-473E-940D-B2D88C80200F}"/>
              </a:ext>
            </a:extLst>
          </p:cNvPr>
          <p:cNvSpPr txBox="1">
            <a:spLocks/>
          </p:cNvSpPr>
          <p:nvPr/>
        </p:nvSpPr>
        <p:spPr>
          <a:xfrm>
            <a:off x="812800" y="1219200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latin typeface="+mn-lt"/>
                <a:cs typeface="+mn-ea"/>
                <a:sym typeface="+mn-lt"/>
              </a:rPr>
              <a:t>function</a:t>
            </a:r>
            <a:r>
              <a:rPr lang="en-US" altLang="zh-CN" dirty="0">
                <a:latin typeface="+mn-lt"/>
                <a:cs typeface="+mn-ea"/>
                <a:sym typeface="+mn-lt"/>
              </a:rPr>
              <a:t> KB-AGENT (</a:t>
            </a:r>
            <a:r>
              <a:rPr lang="en-US" altLang="zh-CN" i="1" dirty="0">
                <a:latin typeface="+mn-lt"/>
                <a:cs typeface="+mn-ea"/>
                <a:sym typeface="+mn-lt"/>
              </a:rPr>
              <a:t>percept</a:t>
            </a:r>
            <a:r>
              <a:rPr lang="en-US" altLang="zh-CN" dirty="0">
                <a:latin typeface="+mn-lt"/>
                <a:cs typeface="+mn-ea"/>
                <a:sym typeface="+mn-lt"/>
              </a:rPr>
              <a:t>) </a:t>
            </a:r>
            <a:r>
              <a:rPr lang="en-US" altLang="zh-CN" b="1" dirty="0">
                <a:latin typeface="+mn-lt"/>
                <a:cs typeface="+mn-ea"/>
                <a:sym typeface="+mn-lt"/>
              </a:rPr>
              <a:t>returns</a:t>
            </a:r>
            <a:r>
              <a:rPr lang="en-US" altLang="zh-CN" dirty="0">
                <a:latin typeface="+mn-lt"/>
                <a:cs typeface="+mn-ea"/>
                <a:sym typeface="+mn-lt"/>
              </a:rPr>
              <a:t> an </a:t>
            </a:r>
            <a:r>
              <a:rPr lang="en-US" altLang="zh-CN" i="1" dirty="0">
                <a:latin typeface="+mn-lt"/>
                <a:cs typeface="+mn-ea"/>
                <a:sym typeface="+mn-lt"/>
              </a:rPr>
              <a:t>action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i="1" dirty="0">
                <a:latin typeface="+mn-lt"/>
                <a:cs typeface="+mn-ea"/>
                <a:sym typeface="+mn-lt"/>
              </a:rPr>
              <a:t>    </a:t>
            </a:r>
            <a:r>
              <a:rPr lang="en-US" altLang="zh-CN" b="1" dirty="0">
                <a:latin typeface="+mn-lt"/>
                <a:cs typeface="+mn-ea"/>
                <a:sym typeface="+mn-lt"/>
              </a:rPr>
              <a:t>static: </a:t>
            </a:r>
            <a:r>
              <a:rPr lang="en-US" altLang="zh-CN" i="1" dirty="0">
                <a:latin typeface="+mn-lt"/>
                <a:cs typeface="+mn-ea"/>
                <a:sym typeface="+mn-lt"/>
              </a:rPr>
              <a:t>KB</a:t>
            </a:r>
            <a:r>
              <a:rPr lang="en-US" altLang="zh-CN" dirty="0">
                <a:latin typeface="+mn-lt"/>
                <a:cs typeface="+mn-ea"/>
                <a:sym typeface="+mn-lt"/>
              </a:rPr>
              <a:t>, a knowledge base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lt"/>
                <a:cs typeface="+mn-ea"/>
                <a:sym typeface="+mn-lt"/>
              </a:rPr>
              <a:t>                 </a:t>
            </a:r>
            <a:r>
              <a:rPr lang="en-US" altLang="zh-CN" i="1" dirty="0">
                <a:latin typeface="+mn-lt"/>
                <a:cs typeface="+mn-ea"/>
                <a:sym typeface="+mn-lt"/>
              </a:rPr>
              <a:t>t</a:t>
            </a:r>
            <a:r>
              <a:rPr lang="en-US" altLang="zh-CN" dirty="0">
                <a:latin typeface="+mn-lt"/>
                <a:cs typeface="+mn-ea"/>
                <a:sym typeface="+mn-lt"/>
              </a:rPr>
              <a:t>, a counter, initially 0, indicating time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latin typeface="+mn-lt"/>
                <a:cs typeface="+mn-ea"/>
                <a:sym typeface="+mn-lt"/>
              </a:rPr>
              <a:t>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latin typeface="+mn-lt"/>
                <a:cs typeface="+mn-ea"/>
                <a:sym typeface="+mn-lt"/>
              </a:rPr>
              <a:t>    </a:t>
            </a:r>
            <a:r>
              <a:rPr lang="en-US" altLang="zh-CN" dirty="0">
                <a:latin typeface="+mn-lt"/>
                <a:cs typeface="+mn-ea"/>
                <a:sym typeface="+mn-lt"/>
              </a:rPr>
              <a:t>TELL(</a:t>
            </a:r>
            <a:r>
              <a:rPr lang="en-US" altLang="zh-CN" i="1" dirty="0">
                <a:latin typeface="+mn-lt"/>
                <a:cs typeface="+mn-ea"/>
                <a:sym typeface="+mn-lt"/>
              </a:rPr>
              <a:t>KB</a:t>
            </a:r>
            <a:r>
              <a:rPr lang="en-US" altLang="zh-CN" dirty="0">
                <a:latin typeface="+mn-lt"/>
                <a:cs typeface="+mn-ea"/>
                <a:sym typeface="+mn-lt"/>
              </a:rPr>
              <a:t>, MAKE-PERCEPT-SENTENCE(</a:t>
            </a:r>
            <a:r>
              <a:rPr lang="en-US" altLang="zh-CN" i="1" dirty="0">
                <a:latin typeface="+mn-lt"/>
                <a:cs typeface="+mn-ea"/>
                <a:sym typeface="+mn-lt"/>
              </a:rPr>
              <a:t>percept</a:t>
            </a:r>
            <a:r>
              <a:rPr lang="en-US" altLang="zh-CN" dirty="0">
                <a:latin typeface="+mn-lt"/>
                <a:cs typeface="+mn-ea"/>
                <a:sym typeface="+mn-lt"/>
              </a:rPr>
              <a:t>,</a:t>
            </a:r>
            <a:r>
              <a:rPr lang="en-US" altLang="zh-CN" i="1" dirty="0">
                <a:latin typeface="+mn-lt"/>
                <a:cs typeface="+mn-ea"/>
                <a:sym typeface="+mn-lt"/>
              </a:rPr>
              <a:t> t</a:t>
            </a:r>
            <a:r>
              <a:rPr lang="en-US" altLang="zh-CN" dirty="0">
                <a:latin typeface="+mn-lt"/>
                <a:cs typeface="+mn-ea"/>
                <a:sym typeface="+mn-lt"/>
              </a:rPr>
              <a:t>))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i="1" dirty="0">
                <a:latin typeface="+mn-lt"/>
                <a:cs typeface="+mn-ea"/>
                <a:sym typeface="+mn-lt"/>
              </a:rPr>
              <a:t>    action</a:t>
            </a:r>
            <a:r>
              <a:rPr lang="en-US" altLang="zh-CN" dirty="0">
                <a:latin typeface="+mn-lt"/>
                <a:cs typeface="+mn-ea"/>
                <a:sym typeface="+mn-lt"/>
              </a:rPr>
              <a:t>←</a:t>
            </a:r>
            <a:r>
              <a:rPr lang="en-US" altLang="zh-CN" i="1" dirty="0">
                <a:latin typeface="+mn-lt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cs typeface="+mn-ea"/>
                <a:sym typeface="+mn-lt"/>
              </a:rPr>
              <a:t>ASK(</a:t>
            </a:r>
            <a:r>
              <a:rPr lang="en-US" altLang="zh-CN" i="1" dirty="0">
                <a:latin typeface="+mn-lt"/>
                <a:cs typeface="+mn-ea"/>
                <a:sym typeface="+mn-lt"/>
              </a:rPr>
              <a:t>KB</a:t>
            </a:r>
            <a:r>
              <a:rPr lang="en-US" altLang="zh-CN" dirty="0">
                <a:latin typeface="+mn-lt"/>
                <a:cs typeface="+mn-ea"/>
                <a:sym typeface="+mn-lt"/>
              </a:rPr>
              <a:t>, MAKE-ACTION-QUERY(</a:t>
            </a:r>
            <a:r>
              <a:rPr lang="en-US" altLang="zh-CN" i="1" dirty="0">
                <a:latin typeface="+mn-lt"/>
                <a:cs typeface="+mn-ea"/>
                <a:sym typeface="+mn-lt"/>
              </a:rPr>
              <a:t>t</a:t>
            </a:r>
            <a:r>
              <a:rPr lang="en-US" altLang="zh-CN" dirty="0">
                <a:latin typeface="+mn-lt"/>
                <a:cs typeface="+mn-ea"/>
                <a:sym typeface="+mn-lt"/>
              </a:rPr>
              <a:t>))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i="1" dirty="0">
                <a:latin typeface="+mn-lt"/>
                <a:cs typeface="+mn-ea"/>
                <a:sym typeface="+mn-lt"/>
              </a:rPr>
              <a:t>    </a:t>
            </a:r>
            <a:r>
              <a:rPr lang="en-US" altLang="zh-CN" dirty="0">
                <a:latin typeface="+mn-lt"/>
                <a:cs typeface="+mn-ea"/>
                <a:sym typeface="+mn-lt"/>
              </a:rPr>
              <a:t>TELL(KB, MAKE-ACTION-SENTENCE(</a:t>
            </a:r>
            <a:r>
              <a:rPr lang="en-US" altLang="zh-CN" i="1" dirty="0">
                <a:latin typeface="+mn-lt"/>
                <a:cs typeface="+mn-ea"/>
                <a:sym typeface="+mn-lt"/>
              </a:rPr>
              <a:t>action</a:t>
            </a:r>
            <a:r>
              <a:rPr lang="en-US" altLang="zh-CN" dirty="0">
                <a:latin typeface="+mn-lt"/>
                <a:cs typeface="+mn-ea"/>
                <a:sym typeface="+mn-lt"/>
              </a:rPr>
              <a:t>, </a:t>
            </a:r>
            <a:r>
              <a:rPr lang="en-US" altLang="zh-CN" i="1" dirty="0">
                <a:latin typeface="+mn-lt"/>
                <a:cs typeface="+mn-ea"/>
                <a:sym typeface="+mn-lt"/>
              </a:rPr>
              <a:t>t</a:t>
            </a:r>
            <a:r>
              <a:rPr lang="en-US" altLang="zh-CN" dirty="0">
                <a:latin typeface="+mn-lt"/>
                <a:cs typeface="+mn-ea"/>
                <a:sym typeface="+mn-lt"/>
              </a:rPr>
              <a:t>))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lt"/>
                <a:cs typeface="+mn-ea"/>
                <a:sym typeface="+mn-lt"/>
              </a:rPr>
              <a:t>    </a:t>
            </a:r>
            <a:r>
              <a:rPr lang="en-US" altLang="zh-CN" i="1" dirty="0">
                <a:latin typeface="+mn-lt"/>
                <a:cs typeface="+mn-ea"/>
                <a:sym typeface="+mn-lt"/>
              </a:rPr>
              <a:t>t</a:t>
            </a:r>
            <a:r>
              <a:rPr lang="en-US" altLang="zh-CN" dirty="0">
                <a:latin typeface="+mn-lt"/>
                <a:cs typeface="+mn-ea"/>
                <a:sym typeface="+mn-lt"/>
              </a:rPr>
              <a:t>← </a:t>
            </a:r>
            <a:r>
              <a:rPr lang="en-US" altLang="zh-CN" i="1" dirty="0">
                <a:latin typeface="+mn-lt"/>
                <a:cs typeface="+mn-ea"/>
                <a:sym typeface="+mn-lt"/>
              </a:rPr>
              <a:t>t+1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lt"/>
                <a:cs typeface="+mn-ea"/>
                <a:sym typeface="+mn-lt"/>
              </a:rPr>
              <a:t>    </a:t>
            </a:r>
            <a:r>
              <a:rPr lang="en-US" altLang="zh-CN" b="1" dirty="0">
                <a:latin typeface="+mn-lt"/>
                <a:cs typeface="+mn-ea"/>
                <a:sym typeface="+mn-lt"/>
              </a:rPr>
              <a:t>return</a:t>
            </a:r>
            <a:r>
              <a:rPr lang="en-US" altLang="zh-CN" dirty="0">
                <a:latin typeface="+mn-lt"/>
                <a:cs typeface="+mn-ea"/>
                <a:sym typeface="+mn-lt"/>
              </a:rPr>
              <a:t> </a:t>
            </a:r>
            <a:r>
              <a:rPr lang="en-US" altLang="zh-CN" i="1" dirty="0">
                <a:latin typeface="+mn-lt"/>
                <a:cs typeface="+mn-ea"/>
                <a:sym typeface="+mn-lt"/>
              </a:rPr>
              <a:t>action</a:t>
            </a:r>
          </a:p>
          <a:p>
            <a:endParaRPr lang="zh-CN" altLang="en-US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438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90E902EB-0355-4E7B-D8C7-F539BB123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逻辑智能体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410" name="Footer Placeholder 5">
            <a:extLst>
              <a:ext uri="{FF2B5EF4-FFF2-40B4-BE49-F238E27FC236}">
                <a16:creationId xmlns:a16="http://schemas.microsoft.com/office/drawing/2014/main" id="{5DDF6FDA-813C-07D5-B26F-4B6820785D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1B358D0-08A7-4BD5-BE69-43EE24D5B36A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基于知识的智能体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乌普思</a:t>
            </a:r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世界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逻辑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命题逻辑：一种非常简单的逻辑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命题定理证明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有效的命题模型检验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基于命题逻辑的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智能体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43711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90E902EB-0355-4E7B-D8C7-F539BB123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逻辑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410" name="Footer Placeholder 5">
            <a:extLst>
              <a:ext uri="{FF2B5EF4-FFF2-40B4-BE49-F238E27FC236}">
                <a16:creationId xmlns:a16="http://schemas.microsoft.com/office/drawing/2014/main" id="{5DDF6FDA-813C-07D5-B26F-4B6820785D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5468427-76EE-4DCE-8BFD-D3A56D70C7A0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语法</a:t>
            </a: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句子的依照</a:t>
            </a:r>
            <a:r>
              <a:rPr lang="en-US" altLang="zh-CN" sz="2400" b="1" dirty="0" err="1">
                <a:latin typeface="+mn-lt"/>
                <a:cs typeface="+mn-ea"/>
                <a:sym typeface="+mn-lt"/>
              </a:rPr>
              <a:t>语法</a:t>
            </a:r>
            <a:r>
              <a:rPr lang="zh-CN" altLang="en-US" dirty="0">
                <a:latin typeface="+mn-lt"/>
                <a:cs typeface="+mn-ea"/>
                <a:sym typeface="+mn-lt"/>
              </a:rPr>
              <a:t>进行表达</a:t>
            </a:r>
            <a:r>
              <a:rPr lang="en-US" altLang="zh-CN" sz="2400" b="1" dirty="0">
                <a:latin typeface="+mn-lt"/>
                <a:cs typeface="+mn-ea"/>
                <a:sym typeface="+mn-lt"/>
              </a:rPr>
              <a:t>。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X+2 &gt;= y 是一个格式良好 句子，+x2y 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不是格式良好句子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语义学</a:t>
            </a: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每个句子</a:t>
            </a:r>
            <a:r>
              <a:rPr lang="en-US" altLang="zh-CN" b="1" dirty="0" err="1">
                <a:latin typeface="+mn-lt"/>
                <a:cs typeface="+mn-ea"/>
                <a:sym typeface="+mn-lt"/>
              </a:rPr>
              <a:t>真</a:t>
            </a:r>
            <a:r>
              <a:rPr lang="zh-CN" altLang="en-US" b="1" dirty="0">
                <a:latin typeface="+mn-lt"/>
                <a:cs typeface="+mn-ea"/>
                <a:sym typeface="+mn-lt"/>
              </a:rPr>
              <a:t>假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相对于每个</a:t>
            </a:r>
            <a:r>
              <a:rPr lang="en-US" altLang="zh-CN" sz="2400" b="1" dirty="0" err="1">
                <a:latin typeface="+mn-lt"/>
                <a:cs typeface="+mn-ea"/>
                <a:sym typeface="+mn-lt"/>
              </a:rPr>
              <a:t>可能世界</a:t>
            </a:r>
            <a:r>
              <a:rPr lang="zh-CN" altLang="en-US" sz="2400" b="1" dirty="0">
                <a:latin typeface="+mn-lt"/>
                <a:cs typeface="+mn-ea"/>
                <a:sym typeface="+mn-lt"/>
              </a:rPr>
              <a:t>是不同的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.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真或假。</a:t>
            </a:r>
          </a:p>
          <a:p>
            <a:pPr lvl="2">
              <a:lnSpc>
                <a:spcPct val="70000"/>
              </a:lnSpc>
            </a:pPr>
            <a:r>
              <a:rPr lang="en-US" altLang="zh-CN" sz="1600" dirty="0">
                <a:latin typeface="+mn-lt"/>
                <a:cs typeface="+mn-ea"/>
                <a:sym typeface="+mn-lt"/>
              </a:rPr>
              <a:t>在x=7且y=9的世界中，X+2 = y 是成立的。</a:t>
            </a:r>
          </a:p>
          <a:p>
            <a:pPr lvl="2">
              <a:lnSpc>
                <a:spcPct val="70000"/>
              </a:lnSpc>
            </a:pPr>
            <a:r>
              <a:rPr lang="en-US" altLang="zh-CN" sz="1600" dirty="0">
                <a:latin typeface="+mn-lt"/>
                <a:cs typeface="+mn-ea"/>
                <a:sym typeface="+mn-lt"/>
              </a:rPr>
              <a:t>在x=7且y=1的世界里，X+2 = y 是假的。</a:t>
            </a:r>
          </a:p>
          <a:p>
            <a:pPr lvl="1"/>
            <a:endParaRPr lang="en-US" altLang="zh-CN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1886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90E902EB-0355-4E7B-D8C7-F539BB123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err="1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逻辑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410" name="Footer Placeholder 5">
            <a:extLst>
              <a:ext uri="{FF2B5EF4-FFF2-40B4-BE49-F238E27FC236}">
                <a16:creationId xmlns:a16="http://schemas.microsoft.com/office/drawing/2014/main" id="{5DDF6FDA-813C-07D5-B26F-4B6820785D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97F5E5D-8F75-4FAD-B2FF-0FC2E068BD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模型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模型是世界（环境）的数学抽象。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每个模型对每个相关句子都有一个固定的真值（真或假），没有“介于两者之间”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如果一个句子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在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模型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𝑚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中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是真的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𝑚</m:t>
                    </m:r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或者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𝑚</m:t>
                    </m:r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的</m:t>
                    </m:r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一个模型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𝑀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 the set of all models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.</a:t>
                </a:r>
                <a:r>
                  <a:rPr lang="en-GB" altLang="zh-CN" i="1" dirty="0">
                    <a:latin typeface="+mn-lt"/>
                    <a:cs typeface="+mn-ea"/>
                    <a:sym typeface="+mn-lt"/>
                  </a:rPr>
                  <a:t> </a:t>
                </a:r>
                <a:endParaRPr lang="en-GB" altLang="zh-CN" dirty="0">
                  <a:latin typeface="+mn-lt"/>
                  <a:cs typeface="+mn-ea"/>
                  <a:sym typeface="+mn-lt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:X+2 = y is true: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𝑀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altLang="zh-CN" b="1" dirty="0">
                    <a:latin typeface="+mn-lt"/>
                    <a:cs typeface="+mn-ea"/>
                    <a:sym typeface="+mn-lt"/>
                  </a:rPr>
                  <a:t>={(x=1,y=3),(x=2,y=4),…}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2"/>
                <a:endParaRPr lang="en-US" altLang="zh-CN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97F5E5D-8F75-4FAD-B2FF-0FC2E068B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30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90E902EB-0355-4E7B-D8C7-F539BB123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err="1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逻辑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410" name="Footer Placeholder 5">
            <a:extLst>
              <a:ext uri="{FF2B5EF4-FFF2-40B4-BE49-F238E27FC236}">
                <a16:creationId xmlns:a16="http://schemas.microsoft.com/office/drawing/2014/main" id="{5DDF6FDA-813C-07D5-B26F-4B6820785D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3553F50-3A95-4268-95F3-BE3ED7EDD7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句子之间的</a:t>
                </a:r>
                <a:r>
                  <a:rPr lang="zh-CN" altLang="en-US" b="1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蕴含</a:t>
                </a:r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逻辑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一个句子在逻辑上从另一个句子延续而来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.</a:t>
                </a:r>
              </a:p>
              <a:p>
                <a:pPr lvl="1"/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  <m:r>
                      <a:rPr lang="en-US" altLang="zh-CN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|= </m:t>
                    </m:r>
                    <m:r>
                      <a:rPr lang="en-US" altLang="zh-CN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𝛽</m:t>
                    </m:r>
                    <m:r>
                      <a:rPr lang="en-US" altLang="zh-CN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当且仅当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</a:t>
                </a:r>
                <a:r>
                  <a:rPr lang="en-US" altLang="zh-CN" dirty="0" err="1">
                    <a:latin typeface="+mn-lt"/>
                    <a:cs typeface="+mn-ea"/>
                    <a:sym typeface="+mn-lt"/>
                  </a:rPr>
                  <a:t>iff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),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在每个模型中：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是真的，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𝛽</m:t>
                    </m:r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这也是事实。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 err="1">
                    <a:latin typeface="+mn-lt"/>
                    <a:cs typeface="+mn-ea"/>
                    <a:sym typeface="+mn-lt"/>
                  </a:rPr>
                  <a:t>Iff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𝑀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 ⊆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𝑀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𝛽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 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是比𝛽更强断言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它排除了更多可能的世界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x = 0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意味着句子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:r>
                  <a:rPr lang="en-US" altLang="zh-CN" dirty="0" err="1">
                    <a:latin typeface="+mn-lt"/>
                    <a:cs typeface="+mn-ea"/>
                    <a:sym typeface="+mn-lt"/>
                  </a:rPr>
                  <a:t>xy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=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𝑀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𝑐𝑎𝑡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 ⊆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𝑀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𝑎𝑛𝑖𝑚𝑎𝑙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3553F50-3A95-4268-95F3-BE3ED7EDD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40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90E902EB-0355-4E7B-D8C7-F539BB123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逻辑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410" name="Footer Placeholder 5">
            <a:extLst>
              <a:ext uri="{FF2B5EF4-FFF2-40B4-BE49-F238E27FC236}">
                <a16:creationId xmlns:a16="http://schemas.microsoft.com/office/drawing/2014/main" id="{5DDF6FDA-813C-07D5-B26F-4B6820785D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EF13C92-62A1-47C2-A47F-89B0FC4624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0"/>
                <a:ext cx="11379200" cy="4959349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例如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𝐾𝐵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|= 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1</m:t>
                    </m:r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𝐾𝐵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|≠ 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  <m:r>
                      <a:rPr lang="el-GR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2</m:t>
                    </m:r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𝐾𝐵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|</m:t>
                    </m:r>
                    <m:sSub>
                      <m:sSubPr>
                        <m:ctrlPr>
                          <a:rPr lang="zh-CN" altLang="en-US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−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𝑖</m:t>
                        </m:r>
                      </m:sub>
                    </m:sSub>
                    <m:r>
                      <a:rPr lang="el-GR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如果能推导出一个推理算法𝛼 来自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KB</a:t>
                </a:r>
              </a:p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真值保护</a:t>
                </a:r>
                <a:endParaRPr lang="en-US" altLang="zh-CN" b="1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一种只导出隐含句子的推理算法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完整性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推理算法可以推导出任何需要的句子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.</a:t>
                </a:r>
              </a:p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真值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逻辑推理与代理存在的真实环境之间的联系：我们如何知道知识库在现实世界中是真实的？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EF13C92-62A1-47C2-A47F-89B0FC462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0"/>
                <a:ext cx="11379200" cy="4959349"/>
              </a:xfrm>
              <a:prstGeom prst="rect">
                <a:avLst/>
              </a:prstGeom>
              <a:blipFill>
                <a:blip r:embed="rId3"/>
                <a:stretch>
                  <a:fillRect l="-965" t="-2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929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90E902EB-0355-4E7B-D8C7-F539BB123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err="1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逻辑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410" name="Footer Placeholder 5">
            <a:extLst>
              <a:ext uri="{FF2B5EF4-FFF2-40B4-BE49-F238E27FC236}">
                <a16:creationId xmlns:a16="http://schemas.microsoft.com/office/drawing/2014/main" id="{5DDF6FDA-813C-07D5-B26F-4B6820785D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7FA2FB8-67DE-4D22-97B6-8201F1ED184C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世界与表征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C39E1D-0FD9-49C5-AD97-EC65DBFBC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63" y="2234154"/>
            <a:ext cx="11785600" cy="400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42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DA81A193-78D0-A503-CE45-FBC5FF6A9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逻辑智能体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A4AB1640-5DDC-4A78-837D-ECB531F6C83D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基于知识的智能体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乌普思</a:t>
            </a:r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世界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逻辑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命题逻辑：一种非常简单的逻辑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命题定理证明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有效的命题模型检验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基于命题逻辑的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智能体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DCBCB435-963E-06E6-8C18-E9FE46D12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命题逻辑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6" name="Footer Placeholder 4">
            <a:extLst>
              <a:ext uri="{FF2B5EF4-FFF2-40B4-BE49-F238E27FC236}">
                <a16:creationId xmlns:a16="http://schemas.microsoft.com/office/drawing/2014/main" id="{D86961A7-2E54-A165-593B-D45A0EF49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4492749-5BCB-4768-80C8-E2ED199382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命题逻辑的句法定义了允许的句子。原子句由一个命题符号组成。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语法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￢ 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(not), ∧ (and), ∨ (or), ⇒ (implies), ⇔ (if and only if)</a:t>
                </a:r>
              </a:p>
              <a:p>
                <a:pPr lvl="1"/>
                <a:r>
                  <a:rPr lang="en-US" altLang="zh-CN" b="1" dirty="0">
                    <a:latin typeface="+mn-lt"/>
                    <a:cs typeface="+mn-ea"/>
                    <a:sym typeface="+mn-lt"/>
                  </a:rPr>
                  <a:t>True,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:r>
                  <a:rPr lang="en-US" altLang="zh-CN" b="1" dirty="0">
                    <a:latin typeface="+mn-lt"/>
                    <a:cs typeface="+mn-ea"/>
                    <a:sym typeface="+mn-lt"/>
                  </a:rPr>
                  <a:t>False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示例</a:t>
                </a:r>
                <a:endParaRPr lang="en-US" altLang="zh-CN" i="1" dirty="0">
                  <a:latin typeface="+mn-lt"/>
                  <a:cs typeface="+mn-ea"/>
                  <a:sym typeface="+mn-lt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𝑊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𝑊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conjunction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（合取式）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𝑊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∨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𝑊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disjunction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（析取式）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𝑊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⇒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𝑊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implication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（蕴含式）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4492749-5BCB-4768-80C8-E2ED19938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DCBCB435-963E-06E6-8C18-E9FE46D12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命题逻辑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6" name="Footer Placeholder 4">
            <a:extLst>
              <a:ext uri="{FF2B5EF4-FFF2-40B4-BE49-F238E27FC236}">
                <a16:creationId xmlns:a16="http://schemas.microsoft.com/office/drawing/2014/main" id="{D86961A7-2E54-A165-593B-D45A0EF49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4492749-5BCB-4768-80C8-E2ED19938286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D8CF7F-2893-4882-9695-8AB3ABBA8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25" y="1258884"/>
            <a:ext cx="8915858" cy="441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4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DCBCB435-963E-06E6-8C18-E9FE46D12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命题逻辑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6" name="Footer Placeholder 4">
            <a:extLst>
              <a:ext uri="{FF2B5EF4-FFF2-40B4-BE49-F238E27FC236}">
                <a16:creationId xmlns:a16="http://schemas.microsoft.com/office/drawing/2014/main" id="{D86961A7-2E54-A165-593B-D45A0EF49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70CA67-F83C-4D7B-9DC8-24107C12F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14" y="3926972"/>
            <a:ext cx="11828571" cy="2314286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7FAFD1A-518C-4CBD-9045-7706189D4718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语义学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定义句子的真值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关于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 一个模型。</a:t>
            </a:r>
          </a:p>
          <a:p>
            <a:pPr lvl="1"/>
            <a:r>
              <a:rPr lang="en-US" altLang="zh-CN" sz="2400" b="1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真实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 是真的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假的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 是假的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在每个模型中。</a:t>
            </a: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每个符号的真值都必须在</a:t>
            </a:r>
            <a:r>
              <a:rPr lang="zh-CN" altLang="en-US" sz="2400" dirty="0">
                <a:latin typeface="+mn-lt"/>
                <a:cs typeface="+mn-ea"/>
                <a:sym typeface="+mn-lt"/>
              </a:rPr>
              <a:t>模型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中指定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。</a:t>
            </a:r>
            <a:endParaRPr lang="zh-CN" altLang="en-US" sz="2800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831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DCBCB435-963E-06E6-8C18-E9FE46D12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命题逻辑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6" name="Footer Placeholder 4">
            <a:extLst>
              <a:ext uri="{FF2B5EF4-FFF2-40B4-BE49-F238E27FC236}">
                <a16:creationId xmlns:a16="http://schemas.microsoft.com/office/drawing/2014/main" id="{D86961A7-2E54-A165-593B-D45A0EF49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ED58EA-B177-4072-A2FA-F462A56D8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14" y="3926972"/>
            <a:ext cx="11828571" cy="231428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683001A-8AC2-44CC-BBA3-C7BBE9A37F40}"/>
              </a:ext>
            </a:extLst>
          </p:cNvPr>
          <p:cNvSpPr/>
          <p:nvPr/>
        </p:nvSpPr>
        <p:spPr>
          <a:xfrm>
            <a:off x="8335108" y="4029389"/>
            <a:ext cx="1637881" cy="21352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D7A67BA-7BE1-4E59-A325-35BA62041726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P⇒Q 的真值表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只要P为假，任何蕴含关系都为真。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唯一能为假的方式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如果P是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真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 但Q是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假</a:t>
            </a:r>
          </a:p>
          <a:p>
            <a:r>
              <a:rPr lang="en-US" altLang="zh-CN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示例</a:t>
            </a:r>
            <a:r>
              <a:rPr lang="en-US" altLang="zh-CN" dirty="0">
                <a:latin typeface="+mn-lt"/>
                <a:cs typeface="+mn-ea"/>
                <a:sym typeface="+mn-lt"/>
              </a:rPr>
              <a:t> 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5 是奇数 ⇒ 东京是美国的首都</a:t>
            </a:r>
            <a:endParaRPr lang="en-US" altLang="zh-CN" sz="3600" b="1" dirty="0">
              <a:solidFill>
                <a:srgbClr val="FF0000"/>
              </a:solidFill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5 是偶数 ⇒ 萨姆很聪明</a:t>
            </a:r>
            <a:endParaRPr lang="en-US" altLang="zh-CN" sz="3600" b="1" dirty="0">
              <a:solidFill>
                <a:srgbClr val="FF0000"/>
              </a:solidFill>
              <a:latin typeface="+mn-lt"/>
              <a:cs typeface="+mn-ea"/>
              <a:sym typeface="+mn-lt"/>
            </a:endParaRPr>
          </a:p>
          <a:p>
            <a:pPr lvl="1"/>
            <a:endParaRPr lang="en-US" altLang="zh-CN" b="1" dirty="0">
              <a:latin typeface="+mn-lt"/>
              <a:cs typeface="+mn-ea"/>
              <a:sym typeface="+mn-lt"/>
            </a:endParaRPr>
          </a:p>
          <a:p>
            <a:pPr lvl="1"/>
            <a:endParaRPr lang="en-US" altLang="zh-CN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025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DCBCB435-963E-06E6-8C18-E9FE46D12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>
                <a:solidFill>
                  <a:srgbClr val="7B9899"/>
                </a:solidFill>
                <a:latin typeface="+mn-lt"/>
                <a:ea typeface="+mn-ea"/>
                <a:cs typeface="+mn-ea"/>
                <a:sym typeface="+mn-lt"/>
              </a:rPr>
              <a:t>乌普思</a:t>
            </a:r>
            <a:r>
              <a:rPr lang="en-US" altLang="zh-CN" sz="3600" dirty="0" err="1">
                <a:solidFill>
                  <a:srgbClr val="7B9899"/>
                </a:solidFill>
                <a:latin typeface="+mn-lt"/>
                <a:ea typeface="+mn-ea"/>
                <a:cs typeface="+mn-ea"/>
                <a:sym typeface="+mn-lt"/>
              </a:rPr>
              <a:t>世界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6" name="Footer Placeholder 4">
            <a:extLst>
              <a:ext uri="{FF2B5EF4-FFF2-40B4-BE49-F238E27FC236}">
                <a16:creationId xmlns:a16="http://schemas.microsoft.com/office/drawing/2014/main" id="{D86961A7-2E54-A165-593B-D45A0EF49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97BF0908-902E-48E2-9A22-AF184EB09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199" y="1752600"/>
            <a:ext cx="4632959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1381CDB-10D8-41F2-8754-283189F53AB8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600200"/>
            <a:ext cx="5943600" cy="4495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环境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4×4洞穴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代理进入[1,1]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16 房间</a:t>
            </a:r>
          </a:p>
          <a:p>
            <a:pPr lvl="2"/>
            <a:r>
              <a:rPr lang="zh-CN" altLang="en-US" sz="2000" dirty="0">
                <a:latin typeface="+mn-lt"/>
                <a:cs typeface="+mn-ea"/>
                <a:sym typeface="+mn-lt"/>
              </a:rPr>
              <a:t>乌普思</a:t>
            </a:r>
            <a:r>
              <a:rPr lang="en-US" altLang="zh-CN" sz="2000" dirty="0">
                <a:latin typeface="+mn-lt"/>
                <a:cs typeface="+mn-ea"/>
                <a:sym typeface="+mn-lt"/>
              </a:rPr>
              <a:t>：</a:t>
            </a:r>
            <a:r>
              <a:rPr lang="en-US" altLang="zh-CN" sz="2000" dirty="0" err="1">
                <a:latin typeface="+mn-lt"/>
                <a:cs typeface="+mn-ea"/>
                <a:sym typeface="+mn-lt"/>
              </a:rPr>
              <a:t>一种致命的野兽，会杀死任何进入它房间的人</a:t>
            </a:r>
            <a:r>
              <a:rPr lang="en-US" altLang="zh-CN" sz="2000" dirty="0">
                <a:latin typeface="+mn-lt"/>
                <a:cs typeface="+mn-ea"/>
                <a:sym typeface="+mn-lt"/>
              </a:rPr>
              <a:t>。</a:t>
            </a:r>
          </a:p>
          <a:p>
            <a:pPr lvl="2"/>
            <a:r>
              <a:rPr lang="en-US" altLang="zh-CN" sz="2000" dirty="0">
                <a:latin typeface="+mn-lt"/>
                <a:cs typeface="+mn-ea"/>
                <a:sym typeface="+mn-lt"/>
              </a:rPr>
              <a:t>陷阱：无底洞，会永远困住你。</a:t>
            </a:r>
          </a:p>
          <a:p>
            <a:pPr lvl="2"/>
            <a:r>
              <a:rPr lang="en-US" altLang="zh-CN" sz="2000" dirty="0">
                <a:latin typeface="+mn-lt"/>
                <a:cs typeface="+mn-ea"/>
                <a:sym typeface="+mn-lt"/>
              </a:rPr>
              <a:t>黄金</a:t>
            </a:r>
          </a:p>
          <a:p>
            <a:endParaRPr lang="en-US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52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DCBCB435-963E-06E6-8C18-E9FE46D12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>
                <a:solidFill>
                  <a:srgbClr val="7B9899"/>
                </a:solidFill>
                <a:latin typeface="+mn-lt"/>
                <a:ea typeface="+mn-ea"/>
                <a:cs typeface="+mn-ea"/>
                <a:sym typeface="+mn-lt"/>
              </a:rPr>
              <a:t>乌普思</a:t>
            </a:r>
            <a:r>
              <a:rPr lang="en-US" altLang="zh-CN" sz="3600" dirty="0" err="1">
                <a:solidFill>
                  <a:srgbClr val="7B9899"/>
                </a:solidFill>
                <a:latin typeface="+mn-lt"/>
                <a:ea typeface="+mn-ea"/>
                <a:cs typeface="+mn-ea"/>
                <a:sym typeface="+mn-lt"/>
              </a:rPr>
              <a:t>世界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6" name="Footer Placeholder 4">
            <a:extLst>
              <a:ext uri="{FF2B5EF4-FFF2-40B4-BE49-F238E27FC236}">
                <a16:creationId xmlns:a16="http://schemas.microsoft.com/office/drawing/2014/main" id="{D86961A7-2E54-A165-593B-D45A0EF49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97BF0908-902E-48E2-9A22-AF184EB09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199" y="1752600"/>
            <a:ext cx="4632959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891A5B-1AED-4E4B-9076-DA0C165F2445}"/>
              </a:ext>
            </a:extLst>
          </p:cNvPr>
          <p:cNvSpPr txBox="1">
            <a:spLocks/>
          </p:cNvSpPr>
          <p:nvPr/>
        </p:nvSpPr>
        <p:spPr>
          <a:xfrm>
            <a:off x="457200" y="1527175"/>
            <a:ext cx="6781801" cy="457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智能体</a:t>
            </a:r>
            <a:r>
              <a:rPr lang="en-US" altLang="zh-CN" sz="2800" dirty="0" err="1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传感器</a:t>
            </a:r>
            <a:r>
              <a:rPr lang="en-US" altLang="zh-CN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：</a:t>
            </a:r>
          </a:p>
          <a:p>
            <a:pPr lvl="1"/>
            <a:r>
              <a:rPr lang="zh-CN" altLang="en-US" sz="2400" dirty="0">
                <a:latin typeface="+mn-lt"/>
                <a:cs typeface="+mn-ea"/>
                <a:sym typeface="+mn-lt"/>
              </a:rPr>
              <a:t>乌普思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旁边的恶臭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坑边的微风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金色方块中的亮片</a:t>
            </a:r>
          </a:p>
          <a:p>
            <a:pPr lvl="1"/>
            <a:r>
              <a:rPr lang="en-US" altLang="zh-CN" sz="2400" dirty="0">
                <a:latin typeface="+mn-lt"/>
                <a:cs typeface="+mn-ea"/>
                <a:sym typeface="+mn-lt"/>
              </a:rPr>
              <a:t>当</a:t>
            </a:r>
            <a:r>
              <a:rPr lang="zh-CN" altLang="en-US" sz="2400" dirty="0">
                <a:latin typeface="+mn-lt"/>
                <a:cs typeface="+mn-ea"/>
                <a:sym typeface="+mn-lt"/>
              </a:rPr>
              <a:t>智能体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移动到墙边时发生碰撞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pPr lvl="1"/>
            <a:r>
              <a:rPr lang="zh-CN" altLang="en-US" dirty="0">
                <a:latin typeface="+mn-lt"/>
                <a:cs typeface="+mn-ea"/>
                <a:sym typeface="+mn-lt"/>
              </a:rPr>
              <a:t>乌普思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被杀死时</a:t>
            </a:r>
            <a:r>
              <a:rPr lang="zh-CN" altLang="en-US" sz="2400" dirty="0">
                <a:latin typeface="+mn-lt"/>
                <a:cs typeface="+mn-ea"/>
                <a:sym typeface="+mn-lt"/>
              </a:rPr>
              <a:t>的</a:t>
            </a:r>
            <a:r>
              <a:rPr lang="en-US" altLang="zh-CN" dirty="0" err="1">
                <a:latin typeface="+mn-lt"/>
                <a:cs typeface="+mn-ea"/>
                <a:sym typeface="+mn-lt"/>
              </a:rPr>
              <a:t>尖叫</a:t>
            </a:r>
            <a:r>
              <a:rPr lang="zh-CN" altLang="en-US" dirty="0">
                <a:latin typeface="+mn-lt"/>
                <a:cs typeface="+mn-ea"/>
                <a:sym typeface="+mn-lt"/>
              </a:rPr>
              <a:t>声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pPr>
              <a:buFont typeface="Wingdings 2" panose="05020102010507070707" pitchFamily="2" charset="2"/>
              <a:buNone/>
            </a:pPr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zh-CN" altLang="en-US" sz="2800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智能体</a:t>
            </a:r>
            <a:r>
              <a:rPr lang="en-US" altLang="zh-CN" sz="2800" dirty="0" err="1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行动</a:t>
            </a:r>
            <a:endParaRPr lang="en-US" altLang="zh-CN" sz="2800" dirty="0">
              <a:solidFill>
                <a:schemeClr val="accent3"/>
              </a:solidFill>
              <a:latin typeface="+mn-lt"/>
              <a:cs typeface="+mn-ea"/>
              <a:sym typeface="+mn-lt"/>
            </a:endParaRPr>
          </a:p>
          <a:p>
            <a:pPr lvl="1"/>
            <a:r>
              <a:rPr lang="zh-CN" altLang="en-US" sz="2400" dirty="0">
                <a:latin typeface="+mn-lt"/>
                <a:cs typeface="+mn-ea"/>
                <a:sym typeface="+mn-lt"/>
              </a:rPr>
              <a:t>智能体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可以向前移动、向左转或向右转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。</a:t>
            </a: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开一枪</a:t>
            </a:r>
            <a:endParaRPr lang="en-US" altLang="zh-CN" sz="2400" dirty="0">
              <a:latin typeface="+mn-lt"/>
              <a:cs typeface="+mn-ea"/>
              <a:sym typeface="+mn-lt"/>
            </a:endParaRPr>
          </a:p>
          <a:p>
            <a:pPr lvl="1"/>
            <a:endParaRPr lang="en-US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5458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DCBCB435-963E-06E6-8C18-E9FE46D12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600" dirty="0" err="1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命题逻辑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6" name="Footer Placeholder 4">
            <a:extLst>
              <a:ext uri="{FF2B5EF4-FFF2-40B4-BE49-F238E27FC236}">
                <a16:creationId xmlns:a16="http://schemas.microsoft.com/office/drawing/2014/main" id="{D86961A7-2E54-A165-593B-D45A0EF49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081DBC07-3195-4421-8CFA-5FBA43695A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乌普思世界的简单知识库：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is true, 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[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]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中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有一个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坑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.</m:t>
                    </m:r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𝑊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is true, if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[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]</m:t>
                    </m:r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中有一个乌普思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is true, if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[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]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感受到微风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.</m:t>
                    </m:r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𝑆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is true, if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[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]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感受到恶臭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.</m:t>
                    </m:r>
                  </m:oMath>
                </a14:m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081DBC07-3195-4421-8CFA-5FBA43695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877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DCBCB435-963E-06E6-8C18-E9FE46D12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1254" y="237834"/>
            <a:ext cx="8842967" cy="790865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一个简单的知识库用于乌普思世界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6" name="Footer Placeholder 4">
            <a:extLst>
              <a:ext uri="{FF2B5EF4-FFF2-40B4-BE49-F238E27FC236}">
                <a16:creationId xmlns:a16="http://schemas.microsoft.com/office/drawing/2014/main" id="{D86961A7-2E54-A165-593B-D45A0EF49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71A38DD-9C04-45DB-822D-A068441034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How to derive </a:t>
                </a:r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R1 :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R2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⇔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</a:p>
              <a:p>
                <a:pPr lvl="1"/>
                <a:r>
                  <a:rPr lang="pt-BR" altLang="zh-CN" dirty="0">
                    <a:latin typeface="+mn-lt"/>
                    <a:cs typeface="+mn-ea"/>
                    <a:sym typeface="+mn-lt"/>
                  </a:rPr>
                  <a:t>R3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pt-BR" altLang="zh-CN" dirty="0">
                    <a:latin typeface="+mn-lt"/>
                    <a:cs typeface="+mn-ea"/>
                    <a:sym typeface="+mn-lt"/>
                  </a:rPr>
                  <a:t> ⇔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pt-BR" altLang="zh-CN" dirty="0">
                    <a:latin typeface="+mn-lt"/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2,2</m:t>
                        </m:r>
                      </m:sub>
                    </m:sSub>
                  </m:oMath>
                </a14:m>
                <a:r>
                  <a:rPr lang="pt-BR" altLang="zh-CN" dirty="0">
                    <a:latin typeface="+mn-lt"/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3,1</m:t>
                        </m:r>
                      </m:sub>
                    </m:sSub>
                  </m:oMath>
                </a14:m>
                <a:r>
                  <a:rPr lang="pt-BR" altLang="zh-CN" dirty="0">
                    <a:latin typeface="+mn-lt"/>
                    <a:cs typeface="+mn-ea"/>
                    <a:sym typeface="+mn-lt"/>
                  </a:rPr>
                  <a:t>) .</a:t>
                </a: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R4 :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R5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i="1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KB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: R1,R2,…,R5  or  R1</a:t>
                </a:r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 ∧ 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R2</a:t>
                </a:r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 ∧ 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…</a:t>
                </a:r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 ∧ 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R5</a:t>
                </a:r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: </a:t>
                </a:r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71A38DD-9C04-45DB-822D-A06844103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7A9D404C-4DD2-4801-9531-109C0C42E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524000"/>
            <a:ext cx="4038600" cy="385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9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DCBCB435-963E-06E6-8C18-E9FE46D12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一种简单的推理过程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6" name="Footer Placeholder 4">
            <a:extLst>
              <a:ext uri="{FF2B5EF4-FFF2-40B4-BE49-F238E27FC236}">
                <a16:creationId xmlns:a16="http://schemas.microsoft.com/office/drawing/2014/main" id="{D86961A7-2E54-A165-593B-D45A0EF49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82050BDC-7DC5-48B8-9198-4073C00F64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我们的目标是：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𝐾𝐵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|=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for some sentence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推理模型检查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枚举模型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并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检查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在所有的模型中都是正确的</a:t>
                </a:r>
                <a:endParaRPr lang="en-US" altLang="zh-CN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82050BDC-7DC5-48B8-9198-4073C00F6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927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DCBCB435-963E-06E6-8C18-E9FE46D12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一种简单的推理过程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6" name="Footer Placeholder 4">
            <a:extLst>
              <a:ext uri="{FF2B5EF4-FFF2-40B4-BE49-F238E27FC236}">
                <a16:creationId xmlns:a16="http://schemas.microsoft.com/office/drawing/2014/main" id="{D86961A7-2E54-A165-593B-D45A0EF49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69DECE-44E5-49A2-878D-6F3135459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7696"/>
            <a:ext cx="12124102" cy="52832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6566386-4883-4C1C-8385-1D326554B495}"/>
              </a:ext>
            </a:extLst>
          </p:cNvPr>
          <p:cNvSpPr/>
          <p:nvPr/>
        </p:nvSpPr>
        <p:spPr>
          <a:xfrm>
            <a:off x="67898" y="1295400"/>
            <a:ext cx="6332902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EBF72A-D8FD-4348-AFB0-457B7F63500B}"/>
              </a:ext>
            </a:extLst>
          </p:cNvPr>
          <p:cNvSpPr/>
          <p:nvPr/>
        </p:nvSpPr>
        <p:spPr>
          <a:xfrm>
            <a:off x="6629400" y="1295400"/>
            <a:ext cx="53340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8166848-5388-42BA-ABFF-84F83B485475}"/>
              </a:ext>
            </a:extLst>
          </p:cNvPr>
          <p:cNvCxnSpPr/>
          <p:nvPr/>
        </p:nvCxnSpPr>
        <p:spPr>
          <a:xfrm>
            <a:off x="6472061" y="914400"/>
            <a:ext cx="4939" cy="57912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416C9E2-7B69-4331-8C1F-26B527E7C721}"/>
              </a:ext>
            </a:extLst>
          </p:cNvPr>
          <p:cNvSpPr/>
          <p:nvPr/>
        </p:nvSpPr>
        <p:spPr>
          <a:xfrm>
            <a:off x="67898" y="1823949"/>
            <a:ext cx="6332902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72D40B-3F2E-40CE-B7CF-68F75D61DC34}"/>
              </a:ext>
            </a:extLst>
          </p:cNvPr>
          <p:cNvSpPr/>
          <p:nvPr/>
        </p:nvSpPr>
        <p:spPr>
          <a:xfrm>
            <a:off x="2853348" y="3677696"/>
            <a:ext cx="762001" cy="11708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4C5D50-446F-49DB-81A7-F7439B341E4C}"/>
              </a:ext>
            </a:extLst>
          </p:cNvPr>
          <p:cNvSpPr/>
          <p:nvPr/>
        </p:nvSpPr>
        <p:spPr>
          <a:xfrm>
            <a:off x="11277599" y="3657600"/>
            <a:ext cx="762001" cy="11708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4914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一种简单的推理过程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B09DAB6-217A-4703-8842-F51DEDE9B618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一种用于判定命题逻辑中蕴含关系的通用算法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DB54C2A-DFDD-45E8-B7D1-294D31029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18726"/>
            <a:ext cx="10228571" cy="24857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一种简单的推理过程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06D3B2D-7C63-4255-9C1D-62E6ED562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76" y="1640451"/>
            <a:ext cx="11019047" cy="4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30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逻辑智能体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37DEE2B-4B34-4E12-8363-32B93148B4F0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基于知识的智能体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乌普思</a:t>
            </a:r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世界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逻辑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命题逻辑：一种非常简单的逻辑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latin typeface="+mn-lt"/>
                <a:cs typeface="+mn-ea"/>
                <a:sym typeface="+mn-lt"/>
              </a:rPr>
              <a:t>命题定理证明</a:t>
            </a:r>
            <a:endParaRPr lang="en-US" altLang="zh-CN" sz="2800" dirty="0"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有效的命题模型检验</a:t>
            </a:r>
            <a:endParaRPr lang="en-US" altLang="zh-CN" sz="2800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sz="2800" dirty="0" err="1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基于命题逻辑的</a:t>
            </a: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+mn-lt"/>
                <a:cs typeface="+mn-ea"/>
                <a:sym typeface="+mn-lt"/>
              </a:rPr>
              <a:t>智能体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3694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命题定理证明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505C985-0826-4421-A0F4-0ECEDA63ADA3}"/>
              </a:ext>
            </a:extLst>
          </p:cNvPr>
          <p:cNvSpPr txBox="1">
            <a:spLocks/>
          </p:cNvSpPr>
          <p:nvPr/>
        </p:nvSpPr>
        <p:spPr>
          <a:xfrm>
            <a:off x="406400" y="1397000"/>
            <a:ext cx="11379200" cy="48430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 err="1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如何实现蕴含</a:t>
            </a:r>
            <a:r>
              <a:rPr lang="en-US" altLang="zh-CN" sz="2800" b="1" dirty="0" err="1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定理证明</a:t>
            </a:r>
            <a:r>
              <a:rPr lang="en-US" altLang="zh-CN" sz="2800" b="1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？</a:t>
            </a:r>
          </a:p>
          <a:p>
            <a:pPr lvl="1"/>
            <a:r>
              <a:rPr lang="en-US" altLang="zh-CN" sz="2400" dirty="0" err="1">
                <a:latin typeface="+mn-lt"/>
                <a:cs typeface="+mn-ea"/>
                <a:sym typeface="+mn-lt"/>
              </a:rPr>
              <a:t>直接将推理规则应用于知识库中的句子，以构建所需句子的证明，而无需</a:t>
            </a:r>
            <a:r>
              <a:rPr lang="zh-CN" altLang="en-US" sz="2400" dirty="0">
                <a:latin typeface="+mn-lt"/>
                <a:cs typeface="+mn-ea"/>
                <a:sym typeface="+mn-lt"/>
              </a:rPr>
              <a:t>关注</a:t>
            </a:r>
            <a:r>
              <a:rPr lang="en-US" altLang="zh-CN" sz="2400" dirty="0" err="1">
                <a:latin typeface="+mn-lt"/>
                <a:cs typeface="+mn-ea"/>
                <a:sym typeface="+mn-lt"/>
              </a:rPr>
              <a:t>模型</a:t>
            </a:r>
            <a:r>
              <a:rPr lang="en-US" altLang="zh-CN" sz="2400" dirty="0">
                <a:latin typeface="+mn-lt"/>
                <a:cs typeface="+mn-ea"/>
                <a:sym typeface="+mn-lt"/>
              </a:rPr>
              <a:t>。</a:t>
            </a:r>
            <a:endParaRPr lang="en-US" altLang="zh-CN" b="1" dirty="0">
              <a:latin typeface="+mn-lt"/>
              <a:cs typeface="+mn-ea"/>
              <a:sym typeface="+mn-lt"/>
            </a:endParaRPr>
          </a:p>
          <a:p>
            <a:pPr lvl="1"/>
            <a:endParaRPr lang="en-US" altLang="zh-CN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4273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命题定理证明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3505C985-0826-4421-A0F4-0ECEDA63AD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0"/>
                <a:ext cx="11379200" cy="484302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与蕴含相关的概念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b="1" dirty="0">
                    <a:latin typeface="+mn-lt"/>
                    <a:cs typeface="+mn-ea"/>
                    <a:sym typeface="+mn-lt"/>
                  </a:rPr>
                  <a:t>逻辑等价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：两句话如果它们在相同的模型集合中都为真，则它们在逻辑上是等价的。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𝜶</m:t>
                    </m:r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≡</m:t>
                    </m:r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𝜷</m:t>
                    </m:r>
                  </m:oMath>
                </a14:m>
                <a:r>
                  <a:rPr lang="en-US" altLang="zh-CN" i="1" dirty="0">
                    <a:solidFill>
                      <a:schemeClr val="tx1"/>
                    </a:solidFill>
                    <a:latin typeface="+mn-lt"/>
                    <a:cs typeface="+mn-ea"/>
                    <a:sym typeface="+mn-lt"/>
                  </a:rPr>
                  <a:t> iff 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𝜶</m:t>
                    </m:r>
                    <m:r>
                      <a:rPr lang="zh-CN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⊨</m:t>
                    </m:r>
                    <m:r>
                      <a:rPr lang="zh-CN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𝜷</m:t>
                    </m:r>
                  </m:oMath>
                </a14:m>
                <a:r>
                  <a:rPr lang="en-US" altLang="zh-CN" i="1" dirty="0">
                    <a:solidFill>
                      <a:schemeClr val="tx1"/>
                    </a:solidFill>
                    <a:latin typeface="+mn-lt"/>
                    <a:cs typeface="+mn-ea"/>
                    <a:sym typeface="+mn-lt"/>
                  </a:rPr>
                  <a:t> and</a:t>
                </a:r>
                <a:r>
                  <a:rPr lang="zh-CN" altLang="en-US" i="1" dirty="0">
                    <a:solidFill>
                      <a:schemeClr val="tx1"/>
                    </a:solidFill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𝜷</m:t>
                    </m:r>
                    <m:r>
                      <a:rPr lang="zh-CN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⊨</m:t>
                    </m:r>
                    <m:r>
                      <a:rPr lang="zh-CN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𝜶</m:t>
                    </m:r>
                  </m:oMath>
                </a14:m>
                <a:endParaRPr lang="en-US" altLang="zh-CN" i="1" dirty="0">
                  <a:solidFill>
                    <a:schemeClr val="tx1"/>
                  </a:solidFill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2"/>
                <a:endParaRPr lang="en-GB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endParaRPr lang="en-US" altLang="zh-CN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3505C985-0826-4421-A0F4-0ECEDA63A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0"/>
                <a:ext cx="11379200" cy="4843025"/>
              </a:xfrm>
              <a:prstGeom prst="rect">
                <a:avLst/>
              </a:prstGeom>
              <a:blipFill>
                <a:blip r:embed="rId3"/>
                <a:stretch>
                  <a:fillRect l="-965" t="-2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67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命题定理证明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28197A-A08B-4D7C-B059-8495DFC13C6F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逻辑等价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CC733E-7590-4DBB-998F-6F11C584D9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531" y="1950179"/>
            <a:ext cx="7808010" cy="409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4856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命题定理证明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3505C985-0826-4421-A0F4-0ECEDA63AD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0"/>
                <a:ext cx="11379200" cy="484302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与蕴含相关的概念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b="1" dirty="0">
                    <a:latin typeface="+mn-lt"/>
                    <a:cs typeface="+mn-ea"/>
                    <a:sym typeface="+mn-lt"/>
                  </a:rPr>
                  <a:t>有效性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：如果一个句子在所有模型中都为真，则该句子是有效的</a:t>
                </a:r>
                <a:endParaRPr lang="en-GB" altLang="zh-CN" i="1" dirty="0">
                  <a:latin typeface="+mn-lt"/>
                  <a:cs typeface="+mn-ea"/>
                  <a:sym typeface="+mn-lt"/>
                </a:endParaRPr>
              </a:p>
              <a:p>
                <a:pPr lvl="2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  <m:r>
                      <a:rPr lang="en-US" altLang="zh-CN" i="1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|= </m:t>
                    </m:r>
                    <m:r>
                      <a:rPr lang="en-US" altLang="zh-CN" i="1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𝛽</m:t>
                    </m:r>
                    <m:r>
                      <a:rPr lang="en-US" altLang="zh-CN" i="1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en-US" altLang="zh-CN" dirty="0" err="1">
                    <a:latin typeface="+mn-lt"/>
                    <a:cs typeface="+mn-ea"/>
                    <a:sym typeface="+mn-lt"/>
                  </a:rPr>
                  <a:t>iff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the sentence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α</m:t>
                    </m:r>
                    <m:r>
                      <a:rPr lang="en-US" altLang="zh-CN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β</m:t>
                    </m:r>
                    <m:r>
                      <a:rPr lang="en-US" altLang="zh-CN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is valid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2">
                  <a:lnSpc>
                    <a:spcPct val="100000"/>
                  </a:lnSpc>
                </a:pP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we can decide if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  <m:r>
                      <a:rPr lang="en-US" altLang="zh-CN" i="1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|= </m:t>
                    </m:r>
                    <m:r>
                      <a:rPr lang="en-US" altLang="zh-CN" i="1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𝛽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by checking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α</m:t>
                    </m:r>
                    <m:r>
                      <a:rPr lang="en-US" altLang="zh-CN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β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is true in every model</a:t>
                </a:r>
              </a:p>
              <a:p>
                <a:pPr lvl="2">
                  <a:lnSpc>
                    <a:spcPct val="100000"/>
                  </a:lnSpc>
                </a:pP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zh-CN" altLang="en-US" b="1" dirty="0">
                    <a:latin typeface="+mn-lt"/>
                    <a:cs typeface="+mn-ea"/>
                    <a:sym typeface="+mn-lt"/>
                  </a:rPr>
                  <a:t>可满足性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：如果一个句子在某个模型中为真，或被该模型所满足，则称该句子是可满足的</a:t>
                </a:r>
                <a:endParaRPr lang="en-GB" altLang="zh-CN" i="1" dirty="0">
                  <a:latin typeface="+mn-lt"/>
                  <a:cs typeface="+mn-ea"/>
                  <a:sym typeface="+mn-lt"/>
                </a:endParaRPr>
              </a:p>
              <a:p>
                <a:pPr lvl="2">
                  <a:lnSpc>
                    <a:spcPct val="100000"/>
                  </a:lnSpc>
                </a:pP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判定命题逻辑中句子可满足性的难题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——SAT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问题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——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是首个被证明为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NP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完全的问题</a:t>
                </a:r>
                <a:endParaRPr lang="en-GB" altLang="zh-CN" dirty="0">
                  <a:latin typeface="+mn-lt"/>
                  <a:cs typeface="+mn-ea"/>
                  <a:sym typeface="+mn-lt"/>
                </a:endParaRPr>
              </a:p>
              <a:p>
                <a:pPr lvl="2">
                  <a:lnSpc>
                    <a:spcPct val="100000"/>
                  </a:lnSpc>
                </a:pP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en-GB" altLang="zh-CN" i="1" dirty="0">
                    <a:latin typeface="+mn-lt"/>
                    <a:cs typeface="+mn-ea"/>
                    <a:sym typeface="+mn-lt"/>
                  </a:rPr>
                  <a:t> is valid </a:t>
                </a:r>
                <a:r>
                  <a:rPr lang="en-GB" altLang="zh-CN" i="1" dirty="0" err="1">
                    <a:latin typeface="+mn-lt"/>
                    <a:cs typeface="+mn-ea"/>
                    <a:sym typeface="+mn-lt"/>
                  </a:rPr>
                  <a:t>iff</a:t>
                </a:r>
                <a:r>
                  <a:rPr lang="en-GB" altLang="zh-CN" i="1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en-GB" altLang="zh-CN" i="1" dirty="0">
                    <a:latin typeface="+mn-lt"/>
                    <a:cs typeface="+mn-ea"/>
                    <a:sym typeface="+mn-lt"/>
                  </a:rPr>
                  <a:t> is unsatisfiable </a:t>
                </a:r>
                <a:endParaRPr lang="en-GB" altLang="zh-CN" dirty="0">
                  <a:latin typeface="+mn-lt"/>
                  <a:cs typeface="+mn-ea"/>
                  <a:sym typeface="+mn-lt"/>
                </a:endParaRPr>
              </a:p>
              <a:p>
                <a:pPr lvl="2">
                  <a:lnSpc>
                    <a:spcPct val="100000"/>
                  </a:lnSpc>
                </a:pPr>
                <a:r>
                  <a:rPr lang="en-US" altLang="zh-CN" b="1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𝜶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|= 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𝜷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en-US" altLang="zh-CN" b="1" i="1" dirty="0">
                    <a:latin typeface="+mn-lt"/>
                    <a:cs typeface="+mn-ea"/>
                    <a:sym typeface="+mn-lt"/>
                  </a:rPr>
                  <a:t>if and only if the sentence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𝜶</m:t>
                    </m:r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∧¬</m:t>
                    </m:r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𝜷</m:t>
                    </m:r>
                    <m:r>
                      <a:rPr lang="en-US" altLang="zh-CN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 </m:t>
                    </m:r>
                  </m:oMath>
                </a14:m>
                <a:r>
                  <a:rPr lang="en-US" altLang="zh-CN" b="1" i="1" dirty="0">
                    <a:latin typeface="+mn-lt"/>
                    <a:cs typeface="+mn-ea"/>
                    <a:sym typeface="+mn-lt"/>
                  </a:rPr>
                  <a:t>is </a:t>
                </a:r>
                <a:r>
                  <a:rPr lang="en-US" altLang="zh-CN" b="1" i="1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unsatisfiable</a:t>
                </a:r>
                <a:endParaRPr lang="en-US" altLang="zh-CN" b="1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2">
                  <a:lnSpc>
                    <a:spcPct val="100000"/>
                  </a:lnSpc>
                </a:pPr>
                <a:endParaRPr lang="en-GB" altLang="zh-CN" dirty="0">
                  <a:latin typeface="+mn-lt"/>
                  <a:cs typeface="+mn-ea"/>
                  <a:sym typeface="+mn-lt"/>
                </a:endParaRPr>
              </a:p>
              <a:p>
                <a:pPr lvl="1">
                  <a:lnSpc>
                    <a:spcPct val="100000"/>
                  </a:lnSpc>
                </a:pP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>
                  <a:lnSpc>
                    <a:spcPct val="100000"/>
                  </a:lnSpc>
                </a:pPr>
                <a:endParaRPr lang="en-US" altLang="zh-CN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3505C985-0826-4421-A0F4-0ECEDA63A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0"/>
                <a:ext cx="11379200" cy="4843025"/>
              </a:xfrm>
              <a:prstGeom prst="rect">
                <a:avLst/>
              </a:prstGeom>
              <a:blipFill>
                <a:blip r:embed="rId3"/>
                <a:stretch>
                  <a:fillRect l="-965" t="-1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277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推理与证明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7625875-0BCB-4BCF-8DE6-82711F50BB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假言推理规则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zh-CN" alt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𝜶</m:t>
                        </m:r>
                        <m:r>
                          <a:rPr lang="zh-CN" alt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⇒</m:t>
                        </m:r>
                        <m:r>
                          <a:rPr lang="zh-CN" alt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𝜷</m:t>
                        </m:r>
                        <m:r>
                          <a:rPr lang="en-US" altLang="zh-CN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  </m:t>
                        </m:r>
                        <m:r>
                          <a:rPr lang="en-US" altLang="zh-CN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  </m:t>
                        </m:r>
                        <m:r>
                          <a:rPr lang="zh-CN" alt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𝜶</m:t>
                        </m:r>
                      </m:num>
                      <m:den>
                        <m:r>
                          <a:rPr lang="zh-CN" alt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𝜷</m:t>
                        </m:r>
                      </m:den>
                    </m:f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i="1" dirty="0">
                    <a:latin typeface="+mn-lt"/>
                    <a:cs typeface="+mn-ea"/>
                    <a:sym typeface="+mn-lt"/>
                  </a:rPr>
                  <a:t>已知任何形式的𝜶⇒𝜷</a:t>
                </a:r>
                <a:r>
                  <a:rPr lang="en-US" altLang="zh-CN" i="1" dirty="0">
                    <a:latin typeface="+mn-lt"/>
                    <a:cs typeface="+mn-ea"/>
                    <a:sym typeface="+mn-lt"/>
                  </a:rPr>
                  <a:t>,   </a:t>
                </a:r>
                <a:r>
                  <a:rPr lang="zh-CN" altLang="en-US" i="1" dirty="0">
                    <a:latin typeface="+mn-lt"/>
                    <a:cs typeface="+mn-ea"/>
                    <a:sym typeface="+mn-lt"/>
                  </a:rPr>
                  <a:t>给定</a:t>
                </a:r>
                <a:r>
                  <a:rPr lang="en-US" altLang="zh-CN" i="1" dirty="0">
                    <a:latin typeface="+mn-lt"/>
                    <a:cs typeface="+mn-ea"/>
                    <a:sym typeface="+mn-lt"/>
                  </a:rPr>
                  <a:t> </a:t>
                </a:r>
                <a:r>
                  <a:rPr lang="zh-CN" altLang="en-US" i="1" dirty="0">
                    <a:latin typeface="+mn-lt"/>
                    <a:cs typeface="+mn-ea"/>
                    <a:sym typeface="+mn-lt"/>
                  </a:rPr>
                  <a:t>𝜶语句，就可以推导出语句𝜷。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消去合取词（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And-Elimination</a:t>
                </a:r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）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zh-CN" alt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𝜶</m:t>
                        </m:r>
                        <m:r>
                          <a:rPr lang="zh-CN" alt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⋀</m:t>
                        </m:r>
                        <m:r>
                          <a:rPr lang="zh-CN" alt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𝜷</m:t>
                        </m:r>
                      </m:num>
                      <m:den>
                        <m:r>
                          <a:rPr lang="zh-CN" altLang="en-US" b="1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𝜶</m:t>
                        </m:r>
                      </m:den>
                    </m:f>
                  </m:oMath>
                </a14:m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逻辑等价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: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𝜶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⇔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𝜷</m:t>
                        </m:r>
                      </m:num>
                      <m:den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𝜶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⇒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𝜷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)⋀(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𝜷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⇒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𝜶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(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𝜶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⇒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𝜷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)⋀(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𝜷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⇒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𝜶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)</m:t>
                        </m:r>
                      </m:num>
                      <m:den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𝜶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⇔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𝜷</m:t>
                        </m:r>
                      </m:den>
                    </m:f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7625875-0BCB-4BCF-8DE6-82711F50B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75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7D9F0ED-D82C-ECDD-6629-A258C553F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推理与证明</a:t>
            </a:r>
            <a:endParaRPr lang="en-GB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368A896F-A1B7-4463-902F-27F64DAFCE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Prove </a:t>
                </a:r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 with R1 through R5</a:t>
                </a:r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将双向蕴含消去应用于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R2</a:t>
                </a: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R6: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⇒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)) ∧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dirty="0">
                        <a:latin typeface="+mn-lt"/>
                        <a:cs typeface="+mn-ea"/>
                        <a:sym typeface="+mn-lt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>
                        <a:latin typeface="+mn-lt"/>
                        <a:cs typeface="+mn-ea"/>
                        <a:sym typeface="+mn-lt"/>
                      </a:rPr>
                      <m:t> ∨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>
                        <a:latin typeface="+mn-lt"/>
                        <a:cs typeface="+mn-ea"/>
                        <a:sym typeface="+mn-lt"/>
                      </a:rPr>
                      <m:t>)⇒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对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R6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采用合取消除法</a:t>
                </a:r>
                <a:endParaRPr lang="en-US" altLang="zh-CN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R7: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dirty="0">
                        <a:latin typeface="+mn-lt"/>
                        <a:cs typeface="+mn-ea"/>
                        <a:sym typeface="+mn-lt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>
                        <a:latin typeface="+mn-lt"/>
                        <a:cs typeface="+mn-ea"/>
                        <a:sym typeface="+mn-lt"/>
                      </a:rPr>
                      <m:t> ∨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>
                        <a:latin typeface="+mn-lt"/>
                        <a:cs typeface="+mn-ea"/>
                        <a:sym typeface="+mn-lt"/>
                      </a:rPr>
                      <m:t>)⇒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逆否命题</a:t>
                </a:r>
                <a:endParaRPr lang="en-US" altLang="zh-CN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R8: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⇒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￢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dirty="0">
                        <a:latin typeface="+mn-lt"/>
                        <a:cs typeface="+mn-ea"/>
                        <a:sym typeface="+mn-lt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>
                        <a:latin typeface="+mn-lt"/>
                        <a:cs typeface="+mn-ea"/>
                        <a:sym typeface="+mn-lt"/>
                      </a:rPr>
                      <m:t> ∨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>
                        <a:latin typeface="+mn-lt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对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R8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和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R4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运用假言推理 </a:t>
                </a:r>
                <a:endParaRPr lang="en-US" altLang="zh-CN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R9: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￢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>
                        <a:latin typeface="+mn-lt"/>
                        <a:cs typeface="+mn-ea"/>
                        <a:sym typeface="+mn-lt"/>
                      </a:rPr>
                      <m:t> ∨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 </a:t>
                </a:r>
              </a:p>
              <a:p>
                <a:pPr lvl="1"/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De 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德摩根定律</a:t>
                </a:r>
                <a:endParaRPr lang="en-US" altLang="zh-CN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R10 :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∧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368A896F-A1B7-4463-902F-27F64DAFC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578307FE-BEDE-4622-AE2C-E94848D35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687" y="1165078"/>
            <a:ext cx="3505200" cy="33434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F215C66-3A75-4F86-B9AB-5BE40FB29F1E}"/>
                  </a:ext>
                </a:extLst>
              </p:cNvPr>
              <p:cNvSpPr/>
              <p:nvPr/>
            </p:nvSpPr>
            <p:spPr>
              <a:xfrm>
                <a:off x="7343887" y="4704947"/>
                <a:ext cx="4876800" cy="20201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altLang="zh-CN" sz="2400" dirty="0">
                    <a:cs typeface="+mn-ea"/>
                    <a:sym typeface="+mn-lt"/>
                  </a:rPr>
                  <a:t>R1 : </a:t>
                </a:r>
                <a:r>
                  <a:rPr lang="zh-CN" altLang="en-US" sz="2400" dirty="0">
                    <a:cs typeface="+mn-ea"/>
                    <a:sym typeface="+mn-lt"/>
                  </a:rPr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endParaRPr lang="en-US" altLang="zh-CN" sz="2400" dirty="0">
                  <a:cs typeface="+mn-ea"/>
                  <a:sym typeface="+mn-lt"/>
                </a:endParaRPr>
              </a:p>
              <a:p>
                <a:pPr lvl="1"/>
                <a:r>
                  <a:rPr lang="en-US" altLang="zh-CN" sz="2400" dirty="0">
                    <a:cs typeface="+mn-ea"/>
                    <a:sym typeface="+mn-lt"/>
                  </a:rPr>
                  <a:t>R2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sz="2400" dirty="0">
                    <a:cs typeface="+mn-ea"/>
                    <a:sym typeface="+mn-lt"/>
                  </a:rPr>
                  <a:t> ⇔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sz="2400" dirty="0"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sz="2400" dirty="0">
                    <a:cs typeface="+mn-ea"/>
                    <a:sym typeface="+mn-lt"/>
                  </a:rPr>
                  <a:t>)</a:t>
                </a:r>
              </a:p>
              <a:p>
                <a:pPr lvl="1"/>
                <a:r>
                  <a:rPr lang="pt-BR" altLang="zh-CN" sz="2400" dirty="0">
                    <a:cs typeface="+mn-ea"/>
                    <a:sym typeface="+mn-lt"/>
                  </a:rPr>
                  <a:t>R3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pt-BR" altLang="zh-CN" sz="2400" dirty="0">
                    <a:cs typeface="+mn-ea"/>
                    <a:sym typeface="+mn-lt"/>
                  </a:rPr>
                  <a:t> ⇔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pt-BR" altLang="zh-CN" sz="2400" dirty="0"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2,2</m:t>
                        </m:r>
                      </m:sub>
                    </m:sSub>
                  </m:oMath>
                </a14:m>
                <a:r>
                  <a:rPr lang="pt-BR" altLang="zh-CN" sz="2400" dirty="0"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3,1</m:t>
                        </m:r>
                      </m:sub>
                    </m:sSub>
                  </m:oMath>
                </a14:m>
                <a:r>
                  <a:rPr lang="pt-BR" altLang="zh-CN" sz="2400" dirty="0">
                    <a:cs typeface="+mn-ea"/>
                    <a:sym typeface="+mn-lt"/>
                  </a:rPr>
                  <a:t>) </a:t>
                </a:r>
              </a:p>
              <a:p>
                <a:pPr lvl="1"/>
                <a:r>
                  <a:rPr lang="en-US" altLang="zh-CN" sz="2400" dirty="0">
                    <a:cs typeface="+mn-ea"/>
                    <a:sym typeface="+mn-lt"/>
                  </a:rPr>
                  <a:t>R4 : </a:t>
                </a:r>
                <a:r>
                  <a:rPr lang="zh-CN" altLang="en-US" sz="2400" dirty="0">
                    <a:cs typeface="+mn-ea"/>
                    <a:sym typeface="+mn-lt"/>
                  </a:rPr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endParaRPr lang="en-US" altLang="zh-CN" sz="2400" dirty="0">
                  <a:cs typeface="+mn-ea"/>
                  <a:sym typeface="+mn-lt"/>
                </a:endParaRPr>
              </a:p>
              <a:p>
                <a:pPr lvl="1"/>
                <a:r>
                  <a:rPr lang="en-US" altLang="zh-CN" sz="2400" dirty="0">
                    <a:cs typeface="+mn-ea"/>
                    <a:sym typeface="+mn-lt"/>
                  </a:rPr>
                  <a:t>R5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F215C66-3A75-4F86-B9AB-5BE40FB29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887" y="4704947"/>
                <a:ext cx="4876800" cy="2020105"/>
              </a:xfrm>
              <a:prstGeom prst="rect">
                <a:avLst/>
              </a:prstGeom>
              <a:blipFill>
                <a:blip r:embed="rId5"/>
                <a:stretch>
                  <a:fillRect t="-2417" b="-5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7D9F0ED-D82C-ECDD-6629-A258C553F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推理与证明</a:t>
            </a:r>
            <a:endParaRPr lang="en-GB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F3CB9E11-3F7F-4426-A0C3-AC5390B92B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0"/>
                <a:ext cx="11379200" cy="5232399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搜索证明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初始状态</a:t>
                </a:r>
                <a:endParaRPr lang="en-US" altLang="zh-CN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  <a:p>
                <a:pPr lvl="2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初始知识库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行动</a:t>
                </a:r>
                <a:endParaRPr lang="en-US" altLang="zh-CN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  <a:p>
                <a:pPr lvl="2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所有的推理规则适用于所有句子，与推理规则的上半部分相匹配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双条件消去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, 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消去合取式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结果</a:t>
                </a:r>
                <a:endParaRPr lang="en-US" altLang="zh-CN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  <a:p>
                <a:pPr lvl="2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将推理规则的下半部分的语句实例加入知识库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 R8: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⇒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￢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dirty="0">
                        <a:latin typeface="+mn-lt"/>
                        <a:cs typeface="+mn-ea"/>
                        <a:sym typeface="+mn-lt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>
                        <a:latin typeface="+mn-lt"/>
                        <a:cs typeface="+mn-ea"/>
                        <a:sym typeface="+mn-lt"/>
                      </a:rPr>
                      <m:t> ∨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>
                        <a:latin typeface="+mn-lt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目标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</a:p>
              <a:p>
                <a:pPr lvl="2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要证明的句子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F3CB9E11-3F7F-4426-A0C3-AC5390B92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0"/>
                <a:ext cx="11379200" cy="5232399"/>
              </a:xfrm>
              <a:prstGeom prst="rect">
                <a:avLst/>
              </a:prstGeom>
              <a:blipFill>
                <a:blip r:embed="rId3"/>
                <a:stretch>
                  <a:fillRect l="-965" t="-19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5034FD4-E3B2-4B9C-ACE1-B4C91FDE5DC9}"/>
                  </a:ext>
                </a:extLst>
              </p:cNvPr>
              <p:cNvSpPr txBox="1"/>
              <p:nvPr/>
            </p:nvSpPr>
            <p:spPr bwMode="auto">
              <a:xfrm>
                <a:off x="8183137" y="1755946"/>
                <a:ext cx="3200400" cy="123815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38" tIns="45719" rIns="91438" bIns="45719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6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zh-CN" altLang="en-US" sz="36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𝜶</m:t>
                          </m:r>
                          <m:r>
                            <a:rPr lang="zh-CN" altLang="en-US" sz="36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⇒</m:t>
                          </m:r>
                          <m:r>
                            <a:rPr lang="zh-CN" altLang="en-US" sz="36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𝜷</m:t>
                          </m:r>
                          <m:r>
                            <a:rPr lang="en-US" altLang="zh-CN" sz="36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    </m:t>
                          </m:r>
                          <m:r>
                            <a:rPr lang="zh-CN" altLang="en-US" sz="36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𝜶</m:t>
                          </m:r>
                        </m:num>
                        <m:den>
                          <m:r>
                            <a:rPr lang="zh-CN" altLang="en-US" sz="3600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𝜷</m:t>
                          </m:r>
                        </m:den>
                      </m:f>
                    </m:oMath>
                  </m:oMathPara>
                </a14:m>
                <a:endParaRPr lang="zh-CN" altLang="en-US" sz="3600" dirty="0">
                  <a:solidFill>
                    <a:schemeClr val="bg2"/>
                  </a:solidFill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5034FD4-E3B2-4B9C-ACE1-B4C91FDE5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83137" y="1755946"/>
                <a:ext cx="3200400" cy="1238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62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7D9F0ED-D82C-ECDD-6629-A258C553F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推理与证明</a:t>
            </a:r>
            <a:endParaRPr lang="en-GB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52424C6-9597-4868-8790-0875FA804DED}"/>
              </a:ext>
            </a:extLst>
          </p:cNvPr>
          <p:cNvSpPr txBox="1">
            <a:spLocks/>
          </p:cNvSpPr>
          <p:nvPr/>
        </p:nvSpPr>
        <p:spPr>
          <a:xfrm>
            <a:off x="406400" y="1397000"/>
            <a:ext cx="11379200" cy="52323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529D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完备的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529D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：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仅推导出蕴含句的推理算法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529D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完备的算法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529D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：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如果一个推理算法能够推导出任何被蕴含的句子，则该算法是完备的。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87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D5012C5E-3075-CA74-BD28-E348A5440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kern="0" dirty="0">
                <a:latin typeface="+mn-lt"/>
                <a:ea typeface="+mn-ea"/>
                <a:cs typeface="+mn-ea"/>
                <a:sym typeface="+mn-lt"/>
              </a:rPr>
              <a:t>归结法证明</a:t>
            </a:r>
            <a:endParaRPr lang="zh-CN" altLang="en-US" kern="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602" name="Footer Placeholder 4">
            <a:extLst>
              <a:ext uri="{FF2B5EF4-FFF2-40B4-BE49-F238E27FC236}">
                <a16:creationId xmlns:a16="http://schemas.microsoft.com/office/drawing/2014/main" id="{EC6E2718-FED6-E9CB-56E9-972F61D272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3EECAA8-EBA1-444F-B09C-2B7D897756F7}"/>
              </a:ext>
            </a:extLst>
          </p:cNvPr>
          <p:cNvSpPr txBox="1">
            <a:spLocks/>
          </p:cNvSpPr>
          <p:nvPr/>
        </p:nvSpPr>
        <p:spPr>
          <a:xfrm>
            <a:off x="406400" y="1397000"/>
            <a:ext cx="11379200" cy="52323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如果我们去掉双向蕴含消去规则，上一节的证明将无法成立。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本节介绍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一条单一的推理规则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，该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方法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与任何完备的搜索算法结合时，可生成一个完整的推理算法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。</a:t>
            </a:r>
            <a:endParaRPr kumimoji="0" lang="en-GB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D5012C5E-3075-CA74-BD28-E348A5440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归结法证明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602" name="Footer Placeholder 4">
            <a:extLst>
              <a:ext uri="{FF2B5EF4-FFF2-40B4-BE49-F238E27FC236}">
                <a16:creationId xmlns:a16="http://schemas.microsoft.com/office/drawing/2014/main" id="{EC6E2718-FED6-E9CB-56E9-972F61D272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2">
                <a:extLst>
                  <a:ext uri="{FF2B5EF4-FFF2-40B4-BE49-F238E27FC236}">
                    <a16:creationId xmlns:a16="http://schemas.microsoft.com/office/drawing/2014/main" id="{6AA7604E-CEB5-43B4-8DF6-D40282ECD4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CN" b="1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单元归结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…⋁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    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𝒎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⋁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𝒍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𝒊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−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⋁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𝒍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𝒊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+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…⋁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𝑙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𝑚</m:t>
                    </m:r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是互补文字</a:t>
                </a:r>
                <a:r>
                  <a:rPr lang="zh-CN" altLang="en-US" b="1" dirty="0">
                    <a:latin typeface="+mn-lt"/>
                    <a:cs typeface="+mn-ea"/>
                    <a:sym typeface="+mn-lt"/>
                  </a:rPr>
                  <a:t>：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即一个文字是另一个的否定式</a:t>
                </a:r>
                <a:endParaRPr lang="en-GB" altLang="zh-CN" dirty="0">
                  <a:latin typeface="+mn-lt"/>
                  <a:cs typeface="+mn-ea"/>
                  <a:sym typeface="+mn-lt"/>
                </a:endParaRP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" name="内容占位符 2">
                <a:extLst>
                  <a:ext uri="{FF2B5EF4-FFF2-40B4-BE49-F238E27FC236}">
                    <a16:creationId xmlns:a16="http://schemas.microsoft.com/office/drawing/2014/main" id="{6AA7604E-CEB5-43B4-8DF6-D40282ECD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58879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7D9F0ED-D82C-ECDD-6629-A258C553F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归结法证明</a:t>
            </a:r>
            <a:endParaRPr lang="en-GB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D9E5EEF-495F-409F-BE67-11309EAD29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全归结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…⋁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𝒌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     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…⋁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⋁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𝒍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𝒊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−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⋁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𝒍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𝒊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+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…⋁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⋁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𝒋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−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⋁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𝒋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+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…⋁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   </a:t>
                </a:r>
                <a:r>
                  <a:rPr lang="zh-CN" altLang="en-US" sz="3200" dirty="0">
                    <a:latin typeface="+mn-lt"/>
                    <a:cs typeface="+mn-ea"/>
                    <a:sym typeface="+mn-lt"/>
                  </a:rPr>
                  <a:t>其中</a:t>
                </a:r>
                <a:r>
                  <a:rPr lang="en-US" altLang="zh-CN" sz="3200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320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𝑙</m:t>
                        </m:r>
                      </m:e>
                      <m:sub>
                        <m:r>
                          <a:rPr lang="en-US" altLang="zh-CN" sz="320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+mn-lt"/>
                    <a:cs typeface="+mn-ea"/>
                    <a:sym typeface="+mn-lt"/>
                  </a:rPr>
                  <a:t> </a:t>
                </a:r>
                <a:r>
                  <a:rPr lang="zh-CN" altLang="en-US" sz="3200" dirty="0">
                    <a:latin typeface="+mn-lt"/>
                    <a:cs typeface="+mn-ea"/>
                    <a:sym typeface="+mn-lt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320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𝑚</m:t>
                        </m:r>
                      </m:e>
                      <m:sub>
                        <m:r>
                          <a:rPr lang="en-US" altLang="zh-CN" sz="320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3200" dirty="0">
                    <a:latin typeface="+mn-lt"/>
                    <a:cs typeface="+mn-ea"/>
                    <a:sym typeface="+mn-lt"/>
                  </a:rPr>
                  <a:t>是互补的</a:t>
                </a:r>
                <a:r>
                  <a:rPr lang="en-US" altLang="zh-CN" sz="3200" dirty="0">
                    <a:latin typeface="+mn-lt"/>
                    <a:cs typeface="+mn-ea"/>
                    <a:sym typeface="+mn-lt"/>
                  </a:rPr>
                  <a:t>.</a:t>
                </a:r>
                <a:endParaRPr lang="en-US" altLang="zh-CN" sz="3200" b="1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示例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     ¬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D9E5EEF-495F-409F-BE67-11309EAD2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545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7D9F0ED-D82C-ECDD-6629-A258C553F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归结法证明</a:t>
            </a:r>
            <a:endParaRPr lang="en-GB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D9E5EEF-495F-409F-BE67-11309EAD29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全分解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…⋁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𝒌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     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…⋁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⋁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𝒍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𝒊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−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⋁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𝒍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𝒊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+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…⋁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⋁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𝒋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−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⋁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𝒋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+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…⋁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  其中 𝑙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_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𝑖 与𝑚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_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𝑗是互补的</a:t>
                </a:r>
                <a:r>
                  <a:rPr lang="en-US" altLang="zh-CN" sz="3200" dirty="0">
                    <a:latin typeface="+mn-lt"/>
                    <a:cs typeface="+mn-ea"/>
                    <a:sym typeface="+mn-lt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sz="3200" dirty="0">
                    <a:latin typeface="+mn-lt"/>
                    <a:cs typeface="+mn-ea"/>
                    <a:sym typeface="+mn-lt"/>
                  </a:rPr>
                  <a:t>   一次只能解析一对互补的文字</a:t>
                </a:r>
                <a:endParaRPr lang="en-US" altLang="zh-CN" sz="3200" b="1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示例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 ⋁¬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𝑄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𝑅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  ¬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𝑄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¬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𝑄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𝑄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D9E5EEF-495F-409F-BE67-11309EAD2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244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7D9F0ED-D82C-ECDD-6629-A258C553F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归结法证明</a:t>
            </a:r>
            <a:endParaRPr lang="en-GB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1D0E04A4-606D-4879-AABE-F8C7CC7A71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归并（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Factoring</a:t>
                </a:r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）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去除文字的多余副本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示例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, </a:t>
                </a: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Resolve </a:t>
                </a:r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⋁¬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𝐵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and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⋁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𝐵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</a:t>
                </a: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Obtain </a:t>
                </a:r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⋁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</a:t>
                </a: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Reduced to just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𝐴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.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1D0E04A4-606D-4879-AABE-F8C7CC7A7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027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7D9F0ED-D82C-ECDD-6629-A258C553F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合取范式</a:t>
            </a:r>
            <a:endParaRPr lang="en-GB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D619A2C-3615-429E-AB15-9C5E838BB16E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命题逻辑的每个语句逻辑上都等价于某子句的合取式（</a:t>
            </a:r>
            <a:r>
              <a:rPr lang="en-US" altLang="zh-CN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conjunction</a:t>
            </a:r>
            <a:r>
              <a:rPr lang="zh-CN" altLang="en-US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）</a:t>
            </a:r>
            <a:endParaRPr lang="en-US" altLang="zh-CN" dirty="0">
              <a:solidFill>
                <a:schemeClr val="accent3"/>
              </a:solidFill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zh-CN" altLang="en-US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合取范式（</a:t>
            </a:r>
            <a:r>
              <a:rPr lang="en-US" altLang="zh-CN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Conjunctive normal form</a:t>
            </a:r>
            <a:r>
              <a:rPr lang="zh-CN" altLang="en-US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CNF</a:t>
            </a:r>
            <a:r>
              <a:rPr lang="zh-CN" altLang="en-US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）</a:t>
            </a:r>
            <a:endParaRPr lang="en-US" altLang="zh-CN" dirty="0">
              <a:solidFill>
                <a:schemeClr val="accent3"/>
              </a:solidFill>
              <a:latin typeface="+mn-lt"/>
              <a:cs typeface="+mn-ea"/>
              <a:sym typeface="+mn-lt"/>
            </a:endParaRPr>
          </a:p>
          <a:p>
            <a:pPr lvl="1"/>
            <a:r>
              <a:rPr lang="zh-CN" altLang="en-US" dirty="0">
                <a:latin typeface="+mn-lt"/>
                <a:cs typeface="+mn-ea"/>
                <a:sym typeface="+mn-lt"/>
              </a:rPr>
              <a:t>以子句的合取式表达的语句被称为合取范式</a:t>
            </a:r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EEEF673-0083-43B3-8C51-AB6C887A7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756" y="4004733"/>
            <a:ext cx="7450667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079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7D9F0ED-D82C-ECDD-6629-A258C553F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合取范式</a:t>
            </a:r>
            <a:endParaRPr lang="en-GB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77D9744C-84A7-4C60-9A85-D0F9FEC031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示例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: 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 ⇔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 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  <m:r>
                          <a:rPr lang="en-US" altLang="zh-CN" i="1" dirty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) into CNF</a:t>
                </a:r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消除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⇔</a:t>
                </a:r>
              </a:p>
              <a:p>
                <a:pPr lvl="2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⇒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 )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∧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 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)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消除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⇒, 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用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 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𝛽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替换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⇒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𝛽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  <a:latin typeface="+mn-lt"/>
                  <a:cs typeface="+mn-ea"/>
                  <a:sym typeface="+mn-lt"/>
                </a:endParaRPr>
              </a:p>
              <a:p>
                <a:pPr lvl="2"/>
                <a:r>
                  <a:rPr lang="en-US" altLang="zh-CN" dirty="0">
                    <a:solidFill>
                      <a:schemeClr val="tx1"/>
                    </a:solidFill>
                    <a:latin typeface="+mn-lt"/>
                    <a:cs typeface="+mn-ea"/>
                    <a:sym typeface="+mn-lt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¬</m:t>
                        </m:r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)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∧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 ∨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)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将￢ </a:t>
                </a:r>
                <a:r>
                  <a:rPr lang="zh-CN" altLang="en-US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移入括号</a:t>
                </a:r>
                <a:endParaRPr lang="en-US" altLang="zh-CN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  <a:p>
                <a:pPr lvl="2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¬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)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∧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((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∧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 ∨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)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采取分配律（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distributivity law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）</a:t>
                </a:r>
                <a:endParaRPr lang="en-US" altLang="zh-CN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  <a:p>
                <a:pPr lvl="2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¬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)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∧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¬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∧ 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∨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) </a:t>
                </a:r>
              </a:p>
              <a:p>
                <a:pPr lvl="2"/>
                <a:endParaRPr lang="en-US" altLang="zh-CN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77D9744C-84A7-4C60-9A85-D0F9FEC03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757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7D9F0ED-D82C-ECDD-6629-A258C553F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一个求解算法</a:t>
            </a:r>
            <a:endParaRPr lang="en-GB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9914408-CE66-46E0-9A79-B477EDA88C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反证法（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Proof by contradiction</a:t>
                </a:r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）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To show </a:t>
                </a:r>
              </a:p>
              <a:p>
                <a:pPr marL="457200" lvl="1" indent="0" algn="ctr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𝐾𝐵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|= 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We show that</a:t>
                </a:r>
              </a:p>
              <a:p>
                <a:pPr marL="457200" lvl="1" indent="0" algn="ctr">
                  <a:buFont typeface="Arial" panose="020B0604020202020204" pitchFamily="34" charset="0"/>
                  <a:buNone/>
                </a:pP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𝐾𝐵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∧¬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) </a:t>
                </a: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is </a:t>
                </a:r>
                <a:r>
                  <a:rPr lang="en-US" altLang="zh-CN" dirty="0" err="1">
                    <a:latin typeface="+mn-lt"/>
                    <a:cs typeface="+mn-ea"/>
                    <a:sym typeface="+mn-lt"/>
                  </a:rPr>
                  <a:t>unsatisfiable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.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9914408-CE66-46E0-9A79-B477EDA88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503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7D9F0ED-D82C-ECDD-6629-A258C553F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一个求解算法</a:t>
            </a:r>
            <a:endParaRPr lang="en-GB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8CB2A45-9A5C-4984-B96E-CFE72DE058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步骤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1.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将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𝐾𝐵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∧¬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)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转换为合取范式（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CNF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）</a:t>
                </a:r>
                <a:endParaRPr lang="en-US" altLang="zh-CN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2.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采用归结规则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3.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如果集合中还没有新的子句，则将其添加到集合中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4.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这个过程一直持续到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</a:t>
                </a: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       (a) 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没有新的子句能被添加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𝐾𝐵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|= 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       (b) 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两个子句归结出空子句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𝐾𝐵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|= 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zh-CN" altLang="en-US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8CB2A45-9A5C-4984-B96E-CFE72DE05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1D5A062-E9A7-493D-93EE-D19254BD746D}"/>
                  </a:ext>
                </a:extLst>
              </p:cNvPr>
              <p:cNvSpPr txBox="1"/>
              <p:nvPr/>
            </p:nvSpPr>
            <p:spPr>
              <a:xfrm>
                <a:off x="5798946" y="3429000"/>
                <a:ext cx="5941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\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1D5A062-E9A7-493D-93EE-D19254BD7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946" y="3429000"/>
                <a:ext cx="594108" cy="369332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772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7D9F0ED-D82C-ECDD-6629-A258C553F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一个求解算法</a:t>
            </a:r>
            <a:endParaRPr lang="en-GB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2D71540-3F40-40C5-A2DC-89E7752D6232}"/>
                  </a:ext>
                </a:extLst>
              </p:cNvPr>
              <p:cNvSpPr/>
              <p:nvPr/>
            </p:nvSpPr>
            <p:spPr>
              <a:xfrm>
                <a:off x="914400" y="1088664"/>
                <a:ext cx="10566400" cy="7068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altLang="zh-CN" sz="2800" b="1" dirty="0">
                    <a:cs typeface="+mn-ea"/>
                    <a:sym typeface="+mn-lt"/>
                  </a:rPr>
                  <a:t>function</a:t>
                </a:r>
                <a:r>
                  <a:rPr lang="en-US" altLang="zh-CN" sz="2800" dirty="0">
                    <a:cs typeface="+mn-ea"/>
                    <a:sym typeface="+mn-lt"/>
                  </a:rPr>
                  <a:t> </a:t>
                </a:r>
                <a:r>
                  <a:rPr lang="en-US" altLang="zh-CN" sz="2800" b="1" dirty="0">
                    <a:solidFill>
                      <a:srgbClr val="002060"/>
                    </a:solidFill>
                    <a:cs typeface="+mn-ea"/>
                    <a:sym typeface="+mn-lt"/>
                  </a:rPr>
                  <a:t>PL-RESOLUTION (</a:t>
                </a:r>
                <a:r>
                  <a:rPr lang="en-US" altLang="zh-CN" sz="2800" b="1" i="1" dirty="0" err="1">
                    <a:solidFill>
                      <a:srgbClr val="002060"/>
                    </a:solidFill>
                    <a:cs typeface="+mn-ea"/>
                    <a:sym typeface="+mn-lt"/>
                  </a:rPr>
                  <a:t>KB,</a:t>
                </a:r>
                <a14:m>
                  <m:oMath xmlns:m="http://schemas.openxmlformats.org/officeDocument/2006/math">
                    <m:r>
                      <a:rPr lang="zh-CN" altLang="en-US" sz="2800" b="1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𝜶</m:t>
                    </m:r>
                  </m:oMath>
                </a14:m>
                <a:r>
                  <a:rPr lang="en-US" altLang="zh-CN" sz="2800" b="1" dirty="0">
                    <a:solidFill>
                      <a:srgbClr val="002060"/>
                    </a:solidFill>
                    <a:cs typeface="+mn-ea"/>
                    <a:sym typeface="+mn-lt"/>
                  </a:rPr>
                  <a:t>) </a:t>
                </a:r>
                <a:r>
                  <a:rPr lang="en-US" altLang="zh-CN" sz="2800" b="1" dirty="0">
                    <a:cs typeface="+mn-ea"/>
                    <a:sym typeface="+mn-lt"/>
                  </a:rPr>
                  <a:t>returns</a:t>
                </a:r>
                <a:r>
                  <a:rPr lang="en-US" altLang="zh-CN" sz="2800" dirty="0">
                    <a:cs typeface="+mn-ea"/>
                    <a:sym typeface="+mn-lt"/>
                  </a:rPr>
                  <a:t> </a:t>
                </a:r>
                <a:r>
                  <a:rPr lang="en-US" altLang="zh-CN" sz="2800" i="1" dirty="0">
                    <a:cs typeface="+mn-ea"/>
                    <a:sym typeface="+mn-lt"/>
                  </a:rPr>
                  <a:t>true</a:t>
                </a:r>
                <a:r>
                  <a:rPr lang="en-US" altLang="zh-CN" sz="2800" dirty="0">
                    <a:cs typeface="+mn-ea"/>
                    <a:sym typeface="+mn-lt"/>
                  </a:rPr>
                  <a:t>, or </a:t>
                </a:r>
                <a:r>
                  <a:rPr lang="en-US" altLang="zh-CN" sz="2800" i="1" dirty="0">
                    <a:cs typeface="+mn-ea"/>
                    <a:sym typeface="+mn-lt"/>
                  </a:rPr>
                  <a:t>false</a:t>
                </a:r>
              </a:p>
              <a:p>
                <a:pPr marL="0" indent="0">
                  <a:buNone/>
                </a:pPr>
                <a:r>
                  <a:rPr lang="en-US" altLang="zh-CN" sz="2800" i="1" dirty="0">
                    <a:cs typeface="+mn-ea"/>
                    <a:sym typeface="+mn-lt"/>
                  </a:rPr>
                  <a:t>    </a:t>
                </a:r>
                <a:r>
                  <a:rPr lang="en-US" altLang="zh-CN" sz="2800" b="1" dirty="0">
                    <a:cs typeface="+mn-ea"/>
                    <a:sym typeface="+mn-lt"/>
                  </a:rPr>
                  <a:t>inputs: </a:t>
                </a:r>
                <a:r>
                  <a:rPr lang="en-US" altLang="zh-CN" sz="2800" i="1" dirty="0">
                    <a:cs typeface="+mn-ea"/>
                    <a:sym typeface="+mn-lt"/>
                  </a:rPr>
                  <a:t>KB</a:t>
                </a:r>
                <a:r>
                  <a:rPr lang="en-US" altLang="zh-CN" sz="2800" dirty="0">
                    <a:cs typeface="+mn-ea"/>
                    <a:sym typeface="+mn-lt"/>
                  </a:rPr>
                  <a:t>, a knowledge base, a sentence in propositional logic</a:t>
                </a:r>
              </a:p>
              <a:p>
                <a:pPr marL="0" indent="0">
                  <a:buNone/>
                </a:pPr>
                <a:r>
                  <a:rPr lang="zh-CN" altLang="en-US" sz="2800" dirty="0">
                    <a:cs typeface="+mn-ea"/>
                    <a:sym typeface="+mn-lt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en-US" altLang="zh-CN" sz="2800" dirty="0">
                    <a:cs typeface="+mn-ea"/>
                    <a:sym typeface="+mn-lt"/>
                  </a:rPr>
                  <a:t>, the query, a sentence in propositional logic</a:t>
                </a:r>
              </a:p>
              <a:p>
                <a:pPr marL="0" indent="0">
                  <a:buNone/>
                </a:pPr>
                <a:r>
                  <a:rPr lang="en-US" altLang="zh-CN" sz="2800" i="1" dirty="0">
                    <a:cs typeface="+mn-ea"/>
                    <a:sym typeface="+mn-lt"/>
                  </a:rPr>
                  <a:t>    </a:t>
                </a:r>
              </a:p>
              <a:p>
                <a:pPr marL="0" indent="0">
                  <a:buNone/>
                </a:pPr>
                <a:r>
                  <a:rPr lang="en-US" altLang="zh-CN" sz="2800" i="1" dirty="0">
                    <a:cs typeface="+mn-ea"/>
                    <a:sym typeface="+mn-lt"/>
                  </a:rPr>
                  <a:t>    </a:t>
                </a:r>
                <a:r>
                  <a:rPr lang="en-US" altLang="zh-CN" sz="2800" i="1" dirty="0" err="1">
                    <a:cs typeface="+mn-ea"/>
                    <a:sym typeface="+mn-lt"/>
                  </a:rPr>
                  <a:t>clauses</a:t>
                </a:r>
                <a:r>
                  <a:rPr lang="en-US" altLang="zh-CN" sz="2800" dirty="0" err="1">
                    <a:cs typeface="+mn-ea"/>
                    <a:sym typeface="+mn-lt"/>
                  </a:rPr>
                  <a:t>←the</a:t>
                </a:r>
                <a:r>
                  <a:rPr lang="en-US" altLang="zh-CN" sz="2800" dirty="0">
                    <a:cs typeface="+mn-ea"/>
                    <a:sym typeface="+mn-lt"/>
                  </a:rPr>
                  <a:t> set of clauses in the CNF representation of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𝐾𝐵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⋀¬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en-US" altLang="zh-CN" sz="2800" dirty="0">
                    <a:cs typeface="+mn-ea"/>
                    <a:sym typeface="+mn-lt"/>
                  </a:rPr>
                  <a:t>    </a:t>
                </a:r>
              </a:p>
              <a:p>
                <a:pPr marL="0" indent="0">
                  <a:buNone/>
                </a:pPr>
                <a:r>
                  <a:rPr lang="en-US" altLang="zh-CN" sz="2800" dirty="0">
                    <a:cs typeface="+mn-ea"/>
                    <a:sym typeface="+mn-lt"/>
                  </a:rPr>
                  <a:t>    </a:t>
                </a:r>
                <a:r>
                  <a:rPr lang="en-US" altLang="zh-CN" sz="2800" i="1" dirty="0">
                    <a:cs typeface="+mn-ea"/>
                    <a:sym typeface="+mn-lt"/>
                  </a:rPr>
                  <a:t>new</a:t>
                </a:r>
                <a:r>
                  <a:rPr lang="en-US" altLang="zh-CN" sz="2800" dirty="0">
                    <a:cs typeface="+mn-ea"/>
                    <a:sym typeface="+mn-lt"/>
                  </a:rPr>
                  <a:t>←{}</a:t>
                </a:r>
              </a:p>
              <a:p>
                <a:pPr marL="0" indent="0">
                  <a:buNone/>
                </a:pPr>
                <a:r>
                  <a:rPr lang="en-US" altLang="zh-CN" sz="2800" dirty="0">
                    <a:cs typeface="+mn-ea"/>
                    <a:sym typeface="+mn-lt"/>
                  </a:rPr>
                  <a:t>    </a:t>
                </a:r>
                <a:r>
                  <a:rPr lang="en-US" altLang="zh-CN" sz="2800" b="1" dirty="0">
                    <a:cs typeface="+mn-ea"/>
                    <a:sym typeface="+mn-lt"/>
                  </a:rPr>
                  <a:t>loop do</a:t>
                </a:r>
              </a:p>
              <a:p>
                <a:pPr marL="0" indent="0">
                  <a:buNone/>
                </a:pPr>
                <a:r>
                  <a:rPr lang="en-US" altLang="zh-CN" sz="2800" b="1" dirty="0">
                    <a:cs typeface="+mn-ea"/>
                    <a:sym typeface="+mn-lt"/>
                  </a:rPr>
                  <a:t>    	for </a:t>
                </a:r>
                <a:r>
                  <a:rPr lang="en-US" altLang="zh-CN" sz="2800" dirty="0">
                    <a:cs typeface="+mn-ea"/>
                    <a:sym typeface="+mn-lt"/>
                  </a:rPr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𝐶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𝑖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𝐶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800" b="1" dirty="0">
                    <a:cs typeface="+mn-ea"/>
                    <a:sym typeface="+mn-lt"/>
                  </a:rPr>
                  <a:t> in </a:t>
                </a:r>
                <a:r>
                  <a:rPr lang="en-US" altLang="zh-CN" sz="2800" i="1" dirty="0">
                    <a:cs typeface="+mn-ea"/>
                    <a:sym typeface="+mn-lt"/>
                  </a:rPr>
                  <a:t>clauses</a:t>
                </a:r>
                <a:r>
                  <a:rPr lang="en-US" altLang="zh-CN" sz="2800" b="1" dirty="0">
                    <a:cs typeface="+mn-ea"/>
                    <a:sym typeface="+mn-lt"/>
                  </a:rPr>
                  <a:t> do</a:t>
                </a:r>
              </a:p>
              <a:p>
                <a:pPr marL="0" indent="0">
                  <a:buNone/>
                </a:pPr>
                <a:r>
                  <a:rPr lang="en-US" altLang="zh-CN" sz="2800" b="1" dirty="0">
                    <a:cs typeface="+mn-ea"/>
                    <a:sym typeface="+mn-lt"/>
                  </a:rPr>
                  <a:t>          		</a:t>
                </a:r>
                <a:r>
                  <a:rPr lang="en-US" altLang="zh-CN" sz="2800" i="1" dirty="0" err="1">
                    <a:cs typeface="+mn-ea"/>
                    <a:sym typeface="+mn-lt"/>
                  </a:rPr>
                  <a:t>resolvents</a:t>
                </a:r>
                <a:r>
                  <a:rPr lang="en-US" altLang="zh-CN" sz="2800" dirty="0">
                    <a:cs typeface="+mn-ea"/>
                    <a:sym typeface="+mn-lt"/>
                  </a:rPr>
                  <a:t>←</a:t>
                </a:r>
                <a:r>
                  <a:rPr lang="en-US" altLang="zh-CN" sz="2800" i="1" dirty="0">
                    <a:cs typeface="+mn-ea"/>
                    <a:sym typeface="+mn-lt"/>
                  </a:rPr>
                  <a:t> </a:t>
                </a:r>
                <a:r>
                  <a:rPr lang="en-US" altLang="zh-CN" sz="2800" b="1" dirty="0">
                    <a:solidFill>
                      <a:srgbClr val="002060"/>
                    </a:solidFill>
                    <a:cs typeface="+mn-ea"/>
                    <a:sym typeface="+mn-lt"/>
                  </a:rPr>
                  <a:t>PL-RESOLVE(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𝑪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𝒊</m:t>
                        </m:r>
                      </m:sub>
                    </m:sSub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𝑪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rgbClr val="002060"/>
                    </a:solidFill>
                    <a:cs typeface="+mn-ea"/>
                    <a:sym typeface="+mn-lt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CN" sz="2800" b="1" dirty="0">
                    <a:cs typeface="+mn-ea"/>
                    <a:sym typeface="+mn-lt"/>
                  </a:rPr>
                  <a:t>         		if</a:t>
                </a:r>
                <a:r>
                  <a:rPr lang="en-US" altLang="zh-CN" sz="2800" dirty="0">
                    <a:cs typeface="+mn-ea"/>
                    <a:sym typeface="+mn-lt"/>
                  </a:rPr>
                  <a:t> </a:t>
                </a:r>
                <a:r>
                  <a:rPr lang="en-US" altLang="zh-CN" sz="2800" i="1" dirty="0" err="1">
                    <a:cs typeface="+mn-ea"/>
                    <a:sym typeface="+mn-lt"/>
                  </a:rPr>
                  <a:t>resolvents</a:t>
                </a:r>
                <a:r>
                  <a:rPr lang="en-US" altLang="zh-CN" sz="2800" i="1" dirty="0">
                    <a:cs typeface="+mn-ea"/>
                    <a:sym typeface="+mn-lt"/>
                  </a:rPr>
                  <a:t> </a:t>
                </a:r>
                <a:r>
                  <a:rPr lang="en-US" altLang="zh-CN" sz="2800" dirty="0">
                    <a:cs typeface="+mn-ea"/>
                    <a:sym typeface="+mn-lt"/>
                  </a:rPr>
                  <a:t>contains the empty clause </a:t>
                </a:r>
                <a:r>
                  <a:rPr lang="en-US" altLang="zh-CN" sz="2800" b="1" dirty="0">
                    <a:cs typeface="+mn-ea"/>
                    <a:sym typeface="+mn-lt"/>
                  </a:rPr>
                  <a:t>then return </a:t>
                </a:r>
                <a:r>
                  <a:rPr lang="en-US" altLang="zh-CN" sz="2800" i="1" dirty="0">
                    <a:cs typeface="+mn-ea"/>
                    <a:sym typeface="+mn-lt"/>
                  </a:rPr>
                  <a:t>true</a:t>
                </a:r>
                <a:endParaRPr lang="en-US" altLang="zh-CN" sz="2800" dirty="0">
                  <a:cs typeface="+mn-ea"/>
                  <a:sym typeface="+mn-lt"/>
                </a:endParaRPr>
              </a:p>
              <a:p>
                <a:pPr marL="0" indent="0">
                  <a:buNone/>
                </a:pPr>
                <a:r>
                  <a:rPr lang="en-US" altLang="zh-CN" sz="2800" i="1" dirty="0">
                    <a:cs typeface="+mn-ea"/>
                    <a:sym typeface="+mn-lt"/>
                  </a:rPr>
                  <a:t>          		new</a:t>
                </a:r>
                <a:r>
                  <a:rPr lang="en-US" altLang="zh-CN" sz="2800" dirty="0">
                    <a:cs typeface="+mn-ea"/>
                    <a:sym typeface="+mn-lt"/>
                  </a:rPr>
                  <a:t>←</a:t>
                </a:r>
                <a:r>
                  <a:rPr lang="en-US" altLang="zh-CN" sz="2800" i="1" dirty="0"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𝑛𝑒𝑤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∪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𝑟𝑒𝑠𝑜𝑙𝑣𝑒𝑛𝑡𝑠</m:t>
                    </m:r>
                  </m:oMath>
                </a14:m>
                <a:r>
                  <a:rPr lang="en-US" altLang="zh-CN" sz="2800" i="1" dirty="0">
                    <a:cs typeface="+mn-ea"/>
                    <a:sym typeface="+mn-lt"/>
                  </a:rPr>
                  <a:t>          </a:t>
                </a:r>
              </a:p>
              <a:p>
                <a:pPr marL="0" indent="0">
                  <a:buNone/>
                </a:pPr>
                <a:r>
                  <a:rPr lang="en-US" altLang="zh-CN" sz="2800" i="1" dirty="0">
                    <a:cs typeface="+mn-ea"/>
                    <a:sym typeface="+mn-lt"/>
                  </a:rPr>
                  <a:t>     	</a:t>
                </a:r>
                <a:r>
                  <a:rPr lang="en-US" altLang="zh-CN" sz="2800" b="1" dirty="0">
                    <a:cs typeface="+mn-ea"/>
                    <a:sym typeface="+mn-lt"/>
                  </a:rPr>
                  <a:t>if</a:t>
                </a:r>
                <a:r>
                  <a:rPr lang="en-US" altLang="zh-CN" sz="2800" i="1" dirty="0"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𝑛𝑒𝑤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⊂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𝑐𝑙𝑎𝑢𝑠𝑒𝑠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en-US" altLang="zh-CN" sz="2800" b="1" dirty="0">
                    <a:cs typeface="+mn-ea"/>
                    <a:sym typeface="+mn-lt"/>
                  </a:rPr>
                  <a:t>then return </a:t>
                </a:r>
                <a:r>
                  <a:rPr lang="en-US" altLang="zh-CN" sz="2800" i="1" dirty="0">
                    <a:cs typeface="+mn-ea"/>
                    <a:sym typeface="+mn-lt"/>
                  </a:rPr>
                  <a:t>false</a:t>
                </a:r>
              </a:p>
              <a:p>
                <a:pPr marL="0" indent="0">
                  <a:buNone/>
                </a:pPr>
                <a:r>
                  <a:rPr lang="en-US" altLang="zh-CN" sz="2800" dirty="0">
                    <a:cs typeface="+mn-ea"/>
                    <a:sym typeface="+mn-lt"/>
                  </a:rPr>
                  <a:t>     	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𝑐𝑙𝑎𝑢𝑠𝑒𝑠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𝑐𝑙𝑎𝑢𝑠𝑒𝑠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∪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𝑛𝑒𝑤</m:t>
                    </m:r>
                  </m:oMath>
                </a14:m>
                <a:endParaRPr lang="en-US" altLang="zh-CN" sz="2800" i="1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2D71540-3F40-40C5-A2DC-89E7752D62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088664"/>
                <a:ext cx="10566400" cy="7068089"/>
              </a:xfrm>
              <a:prstGeom prst="rect">
                <a:avLst/>
              </a:prstGeom>
              <a:blipFill>
                <a:blip r:embed="rId3"/>
                <a:stretch>
                  <a:fillRect l="-1154" t="-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132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7D9F0ED-D82C-ECDD-6629-A258C553F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一个求解算法</a:t>
            </a:r>
            <a:endParaRPr lang="en-GB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0AB457E-A21C-4FF6-A1FA-F0E3FFDAB4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在乌普思世界的简单推理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智能体位于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[1,1]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时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, 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没有微风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已知的知识库是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:</a:t>
                </a: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r>
                  <a:rPr lang="pt-BR" altLang="zh-CN" i="1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   KB</a:t>
                </a:r>
                <a:r>
                  <a:rPr lang="pt-BR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= R2 ∧ R4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pt-BR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⇔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pt-BR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pt-BR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)) ∧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  <m:r>
                          <m:rPr>
                            <m:nor/>
                          </m:rPr>
                          <a:rPr lang="zh-CN" altLang="en-US" dirty="0">
                            <a:solidFill>
                              <a:srgbClr val="FF0000"/>
                            </a:solidFill>
                            <a:latin typeface="+mn-lt"/>
                            <a:cs typeface="+mn-ea"/>
                            <a:sym typeface="+mn-lt"/>
                          </a:rPr>
                          <m:t> </m:t>
                        </m:r>
                      </m:sub>
                    </m:sSub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证明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=¬</m:t>
                    </m:r>
                    <m:sSub>
                      <m:sSubPr>
                        <m:ctrlP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r>
                  <a:rPr lang="pt-BR" altLang="zh-CN" i="1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   </a:t>
                </a:r>
                <a:endParaRPr lang="zh-CN" altLang="en-US" dirty="0">
                  <a:solidFill>
                    <a:srgbClr val="FF0000"/>
                  </a:solidFill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0AB457E-A21C-4FF6-A1FA-F0E3FFDAB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49B27325-99FE-46A2-9D74-2E80004E0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687" y="1165078"/>
            <a:ext cx="3505200" cy="33434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5087664-F98D-4360-B1BE-4A04DFF82969}"/>
                  </a:ext>
                </a:extLst>
              </p:cNvPr>
              <p:cNvSpPr/>
              <p:nvPr/>
            </p:nvSpPr>
            <p:spPr>
              <a:xfrm>
                <a:off x="7343887" y="4704947"/>
                <a:ext cx="4876800" cy="20201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altLang="zh-CN" sz="2400" dirty="0">
                    <a:cs typeface="+mn-ea"/>
                    <a:sym typeface="+mn-lt"/>
                  </a:rPr>
                  <a:t>R1 : </a:t>
                </a:r>
                <a:r>
                  <a:rPr lang="zh-CN" altLang="en-US" sz="2400" dirty="0">
                    <a:cs typeface="+mn-ea"/>
                    <a:sym typeface="+mn-lt"/>
                  </a:rPr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endParaRPr lang="en-US" altLang="zh-CN" sz="2400" dirty="0">
                  <a:cs typeface="+mn-ea"/>
                  <a:sym typeface="+mn-lt"/>
                </a:endParaRPr>
              </a:p>
              <a:p>
                <a:pPr lvl="1"/>
                <a:r>
                  <a:rPr lang="en-US" altLang="zh-CN" sz="2400" dirty="0">
                    <a:solidFill>
                      <a:srgbClr val="FF0000"/>
                    </a:solidFill>
                    <a:cs typeface="+mn-ea"/>
                    <a:sym typeface="+mn-lt"/>
                  </a:rPr>
                  <a:t>R2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cs typeface="+mn-ea"/>
                    <a:sym typeface="+mn-lt"/>
                  </a:rPr>
                  <a:t> ⇔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cs typeface="+mn-ea"/>
                    <a:sym typeface="+mn-lt"/>
                  </a:rPr>
                  <a:t>)</a:t>
                </a:r>
              </a:p>
              <a:p>
                <a:pPr lvl="1"/>
                <a:r>
                  <a:rPr lang="pt-BR" altLang="zh-CN" sz="2400" dirty="0">
                    <a:cs typeface="+mn-ea"/>
                    <a:sym typeface="+mn-lt"/>
                  </a:rPr>
                  <a:t>R3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pt-BR" altLang="zh-CN" sz="2400" dirty="0">
                    <a:cs typeface="+mn-ea"/>
                    <a:sym typeface="+mn-lt"/>
                  </a:rPr>
                  <a:t> ⇔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pt-BR" altLang="zh-CN" sz="2400" dirty="0"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2,2</m:t>
                        </m:r>
                      </m:sub>
                    </m:sSub>
                  </m:oMath>
                </a14:m>
                <a:r>
                  <a:rPr lang="pt-BR" altLang="zh-CN" sz="2400" dirty="0"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3,1</m:t>
                        </m:r>
                      </m:sub>
                    </m:sSub>
                  </m:oMath>
                </a14:m>
                <a:r>
                  <a:rPr lang="pt-BR" altLang="zh-CN" sz="2400" dirty="0">
                    <a:cs typeface="+mn-ea"/>
                    <a:sym typeface="+mn-lt"/>
                  </a:rPr>
                  <a:t>) </a:t>
                </a:r>
              </a:p>
              <a:p>
                <a:pPr lvl="1"/>
                <a:r>
                  <a:rPr lang="en-US" altLang="zh-CN" sz="2400" dirty="0">
                    <a:solidFill>
                      <a:srgbClr val="FF0000"/>
                    </a:solidFill>
                    <a:cs typeface="+mn-ea"/>
                    <a:sym typeface="+mn-lt"/>
                  </a:rPr>
                  <a:t>R4 : </a:t>
                </a:r>
                <a:r>
                  <a:rPr lang="zh-CN" altLang="en-US" sz="2400" dirty="0">
                    <a:solidFill>
                      <a:srgbClr val="FF0000"/>
                    </a:solidFill>
                    <a:cs typeface="+mn-ea"/>
                    <a:sym typeface="+mn-lt"/>
                  </a:rPr>
                  <a:t>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endParaRPr lang="en-US" altLang="zh-CN" sz="2400" dirty="0">
                  <a:cs typeface="+mn-ea"/>
                  <a:sym typeface="+mn-lt"/>
                </a:endParaRPr>
              </a:p>
              <a:p>
                <a:pPr lvl="1"/>
                <a:r>
                  <a:rPr lang="en-US" altLang="zh-CN" sz="2400" dirty="0">
                    <a:cs typeface="+mn-ea"/>
                    <a:sym typeface="+mn-lt"/>
                  </a:rPr>
                  <a:t>R5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5087664-F98D-4360-B1BE-4A04DFF82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887" y="4704947"/>
                <a:ext cx="4876800" cy="2020105"/>
              </a:xfrm>
              <a:prstGeom prst="rect">
                <a:avLst/>
              </a:prstGeom>
              <a:blipFill>
                <a:blip r:embed="rId5"/>
                <a:stretch>
                  <a:fillRect t="-2417" b="-5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2283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87D9F0ED-D82C-ECDD-6629-A258C553F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一个求解算法</a:t>
            </a:r>
            <a:endParaRPr lang="en-GB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2">
                <a:extLst>
                  <a:ext uri="{FF2B5EF4-FFF2-40B4-BE49-F238E27FC236}">
                    <a16:creationId xmlns:a16="http://schemas.microsoft.com/office/drawing/2014/main" id="{7EC1977E-7B73-4276-BBD5-427E29518A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将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𝐾𝐵</m:t>
                    </m:r>
                    <m:r>
                      <a:rPr lang="en-US" altLang="zh-CN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∧¬</m:t>
                    </m:r>
                    <m:r>
                      <a:rPr lang="en-US" altLang="zh-CN" dirty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</m:oMath>
                </a14:m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) </a:t>
                </a:r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转换为合取范式（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CNF</a:t>
                </a:r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）</a:t>
                </a:r>
                <a:endParaRPr lang="pt-BR" altLang="zh-CN" i="1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pt-BR" altLang="zh-CN" i="1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KB</a:t>
                </a:r>
                <a:r>
                  <a:rPr lang="pt-BR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= R2 ∧ R4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pt-BR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⇔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pt-BR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pt-BR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)) ∧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  <m:r>
                          <m:rPr>
                            <m:nor/>
                          </m:rPr>
                          <a:rPr lang="zh-CN" altLang="en-US" dirty="0">
                            <a:solidFill>
                              <a:srgbClr val="FF0000"/>
                            </a:solidFill>
                            <a:latin typeface="+mn-lt"/>
                            <a:cs typeface="+mn-ea"/>
                            <a:sym typeface="+mn-lt"/>
                          </a:rPr>
                          <m:t> </m:t>
                        </m:r>
                      </m:sub>
                    </m:sSub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4"/>
                    </a:solidFill>
                    <a:latin typeface="+mn-lt"/>
                    <a:cs typeface="+mn-ea"/>
                    <a:sym typeface="+mn-lt"/>
                  </a:rPr>
                  <a:t> ⇔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4"/>
                    </a:solidFill>
                    <a:latin typeface="+mn-lt"/>
                    <a:cs typeface="+mn-ea"/>
                    <a:sym typeface="+mn-lt"/>
                  </a:rPr>
                  <a:t> 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4"/>
                    </a:solidFill>
                    <a:latin typeface="+mn-lt"/>
                    <a:cs typeface="+mn-ea"/>
                    <a:sym typeface="+mn-lt"/>
                  </a:rPr>
                  <a:t>)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¬</m:t>
                        </m:r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4"/>
                    </a:solidFill>
                    <a:latin typeface="+mn-lt"/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4"/>
                    </a:solidFill>
                    <a:latin typeface="+mn-lt"/>
                    <a:cs typeface="+mn-ea"/>
                    <a:sym typeface="+mn-lt"/>
                  </a:rPr>
                  <a:t> 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4"/>
                    </a:solidFill>
                    <a:latin typeface="+mn-lt"/>
                    <a:cs typeface="+mn-ea"/>
                    <a:sym typeface="+mn-lt"/>
                  </a:rPr>
                  <a:t> )</a:t>
                </a:r>
                <a:r>
                  <a:rPr lang="zh-CN" altLang="en-US" dirty="0">
                    <a:solidFill>
                      <a:schemeClr val="accent4"/>
                    </a:solidFill>
                    <a:latin typeface="+mn-lt"/>
                    <a:cs typeface="+mn-ea"/>
                    <a:sym typeface="+mn-lt"/>
                  </a:rPr>
                  <a:t> ∧</a:t>
                </a:r>
                <a:r>
                  <a:rPr lang="en-US" altLang="zh-CN" dirty="0">
                    <a:solidFill>
                      <a:schemeClr val="accent4"/>
                    </a:solidFill>
                    <a:latin typeface="+mn-lt"/>
                    <a:cs typeface="+mn-ea"/>
                    <a:sym typeface="+mn-lt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¬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4"/>
                    </a:solidFill>
                    <a:latin typeface="+mn-lt"/>
                    <a:cs typeface="+mn-ea"/>
                    <a:sym typeface="+mn-lt"/>
                  </a:rPr>
                  <a:t> 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4"/>
                    </a:solidFill>
                    <a:latin typeface="+mn-lt"/>
                    <a:cs typeface="+mn-ea"/>
                    <a:sym typeface="+mn-lt"/>
                  </a:rPr>
                  <a:t>)</a:t>
                </a:r>
                <a:r>
                  <a:rPr lang="zh-CN" altLang="en-US" dirty="0">
                    <a:solidFill>
                      <a:schemeClr val="accent4"/>
                    </a:solidFill>
                    <a:latin typeface="+mn-lt"/>
                    <a:cs typeface="+mn-ea"/>
                    <a:sym typeface="+mn-lt"/>
                  </a:rPr>
                  <a:t>∧ </a:t>
                </a:r>
                <a:r>
                  <a:rPr lang="en-US" altLang="zh-CN" dirty="0">
                    <a:solidFill>
                      <a:schemeClr val="accent4"/>
                    </a:solidFill>
                    <a:latin typeface="+mn-lt"/>
                    <a:cs typeface="+mn-ea"/>
                    <a:sym typeface="+mn-lt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4"/>
                    </a:solidFill>
                    <a:latin typeface="+mn-lt"/>
                    <a:cs typeface="+mn-ea"/>
                    <a:sym typeface="+mn-lt"/>
                  </a:rPr>
                  <a:t>∨</a:t>
                </a:r>
                <a:r>
                  <a:rPr lang="zh-CN" altLang="en-US" dirty="0">
                    <a:solidFill>
                      <a:schemeClr val="accent4"/>
                    </a:solidFill>
                    <a:latin typeface="+mn-lt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4"/>
                    </a:solidFill>
                    <a:latin typeface="+mn-lt"/>
                    <a:cs typeface="+mn-ea"/>
                    <a:sym typeface="+mn-lt"/>
                  </a:rPr>
                  <a:t>)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𝛼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=¬</m:t>
                    </m:r>
                    <m:sSub>
                      <m:sSubPr>
                        <m:ctrlP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pt-BR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</m:oMath>
                </a14:m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" name="内容占位符 2">
                <a:extLst>
                  <a:ext uri="{FF2B5EF4-FFF2-40B4-BE49-F238E27FC236}">
                    <a16:creationId xmlns:a16="http://schemas.microsoft.com/office/drawing/2014/main" id="{7EC1977E-7B73-4276-BBD5-427E29518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18D20A6C-DAB2-45CE-9E2D-91F7106BA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9" y="4191000"/>
            <a:ext cx="12142857" cy="2466667"/>
          </a:xfrm>
          <a:prstGeom prst="rect">
            <a:avLst/>
          </a:prstGeom>
        </p:spPr>
      </p:pic>
      <p:sp>
        <p:nvSpPr>
          <p:cNvPr id="14" name="任意多边形 6">
            <a:extLst>
              <a:ext uri="{FF2B5EF4-FFF2-40B4-BE49-F238E27FC236}">
                <a16:creationId xmlns:a16="http://schemas.microsoft.com/office/drawing/2014/main" id="{39410223-9256-4206-853B-BC5D158BD9BA}"/>
              </a:ext>
            </a:extLst>
          </p:cNvPr>
          <p:cNvSpPr/>
          <p:nvPr/>
        </p:nvSpPr>
        <p:spPr>
          <a:xfrm>
            <a:off x="10194297" y="3942672"/>
            <a:ext cx="1984808" cy="2788618"/>
          </a:xfrm>
          <a:custGeom>
            <a:avLst/>
            <a:gdLst>
              <a:gd name="connsiteX0" fmla="*/ 1171908 w 1984808"/>
              <a:gd name="connsiteY0" fmla="*/ 108333 h 2788618"/>
              <a:gd name="connsiteX1" fmla="*/ 714708 w 1984808"/>
              <a:gd name="connsiteY1" fmla="*/ 1065263 h 2788618"/>
              <a:gd name="connsiteX2" fmla="*/ 129917 w 1984808"/>
              <a:gd name="connsiteY2" fmla="*/ 1490565 h 2788618"/>
              <a:gd name="connsiteX3" fmla="*/ 129917 w 1984808"/>
              <a:gd name="connsiteY3" fmla="*/ 2224212 h 2788618"/>
              <a:gd name="connsiteX4" fmla="*/ 1544047 w 1984808"/>
              <a:gd name="connsiteY4" fmla="*/ 2787737 h 2788618"/>
              <a:gd name="connsiteX5" fmla="*/ 1926819 w 1984808"/>
              <a:gd name="connsiteY5" fmla="*/ 2096621 h 2788618"/>
              <a:gd name="connsiteX6" fmla="*/ 1958717 w 1984808"/>
              <a:gd name="connsiteY6" fmla="*/ 948305 h 2788618"/>
              <a:gd name="connsiteX7" fmla="*/ 1969350 w 1984808"/>
              <a:gd name="connsiteY7" fmla="*/ 214658 h 2788618"/>
              <a:gd name="connsiteX8" fmla="*/ 1735433 w 1984808"/>
              <a:gd name="connsiteY8" fmla="*/ 33905 h 2788618"/>
              <a:gd name="connsiteX9" fmla="*/ 1171908 w 1984808"/>
              <a:gd name="connsiteY9" fmla="*/ 108333 h 2788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84808" h="2788618">
                <a:moveTo>
                  <a:pt x="1171908" y="108333"/>
                </a:moveTo>
                <a:cubicBezTo>
                  <a:pt x="1001787" y="280226"/>
                  <a:pt x="888373" y="834891"/>
                  <a:pt x="714708" y="1065263"/>
                </a:cubicBezTo>
                <a:cubicBezTo>
                  <a:pt x="541043" y="1295635"/>
                  <a:pt x="227382" y="1297407"/>
                  <a:pt x="129917" y="1490565"/>
                </a:cubicBezTo>
                <a:cubicBezTo>
                  <a:pt x="32452" y="1683723"/>
                  <a:pt x="-105771" y="2008017"/>
                  <a:pt x="129917" y="2224212"/>
                </a:cubicBezTo>
                <a:cubicBezTo>
                  <a:pt x="365605" y="2440407"/>
                  <a:pt x="1244563" y="2809002"/>
                  <a:pt x="1544047" y="2787737"/>
                </a:cubicBezTo>
                <a:cubicBezTo>
                  <a:pt x="1843531" y="2766472"/>
                  <a:pt x="1857707" y="2403193"/>
                  <a:pt x="1926819" y="2096621"/>
                </a:cubicBezTo>
                <a:cubicBezTo>
                  <a:pt x="1995931" y="1790049"/>
                  <a:pt x="1951629" y="1261965"/>
                  <a:pt x="1958717" y="948305"/>
                </a:cubicBezTo>
                <a:cubicBezTo>
                  <a:pt x="1965805" y="634645"/>
                  <a:pt x="2006564" y="367058"/>
                  <a:pt x="1969350" y="214658"/>
                </a:cubicBezTo>
                <a:cubicBezTo>
                  <a:pt x="1932136" y="62258"/>
                  <a:pt x="1868340" y="51626"/>
                  <a:pt x="1735433" y="33905"/>
                </a:cubicBezTo>
                <a:cubicBezTo>
                  <a:pt x="1602526" y="16184"/>
                  <a:pt x="1342029" y="-63560"/>
                  <a:pt x="1171908" y="108333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87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3208814"/>
            <a:ext cx="12192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Horn clauses and definite clauses</a:t>
            </a:r>
            <a:endParaRPr lang="zh-CN" altLang="en-US" sz="20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645814-FF05-4962-95EB-13B2135428D5}"/>
              </a:ext>
            </a:extLst>
          </p:cNvPr>
          <p:cNvSpPr txBox="1"/>
          <p:nvPr/>
        </p:nvSpPr>
        <p:spPr>
          <a:xfrm>
            <a:off x="2586038" y="2488684"/>
            <a:ext cx="70199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 err="1"/>
              <a:t>Horn子句与</a:t>
            </a:r>
            <a:r>
              <a:rPr lang="zh-CN" altLang="en-US" sz="5400" dirty="0"/>
              <a:t>限定</a:t>
            </a:r>
            <a:r>
              <a:rPr lang="en-US" altLang="zh-CN" sz="5400" dirty="0" err="1"/>
              <a:t>子句</a:t>
            </a:r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829826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8B4BF5AF-C577-EE0E-D168-873C74414A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Horn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子句与限定子句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D0FBA1D-2090-42CA-9CC4-08EC829B00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限定子句（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definite clause</a:t>
                </a:r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）：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恰好只有一个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正文字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的析取式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示例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𝐿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∨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𝐵𝑟𝑒𝑒𝑧𝑒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∨</m:t>
                    </m:r>
                    <m:sSub>
                      <m:sSub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is a definite clause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∨ </m:t>
                    </m:r>
                    <m:sSub>
                      <m:sSub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1,2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∨ </m:t>
                    </m:r>
                    <m:sSub>
                      <m:sSub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2,1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is not</a:t>
                </a:r>
              </a:p>
              <a:p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D0FBA1D-2090-42CA-9CC4-08EC829B0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43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8B4BF5AF-C577-EE0E-D168-873C74414A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Horn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子句与限定子句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3907780-1E5A-484A-A6AF-D9A4B6571AD0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Horn</a:t>
            </a:r>
            <a:r>
              <a:rPr lang="zh-CN" altLang="en-US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子句</a:t>
            </a:r>
            <a:endParaRPr lang="en-US" altLang="zh-CN" dirty="0">
              <a:solidFill>
                <a:schemeClr val="accent3"/>
              </a:solidFill>
              <a:latin typeface="+mn-lt"/>
              <a:cs typeface="+mn-ea"/>
              <a:sym typeface="+mn-lt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至多</a:t>
            </a:r>
            <a:r>
              <a:rPr lang="zh-CN" altLang="en-US" dirty="0">
                <a:latin typeface="+mn-lt"/>
                <a:cs typeface="+mn-ea"/>
                <a:sym typeface="+mn-lt"/>
              </a:rPr>
              <a:t>只有一个</a:t>
            </a:r>
            <a:r>
              <a:rPr lang="zh-CN" altLang="en-US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正文字</a:t>
            </a:r>
            <a:r>
              <a:rPr lang="zh-CN" altLang="en-US" dirty="0">
                <a:latin typeface="+mn-lt"/>
                <a:cs typeface="+mn-ea"/>
                <a:sym typeface="+mn-lt"/>
              </a:rPr>
              <a:t>的析取式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pPr lvl="1"/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en-US" altLang="zh-CN" b="1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Horn</a:t>
            </a:r>
            <a:r>
              <a:rPr lang="zh-CN" altLang="en-US" b="1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子句在归结下是封闭的</a:t>
            </a:r>
            <a:endParaRPr lang="en-US" altLang="zh-CN" dirty="0">
              <a:solidFill>
                <a:schemeClr val="accent3"/>
              </a:solidFill>
              <a:latin typeface="+mn-lt"/>
              <a:cs typeface="+mn-ea"/>
              <a:sym typeface="+mn-lt"/>
            </a:endParaRPr>
          </a:p>
          <a:p>
            <a:pPr lvl="1"/>
            <a:r>
              <a:rPr lang="zh-CN" altLang="en-US" dirty="0">
                <a:latin typeface="+mn-lt"/>
                <a:cs typeface="+mn-ea"/>
                <a:sym typeface="+mn-lt"/>
              </a:rPr>
              <a:t>如果你有两个</a:t>
            </a:r>
            <a:r>
              <a:rPr lang="en-US" altLang="zh-CN" dirty="0">
                <a:latin typeface="+mn-lt"/>
                <a:cs typeface="+mn-ea"/>
                <a:sym typeface="+mn-lt"/>
              </a:rPr>
              <a:t>Horn</a:t>
            </a:r>
            <a:r>
              <a:rPr lang="zh-CN" altLang="en-US" dirty="0">
                <a:latin typeface="+mn-lt"/>
                <a:cs typeface="+mn-ea"/>
                <a:sym typeface="+mn-lt"/>
              </a:rPr>
              <a:t>子句，那么你可以归结到一个</a:t>
            </a:r>
            <a:r>
              <a:rPr lang="en-US" altLang="zh-CN" dirty="0">
                <a:latin typeface="+mn-lt"/>
                <a:cs typeface="+mn-ea"/>
                <a:sym typeface="+mn-lt"/>
              </a:rPr>
              <a:t>Horn</a:t>
            </a:r>
            <a:r>
              <a:rPr lang="zh-CN" altLang="en-US" dirty="0">
                <a:latin typeface="+mn-lt"/>
                <a:cs typeface="+mn-ea"/>
                <a:sym typeface="+mn-lt"/>
              </a:rPr>
              <a:t>子句</a:t>
            </a:r>
            <a:r>
              <a:rPr lang="en-US" altLang="zh-CN" dirty="0">
                <a:latin typeface="+mn-lt"/>
                <a:cs typeface="+mn-ea"/>
                <a:sym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098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2558CC72-8269-B2FA-BEFB-64457909E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Horn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子句与限定子句</a:t>
            </a:r>
          </a:p>
        </p:txBody>
      </p:sp>
      <p:sp>
        <p:nvSpPr>
          <p:cNvPr id="30722" name="Footer Placeholder 2">
            <a:extLst>
              <a:ext uri="{FF2B5EF4-FFF2-40B4-BE49-F238E27FC236}">
                <a16:creationId xmlns:a16="http://schemas.microsoft.com/office/drawing/2014/main" id="{8D85ED74-C436-2202-3DF7-22AF6142AB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B96ADCCB-ECF6-427D-A412-121E790469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三条定理</a:t>
                </a:r>
                <a:r>
                  <a:rPr lang="en-US" altLang="zh-CN" b="1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 </a:t>
                </a:r>
              </a:p>
              <a:p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1.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每个限定子句都可以写成蕴含式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前提为正文字的合取式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结论为单个正文字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示例</a:t>
                </a:r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</m:t>
                    </m:r>
                    <m:sSub>
                      <m:sSub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𝐿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𝐵𝑟𝑒𝑒𝑧𝑒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∨ </m:t>
                    </m:r>
                    <m:sSub>
                      <m:sSub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 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can be written as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𝐿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∧ 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𝐵𝑟𝑒𝑒𝑧𝑒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 ⇒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endParaRPr lang="en-US" altLang="zh-CN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B96ADCCB-ECF6-427D-A412-121E79046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1125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05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2558CC72-8269-B2FA-BEFB-64457909E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Horn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子句与限定子句</a:t>
            </a:r>
          </a:p>
        </p:txBody>
      </p:sp>
      <p:sp>
        <p:nvSpPr>
          <p:cNvPr id="30722" name="Footer Placeholder 2">
            <a:extLst>
              <a:ext uri="{FF2B5EF4-FFF2-40B4-BE49-F238E27FC236}">
                <a16:creationId xmlns:a16="http://schemas.microsoft.com/office/drawing/2014/main" id="{8D85ED74-C436-2202-3DF7-22AF6142AB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567B8EB-91D2-46F7-BE2E-2A5313D26CFE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2. </a:t>
            </a:r>
            <a:r>
              <a:rPr lang="en-US" altLang="zh-CN" b="1" dirty="0">
                <a:latin typeface="+mn-lt"/>
                <a:cs typeface="+mn-ea"/>
                <a:sym typeface="+mn-lt"/>
              </a:rPr>
              <a:t>Horn</a:t>
            </a:r>
            <a:r>
              <a:rPr lang="zh-CN" altLang="en-US" b="1" dirty="0">
                <a:latin typeface="+mn-lt"/>
                <a:cs typeface="+mn-ea"/>
                <a:sym typeface="+mn-lt"/>
              </a:rPr>
              <a:t>子句的推理</a:t>
            </a:r>
            <a:r>
              <a:rPr lang="zh-CN" altLang="en-US" dirty="0">
                <a:latin typeface="+mn-lt"/>
                <a:cs typeface="+mn-ea"/>
                <a:sym typeface="+mn-lt"/>
              </a:rPr>
              <a:t>可以使用</a:t>
            </a:r>
            <a:r>
              <a:rPr lang="zh-CN" altLang="en-US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前向链接</a:t>
            </a:r>
            <a:r>
              <a:rPr lang="zh-CN" altLang="en-US" dirty="0">
                <a:latin typeface="+mn-lt"/>
                <a:cs typeface="+mn-ea"/>
                <a:sym typeface="+mn-lt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forward-chaining</a:t>
            </a:r>
            <a:r>
              <a:rPr lang="zh-CN" altLang="en-US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）</a:t>
            </a:r>
            <a:r>
              <a:rPr lang="zh-CN" altLang="en-US" dirty="0">
                <a:latin typeface="+mn-lt"/>
                <a:cs typeface="+mn-ea"/>
                <a:sym typeface="+mn-lt"/>
              </a:rPr>
              <a:t>与</a:t>
            </a:r>
            <a:r>
              <a:rPr lang="zh-CN" altLang="en-US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反向链接</a:t>
            </a:r>
            <a:r>
              <a:rPr lang="zh-CN" altLang="en-US" dirty="0">
                <a:latin typeface="+mn-lt"/>
                <a:cs typeface="+mn-ea"/>
                <a:sym typeface="+mn-lt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backward-chaining</a:t>
            </a:r>
            <a:r>
              <a:rPr lang="zh-CN" altLang="en-US" dirty="0">
                <a:latin typeface="+mn-lt"/>
                <a:cs typeface="+mn-ea"/>
                <a:sym typeface="+mn-lt"/>
              </a:rPr>
              <a:t>）算法完成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3. Horn</a:t>
            </a:r>
            <a:r>
              <a:rPr lang="zh-CN" altLang="en-US" dirty="0">
                <a:latin typeface="+mn-lt"/>
                <a:cs typeface="+mn-ea"/>
                <a:sym typeface="+mn-lt"/>
              </a:rPr>
              <a:t>子句判定蕴含需要的时间与知识库大小成</a:t>
            </a:r>
            <a:r>
              <a:rPr lang="zh-CN" altLang="en-US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线性关系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3181925"/>
            <a:ext cx="121920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Forward chaining and backward chaining</a:t>
            </a:r>
            <a:endParaRPr lang="zh-CN" altLang="en-US" sz="20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8C09ED-78F7-4CFF-8712-3A96FB899445}"/>
              </a:ext>
            </a:extLst>
          </p:cNvPr>
          <p:cNvSpPr txBox="1"/>
          <p:nvPr/>
        </p:nvSpPr>
        <p:spPr>
          <a:xfrm>
            <a:off x="2522537" y="2412484"/>
            <a:ext cx="71469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400" dirty="0"/>
              <a:t>前</a:t>
            </a:r>
            <a:r>
              <a:rPr lang="en-US" altLang="zh-CN" sz="5400" dirty="0" err="1"/>
              <a:t>向链</a:t>
            </a:r>
            <a:r>
              <a:rPr lang="zh-CN" altLang="en-US" sz="5400" dirty="0"/>
              <a:t>接</a:t>
            </a:r>
            <a:r>
              <a:rPr lang="en-US" altLang="zh-CN" sz="5400" dirty="0" err="1"/>
              <a:t>和反向链</a:t>
            </a:r>
            <a:r>
              <a:rPr lang="zh-CN" altLang="en-US" sz="5400" dirty="0"/>
              <a:t>接</a:t>
            </a:r>
          </a:p>
        </p:txBody>
      </p:sp>
    </p:spTree>
    <p:extLst>
      <p:ext uri="{BB962C8B-B14F-4D97-AF65-F5344CB8AC3E}">
        <p14:creationId xmlns:p14="http://schemas.microsoft.com/office/powerpoint/2010/main" val="501836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2558CC72-8269-B2FA-BEFB-64457909E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前向链接</a:t>
            </a:r>
            <a:endParaRPr lang="en-US" altLang="zh-CN" sz="3000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722" name="Footer Placeholder 2">
            <a:extLst>
              <a:ext uri="{FF2B5EF4-FFF2-40B4-BE49-F238E27FC236}">
                <a16:creationId xmlns:a16="http://schemas.microsoft.com/office/drawing/2014/main" id="{8D85ED74-C436-2202-3DF7-22AF6142AB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7008EC4-A1C2-46E9-8A94-93BF5790D972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前向链接</a:t>
            </a:r>
            <a:endParaRPr lang="en-US" altLang="zh-CN" dirty="0">
              <a:solidFill>
                <a:schemeClr val="accent3"/>
              </a:solidFill>
              <a:latin typeface="+mn-lt"/>
              <a:cs typeface="+mn-ea"/>
              <a:sym typeface="+mn-lt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+mn-lt"/>
                <a:cs typeface="+mn-ea"/>
                <a:sym typeface="+mn-lt"/>
              </a:rPr>
              <a:t>判定单个命题词是否被限定子句的知识库所蕴含</a:t>
            </a:r>
            <a:endParaRPr lang="zh-CN" altLang="en-US" b="1" dirty="0">
              <a:latin typeface="+mn-lt"/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endParaRPr lang="en-US" altLang="zh-CN" dirty="0">
              <a:latin typeface="+mn-lt"/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步骤</a:t>
            </a:r>
            <a:r>
              <a:rPr lang="en-US" altLang="zh-CN" dirty="0">
                <a:latin typeface="+mn-lt"/>
                <a:cs typeface="+mn-ea"/>
                <a:sym typeface="+mn-lt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+mn-lt"/>
                <a:cs typeface="+mn-ea"/>
                <a:sym typeface="+mn-lt"/>
              </a:rPr>
              <a:t>1.</a:t>
            </a:r>
            <a:r>
              <a:rPr lang="zh-CN" altLang="en-US" dirty="0">
                <a:latin typeface="+mn-lt"/>
                <a:cs typeface="+mn-ea"/>
                <a:sym typeface="+mn-lt"/>
              </a:rPr>
              <a:t>从知识库中的已知事实</a:t>
            </a:r>
            <a:r>
              <a:rPr lang="zh-CN" altLang="en-US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（正文字）</a:t>
            </a:r>
            <a:r>
              <a:rPr lang="zh-CN" altLang="en-US" dirty="0">
                <a:latin typeface="+mn-lt"/>
                <a:cs typeface="+mn-ea"/>
                <a:sym typeface="+mn-lt"/>
              </a:rPr>
              <a:t>出发</a:t>
            </a:r>
            <a:r>
              <a:rPr lang="en-US" altLang="zh-CN" dirty="0">
                <a:latin typeface="+mn-lt"/>
                <a:cs typeface="+mn-ea"/>
                <a:sym typeface="+mn-lt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+mn-lt"/>
                <a:cs typeface="+mn-ea"/>
                <a:sym typeface="+mn-lt"/>
              </a:rPr>
              <a:t>2.</a:t>
            </a:r>
            <a:r>
              <a:rPr lang="zh-CN" altLang="en-US" dirty="0">
                <a:latin typeface="+mn-lt"/>
                <a:cs typeface="+mn-ea"/>
                <a:sym typeface="+mn-lt"/>
              </a:rPr>
              <a:t>如果蕴含式的</a:t>
            </a:r>
            <a:r>
              <a:rPr lang="zh-CN" altLang="en-US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所有</a:t>
            </a:r>
            <a:r>
              <a:rPr lang="zh-CN" altLang="en-US" dirty="0">
                <a:latin typeface="+mn-lt"/>
                <a:cs typeface="+mn-ea"/>
                <a:sym typeface="+mn-lt"/>
              </a:rPr>
              <a:t>前提已知，那么就把他的结论添加到已知事实集</a:t>
            </a:r>
            <a:r>
              <a:rPr lang="en-US" altLang="zh-CN" dirty="0">
                <a:latin typeface="+mn-lt"/>
                <a:cs typeface="+mn-ea"/>
                <a:sym typeface="+mn-lt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+mn-lt"/>
                <a:cs typeface="+mn-ea"/>
                <a:sym typeface="+mn-lt"/>
              </a:rPr>
              <a:t>3.</a:t>
            </a:r>
            <a:r>
              <a:rPr lang="zh-CN" altLang="en-US" dirty="0">
                <a:latin typeface="+mn-lt"/>
                <a:cs typeface="+mn-ea"/>
                <a:sym typeface="+mn-lt"/>
              </a:rPr>
              <a:t>这个过程持续进行，直到</a:t>
            </a:r>
            <a:r>
              <a:rPr lang="zh-CN" altLang="en-US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查询被添加</a:t>
            </a:r>
            <a:r>
              <a:rPr lang="zh-CN" altLang="en-US" dirty="0">
                <a:latin typeface="+mn-lt"/>
                <a:cs typeface="+mn-ea"/>
                <a:sym typeface="+mn-lt"/>
              </a:rPr>
              <a:t>或者</a:t>
            </a:r>
            <a:r>
              <a:rPr lang="zh-CN" altLang="en-US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无法进行更进一步的推理</a:t>
            </a:r>
            <a:r>
              <a:rPr lang="en-US" altLang="zh-CN" dirty="0">
                <a:latin typeface="+mn-lt"/>
                <a:cs typeface="+mn-ea"/>
                <a:sym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746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2558CC72-8269-B2FA-BEFB-64457909E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前向链接</a:t>
            </a:r>
            <a:endParaRPr lang="en-US" altLang="zh-CN" sz="3000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722" name="Footer Placeholder 2">
            <a:extLst>
              <a:ext uri="{FF2B5EF4-FFF2-40B4-BE49-F238E27FC236}">
                <a16:creationId xmlns:a16="http://schemas.microsoft.com/office/drawing/2014/main" id="{8D85ED74-C436-2202-3DF7-22AF6142AB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05F8C73D-18B0-49B3-98BF-807F73D973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“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2.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如果蕴含式的所有前提已知，那么就把他的结论添加到已知事实集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.</a:t>
                </a:r>
                <a:r>
                  <a:rPr lang="zh-CN" altLang="en-US" dirty="0">
                    <a:latin typeface="+mn-lt"/>
                    <a:cs typeface="+mn-ea"/>
                    <a:sym typeface="+mn-lt"/>
                  </a:rPr>
                  <a:t>”</a:t>
                </a:r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zh-CN" altLang="en-US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示例：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For definite clause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𝐿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¬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𝐵𝑟𝑒𝑒𝑧𝑒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∨ 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 </m:t>
                    </m:r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𝐿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1,1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+mn-lt"/>
                    <a:cs typeface="+mn-ea"/>
                    <a:sym typeface="+mn-lt"/>
                  </a:rPr>
                  <a:t> </a:t>
                </a:r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𝐵𝑟𝑒𝑒𝑧𝑒</m:t>
                    </m:r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are known,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1,1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 ∧ 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𝐵𝑟𝑒𝑒𝑧𝑒</m:t>
                        </m:r>
                      </m:e>
                    </m:d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⇒ </m:t>
                    </m:r>
                    <m:sSub>
                      <m:sSub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</m:t>
                    </m:r>
                  </m:oMath>
                </a14:m>
                <a:endParaRPr lang="en-US" altLang="zh-CN" i="1" dirty="0">
                  <a:latin typeface="+mn-lt"/>
                  <a:cs typeface="+mn-ea"/>
                  <a:sym typeface="+mn-lt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𝐵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 can be added.</a:t>
                </a:r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05F8C73D-18B0-49B3-98BF-807F73D97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792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2558CC72-8269-B2FA-BEFB-64457909E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前向链接</a:t>
            </a:r>
            <a:endParaRPr lang="en-US" altLang="zh-CN" sz="3000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722" name="Footer Placeholder 2">
            <a:extLst>
              <a:ext uri="{FF2B5EF4-FFF2-40B4-BE49-F238E27FC236}">
                <a16:creationId xmlns:a16="http://schemas.microsoft.com/office/drawing/2014/main" id="{8D85ED74-C436-2202-3DF7-22AF6142AB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1D7A3CD-2A46-420F-BEC7-CA4F445B2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371600"/>
            <a:ext cx="8809509" cy="5181600"/>
          </a:xfrm>
          <a:prstGeom prst="rect">
            <a:avLst/>
          </a:prstGeom>
        </p:spPr>
      </p:pic>
      <p:sp>
        <p:nvSpPr>
          <p:cNvPr id="14" name="上箭头 2">
            <a:extLst>
              <a:ext uri="{FF2B5EF4-FFF2-40B4-BE49-F238E27FC236}">
                <a16:creationId xmlns:a16="http://schemas.microsoft.com/office/drawing/2014/main" id="{E05C79BE-C531-45AE-8243-57AEA0FB6851}"/>
              </a:ext>
            </a:extLst>
          </p:cNvPr>
          <p:cNvSpPr/>
          <p:nvPr/>
        </p:nvSpPr>
        <p:spPr>
          <a:xfrm>
            <a:off x="10820400" y="1600200"/>
            <a:ext cx="685800" cy="4495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94374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2558CC72-8269-B2FA-BEFB-64457909E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前向链接</a:t>
            </a:r>
            <a:endParaRPr lang="en-US" altLang="zh-CN" sz="3000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722" name="Footer Placeholder 2">
            <a:extLst>
              <a:ext uri="{FF2B5EF4-FFF2-40B4-BE49-F238E27FC236}">
                <a16:creationId xmlns:a16="http://schemas.microsoft.com/office/drawing/2014/main" id="{8D85ED74-C436-2202-3DF7-22AF6142AB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107B2FA-8549-45D1-B890-5C0A040B0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371600"/>
            <a:ext cx="8809509" cy="5181600"/>
          </a:xfrm>
          <a:prstGeom prst="rect">
            <a:avLst/>
          </a:prstGeom>
        </p:spPr>
      </p:pic>
      <p:sp>
        <p:nvSpPr>
          <p:cNvPr id="12" name="上箭头 2">
            <a:extLst>
              <a:ext uri="{FF2B5EF4-FFF2-40B4-BE49-F238E27FC236}">
                <a16:creationId xmlns:a16="http://schemas.microsoft.com/office/drawing/2014/main" id="{F42051E0-1A54-48D7-8C27-3E8644D7A143}"/>
              </a:ext>
            </a:extLst>
          </p:cNvPr>
          <p:cNvSpPr/>
          <p:nvPr/>
        </p:nvSpPr>
        <p:spPr>
          <a:xfrm>
            <a:off x="10820400" y="1600200"/>
            <a:ext cx="685800" cy="4495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BA045B-7DA2-4550-9FBF-D2EE128DAD93}"/>
              </a:ext>
            </a:extLst>
          </p:cNvPr>
          <p:cNvSpPr/>
          <p:nvPr/>
        </p:nvSpPr>
        <p:spPr>
          <a:xfrm>
            <a:off x="8686800" y="5715000"/>
            <a:ext cx="685800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57F790-058A-4D6E-8378-AF37158AD714}"/>
              </a:ext>
            </a:extLst>
          </p:cNvPr>
          <p:cNvSpPr/>
          <p:nvPr/>
        </p:nvSpPr>
        <p:spPr>
          <a:xfrm>
            <a:off x="10005455" y="5715000"/>
            <a:ext cx="685800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C3B4A4F-AE77-4879-A3E8-CC8D7B9B6FA7}"/>
              </a:ext>
            </a:extLst>
          </p:cNvPr>
          <p:cNvCxnSpPr/>
          <p:nvPr/>
        </p:nvCxnSpPr>
        <p:spPr>
          <a:xfrm>
            <a:off x="1828800" y="4572000"/>
            <a:ext cx="1828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A8C11758-73D2-41B9-A451-2263362F6499}"/>
              </a:ext>
            </a:extLst>
          </p:cNvPr>
          <p:cNvSpPr/>
          <p:nvPr/>
        </p:nvSpPr>
        <p:spPr>
          <a:xfrm>
            <a:off x="8229600" y="4267200"/>
            <a:ext cx="685800" cy="6096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88859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2558CC72-8269-B2FA-BEFB-64457909E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前向链接</a:t>
            </a:r>
            <a:endParaRPr lang="en-US" altLang="zh-CN" sz="3000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722" name="Footer Placeholder 2">
            <a:extLst>
              <a:ext uri="{FF2B5EF4-FFF2-40B4-BE49-F238E27FC236}">
                <a16:creationId xmlns:a16="http://schemas.microsoft.com/office/drawing/2014/main" id="{8D85ED74-C436-2202-3DF7-22AF6142AB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A9AE9B8-2C44-420A-B6E6-83C9F5813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371600"/>
            <a:ext cx="8809509" cy="5181600"/>
          </a:xfrm>
          <a:prstGeom prst="rect">
            <a:avLst/>
          </a:prstGeom>
        </p:spPr>
      </p:pic>
      <p:sp>
        <p:nvSpPr>
          <p:cNvPr id="12" name="上箭头 2">
            <a:extLst>
              <a:ext uri="{FF2B5EF4-FFF2-40B4-BE49-F238E27FC236}">
                <a16:creationId xmlns:a16="http://schemas.microsoft.com/office/drawing/2014/main" id="{5C60DD65-D74D-4868-B45C-BEA50B7DD7D7}"/>
              </a:ext>
            </a:extLst>
          </p:cNvPr>
          <p:cNvSpPr/>
          <p:nvPr/>
        </p:nvSpPr>
        <p:spPr>
          <a:xfrm>
            <a:off x="10820400" y="1600200"/>
            <a:ext cx="685800" cy="4495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664512-72E2-4051-B117-C76B50D76717}"/>
              </a:ext>
            </a:extLst>
          </p:cNvPr>
          <p:cNvSpPr/>
          <p:nvPr/>
        </p:nvSpPr>
        <p:spPr>
          <a:xfrm>
            <a:off x="8229600" y="4343400"/>
            <a:ext cx="685800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FBC30A1-4DF3-405F-936E-449D41DB00A2}"/>
              </a:ext>
            </a:extLst>
          </p:cNvPr>
          <p:cNvSpPr/>
          <p:nvPr/>
        </p:nvSpPr>
        <p:spPr>
          <a:xfrm>
            <a:off x="10058400" y="5715000"/>
            <a:ext cx="685800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E291860-3247-419B-9922-D6ACDD9830D3}"/>
              </a:ext>
            </a:extLst>
          </p:cNvPr>
          <p:cNvCxnSpPr/>
          <p:nvPr/>
        </p:nvCxnSpPr>
        <p:spPr>
          <a:xfrm>
            <a:off x="1828800" y="3429000"/>
            <a:ext cx="1828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5BE6B071-4AF0-4E77-8B4F-3976B5AD3F07}"/>
              </a:ext>
            </a:extLst>
          </p:cNvPr>
          <p:cNvSpPr/>
          <p:nvPr/>
        </p:nvSpPr>
        <p:spPr>
          <a:xfrm>
            <a:off x="9448800" y="3429000"/>
            <a:ext cx="685800" cy="6096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96599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2558CC72-8269-B2FA-BEFB-64457909E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前向链接</a:t>
            </a:r>
            <a:endParaRPr lang="en-US" altLang="zh-CN" sz="3000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722" name="Footer Placeholder 2">
            <a:extLst>
              <a:ext uri="{FF2B5EF4-FFF2-40B4-BE49-F238E27FC236}">
                <a16:creationId xmlns:a16="http://schemas.microsoft.com/office/drawing/2014/main" id="{8D85ED74-C436-2202-3DF7-22AF6142AB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BBE3EC-CA57-4209-B5F8-06614310C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371600"/>
            <a:ext cx="8809509" cy="5181600"/>
          </a:xfrm>
          <a:prstGeom prst="rect">
            <a:avLst/>
          </a:prstGeom>
        </p:spPr>
      </p:pic>
      <p:sp>
        <p:nvSpPr>
          <p:cNvPr id="6" name="上箭头 2">
            <a:extLst>
              <a:ext uri="{FF2B5EF4-FFF2-40B4-BE49-F238E27FC236}">
                <a16:creationId xmlns:a16="http://schemas.microsoft.com/office/drawing/2014/main" id="{15ADBC59-9EFE-4FB4-95D9-482D52E8BD90}"/>
              </a:ext>
            </a:extLst>
          </p:cNvPr>
          <p:cNvSpPr/>
          <p:nvPr/>
        </p:nvSpPr>
        <p:spPr>
          <a:xfrm>
            <a:off x="10820400" y="1600200"/>
            <a:ext cx="685800" cy="4495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B238A1-D2DD-4C62-822D-97E3559B2025}"/>
              </a:ext>
            </a:extLst>
          </p:cNvPr>
          <p:cNvSpPr/>
          <p:nvPr/>
        </p:nvSpPr>
        <p:spPr>
          <a:xfrm>
            <a:off x="8229600" y="4343400"/>
            <a:ext cx="685800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BE3A65-EB56-4790-8985-5079F593CB9D}"/>
              </a:ext>
            </a:extLst>
          </p:cNvPr>
          <p:cNvSpPr/>
          <p:nvPr/>
        </p:nvSpPr>
        <p:spPr>
          <a:xfrm>
            <a:off x="9372600" y="3505200"/>
            <a:ext cx="685800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40A9D3A-2EC8-4D7B-B084-6F7AD58496D7}"/>
              </a:ext>
            </a:extLst>
          </p:cNvPr>
          <p:cNvCxnSpPr/>
          <p:nvPr/>
        </p:nvCxnSpPr>
        <p:spPr>
          <a:xfrm>
            <a:off x="1828800" y="2895600"/>
            <a:ext cx="1828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562BD057-1E1E-4E0B-8673-77F4E419F48F}"/>
              </a:ext>
            </a:extLst>
          </p:cNvPr>
          <p:cNvSpPr/>
          <p:nvPr/>
        </p:nvSpPr>
        <p:spPr>
          <a:xfrm>
            <a:off x="8534400" y="2438400"/>
            <a:ext cx="685800" cy="6096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73068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37080463-0BE4-4DE1-B44F-1F1F08A85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前向链接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770" name="Footer Placeholder 2">
            <a:extLst>
              <a:ext uri="{FF2B5EF4-FFF2-40B4-BE49-F238E27FC236}">
                <a16:creationId xmlns:a16="http://schemas.microsoft.com/office/drawing/2014/main" id="{9DCF9C91-17FD-DEFF-0DDC-DC8FECD5DB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6E5581-7278-47BF-AF77-136E97F03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371600"/>
            <a:ext cx="8809509" cy="5181600"/>
          </a:xfrm>
          <a:prstGeom prst="rect">
            <a:avLst/>
          </a:prstGeom>
        </p:spPr>
      </p:pic>
      <p:sp>
        <p:nvSpPr>
          <p:cNvPr id="7" name="上箭头 2">
            <a:extLst>
              <a:ext uri="{FF2B5EF4-FFF2-40B4-BE49-F238E27FC236}">
                <a16:creationId xmlns:a16="http://schemas.microsoft.com/office/drawing/2014/main" id="{4DBF30B7-8349-482B-B09F-9588E1866D9D}"/>
              </a:ext>
            </a:extLst>
          </p:cNvPr>
          <p:cNvSpPr/>
          <p:nvPr/>
        </p:nvSpPr>
        <p:spPr>
          <a:xfrm>
            <a:off x="10820400" y="1600200"/>
            <a:ext cx="685800" cy="4495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C06F54-DEE3-47B0-82B5-D6D59CA0424E}"/>
              </a:ext>
            </a:extLst>
          </p:cNvPr>
          <p:cNvSpPr/>
          <p:nvPr/>
        </p:nvSpPr>
        <p:spPr>
          <a:xfrm>
            <a:off x="8534400" y="2438400"/>
            <a:ext cx="685800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0A29C64-A133-4208-A701-C3F67C4D0489}"/>
              </a:ext>
            </a:extLst>
          </p:cNvPr>
          <p:cNvCxnSpPr/>
          <p:nvPr/>
        </p:nvCxnSpPr>
        <p:spPr>
          <a:xfrm>
            <a:off x="1828800" y="2438400"/>
            <a:ext cx="1828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CA479C98-9D82-4422-B281-9A9DAB16CA08}"/>
              </a:ext>
            </a:extLst>
          </p:cNvPr>
          <p:cNvSpPr/>
          <p:nvPr/>
        </p:nvSpPr>
        <p:spPr>
          <a:xfrm>
            <a:off x="8534400" y="1219200"/>
            <a:ext cx="685800" cy="6096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37080463-0BE4-4DE1-B44F-1F1F08A85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反向链接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770" name="Footer Placeholder 2">
            <a:extLst>
              <a:ext uri="{FF2B5EF4-FFF2-40B4-BE49-F238E27FC236}">
                <a16:creationId xmlns:a16="http://schemas.microsoft.com/office/drawing/2014/main" id="{9DCF9C91-17FD-DEFF-0DDC-DC8FECD5DB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E2D9B32-5BC0-45F6-9AF0-32F4178323E1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反向链接</a:t>
            </a:r>
            <a:r>
              <a:rPr lang="en-US" altLang="zh-CN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——</a:t>
            </a:r>
            <a:r>
              <a:rPr lang="zh-CN" altLang="en-US" dirty="0">
                <a:solidFill>
                  <a:schemeClr val="accent3"/>
                </a:solidFill>
                <a:latin typeface="+mn-lt"/>
                <a:cs typeface="+mn-ea"/>
                <a:sym typeface="+mn-lt"/>
              </a:rPr>
              <a:t>从查询开始进行推理</a:t>
            </a:r>
            <a:endParaRPr lang="en-US" altLang="zh-CN" dirty="0">
              <a:solidFill>
                <a:schemeClr val="accent3"/>
              </a:solidFill>
              <a:latin typeface="+mn-lt"/>
              <a:cs typeface="+mn-ea"/>
              <a:sym typeface="+mn-lt"/>
            </a:endParaRPr>
          </a:p>
          <a:p>
            <a:pPr lvl="1"/>
            <a:r>
              <a:rPr lang="zh-CN" altLang="en-US" dirty="0">
                <a:latin typeface="+mn-lt"/>
                <a:cs typeface="+mn-ea"/>
                <a:sym typeface="+mn-lt"/>
              </a:rPr>
              <a:t>如果查询</a:t>
            </a:r>
            <a:r>
              <a:rPr lang="en-US" altLang="zh-CN" dirty="0">
                <a:latin typeface="+mn-lt"/>
                <a:cs typeface="+mn-ea"/>
                <a:sym typeface="+mn-lt"/>
              </a:rPr>
              <a:t>q</a:t>
            </a:r>
            <a:r>
              <a:rPr lang="zh-CN" altLang="en-US" dirty="0">
                <a:latin typeface="+mn-lt"/>
                <a:cs typeface="+mn-ea"/>
                <a:sym typeface="+mn-lt"/>
              </a:rPr>
              <a:t>已知为真，那么无须进行任何操作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pPr lvl="1"/>
            <a:endParaRPr lang="en-US" altLang="zh-CN" dirty="0">
              <a:latin typeface="+mn-lt"/>
              <a:cs typeface="+mn-ea"/>
              <a:sym typeface="+mn-lt"/>
            </a:endParaRPr>
          </a:p>
          <a:p>
            <a:pPr lvl="1"/>
            <a:r>
              <a:rPr lang="zh-CN" altLang="en-US" dirty="0">
                <a:latin typeface="+mn-lt"/>
                <a:cs typeface="+mn-ea"/>
                <a:sym typeface="+mn-lt"/>
              </a:rPr>
              <a:t>否则，算法寻找知识库中那些能以</a:t>
            </a:r>
            <a:r>
              <a:rPr lang="en-US" altLang="zh-CN" dirty="0">
                <a:latin typeface="+mn-lt"/>
                <a:cs typeface="+mn-ea"/>
                <a:sym typeface="+mn-lt"/>
              </a:rPr>
              <a:t>q</a:t>
            </a:r>
            <a:r>
              <a:rPr lang="zh-CN" altLang="en-US" dirty="0">
                <a:latin typeface="+mn-lt"/>
                <a:cs typeface="+mn-ea"/>
                <a:sym typeface="+mn-lt"/>
              </a:rPr>
              <a:t>为结论的蕴含式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pPr lvl="1"/>
            <a:endParaRPr lang="en-US" altLang="zh-CN" dirty="0">
              <a:latin typeface="+mn-lt"/>
              <a:cs typeface="+mn-ea"/>
              <a:sym typeface="+mn-lt"/>
            </a:endParaRPr>
          </a:p>
          <a:p>
            <a:pPr lvl="1"/>
            <a:r>
              <a:rPr lang="zh-CN" altLang="en-US" dirty="0">
                <a:latin typeface="+mn-lt"/>
                <a:cs typeface="+mn-ea"/>
                <a:sym typeface="+mn-lt"/>
              </a:rPr>
              <a:t>如果其中某个蕴含式的所有前提都能证明为真，则</a:t>
            </a:r>
            <a:r>
              <a:rPr lang="en-US" altLang="zh-CN" dirty="0">
                <a:latin typeface="+mn-lt"/>
                <a:cs typeface="+mn-ea"/>
                <a:sym typeface="+mn-lt"/>
              </a:rPr>
              <a:t>q</a:t>
            </a:r>
            <a:r>
              <a:rPr lang="zh-CN" altLang="en-US" dirty="0">
                <a:latin typeface="+mn-lt"/>
                <a:cs typeface="+mn-ea"/>
                <a:sym typeface="+mn-lt"/>
              </a:rPr>
              <a:t>为真</a:t>
            </a:r>
            <a:r>
              <a:rPr lang="en-US" altLang="zh-CN" dirty="0">
                <a:latin typeface="+mn-lt"/>
                <a:cs typeface="+mn-ea"/>
                <a:sym typeface="+mn-lt"/>
              </a:rPr>
              <a:t>.</a:t>
            </a:r>
            <a:endParaRPr lang="zh-CN" altLang="en-US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724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37080463-0BE4-4DE1-B44F-1F1F08A85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反向链接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770" name="Footer Placeholder 2">
            <a:extLst>
              <a:ext uri="{FF2B5EF4-FFF2-40B4-BE49-F238E27FC236}">
                <a16:creationId xmlns:a16="http://schemas.microsoft.com/office/drawing/2014/main" id="{9DCF9C91-17FD-DEFF-0DDC-DC8FECD5DB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16DDFC4-FCF3-4CDA-A7BA-0684FD1D0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371600"/>
            <a:ext cx="8809509" cy="5181600"/>
          </a:xfrm>
          <a:prstGeom prst="rect">
            <a:avLst/>
          </a:prstGeom>
        </p:spPr>
      </p:pic>
      <p:sp>
        <p:nvSpPr>
          <p:cNvPr id="9" name="上箭头 2">
            <a:extLst>
              <a:ext uri="{FF2B5EF4-FFF2-40B4-BE49-F238E27FC236}">
                <a16:creationId xmlns:a16="http://schemas.microsoft.com/office/drawing/2014/main" id="{8AE8AD50-8FEB-40E7-836C-1CB3BEE75781}"/>
              </a:ext>
            </a:extLst>
          </p:cNvPr>
          <p:cNvSpPr/>
          <p:nvPr/>
        </p:nvSpPr>
        <p:spPr>
          <a:xfrm rot="10800000">
            <a:off x="10820400" y="1600200"/>
            <a:ext cx="685800" cy="4495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92411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EE5050E6-19F2-D34B-0EDF-688BE7FAD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逻辑智能体</a:t>
            </a:r>
            <a:endParaRPr lang="en-US" altLang="zh-CN" dirty="0">
              <a:solidFill>
                <a:srgbClr val="515223"/>
              </a:solidFill>
              <a:ea typeface="MS PGothic" panose="020B0600070205080204" pitchFamily="34" charset="-128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61AAB14-488D-46DA-A13C-618D6A2A167A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Helvetica Regular" pitchFamily="2" charset="0"/>
                <a:ea typeface="黑体" panose="02010609060101010101" pitchFamily="49" charset="-122"/>
                <a:cs typeface="+mn-cs"/>
              </a:rPr>
              <a:t>基于知识的智能体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Helvetica Regular" pitchFamily="2" charset="0"/>
                <a:ea typeface="黑体" panose="02010609060101010101" pitchFamily="49" charset="-122"/>
                <a:cs typeface="+mn-cs"/>
              </a:rPr>
              <a:t>乌普思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Helvetica Regular" pitchFamily="2" charset="0"/>
                <a:ea typeface="黑体" panose="02010609060101010101" pitchFamily="49" charset="-122"/>
                <a:cs typeface="+mn-cs"/>
              </a:rPr>
              <a:t>世界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Helvetica Regular" pitchFamily="2" charset="0"/>
              <a:ea typeface="黑体" panose="02010609060101010101" pitchFamily="49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Helvetica Regular" pitchFamily="2" charset="0"/>
                <a:ea typeface="黑体" panose="02010609060101010101" pitchFamily="49" charset="-122"/>
                <a:cs typeface="+mn-cs"/>
              </a:rPr>
              <a:t>逻辑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Helvetica Regular" pitchFamily="2" charset="0"/>
                <a:ea typeface="黑体" panose="02010609060101010101" pitchFamily="49" charset="-122"/>
                <a:cs typeface="+mn-cs"/>
              </a:rPr>
              <a:t>命题逻辑：一种非常简单的逻辑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Helvetica Regular" pitchFamily="2" charset="0"/>
                <a:ea typeface="黑体" panose="02010609060101010101" pitchFamily="49" charset="-122"/>
                <a:cs typeface="+mn-cs"/>
              </a:rPr>
              <a:t>命题定理证明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Regular" pitchFamily="2" charset="0"/>
                <a:ea typeface="黑体" panose="02010609060101010101" pitchFamily="49" charset="-122"/>
                <a:cs typeface="+mn-cs"/>
              </a:rPr>
              <a:t>基于命题逻辑的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Regular" pitchFamily="2" charset="0"/>
                <a:ea typeface="黑体" panose="02010609060101010101" pitchFamily="49" charset="-122"/>
                <a:cs typeface="+mn-cs"/>
              </a:rPr>
              <a:t>智能体</a:t>
            </a:r>
          </a:p>
        </p:txBody>
      </p:sp>
    </p:spTree>
    <p:extLst>
      <p:ext uri="{BB962C8B-B14F-4D97-AF65-F5344CB8AC3E}">
        <p14:creationId xmlns:p14="http://schemas.microsoft.com/office/powerpoint/2010/main" val="30850556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EE5050E6-19F2-D34B-0EDF-688BE7FAD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/>
              <a:t>基于命题逻辑的</a:t>
            </a:r>
            <a:r>
              <a:rPr lang="zh-CN" altLang="en-US" sz="3600" dirty="0"/>
              <a:t>智能体</a:t>
            </a:r>
            <a:endParaRPr lang="en-US" altLang="zh-CN" dirty="0">
              <a:solidFill>
                <a:srgbClr val="515223"/>
              </a:solidFill>
              <a:ea typeface="MS PGothic" panose="020B0600070205080204" pitchFamily="34" charset="-128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5202C1B-A51F-4E4F-A431-9B5D284775BD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529D"/>
                </a:solidFill>
                <a:effectLst/>
                <a:uLnTx/>
                <a:uFillTx/>
                <a:latin typeface="Helvetica Regular" pitchFamily="2" charset="0"/>
                <a:ea typeface="黑体" panose="02010609060101010101" pitchFamily="49" charset="-122"/>
                <a:cs typeface="+mn-cs"/>
              </a:rPr>
              <a:t>构建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529D"/>
                </a:solidFill>
                <a:effectLst/>
                <a:uLnTx/>
                <a:uFillTx/>
                <a:latin typeface="Helvetica Regular" pitchFamily="2" charset="0"/>
                <a:ea typeface="黑体" panose="02010609060101010101" pitchFamily="49" charset="-122"/>
                <a:cs typeface="+mn-cs"/>
              </a:rPr>
              <a:t>乌普思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529D"/>
                </a:solidFill>
                <a:effectLst/>
                <a:uLnTx/>
                <a:uFillTx/>
                <a:latin typeface="Helvetica Regular" pitchFamily="2" charset="0"/>
                <a:ea typeface="黑体" panose="02010609060101010101" pitchFamily="49" charset="-122"/>
                <a:cs typeface="+mn-cs"/>
              </a:rPr>
              <a:t>世界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529D"/>
                </a:solidFill>
                <a:effectLst/>
                <a:uLnTx/>
                <a:uFillTx/>
                <a:latin typeface="Helvetica Regular" pitchFamily="2" charset="0"/>
                <a:ea typeface="黑体" panose="02010609060101010101" pitchFamily="49" charset="-122"/>
                <a:cs typeface="+mn-cs"/>
              </a:rPr>
              <a:t>智能体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529D"/>
              </a:solidFill>
              <a:effectLst/>
              <a:uLnTx/>
              <a:uFillTx/>
              <a:latin typeface="Helvetica Regular" pitchFamily="2" charset="0"/>
              <a:ea typeface="黑体" panose="02010609060101010101" pitchFamily="49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 Regular" pitchFamily="2" charset="0"/>
                <a:ea typeface="黑体" panose="02010609060101010101" pitchFamily="49" charset="-122"/>
                <a:cs typeface="+mn-cs"/>
              </a:rPr>
              <a:t>推断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Regular" pitchFamily="2" charset="0"/>
                <a:ea typeface="黑体" panose="02010609060101010101" pitchFamily="49" charset="-122"/>
                <a:cs typeface="+mn-cs"/>
              </a:rPr>
              <a:t>世界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Regular" pitchFamily="2" charset="0"/>
                <a:ea typeface="黑体" panose="02010609060101010101" pitchFamily="49" charset="-122"/>
                <a:cs typeface="+mn-cs"/>
              </a:rPr>
              <a:t>状态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Regular" pitchFamily="2" charset="0"/>
              <a:ea typeface="黑体" panose="02010609060101010101" pitchFamily="49" charset="-122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Regular" pitchFamily="2" charset="0"/>
              <a:ea typeface="黑体" panose="02010609060101010101" pitchFamily="49" charset="-122"/>
              <a:cs typeface="+mn-cs"/>
            </a:endParaRPr>
          </a:p>
          <a:p>
            <a:pPr lvl="1"/>
            <a:r>
              <a:rPr lang="zh-CN" altLang="en-US" dirty="0">
                <a:solidFill>
                  <a:srgbClr val="000000"/>
                </a:solidFill>
              </a:rPr>
              <a:t>有效</a:t>
            </a:r>
            <a:r>
              <a:rPr lang="zh-CN" altLang="en-US" dirty="0">
                <a:solidFill>
                  <a:srgbClr val="FF0000"/>
                </a:solidFill>
              </a:rPr>
              <a:t>跟踪</a:t>
            </a:r>
            <a:r>
              <a:rPr lang="zh-CN" altLang="en-US" dirty="0">
                <a:solidFill>
                  <a:srgbClr val="000000"/>
                </a:solidFill>
              </a:rPr>
              <a:t>世界的变化</a:t>
            </a:r>
            <a:endParaRPr lang="en-US" altLang="zh-CN" dirty="0">
              <a:solidFill>
                <a:srgbClr val="000000"/>
              </a:solidFill>
            </a:endParaRPr>
          </a:p>
          <a:p>
            <a:pPr lvl="1"/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Regular" pitchFamily="2" charset="0"/>
              <a:ea typeface="黑体" panose="02010609060101010101" pitchFamily="49" charset="-122"/>
              <a:cs typeface="+mn-cs"/>
            </a:endParaRPr>
          </a:p>
          <a:p>
            <a:pPr lvl="1"/>
            <a:r>
              <a:rPr lang="zh-CN" altLang="en-US" dirty="0">
                <a:solidFill>
                  <a:srgbClr val="000000"/>
                </a:solidFill>
              </a:rPr>
              <a:t>使用逻辑推理</a:t>
            </a:r>
            <a:r>
              <a:rPr lang="zh-CN" altLang="en-US" dirty="0">
                <a:solidFill>
                  <a:srgbClr val="FF0000"/>
                </a:solidFill>
              </a:rPr>
              <a:t>制定计</a:t>
            </a:r>
            <a:r>
              <a:rPr lang="zh-CN" altLang="en-US" dirty="0">
                <a:solidFill>
                  <a:srgbClr val="000000"/>
                </a:solidFill>
              </a:rPr>
              <a:t>划确保达到目标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Regular" pitchFamily="2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373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DBE5A15C-52F8-E911-455D-64F82D1FC9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世界当前的状态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14" name="Footer Placeholder 2">
            <a:extLst>
              <a:ext uri="{FF2B5EF4-FFF2-40B4-BE49-F238E27FC236}">
                <a16:creationId xmlns:a16="http://schemas.microsoft.com/office/drawing/2014/main" id="{8EC9B2B2-411E-D371-EB3B-72A45F87A9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E4F91D7-0D5A-49E2-9ECB-AC0B6942C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2583862"/>
            <a:ext cx="4313435" cy="4262152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8C4DEAE-8387-4015-8AD7-BDD0B529D72E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accent3"/>
                </a:solidFill>
              </a:rPr>
              <a:t>关于世界</a:t>
            </a:r>
          </a:p>
          <a:p>
            <a:pPr lvl="1"/>
            <a:r>
              <a:rPr lang="en-US" altLang="zh-CN" sz="2400" dirty="0"/>
              <a:t>从句子知识库中推断该做什么。</a:t>
            </a:r>
          </a:p>
          <a:p>
            <a:endParaRPr lang="en-US" altLang="zh-CN" dirty="0"/>
          </a:p>
          <a:p>
            <a:r>
              <a:rPr lang="zh-CN" altLang="en-US" sz="2800" dirty="0">
                <a:solidFill>
                  <a:schemeClr val="accent3"/>
                </a:solidFill>
              </a:rPr>
              <a:t>乌普思</a:t>
            </a:r>
            <a:r>
              <a:rPr lang="en-US" altLang="zh-CN" sz="2800" dirty="0" err="1">
                <a:solidFill>
                  <a:schemeClr val="accent3"/>
                </a:solidFill>
              </a:rPr>
              <a:t>世界</a:t>
            </a:r>
            <a:endParaRPr lang="en-US" altLang="zh-CN" sz="2800" dirty="0">
              <a:solidFill>
                <a:schemeClr val="accent3"/>
              </a:solidFill>
            </a:endParaRPr>
          </a:p>
          <a:p>
            <a:pPr lvl="1"/>
            <a:r>
              <a:rPr lang="en-US" altLang="zh-CN" sz="2400" dirty="0"/>
              <a:t>我在哪里，</a:t>
            </a:r>
          </a:p>
          <a:p>
            <a:pPr lvl="1"/>
            <a:r>
              <a:rPr lang="en-US" altLang="zh-CN" sz="2400" dirty="0" err="1"/>
              <a:t>那个</a:t>
            </a:r>
            <a:r>
              <a:rPr lang="zh-CN" altLang="en-US" sz="2400" dirty="0"/>
              <a:t>空格</a:t>
            </a:r>
            <a:r>
              <a:rPr lang="en-US" altLang="zh-CN" sz="2400" dirty="0" err="1"/>
              <a:t>安全吗</a:t>
            </a:r>
            <a:r>
              <a:rPr lang="en-US" altLang="zh-CN" sz="2400" dirty="0"/>
              <a:t>？</a:t>
            </a:r>
          </a:p>
          <a:p>
            <a:pPr lvl="1"/>
            <a:r>
              <a:rPr lang="en-US" altLang="zh-CN" sz="2400" dirty="0"/>
              <a:t>……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DBE5A15C-52F8-E911-455D-64F82D1FC9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世界当前的状态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14" name="Footer Placeholder 2">
            <a:extLst>
              <a:ext uri="{FF2B5EF4-FFF2-40B4-BE49-F238E27FC236}">
                <a16:creationId xmlns:a16="http://schemas.microsoft.com/office/drawing/2014/main" id="{8EC9B2B2-411E-D371-EB3B-72A45F87A9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876E7AE2-5FB1-4FE3-AFCD-8E0C46DB95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Breezy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𝑩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𝒙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𝒚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⇔(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𝑷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𝒙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𝒚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+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⋁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𝑷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𝒙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𝒚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⋁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𝑷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𝒙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𝒚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⋁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𝑷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𝒙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+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𝒚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en-US" altLang="zh-CN" b="1" dirty="0">
                  <a:latin typeface="+mn-lt"/>
                  <a:cs typeface="+mn-ea"/>
                  <a:sym typeface="+mn-lt"/>
                </a:endParaRPr>
              </a:p>
              <a:p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Smelly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𝑺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𝒙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𝒚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⇔(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𝒙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𝒚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+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⋁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𝒙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𝒚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⋁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𝒙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𝒚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⋁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𝒙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+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𝒚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en-US" altLang="zh-CN" b="1" dirty="0">
                  <a:latin typeface="+mn-lt"/>
                  <a:cs typeface="+mn-ea"/>
                  <a:sym typeface="+mn-lt"/>
                </a:endParaRPr>
              </a:p>
              <a:p>
                <a:pPr lvl="1"/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876E7AE2-5FB1-4FE3-AFCD-8E0C46DB9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9A381099-0527-496A-97B5-DBD297CEC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2583862"/>
            <a:ext cx="4313435" cy="426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DBE5A15C-52F8-E911-455D-64F82D1FC9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世界当前的状态</a:t>
            </a:r>
            <a:endParaRPr lang="en-US" altLang="zh-CN" dirty="0">
              <a:solidFill>
                <a:srgbClr val="51522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914" name="Footer Placeholder 2">
            <a:extLst>
              <a:ext uri="{FF2B5EF4-FFF2-40B4-BE49-F238E27FC236}">
                <a16:creationId xmlns:a16="http://schemas.microsoft.com/office/drawing/2014/main" id="{8EC9B2B2-411E-D371-EB3B-72A45F87A9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06E28BF7-37E2-4FD8-B797-A37EBBBDB4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tx1"/>
                    </a:solidFill>
                    <a:latin typeface="Helvetica Regular" pitchFamily="2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At least one </a:t>
                </a:r>
                <a:r>
                  <a:rPr lang="en-US" altLang="zh-CN" dirty="0" err="1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wumpus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 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⋁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𝟐</m:t>
                        </m:r>
                      </m:sub>
                    </m:sSub>
                    <m:nary>
                      <m:naryPr>
                        <m:chr m:val="⋁"/>
                        <m:subHide m:val="on"/>
                        <m:supHide m:val="on"/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…</m:t>
                        </m:r>
                      </m:e>
                    </m:nary>
                    <m:r>
                      <a:rPr lang="en-US" altLang="zh-CN" b="1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⋁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𝟒</m:t>
                        </m:r>
                      </m:sub>
                    </m:sSub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r>
                  <a:rPr lang="en-US" altLang="zh-CN" dirty="0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At most one </a:t>
                </a:r>
                <a:r>
                  <a:rPr lang="en-US" altLang="zh-CN" dirty="0" err="1">
                    <a:solidFill>
                      <a:schemeClr val="accent3"/>
                    </a:solidFill>
                    <a:latin typeface="+mn-lt"/>
                    <a:cs typeface="+mn-ea"/>
                    <a:sym typeface="+mn-lt"/>
                  </a:rPr>
                  <a:t>wumpus</a:t>
                </a:r>
                <a:endParaRPr lang="en-US" altLang="zh-CN" dirty="0">
                  <a:solidFill>
                    <a:schemeClr val="accent3"/>
                  </a:solidFill>
                  <a:latin typeface="+mn-lt"/>
                  <a:cs typeface="+mn-ea"/>
                  <a:sym typeface="+mn-lt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¬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 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⋁¬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¬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 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⋁¬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𝟑</m:t>
                        </m:r>
                      </m:sub>
                    </m:sSub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r>
                  <a:rPr lang="en-US" altLang="zh-CN" dirty="0">
                    <a:latin typeface="+mn-lt"/>
                    <a:cs typeface="+mn-ea"/>
                    <a:sym typeface="+mn-lt"/>
                  </a:rPr>
                  <a:t>….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¬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 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𝟑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⋁¬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𝟒</m:t>
                        </m:r>
                      </m:sub>
                    </m:sSub>
                  </m:oMath>
                </a14:m>
                <a:endParaRPr lang="en-US" altLang="zh-CN" dirty="0">
                  <a:latin typeface="+mn-lt"/>
                  <a:cs typeface="+mn-ea"/>
                  <a:sym typeface="+mn-lt"/>
                </a:endParaRPr>
              </a:p>
              <a:p>
                <a:pPr lvl="1"/>
                <a:endParaRPr lang="zh-CN" altLang="en-US" dirty="0">
                  <a:latin typeface="+mn-lt"/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06E28BF7-37E2-4FD8-B797-A37EBBBDB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397001"/>
                <a:ext cx="11379200" cy="4729164"/>
              </a:xfrm>
              <a:prstGeom prst="rect">
                <a:avLst/>
              </a:prstGeom>
              <a:blipFill>
                <a:blip r:embed="rId3"/>
                <a:stretch>
                  <a:fillRect l="-965" t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C1BBEAF9-215C-4023-973A-B129BE0F4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2583862"/>
            <a:ext cx="4313435" cy="426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3CCF343B-4E0B-4154-8946-89391E5C2A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0868" y="2606037"/>
            <a:ext cx="7978032" cy="914400"/>
          </a:xfrm>
        </p:spPr>
        <p:txBody>
          <a:bodyPr>
            <a:normAutofit/>
          </a:bodyPr>
          <a:lstStyle/>
          <a:p>
            <a:pPr algn="r"/>
            <a:r>
              <a:rPr lang="zh-CN" altLang="en-US" b="0" dirty="0">
                <a:latin typeface="+mn-lt"/>
                <a:cs typeface="+mn-ea"/>
                <a:sym typeface="+mn-lt"/>
              </a:rPr>
              <a:t>感谢听讲！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0177348-87C4-D14A-BF21-D2D4AA7D72F8}"/>
              </a:ext>
            </a:extLst>
          </p:cNvPr>
          <p:cNvSpPr/>
          <p:nvPr/>
        </p:nvSpPr>
        <p:spPr>
          <a:xfrm>
            <a:off x="8043723" y="4972130"/>
            <a:ext cx="3003067" cy="61151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fld id="{BD616F6D-DDB6-4B4D-AE32-D7DF8DC7BBEA}" type="datetime1">
              <a:rPr lang="zh-CN" altLang="en-US" sz="2800" smtClean="0">
                <a:solidFill>
                  <a:schemeClr val="accent1"/>
                </a:solidFill>
                <a:cs typeface="+mn-ea"/>
                <a:sym typeface="+mn-lt"/>
              </a:rPr>
              <a:t>2026/4/13</a:t>
            </a:fld>
            <a:endParaRPr lang="zh-CN" altLang="en-US" sz="28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7" name="直接连接符 2">
            <a:extLst>
              <a:ext uri="{FF2B5EF4-FFF2-40B4-BE49-F238E27FC236}">
                <a16:creationId xmlns:a16="http://schemas.microsoft.com/office/drawing/2014/main" id="{9E6BA09A-7C02-5045-83C7-33B2F2774BE1}"/>
              </a:ext>
            </a:extLst>
          </p:cNvPr>
          <p:cNvCxnSpPr/>
          <p:nvPr/>
        </p:nvCxnSpPr>
        <p:spPr>
          <a:xfrm>
            <a:off x="11226555" y="4069080"/>
            <a:ext cx="0" cy="1404000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9564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sqd0itjx">
      <a:majorFont>
        <a:latin typeface="Arial" panose="020B06040202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qd0itjx">
      <a:majorFont>
        <a:latin typeface="Arial" panose="020B06040202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sqd0itjx">
      <a:majorFont>
        <a:latin typeface="Arial" panose="020B06040202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50778</TotalTime>
  <Words>6480</Words>
  <Application>Microsoft Office PowerPoint</Application>
  <PresentationFormat>宽屏</PresentationFormat>
  <Paragraphs>894</Paragraphs>
  <Slides>69</Slides>
  <Notes>69</Notes>
  <HiddenSlides>23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69</vt:i4>
      </vt:variant>
    </vt:vector>
  </HeadingPairs>
  <TitlesOfParts>
    <vt:vector size="82" baseType="lpstr">
      <vt:lpstr>Helvetica Regular</vt:lpstr>
      <vt:lpstr>等线</vt:lpstr>
      <vt:lpstr>微软雅黑</vt:lpstr>
      <vt:lpstr>Arial</vt:lpstr>
      <vt:lpstr>Calibri</vt:lpstr>
      <vt:lpstr>Cambria Math</vt:lpstr>
      <vt:lpstr>Helvetica</vt:lpstr>
      <vt:lpstr>Times New Roman</vt:lpstr>
      <vt:lpstr>Wingdings 2</vt:lpstr>
      <vt:lpstr>Office 主题​​</vt:lpstr>
      <vt:lpstr>1_OfficePLUS</vt:lpstr>
      <vt:lpstr>1_Office 主题​​</vt:lpstr>
      <vt:lpstr>2_Office 主题​​</vt:lpstr>
      <vt:lpstr>PowerPoint 演示文稿</vt:lpstr>
      <vt:lpstr>逻辑智能体</vt:lpstr>
      <vt:lpstr>逻辑智能体</vt:lpstr>
      <vt:lpstr>逻辑智能体</vt:lpstr>
      <vt:lpstr>基于知识的智能体</vt:lpstr>
      <vt:lpstr>基于知识的智能体</vt:lpstr>
      <vt:lpstr>基于知识的智能体</vt:lpstr>
      <vt:lpstr>基于知识的智能体</vt:lpstr>
      <vt:lpstr>逻辑智能体</vt:lpstr>
      <vt:lpstr>逻辑</vt:lpstr>
      <vt:lpstr>逻辑</vt:lpstr>
      <vt:lpstr>逻辑</vt:lpstr>
      <vt:lpstr>逻辑</vt:lpstr>
      <vt:lpstr>逻辑</vt:lpstr>
      <vt:lpstr>逻辑智能体</vt:lpstr>
      <vt:lpstr>命题逻辑</vt:lpstr>
      <vt:lpstr>命题逻辑</vt:lpstr>
      <vt:lpstr>命题逻辑</vt:lpstr>
      <vt:lpstr>命题逻辑</vt:lpstr>
      <vt:lpstr>乌普思世界</vt:lpstr>
      <vt:lpstr>乌普思世界</vt:lpstr>
      <vt:lpstr>命题逻辑</vt:lpstr>
      <vt:lpstr>一个简单的知识库用于乌普思世界</vt:lpstr>
      <vt:lpstr>一种简单的推理过程</vt:lpstr>
      <vt:lpstr>一种简单的推理过程</vt:lpstr>
      <vt:lpstr>一种简单的推理过程</vt:lpstr>
      <vt:lpstr>一种简单的推理过程</vt:lpstr>
      <vt:lpstr>逻辑智能体</vt:lpstr>
      <vt:lpstr>命题定理证明</vt:lpstr>
      <vt:lpstr>命题定理证明</vt:lpstr>
      <vt:lpstr>命题定理证明</vt:lpstr>
      <vt:lpstr>命题定理证明</vt:lpstr>
      <vt:lpstr>推理与证明</vt:lpstr>
      <vt:lpstr>推理与证明</vt:lpstr>
      <vt:lpstr>推理与证明</vt:lpstr>
      <vt:lpstr>推理与证明</vt:lpstr>
      <vt:lpstr>归结法证明</vt:lpstr>
      <vt:lpstr>归结法证明</vt:lpstr>
      <vt:lpstr>归结法证明</vt:lpstr>
      <vt:lpstr>归结法证明</vt:lpstr>
      <vt:lpstr>归结法证明</vt:lpstr>
      <vt:lpstr>合取范式</vt:lpstr>
      <vt:lpstr>合取范式</vt:lpstr>
      <vt:lpstr>一个求解算法</vt:lpstr>
      <vt:lpstr>一个求解算法</vt:lpstr>
      <vt:lpstr>一个求解算法</vt:lpstr>
      <vt:lpstr>一个求解算法</vt:lpstr>
      <vt:lpstr>一个求解算法</vt:lpstr>
      <vt:lpstr>Horn clauses and definite clauses</vt:lpstr>
      <vt:lpstr>Horn子句与限定子句</vt:lpstr>
      <vt:lpstr>Horn子句与限定子句</vt:lpstr>
      <vt:lpstr>Horn子句与限定子句</vt:lpstr>
      <vt:lpstr>Horn子句与限定子句</vt:lpstr>
      <vt:lpstr>Forward chaining and backward chaining</vt:lpstr>
      <vt:lpstr>前向链接</vt:lpstr>
      <vt:lpstr>前向链接</vt:lpstr>
      <vt:lpstr>前向链接</vt:lpstr>
      <vt:lpstr>前向链接</vt:lpstr>
      <vt:lpstr>前向链接</vt:lpstr>
      <vt:lpstr>前向链接</vt:lpstr>
      <vt:lpstr>前向链接</vt:lpstr>
      <vt:lpstr>反向链接</vt:lpstr>
      <vt:lpstr>反向链接</vt:lpstr>
      <vt:lpstr>逻辑智能体</vt:lpstr>
      <vt:lpstr>基于命题逻辑的智能体</vt:lpstr>
      <vt:lpstr>世界当前的状态</vt:lpstr>
      <vt:lpstr>世界当前的状态</vt:lpstr>
      <vt:lpstr>世界当前的状态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叶 丁</dc:creator>
  <cp:lastModifiedBy>Administrator</cp:lastModifiedBy>
  <cp:revision>3402</cp:revision>
  <dcterms:created xsi:type="dcterms:W3CDTF">2018-12-16T05:38:48Z</dcterms:created>
  <dcterms:modified xsi:type="dcterms:W3CDTF">2026-04-13T02:02:34Z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2019-04-13T06:32:31.4153976Z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d5228a63-67d4-4fd6-959f-d3cab9a76c24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