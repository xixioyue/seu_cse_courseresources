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72" r:id="rId5"/>
    <p:sldId id="275" r:id="rId6"/>
    <p:sldId id="326" r:id="rId7"/>
    <p:sldId id="300" r:id="rId8"/>
    <p:sldId id="299" r:id="rId9"/>
    <p:sldId id="297" r:id="rId10"/>
    <p:sldId id="298" r:id="rId11"/>
    <p:sldId id="295" r:id="rId12"/>
    <p:sldId id="296" r:id="rId13"/>
    <p:sldId id="274" r:id="rId14"/>
    <p:sldId id="279" r:id="rId15"/>
    <p:sldId id="353" r:id="rId16"/>
    <p:sldId id="351" r:id="rId17"/>
    <p:sldId id="352" r:id="rId18"/>
    <p:sldId id="258" r:id="rId19"/>
    <p:sldId id="259" r:id="rId20"/>
    <p:sldId id="278" r:id="rId21"/>
    <p:sldId id="260" r:id="rId22"/>
    <p:sldId id="261" r:id="rId23"/>
    <p:sldId id="262" r:id="rId24"/>
    <p:sldId id="280" r:id="rId25"/>
    <p:sldId id="276" r:id="rId26"/>
    <p:sldId id="270" r:id="rId27"/>
    <p:sldId id="293" r:id="rId28"/>
    <p:sldId id="321" r:id="rId29"/>
    <p:sldId id="372" r:id="rId30"/>
    <p:sldId id="324" r:id="rId31"/>
    <p:sldId id="325" r:id="rId32"/>
    <p:sldId id="269" r:id="rId33"/>
    <p:sldId id="271" r:id="rId34"/>
    <p:sldId id="294" r:id="rId35"/>
  </p:sldIdLst>
  <p:sldSz cx="9144000" cy="6858000" type="screen4x3"/>
  <p:notesSz cx="6858000" cy="9144000"/>
  <p:custDataLst>
    <p:tags r:id="rId39"/>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6"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228E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989"/>
    <p:restoredTop sz="79371"/>
  </p:normalViewPr>
  <p:slideViewPr>
    <p:cSldViewPr showGuides="1">
      <p:cViewPr>
        <p:scale>
          <a:sx n="82" d="100"/>
          <a:sy n="82" d="100"/>
        </p:scale>
        <p:origin x="-2454" y="-258"/>
      </p:cViewPr>
      <p:guideLst>
        <p:guide orient="horz" pos="2166"/>
        <p:guide pos="292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14.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e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39.wmf"/><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emf"/><Relationship Id="rId1" Type="http://schemas.openxmlformats.org/officeDocument/2006/relationships/image" Target="../media/image35.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7.wmf"/><Relationship Id="rId7" Type="http://schemas.openxmlformats.org/officeDocument/2006/relationships/image" Target="../media/image46.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50.wmf"/><Relationship Id="rId1" Type="http://schemas.openxmlformats.org/officeDocument/2006/relationships/image" Target="../media/image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dirty="0">
                <a:latin typeface="Times New Roman" panose="02020603050405020304" pitchFamily="18" charset="0"/>
                <a:ea typeface="宋体" panose="02010600030101010101"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4098" name="Rectangle 2"/>
          <p:cNvSpPr>
            <a:spLocks noTextEdit="1"/>
          </p:cNvSpPr>
          <p:nvPr>
            <p:ph type="sldImg"/>
          </p:nvPr>
        </p:nvSpPr>
        <p:spPr/>
      </p:sp>
      <p:sp>
        <p:nvSpPr>
          <p:cNvPr id="4099"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6146" name="Rectangle 2"/>
          <p:cNvSpPr>
            <a:spLocks noTextEdit="1"/>
          </p:cNvSpPr>
          <p:nvPr>
            <p:ph type="sldImg"/>
          </p:nvPr>
        </p:nvSpPr>
        <p:spPr/>
      </p:sp>
      <p:sp>
        <p:nvSpPr>
          <p:cNvPr id="614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8194" name="Rectangle 2"/>
          <p:cNvSpPr>
            <a:spLocks noTextEdit="1"/>
          </p:cNvSpPr>
          <p:nvPr>
            <p:ph type="sldImg"/>
          </p:nvPr>
        </p:nvSpPr>
        <p:spPr/>
      </p:sp>
      <p:sp>
        <p:nvSpPr>
          <p:cNvPr id="819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幻灯片图像占位符 1"/>
          <p:cNvSpPr>
            <a:spLocks noGrp="1" noRot="1" noChangeAspect="1" noTextEdit="1"/>
          </p:cNvSpPr>
          <p:nvPr>
            <p:ph type="sldImg"/>
          </p:nvPr>
        </p:nvSpPr>
        <p:spPr/>
      </p:sp>
      <p:sp>
        <p:nvSpPr>
          <p:cNvPr id="12290" name="备注占位符 2"/>
          <p:cNvSpPr>
            <a:spLocks noGrp="1"/>
          </p:cNvSpPr>
          <p:nvPr>
            <p:ph type="body"/>
          </p:nvPr>
        </p:nvSpPr>
        <p:spPr/>
        <p:txBody>
          <a:bodyPr wrap="square" lIns="91440" tIns="45720" rIns="91440" bIns="45720" anchor="t" anchorCtr="0"/>
          <a:p>
            <a:pPr lvl="0"/>
            <a:endParaRPr lang="zh-CN" altLang="en-US" dirty="0"/>
          </a:p>
        </p:txBody>
      </p:sp>
      <p:sp>
        <p:nvSpPr>
          <p:cNvPr id="1229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幻灯片图像占位符 1"/>
          <p:cNvSpPr>
            <a:spLocks noGrp="1" noRot="1" noChangeAspect="1" noTextEdit="1"/>
          </p:cNvSpPr>
          <p:nvPr>
            <p:ph type="sldImg"/>
          </p:nvPr>
        </p:nvSpPr>
        <p:spPr/>
      </p:sp>
      <p:sp>
        <p:nvSpPr>
          <p:cNvPr id="14338" name="备注占位符 2"/>
          <p:cNvSpPr>
            <a:spLocks noGrp="1"/>
          </p:cNvSpPr>
          <p:nvPr>
            <p:ph type="body"/>
          </p:nvPr>
        </p:nvSpPr>
        <p:spPr/>
        <p:txBody>
          <a:bodyPr wrap="square" lIns="91440" tIns="45720" rIns="91440" bIns="45720" anchor="t" anchorCtr="0"/>
          <a:p>
            <a:pPr lvl="0"/>
            <a:r>
              <a:rPr lang="zh-CN" altLang="en-US" dirty="0"/>
              <a:t>发射端为一普通的商用路由器，简称为</a:t>
            </a:r>
            <a:r>
              <a:rPr lang="en-US" altLang="zh-CN" dirty="0"/>
              <a:t>AP</a:t>
            </a:r>
            <a:r>
              <a:rPr lang="zh-CN" altLang="en-US" dirty="0"/>
              <a:t>（</a:t>
            </a:r>
            <a:r>
              <a:rPr lang="en-US" altLang="zh-CN" dirty="0"/>
              <a:t>Access Point</a:t>
            </a:r>
            <a:r>
              <a:rPr lang="zh-CN" altLang="en-US" dirty="0"/>
              <a:t>）。</a:t>
            </a:r>
            <a:endParaRPr lang="en-US" altLang="zh-CN" dirty="0"/>
          </a:p>
          <a:p>
            <a:pPr lvl="0"/>
            <a:r>
              <a:rPr lang="zh-CN" altLang="en-US" dirty="0"/>
              <a:t>接收端为装有无线网卡的台式电脑，简称为</a:t>
            </a:r>
            <a:r>
              <a:rPr lang="en-US" altLang="zh-CN" dirty="0"/>
              <a:t>DP</a:t>
            </a:r>
            <a:r>
              <a:rPr lang="zh-CN" altLang="en-US" dirty="0"/>
              <a:t>（</a:t>
            </a:r>
            <a:r>
              <a:rPr lang="en-US" altLang="zh-CN" dirty="0"/>
              <a:t>Detect Point</a:t>
            </a:r>
            <a:r>
              <a:rPr lang="zh-CN" altLang="en-US" dirty="0"/>
              <a:t>）。</a:t>
            </a:r>
            <a:endParaRPr lang="zh-CN" altLang="en-US" dirty="0"/>
          </a:p>
        </p:txBody>
      </p:sp>
      <p:sp>
        <p:nvSpPr>
          <p:cNvPr id="1433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幻灯片图像占位符 1"/>
          <p:cNvSpPr>
            <a:spLocks noGrp="1" noRot="1" noChangeAspect="1" noTextEdit="1"/>
          </p:cNvSpPr>
          <p:nvPr>
            <p:ph type="sldImg"/>
          </p:nvPr>
        </p:nvSpPr>
        <p:spPr/>
      </p:sp>
      <p:sp>
        <p:nvSpPr>
          <p:cNvPr id="16386" name="备注占位符 2"/>
          <p:cNvSpPr>
            <a:spLocks noGrp="1"/>
          </p:cNvSpPr>
          <p:nvPr>
            <p:ph type="body"/>
          </p:nvPr>
        </p:nvSpPr>
        <p:spPr/>
        <p:txBody>
          <a:bodyPr wrap="square" lIns="91440" tIns="45720" rIns="91440" bIns="45720" anchor="t" anchorCtr="0"/>
          <a:p>
            <a:pPr lvl="0"/>
            <a:r>
              <a:rPr lang="en-US" altLang="zh-CN" dirty="0">
                <a:solidFill>
                  <a:srgbClr val="FF0000"/>
                </a:solidFill>
              </a:rPr>
              <a:t>CSI</a:t>
            </a:r>
            <a:r>
              <a:rPr lang="zh-CN" altLang="en-US" dirty="0">
                <a:solidFill>
                  <a:srgbClr val="FF0000"/>
                </a:solidFill>
              </a:rPr>
              <a:t> </a:t>
            </a:r>
            <a:r>
              <a:rPr lang="en-US" altLang="zh-CN" dirty="0"/>
              <a:t>(Channel State Information)</a:t>
            </a:r>
            <a:r>
              <a:rPr lang="zh-CN" altLang="en-US" dirty="0"/>
              <a:t> </a:t>
            </a:r>
            <a:r>
              <a:rPr lang="en-US" altLang="zh-CN" dirty="0"/>
              <a:t>--</a:t>
            </a:r>
            <a:r>
              <a:rPr lang="zh-CN" altLang="en-US" dirty="0"/>
              <a:t> </a:t>
            </a:r>
            <a:r>
              <a:rPr lang="zh-CN" altLang="en-US" b="1" dirty="0">
                <a:solidFill>
                  <a:srgbClr val="FF0000"/>
                </a:solidFill>
              </a:rPr>
              <a:t>信道状态信息，</a:t>
            </a:r>
            <a:r>
              <a:rPr lang="zh-CN" altLang="en-US" dirty="0">
                <a:solidFill>
                  <a:srgbClr val="FF0000"/>
                </a:solidFill>
              </a:rPr>
              <a:t>包含信号的振幅和相位信息，通过捕捉人体手势在环境中移动导致</a:t>
            </a:r>
            <a:r>
              <a:rPr lang="en-US" altLang="zh-CN" dirty="0">
                <a:solidFill>
                  <a:srgbClr val="FF0000"/>
                </a:solidFill>
              </a:rPr>
              <a:t>wifi</a:t>
            </a:r>
            <a:r>
              <a:rPr lang="zh-CN" altLang="en-US" dirty="0">
                <a:solidFill>
                  <a:srgbClr val="FF0000"/>
                </a:solidFill>
              </a:rPr>
              <a:t>信号变化来实现手势的识别研究。</a:t>
            </a:r>
            <a:endParaRPr lang="en-US" altLang="zh-CN" dirty="0">
              <a:solidFill>
                <a:srgbClr val="FF0000"/>
              </a:solidFill>
            </a:endParaRPr>
          </a:p>
          <a:p>
            <a:pPr lvl="0"/>
            <a:r>
              <a:rPr lang="en-US" altLang="zh-CN" dirty="0">
                <a:solidFill>
                  <a:srgbClr val="FF0000"/>
                </a:solidFill>
              </a:rPr>
              <a:t>CEC(Context-based Error Correction)</a:t>
            </a:r>
            <a:r>
              <a:rPr lang="zh-CN" altLang="en-US" b="1" dirty="0">
                <a:solidFill>
                  <a:srgbClr val="FF0000"/>
                </a:solidFill>
              </a:rPr>
              <a:t>上下文纠错技术</a:t>
            </a:r>
            <a:endParaRPr lang="zh-CN" altLang="en-US" b="1" dirty="0"/>
          </a:p>
        </p:txBody>
      </p:sp>
      <p:sp>
        <p:nvSpPr>
          <p:cNvPr id="1638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0482" name="Rectangle 2"/>
          <p:cNvSpPr>
            <a:spLocks noTextEdit="1"/>
          </p:cNvSpPr>
          <p:nvPr>
            <p:ph type="sldImg"/>
          </p:nvPr>
        </p:nvSpPr>
        <p:spPr/>
      </p:sp>
      <p:sp>
        <p:nvSpPr>
          <p:cNvPr id="2048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2530" name="Rectangle 2"/>
          <p:cNvSpPr>
            <a:spLocks noTextEdit="1"/>
          </p:cNvSpPr>
          <p:nvPr>
            <p:ph type="sldImg"/>
          </p:nvPr>
        </p:nvSpPr>
        <p:spPr/>
      </p:sp>
      <p:sp>
        <p:nvSpPr>
          <p:cNvPr id="22531" name="Rectangle 3"/>
          <p:cNvSpPr>
            <a:spLocks noGrp="1"/>
          </p:cNvSpPr>
          <p:nvPr>
            <p:ph type="body"/>
          </p:nvPr>
        </p:nvSpPr>
        <p:spPr/>
        <p:txBody>
          <a:bodyPr wrap="square" lIns="91440" tIns="45720" rIns="91440" bIns="45720" anchor="t" anchorCtr="0"/>
          <a:p>
            <a:pPr lvl="0" eaLnBrk="1" hangingPunct="1"/>
            <a:r>
              <a:rPr lang="zh-CN" altLang="en-US" sz="1600" b="1" dirty="0">
                <a:solidFill>
                  <a:srgbClr val="0000FF"/>
                </a:solidFill>
              </a:rPr>
              <a:t>有关</a:t>
            </a:r>
            <a:r>
              <a:rPr lang="zh-CN" altLang="en-US" sz="1400" b="1" dirty="0"/>
              <a:t>信息的获取、传输、处理、存储与再现的基本理论和相关技术</a:t>
            </a:r>
            <a:r>
              <a:rPr lang="en-US" altLang="zh-CN" sz="1400" b="1" dirty="0"/>
              <a:t>,</a:t>
            </a:r>
            <a:r>
              <a:rPr lang="zh-CN" altLang="en-US" sz="1400" b="1" dirty="0"/>
              <a:t>对几乎所有的工程技术人员来说</a:t>
            </a:r>
            <a:r>
              <a:rPr lang="en-US" altLang="zh-CN" sz="1400" b="1" dirty="0"/>
              <a:t>,</a:t>
            </a:r>
            <a:r>
              <a:rPr lang="zh-CN" altLang="en-US" sz="1400" b="1" dirty="0"/>
              <a:t>已成为不可缺少的必备知识。</a:t>
            </a:r>
            <a:endParaRPr lang="en-US" altLang="zh-CN" sz="1400" b="1" dirty="0"/>
          </a:p>
          <a:p>
            <a:pPr lvl="0" eaLnBrk="1" hangingPunct="1"/>
            <a:endParaRPr lang="zh-CN" altLang="zh-CN" sz="1400" dirty="0"/>
          </a:p>
          <a:p>
            <a:pPr lvl="0" eaLnBrk="1" hangingPunct="1"/>
            <a:r>
              <a:rPr lang="zh-CN" altLang="en-US" sz="1400" dirty="0"/>
              <a:t>不同邻域有不同的具体问题</a:t>
            </a:r>
            <a:r>
              <a:rPr lang="en-US" altLang="zh-CN" sz="1400" dirty="0"/>
              <a:t>,</a:t>
            </a:r>
            <a:r>
              <a:rPr lang="zh-CN" altLang="en-US" sz="1400" dirty="0"/>
              <a:t>但信息的传输都是其中的主要任务</a:t>
            </a:r>
            <a:r>
              <a:rPr lang="en-US" altLang="zh-CN" sz="1400" dirty="0"/>
              <a:t>.</a:t>
            </a:r>
            <a:r>
              <a:rPr lang="zh-CN" altLang="en-US" sz="1400" dirty="0"/>
              <a:t>为了更好地完成信息传递的任务</a:t>
            </a:r>
            <a:r>
              <a:rPr lang="en-US" altLang="zh-CN" sz="1400" dirty="0"/>
              <a:t>,</a:t>
            </a:r>
            <a:r>
              <a:rPr lang="zh-CN" altLang="en-US" sz="1400" dirty="0"/>
              <a:t>需要将信息进行必要的变换和处理</a:t>
            </a:r>
            <a:r>
              <a:rPr lang="en-US" altLang="zh-CN" sz="1400" dirty="0"/>
              <a:t>.</a:t>
            </a:r>
            <a:endParaRPr lang="zh-CN" altLang="zh-CN" sz="1400" dirty="0"/>
          </a:p>
          <a:p>
            <a:pPr lvl="0" eaLnBrk="1" hangingPunct="1"/>
            <a:endParaRPr lang="en-US" altLang="zh-CN" sz="1400" b="1" dirty="0">
              <a:solidFill>
                <a:srgbClr val="0000FF"/>
              </a:solidFill>
            </a:endParaRPr>
          </a:p>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4578" name="Rectangle 2"/>
          <p:cNvSpPr>
            <a:spLocks noTextEdit="1"/>
          </p:cNvSpPr>
          <p:nvPr>
            <p:ph type="sldImg"/>
          </p:nvPr>
        </p:nvSpPr>
        <p:spPr>
          <a:solidFill>
            <a:srgbClr val="FFFFFF"/>
          </a:solidFill>
        </p:spPr>
      </p:sp>
      <p:sp>
        <p:nvSpPr>
          <p:cNvPr id="24579"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zh-CN"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6626" name="Rectangle 2"/>
          <p:cNvSpPr>
            <a:spLocks noTextEdit="1"/>
          </p:cNvSpPr>
          <p:nvPr>
            <p:ph type="sldImg"/>
          </p:nvPr>
        </p:nvSpPr>
        <p:spPr>
          <a:solidFill>
            <a:srgbClr val="FFFFFF"/>
          </a:solidFill>
        </p:spPr>
      </p:sp>
      <p:sp>
        <p:nvSpPr>
          <p:cNvPr id="26627"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r>
              <a:rPr lang="zh-CN" altLang="en-US" dirty="0"/>
              <a:t>为了有效地传播和利用消息，常常需要将消息转换成便于传输和处理的信号。</a:t>
            </a:r>
            <a:endParaRPr lang="zh-CN" altLang="en-US" dirty="0"/>
          </a:p>
          <a:p>
            <a:pPr lvl="0" eaLnBrk="1" hangingPunct="1"/>
            <a:r>
              <a:rPr lang="zh-CN" altLang="en-US" dirty="0"/>
              <a:t>信号是消息的载体，一般表现为随时间变化的某种物理量。根据物理量的不同特性，可把信号区分为声信号、光信号、电信号等不同类别。</a:t>
            </a:r>
            <a:endParaRPr lang="zh-CN" altLang="en-US" dirty="0"/>
          </a:p>
          <a:p>
            <a:pPr lvl="0" eaLnBrk="1" hangingPunct="1"/>
            <a:r>
              <a:rPr lang="zh-CN" altLang="en-US" dirty="0"/>
              <a:t>在各种信号中，电信号是一种最便于传输、控制与处理的信号。同时，在实际应用中，许多非电信号常可通过适当的传感器变换成电信号。因此，研究电信号具有重要意义。</a:t>
            </a:r>
            <a:endParaRPr lang="zh-CN" altLang="en-US" dirty="0"/>
          </a:p>
          <a:p>
            <a:pPr lvl="0" eaLnBrk="1" hangingPunct="1"/>
            <a:r>
              <a:rPr lang="zh-CN" altLang="en-US" dirty="0"/>
              <a:t>在本课程中，若无特殊说明，信号一词均指电信号。</a:t>
            </a:r>
            <a:r>
              <a:rPr lang="zh-CN" altLang="en-US" b="1" dirty="0">
                <a:solidFill>
                  <a:srgbClr val="FF0000"/>
                </a:solidFill>
              </a:rPr>
              <a:t>信号举例 </a:t>
            </a:r>
            <a:endParaRPr lang="zh-CN" altLang="en-US" b="1" dirty="0">
              <a:solidFill>
                <a:srgbClr val="FF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28674" name="Rectangle 2"/>
          <p:cNvSpPr>
            <a:spLocks noTextEdit="1"/>
          </p:cNvSpPr>
          <p:nvPr>
            <p:ph type="sldImg"/>
          </p:nvPr>
        </p:nvSpPr>
        <p:spPr/>
      </p:sp>
      <p:sp>
        <p:nvSpPr>
          <p:cNvPr id="28675" name="Rectangle 3"/>
          <p:cNvSpPr>
            <a:spLocks noGrp="1"/>
          </p:cNvSpPr>
          <p:nvPr>
            <p:ph type="body"/>
          </p:nvPr>
        </p:nvSpPr>
        <p:spPr/>
        <p:txBody>
          <a:bodyPr wrap="square" lIns="91440" tIns="45720" rIns="91440" bIns="45720" anchor="t" anchorCtr="0"/>
          <a:p>
            <a:pPr lvl="0" eaLnBrk="1" hangingPunct="1"/>
            <a:r>
              <a:rPr lang="zh-CN" altLang="en-US" b="1" dirty="0"/>
              <a:t>信号的描述</a:t>
            </a:r>
            <a:endParaRPr lang="zh-CN" altLang="en-US" b="1" dirty="0"/>
          </a:p>
          <a:p>
            <a:pPr lvl="0" eaLnBrk="1" hangingPunct="1"/>
            <a:r>
              <a:rPr lang="zh-CN" altLang="en-US" b="1" dirty="0"/>
              <a:t>物理上： 信号是信息寄寓变化的形式；数学上： 信号是一个或多个变量的函数；形态上：信号表现为一种波形</a:t>
            </a:r>
            <a:endParaRPr lang="zh-CN" altLang="en-US" b="1" dirty="0"/>
          </a:p>
          <a:p>
            <a:pPr lvl="0" eaLnBrk="1" hangingPunct="1"/>
            <a:r>
              <a:rPr lang="zh-CN" altLang="en-US" b="1" dirty="0"/>
              <a:t>自变量：时间、位移、周期、频率、幅度、相位</a:t>
            </a:r>
            <a:endParaRPr lang="zh-CN" altLang="en-US" b="1" dirty="0"/>
          </a:p>
          <a:p>
            <a:pPr lvl="0" eaLnBrk="1" hangingPunct="1"/>
            <a:r>
              <a:rPr lang="zh-CN" altLang="en-US" b="1" dirty="0"/>
              <a:t>分类：连续和离散（计算机）；周期和非周期（股票）；功率和能量（雷达）</a:t>
            </a:r>
            <a:endParaRPr lang="zh-CN" altLang="en-US" b="1" dirty="0"/>
          </a:p>
          <a:p>
            <a:pPr lvl="0" eaLnBrk="1" hangingPunct="1"/>
            <a:r>
              <a:rPr lang="zh-CN" altLang="en-US" b="1" dirty="0"/>
              <a:t>分析方法：时域和频域</a:t>
            </a:r>
            <a:endParaRPr lang="zh-CN" altLang="en-US" b="1" dirty="0"/>
          </a:p>
          <a:p>
            <a:pPr lvl="0" eaLnBrk="1" hangingPunct="1"/>
            <a:endParaRPr lang="zh-CN" altLang="en-US" b="1" dirty="0"/>
          </a:p>
          <a:p>
            <a:pPr lvl="0" eaLnBrk="1" hangingPunct="1"/>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0722" name="Rectangle 2"/>
          <p:cNvSpPr>
            <a:spLocks noTextEdit="1"/>
          </p:cNvSpPr>
          <p:nvPr>
            <p:ph type="sldImg"/>
          </p:nvPr>
        </p:nvSpPr>
        <p:spPr>
          <a:solidFill>
            <a:srgbClr val="FFFFFF"/>
          </a:solidFill>
        </p:spPr>
      </p:sp>
      <p:sp>
        <p:nvSpPr>
          <p:cNvPr id="30723" name="Rectangle 3"/>
          <p:cNvSpPr/>
          <p:nvPr>
            <p:ph type="body"/>
          </p:nvPr>
        </p:nvSpPr>
        <p:spPr>
          <a:solidFill>
            <a:srgbClr val="FFFFFF"/>
          </a:solidFill>
          <a:ln>
            <a:solidFill>
              <a:srgbClr val="000000"/>
            </a:solidFill>
            <a:miter/>
          </a:ln>
        </p:spPr>
        <p:txBody>
          <a:bodyPr wrap="square" lIns="91440" tIns="45720" rIns="91440" bIns="45720" anchor="t" anchorCtr="0"/>
          <a:p>
            <a:pPr lvl="0">
              <a:spcBef>
                <a:spcPct val="50000"/>
              </a:spcBef>
            </a:pPr>
            <a:r>
              <a:rPr lang="zh-CN" altLang="en-US" sz="2400" dirty="0">
                <a:latin typeface="宋体" panose="02010600030101010101" pitchFamily="2" charset="-122"/>
              </a:rPr>
              <a:t>本课程中主要研究确定性信号</a:t>
            </a:r>
            <a:r>
              <a:rPr lang="en-US" altLang="zh-CN" sz="2400" dirty="0">
                <a:latin typeface="宋体" panose="02010600030101010101" pitchFamily="2" charset="-122"/>
              </a:rPr>
              <a:t>;</a:t>
            </a:r>
            <a:r>
              <a:rPr lang="zh-CN" altLang="en-US" sz="2400" dirty="0">
                <a:latin typeface="宋体" panose="02010600030101010101" pitchFamily="2" charset="-122"/>
              </a:rPr>
              <a:t>不确定信号：彩票，彩票的中奖号码就是时间的离散信号</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2770" name="Rectangle 2"/>
          <p:cNvSpPr>
            <a:spLocks noTextEdit="1"/>
          </p:cNvSpPr>
          <p:nvPr>
            <p:ph type="sldImg"/>
          </p:nvPr>
        </p:nvSpPr>
        <p:spPr/>
      </p:sp>
      <p:sp>
        <p:nvSpPr>
          <p:cNvPr id="32771" name="Rectangle 3"/>
          <p:cNvSpPr>
            <a:spLocks noGrp="1"/>
          </p:cNvSpPr>
          <p:nvPr>
            <p:ph type="body"/>
          </p:nvPr>
        </p:nvSpPr>
        <p:spPr/>
        <p:txBody>
          <a:bodyPr wrap="square" lIns="91440" tIns="45720" rIns="91440" bIns="45720" anchor="t" anchorCtr="0"/>
          <a:p>
            <a:pPr lvl="0" eaLnBrk="1" hangingPunct="1"/>
            <a:r>
              <a:rPr lang="zh-CN" altLang="en-US" dirty="0"/>
              <a:t>场景：香车美女，我们需要采集的信号是汽车某一系统的振动波形</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4818" name="Rectangle 2"/>
          <p:cNvSpPr>
            <a:spLocks noTextEdit="1"/>
          </p:cNvSpPr>
          <p:nvPr>
            <p:ph type="sldImg"/>
          </p:nvPr>
        </p:nvSpPr>
        <p:spPr>
          <a:solidFill>
            <a:srgbClr val="FFFFFF"/>
          </a:solidFill>
        </p:spPr>
      </p:sp>
      <p:sp>
        <p:nvSpPr>
          <p:cNvPr id="34819"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r>
              <a:rPr lang="zh-CN" altLang="en-US" dirty="0"/>
              <a:t>时限信号：在一段时间存在的信号，一定是能量信号</a:t>
            </a:r>
            <a:endParaRPr lang="zh-CN" altLang="en-US" dirty="0"/>
          </a:p>
          <a:p>
            <a:pPr lvl="0" eaLnBrk="1" hangingPunct="1"/>
            <a:r>
              <a:rPr lang="zh-CN" altLang="en-US" dirty="0"/>
              <a:t>非时限信号：可能能量（</a:t>
            </a:r>
            <a:r>
              <a:rPr lang="en-US" altLang="zh-CN" dirty="0"/>
              <a:t>e</a:t>
            </a:r>
            <a:r>
              <a:rPr lang="zh-CN" altLang="en-US" baseline="30000" dirty="0"/>
              <a:t>－</a:t>
            </a:r>
            <a:r>
              <a:rPr lang="en-US" altLang="zh-CN" baseline="30000" dirty="0"/>
              <a:t>t</a:t>
            </a:r>
            <a:r>
              <a:rPr lang="zh-CN" altLang="en-US" dirty="0"/>
              <a:t>），也可能功率信号（阶跃）</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6866" name="Rectangle 2"/>
          <p:cNvSpPr>
            <a:spLocks noTextEdit="1"/>
          </p:cNvSpPr>
          <p:nvPr>
            <p:ph type="sldImg"/>
          </p:nvPr>
        </p:nvSpPr>
        <p:spPr/>
      </p:sp>
      <p:sp>
        <p:nvSpPr>
          <p:cNvPr id="3686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38914" name="Rectangle 2"/>
          <p:cNvSpPr>
            <a:spLocks noTextEdit="1"/>
          </p:cNvSpPr>
          <p:nvPr>
            <p:ph type="sldImg"/>
          </p:nvPr>
        </p:nvSpPr>
        <p:spPr/>
      </p:sp>
      <p:sp>
        <p:nvSpPr>
          <p:cNvPr id="38915"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40962" name="Rectangle 2"/>
          <p:cNvSpPr>
            <a:spLocks noTextEdit="1"/>
          </p:cNvSpPr>
          <p:nvPr>
            <p:ph type="sldImg"/>
          </p:nvPr>
        </p:nvSpPr>
        <p:spPr>
          <a:solidFill>
            <a:srgbClr val="FFFFFF"/>
          </a:solidFill>
        </p:spPr>
      </p:sp>
      <p:sp>
        <p:nvSpPr>
          <p:cNvPr id="40963"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r>
              <a:rPr lang="zh-CN" altLang="en-US" dirty="0"/>
              <a:t>线性时不变</a:t>
            </a:r>
            <a:r>
              <a:rPr lang="en-US" altLang="zh-CN" dirty="0"/>
              <a:t>(Linear Time Invariant) </a:t>
            </a:r>
            <a:endParaRPr lang="en-US" altLang="zh-CN" dirty="0"/>
          </a:p>
          <a:p>
            <a:pPr lvl="0" algn="just" eaLnBrk="1" hangingPunct="1"/>
            <a:r>
              <a:rPr lang="zh-CN" altLang="en-US" dirty="0"/>
              <a:t>线性系统理论成熟，体系完整，是解决其它系统的理论基础。</a:t>
            </a:r>
            <a:endParaRPr lang="zh-CN" altLang="en-US" dirty="0"/>
          </a:p>
          <a:p>
            <a:pPr lvl="0" eaLnBrk="1" hangingPunct="1"/>
            <a:r>
              <a:rPr lang="zh-CN" altLang="en-US" dirty="0">
                <a:latin typeface="宋体" panose="02010600030101010101" pitchFamily="2" charset="-122"/>
              </a:rPr>
              <a:t>非线性系统情况复杂，没有成熟的体系和理论，难于分析，以往大多用线性系统近</a:t>
            </a:r>
            <a:r>
              <a:rPr lang="zh-CN" altLang="en-US" dirty="0"/>
              <a:t>似分析。但是，它表现出一些非常独特、与线性系统不同的特性（如混沌，分形，奇怪吸引子，孤子等），成为当今人们研究的热点。</a:t>
            </a:r>
            <a:endParaRPr lang="zh-CN" altLang="en-US" dirty="0"/>
          </a:p>
          <a:p>
            <a:pPr lvl="0" eaLnBrk="1" hangingPunct="1"/>
            <a:r>
              <a:rPr lang="zh-CN" altLang="en-US" dirty="0"/>
              <a:t>线性系统可以用线性微分方程或差分方程描述；而非线性系统可以用非线性微分方程或差分方程描述。集总参数、线性时不变系统</a:t>
            </a:r>
            <a:r>
              <a:rPr lang="en-US" altLang="zh-CN" dirty="0"/>
              <a:t>.</a:t>
            </a:r>
            <a:endParaRPr lang="zh-CN" altLang="en-US" dirty="0"/>
          </a:p>
          <a:p>
            <a:pPr lvl="0" eaLnBrk="1" hangingPunct="1"/>
            <a:endParaRPr lang="zh-CN" altLang="en-US" dirty="0"/>
          </a:p>
          <a:p>
            <a:pPr lvl="0" eaLnBrk="1" hangingPunct="1"/>
            <a:r>
              <a:rPr lang="zh-CN" altLang="en-US" dirty="0"/>
              <a:t>                                   </a:t>
            </a:r>
            <a:endParaRPr lang="zh-CN" altLang="en-US" dirty="0"/>
          </a:p>
          <a:p>
            <a:pPr lvl="0" eaLnBrk="1" hangingPunct="1"/>
            <a:endParaRPr lang="zh-CN" altLang="en-US" dirty="0"/>
          </a:p>
          <a:p>
            <a:pPr lvl="0" eaLnBrk="1" hangingPunct="1"/>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43010" name="Rectangle 2"/>
          <p:cNvSpPr>
            <a:spLocks noTextEdit="1"/>
          </p:cNvSpPr>
          <p:nvPr>
            <p:ph type="sldImg"/>
          </p:nvPr>
        </p:nvSpPr>
        <p:spPr/>
      </p:sp>
      <p:sp>
        <p:nvSpPr>
          <p:cNvPr id="4301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49154" name="Rectangle 2"/>
          <p:cNvSpPr>
            <a:spLocks noTextEdit="1"/>
          </p:cNvSpPr>
          <p:nvPr>
            <p:ph type="sldImg"/>
          </p:nvPr>
        </p:nvSpPr>
        <p:spPr>
          <a:solidFill>
            <a:srgbClr val="FFFFFF"/>
          </a:solidFill>
        </p:spPr>
      </p:sp>
      <p:sp>
        <p:nvSpPr>
          <p:cNvPr id="49155"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r>
              <a:rPr lang="zh-CN" altLang="en-US" dirty="0"/>
              <a:t>打仗都不知道敌人在哪</a:t>
            </a:r>
            <a:endParaRPr lang="zh-CN" altLang="en-US" dirty="0"/>
          </a:p>
          <a:p>
            <a:pPr lvl="0" algn="just" eaLnBrk="1" hangingPunct="1"/>
            <a:r>
              <a:rPr lang="zh-CN" altLang="en-US" dirty="0"/>
              <a:t>以上内容中，</a:t>
            </a:r>
            <a:r>
              <a:rPr lang="en-US" altLang="zh-CN" dirty="0"/>
              <a:t>1</a:t>
            </a:r>
            <a:r>
              <a:rPr lang="zh-CN" altLang="en-US" dirty="0"/>
              <a:t>和</a:t>
            </a:r>
            <a:r>
              <a:rPr lang="en-US" altLang="zh-CN" dirty="0"/>
              <a:t>2</a:t>
            </a:r>
            <a:r>
              <a:rPr lang="zh-CN" altLang="en-US" dirty="0"/>
              <a:t>项属于系统分析，是本课程研究的重点；</a:t>
            </a:r>
            <a:r>
              <a:rPr lang="en-US" altLang="zh-CN" dirty="0"/>
              <a:t>3</a:t>
            </a:r>
            <a:r>
              <a:rPr lang="zh-CN" altLang="en-US" dirty="0"/>
              <a:t>项属于系统综合，系统设计（滤波器设计）。</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51202" name="Rectangle 2"/>
          <p:cNvSpPr>
            <a:spLocks noTextEdit="1"/>
          </p:cNvSpPr>
          <p:nvPr>
            <p:ph type="sldImg"/>
          </p:nvPr>
        </p:nvSpPr>
        <p:spPr>
          <a:solidFill>
            <a:srgbClr val="FFFFFF"/>
          </a:solidFill>
        </p:spPr>
      </p:sp>
      <p:sp>
        <p:nvSpPr>
          <p:cNvPr id="51203"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r>
              <a:rPr lang="zh-CN" altLang="en-US" dirty="0"/>
              <a:t>系统分析的主要任务是分析给定系统在激励作用下产生的响应。其分析过程包括建立系统模型；用数学方法求解由系统模型建立的系统方程，求得系统的响应。必要时，对求解结果给出物理解释，赋予一定的物理意义。就本书所研究</a:t>
            </a:r>
            <a:r>
              <a:rPr lang="en-US" altLang="zh-CN" dirty="0"/>
              <a:t>LTI</a:t>
            </a:r>
            <a:r>
              <a:rPr lang="zh-CN" altLang="en-US" dirty="0"/>
              <a:t>系统而言，由输入输出模型建立的系统方程是一个线性常系数的微分方程或差分方程；由状态空间模型建立的状态方程</a:t>
            </a:r>
            <a:r>
              <a:rPr lang="en-US" altLang="zh-CN" dirty="0"/>
              <a:t>.</a:t>
            </a:r>
            <a:endParaRPr lang="zh-CN" altLang="en-US" dirty="0"/>
          </a:p>
          <a:p>
            <a:pPr lvl="0" eaLnBrk="1" hangingPunct="1"/>
            <a:r>
              <a:rPr lang="zh-CN" altLang="en-US" dirty="0"/>
              <a:t>时域：卷积和数值计算</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dirty="0"/>
            </a:fld>
            <a:endParaRPr lang="en-US" altLang="zh-CN" dirty="0"/>
          </a:p>
        </p:txBody>
      </p:sp>
      <p:sp>
        <p:nvSpPr>
          <p:cNvPr id="53250" name="Rectangle 2"/>
          <p:cNvSpPr>
            <a:spLocks noTextEdit="1"/>
          </p:cNvSpPr>
          <p:nvPr>
            <p:ph type="sldImg"/>
          </p:nvPr>
        </p:nvSpPr>
        <p:spPr/>
      </p:sp>
      <p:sp>
        <p:nvSpPr>
          <p:cNvPr id="5325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685800" y="1981200"/>
            <a:ext cx="7772400" cy="41148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kumimoji="1" sz="14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kumimoji="1" sz="14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fld>
            <a:endParaRPr lang="en-US" altLang="zh-CN" strike="noStrike" noProof="1"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vmlDrawing" Target="../drawings/vmlDrawing1.vml"/><Relationship Id="rId6" Type="http://schemas.openxmlformats.org/officeDocument/2006/relationships/slideLayout" Target="../slideLayouts/slideLayout4.xml"/><Relationship Id="rId5" Type="http://schemas.openxmlformats.org/officeDocument/2006/relationships/image" Target="../media/image13.wmf"/><Relationship Id="rId4" Type="http://schemas.openxmlformats.org/officeDocument/2006/relationships/oleObject" Target="../embeddings/oleObject2.bin"/><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15.emf"/><Relationship Id="rId3" Type="http://schemas.openxmlformats.org/officeDocument/2006/relationships/oleObject" Target="../embeddings/oleObject4.bin"/><Relationship Id="rId2" Type="http://schemas.openxmlformats.org/officeDocument/2006/relationships/image" Target="../media/image14.wmf"/><Relationship Id="rId1"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19.wmf"/><Relationship Id="rId7" Type="http://schemas.openxmlformats.org/officeDocument/2006/relationships/oleObject" Target="../embeddings/oleObject8.bin"/><Relationship Id="rId6" Type="http://schemas.openxmlformats.org/officeDocument/2006/relationships/image" Target="../media/image18.wmf"/><Relationship Id="rId5" Type="http://schemas.openxmlformats.org/officeDocument/2006/relationships/oleObject" Target="../embeddings/oleObject7.bin"/><Relationship Id="rId4" Type="http://schemas.openxmlformats.org/officeDocument/2006/relationships/image" Target="../media/image17.wmf"/><Relationship Id="rId3" Type="http://schemas.openxmlformats.org/officeDocument/2006/relationships/oleObject" Target="../embeddings/oleObject6.bin"/><Relationship Id="rId2" Type="http://schemas.openxmlformats.org/officeDocument/2006/relationships/image" Target="../media/image16.wmf"/><Relationship Id="rId15" Type="http://schemas.openxmlformats.org/officeDocument/2006/relationships/notesSlide" Target="../notesSlides/notesSlide14.xml"/><Relationship Id="rId14" Type="http://schemas.openxmlformats.org/officeDocument/2006/relationships/vmlDrawing" Target="../drawings/vmlDrawing3.vml"/><Relationship Id="rId13" Type="http://schemas.openxmlformats.org/officeDocument/2006/relationships/slideLayout" Target="../slideLayouts/slideLayout7.xml"/><Relationship Id="rId12" Type="http://schemas.openxmlformats.org/officeDocument/2006/relationships/image" Target="../media/image21.wmf"/><Relationship Id="rId11" Type="http://schemas.openxmlformats.org/officeDocument/2006/relationships/oleObject" Target="../embeddings/oleObject10.bin"/><Relationship Id="rId10" Type="http://schemas.openxmlformats.org/officeDocument/2006/relationships/image" Target="../media/image20.wmf"/><Relationship Id="rId1"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oleObject" Target="../embeddings/oleObject14.bin"/><Relationship Id="rId7" Type="http://schemas.openxmlformats.org/officeDocument/2006/relationships/image" Target="../media/image24.wmf"/><Relationship Id="rId6" Type="http://schemas.openxmlformats.org/officeDocument/2006/relationships/oleObject" Target="../embeddings/oleObject13.bin"/><Relationship Id="rId5" Type="http://schemas.openxmlformats.org/officeDocument/2006/relationships/image" Target="../media/image23.wmf"/><Relationship Id="rId4" Type="http://schemas.openxmlformats.org/officeDocument/2006/relationships/oleObject" Target="../embeddings/oleObject12.bin"/><Relationship Id="rId3" Type="http://schemas.openxmlformats.org/officeDocument/2006/relationships/image" Target="../media/image22.wmf"/><Relationship Id="rId2" Type="http://schemas.openxmlformats.org/officeDocument/2006/relationships/oleObject" Target="../embeddings/oleObject11.bin"/><Relationship Id="rId16" Type="http://schemas.openxmlformats.org/officeDocument/2006/relationships/notesSlide" Target="../notesSlides/notesSlide15.xml"/><Relationship Id="rId15" Type="http://schemas.openxmlformats.org/officeDocument/2006/relationships/vmlDrawing" Target="../drawings/vmlDrawing4.vml"/><Relationship Id="rId14" Type="http://schemas.openxmlformats.org/officeDocument/2006/relationships/slideLayout" Target="../slideLayouts/slideLayout7.xml"/><Relationship Id="rId13" Type="http://schemas.openxmlformats.org/officeDocument/2006/relationships/image" Target="../media/image27.wmf"/><Relationship Id="rId12" Type="http://schemas.openxmlformats.org/officeDocument/2006/relationships/oleObject" Target="../embeddings/oleObject16.bin"/><Relationship Id="rId11" Type="http://schemas.openxmlformats.org/officeDocument/2006/relationships/image" Target="../media/image26.wmf"/><Relationship Id="rId10" Type="http://schemas.openxmlformats.org/officeDocument/2006/relationships/oleObject" Target="../embeddings/oleObject15.bin"/><Relationship Id="rId1" Type="http://schemas.openxmlformats.org/officeDocument/2006/relationships/hyperlink" Target="class_show\signal.jpg"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vmlDrawing" Target="../drawings/vmlDrawing5.vml"/><Relationship Id="rId7"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19.bin"/><Relationship Id="rId4" Type="http://schemas.openxmlformats.org/officeDocument/2006/relationships/image" Target="../media/image29.wmf"/><Relationship Id="rId3" Type="http://schemas.openxmlformats.org/officeDocument/2006/relationships/oleObject" Target="../embeddings/oleObject18.bin"/><Relationship Id="rId2" Type="http://schemas.openxmlformats.org/officeDocument/2006/relationships/image" Target="../media/image28.emf"/><Relationship Id="rId1" Type="http://schemas.openxmlformats.org/officeDocument/2006/relationships/oleObject" Target="../embeddings/oleObject17.bin"/></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4.wmf"/><Relationship Id="rId7" Type="http://schemas.openxmlformats.org/officeDocument/2006/relationships/oleObject" Target="../embeddings/oleObject23.bin"/><Relationship Id="rId6" Type="http://schemas.openxmlformats.org/officeDocument/2006/relationships/image" Target="../media/image33.wmf"/><Relationship Id="rId5" Type="http://schemas.openxmlformats.org/officeDocument/2006/relationships/oleObject" Target="../embeddings/oleObject22.bin"/><Relationship Id="rId4" Type="http://schemas.openxmlformats.org/officeDocument/2006/relationships/image" Target="../media/image32.wmf"/><Relationship Id="rId3" Type="http://schemas.openxmlformats.org/officeDocument/2006/relationships/oleObject" Target="../embeddings/oleObject21.bin"/><Relationship Id="rId2" Type="http://schemas.openxmlformats.org/officeDocument/2006/relationships/image" Target="../media/image31.wmf"/><Relationship Id="rId10" Type="http://schemas.openxmlformats.org/officeDocument/2006/relationships/vmlDrawing" Target="../drawings/vmlDrawing6.vml"/><Relationship Id="rId1" Type="http://schemas.openxmlformats.org/officeDocument/2006/relationships/oleObject" Target="../embeddings/oleObject20.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38.wmf"/><Relationship Id="rId7" Type="http://schemas.openxmlformats.org/officeDocument/2006/relationships/oleObject" Target="../embeddings/oleObject27.bin"/><Relationship Id="rId6" Type="http://schemas.openxmlformats.org/officeDocument/2006/relationships/image" Target="../media/image37.wmf"/><Relationship Id="rId5" Type="http://schemas.openxmlformats.org/officeDocument/2006/relationships/oleObject" Target="../embeddings/oleObject26.bin"/><Relationship Id="rId4" Type="http://schemas.openxmlformats.org/officeDocument/2006/relationships/image" Target="../media/image36.emf"/><Relationship Id="rId3" Type="http://schemas.openxmlformats.org/officeDocument/2006/relationships/oleObject" Target="../embeddings/oleObject25.bin"/><Relationship Id="rId2" Type="http://schemas.openxmlformats.org/officeDocument/2006/relationships/image" Target="../media/image35.emf"/><Relationship Id="rId12" Type="http://schemas.openxmlformats.org/officeDocument/2006/relationships/vmlDrawing" Target="../drawings/vmlDrawing7.vml"/><Relationship Id="rId11" Type="http://schemas.openxmlformats.org/officeDocument/2006/relationships/slideLayout" Target="../slideLayouts/slideLayout7.xml"/><Relationship Id="rId10" Type="http://schemas.openxmlformats.org/officeDocument/2006/relationships/image" Target="../media/image39.wmf"/><Relationship Id="rId1" Type="http://schemas.openxmlformats.org/officeDocument/2006/relationships/oleObject" Target="../embeddings/oleObject24.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6" Type="http://schemas.openxmlformats.org/officeDocument/2006/relationships/vmlDrawing" Target="../drawings/vmlDrawing8.vml"/><Relationship Id="rId25" Type="http://schemas.openxmlformats.org/officeDocument/2006/relationships/slideLayout" Target="../slideLayouts/slideLayout7.xml"/><Relationship Id="rId24" Type="http://schemas.openxmlformats.org/officeDocument/2006/relationships/image" Target="../media/image47.wmf"/><Relationship Id="rId23" Type="http://schemas.openxmlformats.org/officeDocument/2006/relationships/oleObject" Target="../embeddings/oleObject36.bin"/><Relationship Id="rId22" Type="http://schemas.openxmlformats.org/officeDocument/2006/relationships/image" Target="../media/image46.wmf"/><Relationship Id="rId21" Type="http://schemas.openxmlformats.org/officeDocument/2006/relationships/oleObject" Target="../embeddings/oleObject35.bin"/><Relationship Id="rId20" Type="http://schemas.openxmlformats.org/officeDocument/2006/relationships/image" Target="../media/image45.wmf"/><Relationship Id="rId2" Type="http://schemas.openxmlformats.org/officeDocument/2006/relationships/tags" Target="../tags/tag7.xml"/><Relationship Id="rId19" Type="http://schemas.openxmlformats.org/officeDocument/2006/relationships/oleObject" Target="../embeddings/oleObject34.bin"/><Relationship Id="rId18" Type="http://schemas.openxmlformats.org/officeDocument/2006/relationships/image" Target="../media/image44.wmf"/><Relationship Id="rId17" Type="http://schemas.openxmlformats.org/officeDocument/2006/relationships/oleObject" Target="../embeddings/oleObject33.bin"/><Relationship Id="rId16" Type="http://schemas.openxmlformats.org/officeDocument/2006/relationships/image" Target="../media/image43.wmf"/><Relationship Id="rId15" Type="http://schemas.openxmlformats.org/officeDocument/2006/relationships/oleObject" Target="../embeddings/oleObject32.bin"/><Relationship Id="rId14" Type="http://schemas.openxmlformats.org/officeDocument/2006/relationships/image" Target="../media/image42.wmf"/><Relationship Id="rId13" Type="http://schemas.openxmlformats.org/officeDocument/2006/relationships/oleObject" Target="../embeddings/oleObject31.bin"/><Relationship Id="rId12" Type="http://schemas.openxmlformats.org/officeDocument/2006/relationships/image" Target="../media/image41.wmf"/><Relationship Id="rId11" Type="http://schemas.openxmlformats.org/officeDocument/2006/relationships/oleObject" Target="../embeddings/oleObject30.bin"/><Relationship Id="rId10" Type="http://schemas.openxmlformats.org/officeDocument/2006/relationships/image" Target="../media/image40.wmf"/><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49.wmf"/><Relationship Id="rId3" Type="http://schemas.openxmlformats.org/officeDocument/2006/relationships/oleObject" Target="../embeddings/oleObject38.bin"/><Relationship Id="rId2" Type="http://schemas.openxmlformats.org/officeDocument/2006/relationships/image" Target="../media/image48.wmf"/><Relationship Id="rId1" Type="http://schemas.openxmlformats.org/officeDocument/2006/relationships/oleObject" Target="../embeddings/oleObject37.bin"/></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7.wmf"/><Relationship Id="rId7" Type="http://schemas.openxmlformats.org/officeDocument/2006/relationships/oleObject" Target="../embeddings/oleObject42.bin"/><Relationship Id="rId6" Type="http://schemas.openxmlformats.org/officeDocument/2006/relationships/image" Target="../media/image46.wmf"/><Relationship Id="rId5" Type="http://schemas.openxmlformats.org/officeDocument/2006/relationships/oleObject" Target="../embeddings/oleObject41.bin"/><Relationship Id="rId4" Type="http://schemas.openxmlformats.org/officeDocument/2006/relationships/image" Target="../media/image50.wmf"/><Relationship Id="rId3" Type="http://schemas.openxmlformats.org/officeDocument/2006/relationships/oleObject" Target="../embeddings/oleObject40.bin"/><Relationship Id="rId2" Type="http://schemas.openxmlformats.org/officeDocument/2006/relationships/image" Target="../media/image44.wmf"/><Relationship Id="rId11" Type="http://schemas.openxmlformats.org/officeDocument/2006/relationships/notesSlide" Target="../notesSlides/notesSlide19.xml"/><Relationship Id="rId10" Type="http://schemas.openxmlformats.org/officeDocument/2006/relationships/vmlDrawing" Target="../drawings/vmlDrawing10.vml"/><Relationship Id="rId1" Type="http://schemas.openxmlformats.org/officeDocument/2006/relationships/oleObject" Target="../embeddings/oleObject39.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Rectangle 2"/>
          <p:cNvSpPr>
            <a:spLocks noGrp="1"/>
          </p:cNvSpPr>
          <p:nvPr>
            <p:ph type="ctrTitle"/>
          </p:nvPr>
        </p:nvSpPr>
        <p:spPr>
          <a:xfrm>
            <a:off x="0" y="1773238"/>
            <a:ext cx="9144000" cy="2376487"/>
          </a:xfrm>
          <a:solidFill>
            <a:schemeClr val="accent1"/>
          </a:solidFill>
        </p:spPr>
        <p:txBody>
          <a:bodyPr vert="horz" wrap="square" lIns="91440" tIns="45720" rIns="91440" bIns="45720" anchor="ctr" anchorCtr="0"/>
          <a:p>
            <a:pPr eaLnBrk="1" hangingPunct="1">
              <a:buClrTx/>
              <a:buSzTx/>
              <a:buFontTx/>
            </a:pPr>
            <a:r>
              <a:rPr lang="zh-CN" altLang="en-US" b="1" dirty="0"/>
              <a:t>信号与线性系统</a:t>
            </a:r>
            <a:endParaRPr lang="zh-CN" altLang="en-US" b="1" dirty="0"/>
          </a:p>
        </p:txBody>
      </p:sp>
      <p:sp>
        <p:nvSpPr>
          <p:cNvPr id="3074" name="Text Box 4"/>
          <p:cNvSpPr txBox="1"/>
          <p:nvPr/>
        </p:nvSpPr>
        <p:spPr>
          <a:xfrm>
            <a:off x="3071813" y="4143375"/>
            <a:ext cx="3311525" cy="519113"/>
          </a:xfrm>
          <a:prstGeom prst="rect">
            <a:avLst/>
          </a:prstGeom>
          <a:noFill/>
          <a:ln w="9525">
            <a:noFill/>
          </a:ln>
        </p:spPr>
        <p:txBody>
          <a:bodyPr anchor="t" anchorCtr="0">
            <a:spAutoFit/>
          </a:bodyPr>
          <a:p>
            <a:r>
              <a:rPr lang="zh-CN" altLang="en-US" sz="2800" b="1" dirty="0">
                <a:solidFill>
                  <a:srgbClr val="0000FF"/>
                </a:solidFill>
                <a:latin typeface="Times New Roman" panose="02020603050405020304" pitchFamily="18" charset="0"/>
                <a:ea typeface="宋体" panose="02010600030101010101" pitchFamily="2" charset="-122"/>
              </a:rPr>
              <a:t>主讲教师：王世杰</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3075" name="Text Box 5"/>
          <p:cNvSpPr txBox="1"/>
          <p:nvPr/>
        </p:nvSpPr>
        <p:spPr>
          <a:xfrm>
            <a:off x="5487988" y="5589588"/>
            <a:ext cx="3116262" cy="457200"/>
          </a:xfrm>
          <a:prstGeom prst="rect">
            <a:avLst/>
          </a:prstGeom>
          <a:noFill/>
          <a:ln w="9525">
            <a:noFill/>
          </a:ln>
        </p:spPr>
        <p:txBody>
          <a:bodyPr anchor="t" anchorCtr="0">
            <a:spAutoFit/>
          </a:bodyPr>
          <a:p>
            <a:endParaRPr lang="zh-CN" altLang="zh-CN" dirty="0">
              <a:latin typeface="Times New Roman" panose="02020603050405020304" pitchFamily="18" charset="0"/>
              <a:ea typeface="宋体" panose="02010600030101010101" pitchFamily="2" charset="-122"/>
            </a:endParaRPr>
          </a:p>
        </p:txBody>
      </p:sp>
      <p:sp>
        <p:nvSpPr>
          <p:cNvPr id="3076" name="Text Box 6"/>
          <p:cNvSpPr txBox="1"/>
          <p:nvPr/>
        </p:nvSpPr>
        <p:spPr>
          <a:xfrm>
            <a:off x="4357688" y="5429250"/>
            <a:ext cx="4572000" cy="1198880"/>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联系方式</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r>
              <a:rPr lang="en-US" altLang="zh-CN" b="1" dirty="0">
                <a:latin typeface="Times New Roman" panose="02020603050405020304" pitchFamily="18" charset="0"/>
                <a:ea typeface="宋体" panose="02010600030101010101" pitchFamily="2" charset="-122"/>
              </a:rPr>
              <a:t>E-mail: </a:t>
            </a: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mike@seu.edu.cn</a:t>
            </a:r>
            <a:endParaRPr lang="en-US" altLang="zh-CN" b="1" dirty="0">
              <a:latin typeface="Times New Roman" panose="02020603050405020304" pitchFamily="18" charset="0"/>
              <a:ea typeface="宋体" panose="02010600030101010101" pitchFamily="2" charset="-122"/>
            </a:endParaRPr>
          </a:p>
          <a:p>
            <a:r>
              <a:rPr lang="en-US" altLang="zh-CN" b="1" dirty="0">
                <a:latin typeface="Times New Roman" panose="02020603050405020304" pitchFamily="18" charset="0"/>
                <a:ea typeface="宋体" panose="02010600030101010101" pitchFamily="2" charset="-122"/>
              </a:rPr>
              <a:t>Tel: 13151080810</a:t>
            </a:r>
            <a:endParaRPr lang="en-US" altLang="zh-CN" b="1" dirty="0">
              <a:latin typeface="Times New Roman" panose="02020603050405020304" pitchFamily="18" charset="0"/>
              <a:ea typeface="宋体" panose="02010600030101010101" pitchFamily="2" charset="-122"/>
            </a:endParaRPr>
          </a:p>
        </p:txBody>
      </p:sp>
      <p:sp>
        <p:nvSpPr>
          <p:cNvPr id="3077" name="Text Box 4"/>
          <p:cNvSpPr txBox="1"/>
          <p:nvPr/>
        </p:nvSpPr>
        <p:spPr>
          <a:xfrm>
            <a:off x="2286000" y="4786313"/>
            <a:ext cx="5072063" cy="461962"/>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东南大学    影像科学与技术实验室</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ransition advTm="110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Text Box 3"/>
          <p:cNvSpPr txBox="1"/>
          <p:nvPr/>
        </p:nvSpPr>
        <p:spPr>
          <a:xfrm>
            <a:off x="323850" y="188913"/>
            <a:ext cx="2016125" cy="584200"/>
          </a:xfrm>
          <a:prstGeom prst="rect">
            <a:avLst/>
          </a:prstGeom>
          <a:noFill/>
          <a:ln w="9525">
            <a:noFill/>
          </a:ln>
        </p:spPr>
        <p:txBody>
          <a:bodyPr anchor="t" anchorCtr="0">
            <a:spAutoFit/>
          </a:bodyPr>
          <a:p>
            <a:pPr>
              <a:spcBef>
                <a:spcPct val="50000"/>
              </a:spcBef>
            </a:pPr>
            <a:r>
              <a:rPr lang="zh-CN" altLang="en-US" sz="3200" b="1" dirty="0">
                <a:solidFill>
                  <a:srgbClr val="FF0000"/>
                </a:solidFill>
                <a:latin typeface="Times New Roman" panose="02020603050405020304" pitchFamily="18" charset="0"/>
                <a:ea typeface="宋体" panose="02010600030101010101" pitchFamily="2" charset="-122"/>
              </a:rPr>
              <a:t>参考书目：</a:t>
            </a:r>
            <a:endParaRPr lang="zh-CN" altLang="en-US" sz="3200" b="1" dirty="0">
              <a:solidFill>
                <a:srgbClr val="FF0000"/>
              </a:solidFill>
              <a:latin typeface="Times New Roman" panose="02020603050405020304" pitchFamily="18" charset="0"/>
              <a:ea typeface="宋体" panose="02010600030101010101" pitchFamily="2" charset="-122"/>
            </a:endParaRPr>
          </a:p>
        </p:txBody>
      </p:sp>
      <p:sp>
        <p:nvSpPr>
          <p:cNvPr id="5122" name="Rectangle 13"/>
          <p:cNvSpPr/>
          <p:nvPr/>
        </p:nvSpPr>
        <p:spPr>
          <a:xfrm>
            <a:off x="395288" y="3763963"/>
            <a:ext cx="8607425" cy="830262"/>
          </a:xfrm>
          <a:prstGeom prst="rect">
            <a:avLst/>
          </a:prstGeom>
          <a:noFill/>
          <a:ln w="9525">
            <a:noFill/>
          </a:ln>
        </p:spPr>
        <p:txBody>
          <a:bodyPr anchor="t" anchorCtr="0">
            <a:spAutoFit/>
          </a:bodyPr>
          <a:p>
            <a:pPr marL="457200" indent="-457200"/>
            <a:r>
              <a:rPr lang="en-US" altLang="zh-CN" dirty="0">
                <a:latin typeface="Times New Roman" panose="02020603050405020304" pitchFamily="18" charset="0"/>
                <a:ea typeface="宋体" panose="02010600030101010101" pitchFamily="2" charset="-122"/>
              </a:rPr>
              <a:t>4 </a:t>
            </a:r>
            <a:r>
              <a:rPr lang="zh-CN" altLang="zh-CN" dirty="0">
                <a:latin typeface="Times New Roman" panose="02020603050405020304" pitchFamily="18" charset="0"/>
                <a:ea typeface="宋体" panose="02010600030101010101" pitchFamily="2" charset="-122"/>
              </a:rPr>
              <a:t>奥本海姆、谢弗合著</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marL="457200" indent="-457200"/>
            <a:r>
              <a:rPr lang="en-US" altLang="zh-CN" dirty="0">
                <a:latin typeface="Times New Roman" panose="02020603050405020304" pitchFamily="18" charset="0"/>
                <a:ea typeface="宋体" panose="02010600030101010101" pitchFamily="2" charset="-122"/>
              </a:rPr>
              <a:t>   </a:t>
            </a:r>
            <a:r>
              <a:rPr lang="zh-CN" altLang="zh-CN" b="1" dirty="0">
                <a:latin typeface="Times New Roman" panose="02020603050405020304" pitchFamily="18" charset="0"/>
                <a:ea typeface="宋体" panose="02010600030101010101" pitchFamily="2" charset="-122"/>
              </a:rPr>
              <a:t>离散时间信号处理</a:t>
            </a:r>
            <a:r>
              <a:rPr lang="zh-CN" altLang="zh-CN" dirty="0">
                <a:latin typeface="Times New Roman" panose="02020603050405020304" pitchFamily="18" charset="0"/>
                <a:ea typeface="宋体" panose="02010600030101010101" pitchFamily="2" charset="-122"/>
              </a:rPr>
              <a:t>. 科学出版社，1998年</a:t>
            </a:r>
            <a:endParaRPr lang="en-US" altLang="zh-CN" dirty="0">
              <a:latin typeface="Times New Roman" panose="02020603050405020304" pitchFamily="18" charset="0"/>
              <a:ea typeface="宋体" panose="02010600030101010101" pitchFamily="2" charset="-122"/>
            </a:endParaRPr>
          </a:p>
        </p:txBody>
      </p:sp>
      <p:sp>
        <p:nvSpPr>
          <p:cNvPr id="5123" name="Rectangle 14"/>
          <p:cNvSpPr/>
          <p:nvPr/>
        </p:nvSpPr>
        <p:spPr>
          <a:xfrm>
            <a:off x="395288" y="1603375"/>
            <a:ext cx="8140700" cy="830263"/>
          </a:xfrm>
          <a:prstGeom prst="rect">
            <a:avLst/>
          </a:prstGeom>
          <a:noFill/>
          <a:ln w="9525">
            <a:noFill/>
          </a:ln>
        </p:spPr>
        <p:txBody>
          <a:bodyPr wrap="none" anchor="t" anchorCtr="0">
            <a:spAutoFit/>
          </a:bodyPr>
          <a:p>
            <a:pPr marL="457200" indent="-457200"/>
            <a:r>
              <a:rPr lang="en-US" altLang="zh-CN" dirty="0">
                <a:latin typeface="Times New Roman" panose="02020603050405020304" pitchFamily="18" charset="0"/>
                <a:ea typeface="宋体" panose="02010600030101010101" pitchFamily="2" charset="-122"/>
              </a:rPr>
              <a:t>2  John G. Prokais,Dimtris G. Manolakis</a:t>
            </a:r>
            <a:r>
              <a:rPr lang="zh-CN" altLang="en-US" dirty="0">
                <a:latin typeface="Times New Roman" panose="02020603050405020304" pitchFamily="18" charset="0"/>
                <a:ea typeface="宋体" panose="02010600030101010101" pitchFamily="2" charset="-122"/>
              </a:rPr>
              <a:t>著</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方艳梅</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刘永清等译</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marL="457200" indent="-457200"/>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数字信号处理（第四版）</a:t>
            </a:r>
            <a:r>
              <a:rPr lang="zh-CN" altLang="en-US" dirty="0">
                <a:latin typeface="Times New Roman" panose="02020603050405020304" pitchFamily="18" charset="0"/>
                <a:ea typeface="宋体" panose="02010600030101010101" pitchFamily="2" charset="-122"/>
              </a:rPr>
              <a:t>。电子工业出版社，</a:t>
            </a:r>
            <a:r>
              <a:rPr lang="en-US" altLang="zh-CN" dirty="0">
                <a:latin typeface="Times New Roman" panose="02020603050405020304" pitchFamily="18" charset="0"/>
                <a:ea typeface="宋体" panose="02010600030101010101" pitchFamily="2" charset="-122"/>
              </a:rPr>
              <a:t>2007 </a:t>
            </a:r>
            <a:endParaRPr lang="en-US" altLang="zh-CN" dirty="0">
              <a:latin typeface="Times New Roman" panose="02020603050405020304" pitchFamily="18" charset="0"/>
              <a:ea typeface="宋体" panose="02010600030101010101" pitchFamily="2" charset="-122"/>
            </a:endParaRPr>
          </a:p>
        </p:txBody>
      </p:sp>
      <p:sp>
        <p:nvSpPr>
          <p:cNvPr id="5124" name="Text Box 15"/>
          <p:cNvSpPr txBox="1"/>
          <p:nvPr/>
        </p:nvSpPr>
        <p:spPr>
          <a:xfrm>
            <a:off x="395288" y="2498725"/>
            <a:ext cx="7753350" cy="1198563"/>
          </a:xfrm>
          <a:prstGeom prst="rect">
            <a:avLst/>
          </a:prstGeom>
          <a:noFill/>
          <a:ln w="9525">
            <a:noFill/>
          </a:ln>
        </p:spPr>
        <p:txBody>
          <a:bodyPr>
            <a:spAutoFit/>
          </a:bodyPr>
          <a:lstStyle/>
          <a:p>
            <a:pPr marL="457200" marR="0" indent="-457200" defTabSz="914400">
              <a:buClrTx/>
              <a:buSzTx/>
              <a:buFontTx/>
              <a:buNone/>
              <a:defRPr/>
            </a:pPr>
            <a:r>
              <a:rPr kumimoji="0" lang="en-US" altLang="zh-CN" kern="1200" cap="none" spc="0" normalizeH="0" baseline="0" noProof="1">
                <a:latin typeface="Times New Roman" panose="02020603050405020304" pitchFamily="18" charset="0"/>
                <a:ea typeface="宋体" panose="02010600030101010101" pitchFamily="2" charset="-122"/>
                <a:cs typeface="+mn-cs"/>
              </a:rPr>
              <a:t>3 </a:t>
            </a:r>
            <a:r>
              <a:rPr kumimoji="0" lang="en-US" altLang="zh-CN" kern="1200" cap="none" spc="0" normalizeH="0" baseline="0" noProof="1">
                <a:latin typeface="+mn-lt"/>
                <a:ea typeface="+mn-ea"/>
                <a:cs typeface="+mn-cs"/>
                <a:sym typeface="+mn-ea"/>
              </a:rPr>
              <a:t>Sanjit K. Mitra </a:t>
            </a:r>
            <a:r>
              <a:rPr kumimoji="0" lang="zh-CN" altLang="en-US" kern="1200" cap="none" spc="0" normalizeH="0" baseline="0" noProof="1">
                <a:latin typeface="+mn-lt"/>
                <a:ea typeface="+mn-ea"/>
                <a:cs typeface="+mn-cs"/>
                <a:sym typeface="+mn-ea"/>
              </a:rPr>
              <a:t>著</a:t>
            </a:r>
            <a:r>
              <a:rPr kumimoji="0" lang="en-US" altLang="zh-CN" kern="1200" cap="none" spc="0" normalizeH="0" baseline="0" noProof="1">
                <a:latin typeface="+mn-lt"/>
                <a:ea typeface="+mn-ea"/>
                <a:cs typeface="+mn-cs"/>
                <a:sym typeface="+mn-ea"/>
              </a:rPr>
              <a:t>,</a:t>
            </a:r>
            <a:r>
              <a:rPr kumimoji="0" lang="zh-CN" altLang="en-US" kern="1200" cap="none" spc="0" normalizeH="0" baseline="0" noProof="1">
                <a:latin typeface="+mn-lt"/>
                <a:ea typeface="+mn-ea"/>
                <a:cs typeface="+mn-cs"/>
                <a:sym typeface="+mn-ea"/>
              </a:rPr>
              <a:t> 孙洪等译</a:t>
            </a:r>
            <a:r>
              <a:rPr kumimoji="0" lang="en-US" altLang="zh-CN" kern="1200" cap="none" spc="0" normalizeH="0" baseline="0" noProof="1">
                <a:latin typeface="+mn-lt"/>
                <a:ea typeface="+mn-ea"/>
                <a:cs typeface="+mn-cs"/>
                <a:sym typeface="+mn-ea"/>
              </a:rPr>
              <a:t>.</a:t>
            </a:r>
            <a:endParaRPr kumimoji="0" lang="zh-CN" altLang="en-US" kern="1200" cap="none" spc="0" normalizeH="0" baseline="0" noProof="1">
              <a:latin typeface="Times New Roman" panose="02020603050405020304" pitchFamily="18" charset="0"/>
              <a:ea typeface="宋体" panose="02010600030101010101" pitchFamily="2" charset="-122"/>
              <a:cs typeface="+mn-cs"/>
              <a:sym typeface="+mn-ea"/>
            </a:endParaRPr>
          </a:p>
          <a:p>
            <a:pPr marR="0" defTabSz="914400">
              <a:buClrTx/>
              <a:buSzTx/>
              <a:buFontTx/>
              <a:buNone/>
              <a:defRPr/>
            </a:pPr>
            <a:r>
              <a:rPr kumimoji="0" lang="zh-CN" altLang="en-US" kern="1200" cap="none" spc="0" normalizeH="0" baseline="0" noProof="1">
                <a:latin typeface="+mn-lt"/>
                <a:ea typeface="+mn-ea"/>
                <a:cs typeface="+mn-cs"/>
                <a:sym typeface="+mn-ea"/>
              </a:rPr>
              <a:t>   </a:t>
            </a:r>
            <a:r>
              <a:rPr kumimoji="0" lang="zh-CN" altLang="en-US" b="1" kern="1200" cap="none" spc="0" normalizeH="0" baseline="0" noProof="1">
                <a:latin typeface="+mn-lt"/>
                <a:ea typeface="+mn-ea"/>
                <a:cs typeface="+mn-cs"/>
                <a:sym typeface="+mn-ea"/>
              </a:rPr>
              <a:t>数字信号处理</a:t>
            </a:r>
            <a:r>
              <a:rPr kumimoji="0" lang="en-US" altLang="zh-CN" kern="1200" cap="none" spc="0" normalizeH="0" baseline="0" noProof="1">
                <a:latin typeface="+mn-lt"/>
                <a:ea typeface="+mn-ea"/>
                <a:cs typeface="+mn-cs"/>
                <a:sym typeface="+mn-ea"/>
              </a:rPr>
              <a:t>--</a:t>
            </a:r>
            <a:r>
              <a:rPr kumimoji="0" lang="zh-CN" altLang="en-US" kern="1200" cap="none" spc="0" normalizeH="0" baseline="0" noProof="1">
                <a:latin typeface="+mn-lt"/>
                <a:ea typeface="+mn-ea"/>
                <a:cs typeface="+mn-cs"/>
                <a:sym typeface="+mn-ea"/>
              </a:rPr>
              <a:t>基于计算机的方法（第三版）</a:t>
            </a:r>
            <a:r>
              <a:rPr kumimoji="0" lang="en-US" altLang="zh-CN" kern="1200" cap="none" spc="0" normalizeH="0" baseline="0" noProof="1">
                <a:latin typeface="+mn-lt"/>
                <a:ea typeface="+mn-ea"/>
                <a:cs typeface="+mn-cs"/>
                <a:sym typeface="+mn-ea"/>
              </a:rPr>
              <a:t>. </a:t>
            </a:r>
            <a:endParaRPr kumimoji="0" lang="en-US" altLang="zh-CN" kern="1200" cap="none" spc="0" normalizeH="0" baseline="0" noProof="1">
              <a:latin typeface="+mn-lt"/>
              <a:ea typeface="+mn-ea"/>
              <a:cs typeface="+mn-cs"/>
            </a:endParaRPr>
          </a:p>
          <a:p>
            <a:pPr marR="0" defTabSz="914400">
              <a:buClrTx/>
              <a:buSzTx/>
              <a:buFontTx/>
              <a:buNone/>
              <a:defRPr/>
            </a:pPr>
            <a:r>
              <a:rPr kumimoji="0" lang="en-US" altLang="zh-CN" kern="1200" cap="none" spc="0" normalizeH="0" baseline="0" noProof="1">
                <a:latin typeface="+mn-lt"/>
                <a:ea typeface="+mn-ea"/>
                <a:cs typeface="+mn-cs"/>
                <a:sym typeface="+mn-ea"/>
              </a:rPr>
              <a:t>   </a:t>
            </a:r>
            <a:r>
              <a:rPr kumimoji="0" lang="zh-CN" altLang="en-US" kern="1200" cap="none" spc="0" normalizeH="0" baseline="0" noProof="1">
                <a:latin typeface="+mn-lt"/>
                <a:ea typeface="+mn-ea"/>
                <a:cs typeface="+mn-cs"/>
                <a:sym typeface="+mn-ea"/>
              </a:rPr>
              <a:t>电子工业出版社</a:t>
            </a:r>
            <a:r>
              <a:rPr kumimoji="0" lang="en-US" altLang="zh-CN" kern="1200" cap="none" spc="0" normalizeH="0" baseline="0" noProof="1">
                <a:latin typeface="+mn-lt"/>
                <a:ea typeface="+mn-ea"/>
                <a:cs typeface="+mn-cs"/>
                <a:sym typeface="+mn-ea"/>
              </a:rPr>
              <a:t>,  2006</a:t>
            </a:r>
            <a:endParaRPr kumimoji="0" lang="zh-CN" altLang="en-US" kern="1200" cap="none" spc="0" normalizeH="0" baseline="0" noProof="1">
              <a:latin typeface="Times New Roman" panose="02020603050405020304" pitchFamily="18" charset="0"/>
              <a:ea typeface="宋体" panose="02010600030101010101" pitchFamily="2" charset="-122"/>
              <a:cs typeface="+mn-cs"/>
            </a:endParaRPr>
          </a:p>
        </p:txBody>
      </p:sp>
      <p:sp>
        <p:nvSpPr>
          <p:cNvPr id="5125" name="Text Box 17"/>
          <p:cNvSpPr txBox="1"/>
          <p:nvPr/>
        </p:nvSpPr>
        <p:spPr>
          <a:xfrm>
            <a:off x="395288" y="773113"/>
            <a:ext cx="7753350" cy="830262"/>
          </a:xfrm>
          <a:prstGeom prst="rect">
            <a:avLst/>
          </a:prstGeom>
          <a:noFill/>
          <a:ln w="9525">
            <a:noFill/>
          </a:ln>
        </p:spPr>
        <p:txBody>
          <a:bodyPr wrap="none" anchor="t" anchorCtr="0">
            <a:spAutoFit/>
          </a:bodyPr>
          <a:p>
            <a:r>
              <a:rPr lang="en-US" altLang="zh-CN" dirty="0">
                <a:solidFill>
                  <a:srgbClr val="0000FF"/>
                </a:solidFill>
                <a:latin typeface="Times New Roman" panose="02020603050405020304" pitchFamily="18" charset="0"/>
                <a:ea typeface="宋体" panose="02010600030101010101" pitchFamily="2" charset="-122"/>
              </a:rPr>
              <a:t>1 </a:t>
            </a:r>
            <a:r>
              <a:rPr lang="zh-CN" altLang="en-US" b="1" dirty="0">
                <a:solidFill>
                  <a:srgbClr val="0000FF"/>
                </a:solidFill>
                <a:latin typeface="Times New Roman" panose="02020603050405020304" pitchFamily="18" charset="0"/>
                <a:ea typeface="宋体" panose="02010600030101010101" pitchFamily="2" charset="-122"/>
              </a:rPr>
              <a:t>王霞、侯兴松、阎鸿森</a:t>
            </a:r>
            <a:r>
              <a:rPr lang="en-US" altLang="zh-CN" b="1" dirty="0">
                <a:solidFill>
                  <a:srgbClr val="0000FF"/>
                </a:solidFill>
                <a:latin typeface="Times New Roman" panose="02020603050405020304" pitchFamily="18" charset="0"/>
                <a:ea typeface="宋体" panose="02010600030101010101" pitchFamily="2" charset="-122"/>
              </a:rPr>
              <a:t>. </a:t>
            </a:r>
            <a:endParaRPr lang="en-US" altLang="zh-CN" b="1" dirty="0">
              <a:solidFill>
                <a:srgbClr val="0000FF"/>
              </a:solidFill>
              <a:latin typeface="Times New Roman" panose="02020603050405020304" pitchFamily="18" charset="0"/>
              <a:ea typeface="宋体" panose="02010600030101010101" pitchFamily="2" charset="-122"/>
            </a:endParaRPr>
          </a:p>
          <a:p>
            <a:r>
              <a:rPr lang="en-US" altLang="zh-CN" b="1" dirty="0">
                <a:solidFill>
                  <a:srgbClr val="0000FF"/>
                </a:solidFill>
                <a:latin typeface="Times New Roman" panose="02020603050405020304" pitchFamily="18" charset="0"/>
                <a:ea typeface="宋体" panose="02010600030101010101" pitchFamily="2" charset="-122"/>
              </a:rPr>
              <a:t>   </a:t>
            </a:r>
            <a:r>
              <a:rPr lang="zh-CN" altLang="en-US" b="1" dirty="0">
                <a:solidFill>
                  <a:srgbClr val="0000FF"/>
                </a:solidFill>
                <a:latin typeface="Times New Roman" panose="02020603050405020304" pitchFamily="18" charset="0"/>
                <a:ea typeface="宋体" panose="02010600030101010101" pitchFamily="2" charset="-122"/>
              </a:rPr>
              <a:t>信号与线性系统（第</a:t>
            </a:r>
            <a:r>
              <a:rPr lang="en-US" altLang="zh-CN" b="1" dirty="0">
                <a:solidFill>
                  <a:srgbClr val="0000FF"/>
                </a:solidFill>
                <a:latin typeface="Times New Roman" panose="02020603050405020304" pitchFamily="18" charset="0"/>
                <a:ea typeface="宋体" panose="02010600030101010101" pitchFamily="2" charset="-122"/>
              </a:rPr>
              <a:t>2</a:t>
            </a:r>
            <a:r>
              <a:rPr lang="zh-CN" altLang="en-US" b="1" dirty="0">
                <a:solidFill>
                  <a:srgbClr val="0000FF"/>
                </a:solidFill>
                <a:latin typeface="Times New Roman" panose="02020603050405020304" pitchFamily="18" charset="0"/>
                <a:ea typeface="宋体" panose="02010600030101010101" pitchFamily="2" charset="-122"/>
              </a:rPr>
              <a:t>版）</a:t>
            </a:r>
            <a:r>
              <a:rPr lang="en-US" altLang="zh-CN" b="1" dirty="0">
                <a:solidFill>
                  <a:srgbClr val="0000FF"/>
                </a:solidFill>
                <a:latin typeface="Times New Roman" panose="02020603050405020304" pitchFamily="18" charset="0"/>
                <a:ea typeface="宋体" panose="02010600030101010101" pitchFamily="2" charset="-122"/>
              </a:rPr>
              <a:t>. </a:t>
            </a:r>
            <a:r>
              <a:rPr lang="zh-CN" altLang="en-US" b="1" dirty="0">
                <a:solidFill>
                  <a:srgbClr val="0000FF"/>
                </a:solidFill>
                <a:latin typeface="Times New Roman" panose="02020603050405020304" pitchFamily="18" charset="0"/>
                <a:ea typeface="宋体" panose="02010600030101010101" pitchFamily="2" charset="-122"/>
              </a:rPr>
              <a:t>西安交通大学出版社，</a:t>
            </a:r>
            <a:r>
              <a:rPr lang="en-US" altLang="zh-CN" b="1" dirty="0">
                <a:solidFill>
                  <a:srgbClr val="0000FF"/>
                </a:solidFill>
                <a:latin typeface="Times New Roman" panose="02020603050405020304" pitchFamily="18" charset="0"/>
                <a:ea typeface="宋体" panose="02010600030101010101" pitchFamily="2" charset="-122"/>
              </a:rPr>
              <a:t>2014</a:t>
            </a:r>
            <a:endParaRPr lang="en-US" altLang="zh-CN" b="1" dirty="0">
              <a:solidFill>
                <a:srgbClr val="0000FF"/>
              </a:solidFill>
              <a:latin typeface="Times New Roman" panose="02020603050405020304" pitchFamily="18" charset="0"/>
              <a:ea typeface="宋体" panose="02010600030101010101" pitchFamily="2" charset="-122"/>
            </a:endParaRPr>
          </a:p>
        </p:txBody>
      </p:sp>
      <p:sp>
        <p:nvSpPr>
          <p:cNvPr id="5126" name="TextBox 7"/>
          <p:cNvSpPr txBox="1"/>
          <p:nvPr/>
        </p:nvSpPr>
        <p:spPr>
          <a:xfrm>
            <a:off x="250825" y="4672013"/>
            <a:ext cx="8640763" cy="1922462"/>
          </a:xfrm>
          <a:prstGeom prst="rect">
            <a:avLst/>
          </a:prstGeom>
          <a:noFill/>
          <a:ln w="9525">
            <a:noFill/>
          </a:ln>
        </p:spPr>
        <p:txBody>
          <a:bodyPr anchor="t" anchorCtr="0">
            <a:spAutoFit/>
          </a:bodyPr>
          <a:p>
            <a:pPr>
              <a:spcAft>
                <a:spcPts val="600"/>
              </a:spcAft>
            </a:pPr>
            <a:r>
              <a:rPr lang="zh-CN" altLang="en-US" sz="3200" b="1" dirty="0">
                <a:solidFill>
                  <a:srgbClr val="FF0000"/>
                </a:solidFill>
                <a:latin typeface="Times New Roman" panose="02020603050405020304" pitchFamily="18" charset="0"/>
                <a:ea typeface="宋体" panose="02010600030101010101" pitchFamily="2" charset="-122"/>
              </a:rPr>
              <a:t>考核方式：</a:t>
            </a:r>
            <a:endParaRPr lang="en-US" altLang="zh-CN" sz="3200" b="1" dirty="0">
              <a:solidFill>
                <a:srgbClr val="FF0000"/>
              </a:solidFill>
              <a:latin typeface="Times New Roman" panose="02020603050405020304" pitchFamily="18" charset="0"/>
              <a:ea typeface="宋体" panose="02010600030101010101" pitchFamily="2" charset="-122"/>
            </a:endParaRPr>
          </a:p>
          <a:p>
            <a:pPr>
              <a:spcAft>
                <a:spcPts val="600"/>
              </a:spcAft>
            </a:pPr>
            <a:r>
              <a:rPr lang="zh-CN" altLang="en-US" dirty="0">
                <a:latin typeface="Times New Roman" panose="02020603050405020304" pitchFamily="18" charset="0"/>
                <a:ea typeface="宋体" panose="02010600030101010101" pitchFamily="2" charset="-122"/>
              </a:rPr>
              <a:t>     </a:t>
            </a:r>
            <a:r>
              <a:rPr lang="zh-CN" altLang="en-US" b="1" dirty="0">
                <a:solidFill>
                  <a:srgbClr val="0000FF"/>
                </a:solidFill>
                <a:latin typeface="Times New Roman" panose="02020603050405020304" pitchFamily="18" charset="0"/>
                <a:ea typeface="宋体" panose="02010600030101010101" pitchFamily="2" charset="-122"/>
              </a:rPr>
              <a:t>平时成绩</a:t>
            </a:r>
            <a:r>
              <a:rPr lang="zh-CN" altLang="en-US" dirty="0">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）：平时作业</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考勤</a:t>
            </a:r>
            <a:endParaRPr lang="zh-CN" altLang="en-US" dirty="0">
              <a:latin typeface="Times New Roman" panose="02020603050405020304" pitchFamily="18" charset="0"/>
              <a:ea typeface="宋体" panose="02010600030101010101" pitchFamily="2" charset="-122"/>
            </a:endParaRPr>
          </a:p>
          <a:p>
            <a:pPr>
              <a:spcAft>
                <a:spcPts val="600"/>
              </a:spcAft>
            </a:pPr>
            <a:r>
              <a:rPr lang="zh-CN" altLang="en-US" dirty="0">
                <a:latin typeface="Times New Roman" panose="02020603050405020304" pitchFamily="18" charset="0"/>
                <a:ea typeface="宋体" panose="02010600030101010101" pitchFamily="2" charset="-122"/>
              </a:rPr>
              <a:t>     </a:t>
            </a:r>
            <a:r>
              <a:rPr lang="zh-CN" altLang="en-US" b="1" dirty="0">
                <a:solidFill>
                  <a:srgbClr val="0000FF"/>
                </a:solidFill>
                <a:latin typeface="Times New Roman" panose="02020603050405020304" pitchFamily="18" charset="0"/>
                <a:ea typeface="宋体" panose="02010600030101010101" pitchFamily="2" charset="-122"/>
              </a:rPr>
              <a:t>实验成绩（</a:t>
            </a:r>
            <a:r>
              <a:rPr lang="en-US" altLang="zh-CN" dirty="0">
                <a:solidFill>
                  <a:srgbClr val="0000FF"/>
                </a:solidFill>
                <a:latin typeface="Times New Roman" panose="02020603050405020304" pitchFamily="18" charset="0"/>
                <a:ea typeface="宋体" panose="02010600030101010101" pitchFamily="2" charset="-122"/>
              </a:rPr>
              <a:t>20%</a:t>
            </a:r>
            <a:r>
              <a:rPr lang="zh-CN" altLang="en-US" b="1" dirty="0">
                <a:solidFill>
                  <a:srgbClr val="0000FF"/>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：实验报告</a:t>
            </a:r>
            <a:endParaRPr lang="en-US" altLang="zh-CN" dirty="0">
              <a:latin typeface="Times New Roman" panose="02020603050405020304" pitchFamily="18" charset="0"/>
              <a:ea typeface="宋体" panose="02010600030101010101" pitchFamily="2" charset="-122"/>
            </a:endParaRPr>
          </a:p>
          <a:p>
            <a:pPr>
              <a:spcAft>
                <a:spcPts val="600"/>
              </a:spcAft>
            </a:pPr>
            <a:r>
              <a:rPr lang="zh-CN" altLang="en-US" dirty="0">
                <a:latin typeface="Times New Roman" panose="02020603050405020304" pitchFamily="18" charset="0"/>
                <a:ea typeface="宋体" panose="02010600030101010101" pitchFamily="2" charset="-122"/>
              </a:rPr>
              <a:t>     </a:t>
            </a:r>
            <a:r>
              <a:rPr lang="zh-CN" altLang="en-US" b="1" dirty="0">
                <a:solidFill>
                  <a:srgbClr val="0000FF"/>
                </a:solidFill>
                <a:latin typeface="Times New Roman" panose="02020603050405020304" pitchFamily="18" charset="0"/>
                <a:ea typeface="宋体" panose="02010600030101010101" pitchFamily="2" charset="-122"/>
              </a:rPr>
              <a:t>期末考试</a:t>
            </a:r>
            <a:r>
              <a:rPr lang="zh-CN" altLang="en-US" dirty="0">
                <a:latin typeface="Times New Roman" panose="02020603050405020304" pitchFamily="18" charset="0"/>
                <a:ea typeface="宋体" panose="02010600030101010101" pitchFamily="2" charset="-122"/>
                <a:sym typeface="Wingdings" panose="05000000000000000000" pitchFamily="2" charset="2"/>
              </a:rPr>
              <a:t>（</a:t>
            </a:r>
            <a:r>
              <a:rPr lang="en-US" altLang="zh-CN" dirty="0">
                <a:solidFill>
                  <a:srgbClr val="0000FF"/>
                </a:solidFill>
                <a:latin typeface="Times New Roman" panose="02020603050405020304" pitchFamily="18" charset="0"/>
                <a:ea typeface="宋体" panose="02010600030101010101" pitchFamily="2" charset="-122"/>
              </a:rPr>
              <a:t>70%</a:t>
            </a:r>
            <a:r>
              <a:rPr lang="zh-CN" altLang="en-US" dirty="0">
                <a:latin typeface="Times New Roman" panose="02020603050405020304" pitchFamily="18" charset="0"/>
                <a:ea typeface="宋体" panose="02010600030101010101" pitchFamily="2" charset="-122"/>
              </a:rPr>
              <a:t>）：闭卷考试</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p:nvPr>
        </p:nvSpPr>
        <p:spPr/>
        <p:txBody>
          <a:bodyPr vert="horz" wrap="square" lIns="91440" tIns="45720" rIns="91440" bIns="45720" anchor="ctr" anchorCtr="0"/>
          <a:p>
            <a:pPr eaLnBrk="1" hangingPunct="1"/>
            <a:r>
              <a:rPr lang="zh-CN" altLang="en-US" sz="4800" b="1" dirty="0">
                <a:ea typeface="隶书" panose="02010509060101010101" pitchFamily="49" charset="-122"/>
              </a:rPr>
              <a:t>信号与系统问题无处不在</a:t>
            </a:r>
            <a:endParaRPr lang="zh-CN" altLang="en-US" sz="4800" b="1" dirty="0">
              <a:ea typeface="隶书" panose="02010509060101010101" pitchFamily="49" charset="-122"/>
            </a:endParaRPr>
          </a:p>
        </p:txBody>
      </p:sp>
      <p:sp>
        <p:nvSpPr>
          <p:cNvPr id="7170" name="Rectangle 3"/>
          <p:cNvSpPr>
            <a:spLocks noGrp="1"/>
          </p:cNvSpPr>
          <p:nvPr>
            <p:ph type="body" sz="half" idx="1"/>
          </p:nvPr>
        </p:nvSpPr>
        <p:spPr>
          <a:xfrm>
            <a:off x="857250" y="2000250"/>
            <a:ext cx="7715250" cy="4114800"/>
          </a:xfrm>
        </p:spPr>
        <p:txBody>
          <a:bodyPr vert="horz" wrap="square" lIns="91440" tIns="45720" rIns="91440" bIns="45720" anchor="t" anchorCtr="0"/>
          <a:p>
            <a:pPr eaLnBrk="1" hangingPunct="1">
              <a:buClrTx/>
              <a:buSzTx/>
              <a:buFontTx/>
              <a:buNone/>
            </a:pPr>
            <a:r>
              <a:rPr lang="en-US" altLang="zh-CN" sz="4000" b="1" dirty="0">
                <a:ea typeface="楷体_GB2312" pitchFamily="49" charset="-122"/>
              </a:rPr>
              <a:t>                       </a:t>
            </a:r>
            <a:r>
              <a:rPr lang="zh-CN" altLang="en-US" sz="4000" b="1" dirty="0">
                <a:ea typeface="楷体_GB2312" pitchFamily="49" charset="-122"/>
              </a:rPr>
              <a:t>通讯</a:t>
            </a:r>
            <a:endParaRPr lang="zh-CN" altLang="en-US" sz="2800" dirty="0">
              <a:ea typeface="楷体_GB2312" pitchFamily="49" charset="-122"/>
            </a:endParaRPr>
          </a:p>
          <a:p>
            <a:pPr eaLnBrk="1" hangingPunct="1">
              <a:buClrTx/>
              <a:buSzTx/>
              <a:buFontTx/>
            </a:pPr>
            <a:r>
              <a:rPr lang="zh-CN" altLang="en-US" sz="2800" b="1" dirty="0">
                <a:latin typeface="楷体_GB2312" pitchFamily="49" charset="-122"/>
                <a:ea typeface="楷体_GB2312" pitchFamily="49" charset="-122"/>
              </a:rPr>
              <a:t>古老通讯方式：狼烟、旗语、信号灯</a:t>
            </a:r>
            <a:endParaRPr lang="zh-CN" altLang="en-US" sz="2800" b="1" dirty="0">
              <a:latin typeface="楷体_GB2312" pitchFamily="49" charset="-122"/>
              <a:ea typeface="楷体_GB2312" pitchFamily="49" charset="-122"/>
            </a:endParaRPr>
          </a:p>
          <a:p>
            <a:pPr eaLnBrk="1" hangingPunct="1">
              <a:buClrTx/>
              <a:buSzTx/>
              <a:buFontTx/>
            </a:pPr>
            <a:r>
              <a:rPr lang="zh-CN" altLang="en-US" sz="2800" b="1" dirty="0">
                <a:latin typeface="楷体_GB2312" pitchFamily="49" charset="-122"/>
                <a:ea typeface="楷体_GB2312" pitchFamily="49" charset="-122"/>
              </a:rPr>
              <a:t>近代通讯方式：电报、电话、无线通讯 </a:t>
            </a:r>
            <a:endParaRPr lang="zh-CN" altLang="en-US" sz="2800" b="1" dirty="0">
              <a:latin typeface="楷体_GB2312" pitchFamily="49" charset="-122"/>
              <a:ea typeface="楷体_GB2312" pitchFamily="49" charset="-122"/>
            </a:endParaRPr>
          </a:p>
          <a:p>
            <a:pPr eaLnBrk="1" hangingPunct="1">
              <a:buClrTx/>
              <a:buSzTx/>
              <a:buFontTx/>
            </a:pPr>
            <a:r>
              <a:rPr lang="zh-CN" altLang="en-US" sz="2800" b="1" dirty="0">
                <a:latin typeface="楷体_GB2312" pitchFamily="49" charset="-122"/>
                <a:ea typeface="楷体_GB2312" pitchFamily="49" charset="-122"/>
              </a:rPr>
              <a:t>现代通讯方式：计算机网络通讯、视频电视</a:t>
            </a:r>
            <a:endParaRPr lang="en-US" altLang="zh-CN" sz="2800" b="1" dirty="0">
              <a:latin typeface="楷体_GB2312" pitchFamily="49" charset="-122"/>
              <a:ea typeface="楷体_GB2312" pitchFamily="49" charset="-122"/>
            </a:endParaRPr>
          </a:p>
          <a:p>
            <a:pPr eaLnBrk="1" hangingPunct="1">
              <a:buClrTx/>
              <a:buSzTx/>
              <a:buFontTx/>
              <a:buNone/>
            </a:pPr>
            <a:r>
              <a:rPr lang="zh-CN" altLang="en-US" sz="2800" b="1" dirty="0">
                <a:latin typeface="楷体_GB2312" pitchFamily="49" charset="-122"/>
                <a:ea typeface="楷体_GB2312" pitchFamily="49" charset="-122"/>
              </a:rPr>
              <a:t>                传播、卫星传输、移动通讯</a:t>
            </a:r>
            <a:endParaRPr lang="zh-CN" altLang="en-US" sz="2800" b="1" dirty="0">
              <a:latin typeface="楷体_GB2312" pitchFamily="49" charset="-122"/>
              <a:ea typeface="楷体_GB2312" pitchFamily="49" charset="-122"/>
            </a:endParaRPr>
          </a:p>
        </p:txBody>
      </p:sp>
      <p:pic>
        <p:nvPicPr>
          <p:cNvPr id="7171" name="Picture 4" descr="BD10256_"/>
          <p:cNvPicPr>
            <a:picLocks noGrp="1" noChangeAspect="1"/>
          </p:cNvPicPr>
          <p:nvPr>
            <p:ph sz="half" idx="2"/>
          </p:nvPr>
        </p:nvPicPr>
        <p:blipFill>
          <a:blip r:embed="rId1"/>
          <a:stretch>
            <a:fillRect/>
          </a:stretch>
        </p:blipFill>
        <p:spPr>
          <a:xfrm>
            <a:off x="1258888" y="1700213"/>
            <a:ext cx="6626225" cy="111125"/>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1"/>
          <p:cNvSpPr>
            <a:spLocks noGrp="1"/>
          </p:cNvSpPr>
          <p:nvPr>
            <p:ph type="title"/>
          </p:nvPr>
        </p:nvSpPr>
        <p:spPr/>
        <p:txBody>
          <a:bodyPr vert="horz" wrap="square" lIns="91440" tIns="45720" rIns="91440" bIns="45720" anchor="ctr" anchorCtr="0"/>
          <a:p>
            <a:pPr>
              <a:buNone/>
            </a:pPr>
            <a:r>
              <a:rPr lang="zh-CN" altLang="en-US" dirty="0"/>
              <a:t>人机交互</a:t>
            </a:r>
            <a:endParaRPr lang="zh-CN" altLang="en-US" dirty="0"/>
          </a:p>
        </p:txBody>
      </p:sp>
      <p:pic>
        <p:nvPicPr>
          <p:cNvPr id="9218" name="Picture 2"/>
          <p:cNvPicPr>
            <a:picLocks noChangeAspect="1"/>
          </p:cNvPicPr>
          <p:nvPr/>
        </p:nvPicPr>
        <p:blipFill>
          <a:blip r:embed="rId1"/>
          <a:stretch>
            <a:fillRect/>
          </a:stretch>
        </p:blipFill>
        <p:spPr>
          <a:xfrm>
            <a:off x="900113" y="1844675"/>
            <a:ext cx="7580312" cy="468630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标题 1"/>
          <p:cNvSpPr>
            <a:spLocks noGrp="1"/>
          </p:cNvSpPr>
          <p:nvPr>
            <p:ph type="title"/>
          </p:nvPr>
        </p:nvSpPr>
        <p:spPr>
          <a:xfrm>
            <a:off x="500063" y="214313"/>
            <a:ext cx="7772400" cy="928687"/>
          </a:xfrm>
        </p:spPr>
        <p:txBody>
          <a:bodyPr vert="horz" wrap="square" lIns="91440" tIns="45720" rIns="91440" bIns="45720" anchor="ctr" anchorCtr="0"/>
          <a:p>
            <a:pPr algn="l"/>
            <a:r>
              <a:rPr lang="zh-CN" altLang="en-US" sz="4000" b="1" dirty="0">
                <a:solidFill>
                  <a:srgbClr val="0000FF"/>
                </a:solidFill>
                <a:latin typeface="华文楷体" panose="02010600040101010101" pitchFamily="2" charset="-122"/>
                <a:ea typeface="华文楷体" panose="02010600040101010101" pitchFamily="2" charset="-122"/>
              </a:rPr>
              <a:t>体感交互：</a:t>
            </a:r>
            <a:r>
              <a:rPr lang="zh-CN" altLang="en-US" sz="4000" b="1" dirty="0">
                <a:solidFill>
                  <a:srgbClr val="FF0000"/>
                </a:solidFill>
                <a:latin typeface="华文楷体" panose="02010600040101010101" pitchFamily="2" charset="-122"/>
                <a:ea typeface="华文楷体" panose="02010600040101010101" pitchFamily="2" charset="-122"/>
              </a:rPr>
              <a:t>手势识别</a:t>
            </a:r>
            <a:endParaRPr lang="zh-CN" altLang="en-US" sz="4000" b="1" dirty="0">
              <a:solidFill>
                <a:srgbClr val="FF0000"/>
              </a:solidFill>
              <a:latin typeface="华文楷体" panose="02010600040101010101" pitchFamily="2" charset="-122"/>
              <a:ea typeface="华文楷体" panose="02010600040101010101" pitchFamily="2" charset="-122"/>
            </a:endParaRPr>
          </a:p>
        </p:txBody>
      </p:sp>
      <p:pic>
        <p:nvPicPr>
          <p:cNvPr id="10242" name="Picture 2"/>
          <p:cNvPicPr>
            <a:picLocks noChangeAspect="1"/>
          </p:cNvPicPr>
          <p:nvPr/>
        </p:nvPicPr>
        <p:blipFill>
          <a:blip r:embed="rId1"/>
          <a:stretch>
            <a:fillRect/>
          </a:stretch>
        </p:blipFill>
        <p:spPr>
          <a:xfrm>
            <a:off x="214313" y="1285875"/>
            <a:ext cx="8805862" cy="521017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标题 1"/>
          <p:cNvSpPr>
            <a:spLocks noGrp="1"/>
          </p:cNvSpPr>
          <p:nvPr>
            <p:ph type="title"/>
          </p:nvPr>
        </p:nvSpPr>
        <p:spPr>
          <a:xfrm>
            <a:off x="571500" y="214313"/>
            <a:ext cx="7772400" cy="642937"/>
          </a:xfrm>
        </p:spPr>
        <p:txBody>
          <a:bodyPr vert="horz" wrap="square" lIns="91440" tIns="45720" rIns="91440" bIns="45720" anchor="ctr" anchorCtr="0"/>
          <a:p>
            <a:pPr algn="l"/>
            <a:r>
              <a:rPr lang="zh-CN" altLang="en-US" sz="3600" b="1" dirty="0">
                <a:solidFill>
                  <a:srgbClr val="0000FF"/>
                </a:solidFill>
                <a:latin typeface="华文楷体" panose="02010600040101010101" pitchFamily="2" charset="-122"/>
                <a:ea typeface="华文楷体" panose="02010600040101010101" pitchFamily="2" charset="-122"/>
              </a:rPr>
              <a:t>基于视觉的</a:t>
            </a:r>
            <a:r>
              <a:rPr lang="zh-CN" altLang="en-US" sz="3600" b="1" dirty="0">
                <a:solidFill>
                  <a:srgbClr val="FF0000"/>
                </a:solidFill>
                <a:latin typeface="华文楷体" panose="02010600040101010101" pitchFamily="2" charset="-122"/>
                <a:ea typeface="华文楷体" panose="02010600040101010101" pitchFamily="2" charset="-122"/>
              </a:rPr>
              <a:t>手势识别</a:t>
            </a:r>
            <a:endParaRPr lang="zh-CN" altLang="en-US" sz="3600" b="1" dirty="0">
              <a:solidFill>
                <a:srgbClr val="FF0000"/>
              </a:solidFill>
              <a:latin typeface="华文楷体" panose="02010600040101010101" pitchFamily="2" charset="-122"/>
              <a:ea typeface="华文楷体" panose="02010600040101010101" pitchFamily="2" charset="-122"/>
            </a:endParaRPr>
          </a:p>
        </p:txBody>
      </p:sp>
      <p:pic>
        <p:nvPicPr>
          <p:cNvPr id="11266" name="Picture 2"/>
          <p:cNvPicPr>
            <a:picLocks noChangeAspect="1"/>
          </p:cNvPicPr>
          <p:nvPr/>
        </p:nvPicPr>
        <p:blipFill>
          <a:blip r:embed="rId1"/>
          <a:stretch>
            <a:fillRect/>
          </a:stretch>
        </p:blipFill>
        <p:spPr>
          <a:xfrm>
            <a:off x="876300" y="857250"/>
            <a:ext cx="6794500" cy="2173288"/>
          </a:xfrm>
          <a:prstGeom prst="rect">
            <a:avLst/>
          </a:prstGeom>
          <a:noFill/>
          <a:ln w="9525">
            <a:noFill/>
          </a:ln>
        </p:spPr>
      </p:pic>
      <p:sp>
        <p:nvSpPr>
          <p:cNvPr id="11267" name="标题 1"/>
          <p:cNvSpPr txBox="1"/>
          <p:nvPr/>
        </p:nvSpPr>
        <p:spPr>
          <a:xfrm>
            <a:off x="571500" y="3065463"/>
            <a:ext cx="7772400" cy="857250"/>
          </a:xfrm>
          <a:prstGeom prst="rect">
            <a:avLst/>
          </a:prstGeom>
          <a:noFill/>
          <a:ln w="9525">
            <a:noFill/>
          </a:ln>
        </p:spPr>
        <p:txBody>
          <a:bodyPr anchor="ctr" anchorCtr="0"/>
          <a:p>
            <a:pPr eaLnBrk="0" hangingPunct="0"/>
            <a:r>
              <a:rPr lang="zh-CN" altLang="en-US" sz="3600" b="1" dirty="0">
                <a:solidFill>
                  <a:srgbClr val="0000FF"/>
                </a:solidFill>
                <a:latin typeface="华文楷体" panose="02010600040101010101" pitchFamily="2" charset="-122"/>
                <a:ea typeface="华文楷体" panose="02010600040101010101" pitchFamily="2" charset="-122"/>
              </a:rPr>
              <a:t>基于传感器的</a:t>
            </a:r>
            <a:r>
              <a:rPr lang="zh-CN" altLang="en-US" sz="3600" b="1" dirty="0">
                <a:solidFill>
                  <a:srgbClr val="FF0000"/>
                </a:solidFill>
                <a:latin typeface="华文楷体" panose="02010600040101010101" pitchFamily="2" charset="-122"/>
                <a:ea typeface="华文楷体" panose="02010600040101010101" pitchFamily="2" charset="-122"/>
              </a:rPr>
              <a:t>手势识别</a:t>
            </a:r>
            <a:endParaRPr lang="zh-CN" altLang="en-US" sz="3600" b="1" dirty="0">
              <a:solidFill>
                <a:srgbClr val="FF0000"/>
              </a:solidFill>
              <a:latin typeface="华文楷体" panose="02010600040101010101" pitchFamily="2" charset="-122"/>
              <a:ea typeface="华文楷体" panose="02010600040101010101" pitchFamily="2" charset="-122"/>
            </a:endParaRPr>
          </a:p>
        </p:txBody>
      </p:sp>
      <p:pic>
        <p:nvPicPr>
          <p:cNvPr id="11268" name="Picture 3"/>
          <p:cNvPicPr>
            <a:picLocks noChangeAspect="1"/>
          </p:cNvPicPr>
          <p:nvPr/>
        </p:nvPicPr>
        <p:blipFill>
          <a:blip r:embed="rId2"/>
          <a:stretch>
            <a:fillRect/>
          </a:stretch>
        </p:blipFill>
        <p:spPr>
          <a:xfrm>
            <a:off x="733425" y="3922713"/>
            <a:ext cx="4283075" cy="1898650"/>
          </a:xfrm>
          <a:prstGeom prst="rect">
            <a:avLst/>
          </a:prstGeom>
          <a:noFill/>
          <a:ln w="9525">
            <a:noFill/>
          </a:ln>
        </p:spPr>
      </p:pic>
      <p:sp>
        <p:nvSpPr>
          <p:cNvPr id="11269" name="标题 1"/>
          <p:cNvSpPr txBox="1"/>
          <p:nvPr/>
        </p:nvSpPr>
        <p:spPr>
          <a:xfrm>
            <a:off x="571500" y="5899150"/>
            <a:ext cx="7772400" cy="714375"/>
          </a:xfrm>
          <a:prstGeom prst="rect">
            <a:avLst/>
          </a:prstGeom>
          <a:noFill/>
          <a:ln w="9525">
            <a:noFill/>
          </a:ln>
        </p:spPr>
        <p:txBody>
          <a:bodyPr anchor="ctr" anchorCtr="0"/>
          <a:p>
            <a:pPr eaLnBrk="0" hangingPunct="0"/>
            <a:r>
              <a:rPr lang="zh-CN" altLang="en-US" sz="3600" b="1" dirty="0">
                <a:solidFill>
                  <a:srgbClr val="0000FF"/>
                </a:solidFill>
                <a:latin typeface="华文楷体" panose="02010600040101010101" pitchFamily="2" charset="-122"/>
                <a:ea typeface="华文楷体" panose="02010600040101010101" pitchFamily="2" charset="-122"/>
              </a:rPr>
              <a:t>基于无线射频的</a:t>
            </a:r>
            <a:r>
              <a:rPr lang="zh-CN" altLang="en-US" sz="3600" b="1" dirty="0">
                <a:solidFill>
                  <a:srgbClr val="FF0000"/>
                </a:solidFill>
                <a:latin typeface="华文楷体" panose="02010600040101010101" pitchFamily="2" charset="-122"/>
                <a:ea typeface="华文楷体" panose="02010600040101010101" pitchFamily="2" charset="-122"/>
              </a:rPr>
              <a:t>手势识别</a:t>
            </a:r>
            <a:endParaRPr lang="zh-CN" altLang="en-US" sz="36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a:xfrm>
            <a:off x="571500" y="214313"/>
            <a:ext cx="8172450" cy="1143000"/>
          </a:xfrm>
        </p:spPr>
        <p:txBody>
          <a:bodyPr vert="horz" wrap="square" lIns="91440" tIns="45720" rIns="91440" bIns="45720" anchor="ctr" anchorCtr="0"/>
          <a:p>
            <a:pPr algn="l"/>
            <a:r>
              <a:rPr lang="zh-CN" altLang="en-US" dirty="0">
                <a:solidFill>
                  <a:srgbClr val="0000FF"/>
                </a:solidFill>
                <a:ea typeface="隶书" panose="02010509060101010101" pitchFamily="49" charset="-122"/>
              </a:rPr>
              <a:t>基于</a:t>
            </a:r>
            <a:r>
              <a:rPr lang="en-US" altLang="zh-CN" sz="3600" dirty="0">
                <a:solidFill>
                  <a:srgbClr val="0000FF"/>
                </a:solidFill>
                <a:ea typeface="隶书" panose="02010509060101010101" pitchFamily="49" charset="-122"/>
              </a:rPr>
              <a:t>WiFi</a:t>
            </a:r>
            <a:r>
              <a:rPr lang="zh-CN" altLang="en-US" dirty="0">
                <a:solidFill>
                  <a:srgbClr val="0000FF"/>
                </a:solidFill>
                <a:ea typeface="隶书" panose="02010509060101010101" pitchFamily="49" charset="-122"/>
              </a:rPr>
              <a:t>信号</a:t>
            </a:r>
            <a:r>
              <a:rPr lang="zh-CN" altLang="en-US" sz="4800" b="1" dirty="0">
                <a:solidFill>
                  <a:srgbClr val="FF0000"/>
                </a:solidFill>
                <a:ea typeface="隶书" panose="02010509060101010101" pitchFamily="49" charset="-122"/>
              </a:rPr>
              <a:t>手势识别</a:t>
            </a:r>
            <a:r>
              <a:rPr lang="zh-CN" altLang="en-US" dirty="0">
                <a:solidFill>
                  <a:srgbClr val="0000FF"/>
                </a:solidFill>
                <a:ea typeface="隶书" panose="02010509060101010101" pitchFamily="49" charset="-122"/>
              </a:rPr>
              <a:t>应用举例</a:t>
            </a:r>
            <a:endParaRPr lang="zh-CN" altLang="en-US" dirty="0">
              <a:solidFill>
                <a:srgbClr val="0000FF"/>
              </a:solidFill>
              <a:ea typeface="隶书" panose="02010509060101010101" pitchFamily="49" charset="-122"/>
            </a:endParaRPr>
          </a:p>
        </p:txBody>
      </p:sp>
      <p:pic>
        <p:nvPicPr>
          <p:cNvPr id="13314" name="图片 5" descr="CSI手势识别系统.png"/>
          <p:cNvPicPr>
            <a:picLocks noChangeAspect="1"/>
          </p:cNvPicPr>
          <p:nvPr/>
        </p:nvPicPr>
        <p:blipFill>
          <a:blip r:embed="rId1"/>
          <a:stretch>
            <a:fillRect/>
          </a:stretch>
        </p:blipFill>
        <p:spPr>
          <a:xfrm>
            <a:off x="1214438" y="1357313"/>
            <a:ext cx="6792912" cy="468630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1" name="图片 4" descr="系统框架.png"/>
          <p:cNvPicPr>
            <a:picLocks noChangeAspect="1"/>
          </p:cNvPicPr>
          <p:nvPr/>
        </p:nvPicPr>
        <p:blipFill>
          <a:blip r:embed="rId1"/>
          <a:stretch>
            <a:fillRect/>
          </a:stretch>
        </p:blipFill>
        <p:spPr>
          <a:xfrm>
            <a:off x="1071563" y="1214438"/>
            <a:ext cx="6735762" cy="4745037"/>
          </a:xfrm>
          <a:prstGeom prst="rect">
            <a:avLst/>
          </a:prstGeom>
          <a:noFill/>
          <a:ln w="9525">
            <a:noFill/>
          </a:ln>
        </p:spPr>
      </p:pic>
      <p:sp>
        <p:nvSpPr>
          <p:cNvPr id="15362" name="Rectangle 2"/>
          <p:cNvSpPr>
            <a:spLocks noGrp="1"/>
          </p:cNvSpPr>
          <p:nvPr>
            <p:ph type="title"/>
          </p:nvPr>
        </p:nvSpPr>
        <p:spPr>
          <a:xfrm>
            <a:off x="500063" y="142875"/>
            <a:ext cx="8420100" cy="1143000"/>
          </a:xfrm>
        </p:spPr>
        <p:txBody>
          <a:bodyPr vert="horz" wrap="square" lIns="91440" tIns="45720" rIns="91440" bIns="45720" anchor="ctr" anchorCtr="0"/>
          <a:p>
            <a:pPr algn="l"/>
            <a:r>
              <a:rPr lang="zh-CN" altLang="en-US" dirty="0">
                <a:solidFill>
                  <a:srgbClr val="0000FF"/>
                </a:solidFill>
                <a:ea typeface="隶书" panose="02010509060101010101" pitchFamily="49" charset="-122"/>
              </a:rPr>
              <a:t>基于</a:t>
            </a:r>
            <a:r>
              <a:rPr lang="en-US" altLang="zh-CN" sz="3600" dirty="0">
                <a:solidFill>
                  <a:srgbClr val="0000FF"/>
                </a:solidFill>
                <a:ea typeface="隶书" panose="02010509060101010101" pitchFamily="49" charset="-122"/>
              </a:rPr>
              <a:t>WiFi</a:t>
            </a:r>
            <a:r>
              <a:rPr lang="zh-CN" altLang="en-US" dirty="0">
                <a:solidFill>
                  <a:srgbClr val="0000FF"/>
                </a:solidFill>
                <a:ea typeface="隶书" panose="02010509060101010101" pitchFamily="49" charset="-122"/>
              </a:rPr>
              <a:t>信号手势识别应用举例</a:t>
            </a:r>
            <a:endParaRPr lang="zh-CN" altLang="en-US" dirty="0">
              <a:solidFill>
                <a:srgbClr val="0000FF"/>
              </a:solidFill>
              <a:ea typeface="隶书" panose="02010509060101010101" pitchFamily="49" charset="-122"/>
            </a:endParaRPr>
          </a:p>
        </p:txBody>
      </p:sp>
      <p:sp>
        <p:nvSpPr>
          <p:cNvPr id="15363" name="TextBox 4"/>
          <p:cNvSpPr txBox="1"/>
          <p:nvPr/>
        </p:nvSpPr>
        <p:spPr>
          <a:xfrm>
            <a:off x="1143000" y="6000750"/>
            <a:ext cx="6572250" cy="461963"/>
          </a:xfrm>
          <a:prstGeom prst="rect">
            <a:avLst/>
          </a:prstGeom>
          <a:noFill/>
          <a:ln w="9525">
            <a:noFill/>
          </a:ln>
        </p:spPr>
        <p:txBody>
          <a:bodyPr anchor="t" anchorCtr="0">
            <a:spAutoFit/>
          </a:bodyPr>
          <a:p>
            <a:r>
              <a:rPr lang="en-US" altLang="zh-CN" dirty="0">
                <a:solidFill>
                  <a:srgbClr val="FF0000"/>
                </a:solidFill>
                <a:latin typeface="Times New Roman" panose="02020603050405020304" pitchFamily="18" charset="0"/>
                <a:ea typeface="宋体" panose="02010600030101010101" pitchFamily="2" charset="-122"/>
              </a:rPr>
              <a:t>CSI</a:t>
            </a: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(Channel State Information)</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信道状态信息</a:t>
            </a:r>
            <a:endParaRPr lang="zh-CN" altLang="en-US"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a:xfrm>
            <a:off x="357188" y="357188"/>
            <a:ext cx="8420100" cy="1143000"/>
          </a:xfrm>
        </p:spPr>
        <p:txBody>
          <a:bodyPr vert="horz" wrap="square" lIns="91440" tIns="45720" rIns="91440" bIns="45720" anchor="ctr" anchorCtr="0"/>
          <a:p>
            <a:pPr algn="l"/>
            <a:r>
              <a:rPr lang="zh-CN" altLang="en-US" dirty="0">
                <a:solidFill>
                  <a:srgbClr val="0000FF"/>
                </a:solidFill>
                <a:ea typeface="隶书" panose="02010509060101010101" pitchFamily="49" charset="-122"/>
              </a:rPr>
              <a:t>基于</a:t>
            </a:r>
            <a:r>
              <a:rPr lang="en-US" altLang="zh-CN" sz="3600" dirty="0">
                <a:solidFill>
                  <a:srgbClr val="0000FF"/>
                </a:solidFill>
                <a:ea typeface="隶书" panose="02010509060101010101" pitchFamily="49" charset="-122"/>
              </a:rPr>
              <a:t>WiFi</a:t>
            </a:r>
            <a:r>
              <a:rPr lang="zh-CN" altLang="en-US" dirty="0">
                <a:solidFill>
                  <a:srgbClr val="0000FF"/>
                </a:solidFill>
                <a:ea typeface="隶书" panose="02010509060101010101" pitchFamily="49" charset="-122"/>
              </a:rPr>
              <a:t>信号手势识别应用举例</a:t>
            </a:r>
            <a:endParaRPr lang="zh-CN" altLang="en-US" dirty="0">
              <a:solidFill>
                <a:srgbClr val="0000FF"/>
              </a:solidFill>
              <a:ea typeface="隶书" panose="02010509060101010101" pitchFamily="49" charset="-122"/>
            </a:endParaRPr>
          </a:p>
        </p:txBody>
      </p:sp>
      <p:sp>
        <p:nvSpPr>
          <p:cNvPr id="17410" name="Text Box 7"/>
          <p:cNvSpPr txBox="1"/>
          <p:nvPr/>
        </p:nvSpPr>
        <p:spPr>
          <a:xfrm>
            <a:off x="1238250" y="5562600"/>
            <a:ext cx="3962400" cy="579438"/>
          </a:xfrm>
          <a:prstGeom prst="rect">
            <a:avLst/>
          </a:prstGeom>
          <a:noFill/>
          <a:ln w="9525">
            <a:noFill/>
          </a:ln>
        </p:spPr>
        <p:txBody>
          <a:bodyPr anchor="t" anchorCtr="0">
            <a:spAutoFit/>
          </a:bodyPr>
          <a:p>
            <a:pPr>
              <a:spcBef>
                <a:spcPct val="50000"/>
              </a:spcBef>
            </a:pPr>
            <a:r>
              <a:rPr lang="zh-CN" altLang="en-US" sz="3200" b="1" dirty="0">
                <a:solidFill>
                  <a:schemeClr val="bg1"/>
                </a:solidFill>
                <a:latin typeface="Times New Roman" panose="02020603050405020304" pitchFamily="18" charset="0"/>
                <a:ea typeface="宋体" panose="02010600030101010101" pitchFamily="2" charset="-122"/>
              </a:rPr>
              <a:t>滤波以后干扰祛除</a:t>
            </a:r>
            <a:endParaRPr lang="zh-CN" altLang="en-US" dirty="0">
              <a:latin typeface="Times New Roman" panose="02020603050405020304" pitchFamily="18" charset="0"/>
              <a:ea typeface="宋体" panose="02010600030101010101" pitchFamily="2" charset="-122"/>
            </a:endParaRPr>
          </a:p>
        </p:txBody>
      </p:sp>
      <p:pic>
        <p:nvPicPr>
          <p:cNvPr id="17411" name="图片 8" descr="CSI.png"/>
          <p:cNvPicPr>
            <a:picLocks noChangeAspect="1"/>
          </p:cNvPicPr>
          <p:nvPr/>
        </p:nvPicPr>
        <p:blipFill>
          <a:blip r:embed="rId1"/>
          <a:stretch>
            <a:fillRect/>
          </a:stretch>
        </p:blipFill>
        <p:spPr>
          <a:xfrm>
            <a:off x="928688" y="1357313"/>
            <a:ext cx="7081837" cy="5253037"/>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3" name="图片 4" descr="timecourse.jpg"/>
          <p:cNvPicPr>
            <a:picLocks noChangeAspect="1"/>
          </p:cNvPicPr>
          <p:nvPr/>
        </p:nvPicPr>
        <p:blipFill>
          <a:blip r:embed="rId1"/>
          <a:stretch>
            <a:fillRect/>
          </a:stretch>
        </p:blipFill>
        <p:spPr>
          <a:xfrm>
            <a:off x="142875" y="1500188"/>
            <a:ext cx="5334000" cy="4000500"/>
          </a:xfrm>
          <a:prstGeom prst="rect">
            <a:avLst/>
          </a:prstGeom>
          <a:noFill/>
          <a:ln w="9525">
            <a:noFill/>
          </a:ln>
        </p:spPr>
      </p:pic>
      <p:sp>
        <p:nvSpPr>
          <p:cNvPr id="18434" name="Rectangle 2"/>
          <p:cNvSpPr>
            <a:spLocks noGrp="1"/>
          </p:cNvSpPr>
          <p:nvPr>
            <p:ph type="title"/>
          </p:nvPr>
        </p:nvSpPr>
        <p:spPr>
          <a:xfrm>
            <a:off x="357188" y="500063"/>
            <a:ext cx="8420100" cy="1143000"/>
          </a:xfrm>
        </p:spPr>
        <p:txBody>
          <a:bodyPr vert="horz" wrap="square" lIns="91440" tIns="45720" rIns="91440" bIns="45720" anchor="ctr" anchorCtr="0"/>
          <a:p>
            <a:pPr algn="l"/>
            <a:r>
              <a:rPr lang="zh-CN" altLang="en-US" dirty="0">
                <a:solidFill>
                  <a:srgbClr val="0000FF"/>
                </a:solidFill>
                <a:ea typeface="隶书" panose="02010509060101010101" pitchFamily="49" charset="-122"/>
              </a:rPr>
              <a:t>脑功能信号检测应用举例</a:t>
            </a:r>
            <a:endParaRPr lang="zh-CN" altLang="en-US" dirty="0">
              <a:solidFill>
                <a:srgbClr val="0000FF"/>
              </a:solidFill>
              <a:ea typeface="隶书" panose="02010509060101010101" pitchFamily="49" charset="-122"/>
            </a:endParaRPr>
          </a:p>
        </p:txBody>
      </p:sp>
      <p:sp>
        <p:nvSpPr>
          <p:cNvPr id="7" name="Text Box 7"/>
          <p:cNvSpPr txBox="1"/>
          <p:nvPr/>
        </p:nvSpPr>
        <p:spPr>
          <a:xfrm>
            <a:off x="642938" y="5572125"/>
            <a:ext cx="2357437" cy="461963"/>
          </a:xfrm>
          <a:prstGeom prst="rect">
            <a:avLst/>
          </a:prstGeom>
          <a:noFill/>
          <a:ln w="9525">
            <a:noFill/>
          </a:ln>
        </p:spPr>
        <p:txBody>
          <a:bodyPr anchor="t" anchorCtr="0">
            <a:spAutoFit/>
          </a:bodyPr>
          <a:p>
            <a:pPr>
              <a:spcBef>
                <a:spcPct val="50000"/>
              </a:spcBef>
            </a:pPr>
            <a:r>
              <a:rPr lang="zh-CN" altLang="en-US" b="1" dirty="0">
                <a:solidFill>
                  <a:srgbClr val="0000FF"/>
                </a:solidFill>
                <a:latin typeface="Times New Roman" panose="02020603050405020304" pitchFamily="18" charset="0"/>
                <a:ea typeface="宋体" panose="02010600030101010101" pitchFamily="2" charset="-122"/>
              </a:rPr>
              <a:t>蓝色</a:t>
            </a:r>
            <a:r>
              <a:rPr lang="en-US" altLang="zh-CN" b="1" dirty="0">
                <a:solidFill>
                  <a:srgbClr val="0000FF"/>
                </a:solidFill>
                <a:latin typeface="Times New Roman" panose="02020603050405020304" pitchFamily="18" charset="0"/>
                <a:ea typeface="宋体" panose="02010600030101010101" pitchFamily="2" charset="-122"/>
              </a:rPr>
              <a:t>:</a:t>
            </a:r>
            <a:r>
              <a:rPr lang="zh-CN" altLang="en-US" b="1" dirty="0">
                <a:solidFill>
                  <a:srgbClr val="0000FF"/>
                </a:solidFill>
                <a:latin typeface="Times New Roman" panose="02020603050405020304" pitchFamily="18" charset="0"/>
                <a:ea typeface="宋体" panose="02010600030101010101" pitchFamily="2" charset="-122"/>
              </a:rPr>
              <a:t>刺激信号</a:t>
            </a:r>
            <a:endParaRPr lang="en-US" altLang="zh-CN" b="1" dirty="0">
              <a:solidFill>
                <a:srgbClr val="0000FF"/>
              </a:solidFill>
              <a:latin typeface="Times New Roman" panose="02020603050405020304" pitchFamily="18" charset="0"/>
              <a:ea typeface="宋体" panose="02010600030101010101" pitchFamily="2" charset="-122"/>
            </a:endParaRPr>
          </a:p>
        </p:txBody>
      </p:sp>
      <p:sp>
        <p:nvSpPr>
          <p:cNvPr id="9" name="Text Box 7"/>
          <p:cNvSpPr txBox="1"/>
          <p:nvPr/>
        </p:nvSpPr>
        <p:spPr>
          <a:xfrm>
            <a:off x="642938" y="6143625"/>
            <a:ext cx="2357437" cy="461963"/>
          </a:xfrm>
          <a:prstGeom prst="rect">
            <a:avLst/>
          </a:prstGeom>
          <a:noFill/>
          <a:ln w="9525">
            <a:noFill/>
          </a:ln>
        </p:spPr>
        <p:txBody>
          <a:bodyPr anchor="t" anchorCtr="0">
            <a:spAutoFit/>
          </a:bodyPr>
          <a:p>
            <a:pPr>
              <a:spcBef>
                <a:spcPct val="50000"/>
              </a:spcBef>
            </a:pPr>
            <a:r>
              <a:rPr lang="zh-CN" altLang="en-US" b="1" dirty="0">
                <a:solidFill>
                  <a:srgbClr val="228E22"/>
                </a:solidFill>
                <a:latin typeface="Times New Roman" panose="02020603050405020304" pitchFamily="18" charset="0"/>
                <a:ea typeface="宋体" panose="02010600030101010101" pitchFamily="2" charset="-122"/>
              </a:rPr>
              <a:t>绿色</a:t>
            </a:r>
            <a:r>
              <a:rPr lang="en-US" altLang="zh-CN" b="1" dirty="0">
                <a:solidFill>
                  <a:srgbClr val="228E22"/>
                </a:solidFill>
                <a:latin typeface="Times New Roman" panose="02020603050405020304" pitchFamily="18" charset="0"/>
                <a:ea typeface="宋体" panose="02010600030101010101" pitchFamily="2" charset="-122"/>
              </a:rPr>
              <a:t>:</a:t>
            </a:r>
            <a:r>
              <a:rPr lang="zh-CN" altLang="en-US" b="1" dirty="0">
                <a:solidFill>
                  <a:srgbClr val="228E22"/>
                </a:solidFill>
                <a:latin typeface="Times New Roman" panose="02020603050405020304" pitchFamily="18" charset="0"/>
                <a:ea typeface="宋体" panose="02010600030101010101" pitchFamily="2" charset="-122"/>
              </a:rPr>
              <a:t>响应信号</a:t>
            </a:r>
            <a:endParaRPr lang="en-US" altLang="zh-CN" b="1" dirty="0">
              <a:solidFill>
                <a:srgbClr val="228E22"/>
              </a:solidFill>
              <a:latin typeface="Times New Roman" panose="02020603050405020304" pitchFamily="18" charset="0"/>
              <a:ea typeface="宋体" panose="02010600030101010101" pitchFamily="2" charset="-122"/>
            </a:endParaRPr>
          </a:p>
        </p:txBody>
      </p:sp>
      <p:pic>
        <p:nvPicPr>
          <p:cNvPr id="18437" name="图片 5" descr="fMRI.png"/>
          <p:cNvPicPr>
            <a:picLocks noChangeAspect="1"/>
          </p:cNvPicPr>
          <p:nvPr/>
        </p:nvPicPr>
        <p:blipFill>
          <a:blip r:embed="rId2"/>
          <a:stretch>
            <a:fillRect/>
          </a:stretch>
        </p:blipFill>
        <p:spPr>
          <a:xfrm>
            <a:off x="5795963" y="1808163"/>
            <a:ext cx="2738437" cy="3298825"/>
          </a:xfrm>
          <a:prstGeom prst="rect">
            <a:avLst/>
          </a:prstGeom>
          <a:noFill/>
          <a:ln w="9525">
            <a:noFill/>
          </a:ln>
        </p:spPr>
      </p:pic>
      <p:sp>
        <p:nvSpPr>
          <p:cNvPr id="8" name="Text Box 7"/>
          <p:cNvSpPr txBox="1"/>
          <p:nvPr/>
        </p:nvSpPr>
        <p:spPr>
          <a:xfrm>
            <a:off x="3748088" y="5818188"/>
            <a:ext cx="2357437" cy="461962"/>
          </a:xfrm>
          <a:prstGeom prst="rect">
            <a:avLst/>
          </a:prstGeom>
          <a:noFill/>
          <a:ln w="9525">
            <a:noFill/>
          </a:ln>
        </p:spPr>
        <p:txBody>
          <a:bodyPr anchor="t" anchorCtr="0">
            <a:spAutoFit/>
          </a:bodyPr>
          <a:p>
            <a:pPr>
              <a:spcBef>
                <a:spcPct val="50000"/>
              </a:spcBef>
            </a:pPr>
            <a:r>
              <a:rPr lang="zh-CN" altLang="en-US" b="1" dirty="0">
                <a:solidFill>
                  <a:srgbClr val="FF0000"/>
                </a:solidFill>
                <a:latin typeface="Times New Roman" panose="02020603050405020304" pitchFamily="18" charset="0"/>
                <a:ea typeface="宋体" panose="02010600030101010101" pitchFamily="2" charset="-122"/>
              </a:rPr>
              <a:t>信号相关分析</a:t>
            </a:r>
            <a:endParaRPr lang="en-US" altLang="zh-CN" b="1" dirty="0">
              <a:solidFill>
                <a:srgbClr val="FF0000"/>
              </a:solidFill>
              <a:latin typeface="Times New Roman" panose="02020603050405020304" pitchFamily="18" charset="0"/>
              <a:ea typeface="宋体" panose="02010600030101010101" pitchFamily="2" charset="-122"/>
            </a:endParaRPr>
          </a:p>
        </p:txBody>
      </p:sp>
      <p:sp>
        <p:nvSpPr>
          <p:cNvPr id="2" name="右箭头 1"/>
          <p:cNvSpPr/>
          <p:nvPr/>
        </p:nvSpPr>
        <p:spPr>
          <a:xfrm>
            <a:off x="5867400" y="5886450"/>
            <a:ext cx="490538" cy="325438"/>
          </a:xfrm>
          <a:prstGeom prst="rightArrow">
            <a:avLst>
              <a:gd name="adj1" fmla="val 50000"/>
              <a:gd name="adj2" fmla="val 50118"/>
            </a:avLst>
          </a:prstGeom>
          <a:solidFill>
            <a:schemeClr val="accent1"/>
          </a:solidFill>
          <a:ln w="9525" cap="flat" cmpd="sng">
            <a:solidFill>
              <a:schemeClr val="tx1"/>
            </a:solidFill>
            <a:prstDash val="solid"/>
            <a:round/>
            <a:headEnd type="none" w="med" len="med"/>
            <a:tailEnd type="none" w="med" len="med"/>
          </a:ln>
        </p:spPr>
        <p:txBody>
          <a:bodyPr wrap="none" anchor="t" anchorCtr="0"/>
          <a:p>
            <a:endParaRPr lang="zh-CN" altLang="en-US" dirty="0">
              <a:latin typeface="Times New Roman" panose="02020603050405020304" pitchFamily="18" charset="0"/>
              <a:ea typeface="宋体" panose="02010600030101010101" pitchFamily="2" charset="-122"/>
            </a:endParaRPr>
          </a:p>
        </p:txBody>
      </p:sp>
      <p:sp>
        <p:nvSpPr>
          <p:cNvPr id="10" name="Text Box 7"/>
          <p:cNvSpPr txBox="1"/>
          <p:nvPr/>
        </p:nvSpPr>
        <p:spPr>
          <a:xfrm>
            <a:off x="6516688" y="5835650"/>
            <a:ext cx="2357437" cy="461963"/>
          </a:xfrm>
          <a:prstGeom prst="rect">
            <a:avLst/>
          </a:prstGeom>
          <a:noFill/>
          <a:ln w="9525">
            <a:noFill/>
          </a:ln>
        </p:spPr>
        <p:txBody>
          <a:bodyPr anchor="t" anchorCtr="0">
            <a:spAutoFit/>
          </a:bodyPr>
          <a:p>
            <a:pPr>
              <a:spcBef>
                <a:spcPct val="50000"/>
              </a:spcBef>
            </a:pPr>
            <a:r>
              <a:rPr lang="zh-CN" altLang="en-US" b="1" dirty="0">
                <a:solidFill>
                  <a:srgbClr val="FF0000"/>
                </a:solidFill>
                <a:latin typeface="Times New Roman" panose="02020603050405020304" pitchFamily="18" charset="0"/>
                <a:ea typeface="宋体" panose="02010600030101010101" pitchFamily="2" charset="-122"/>
              </a:rPr>
              <a:t>疾病诊断与治疗</a:t>
            </a:r>
            <a:endParaRPr lang="en-US" altLang="zh-CN"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8" grpId="0"/>
      <p:bldP spid="2" grpId="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p:txBody>
          <a:bodyPr vert="horz" wrap="square" lIns="91440" tIns="45720" rIns="91440" bIns="45720" anchor="ctr" anchorCtr="0"/>
          <a:p>
            <a:pPr eaLnBrk="1" hangingPunct="1"/>
            <a:r>
              <a:rPr lang="zh-CN" altLang="en-US" b="1" dirty="0">
                <a:ea typeface="隶书" panose="02010509060101010101" pitchFamily="49" charset="-122"/>
              </a:rPr>
              <a:t>信息科学已渗透到所有现代</a:t>
            </a:r>
            <a:br>
              <a:rPr lang="zh-CN" altLang="en-US" b="1" dirty="0">
                <a:ea typeface="隶书" panose="02010509060101010101" pitchFamily="49" charset="-122"/>
              </a:rPr>
            </a:br>
            <a:r>
              <a:rPr lang="zh-CN" altLang="en-US" b="1" dirty="0">
                <a:ea typeface="隶书" panose="02010509060101010101" pitchFamily="49" charset="-122"/>
              </a:rPr>
              <a:t>自然科学和社会科学领域</a:t>
            </a:r>
            <a:endParaRPr lang="zh-CN" altLang="en-US" b="1" dirty="0">
              <a:ea typeface="隶书" panose="02010509060101010101" pitchFamily="49" charset="-122"/>
            </a:endParaRPr>
          </a:p>
        </p:txBody>
      </p:sp>
      <p:sp>
        <p:nvSpPr>
          <p:cNvPr id="19458" name="Rectangle 3"/>
          <p:cNvSpPr>
            <a:spLocks noGrp="1"/>
          </p:cNvSpPr>
          <p:nvPr>
            <p:ph type="body" sz="half" idx="1"/>
          </p:nvPr>
        </p:nvSpPr>
        <p:spPr>
          <a:xfrm>
            <a:off x="827088" y="2205038"/>
            <a:ext cx="7848600" cy="4114800"/>
          </a:xfrm>
        </p:spPr>
        <p:txBody>
          <a:bodyPr vert="horz" wrap="square" lIns="91440" tIns="45720" rIns="91440" bIns="45720" anchor="t" anchorCtr="0"/>
          <a:p>
            <a:pPr eaLnBrk="1" hangingPunct="1">
              <a:buClrTx/>
              <a:buSzTx/>
              <a:buFontTx/>
            </a:pPr>
            <a:r>
              <a:rPr lang="zh-CN" altLang="en-US" sz="2800" b="1" dirty="0">
                <a:latin typeface="楷体_GB2312" pitchFamily="49" charset="-122"/>
                <a:ea typeface="楷体_GB2312" pitchFamily="49" charset="-122"/>
              </a:rPr>
              <a:t>工业监控、生产调度、质量分析、资源遥感、地震预报、人工智能、高效农业、交通监控</a:t>
            </a:r>
            <a:endParaRPr lang="zh-CN" altLang="en-US" sz="2800" b="1" dirty="0">
              <a:latin typeface="楷体_GB2312" pitchFamily="49" charset="-122"/>
              <a:ea typeface="楷体_GB2312" pitchFamily="49" charset="-122"/>
            </a:endParaRPr>
          </a:p>
          <a:p>
            <a:pPr eaLnBrk="1" hangingPunct="1">
              <a:buClrTx/>
              <a:buSzTx/>
              <a:buFontTx/>
            </a:pPr>
            <a:r>
              <a:rPr lang="zh-CN" altLang="en-US" sz="2800" b="1" dirty="0">
                <a:latin typeface="楷体_GB2312" pitchFamily="49" charset="-122"/>
                <a:ea typeface="楷体_GB2312" pitchFamily="49" charset="-122"/>
              </a:rPr>
              <a:t>宇宙探测、军事侦察、武器技术、安全报警、指挥系统</a:t>
            </a:r>
            <a:endParaRPr lang="zh-CN" altLang="en-US" sz="2800" b="1" dirty="0">
              <a:latin typeface="楷体_GB2312" pitchFamily="49" charset="-122"/>
              <a:ea typeface="楷体_GB2312" pitchFamily="49" charset="-122"/>
            </a:endParaRPr>
          </a:p>
          <a:p>
            <a:pPr eaLnBrk="1" hangingPunct="1">
              <a:buClrTx/>
              <a:buSzTx/>
              <a:buFontTx/>
            </a:pPr>
            <a:r>
              <a:rPr lang="zh-CN" altLang="en-US" sz="2800" b="1" dirty="0">
                <a:latin typeface="楷体_GB2312" pitchFamily="49" charset="-122"/>
                <a:ea typeface="楷体_GB2312" pitchFamily="49" charset="-122"/>
              </a:rPr>
              <a:t>经济预测、财务统计、市场信息 、股市分析</a:t>
            </a:r>
            <a:endParaRPr lang="zh-CN" altLang="en-US" sz="2800" b="1" dirty="0">
              <a:latin typeface="楷体_GB2312" pitchFamily="49" charset="-122"/>
              <a:ea typeface="楷体_GB2312" pitchFamily="49" charset="-122"/>
            </a:endParaRPr>
          </a:p>
          <a:p>
            <a:pPr eaLnBrk="1" hangingPunct="1">
              <a:buClrTx/>
              <a:buSzTx/>
              <a:buFontTx/>
            </a:pPr>
            <a:r>
              <a:rPr lang="zh-CN" altLang="en-US" sz="2800" b="1" dirty="0">
                <a:latin typeface="楷体_GB2312" pitchFamily="49" charset="-122"/>
                <a:ea typeface="楷体_GB2312" pitchFamily="49" charset="-122"/>
              </a:rPr>
              <a:t>电子出版、新闻传媒、影视制作</a:t>
            </a:r>
            <a:endParaRPr lang="zh-CN" altLang="en-US" sz="2800" b="1" dirty="0">
              <a:latin typeface="楷体_GB2312" pitchFamily="49" charset="-122"/>
              <a:ea typeface="楷体_GB2312" pitchFamily="49" charset="-122"/>
            </a:endParaRPr>
          </a:p>
          <a:p>
            <a:pPr eaLnBrk="1" hangingPunct="1">
              <a:buClrTx/>
              <a:buSzTx/>
              <a:buFontTx/>
            </a:pPr>
            <a:r>
              <a:rPr lang="zh-CN" altLang="en-US" sz="2800" b="1" dirty="0">
                <a:latin typeface="楷体_GB2312" pitchFamily="49" charset="-122"/>
                <a:ea typeface="楷体_GB2312" pitchFamily="49" charset="-122"/>
              </a:rPr>
              <a:t>远程教育、远程医疗、远程会议</a:t>
            </a:r>
            <a:endParaRPr lang="zh-CN" altLang="en-US" sz="2800" b="1" dirty="0">
              <a:latin typeface="楷体_GB2312" pitchFamily="49" charset="-122"/>
              <a:ea typeface="楷体_GB2312" pitchFamily="49" charset="-122"/>
            </a:endParaRPr>
          </a:p>
          <a:p>
            <a:pPr eaLnBrk="1" hangingPunct="1">
              <a:buClrTx/>
              <a:buSzTx/>
              <a:buFontTx/>
            </a:pPr>
            <a:r>
              <a:rPr lang="zh-CN" altLang="en-US" sz="2800" b="1" dirty="0">
                <a:latin typeface="楷体_GB2312" pitchFamily="49" charset="-122"/>
                <a:ea typeface="楷体_GB2312" pitchFamily="49" charset="-122"/>
              </a:rPr>
              <a:t>虚拟仪器、虚拟手术</a:t>
            </a:r>
            <a:endParaRPr lang="zh-CN" altLang="en-US" sz="2800" b="1" dirty="0">
              <a:latin typeface="楷体_GB2312" pitchFamily="49" charset="-122"/>
              <a:ea typeface="楷体_GB2312" pitchFamily="49" charset="-122"/>
            </a:endParaRPr>
          </a:p>
        </p:txBody>
      </p:sp>
      <p:pic>
        <p:nvPicPr>
          <p:cNvPr id="19459" name="Picture 6" descr="BD10256_"/>
          <p:cNvPicPr>
            <a:picLocks noGrp="1" noChangeAspect="1"/>
          </p:cNvPicPr>
          <p:nvPr>
            <p:ph sz="half" idx="2"/>
          </p:nvPr>
        </p:nvPicPr>
        <p:blipFill>
          <a:blip r:embed="rId1"/>
          <a:stretch>
            <a:fillRect/>
          </a:stretch>
        </p:blipFill>
        <p:spPr>
          <a:xfrm>
            <a:off x="971550" y="1844675"/>
            <a:ext cx="6913563" cy="131763"/>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4"/>
          <p:cNvSpPr/>
          <p:nvPr/>
        </p:nvSpPr>
        <p:spPr>
          <a:xfrm>
            <a:off x="539750" y="981075"/>
            <a:ext cx="8137525" cy="2835275"/>
          </a:xfrm>
          <a:prstGeom prst="rect">
            <a:avLst/>
          </a:prstGeom>
          <a:noFill/>
          <a:ln w="9525">
            <a:noFill/>
          </a:ln>
        </p:spPr>
        <p:txBody>
          <a:bodyPr anchor="t" anchorCtr="0">
            <a:spAutoFit/>
          </a:bodyPr>
          <a:p>
            <a:r>
              <a:rPr lang="zh-CN" altLang="en-US" sz="3200" b="1" dirty="0">
                <a:solidFill>
                  <a:srgbClr val="0000FF"/>
                </a:solidFill>
                <a:latin typeface="Times New Roman" panose="02020603050405020304" pitchFamily="18" charset="0"/>
                <a:ea typeface="宋体" panose="02010600030101010101" pitchFamily="2" charset="-122"/>
              </a:rPr>
              <a:t>信息时代的特征：</a:t>
            </a:r>
            <a:endParaRPr lang="zh-CN" altLang="en-US" sz="3200" b="1" dirty="0">
              <a:solidFill>
                <a:srgbClr val="0000FF"/>
              </a:solidFill>
              <a:latin typeface="Times New Roman" panose="02020603050405020304" pitchFamily="18" charset="0"/>
              <a:ea typeface="宋体" panose="02010600030101010101" pitchFamily="2" charset="-122"/>
            </a:endParaRPr>
          </a:p>
          <a:p>
            <a:endParaRPr lang="zh-CN" altLang="en-US" sz="3200" b="1" dirty="0">
              <a:solidFill>
                <a:srgbClr val="0000FF"/>
              </a:solidFill>
              <a:latin typeface="Times New Roman" panose="02020603050405020304" pitchFamily="18" charset="0"/>
              <a:ea typeface="宋体" panose="02010600030101010101" pitchFamily="2" charset="-122"/>
            </a:endParaRPr>
          </a:p>
          <a:p>
            <a:r>
              <a:rPr lang="zh-CN" altLang="en-US" sz="32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用信息科学和计算机技术的理论和手段来解决科学工程和经济问题。</a:t>
            </a:r>
            <a:endParaRPr lang="zh-CN" altLang="en-US" sz="2800" b="1" dirty="0">
              <a:latin typeface="Times New Roman" panose="02020603050405020304" pitchFamily="18" charset="0"/>
              <a:ea typeface="宋体" panose="02010600030101010101" pitchFamily="2" charset="-122"/>
            </a:endParaRPr>
          </a:p>
          <a:p>
            <a:endParaRPr lang="zh-CN" altLang="en-US" sz="2800" b="1" dirty="0">
              <a:latin typeface="Times New Roman" panose="02020603050405020304" pitchFamily="18" charset="0"/>
              <a:ea typeface="宋体" panose="02010600030101010101" pitchFamily="2" charset="-122"/>
            </a:endParaRPr>
          </a:p>
          <a:p>
            <a:endParaRPr lang="en-US" altLang="zh-CN" sz="2800" b="1" dirty="0">
              <a:latin typeface="Times New Roman" panose="02020603050405020304" pitchFamily="18" charset="0"/>
              <a:ea typeface="宋体" panose="02010600030101010101" pitchFamily="2" charset="-122"/>
            </a:endParaRPr>
          </a:p>
        </p:txBody>
      </p:sp>
      <p:sp>
        <p:nvSpPr>
          <p:cNvPr id="21506" name="Text Box 6"/>
          <p:cNvSpPr txBox="1"/>
          <p:nvPr/>
        </p:nvSpPr>
        <p:spPr>
          <a:xfrm>
            <a:off x="684213" y="5445125"/>
            <a:ext cx="7602537" cy="954088"/>
          </a:xfrm>
          <a:prstGeom prst="rect">
            <a:avLst/>
          </a:prstGeom>
          <a:noFill/>
          <a:ln w="9525">
            <a:noFill/>
          </a:ln>
        </p:spPr>
        <p:txBody>
          <a:bodyPr anchor="t" anchorCtr="0">
            <a:spAutoFit/>
          </a:bodyPr>
          <a:p>
            <a:r>
              <a:rPr lang="zh-CN" altLang="en-US" sz="3200" b="1" dirty="0">
                <a:solidFill>
                  <a:schemeClr val="accent2"/>
                </a:solidFill>
                <a:latin typeface="Times New Roman" panose="02020603050405020304" pitchFamily="18" charset="0"/>
                <a:ea typeface="宋体" panose="02010600030101010101" pitchFamily="2" charset="-122"/>
              </a:rPr>
              <a:t>一切信息活动都离不开</a:t>
            </a:r>
            <a:r>
              <a:rPr lang="zh-CN" altLang="en-US" sz="3200" b="1" dirty="0">
                <a:solidFill>
                  <a:srgbClr val="FF0000"/>
                </a:solidFill>
                <a:latin typeface="Times New Roman" panose="02020603050405020304" pitchFamily="18" charset="0"/>
                <a:ea typeface="宋体" panose="02010600030101010101" pitchFamily="2" charset="-122"/>
              </a:rPr>
              <a:t>信号与系统</a:t>
            </a:r>
            <a:r>
              <a:rPr lang="zh-CN" altLang="en-US" sz="3200" b="1" dirty="0">
                <a:solidFill>
                  <a:schemeClr val="accent2"/>
                </a:solidFill>
                <a:latin typeface="Times New Roman" panose="02020603050405020304" pitchFamily="18" charset="0"/>
                <a:ea typeface="宋体" panose="02010600030101010101" pitchFamily="2" charset="-122"/>
              </a:rPr>
              <a:t>的作用</a:t>
            </a:r>
            <a:endParaRPr lang="zh-CN" altLang="en-US" sz="3200" b="1" dirty="0">
              <a:solidFill>
                <a:schemeClr val="accent2"/>
              </a:solidFill>
              <a:latin typeface="Times New Roman" panose="02020603050405020304" pitchFamily="18" charset="0"/>
              <a:ea typeface="宋体" panose="02010600030101010101" pitchFamily="2" charset="-122"/>
            </a:endParaRPr>
          </a:p>
          <a:p>
            <a:endParaRPr lang="en-US" altLang="zh-CN" dirty="0">
              <a:latin typeface="Times New Roman" panose="02020603050405020304" pitchFamily="18" charset="0"/>
              <a:ea typeface="宋体" panose="02010600030101010101" pitchFamily="2" charset="-122"/>
            </a:endParaRPr>
          </a:p>
        </p:txBody>
      </p:sp>
      <p:sp>
        <p:nvSpPr>
          <p:cNvPr id="21507" name="Rectangle 8"/>
          <p:cNvSpPr/>
          <p:nvPr/>
        </p:nvSpPr>
        <p:spPr>
          <a:xfrm>
            <a:off x="611188" y="3357563"/>
            <a:ext cx="8058150" cy="1554162"/>
          </a:xfrm>
          <a:prstGeom prst="rect">
            <a:avLst/>
          </a:prstGeom>
          <a:noFill/>
          <a:ln w="9525">
            <a:noFill/>
          </a:ln>
        </p:spPr>
        <p:txBody>
          <a:bodyPr anchor="t" anchorCtr="0">
            <a:spAutoFit/>
          </a:bodyPr>
          <a:p>
            <a:r>
              <a:rPr lang="zh-CN" altLang="en-US" sz="3200" b="1" dirty="0">
                <a:solidFill>
                  <a:srgbClr val="0000FF"/>
                </a:solidFill>
                <a:latin typeface="Times New Roman" panose="02020603050405020304" pitchFamily="18" charset="0"/>
                <a:ea typeface="宋体" panose="02010600030101010101" pitchFamily="2" charset="-122"/>
              </a:rPr>
              <a:t>信息活动：</a:t>
            </a:r>
            <a:endParaRPr lang="zh-CN" altLang="en-US" sz="3200" b="1" dirty="0">
              <a:solidFill>
                <a:srgbClr val="0000FF"/>
              </a:solidFill>
              <a:latin typeface="Times New Roman" panose="02020603050405020304" pitchFamily="18" charset="0"/>
              <a:ea typeface="宋体" panose="02010600030101010101" pitchFamily="2" charset="-122"/>
            </a:endParaRPr>
          </a:p>
          <a:p>
            <a:endParaRPr lang="zh-CN" altLang="en-US" sz="3200" b="1" dirty="0">
              <a:solidFill>
                <a:srgbClr val="0000FF"/>
              </a:solidFill>
              <a:latin typeface="Times New Roman" panose="02020603050405020304" pitchFamily="18" charset="0"/>
              <a:ea typeface="宋体" panose="02010600030101010101" pitchFamily="2" charset="-122"/>
            </a:endParaRPr>
          </a:p>
          <a:p>
            <a:r>
              <a:rPr lang="zh-CN" altLang="en-US" sz="32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信息的获取、交换、传输、处理、储存与再现。</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95300" y="260985"/>
            <a:ext cx="7772400" cy="1143000"/>
          </a:xfrm>
        </p:spPr>
        <p:txBody>
          <a:bodyPr/>
          <a:p>
            <a:r>
              <a:rPr lang="zh-CN" altLang="en-US" sz="4000">
                <a:sym typeface="+mn-ea"/>
              </a:rPr>
              <a:t>课程内容</a:t>
            </a:r>
            <a:endParaRPr lang="zh-CN" altLang="en-US" sz="4000">
              <a:latin typeface="华文楷体" panose="02010600040101010101" pitchFamily="2" charset="-122"/>
              <a:ea typeface="华文楷体" panose="02010600040101010101" pitchFamily="2" charset="-122"/>
            </a:endParaRPr>
          </a:p>
        </p:txBody>
      </p:sp>
      <p:sp>
        <p:nvSpPr>
          <p:cNvPr id="4" name="内容占位符 3"/>
          <p:cNvSpPr>
            <a:spLocks noGrp="1"/>
          </p:cNvSpPr>
          <p:nvPr>
            <p:ph idx="1"/>
            <p:custDataLst>
              <p:tags r:id="rId1"/>
            </p:custDataLst>
          </p:nvPr>
        </p:nvSpPr>
        <p:spPr>
          <a:xfrm>
            <a:off x="395605" y="1484630"/>
            <a:ext cx="8163560" cy="4424680"/>
          </a:xfrm>
        </p:spPr>
        <p:txBody>
          <a:bodyPr>
            <a:normAutofit fontScale="25000"/>
          </a:bodyPr>
          <a:p>
            <a:pPr marL="0" marR="0" indent="0" algn="just" defTabSz="914400" rtl="0" eaLnBrk="0" fontAlgn="base" latinLnBrk="0" hangingPunct="0">
              <a:lnSpc>
                <a:spcPct val="100000"/>
              </a:lnSpc>
              <a:spcBef>
                <a:spcPts val="600"/>
              </a:spcBef>
              <a:spcAft>
                <a:spcPts val="600"/>
              </a:spcAft>
              <a:buClr>
                <a:schemeClr val="folHlink"/>
              </a:buClr>
              <a:buSzPct val="60000"/>
              <a:buFont typeface="Wingdings" panose="05000000000000000000" pitchFamily="2" charset="2"/>
              <a:buNone/>
            </a:pPr>
            <a:r>
              <a:rPr kumimoji="1" lang="zh-CN" altLang="en-US" sz="3200" b="0" i="0" u="none" strike="noStrike" kern="0" cap="none" spc="0" normalizeH="0" baseline="0" noProof="1" dirty="0" smtClean="0">
                <a:solidFill>
                  <a:schemeClr val="tx1"/>
                </a:solidFill>
                <a:latin typeface="+mn-lt"/>
                <a:ea typeface="+mn-ea"/>
                <a:cs typeface="+mn-cs"/>
              </a:rPr>
              <a:t>    </a:t>
            </a:r>
            <a:r>
              <a:rPr kumimoji="1" lang="zh-CN" altLang="en-US" sz="8000" b="0" i="0" u="none" strike="noStrike" kern="0" cap="none" spc="0" normalizeH="0" baseline="0" noProof="1" dirty="0" smtClean="0">
                <a:solidFill>
                  <a:schemeClr val="tx1"/>
                </a:solidFill>
                <a:latin typeface="+mn-lt"/>
                <a:ea typeface="+mn-ea"/>
                <a:cs typeface="+mn-cs"/>
              </a:rPr>
              <a:t>  </a:t>
            </a:r>
            <a:r>
              <a:rPr kumimoji="1" lang="en-US" altLang="zh-CN" sz="8000" b="0" i="0" u="none" strike="noStrike" kern="0" cap="none" spc="0" normalizeH="0" baseline="0" noProof="1" dirty="0" smtClean="0">
                <a:solidFill>
                  <a:schemeClr val="tx1"/>
                </a:solidFill>
                <a:latin typeface="+mn-lt"/>
                <a:ea typeface="+mn-ea"/>
                <a:cs typeface="+mn-cs"/>
              </a:rPr>
              <a:t>     </a:t>
            </a:r>
            <a:r>
              <a:rPr kumimoji="1" lang="zh-CN" altLang="en-US" sz="8000" dirty="0" smtClean="0">
                <a:latin typeface="华文楷体" panose="02010600040101010101" pitchFamily="2" charset="-122"/>
                <a:ea typeface="华文楷体" panose="02010600040101010101" pitchFamily="2" charset="-122"/>
                <a:cs typeface="华文楷体" panose="02010600040101010101" pitchFamily="2" charset="-122"/>
                <a:sym typeface="+mn-ea"/>
              </a:rPr>
              <a:t>为了适应计算机科学与技术专业学生培养，考虑到学生的认知过程及课程体系和内容的连贯性，在</a:t>
            </a:r>
            <a:r>
              <a:rPr kumimoji="1" lang="zh-CN" altLang="en-US" sz="8000" b="1" dirty="0" smtClean="0">
                <a:latin typeface="华文楷体" panose="02010600040101010101" pitchFamily="2" charset="-122"/>
                <a:ea typeface="华文楷体" panose="02010600040101010101" pitchFamily="2" charset="-122"/>
                <a:cs typeface="华文楷体" panose="02010600040101010101" pitchFamily="2" charset="-122"/>
                <a:sym typeface="+mn-ea"/>
              </a:rPr>
              <a:t>教学体系结构</a:t>
            </a:r>
            <a:r>
              <a:rPr kumimoji="1" lang="zh-CN" altLang="en-US" sz="8000" dirty="0" smtClean="0">
                <a:latin typeface="华文楷体" panose="02010600040101010101" pitchFamily="2" charset="-122"/>
                <a:ea typeface="华文楷体" panose="02010600040101010101" pitchFamily="2" charset="-122"/>
                <a:cs typeface="华文楷体" panose="02010600040101010101" pitchFamily="2" charset="-122"/>
                <a:sym typeface="+mn-ea"/>
              </a:rPr>
              <a:t>上，将课程教学内容按照</a:t>
            </a:r>
            <a:r>
              <a:rPr kumimoji="1" lang="zh-CN" altLang="en-US" sz="8000" b="1" dirty="0" smtClean="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知识导入</a:t>
            </a:r>
            <a:r>
              <a:rPr kumimoji="1" lang="zh-CN" altLang="en-US" sz="8000" dirty="0" smtClean="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a:t>
            </a:r>
            <a:r>
              <a:rPr kumimoji="1" lang="zh-CN" altLang="en-US" sz="8000" b="1" dirty="0" smtClean="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思维培养、能力进阶、应用拓展</a:t>
            </a:r>
            <a:r>
              <a:rPr kumimoji="1" lang="zh-CN" altLang="en-US" sz="8000" dirty="0" smtClean="0">
                <a:latin typeface="华文楷体" panose="02010600040101010101" pitchFamily="2" charset="-122"/>
                <a:ea typeface="华文楷体" panose="02010600040101010101" pitchFamily="2" charset="-122"/>
                <a:cs typeface="华文楷体" panose="02010600040101010101" pitchFamily="2" charset="-122"/>
                <a:sym typeface="+mn-ea"/>
              </a:rPr>
              <a:t>四个模块进行组织，并</a:t>
            </a:r>
            <a:r>
              <a:rPr kumimoji="1" lang="zh-CN" altLang="en-US" sz="8000" b="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增强实践教学</a:t>
            </a:r>
            <a:r>
              <a:rPr kumimoji="1" lang="zh-CN" altLang="en-US" sz="8000" dirty="0" smtClean="0">
                <a:latin typeface="华文楷体" panose="02010600040101010101" pitchFamily="2" charset="-122"/>
                <a:ea typeface="华文楷体" panose="02010600040101010101" pitchFamily="2" charset="-122"/>
                <a:cs typeface="华文楷体" panose="02010600040101010101" pitchFamily="2" charset="-122"/>
                <a:sym typeface="+mn-ea"/>
              </a:rPr>
              <a:t>环节，从</a:t>
            </a:r>
            <a:r>
              <a:rPr kumimoji="1" lang="zh-CN" altLang="en-US" sz="8000" b="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知识</a:t>
            </a:r>
            <a:r>
              <a:rPr kumimoji="1" lang="zh-CN" altLang="en-US" sz="8000" dirty="0" smtClean="0">
                <a:latin typeface="华文楷体" panose="02010600040101010101" pitchFamily="2" charset="-122"/>
                <a:ea typeface="华文楷体" panose="02010600040101010101" pitchFamily="2" charset="-122"/>
                <a:cs typeface="华文楷体" panose="02010600040101010101" pitchFamily="2" charset="-122"/>
                <a:sym typeface="+mn-ea"/>
              </a:rPr>
              <a:t>、</a:t>
            </a:r>
            <a:r>
              <a:rPr kumimoji="1" lang="zh-CN" altLang="en-US" sz="8000" b="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思维</a:t>
            </a:r>
            <a:r>
              <a:rPr kumimoji="1" lang="zh-CN" altLang="en-US" sz="8000" dirty="0" smtClean="0">
                <a:latin typeface="华文楷体" panose="02010600040101010101" pitchFamily="2" charset="-122"/>
                <a:ea typeface="华文楷体" panose="02010600040101010101" pitchFamily="2" charset="-122"/>
                <a:cs typeface="华文楷体" panose="02010600040101010101" pitchFamily="2" charset="-122"/>
                <a:sym typeface="+mn-ea"/>
              </a:rPr>
              <a:t>和</a:t>
            </a:r>
            <a:r>
              <a:rPr kumimoji="1" lang="zh-CN" altLang="en-US" sz="8000" b="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能力</a:t>
            </a:r>
            <a:r>
              <a:rPr kumimoji="1" lang="zh-CN" altLang="en-US" sz="8000" dirty="0" smtClean="0">
                <a:latin typeface="华文楷体" panose="02010600040101010101" pitchFamily="2" charset="-122"/>
                <a:ea typeface="华文楷体" panose="02010600040101010101" pitchFamily="2" charset="-122"/>
                <a:cs typeface="华文楷体" panose="02010600040101010101" pitchFamily="2" charset="-122"/>
                <a:sym typeface="+mn-ea"/>
              </a:rPr>
              <a:t>三个方面同时入手，培养学生创造性思维，提高实践动手能力。</a:t>
            </a:r>
            <a:endPar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endParaRPr>
          </a:p>
          <a:p>
            <a:pPr marL="0" marR="0" indent="0" algn="just" defTabSz="914400" rtl="0" eaLnBrk="0" fontAlgn="base" latinLnBrk="0" hangingPunct="0">
              <a:lnSpc>
                <a:spcPct val="100000"/>
              </a:lnSpc>
              <a:spcBef>
                <a:spcPts val="600"/>
              </a:spcBef>
              <a:spcAft>
                <a:spcPts val="600"/>
              </a:spcAft>
              <a:buClr>
                <a:schemeClr val="folHlink"/>
              </a:buClr>
              <a:buSzPct val="60000"/>
              <a:buFont typeface="Wingdings" panose="05000000000000000000" pitchFamily="2" charset="2"/>
              <a:buNone/>
            </a:pPr>
            <a:r>
              <a:rPr kumimoji="1" lang="en-US" altLang="zh-CN"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        </a:t>
            </a:r>
            <a:r>
              <a:rPr kumimoji="1" lang="zh-CN" altLang="en-US" sz="8000" b="1"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在知识结构上</a:t>
            </a:r>
            <a:r>
              <a:rPr kumimoji="1" lang="zh-CN" altLang="en-US" sz="800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a:t>
            </a:r>
            <a:r>
              <a:rPr kumimoji="1" lang="zh-CN" altLang="en-US" sz="8000" b="1" i="0" u="none" strike="noStrike" kern="0" cap="none" spc="0" normalizeH="0" baseline="0" noProof="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rPr>
              <a:t>着重数字信号分析，以时域分析为基础，频域分析为重点，再扩展到复频域分析</a:t>
            </a:r>
            <a:r>
              <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。加强数学概念、物理概念与工程概念，深入浅出，并与</a:t>
            </a:r>
            <a:r>
              <a:rPr kumimoji="1" lang="zh-CN" altLang="en-US" sz="8000" b="1"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数字滤波器</a:t>
            </a:r>
            <a:r>
              <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的设计与实现相结合，理论联系实际，</a:t>
            </a:r>
            <a:r>
              <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帮助学生掌握</a:t>
            </a:r>
            <a:r>
              <a:rPr kumimoji="1" lang="zh-CN" altLang="en-US" sz="8000" b="1" i="0" u="none" strike="noStrike" kern="0" cap="none" spc="0" normalizeH="0" baseline="0" noProof="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线性时不变系统</a:t>
            </a:r>
            <a:r>
              <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的分析理论知识的来龙去脉，以及隐藏在知识之后的本质性关系、规律，</a:t>
            </a:r>
            <a:r>
              <a:rPr kumimoji="1" lang="zh-CN" altLang="en-US" sz="8000" b="1" i="0" u="none" strike="noStrike" kern="0" cap="none" spc="0" normalizeH="0" baseline="0" noProof="1" dirty="0" smtClean="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培养学生用数学思维方法分析和解决问题的能力</a:t>
            </a:r>
            <a:r>
              <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a:t>
            </a:r>
            <a:endPar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endParaRPr>
          </a:p>
          <a:p>
            <a:pPr marL="0" marR="0" indent="0" algn="just" defTabSz="914400" rtl="0" eaLnBrk="0" fontAlgn="base" latinLnBrk="0" hangingPunct="0">
              <a:lnSpc>
                <a:spcPct val="100000"/>
              </a:lnSpc>
              <a:spcBef>
                <a:spcPts val="600"/>
              </a:spcBef>
              <a:spcAft>
                <a:spcPts val="600"/>
              </a:spcAft>
              <a:buClr>
                <a:schemeClr val="folHlink"/>
              </a:buClr>
              <a:buSzPct val="60000"/>
              <a:buFont typeface="Wingdings" panose="05000000000000000000" pitchFamily="2" charset="2"/>
              <a:buNone/>
            </a:pPr>
            <a:r>
              <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        </a:t>
            </a:r>
            <a:endParaRPr kumimoji="1" lang="zh-CN" altLang="en-US" sz="8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
            <p:custDataLst>
              <p:tags r:id="rId1"/>
            </p:custDataLst>
          </p:nvPr>
        </p:nvSpPr>
        <p:spPr>
          <a:xfrm>
            <a:off x="467360" y="1341120"/>
            <a:ext cx="8190865" cy="4431030"/>
          </a:xfrm>
        </p:spPr>
        <p:txBody>
          <a:bodyPr/>
          <a:p>
            <a:pPr marL="342900" marR="0" indent="-342900" algn="l" defTabSz="914400" rtl="0" eaLnBrk="0" fontAlgn="base" latinLnBrk="0" hangingPunct="0">
              <a:lnSpc>
                <a:spcPct val="100000"/>
              </a:lnSpc>
              <a:spcBef>
                <a:spcPts val="0"/>
              </a:spcBef>
              <a:spcAft>
                <a:spcPts val="0"/>
              </a:spcAft>
              <a:buClr>
                <a:schemeClr val="folHlink"/>
              </a:buClr>
              <a:buSzPct val="60000"/>
              <a:buFont typeface="Wingdings" panose="05000000000000000000" pitchFamily="2" charset="2"/>
              <a:buChar char="n"/>
            </a:pPr>
            <a:r>
              <a:rPr kumimoji="1" lang="zh-CN" altLang="en-US" sz="2400" b="1" i="0" u="none" strike="noStrike" kern="0" cap="none" spc="0" normalizeH="0" baseline="0" noProof="1" dirty="0" smtClean="0">
                <a:solidFill>
                  <a:srgbClr val="FF0000"/>
                </a:solidFill>
                <a:latin typeface="+mn-lt"/>
                <a:ea typeface="+mn-ea"/>
                <a:cs typeface="+mn-cs"/>
                <a:sym typeface="+mn-ea"/>
              </a:rPr>
              <a:t>知识导入</a:t>
            </a:r>
            <a:endParaRPr kumimoji="1" lang="en-US" altLang="zh-CN" sz="3200" b="1" i="0" u="none" strike="noStrike" kern="0" cap="none" spc="0" normalizeH="0" baseline="0" noProof="1" dirty="0" smtClean="0">
              <a:solidFill>
                <a:srgbClr val="0000FF"/>
              </a:solidFill>
              <a:latin typeface="+mn-lt"/>
              <a:ea typeface="+mn-ea"/>
              <a:cs typeface="+mn-cs"/>
            </a:endParaRPr>
          </a:p>
          <a:p>
            <a:pPr marL="0" marR="0" indent="0" algn="l" defTabSz="914400" rtl="0" eaLnBrk="0" fontAlgn="base" latinLnBrk="0" hangingPunct="0">
              <a:lnSpc>
                <a:spcPct val="100000"/>
              </a:lnSpc>
              <a:spcBef>
                <a:spcPts val="0"/>
              </a:spcBef>
              <a:spcAft>
                <a:spcPts val="0"/>
              </a:spcAft>
              <a:buClr>
                <a:schemeClr val="folHlink"/>
              </a:buClr>
              <a:buSzPct val="60000"/>
              <a:buFont typeface="Wingdings" panose="05000000000000000000" pitchFamily="2" charset="2"/>
              <a:buNone/>
            </a:pPr>
            <a:r>
              <a:rPr kumimoji="1" lang="en-US" altLang="zh-CN" sz="3200" b="1" i="0" u="none" strike="noStrike" kern="0" cap="none" spc="0" normalizeH="0" baseline="0" noProof="1" dirty="0">
                <a:solidFill>
                  <a:srgbClr val="FF0000"/>
                </a:solidFill>
                <a:latin typeface="+mn-lt"/>
                <a:ea typeface="+mn-ea"/>
                <a:cs typeface="+mn-cs"/>
                <a:sym typeface="+mn-ea"/>
              </a:rPr>
              <a:t> </a:t>
            </a:r>
            <a:r>
              <a:rPr kumimoji="1" lang="en-US" altLang="zh-CN" sz="3200" b="1" i="0" u="none" strike="noStrike" kern="0" cap="none" spc="0" normalizeH="0" baseline="0" noProof="1" dirty="0" smtClean="0">
                <a:solidFill>
                  <a:srgbClr val="FF0000"/>
                </a:solidFill>
                <a:latin typeface="+mn-lt"/>
                <a:ea typeface="+mn-ea"/>
                <a:cs typeface="+mn-cs"/>
                <a:sym typeface="+mn-ea"/>
              </a:rPr>
              <a:t>    </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首先</a:t>
            </a:r>
            <a:r>
              <a:rPr kumimoji="1" lang="zh-CN" altLang="en-US" sz="2000" b="1" i="0" u="none" strike="noStrike" kern="0" cap="none" spc="0" normalizeH="0" baseline="0" noProof="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从离散时间信号分析入手</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，针对面临的实际离散问题，引入离散时间系统模型，</a:t>
            </a:r>
            <a:r>
              <a:rPr lang="zh-CN" altLang="en-US" sz="2000" b="1" dirty="0" smtClean="0">
                <a:solidFill>
                  <a:srgbClr val="3399FF"/>
                </a:solidFill>
                <a:latin typeface="华文楷体" panose="02010600040101010101" pitchFamily="2" charset="-122"/>
                <a:ea typeface="华文楷体" panose="02010600040101010101" pitchFamily="2" charset="-122"/>
                <a:cs typeface="华文楷体" panose="02010600040101010101" pitchFamily="2" charset="-122"/>
                <a:sym typeface="+mn-ea"/>
              </a:rPr>
              <a:t>基于信号分解的基本思想</a:t>
            </a:r>
            <a:r>
              <a:rPr lang="zh-CN" altLang="en-US" sz="2000" dirty="0" smtClean="0">
                <a:latin typeface="华文楷体" panose="02010600040101010101" pitchFamily="2" charset="-122"/>
                <a:ea typeface="华文楷体" panose="02010600040101010101" pitchFamily="2" charset="-122"/>
                <a:cs typeface="华文楷体" panose="02010600040101010101" pitchFamily="2" charset="-122"/>
                <a:sym typeface="+mn-ea"/>
              </a:rPr>
              <a:t>，</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介绍信号与系统</a:t>
            </a:r>
            <a:r>
              <a:rPr kumimoji="1" lang="zh-CN" altLang="en-US" sz="2000" b="1" i="0" u="none" strike="noStrike" kern="0" cap="none" spc="0" normalizeH="0" baseline="0" noProof="1" dirty="0" smtClean="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时域分析方法</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培养学生面临复杂问题时，采用“</a:t>
            </a:r>
            <a:r>
              <a:rPr kumimoji="1" lang="zh-CN" altLang="en-US" sz="2000" b="1" i="0" u="none" strike="noStrike" kern="0" cap="none" spc="0" normalizeH="0" baseline="0" noProof="1" dirty="0" smtClean="0">
                <a:solidFill>
                  <a:srgbClr val="3399FF"/>
                </a:solidFill>
                <a:latin typeface="华文楷体" panose="02010600040101010101" pitchFamily="2" charset="-122"/>
                <a:ea typeface="华文楷体" panose="02010600040101010101" pitchFamily="2" charset="-122"/>
                <a:cs typeface="华文楷体" panose="02010600040101010101" pitchFamily="2" charset="-122"/>
                <a:sym typeface="+mn-ea"/>
              </a:rPr>
              <a:t>化繁为简</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a:t>
            </a:r>
            <a:r>
              <a:rPr kumimoji="1" lang="zh-CN" altLang="en-US" sz="2000" b="1" i="0" u="none" strike="noStrike" kern="0" cap="none" spc="0" normalizeH="0" baseline="0" noProof="1" dirty="0" smtClean="0">
                <a:solidFill>
                  <a:srgbClr val="3399FF"/>
                </a:solidFill>
                <a:latin typeface="华文楷体" panose="02010600040101010101" pitchFamily="2" charset="-122"/>
                <a:ea typeface="华文楷体" panose="02010600040101010101" pitchFamily="2" charset="-122"/>
                <a:cs typeface="华文楷体" panose="02010600040101010101" pitchFamily="2" charset="-122"/>
                <a:sym typeface="+mn-ea"/>
              </a:rPr>
              <a:t>化难为易</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”的方法处理，将陌生问题转化为已知、熟悉的问题的思维方式。</a:t>
            </a:r>
            <a:endParaRPr kumimoji="1" lang="en-US" altLang="zh-CN"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endParaRPr>
          </a:p>
          <a:p>
            <a:pPr marL="342900" marR="0" indent="-342900" algn="l" defTabSz="914400" rtl="0" eaLnBrk="0" fontAlgn="base" latinLnBrk="0" hangingPunct="0">
              <a:lnSpc>
                <a:spcPct val="100000"/>
              </a:lnSpc>
              <a:spcBef>
                <a:spcPts val="600"/>
              </a:spcBef>
              <a:spcAft>
                <a:spcPts val="0"/>
              </a:spcAft>
              <a:buClr>
                <a:schemeClr val="folHlink"/>
              </a:buClr>
              <a:buSzPct val="60000"/>
              <a:buFont typeface="Wingdings" panose="05000000000000000000" pitchFamily="2" charset="2"/>
              <a:buChar char="n"/>
            </a:pPr>
            <a:r>
              <a:rPr kumimoji="1" lang="zh-CN" altLang="en-US" sz="2400" b="1" i="0" u="none" strike="noStrike" kern="0" cap="none" spc="0" normalizeH="0" baseline="0" noProof="1" dirty="0">
                <a:solidFill>
                  <a:srgbClr val="FF0000"/>
                </a:solidFill>
                <a:latin typeface="+mn-lt"/>
                <a:ea typeface="+mn-ea"/>
                <a:cs typeface="+mn-cs"/>
                <a:sym typeface="+mn-ea"/>
              </a:rPr>
              <a:t>思维</a:t>
            </a:r>
            <a:r>
              <a:rPr kumimoji="1" lang="zh-CN" altLang="en-US" sz="2400" b="1" i="0" u="none" strike="noStrike" kern="0" cap="none" spc="0" normalizeH="0" baseline="0" noProof="1" dirty="0" smtClean="0">
                <a:solidFill>
                  <a:srgbClr val="FF0000"/>
                </a:solidFill>
                <a:latin typeface="+mn-lt"/>
                <a:ea typeface="+mn-ea"/>
                <a:cs typeface="+mn-cs"/>
                <a:sym typeface="+mn-ea"/>
              </a:rPr>
              <a:t>培养</a:t>
            </a:r>
            <a:endParaRPr kumimoji="1" lang="en-US" altLang="zh-CN" sz="2800" b="1" i="0" u="none" strike="noStrike" kern="0" cap="none" spc="0" normalizeH="0" baseline="0" noProof="1" dirty="0" smtClean="0">
              <a:solidFill>
                <a:srgbClr val="0000FF"/>
              </a:solidFill>
              <a:latin typeface="+mn-lt"/>
              <a:ea typeface="+mn-ea"/>
              <a:cs typeface="+mn-cs"/>
            </a:endParaRPr>
          </a:p>
          <a:p>
            <a:pPr marL="0" marR="0" indent="0" algn="l" defTabSz="914400" rtl="0" eaLnBrk="0" fontAlgn="base" latinLnBrk="0" hangingPunct="0">
              <a:lnSpc>
                <a:spcPct val="100000"/>
              </a:lnSpc>
              <a:spcBef>
                <a:spcPts val="0"/>
              </a:spcBef>
              <a:spcAft>
                <a:spcPts val="600"/>
              </a:spcAft>
              <a:buClr>
                <a:schemeClr val="folHlink"/>
              </a:buClr>
              <a:buSzPct val="60000"/>
              <a:buFont typeface="Wingdings" panose="05000000000000000000" pitchFamily="2" charset="2"/>
              <a:buNone/>
            </a:pPr>
            <a:r>
              <a:rPr kumimoji="1" lang="en-US" altLang="zh-CN" sz="3200" b="1" i="0" u="none" strike="noStrike" kern="0" cap="none" spc="0" normalizeH="0" baseline="0" noProof="1" dirty="0">
                <a:solidFill>
                  <a:srgbClr val="FF0000"/>
                </a:solidFill>
                <a:latin typeface="+mn-lt"/>
                <a:ea typeface="+mn-ea"/>
                <a:cs typeface="+mn-cs"/>
                <a:sym typeface="+mn-ea"/>
              </a:rPr>
              <a:t> </a:t>
            </a:r>
            <a:r>
              <a:rPr kumimoji="1" lang="en-US" altLang="zh-CN" sz="3200" b="1" i="0" u="none" strike="noStrike" kern="0" cap="none" spc="0" normalizeH="0" baseline="0" noProof="1" dirty="0" smtClean="0">
                <a:solidFill>
                  <a:srgbClr val="FF0000"/>
                </a:solidFill>
                <a:latin typeface="+mn-lt"/>
                <a:ea typeface="+mn-ea"/>
                <a:cs typeface="+mn-cs"/>
                <a:sym typeface="+mn-ea"/>
              </a:rPr>
              <a:t>  </a:t>
            </a:r>
            <a:r>
              <a:rPr kumimoji="1" lang="en-US" altLang="zh-CN" sz="3200" b="1" i="0" u="none" strike="noStrike" kern="0" cap="none" spc="0" normalizeH="0" baseline="0" noProof="1" dirty="0" smtClean="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  </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为了利用计算机实现连续时间信号处理，将连续信号离散化，由此引入</a:t>
            </a:r>
            <a:r>
              <a:rPr kumimoji="1" lang="zh-CN" altLang="en-US" sz="2000" b="1"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连续信号采样</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概念及频谱分析问题，由此导入周期连续信号的傅里叶级数，并由周期信号到非周期信号，介绍</a:t>
            </a:r>
            <a:r>
              <a:rPr kumimoji="1" lang="zh-CN" altLang="en-US" sz="2000" b="1" i="0" u="none" strike="noStrike" kern="0" cap="none" spc="0" normalizeH="0" baseline="0" noProof="1" dirty="0" smtClean="0">
                <a:solidFill>
                  <a:schemeClr val="accent2"/>
                </a:solidFill>
                <a:latin typeface="华文楷体" panose="02010600040101010101" pitchFamily="2" charset="-122"/>
                <a:ea typeface="华文楷体" panose="02010600040101010101" pitchFamily="2" charset="-122"/>
                <a:cs typeface="华文楷体" panose="02010600040101010101" pitchFamily="2" charset="-122"/>
                <a:sym typeface="+mn-ea"/>
              </a:rPr>
              <a:t>傅里叶变换</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理论，进一步介绍连续时间信号与系统的</a:t>
            </a:r>
            <a:r>
              <a:rPr kumimoji="1" lang="zh-CN" altLang="en-US" sz="2000" b="1" i="0" u="none" strike="noStrike" kern="0" cap="none" spc="0" normalizeH="0" baseline="0" noProof="1" dirty="0" smtClean="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频域分析方法</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，将复杂的时域微积分求解问题转换为频域的代数求解问题，培养学生用数学思维方法分析和解决实际问题</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a:t>
            </a:r>
            <a:endPar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5" name="标题 4"/>
          <p:cNvSpPr>
            <a:spLocks noGrp="1"/>
          </p:cNvSpPr>
          <p:nvPr>
            <p:ph type="title"/>
            <p:custDataLst>
              <p:tags r:id="rId2"/>
            </p:custDataLst>
          </p:nvPr>
        </p:nvSpPr>
        <p:spPr>
          <a:xfrm>
            <a:off x="495300" y="260985"/>
            <a:ext cx="7772400" cy="1143000"/>
          </a:xfrm>
        </p:spPr>
        <p:txBody>
          <a:bodyPr/>
          <a:p>
            <a:r>
              <a:rPr lang="zh-CN" altLang="en-US" sz="4000"/>
              <a:t>课程内容</a:t>
            </a:r>
            <a:endParaRPr lang="zh-CN" altLang="en-US" sz="4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
            <p:custDataLst>
              <p:tags r:id="rId1"/>
            </p:custDataLst>
          </p:nvPr>
        </p:nvSpPr>
        <p:spPr>
          <a:xfrm>
            <a:off x="597853" y="1268413"/>
            <a:ext cx="8107363" cy="4786313"/>
          </a:xfrm>
        </p:spPr>
        <p:txBody>
          <a:bodyPr/>
          <a:p>
            <a:pPr marL="342900" marR="0" indent="-342900" algn="l" defTabSz="914400" rtl="0" eaLnBrk="0" fontAlgn="base" latinLnBrk="0" hangingPunct="0">
              <a:lnSpc>
                <a:spcPct val="100000"/>
              </a:lnSpc>
              <a:spcBef>
                <a:spcPts val="0"/>
              </a:spcBef>
              <a:spcAft>
                <a:spcPts val="0"/>
              </a:spcAft>
              <a:buClr>
                <a:schemeClr val="folHlink"/>
              </a:buClr>
              <a:buSzPct val="60000"/>
              <a:buFont typeface="Wingdings" panose="05000000000000000000" pitchFamily="2" charset="2"/>
              <a:buChar char="n"/>
            </a:pPr>
            <a:r>
              <a:rPr kumimoji="1" lang="zh-CN" altLang="en-US" sz="2400" b="1" i="0" u="none" strike="noStrike" kern="0" cap="none" spc="0" normalizeH="0" baseline="0" noProof="1" dirty="0" smtClean="0">
                <a:solidFill>
                  <a:srgbClr val="FF0000"/>
                </a:solidFill>
                <a:latin typeface="+mn-lt"/>
                <a:ea typeface="+mn-ea"/>
                <a:cs typeface="+mn-cs"/>
                <a:sym typeface="+mn-ea"/>
              </a:rPr>
              <a:t>能力进阶</a:t>
            </a:r>
            <a:endParaRPr kumimoji="1" lang="en-US" altLang="zh-CN" sz="3200" b="1" i="0" u="none" strike="noStrike" kern="0" cap="none" spc="0" normalizeH="0" baseline="0" noProof="1" dirty="0" smtClean="0">
              <a:solidFill>
                <a:srgbClr val="0000FF"/>
              </a:solidFill>
              <a:latin typeface="+mn-lt"/>
              <a:ea typeface="+mn-ea"/>
              <a:cs typeface="+mn-cs"/>
            </a:endParaRPr>
          </a:p>
          <a:p>
            <a:pPr marL="0" marR="0" indent="0" algn="just" defTabSz="914400" rtl="0" eaLnBrk="0" fontAlgn="base" latinLnBrk="0" hangingPunct="0">
              <a:lnSpc>
                <a:spcPct val="100000"/>
              </a:lnSpc>
              <a:spcBef>
                <a:spcPts val="0"/>
              </a:spcBef>
              <a:spcAft>
                <a:spcPts val="600"/>
              </a:spcAft>
              <a:buClr>
                <a:schemeClr val="folHlink"/>
              </a:buClr>
              <a:buSzPct val="60000"/>
              <a:buFont typeface="Wingdings" panose="05000000000000000000" pitchFamily="2" charset="2"/>
              <a:buNone/>
            </a:pPr>
            <a:r>
              <a:rPr kumimoji="1" lang="en-US" altLang="zh-CN" sz="3200" b="1" i="0" u="none" strike="noStrike" kern="0" cap="none" spc="0" normalizeH="0" baseline="0" noProof="1" dirty="0">
                <a:solidFill>
                  <a:srgbClr val="FF0000"/>
                </a:solidFill>
                <a:latin typeface="+mn-lt"/>
                <a:ea typeface="+mn-ea"/>
                <a:cs typeface="+mn-cs"/>
                <a:sym typeface="+mn-ea"/>
              </a:rPr>
              <a:t> </a:t>
            </a:r>
            <a:r>
              <a:rPr kumimoji="1" lang="en-US" altLang="zh-CN" sz="3200" b="1" i="0" u="none" strike="noStrike" kern="0" cap="none" spc="0" normalizeH="0" baseline="0" noProof="1" dirty="0" smtClean="0">
                <a:solidFill>
                  <a:srgbClr val="FF0000"/>
                </a:solidFill>
                <a:latin typeface="+mn-lt"/>
                <a:ea typeface="+mn-ea"/>
                <a:cs typeface="+mn-cs"/>
                <a:sym typeface="+mn-ea"/>
              </a:rPr>
              <a:t>    </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以连续时间傅里叶变换理论为基础，进一步介绍离散傅立叶变换。</a:t>
            </a:r>
            <a:r>
              <a:rPr kumimoji="1" lang="zh-CN" altLang="en-US" sz="2000" b="0" i="0" u="none" strike="noStrike" kern="0" cap="none" spc="0" normalizeH="0" baseline="0" noProof="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离散傅立叶变换</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是实现</a:t>
            </a:r>
            <a:r>
              <a:rPr kumimoji="1" lang="zh-CN" altLang="en-US" sz="2000" b="0" i="0" u="none" strike="noStrike" kern="0" cap="none" spc="0" normalizeH="0" baseline="0" noProof="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信号数字化分析</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的</a:t>
            </a:r>
            <a:r>
              <a:rPr kumimoji="1" lang="zh-CN" altLang="en-US" sz="2000" b="1" i="0" u="none" strike="noStrike" kern="0" cap="none" spc="0" normalizeH="0" baseline="0" noProof="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核心技术</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。为解决离散傅立叶变换实际应用中计算复杂度问题，引导学生探讨</a:t>
            </a:r>
            <a:r>
              <a:rPr kumimoji="1" lang="zh-CN" altLang="en-US" sz="2000" b="1" i="0" u="none" strike="noStrike" kern="0" cap="none" spc="0" normalizeH="0" baseline="0" noProof="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快速傅里叶变换</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算法及应用，并结合教师自身科研工作，培养学生独立思考、深入专研问题的习惯，提高学生的创新能力。</a:t>
            </a:r>
            <a:endParaRPr kumimoji="1" lang="en-US" altLang="zh-CN"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endParaRPr>
          </a:p>
          <a:p>
            <a:pPr marL="342900" marR="0" indent="-342900" algn="l" defTabSz="914400" rtl="0" eaLnBrk="0" fontAlgn="base" latinLnBrk="0" hangingPunct="0">
              <a:lnSpc>
                <a:spcPct val="100000"/>
              </a:lnSpc>
              <a:spcBef>
                <a:spcPts val="0"/>
              </a:spcBef>
              <a:spcAft>
                <a:spcPts val="0"/>
              </a:spcAft>
              <a:buClr>
                <a:schemeClr val="folHlink"/>
              </a:buClr>
              <a:buSzPct val="60000"/>
              <a:buFont typeface="Wingdings" panose="05000000000000000000" pitchFamily="2" charset="2"/>
              <a:buChar char="n"/>
            </a:pPr>
            <a:r>
              <a:rPr kumimoji="1" lang="zh-CN" altLang="en-US" sz="2400" b="1" i="0" u="none" strike="noStrike" kern="0" cap="none" spc="0" normalizeH="0" baseline="0" noProof="1" dirty="0">
                <a:solidFill>
                  <a:srgbClr val="FF0000"/>
                </a:solidFill>
                <a:latin typeface="+mn-lt"/>
                <a:ea typeface="+mn-ea"/>
                <a:cs typeface="+mn-cs"/>
                <a:sym typeface="+mn-ea"/>
              </a:rPr>
              <a:t>应用拓展</a:t>
            </a:r>
            <a:endParaRPr kumimoji="1" lang="en-US" altLang="zh-CN" sz="2800" b="1" i="0" u="none" strike="noStrike" kern="0" cap="none" spc="0" normalizeH="0" baseline="0" noProof="1" dirty="0" smtClean="0">
              <a:solidFill>
                <a:srgbClr val="0000FF"/>
              </a:solidFill>
              <a:latin typeface="+mn-lt"/>
              <a:ea typeface="+mn-ea"/>
              <a:cs typeface="+mn-cs"/>
            </a:endParaRPr>
          </a:p>
          <a:p>
            <a:pPr marL="0" marR="0" indent="0" algn="just" defTabSz="914400" rtl="0" eaLnBrk="0" fontAlgn="base" latinLnBrk="0" hangingPunct="0">
              <a:lnSpc>
                <a:spcPct val="100000"/>
              </a:lnSpc>
              <a:spcBef>
                <a:spcPts val="0"/>
              </a:spcBef>
              <a:spcAft>
                <a:spcPts val="0"/>
              </a:spcAft>
              <a:buClr>
                <a:schemeClr val="folHlink"/>
              </a:buClr>
              <a:buSzPct val="60000"/>
              <a:buFont typeface="Wingdings" panose="05000000000000000000" pitchFamily="2" charset="2"/>
              <a:buNone/>
            </a:pPr>
            <a:r>
              <a:rPr kumimoji="1" lang="en-US" altLang="zh-CN" sz="3200" b="1" i="0" u="none" strike="noStrike" kern="0" cap="none" spc="0" normalizeH="0" baseline="0" noProof="1" dirty="0">
                <a:solidFill>
                  <a:srgbClr val="FF0000"/>
                </a:solidFill>
                <a:latin typeface="+mn-lt"/>
                <a:ea typeface="+mn-ea"/>
                <a:cs typeface="+mn-cs"/>
                <a:sym typeface="+mn-ea"/>
              </a:rPr>
              <a:t> </a:t>
            </a:r>
            <a:r>
              <a:rPr kumimoji="1" lang="en-US" altLang="zh-CN" sz="3200" b="1" i="0" u="none" strike="noStrike" kern="0" cap="none" spc="0" normalizeH="0" baseline="0" noProof="1" dirty="0" smtClean="0">
                <a:solidFill>
                  <a:srgbClr val="FF0000"/>
                </a:solidFill>
                <a:latin typeface="+mn-lt"/>
                <a:ea typeface="+mn-ea"/>
                <a:cs typeface="+mn-cs"/>
                <a:sym typeface="+mn-ea"/>
              </a:rPr>
              <a:t>    </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为了解决实际的工程问题时，将离散傅立叶变换扩展为 Z 变换，介绍离散信号与系统的</a:t>
            </a:r>
            <a:r>
              <a:rPr kumimoji="1" lang="zh-CN" altLang="en-US" sz="2000" b="1" i="0" u="none" strike="noStrike" kern="0" cap="none" spc="0" normalizeH="0" baseline="0" noProof="1" dirty="0" smtClean="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复频域分析方法</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。为了让学生能够深入理解信号与系统的基本理论及分析方法，引入</a:t>
            </a:r>
            <a:r>
              <a:rPr kumimoji="1" lang="zh-CN" altLang="en-US" sz="2000" b="1" i="0" u="none" strike="noStrike" kern="0" cap="none" spc="0" normalizeH="0" baseline="0" noProof="1" dirty="0" smtClean="0">
                <a:solidFill>
                  <a:schemeClr val="accent2"/>
                </a:solidFill>
                <a:latin typeface="华文楷体" panose="02010600040101010101" pitchFamily="2" charset="-122"/>
                <a:ea typeface="华文楷体" panose="02010600040101010101" pitchFamily="2" charset="-122"/>
                <a:cs typeface="华文楷体" panose="02010600040101010101" pitchFamily="2" charset="-122"/>
                <a:sym typeface="+mn-ea"/>
              </a:rPr>
              <a:t>数字滤波器</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概念，并着重介绍在图像处理及数据传输中广泛应用线性相位</a:t>
            </a:r>
            <a:r>
              <a:rPr kumimoji="1" lang="zh-CN" altLang="en-US" sz="2000" b="0" i="0" u="none" strike="noStrike" kern="0" cap="none" spc="0" normalizeH="0" baseline="0" noProof="1" dirty="0" smtClean="0">
                <a:solidFill>
                  <a:srgbClr val="0066FF"/>
                </a:solidFill>
                <a:latin typeface="华文楷体" panose="02010600040101010101" pitchFamily="2" charset="-122"/>
                <a:ea typeface="华文楷体" panose="02010600040101010101" pitchFamily="2" charset="-122"/>
                <a:cs typeface="华文楷体" panose="02010600040101010101" pitchFamily="2" charset="-122"/>
                <a:sym typeface="+mn-ea"/>
              </a:rPr>
              <a:t>FIR</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数字滤波器的设计及实现方法，将各种复杂理论及方法应用到实际的信号处理系统中，启发和引导学生向</a:t>
            </a:r>
            <a:r>
              <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广度和深度思考。</a:t>
            </a:r>
            <a:endParaRPr kumimoji="1" lang="zh-CN" altLang="en-US" sz="2000" b="0" i="0" u="none" strike="noStrike" kern="0" cap="none" spc="0" normalizeH="0" baseline="0" noProof="1" dirty="0">
              <a:solidFill>
                <a:schemeClr val="tx1"/>
              </a:solidFill>
              <a:latin typeface="+mn-lt"/>
              <a:ea typeface="+mn-ea"/>
              <a:cs typeface="+mn-cs"/>
            </a:endParaRPr>
          </a:p>
          <a:p>
            <a:pPr marL="0" marR="0" indent="0" algn="l" defTabSz="914400" rtl="0" eaLnBrk="0" fontAlgn="base" latinLnBrk="0" hangingPunct="0">
              <a:lnSpc>
                <a:spcPct val="100000"/>
              </a:lnSpc>
              <a:spcBef>
                <a:spcPts val="0"/>
              </a:spcBef>
              <a:spcAft>
                <a:spcPts val="600"/>
              </a:spcAft>
              <a:buClr>
                <a:schemeClr val="folHlink"/>
              </a:buClr>
              <a:buSzPct val="60000"/>
              <a:buFont typeface="Wingdings" panose="05000000000000000000" pitchFamily="2" charset="2"/>
              <a:buNone/>
            </a:pPr>
            <a:endParaRPr kumimoji="1" lang="zh-CN" altLang="en-US" sz="2000" b="0" i="0" u="none" strike="noStrike" kern="0" cap="none" spc="0" normalizeH="0" baseline="0" noProof="1" dirty="0" smtClean="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
        <p:nvSpPr>
          <p:cNvPr id="5" name="标题 4"/>
          <p:cNvSpPr>
            <a:spLocks noGrp="1"/>
          </p:cNvSpPr>
          <p:nvPr>
            <p:ph type="title"/>
            <p:custDataLst>
              <p:tags r:id="rId2"/>
            </p:custDataLst>
          </p:nvPr>
        </p:nvSpPr>
        <p:spPr>
          <a:xfrm>
            <a:off x="495300" y="260985"/>
            <a:ext cx="7772400" cy="1143000"/>
          </a:xfrm>
        </p:spPr>
        <p:txBody>
          <a:bodyPr/>
          <a:p>
            <a:r>
              <a:rPr lang="zh-CN" altLang="en-US" sz="4000"/>
              <a:t>课程内容</a:t>
            </a:r>
            <a:endParaRPr lang="zh-CN" altLang="en-US" sz="4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Text Box 2"/>
          <p:cNvSpPr txBox="1"/>
          <p:nvPr/>
        </p:nvSpPr>
        <p:spPr>
          <a:xfrm>
            <a:off x="1447800" y="762000"/>
            <a:ext cx="5943600" cy="584200"/>
          </a:xfrm>
          <a:prstGeom prst="rect">
            <a:avLst/>
          </a:prstGeom>
          <a:noFill/>
          <a:ln w="9525">
            <a:noFill/>
          </a:ln>
        </p:spPr>
        <p:txBody>
          <a:bodyPr anchor="t" anchorCtr="0">
            <a:spAutoFit/>
          </a:bodyPr>
          <a:p>
            <a:pPr algn="ctr">
              <a:spcBef>
                <a:spcPct val="50000"/>
              </a:spcBef>
            </a:pPr>
            <a:r>
              <a:rPr lang="zh-CN" altLang="en-US" sz="3200" b="1" dirty="0">
                <a:solidFill>
                  <a:srgbClr val="FF0000"/>
                </a:solidFill>
                <a:latin typeface="Times New Roman" panose="02020603050405020304" pitchFamily="18" charset="0"/>
                <a:ea typeface="宋体" panose="02010600030101010101" pitchFamily="2" charset="-122"/>
              </a:rPr>
              <a:t>第一章   信号与系统</a:t>
            </a:r>
            <a:endParaRPr lang="zh-CN" altLang="en-US" sz="3200" b="1" dirty="0">
              <a:solidFill>
                <a:srgbClr val="FF0000"/>
              </a:solidFill>
              <a:latin typeface="Times New Roman" panose="02020603050405020304" pitchFamily="18" charset="0"/>
              <a:ea typeface="宋体" panose="02010600030101010101" pitchFamily="2" charset="-122"/>
            </a:endParaRPr>
          </a:p>
        </p:txBody>
      </p:sp>
      <p:pic>
        <p:nvPicPr>
          <p:cNvPr id="23554" name="Picture 3" descr="BD10256_"/>
          <p:cNvPicPr>
            <a:picLocks noChangeAspect="1"/>
          </p:cNvPicPr>
          <p:nvPr/>
        </p:nvPicPr>
        <p:blipFill>
          <a:blip r:embed="rId1"/>
          <a:stretch>
            <a:fillRect/>
          </a:stretch>
        </p:blipFill>
        <p:spPr>
          <a:xfrm>
            <a:off x="914400" y="1676400"/>
            <a:ext cx="6858000" cy="114300"/>
          </a:xfrm>
          <a:prstGeom prst="rect">
            <a:avLst/>
          </a:prstGeom>
          <a:noFill/>
          <a:ln w="9525">
            <a:noFill/>
          </a:ln>
        </p:spPr>
      </p:pic>
      <p:sp>
        <p:nvSpPr>
          <p:cNvPr id="23555" name="Text Box 4"/>
          <p:cNvSpPr txBox="1"/>
          <p:nvPr/>
        </p:nvSpPr>
        <p:spPr>
          <a:xfrm>
            <a:off x="827088" y="1917065"/>
            <a:ext cx="7129462" cy="2443163"/>
          </a:xfrm>
          <a:prstGeom prst="rect">
            <a:avLst/>
          </a:prstGeom>
          <a:noFill/>
          <a:ln w="9525">
            <a:noFill/>
          </a:ln>
        </p:spPr>
        <p:txBody>
          <a:bodyPr anchor="t" anchorCtr="0">
            <a:spAutoFit/>
          </a:bodyPr>
          <a:p>
            <a:pPr>
              <a:spcBef>
                <a:spcPct val="50000"/>
              </a:spcBef>
              <a:buClr>
                <a:srgbClr val="FF0000"/>
              </a:buClr>
              <a:buFont typeface="Wingdings" panose="05000000000000000000" pitchFamily="2" charset="2"/>
              <a:buChar char="Ø"/>
            </a:pPr>
            <a:r>
              <a:rPr lang="zh-CN" altLang="en-US" sz="2800" b="1" dirty="0">
                <a:latin typeface="Times New Roman" panose="02020603050405020304" pitchFamily="18" charset="0"/>
                <a:ea typeface="宋体" panose="02010600030101010101" pitchFamily="2" charset="-122"/>
              </a:rPr>
              <a:t>了解本门课程所要研究的问题</a:t>
            </a:r>
            <a:endParaRPr lang="zh-CN" altLang="en-US" sz="2800" b="1" dirty="0">
              <a:latin typeface="Times New Roman" panose="02020603050405020304" pitchFamily="18" charset="0"/>
              <a:ea typeface="宋体" panose="02010600030101010101" pitchFamily="2" charset="-122"/>
            </a:endParaRPr>
          </a:p>
          <a:p>
            <a:pPr>
              <a:spcBef>
                <a:spcPct val="50000"/>
              </a:spcBef>
              <a:buClr>
                <a:srgbClr val="FF0000"/>
              </a:buClr>
              <a:buFont typeface="Wingdings" panose="05000000000000000000" pitchFamily="2" charset="2"/>
              <a:buChar char="Ø"/>
            </a:pPr>
            <a:r>
              <a:rPr lang="zh-CN" altLang="en-US" sz="2800" b="1" dirty="0">
                <a:latin typeface="Times New Roman" panose="02020603050405020304" pitchFamily="18" charset="0"/>
                <a:ea typeface="宋体" panose="02010600030101010101" pitchFamily="2" charset="-122"/>
              </a:rPr>
              <a:t>了解信号的概念、分类</a:t>
            </a:r>
            <a:endParaRPr lang="zh-CN" altLang="en-US" sz="2800" b="1" dirty="0">
              <a:latin typeface="Times New Roman" panose="02020603050405020304" pitchFamily="18" charset="0"/>
              <a:ea typeface="宋体" panose="02010600030101010101" pitchFamily="2" charset="-122"/>
            </a:endParaRPr>
          </a:p>
          <a:p>
            <a:pPr>
              <a:spcBef>
                <a:spcPct val="50000"/>
              </a:spcBef>
              <a:buClr>
                <a:srgbClr val="FF0000"/>
              </a:buClr>
              <a:buFont typeface="Wingdings" panose="05000000000000000000" pitchFamily="2" charset="2"/>
              <a:buChar char="Ø"/>
            </a:pPr>
            <a:r>
              <a:rPr lang="zh-CN" altLang="en-US" sz="2800" b="1" dirty="0">
                <a:latin typeface="Times New Roman" panose="02020603050405020304" pitchFamily="18" charset="0"/>
                <a:ea typeface="宋体" panose="02010600030101010101" pitchFamily="2" charset="-122"/>
              </a:rPr>
              <a:t>了解系统的概念、分类</a:t>
            </a:r>
            <a:endParaRPr lang="zh-CN" altLang="en-US" sz="2800" b="1" dirty="0">
              <a:latin typeface="Times New Roman" panose="02020603050405020304" pitchFamily="18" charset="0"/>
              <a:ea typeface="宋体" panose="02010600030101010101" pitchFamily="2" charset="-122"/>
            </a:endParaRPr>
          </a:p>
          <a:p>
            <a:pPr>
              <a:spcBef>
                <a:spcPct val="50000"/>
              </a:spcBef>
              <a:buClr>
                <a:srgbClr val="FF0000"/>
              </a:buClr>
              <a:buFont typeface="Wingdings" panose="05000000000000000000" pitchFamily="2" charset="2"/>
              <a:buChar char="Ø"/>
            </a:pPr>
            <a:r>
              <a:rPr lang="zh-CN" altLang="en-US" sz="2800" b="1" dirty="0">
                <a:latin typeface="Times New Roman" panose="02020603050405020304" pitchFamily="18" charset="0"/>
                <a:ea typeface="宋体" panose="02010600030101010101" pitchFamily="2" charset="-122"/>
              </a:rPr>
              <a:t>初步了解信号与系统的分析方法</a:t>
            </a:r>
            <a:endParaRPr lang="zh-CN" altLang="en-US" sz="2800" b="1" dirty="0">
              <a:latin typeface="Times New Roman" panose="02020603050405020304" pitchFamily="18" charset="0"/>
              <a:ea typeface="宋体" panose="02010600030101010101" pitchFamily="2" charset="-122"/>
            </a:endParaRPr>
          </a:p>
        </p:txBody>
      </p:sp>
      <p:sp>
        <p:nvSpPr>
          <p:cNvPr id="23556" name="Text Box 5"/>
          <p:cNvSpPr txBox="1"/>
          <p:nvPr/>
        </p:nvSpPr>
        <p:spPr>
          <a:xfrm>
            <a:off x="1143000" y="1066800"/>
            <a:ext cx="6248400" cy="457200"/>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p:txBody>
      </p:sp>
      <p:sp>
        <p:nvSpPr>
          <p:cNvPr id="23557" name="Rectangle 4"/>
          <p:cNvSpPr/>
          <p:nvPr/>
        </p:nvSpPr>
        <p:spPr>
          <a:xfrm>
            <a:off x="827405" y="4753610"/>
            <a:ext cx="7345680" cy="1814830"/>
          </a:xfrm>
          <a:prstGeom prst="rect">
            <a:avLst/>
          </a:prstGeom>
          <a:noFill/>
          <a:ln w="9525">
            <a:noFill/>
          </a:ln>
        </p:spPr>
        <p:txBody>
          <a:bodyPr wrap="square" anchor="t" anchorCtr="0">
            <a:spAutoFit/>
          </a:bodyPr>
          <a:p>
            <a:pPr algn="l">
              <a:spcBef>
                <a:spcPct val="50000"/>
              </a:spcBef>
              <a:buClr>
                <a:srgbClr val="FF0000"/>
              </a:buClr>
              <a:buSzTx/>
              <a:buFont typeface="Wingdings" panose="05000000000000000000" pitchFamily="2" charset="2"/>
              <a:buChar char="Ø"/>
            </a:pPr>
            <a:r>
              <a:rPr lang="zh-CN" altLang="en-US" sz="2800" b="1" dirty="0">
                <a:latin typeface="Times New Roman" panose="02020603050405020304" pitchFamily="18" charset="0"/>
                <a:ea typeface="宋体" panose="02010600030101010101" pitchFamily="2" charset="-122"/>
              </a:rPr>
              <a:t>掌握信号的简单运算及自变量变换</a:t>
            </a:r>
            <a:endParaRPr lang="zh-CN" altLang="en-US" sz="2800" b="1" dirty="0">
              <a:latin typeface="Times New Roman" panose="02020603050405020304" pitchFamily="18" charset="0"/>
              <a:ea typeface="宋体" panose="02010600030101010101" pitchFamily="2" charset="-122"/>
            </a:endParaRPr>
          </a:p>
          <a:p>
            <a:pPr algn="l">
              <a:spcBef>
                <a:spcPct val="50000"/>
              </a:spcBef>
              <a:buClr>
                <a:srgbClr val="FF0000"/>
              </a:buClr>
              <a:buSzTx/>
              <a:buFont typeface="Wingdings" panose="05000000000000000000" pitchFamily="2" charset="2"/>
              <a:buChar char="Ø"/>
            </a:pPr>
            <a:r>
              <a:rPr lang="zh-CN" altLang="en-US" sz="2800" b="1" dirty="0">
                <a:latin typeface="Times New Roman" panose="02020603050405020304" pitchFamily="18" charset="0"/>
                <a:ea typeface="宋体" panose="02010600030101010101" pitchFamily="2" charset="-122"/>
              </a:rPr>
              <a:t>掌握常用基本信号及理解奇异函数的概念</a:t>
            </a:r>
            <a:endParaRPr lang="zh-CN" altLang="en-US" sz="2800" b="1" dirty="0">
              <a:latin typeface="Times New Roman" panose="02020603050405020304" pitchFamily="18" charset="0"/>
              <a:ea typeface="宋体" panose="02010600030101010101" pitchFamily="2" charset="-122"/>
            </a:endParaRPr>
          </a:p>
          <a:p>
            <a:pPr algn="l">
              <a:spcBef>
                <a:spcPct val="50000"/>
              </a:spcBef>
              <a:buClr>
                <a:srgbClr val="FF0000"/>
              </a:buClr>
              <a:buSzTx/>
              <a:buFont typeface="Wingdings" panose="05000000000000000000" pitchFamily="2" charset="2"/>
              <a:buChar char="Ø"/>
            </a:pPr>
            <a:r>
              <a:rPr lang="zh-CN" altLang="en-US" sz="2800" b="1" dirty="0">
                <a:latin typeface="Times New Roman" panose="02020603050405020304" pitchFamily="18" charset="0"/>
                <a:ea typeface="宋体" panose="02010600030101010101" pitchFamily="2" charset="-122"/>
              </a:rPr>
              <a:t>理解系统的基本性质</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p:nvPr/>
        </p:nvSpPr>
        <p:spPr>
          <a:xfrm>
            <a:off x="457200" y="404813"/>
            <a:ext cx="5267325" cy="519112"/>
          </a:xfrm>
          <a:prstGeom prst="rect">
            <a:avLst/>
          </a:prstGeom>
          <a:noFill/>
          <a:ln w="9525">
            <a:noFill/>
          </a:ln>
        </p:spPr>
        <p:txBody>
          <a:bodyPr anchor="t" anchorCtr="0">
            <a:spAutoFit/>
          </a:bodyPr>
          <a:p>
            <a:r>
              <a:rPr lang="en-US" altLang="zh-CN" sz="2800" b="1" dirty="0">
                <a:solidFill>
                  <a:srgbClr val="FF0000"/>
                </a:solidFill>
                <a:latin typeface="Times New Roman" panose="02020603050405020304" pitchFamily="18" charset="0"/>
                <a:ea typeface="宋体" panose="02010600030101010101" pitchFamily="2" charset="-122"/>
              </a:rPr>
              <a:t>《</a:t>
            </a:r>
            <a:r>
              <a:rPr lang="zh-CN" altLang="en-US" sz="2800" b="1" dirty="0">
                <a:solidFill>
                  <a:srgbClr val="FF0000"/>
                </a:solidFill>
                <a:latin typeface="Times New Roman" panose="02020603050405020304" pitchFamily="18" charset="0"/>
                <a:ea typeface="宋体" panose="02010600030101010101" pitchFamily="2" charset="-122"/>
              </a:rPr>
              <a:t>信号与系统</a:t>
            </a:r>
            <a:r>
              <a:rPr lang="en-US" altLang="zh-CN" sz="2800" b="1" dirty="0">
                <a:solidFill>
                  <a:srgbClr val="FF0000"/>
                </a:solidFill>
                <a:latin typeface="Times New Roman" panose="02020603050405020304" pitchFamily="18" charset="0"/>
                <a:ea typeface="宋体" panose="02010600030101010101" pitchFamily="2" charset="-122"/>
              </a:rPr>
              <a:t>》</a:t>
            </a:r>
            <a:r>
              <a:rPr lang="zh-CN" altLang="en-US" sz="2800" b="1" dirty="0">
                <a:solidFill>
                  <a:srgbClr val="FF0000"/>
                </a:solidFill>
                <a:latin typeface="Times New Roman" panose="02020603050405020304" pitchFamily="18" charset="0"/>
                <a:ea typeface="宋体" panose="02010600030101010101" pitchFamily="2" charset="-122"/>
              </a:rPr>
              <a:t>要研究的问题</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7171" name="Rectangle 3"/>
          <p:cNvSpPr/>
          <p:nvPr/>
        </p:nvSpPr>
        <p:spPr>
          <a:xfrm>
            <a:off x="714375" y="1857375"/>
            <a:ext cx="6934200" cy="457200"/>
          </a:xfrm>
          <a:prstGeom prst="rect">
            <a:avLst/>
          </a:prstGeom>
          <a:noFill/>
          <a:ln w="9525">
            <a:noFill/>
          </a:ln>
        </p:spPr>
        <p:txBody>
          <a:bodyPr anchor="t" anchorCtr="0">
            <a:spAutoFit/>
          </a:bodyPr>
          <a:p>
            <a:pPr>
              <a:spcBef>
                <a:spcPct val="50000"/>
              </a:spcBef>
              <a:buClr>
                <a:srgbClr val="FF0000"/>
              </a:buClr>
            </a:pPr>
            <a:r>
              <a:rPr lang="zh-CN" altLang="en-US" b="1" dirty="0">
                <a:solidFill>
                  <a:srgbClr val="FF0000"/>
                </a:solidFill>
                <a:latin typeface="Times New Roman" panose="02020603050405020304" pitchFamily="18" charset="0"/>
                <a:ea typeface="宋体" panose="02010600030101010101" pitchFamily="2" charset="-122"/>
              </a:rPr>
              <a:t>信号与系统的研究对象</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25603" name="Text Box 7"/>
          <p:cNvSpPr txBox="1"/>
          <p:nvPr/>
        </p:nvSpPr>
        <p:spPr>
          <a:xfrm>
            <a:off x="1768475" y="3435350"/>
            <a:ext cx="184150" cy="4572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sp>
        <p:nvSpPr>
          <p:cNvPr id="7176" name="Text Box 8"/>
          <p:cNvSpPr txBox="1"/>
          <p:nvPr/>
        </p:nvSpPr>
        <p:spPr>
          <a:xfrm>
            <a:off x="709613" y="2500313"/>
            <a:ext cx="7921625" cy="457200"/>
          </a:xfrm>
          <a:prstGeom prst="rect">
            <a:avLst/>
          </a:prstGeom>
          <a:noFill/>
          <a:ln w="9525">
            <a:noFill/>
          </a:ln>
        </p:spPr>
        <p:txBody>
          <a:bodyPr anchor="t" anchorCtr="0">
            <a:spAutoFit/>
          </a:bodyPr>
          <a:p>
            <a:r>
              <a:rPr lang="zh-CN" altLang="en-US" b="1" dirty="0">
                <a:solidFill>
                  <a:schemeClr val="accent2"/>
                </a:solidFill>
                <a:latin typeface="Times New Roman" panose="02020603050405020304" pitchFamily="18" charset="0"/>
                <a:ea typeface="宋体" panose="02010600030101010101" pitchFamily="2" charset="-122"/>
              </a:rPr>
              <a:t>信号</a:t>
            </a:r>
            <a:endParaRPr lang="zh-CN" altLang="en-US" b="1" dirty="0">
              <a:solidFill>
                <a:schemeClr val="accent1"/>
              </a:solidFill>
              <a:latin typeface="Times New Roman" panose="02020603050405020304" pitchFamily="18" charset="0"/>
              <a:ea typeface="宋体" panose="02010600030101010101" pitchFamily="2" charset="-122"/>
            </a:endParaRPr>
          </a:p>
        </p:txBody>
      </p:sp>
      <p:sp>
        <p:nvSpPr>
          <p:cNvPr id="7179" name="Text Box 11"/>
          <p:cNvSpPr txBox="1"/>
          <p:nvPr/>
        </p:nvSpPr>
        <p:spPr>
          <a:xfrm>
            <a:off x="709613" y="3219450"/>
            <a:ext cx="7488237" cy="457200"/>
          </a:xfrm>
          <a:prstGeom prst="rect">
            <a:avLst/>
          </a:prstGeom>
          <a:noFill/>
          <a:ln w="9525">
            <a:noFill/>
          </a:ln>
        </p:spPr>
        <p:txBody>
          <a:bodyPr anchor="t" anchorCtr="0">
            <a:spAutoFit/>
          </a:bodyPr>
          <a:p>
            <a:r>
              <a:rPr lang="zh-CN" altLang="en-US" b="1" dirty="0">
                <a:solidFill>
                  <a:schemeClr val="accent2"/>
                </a:solidFill>
                <a:latin typeface="Times New Roman" panose="02020603050405020304" pitchFamily="18" charset="0"/>
                <a:ea typeface="宋体" panose="02010600030101010101" pitchFamily="2" charset="-122"/>
              </a:rPr>
              <a:t>系统</a:t>
            </a:r>
            <a:endParaRPr lang="zh-CN" altLang="en-US" b="1" dirty="0">
              <a:latin typeface="Times New Roman" panose="02020603050405020304" pitchFamily="18" charset="0"/>
              <a:ea typeface="宋体" panose="02010600030101010101" pitchFamily="2" charset="-122"/>
            </a:endParaRPr>
          </a:p>
        </p:txBody>
      </p:sp>
      <p:sp>
        <p:nvSpPr>
          <p:cNvPr id="7180" name="Text Box 12"/>
          <p:cNvSpPr txBox="1"/>
          <p:nvPr/>
        </p:nvSpPr>
        <p:spPr>
          <a:xfrm>
            <a:off x="1025525" y="4156075"/>
            <a:ext cx="6192838" cy="457200"/>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信号是系统处理的对象，系统是信号的载体</a:t>
            </a:r>
            <a:endParaRPr lang="zh-CN" altLang="en-US" b="1" dirty="0">
              <a:latin typeface="Times New Roman" panose="02020603050405020304" pitchFamily="18" charset="0"/>
              <a:ea typeface="宋体" panose="02010600030101010101" pitchFamily="2" charset="-122"/>
            </a:endParaRPr>
          </a:p>
        </p:txBody>
      </p:sp>
      <p:sp>
        <p:nvSpPr>
          <p:cNvPr id="7184" name="Text Box 16"/>
          <p:cNvSpPr txBox="1"/>
          <p:nvPr/>
        </p:nvSpPr>
        <p:spPr>
          <a:xfrm>
            <a:off x="2265363" y="6035675"/>
            <a:ext cx="4613275" cy="460375"/>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信号分析、系统分析、</a:t>
            </a:r>
            <a:r>
              <a:rPr lang="zh-CN" altLang="en-US" b="1" dirty="0">
                <a:solidFill>
                  <a:schemeClr val="accent2"/>
                </a:solidFill>
                <a:latin typeface="Times New Roman" panose="02020603050405020304" pitchFamily="18" charset="0"/>
                <a:ea typeface="宋体" panose="02010600030101010101" pitchFamily="2" charset="-122"/>
              </a:rPr>
              <a:t>系统设计</a:t>
            </a:r>
            <a:endParaRPr lang="zh-CN" altLang="en-US" b="1" dirty="0">
              <a:solidFill>
                <a:schemeClr val="accent2"/>
              </a:solidFill>
              <a:latin typeface="Times New Roman" panose="02020603050405020304" pitchFamily="18" charset="0"/>
              <a:ea typeface="宋体" panose="02010600030101010101" pitchFamily="2" charset="-122"/>
            </a:endParaRPr>
          </a:p>
        </p:txBody>
      </p:sp>
      <p:sp>
        <p:nvSpPr>
          <p:cNvPr id="7185" name="Text Box 17"/>
          <p:cNvSpPr txBox="1"/>
          <p:nvPr/>
        </p:nvSpPr>
        <p:spPr>
          <a:xfrm>
            <a:off x="781050" y="4784725"/>
            <a:ext cx="3600450" cy="457200"/>
          </a:xfrm>
          <a:prstGeom prst="rect">
            <a:avLst/>
          </a:prstGeom>
          <a:noFill/>
          <a:ln w="9525">
            <a:noFill/>
          </a:ln>
        </p:spPr>
        <p:txBody>
          <a:bodyPr anchor="t" anchorCtr="0">
            <a:spAutoFit/>
          </a:bodyPr>
          <a:p>
            <a:r>
              <a:rPr lang="zh-CN" altLang="en-US" b="1" dirty="0">
                <a:solidFill>
                  <a:srgbClr val="FF0000"/>
                </a:solidFill>
                <a:latin typeface="Times New Roman" panose="02020603050405020304" pitchFamily="18" charset="0"/>
                <a:ea typeface="宋体" panose="02010600030101010101" pitchFamily="2" charset="-122"/>
              </a:rPr>
              <a:t>信号与系统的研究内容</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7186" name="Text Box 18"/>
          <p:cNvSpPr txBox="1"/>
          <p:nvPr/>
        </p:nvSpPr>
        <p:spPr>
          <a:xfrm>
            <a:off x="996950" y="5380038"/>
            <a:ext cx="5113338" cy="457200"/>
          </a:xfrm>
          <a:prstGeom prst="rect">
            <a:avLst/>
          </a:prstGeom>
          <a:noFill/>
          <a:ln w="9525">
            <a:noFill/>
          </a:ln>
        </p:spPr>
        <p:txBody>
          <a:bodyPr anchor="t" anchorCtr="0">
            <a:spAutoFit/>
          </a:bodyPr>
          <a:p>
            <a:r>
              <a:rPr lang="zh-CN" altLang="en-US" b="1" u="sng" dirty="0">
                <a:solidFill>
                  <a:srgbClr val="0000FF"/>
                </a:solidFill>
                <a:latin typeface="Times New Roman" panose="02020603050405020304" pitchFamily="18" charset="0"/>
                <a:ea typeface="宋体" panose="02010600030101010101" pitchFamily="2" charset="-122"/>
              </a:rPr>
              <a:t>信号作用于系统产生什么响应？</a:t>
            </a:r>
            <a:endParaRPr lang="zh-CN" altLang="en-US" b="1" u="sng" dirty="0">
              <a:solidFill>
                <a:srgbClr val="0000FF"/>
              </a:solidFill>
              <a:latin typeface="Times New Roman" panose="02020603050405020304" pitchFamily="18" charset="0"/>
              <a:ea typeface="宋体" panose="02010600030101010101" pitchFamily="2" charset="-122"/>
            </a:endParaRPr>
          </a:p>
        </p:txBody>
      </p:sp>
      <p:sp>
        <p:nvSpPr>
          <p:cNvPr id="7194" name="Rectangle 26"/>
          <p:cNvSpPr/>
          <p:nvPr/>
        </p:nvSpPr>
        <p:spPr>
          <a:xfrm>
            <a:off x="1428750" y="2500313"/>
            <a:ext cx="6584950" cy="457200"/>
          </a:xfrm>
          <a:prstGeom prst="rect">
            <a:avLst/>
          </a:prstGeom>
          <a:noFill/>
          <a:ln w="9525">
            <a:noFill/>
          </a:ln>
        </p:spPr>
        <p:txBody>
          <a:bodyPr wrap="none" anchor="t" anchorCtr="0">
            <a:spAutoFit/>
          </a:bodyPr>
          <a:p>
            <a:r>
              <a:rPr lang="zh-CN" altLang="en-US" b="1" dirty="0">
                <a:solidFill>
                  <a:schemeClr val="accent2"/>
                </a:solidFill>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是信息的表现形式，信息是信号的具体内容</a:t>
            </a:r>
            <a:endParaRPr lang="zh-CN" altLang="en-US" b="1" dirty="0">
              <a:latin typeface="Times New Roman" panose="02020603050405020304" pitchFamily="18" charset="0"/>
              <a:ea typeface="宋体" panose="02010600030101010101" pitchFamily="2" charset="-122"/>
            </a:endParaRPr>
          </a:p>
        </p:txBody>
      </p:sp>
      <p:sp>
        <p:nvSpPr>
          <p:cNvPr id="7195" name="Rectangle 27"/>
          <p:cNvSpPr/>
          <p:nvPr/>
        </p:nvSpPr>
        <p:spPr>
          <a:xfrm>
            <a:off x="1428750" y="3219450"/>
            <a:ext cx="6597650" cy="830263"/>
          </a:xfrm>
          <a:prstGeom prst="rect">
            <a:avLst/>
          </a:prstGeom>
          <a:noFill/>
          <a:ln w="9525">
            <a:noFill/>
          </a:ln>
        </p:spPr>
        <p:txBody>
          <a:bodyPr anchor="t" anchorCtr="0">
            <a:spAutoFit/>
          </a:bodyPr>
          <a:p>
            <a:r>
              <a:rPr lang="zh-CN" altLang="en-US" b="1" dirty="0">
                <a:solidFill>
                  <a:schemeClr val="accent2"/>
                </a:solidFill>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系统是由若干相互作用和相互依赖的单元</a:t>
            </a:r>
            <a:endParaRPr lang="en-US" altLang="zh-CN" b="1" dirty="0">
              <a:latin typeface="Times New Roman" panose="02020603050405020304" pitchFamily="18" charset="0"/>
              <a:ea typeface="宋体" panose="02010600030101010101" pitchFamily="2" charset="-122"/>
            </a:endParaRPr>
          </a:p>
          <a:p>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组合而成的具有特定功能的整体</a:t>
            </a:r>
            <a:endParaRPr lang="zh-CN" altLang="en-US" b="1" dirty="0">
              <a:latin typeface="Times New Roman" panose="02020603050405020304" pitchFamily="18" charset="0"/>
              <a:ea typeface="宋体" panose="02010600030101010101" pitchFamily="2" charset="-122"/>
            </a:endParaRPr>
          </a:p>
        </p:txBody>
      </p:sp>
      <p:sp>
        <p:nvSpPr>
          <p:cNvPr id="13" name="Text Box 8"/>
          <p:cNvSpPr txBox="1"/>
          <p:nvPr/>
        </p:nvSpPr>
        <p:spPr>
          <a:xfrm>
            <a:off x="785813" y="1143000"/>
            <a:ext cx="7921625" cy="457200"/>
          </a:xfrm>
          <a:prstGeom prst="rect">
            <a:avLst/>
          </a:prstGeom>
          <a:noFill/>
          <a:ln w="9525">
            <a:noFill/>
          </a:ln>
        </p:spPr>
        <p:txBody>
          <a:bodyPr anchor="t" anchorCtr="0">
            <a:spAutoFit/>
          </a:bodyPr>
          <a:p>
            <a:r>
              <a:rPr lang="zh-CN" altLang="en-US" b="1" dirty="0">
                <a:solidFill>
                  <a:schemeClr val="accent2"/>
                </a:solidFill>
                <a:latin typeface="Times New Roman" panose="02020603050405020304" pitchFamily="18" charset="0"/>
                <a:ea typeface="宋体" panose="02010600030101010101" pitchFamily="2" charset="-122"/>
              </a:rPr>
              <a:t>信息、消息、信号</a:t>
            </a:r>
            <a:endParaRPr lang="zh-CN" altLang="en-US" b="1" dirty="0">
              <a:solidFill>
                <a:schemeClr val="accent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9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8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8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76" grpId="0"/>
      <p:bldP spid="7179" grpId="0"/>
      <p:bldP spid="7180" grpId="0"/>
      <p:bldP spid="7184" grpId="0"/>
      <p:bldP spid="7185" grpId="0"/>
      <p:bldP spid="7186" grpId="0"/>
      <p:bldP spid="7194" grpId="0"/>
      <p:bldP spid="7195"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8" name="Rectangle 4"/>
          <p:cNvSpPr/>
          <p:nvPr/>
        </p:nvSpPr>
        <p:spPr>
          <a:xfrm>
            <a:off x="395288" y="981075"/>
            <a:ext cx="6172200" cy="522288"/>
          </a:xfrm>
          <a:prstGeom prst="rect">
            <a:avLst/>
          </a:prstGeom>
          <a:noFill/>
          <a:ln w="9525">
            <a:noFill/>
          </a:ln>
        </p:spPr>
        <p:txBody>
          <a:bodyPr anchor="t" anchorCtr="0">
            <a:spAutoFit/>
          </a:bodyPr>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1</a:t>
            </a:r>
            <a:r>
              <a:rPr lang="zh-CN" altLang="en-US" sz="2800" b="1" dirty="0">
                <a:solidFill>
                  <a:srgbClr val="FF0000"/>
                </a:solidFill>
                <a:latin typeface="Times New Roman" panose="02020603050405020304" pitchFamily="18" charset="0"/>
                <a:ea typeface="宋体" panose="02010600030101010101" pitchFamily="2" charset="-122"/>
              </a:rPr>
              <a:t>、信号的描述</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41989" name="Text Box 5"/>
          <p:cNvSpPr txBox="1"/>
          <p:nvPr/>
        </p:nvSpPr>
        <p:spPr>
          <a:xfrm>
            <a:off x="1116013" y="2924175"/>
            <a:ext cx="6624637" cy="457200"/>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广义地说，信号是随时间变换的某种物理量。</a:t>
            </a:r>
            <a:endParaRPr lang="zh-CN" altLang="en-US" b="1" dirty="0">
              <a:latin typeface="Times New Roman" panose="02020603050405020304" pitchFamily="18" charset="0"/>
              <a:ea typeface="宋体" panose="02010600030101010101" pitchFamily="2" charset="-122"/>
            </a:endParaRPr>
          </a:p>
        </p:txBody>
      </p:sp>
      <p:sp>
        <p:nvSpPr>
          <p:cNvPr id="41993" name="Rectangle 9"/>
          <p:cNvSpPr/>
          <p:nvPr/>
        </p:nvSpPr>
        <p:spPr>
          <a:xfrm>
            <a:off x="1116013" y="1555750"/>
            <a:ext cx="6192837" cy="1187450"/>
          </a:xfrm>
          <a:prstGeom prst="rect">
            <a:avLst/>
          </a:prstGeom>
          <a:noFill/>
          <a:ln w="9525">
            <a:noFill/>
          </a:ln>
        </p:spPr>
        <p:txBody>
          <a:bodyPr anchor="t" anchorCtr="0">
            <a:spAutoFit/>
          </a:bodyPr>
          <a:p>
            <a:pPr>
              <a:buClr>
                <a:srgbClr val="0000FF"/>
              </a:buClr>
              <a:buFont typeface="Wingdings" panose="05000000000000000000" pitchFamily="2" charset="2"/>
              <a:buChar char="l"/>
            </a:pPr>
            <a:r>
              <a:rPr lang="zh-CN" altLang="en-US" b="1" dirty="0">
                <a:latin typeface="Times New Roman" panose="02020603050405020304" pitchFamily="18" charset="0"/>
                <a:ea typeface="宋体" panose="02010600030101010101" pitchFamily="2" charset="-122"/>
              </a:rPr>
              <a:t>物理上：信号是信息的表现形式</a:t>
            </a:r>
            <a:endParaRPr lang="zh-CN" altLang="en-US" b="1" dirty="0">
              <a:latin typeface="Times New Roman" panose="02020603050405020304" pitchFamily="18" charset="0"/>
              <a:ea typeface="宋体" panose="02010600030101010101" pitchFamily="2" charset="-122"/>
            </a:endParaRPr>
          </a:p>
          <a:p>
            <a:pPr>
              <a:buClr>
                <a:srgbClr val="0000FF"/>
              </a:buClr>
              <a:buFont typeface="Wingdings" panose="05000000000000000000" pitchFamily="2" charset="2"/>
              <a:buChar char="l"/>
            </a:pPr>
            <a:r>
              <a:rPr lang="zh-CN" altLang="en-US" b="1" dirty="0">
                <a:latin typeface="Times New Roman" panose="02020603050405020304" pitchFamily="18" charset="0"/>
                <a:ea typeface="宋体" panose="02010600030101010101" pitchFamily="2" charset="-122"/>
              </a:rPr>
              <a:t>数学上：信号是一个或多个变量的函数</a:t>
            </a:r>
            <a:endParaRPr lang="zh-CN" altLang="en-US" b="1" dirty="0">
              <a:latin typeface="Times New Roman" panose="02020603050405020304" pitchFamily="18" charset="0"/>
              <a:ea typeface="宋体" panose="02010600030101010101" pitchFamily="2" charset="-122"/>
            </a:endParaRPr>
          </a:p>
          <a:p>
            <a:pPr>
              <a:buClr>
                <a:srgbClr val="0000FF"/>
              </a:buClr>
              <a:buFont typeface="Wingdings" panose="05000000000000000000" pitchFamily="2" charset="2"/>
              <a:buChar char="l"/>
            </a:pPr>
            <a:r>
              <a:rPr lang="zh-CN" altLang="en-US" b="1" dirty="0">
                <a:latin typeface="Times New Roman" panose="02020603050405020304" pitchFamily="18" charset="0"/>
                <a:ea typeface="宋体" panose="02010600030101010101" pitchFamily="2" charset="-122"/>
              </a:rPr>
              <a:t>形态上：信号表现为一种波形</a:t>
            </a:r>
            <a:endParaRPr lang="zh-CN" altLang="en-US" b="1" dirty="0">
              <a:latin typeface="Times New Roman" panose="02020603050405020304" pitchFamily="18" charset="0"/>
              <a:ea typeface="宋体" panose="02010600030101010101" pitchFamily="2" charset="-122"/>
            </a:endParaRPr>
          </a:p>
        </p:txBody>
      </p:sp>
      <p:sp>
        <p:nvSpPr>
          <p:cNvPr id="42002" name="Text Box 18"/>
          <p:cNvSpPr txBox="1"/>
          <p:nvPr/>
        </p:nvSpPr>
        <p:spPr>
          <a:xfrm>
            <a:off x="1116013" y="3571875"/>
            <a:ext cx="3529012" cy="457200"/>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以正弦电压信号为例，</a:t>
            </a:r>
            <a:endParaRPr lang="zh-CN" altLang="en-US" b="1" dirty="0">
              <a:latin typeface="Times New Roman" panose="02020603050405020304" pitchFamily="18" charset="0"/>
              <a:ea typeface="宋体" panose="02010600030101010101" pitchFamily="2" charset="-122"/>
            </a:endParaRPr>
          </a:p>
        </p:txBody>
      </p:sp>
      <p:pic>
        <p:nvPicPr>
          <p:cNvPr id="42009" name="Picture 25"/>
          <p:cNvPicPr>
            <a:picLocks noGrp="1" noChangeAspect="1"/>
          </p:cNvPicPr>
          <p:nvPr>
            <p:ph sz="half" idx="2"/>
          </p:nvPr>
        </p:nvPicPr>
        <p:blipFill>
          <a:blip r:embed="rId1">
            <a:lum contrast="-6000"/>
          </a:blip>
          <a:stretch>
            <a:fillRect/>
          </a:stretch>
        </p:blipFill>
        <p:spPr>
          <a:xfrm>
            <a:off x="4857750" y="3571875"/>
            <a:ext cx="3876675" cy="2390775"/>
          </a:xfrm>
        </p:spPr>
      </p:pic>
      <p:sp>
        <p:nvSpPr>
          <p:cNvPr id="42013" name="Text Box 29"/>
          <p:cNvSpPr txBox="1"/>
          <p:nvPr/>
        </p:nvSpPr>
        <p:spPr>
          <a:xfrm>
            <a:off x="1095375" y="4219575"/>
            <a:ext cx="2317750" cy="457200"/>
          </a:xfrm>
          <a:prstGeom prst="rect">
            <a:avLst/>
          </a:prstGeom>
          <a:noFill/>
          <a:ln w="9525">
            <a:noFill/>
          </a:ln>
        </p:spPr>
        <p:txBody>
          <a:bodyPr wrap="none" anchor="t" anchorCtr="0">
            <a:spAutoFit/>
          </a:bodyPr>
          <a:p>
            <a:r>
              <a:rPr lang="zh-CN" altLang="en-US" b="1" dirty="0">
                <a:latin typeface="Times New Roman" panose="02020603050405020304" pitchFamily="18" charset="0"/>
                <a:ea typeface="宋体" panose="02010600030101010101" pitchFamily="2" charset="-122"/>
              </a:rPr>
              <a:t>其数学描述为：</a:t>
            </a:r>
            <a:endParaRPr lang="zh-CN" altLang="en-US" b="1" dirty="0">
              <a:latin typeface="Times New Roman" panose="02020603050405020304" pitchFamily="18" charset="0"/>
              <a:ea typeface="宋体" panose="02010600030101010101" pitchFamily="2" charset="-122"/>
            </a:endParaRPr>
          </a:p>
        </p:txBody>
      </p:sp>
      <p:sp>
        <p:nvSpPr>
          <p:cNvPr id="27655" name="Text Box 31"/>
          <p:cNvSpPr txBox="1"/>
          <p:nvPr/>
        </p:nvSpPr>
        <p:spPr>
          <a:xfrm>
            <a:off x="468313" y="260350"/>
            <a:ext cx="2663825" cy="584200"/>
          </a:xfrm>
          <a:prstGeom prst="rect">
            <a:avLst/>
          </a:prstGeom>
          <a:noFill/>
          <a:ln w="9525">
            <a:noFill/>
          </a:ln>
        </p:spPr>
        <p:txBody>
          <a:bodyPr anchor="t" anchorCtr="0">
            <a:spAutoFit/>
          </a:bodyPr>
          <a:p>
            <a:r>
              <a:rPr lang="en-US" altLang="zh-CN" sz="3200" b="1" dirty="0">
                <a:solidFill>
                  <a:srgbClr val="FF0000"/>
                </a:solidFill>
                <a:latin typeface="Times New Roman" panose="02020603050405020304" pitchFamily="18" charset="0"/>
                <a:ea typeface="宋体" panose="02010600030101010101" pitchFamily="2" charset="-122"/>
              </a:rPr>
              <a:t>1.1  </a:t>
            </a:r>
            <a:r>
              <a:rPr lang="zh-CN" altLang="en-US" sz="3200" b="1" dirty="0">
                <a:solidFill>
                  <a:srgbClr val="FF0000"/>
                </a:solidFill>
                <a:latin typeface="Times New Roman" panose="02020603050405020304" pitchFamily="18" charset="0"/>
                <a:ea typeface="宋体" panose="02010600030101010101" pitchFamily="2" charset="-122"/>
              </a:rPr>
              <a:t>信号分析</a:t>
            </a:r>
            <a:endParaRPr lang="zh-CN" altLang="en-US" sz="3200" b="1" dirty="0">
              <a:solidFill>
                <a:srgbClr val="FF0000"/>
              </a:solidFill>
              <a:latin typeface="Times New Roman" panose="02020603050405020304" pitchFamily="18" charset="0"/>
              <a:ea typeface="宋体" panose="02010600030101010101" pitchFamily="2" charset="-122"/>
            </a:endParaRPr>
          </a:p>
        </p:txBody>
      </p:sp>
      <p:graphicFrame>
        <p:nvGraphicFramePr>
          <p:cNvPr id="12301" name="Object 13"/>
          <p:cNvGraphicFramePr>
            <a:graphicFrameLocks noChangeAspect="1"/>
          </p:cNvGraphicFramePr>
          <p:nvPr/>
        </p:nvGraphicFramePr>
        <p:xfrm>
          <a:off x="1214438" y="4929188"/>
          <a:ext cx="3494087" cy="576262"/>
        </p:xfrm>
        <a:graphic>
          <a:graphicData uri="http://schemas.openxmlformats.org/presentationml/2006/ole">
            <mc:AlternateContent xmlns:mc="http://schemas.openxmlformats.org/markup-compatibility/2006">
              <mc:Choice xmlns:v="urn:schemas-microsoft-com:vml" Requires="v">
                <p:oleObj spid="_x0000_s3076" name="" r:id="rId2" imgW="1231265" imgH="203200" progId="Equation.3">
                  <p:embed/>
                </p:oleObj>
              </mc:Choice>
              <mc:Fallback>
                <p:oleObj name="" r:id="rId2" imgW="1231265" imgH="203200" progId="Equation.3">
                  <p:embed/>
                  <p:pic>
                    <p:nvPicPr>
                      <p:cNvPr id="0" name="图片 3075"/>
                      <p:cNvPicPr/>
                      <p:nvPr/>
                    </p:nvPicPr>
                    <p:blipFill>
                      <a:blip r:embed="rId3"/>
                      <a:stretch>
                        <a:fillRect/>
                      </a:stretch>
                    </p:blipFill>
                    <p:spPr>
                      <a:xfrm>
                        <a:off x="1214438" y="4929188"/>
                        <a:ext cx="3494087" cy="576262"/>
                      </a:xfrm>
                      <a:prstGeom prst="rect">
                        <a:avLst/>
                      </a:prstGeom>
                      <a:noFill/>
                      <a:ln w="38100">
                        <a:noFill/>
                        <a:miter/>
                      </a:ln>
                    </p:spPr>
                  </p:pic>
                </p:oleObj>
              </mc:Fallback>
            </mc:AlternateContent>
          </a:graphicData>
        </a:graphic>
      </p:graphicFrame>
      <p:graphicFrame>
        <p:nvGraphicFramePr>
          <p:cNvPr id="2" name="Object 11"/>
          <p:cNvGraphicFramePr>
            <a:graphicFrameLocks noChangeAspect="1"/>
          </p:cNvGraphicFramePr>
          <p:nvPr/>
        </p:nvGraphicFramePr>
        <p:xfrm>
          <a:off x="5643563" y="5999163"/>
          <a:ext cx="2428875" cy="441325"/>
        </p:xfrm>
        <a:graphic>
          <a:graphicData uri="http://schemas.openxmlformats.org/presentationml/2006/ole">
            <mc:AlternateContent xmlns:mc="http://schemas.openxmlformats.org/markup-compatibility/2006">
              <mc:Choice xmlns:v="urn:schemas-microsoft-com:vml" Requires="v">
                <p:oleObj spid="_x0000_s3077" name="" r:id="rId4" imgW="1116965" imgH="203200" progId="Equation.3">
                  <p:embed/>
                </p:oleObj>
              </mc:Choice>
              <mc:Fallback>
                <p:oleObj name="" r:id="rId4" imgW="1116965" imgH="203200" progId="Equation.3">
                  <p:embed/>
                  <p:pic>
                    <p:nvPicPr>
                      <p:cNvPr id="0" name="图片 3076"/>
                      <p:cNvPicPr/>
                      <p:nvPr/>
                    </p:nvPicPr>
                    <p:blipFill>
                      <a:blip r:embed="rId5"/>
                      <a:stretch>
                        <a:fillRect/>
                      </a:stretch>
                    </p:blipFill>
                    <p:spPr>
                      <a:xfrm>
                        <a:off x="5643563" y="5999163"/>
                        <a:ext cx="2428875" cy="4413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9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0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0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30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00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p:bldP spid="41989" grpId="0"/>
      <p:bldP spid="41993" grpId="0"/>
      <p:bldP spid="42002" grpId="0"/>
      <p:bldP spid="420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p:nvPr/>
        </p:nvSpPr>
        <p:spPr>
          <a:xfrm>
            <a:off x="304800" y="228600"/>
            <a:ext cx="2819400" cy="522288"/>
          </a:xfrm>
          <a:prstGeom prst="rect">
            <a:avLst/>
          </a:prstGeom>
          <a:noFill/>
          <a:ln w="9525">
            <a:noFill/>
          </a:ln>
        </p:spPr>
        <p:txBody>
          <a:bodyPr anchor="t" anchorCtr="0">
            <a:spAutoFit/>
          </a:bodyPr>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2</a:t>
            </a:r>
            <a:r>
              <a:rPr lang="zh-CN" altLang="en-US" sz="2800" b="1" dirty="0">
                <a:solidFill>
                  <a:srgbClr val="FF0000"/>
                </a:solidFill>
                <a:latin typeface="Times New Roman" panose="02020603050405020304" pitchFamily="18" charset="0"/>
                <a:ea typeface="宋体" panose="02010600030101010101" pitchFamily="2" charset="-122"/>
              </a:rPr>
              <a:t>、信号分类</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9219" name="Rectangle 3"/>
          <p:cNvSpPr/>
          <p:nvPr/>
        </p:nvSpPr>
        <p:spPr>
          <a:xfrm>
            <a:off x="395288" y="908050"/>
            <a:ext cx="7993062" cy="457200"/>
          </a:xfrm>
          <a:prstGeom prst="rect">
            <a:avLst/>
          </a:prstGeom>
          <a:noFill/>
          <a:ln w="9525">
            <a:noFill/>
          </a:ln>
        </p:spPr>
        <p:txBody>
          <a:bodyPr anchor="t" anchorCtr="0">
            <a:spAutoFit/>
          </a:bodyPr>
          <a:p>
            <a:r>
              <a:rPr lang="en-US" altLang="zh-CN" b="1" dirty="0">
                <a:latin typeface="Times New Roman" panose="02020603050405020304" pitchFamily="18" charset="0"/>
                <a:ea typeface="宋体" panose="02010600030101010101" pitchFamily="2" charset="-122"/>
              </a:rPr>
              <a:t>1  </a:t>
            </a:r>
            <a:r>
              <a:rPr lang="zh-CN" altLang="en-US" b="1" dirty="0">
                <a:solidFill>
                  <a:schemeClr val="accent2"/>
                </a:solidFill>
                <a:latin typeface="Times New Roman" panose="02020603050405020304" pitchFamily="18" charset="0"/>
                <a:ea typeface="宋体" panose="02010600030101010101" pitchFamily="2" charset="-122"/>
              </a:rPr>
              <a:t>确定信号：</a:t>
            </a:r>
            <a:r>
              <a:rPr lang="zh-CN" altLang="en-US" b="1" dirty="0">
                <a:latin typeface="Times New Roman" panose="02020603050405020304" pitchFamily="18" charset="0"/>
                <a:ea typeface="宋体" panose="02010600030101010101" pitchFamily="2" charset="-122"/>
              </a:rPr>
              <a:t>信号可以用一个确定的时间函数加以确定；</a:t>
            </a:r>
            <a:endParaRPr lang="zh-CN" altLang="en-US" b="1" dirty="0">
              <a:latin typeface="Times New Roman" panose="02020603050405020304" pitchFamily="18" charset="0"/>
              <a:ea typeface="宋体" panose="02010600030101010101" pitchFamily="2" charset="-122"/>
            </a:endParaRPr>
          </a:p>
        </p:txBody>
      </p:sp>
      <p:sp>
        <p:nvSpPr>
          <p:cNvPr id="9220" name="Rectangle 4"/>
          <p:cNvSpPr/>
          <p:nvPr/>
        </p:nvSpPr>
        <p:spPr>
          <a:xfrm>
            <a:off x="700088" y="1441450"/>
            <a:ext cx="7620000" cy="830263"/>
          </a:xfrm>
          <a:prstGeom prst="rect">
            <a:avLst/>
          </a:prstGeom>
          <a:noFill/>
          <a:ln w="9525">
            <a:noFill/>
          </a:ln>
        </p:spPr>
        <p:txBody>
          <a:bodyPr anchor="t" anchorCtr="0">
            <a:spAutoFit/>
          </a:bodyPr>
          <a:p>
            <a:pPr marL="1530350" indent="-1530350" eaLnBrk="0" hangingPunct="0">
              <a:spcBef>
                <a:spcPct val="50000"/>
              </a:spcBef>
            </a:pPr>
            <a:r>
              <a:rPr lang="zh-CN" altLang="en-US" b="1" dirty="0">
                <a:solidFill>
                  <a:schemeClr val="accent2"/>
                </a:solidFill>
                <a:latin typeface="Times New Roman" panose="02020603050405020304" pitchFamily="18" charset="0"/>
                <a:ea typeface="宋体" panose="02010600030101010101" pitchFamily="2" charset="-122"/>
              </a:rPr>
              <a:t>随机信号：</a:t>
            </a:r>
            <a:r>
              <a:rPr lang="zh-CN" altLang="en-US" b="1" dirty="0">
                <a:latin typeface="Times New Roman" panose="02020603050405020304" pitchFamily="18" charset="0"/>
                <a:ea typeface="宋体" panose="02010600030101010101" pitchFamily="2" charset="-122"/>
              </a:rPr>
              <a:t>信号不可以用一个确定的时间函数加以确定只能用统计特性加以描述。</a:t>
            </a:r>
            <a:endParaRPr lang="zh-CN" altLang="en-US" b="1" dirty="0">
              <a:latin typeface="Times New Roman" panose="02020603050405020304" pitchFamily="18" charset="0"/>
              <a:ea typeface="宋体" panose="02010600030101010101" pitchFamily="2" charset="-122"/>
            </a:endParaRPr>
          </a:p>
        </p:txBody>
      </p:sp>
      <p:sp>
        <p:nvSpPr>
          <p:cNvPr id="9221" name="Rectangle 5"/>
          <p:cNvSpPr/>
          <p:nvPr/>
        </p:nvSpPr>
        <p:spPr>
          <a:xfrm>
            <a:off x="395288" y="2508250"/>
            <a:ext cx="8367712" cy="822325"/>
          </a:xfrm>
          <a:prstGeom prst="rect">
            <a:avLst/>
          </a:prstGeom>
          <a:noFill/>
          <a:ln w="9525">
            <a:noFill/>
          </a:ln>
        </p:spPr>
        <p:txBody>
          <a:bodyPr anchor="t" anchorCtr="0">
            <a:spAutoFit/>
          </a:bodyPr>
          <a:p>
            <a:pPr marL="1717675" indent="-1717675"/>
            <a:r>
              <a:rPr lang="en-US" altLang="zh-CN" b="1" dirty="0">
                <a:latin typeface="Times New Roman" panose="02020603050405020304" pitchFamily="18" charset="0"/>
                <a:ea typeface="宋体" panose="02010600030101010101" pitchFamily="2" charset="-122"/>
              </a:rPr>
              <a:t>2  </a:t>
            </a:r>
            <a:r>
              <a:rPr lang="zh-CN" altLang="en-US" b="1" dirty="0">
                <a:solidFill>
                  <a:schemeClr val="accent2"/>
                </a:solidFill>
                <a:latin typeface="Times New Roman" panose="02020603050405020304" pitchFamily="18" charset="0"/>
                <a:ea typeface="宋体" panose="02010600030101010101" pitchFamily="2" charset="-122"/>
              </a:rPr>
              <a:t>连续信号：</a:t>
            </a:r>
            <a:r>
              <a:rPr lang="zh-CN" altLang="en-US" b="1" dirty="0">
                <a:latin typeface="Times New Roman" panose="02020603050405020304" pitchFamily="18" charset="0"/>
                <a:ea typeface="宋体" panose="02010600030101010101" pitchFamily="2" charset="-122"/>
              </a:rPr>
              <a:t>除若干不连续的时间点外，每个时间点</a:t>
            </a:r>
            <a:r>
              <a:rPr lang="en-US" altLang="zh-CN" b="1" dirty="0">
                <a:latin typeface="Times New Roman" panose="02020603050405020304" pitchFamily="18" charset="0"/>
                <a:ea typeface="宋体" panose="02010600030101010101" pitchFamily="2" charset="-122"/>
              </a:rPr>
              <a:t>t</a:t>
            </a:r>
            <a:r>
              <a:rPr lang="zh-CN" altLang="en-US" b="1" dirty="0">
                <a:latin typeface="Times New Roman" panose="02020603050405020304" pitchFamily="18" charset="0"/>
                <a:ea typeface="宋体" panose="02010600030101010101" pitchFamily="2" charset="-122"/>
              </a:rPr>
              <a:t>上都有</a:t>
            </a:r>
            <a:endParaRPr lang="zh-CN" altLang="en-US" b="1" dirty="0">
              <a:latin typeface="Times New Roman" panose="02020603050405020304" pitchFamily="18" charset="0"/>
              <a:ea typeface="宋体" panose="02010600030101010101" pitchFamily="2" charset="-122"/>
            </a:endParaRPr>
          </a:p>
          <a:p>
            <a:pPr marL="1717675" indent="-1717675"/>
            <a:r>
              <a:rPr lang="zh-CN" altLang="en-US" b="1" dirty="0">
                <a:latin typeface="Times New Roman" panose="02020603050405020304" pitchFamily="18" charset="0"/>
                <a:ea typeface="宋体" panose="02010600030101010101" pitchFamily="2" charset="-122"/>
              </a:rPr>
              <a:t>　　　　　　对应的信号值。</a:t>
            </a:r>
            <a:endParaRPr lang="zh-CN" altLang="en-US" b="1" dirty="0">
              <a:latin typeface="Times New Roman" panose="02020603050405020304" pitchFamily="18" charset="0"/>
              <a:ea typeface="宋体" panose="02010600030101010101" pitchFamily="2" charset="-122"/>
            </a:endParaRPr>
          </a:p>
        </p:txBody>
      </p:sp>
      <p:sp>
        <p:nvSpPr>
          <p:cNvPr id="9222" name="Rectangle 6"/>
          <p:cNvSpPr/>
          <p:nvPr/>
        </p:nvSpPr>
        <p:spPr>
          <a:xfrm>
            <a:off x="547688" y="3498850"/>
            <a:ext cx="8305800" cy="822325"/>
          </a:xfrm>
          <a:prstGeom prst="rect">
            <a:avLst/>
          </a:prstGeom>
          <a:noFill/>
          <a:ln w="9525">
            <a:noFill/>
          </a:ln>
        </p:spPr>
        <p:txBody>
          <a:bodyPr anchor="t" anchorCtr="0">
            <a:spAutoFit/>
          </a:bodyPr>
          <a:p>
            <a:pPr marL="1530350" indent="-1530350"/>
            <a:r>
              <a:rPr lang="en-US" altLang="zh-CN" b="1" dirty="0">
                <a:solidFill>
                  <a:schemeClr val="accent2"/>
                </a:solidFill>
                <a:latin typeface="宋体" panose="02010600030101010101" pitchFamily="2" charset="-122"/>
                <a:ea typeface="宋体" panose="02010600030101010101" pitchFamily="2" charset="-122"/>
              </a:rPr>
              <a:t> </a:t>
            </a:r>
            <a:r>
              <a:rPr lang="zh-CN" altLang="en-US" b="1" dirty="0">
                <a:solidFill>
                  <a:srgbClr val="FF0000"/>
                </a:solidFill>
                <a:latin typeface="宋体" panose="02010600030101010101" pitchFamily="2" charset="-122"/>
                <a:ea typeface="宋体" panose="02010600030101010101" pitchFamily="2" charset="-122"/>
              </a:rPr>
              <a:t>离散信号</a:t>
            </a:r>
            <a:r>
              <a:rPr lang="zh-CN" altLang="en-US" b="1" dirty="0">
                <a:solidFill>
                  <a:schemeClr val="accent2"/>
                </a:solidFill>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信号只在某些不连续的时间点上有信号值，其它</a:t>
            </a:r>
            <a:endParaRPr lang="zh-CN" altLang="en-US" b="1" dirty="0">
              <a:latin typeface="宋体" panose="02010600030101010101" pitchFamily="2" charset="-122"/>
              <a:ea typeface="宋体" panose="02010600030101010101" pitchFamily="2" charset="-122"/>
            </a:endParaRPr>
          </a:p>
          <a:p>
            <a:pPr marL="1530350" indent="-1530350"/>
            <a:r>
              <a:rPr lang="zh-CN" altLang="en-US" b="1" dirty="0">
                <a:latin typeface="宋体" panose="02010600030101010101" pitchFamily="2" charset="-122"/>
                <a:ea typeface="宋体" panose="02010600030101010101" pitchFamily="2" charset="-122"/>
              </a:rPr>
              <a:t>           时间点上信号没有定义。</a:t>
            </a:r>
            <a:r>
              <a:rPr lang="zh-CN" altLang="en-US" sz="1100"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9223" name="Rectangle 7"/>
          <p:cNvSpPr/>
          <p:nvPr/>
        </p:nvSpPr>
        <p:spPr>
          <a:xfrm>
            <a:off x="684213" y="4581525"/>
            <a:ext cx="7773987" cy="1917700"/>
          </a:xfrm>
          <a:prstGeom prst="rect">
            <a:avLst/>
          </a:prstGeom>
          <a:noFill/>
          <a:ln w="9525">
            <a:noFill/>
          </a:ln>
        </p:spPr>
        <p:txBody>
          <a:bodyPr anchor="t" anchorCtr="0">
            <a:spAutoFit/>
          </a:bodyPr>
          <a:p>
            <a:pPr algn="just"/>
            <a:r>
              <a:rPr lang="zh-CN" altLang="en-US" b="1" dirty="0">
                <a:latin typeface="Times New Roman" panose="02020603050405020304" pitchFamily="18" charset="0"/>
                <a:ea typeface="宋体" panose="02010600030101010101" pitchFamily="2" charset="-122"/>
              </a:rPr>
              <a:t>自变量连续，信号值连续</a:t>
            </a:r>
            <a:r>
              <a:rPr lang="en-US" altLang="zh-CN" b="1" dirty="0">
                <a:latin typeface="Times New Roman" panose="02020603050405020304" pitchFamily="18" charset="0"/>
                <a:ea typeface="宋体" panose="02010600030101010101" pitchFamily="2" charset="-122"/>
              </a:rPr>
              <a:t>——&gt;</a:t>
            </a:r>
            <a:r>
              <a:rPr lang="zh-CN" altLang="en-US" b="1" dirty="0">
                <a:latin typeface="Times New Roman" panose="02020603050405020304" pitchFamily="18" charset="0"/>
                <a:ea typeface="宋体" panose="02010600030101010101" pitchFamily="2" charset="-122"/>
              </a:rPr>
              <a:t>连续信号</a:t>
            </a:r>
            <a:r>
              <a:rPr lang="en-US" altLang="zh-CN" b="1" dirty="0">
                <a:latin typeface="Times New Roman" panose="02020603050405020304" pitchFamily="18" charset="0"/>
                <a:ea typeface="宋体" panose="02010600030101010101" pitchFamily="2" charset="-122"/>
              </a:rPr>
              <a:t>: x(t)</a:t>
            </a:r>
            <a:endParaRPr lang="en-US" altLang="zh-CN" b="1" dirty="0">
              <a:latin typeface="Times New Roman" panose="02020603050405020304" pitchFamily="18" charset="0"/>
              <a:ea typeface="宋体" panose="02010600030101010101" pitchFamily="2" charset="-122"/>
            </a:endParaRPr>
          </a:p>
          <a:p>
            <a:pPr algn="just"/>
            <a:endParaRPr lang="en-US" altLang="zh-CN" b="1" dirty="0">
              <a:latin typeface="Times New Roman" panose="02020603050405020304" pitchFamily="18" charset="0"/>
              <a:ea typeface="宋体" panose="02010600030101010101" pitchFamily="2" charset="-122"/>
            </a:endParaRPr>
          </a:p>
          <a:p>
            <a:pPr algn="just"/>
            <a:r>
              <a:rPr lang="zh-CN" altLang="en-US" b="1" dirty="0">
                <a:latin typeface="Times New Roman" panose="02020603050405020304" pitchFamily="18" charset="0"/>
                <a:ea typeface="宋体" panose="02010600030101010101" pitchFamily="2" charset="-122"/>
              </a:rPr>
              <a:t>自变量离散，信号值连续</a:t>
            </a:r>
            <a:r>
              <a:rPr lang="en-US" altLang="zh-CN" b="1" dirty="0">
                <a:latin typeface="Times New Roman" panose="02020603050405020304" pitchFamily="18" charset="0"/>
                <a:ea typeface="宋体" panose="02010600030101010101" pitchFamily="2" charset="-122"/>
              </a:rPr>
              <a:t>——&gt;</a:t>
            </a:r>
            <a:r>
              <a:rPr lang="zh-CN" altLang="en-US" b="1" dirty="0">
                <a:latin typeface="Times New Roman" panose="02020603050405020304" pitchFamily="18" charset="0"/>
                <a:ea typeface="宋体" panose="02010600030101010101" pitchFamily="2" charset="-122"/>
              </a:rPr>
              <a:t>离散信号</a:t>
            </a:r>
            <a:r>
              <a:rPr lang="en-US" altLang="zh-CN" b="1" dirty="0">
                <a:latin typeface="Times New Roman" panose="02020603050405020304" pitchFamily="18" charset="0"/>
                <a:ea typeface="宋体" panose="02010600030101010101" pitchFamily="2" charset="-122"/>
              </a:rPr>
              <a:t>: x(n)</a:t>
            </a:r>
            <a:endParaRPr lang="en-US" altLang="zh-CN" b="1" dirty="0">
              <a:latin typeface="Times New Roman" panose="02020603050405020304" pitchFamily="18" charset="0"/>
              <a:ea typeface="宋体" panose="02010600030101010101" pitchFamily="2" charset="-122"/>
            </a:endParaRPr>
          </a:p>
          <a:p>
            <a:pPr algn="just"/>
            <a:endParaRPr lang="en-US" altLang="zh-CN" b="1" dirty="0">
              <a:latin typeface="Times New Roman" panose="02020603050405020304" pitchFamily="18" charset="0"/>
              <a:ea typeface="宋体" panose="02010600030101010101" pitchFamily="2" charset="-122"/>
            </a:endParaRPr>
          </a:p>
          <a:p>
            <a:pPr algn="just" eaLnBrk="0" hangingPunct="0"/>
            <a:r>
              <a:rPr lang="zh-CN" altLang="en-US" b="1" dirty="0">
                <a:latin typeface="Times New Roman" panose="02020603050405020304" pitchFamily="18" charset="0"/>
                <a:ea typeface="宋体" panose="02010600030101010101" pitchFamily="2" charset="-122"/>
              </a:rPr>
              <a:t>自变量离散，信号值离散</a:t>
            </a:r>
            <a:r>
              <a:rPr lang="en-US" altLang="zh-CN" b="1" dirty="0">
                <a:latin typeface="Times New Roman" panose="02020603050405020304" pitchFamily="18" charset="0"/>
                <a:ea typeface="宋体" panose="02010600030101010101" pitchFamily="2" charset="-122"/>
              </a:rPr>
              <a:t>——&gt;</a:t>
            </a:r>
            <a:r>
              <a:rPr lang="zh-CN" altLang="en-US" b="1" dirty="0">
                <a:solidFill>
                  <a:srgbClr val="FF0000"/>
                </a:solidFill>
                <a:latin typeface="Times New Roman" panose="02020603050405020304" pitchFamily="18" charset="0"/>
                <a:ea typeface="宋体" panose="02010600030101010101" pitchFamily="2" charset="-122"/>
              </a:rPr>
              <a:t>数字信号</a:t>
            </a:r>
            <a:endParaRPr lang="zh-CN" altLang="en-US"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2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2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P spid="9220" grpId="0"/>
      <p:bldP spid="9221" grpId="0"/>
      <p:bldP spid="9222" grpId="0"/>
      <p:bldP spid="92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1745" name="Object 2"/>
          <p:cNvGraphicFramePr>
            <a:graphicFrameLocks noChangeAspect="1"/>
          </p:cNvGraphicFramePr>
          <p:nvPr/>
        </p:nvGraphicFramePr>
        <p:xfrm>
          <a:off x="381000" y="762000"/>
          <a:ext cx="3817938" cy="3117850"/>
        </p:xfrm>
        <a:graphic>
          <a:graphicData uri="http://schemas.openxmlformats.org/presentationml/2006/ole">
            <mc:AlternateContent xmlns:mc="http://schemas.openxmlformats.org/markup-compatibility/2006">
              <mc:Choice xmlns:v="urn:schemas-microsoft-com:vml" Requires="v">
                <p:oleObj spid="_x0000_s3078" name="" r:id="rId1" imgW="3818255" imgH="3117850" progId="Visio.Drawing.6">
                  <p:embed/>
                </p:oleObj>
              </mc:Choice>
              <mc:Fallback>
                <p:oleObj name="" r:id="rId1" imgW="3818255" imgH="3117850" progId="Visio.Drawing.6">
                  <p:embed/>
                  <p:pic>
                    <p:nvPicPr>
                      <p:cNvPr id="0" name="图片 3077"/>
                      <p:cNvPicPr/>
                      <p:nvPr/>
                    </p:nvPicPr>
                    <p:blipFill>
                      <a:blip r:embed="rId2"/>
                      <a:stretch>
                        <a:fillRect/>
                      </a:stretch>
                    </p:blipFill>
                    <p:spPr>
                      <a:xfrm>
                        <a:off x="381000" y="762000"/>
                        <a:ext cx="3817938" cy="3117850"/>
                      </a:xfrm>
                      <a:prstGeom prst="rect">
                        <a:avLst/>
                      </a:prstGeom>
                      <a:noFill/>
                      <a:ln w="38100">
                        <a:noFill/>
                        <a:miter/>
                      </a:ln>
                    </p:spPr>
                  </p:pic>
                </p:oleObj>
              </mc:Fallback>
            </mc:AlternateContent>
          </a:graphicData>
        </a:graphic>
      </p:graphicFrame>
      <p:grpSp>
        <p:nvGrpSpPr>
          <p:cNvPr id="2" name="Group 11"/>
          <p:cNvGrpSpPr/>
          <p:nvPr/>
        </p:nvGrpSpPr>
        <p:grpSpPr>
          <a:xfrm>
            <a:off x="1331913" y="3933825"/>
            <a:ext cx="5784850" cy="815975"/>
            <a:chOff x="839" y="2478"/>
            <a:chExt cx="3644" cy="514"/>
          </a:xfrm>
        </p:grpSpPr>
        <p:sp>
          <p:nvSpPr>
            <p:cNvPr id="31747" name="Text Box 3"/>
            <p:cNvSpPr txBox="1"/>
            <p:nvPr/>
          </p:nvSpPr>
          <p:spPr>
            <a:xfrm>
              <a:off x="839" y="2704"/>
              <a:ext cx="960" cy="288"/>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连续信号</a:t>
              </a:r>
              <a:endParaRPr lang="zh-CN" altLang="en-US" b="1" dirty="0">
                <a:latin typeface="Times New Roman" panose="02020603050405020304" pitchFamily="18" charset="0"/>
                <a:ea typeface="宋体" panose="02010600030101010101" pitchFamily="2" charset="-122"/>
              </a:endParaRPr>
            </a:p>
          </p:txBody>
        </p:sp>
        <p:sp>
          <p:nvSpPr>
            <p:cNvPr id="31748" name="AutoShape 4"/>
            <p:cNvSpPr/>
            <p:nvPr/>
          </p:nvSpPr>
          <p:spPr>
            <a:xfrm>
              <a:off x="2016" y="2832"/>
              <a:ext cx="1152" cy="144"/>
            </a:xfrm>
            <a:prstGeom prst="rightArrow">
              <a:avLst>
                <a:gd name="adj1" fmla="val 50000"/>
                <a:gd name="adj2" fmla="val 200000"/>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1749" name="Text Box 5"/>
            <p:cNvSpPr txBox="1"/>
            <p:nvPr/>
          </p:nvSpPr>
          <p:spPr>
            <a:xfrm>
              <a:off x="3379" y="2704"/>
              <a:ext cx="1104" cy="288"/>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离散信号</a:t>
              </a:r>
              <a:endParaRPr lang="zh-CN" altLang="en-US" b="1" dirty="0">
                <a:latin typeface="Times New Roman" panose="02020603050405020304" pitchFamily="18" charset="0"/>
                <a:ea typeface="宋体" panose="02010600030101010101" pitchFamily="2" charset="-122"/>
              </a:endParaRPr>
            </a:p>
          </p:txBody>
        </p:sp>
        <p:sp>
          <p:nvSpPr>
            <p:cNvPr id="31750" name="Text Box 6"/>
            <p:cNvSpPr txBox="1"/>
            <p:nvPr/>
          </p:nvSpPr>
          <p:spPr>
            <a:xfrm>
              <a:off x="2245" y="2478"/>
              <a:ext cx="528" cy="288"/>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抽样</a:t>
              </a:r>
              <a:endParaRPr lang="zh-CN" altLang="en-US" b="1" dirty="0">
                <a:latin typeface="Times New Roman" panose="02020603050405020304" pitchFamily="18" charset="0"/>
                <a:ea typeface="宋体" panose="02010600030101010101" pitchFamily="2" charset="-122"/>
              </a:endParaRPr>
            </a:p>
          </p:txBody>
        </p:sp>
      </p:grpSp>
      <p:sp>
        <p:nvSpPr>
          <p:cNvPr id="11271" name="Text Box 7"/>
          <p:cNvSpPr txBox="1"/>
          <p:nvPr/>
        </p:nvSpPr>
        <p:spPr>
          <a:xfrm>
            <a:off x="539750" y="5661025"/>
            <a:ext cx="8229600" cy="457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问题</a:t>
            </a:r>
            <a:r>
              <a:rPr lang="en-US" altLang="zh-CN" b="1" dirty="0">
                <a:latin typeface="Times New Roman" panose="02020603050405020304" pitchFamily="18" charset="0"/>
                <a:ea typeface="宋体" panose="02010600030101010101" pitchFamily="2" charset="-122"/>
              </a:rPr>
              <a:t>2 : </a:t>
            </a:r>
            <a:r>
              <a:rPr lang="zh-CN" altLang="en-US" b="1" dirty="0">
                <a:latin typeface="Times New Roman" panose="02020603050405020304" pitchFamily="18" charset="0"/>
                <a:ea typeface="宋体" panose="02010600030101010101" pitchFamily="2" charset="-122"/>
              </a:rPr>
              <a:t>如何采用最少的点并保持信号所带信息？</a:t>
            </a:r>
            <a:endParaRPr lang="zh-CN" altLang="en-US" b="1" dirty="0">
              <a:latin typeface="Times New Roman" panose="02020603050405020304" pitchFamily="18" charset="0"/>
              <a:ea typeface="宋体" panose="02010600030101010101" pitchFamily="2" charset="-122"/>
            </a:endParaRPr>
          </a:p>
        </p:txBody>
      </p:sp>
      <p:sp>
        <p:nvSpPr>
          <p:cNvPr id="31752" name="Text Box 8"/>
          <p:cNvSpPr txBox="1"/>
          <p:nvPr/>
        </p:nvSpPr>
        <p:spPr>
          <a:xfrm>
            <a:off x="381000" y="228600"/>
            <a:ext cx="5105400" cy="457200"/>
          </a:xfrm>
          <a:prstGeom prst="rect">
            <a:avLst/>
          </a:prstGeom>
          <a:noFill/>
          <a:ln w="9525">
            <a:noFill/>
          </a:ln>
        </p:spPr>
        <p:txBody>
          <a:bodyPr anchor="t" anchorCtr="0">
            <a:spAutoFit/>
          </a:bodyPr>
          <a:p>
            <a:pPr>
              <a:spcBef>
                <a:spcPct val="50000"/>
              </a:spcBef>
            </a:pPr>
            <a:r>
              <a:rPr lang="zh-CN" altLang="en-US" b="1" dirty="0">
                <a:solidFill>
                  <a:srgbClr val="0000FF"/>
                </a:solidFill>
                <a:latin typeface="Times New Roman" panose="02020603050405020304" pitchFamily="18" charset="0"/>
                <a:ea typeface="宋体" panose="02010600030101010101" pitchFamily="2" charset="-122"/>
              </a:rPr>
              <a:t>连续信号和离散信号</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p:txBody>
      </p:sp>
      <p:graphicFrame>
        <p:nvGraphicFramePr>
          <p:cNvPr id="11274" name="Object 10"/>
          <p:cNvGraphicFramePr>
            <a:graphicFrameLocks noChangeAspect="1"/>
          </p:cNvGraphicFramePr>
          <p:nvPr/>
        </p:nvGraphicFramePr>
        <p:xfrm>
          <a:off x="4643438" y="765175"/>
          <a:ext cx="3817937" cy="3117850"/>
        </p:xfrm>
        <a:graphic>
          <a:graphicData uri="http://schemas.openxmlformats.org/presentationml/2006/ole">
            <mc:AlternateContent xmlns:mc="http://schemas.openxmlformats.org/markup-compatibility/2006">
              <mc:Choice xmlns:v="urn:schemas-microsoft-com:vml" Requires="v">
                <p:oleObj spid="_x0000_s3079" name="" r:id="rId3" imgW="4288155" imgH="3100705" progId="Visio.Drawing.6">
                  <p:embed/>
                </p:oleObj>
              </mc:Choice>
              <mc:Fallback>
                <p:oleObj name="" r:id="rId3" imgW="4288155" imgH="3100705" progId="Visio.Drawing.6">
                  <p:embed/>
                  <p:pic>
                    <p:nvPicPr>
                      <p:cNvPr id="0" name="图片 3078"/>
                      <p:cNvPicPr/>
                      <p:nvPr/>
                    </p:nvPicPr>
                    <p:blipFill>
                      <a:blip r:embed="rId4"/>
                      <a:stretch>
                        <a:fillRect/>
                      </a:stretch>
                    </p:blipFill>
                    <p:spPr>
                      <a:xfrm>
                        <a:off x="4643438" y="765175"/>
                        <a:ext cx="3817937" cy="3117850"/>
                      </a:xfrm>
                      <a:prstGeom prst="rect">
                        <a:avLst/>
                      </a:prstGeom>
                      <a:noFill/>
                      <a:ln w="38100">
                        <a:noFill/>
                        <a:miter/>
                      </a:ln>
                    </p:spPr>
                  </p:pic>
                </p:oleObj>
              </mc:Fallback>
            </mc:AlternateContent>
          </a:graphicData>
        </a:graphic>
      </p:graphicFrame>
      <p:sp>
        <p:nvSpPr>
          <p:cNvPr id="11276" name="Rectangle 12"/>
          <p:cNvSpPr/>
          <p:nvPr/>
        </p:nvSpPr>
        <p:spPr>
          <a:xfrm>
            <a:off x="539750" y="5084763"/>
            <a:ext cx="4103688" cy="457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问题</a:t>
            </a:r>
            <a:r>
              <a:rPr lang="en-US" altLang="zh-CN" b="1" dirty="0">
                <a:latin typeface="Times New Roman" panose="02020603050405020304" pitchFamily="18" charset="0"/>
                <a:ea typeface="宋体" panose="02010600030101010101" pitchFamily="2" charset="-122"/>
              </a:rPr>
              <a:t>1 : </a:t>
            </a:r>
            <a:r>
              <a:rPr lang="zh-CN" altLang="en-US" b="1" dirty="0">
                <a:latin typeface="Times New Roman" panose="02020603050405020304" pitchFamily="18" charset="0"/>
                <a:ea typeface="宋体" panose="02010600030101010101" pitchFamily="2" charset="-122"/>
              </a:rPr>
              <a:t>如何从连续到离散？</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 grpId="0"/>
      <p:bldP spid="1127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p:nvPr/>
        </p:nvSpPr>
        <p:spPr>
          <a:xfrm>
            <a:off x="381000" y="188595"/>
            <a:ext cx="8153400" cy="457200"/>
          </a:xfrm>
          <a:prstGeom prst="rect">
            <a:avLst/>
          </a:prstGeom>
          <a:noFill/>
          <a:ln w="9525">
            <a:noFill/>
          </a:ln>
        </p:spPr>
        <p:txBody>
          <a:bodyPr anchor="t" anchorCtr="0">
            <a:spAutoFit/>
          </a:bodyPr>
          <a:p>
            <a:pPr marL="2006600" indent="-2006600">
              <a:spcBef>
                <a:spcPct val="50000"/>
              </a:spcBef>
            </a:pPr>
            <a:r>
              <a:rPr lang="en-US" altLang="zh-CN" b="1" dirty="0">
                <a:solidFill>
                  <a:schemeClr val="accent2"/>
                </a:solidFill>
                <a:latin typeface="Times New Roman" panose="02020603050405020304" pitchFamily="18" charset="0"/>
                <a:ea typeface="宋体" panose="02010600030101010101" pitchFamily="2" charset="-122"/>
              </a:rPr>
              <a:t>   3  </a:t>
            </a:r>
            <a:r>
              <a:rPr lang="zh-CN" altLang="en-US" b="1" dirty="0">
                <a:solidFill>
                  <a:schemeClr val="accent2"/>
                </a:solidFill>
                <a:latin typeface="Times New Roman" panose="02020603050405020304" pitchFamily="18" charset="0"/>
                <a:ea typeface="宋体" panose="02010600030101010101" pitchFamily="2" charset="-122"/>
              </a:rPr>
              <a:t>周期信号：</a:t>
            </a:r>
            <a:r>
              <a:rPr lang="zh-CN" altLang="en-US" b="1" dirty="0">
                <a:latin typeface="Times New Roman" panose="02020603050405020304" pitchFamily="18" charset="0"/>
                <a:ea typeface="宋体" panose="02010600030101010101" pitchFamily="2" charset="-122"/>
              </a:rPr>
              <a:t>存在 </a:t>
            </a:r>
            <a:r>
              <a:rPr lang="en-US" altLang="zh-CN" b="1" dirty="0">
                <a:latin typeface="Times New Roman" panose="02020603050405020304" pitchFamily="18" charset="0"/>
                <a:ea typeface="宋体" panose="02010600030101010101" pitchFamily="2" charset="-122"/>
              </a:rPr>
              <a:t>T </a:t>
            </a:r>
            <a:r>
              <a:rPr lang="zh-CN" altLang="en-US" b="1" dirty="0">
                <a:latin typeface="Times New Roman" panose="02020603050405020304" pitchFamily="18" charset="0"/>
                <a:ea typeface="宋体" panose="02010600030101010101" pitchFamily="2" charset="-122"/>
              </a:rPr>
              <a:t>或 </a:t>
            </a:r>
            <a:r>
              <a:rPr lang="en-US" altLang="zh-CN" b="1" dirty="0">
                <a:latin typeface="Times New Roman" panose="02020603050405020304" pitchFamily="18" charset="0"/>
                <a:ea typeface="宋体" panose="02010600030101010101" pitchFamily="2" charset="-122"/>
              </a:rPr>
              <a:t>N </a:t>
            </a:r>
            <a:r>
              <a:rPr lang="zh-CN" altLang="en-US" b="1" dirty="0">
                <a:latin typeface="Times New Roman" panose="02020603050405020304" pitchFamily="18" charset="0"/>
                <a:ea typeface="宋体" panose="02010600030101010101" pitchFamily="2" charset="-122"/>
              </a:rPr>
              <a:t>，对于任意时间 </a:t>
            </a:r>
            <a:r>
              <a:rPr lang="en-US" altLang="zh-CN" b="1" dirty="0">
                <a:latin typeface="Times New Roman" panose="02020603050405020304" pitchFamily="18" charset="0"/>
                <a:ea typeface="宋体" panose="02010600030101010101" pitchFamily="2" charset="-122"/>
              </a:rPr>
              <a:t>t </a:t>
            </a:r>
            <a:r>
              <a:rPr lang="zh-CN" altLang="en-US" b="1" dirty="0">
                <a:latin typeface="Times New Roman" panose="02020603050405020304" pitchFamily="18" charset="0"/>
                <a:ea typeface="宋体" panose="02010600030101010101" pitchFamily="2" charset="-122"/>
              </a:rPr>
              <a:t>或 </a:t>
            </a:r>
            <a:r>
              <a:rPr lang="en-US" altLang="zh-CN" b="1" dirty="0">
                <a:latin typeface="Times New Roman" panose="02020603050405020304" pitchFamily="18" charset="0"/>
                <a:ea typeface="宋体" panose="02010600030101010101" pitchFamily="2" charset="-122"/>
              </a:rPr>
              <a:t>n </a:t>
            </a:r>
            <a:r>
              <a:rPr lang="zh-CN" altLang="en-US" b="1" dirty="0">
                <a:latin typeface="Times New Roman" panose="02020603050405020304" pitchFamily="18" charset="0"/>
                <a:ea typeface="宋体" panose="02010600030101010101" pitchFamily="2" charset="-122"/>
              </a:rPr>
              <a:t>都有</a:t>
            </a:r>
            <a:endParaRPr lang="zh-CN" altLang="en-US" b="1" dirty="0">
              <a:latin typeface="Times New Roman" panose="02020603050405020304" pitchFamily="18" charset="0"/>
              <a:ea typeface="宋体" panose="02010600030101010101" pitchFamily="2" charset="-122"/>
            </a:endParaRPr>
          </a:p>
        </p:txBody>
      </p:sp>
      <p:sp>
        <p:nvSpPr>
          <p:cNvPr id="12291" name="Rectangle 3"/>
          <p:cNvSpPr/>
          <p:nvPr/>
        </p:nvSpPr>
        <p:spPr>
          <a:xfrm>
            <a:off x="467043" y="1997393"/>
            <a:ext cx="8280400" cy="1004887"/>
          </a:xfrm>
          <a:prstGeom prst="rect">
            <a:avLst/>
          </a:prstGeom>
          <a:noFill/>
          <a:ln w="9525">
            <a:noFill/>
          </a:ln>
        </p:spPr>
        <p:txBody>
          <a:bodyPr anchor="t" anchorCtr="0">
            <a:spAutoFit/>
          </a:bodyPr>
          <a:p>
            <a:pPr>
              <a:spcBef>
                <a:spcPct val="50000"/>
              </a:spcBef>
            </a:pPr>
            <a:r>
              <a:rPr lang="en-US" altLang="zh-CN" b="1" dirty="0">
                <a:solidFill>
                  <a:schemeClr val="accent2"/>
                </a:solidFill>
                <a:latin typeface="Times New Roman" panose="02020603050405020304" pitchFamily="18" charset="0"/>
                <a:ea typeface="宋体" panose="02010600030101010101" pitchFamily="2" charset="-122"/>
              </a:rPr>
              <a:t>  4  </a:t>
            </a:r>
            <a:r>
              <a:rPr lang="zh-CN" altLang="en-US" b="1" dirty="0">
                <a:solidFill>
                  <a:schemeClr val="accent2"/>
                </a:solidFill>
                <a:latin typeface="Times New Roman" panose="02020603050405020304" pitchFamily="18" charset="0"/>
                <a:ea typeface="宋体" panose="02010600030101010101" pitchFamily="2" charset="-122"/>
              </a:rPr>
              <a:t>能量信号：</a:t>
            </a:r>
            <a:r>
              <a:rPr lang="zh-CN" altLang="en-US" b="1" dirty="0">
                <a:latin typeface="Times New Roman" panose="02020603050405020304" pitchFamily="18" charset="0"/>
                <a:ea typeface="宋体" panose="02010600030101010101" pitchFamily="2" charset="-122"/>
              </a:rPr>
              <a:t>总能量为有限值的信号</a:t>
            </a:r>
            <a:endParaRPr lang="zh-CN" altLang="en-US" b="1" dirty="0">
              <a:latin typeface="Times New Roman" panose="02020603050405020304" pitchFamily="18" charset="0"/>
              <a:ea typeface="宋体" panose="02010600030101010101" pitchFamily="2" charset="-122"/>
            </a:endParaRPr>
          </a:p>
          <a:p>
            <a:pPr eaLnBrk="0" hangingPunct="0">
              <a:spcBef>
                <a:spcPct val="50000"/>
              </a:spcBef>
            </a:pPr>
            <a:r>
              <a:rPr lang="zh-CN" altLang="en-US" b="1" dirty="0">
                <a:latin typeface="Times New Roman" panose="02020603050405020304" pitchFamily="18" charset="0"/>
                <a:ea typeface="宋体" panose="02010600030101010101" pitchFamily="2" charset="-122"/>
              </a:rPr>
              <a:t>      </a:t>
            </a:r>
            <a:r>
              <a:rPr lang="zh-CN" altLang="en-US" b="1" dirty="0">
                <a:solidFill>
                  <a:schemeClr val="accent2"/>
                </a:solidFill>
                <a:latin typeface="Times New Roman" panose="02020603050405020304" pitchFamily="18" charset="0"/>
                <a:ea typeface="宋体" panose="02010600030101010101" pitchFamily="2" charset="-122"/>
              </a:rPr>
              <a:t>功率信号：</a:t>
            </a:r>
            <a:r>
              <a:rPr lang="zh-CN" altLang="en-US" b="1" dirty="0">
                <a:latin typeface="Times New Roman" panose="02020603050405020304" pitchFamily="18" charset="0"/>
                <a:ea typeface="宋体" panose="02010600030101010101" pitchFamily="2" charset="-122"/>
              </a:rPr>
              <a:t>总能量为无限值、平均功率为有限值的信号</a:t>
            </a:r>
            <a:endParaRPr lang="zh-CN" altLang="en-US" b="1" dirty="0">
              <a:latin typeface="Times New Roman" panose="02020603050405020304" pitchFamily="18" charset="0"/>
              <a:ea typeface="宋体" panose="02010600030101010101" pitchFamily="2" charset="-122"/>
            </a:endParaRPr>
          </a:p>
        </p:txBody>
      </p:sp>
      <p:sp>
        <p:nvSpPr>
          <p:cNvPr id="12298" name="Rectangle 10"/>
          <p:cNvSpPr/>
          <p:nvPr/>
        </p:nvSpPr>
        <p:spPr>
          <a:xfrm>
            <a:off x="898843" y="1412875"/>
            <a:ext cx="5616575" cy="457200"/>
          </a:xfrm>
          <a:prstGeom prst="rect">
            <a:avLst/>
          </a:prstGeom>
          <a:noFill/>
          <a:ln w="9525">
            <a:noFill/>
          </a:ln>
        </p:spPr>
        <p:txBody>
          <a:bodyPr anchor="t" anchorCtr="0">
            <a:spAutoFit/>
          </a:bodyPr>
          <a:p>
            <a:pPr eaLnBrk="0" hangingPunct="0">
              <a:spcBef>
                <a:spcPct val="50000"/>
              </a:spcBef>
            </a:pPr>
            <a:r>
              <a:rPr lang="zh-CN" altLang="en-US" b="1" dirty="0">
                <a:solidFill>
                  <a:schemeClr val="accent2"/>
                </a:solidFill>
                <a:latin typeface="Times New Roman" panose="02020603050405020304" pitchFamily="18" charset="0"/>
                <a:ea typeface="宋体" panose="02010600030101010101" pitchFamily="2" charset="-122"/>
              </a:rPr>
              <a:t>非周期信号：</a:t>
            </a:r>
            <a:r>
              <a:rPr lang="zh-CN" altLang="en-US" b="1" dirty="0">
                <a:latin typeface="Times New Roman" panose="02020603050405020304" pitchFamily="18" charset="0"/>
                <a:ea typeface="宋体" panose="02010600030101010101" pitchFamily="2" charset="-122"/>
              </a:rPr>
              <a:t>不存在</a:t>
            </a:r>
            <a:r>
              <a:rPr lang="en-US" altLang="zh-CN" b="1" dirty="0">
                <a:latin typeface="Times New Roman" panose="02020603050405020304" pitchFamily="18" charset="0"/>
                <a:ea typeface="宋体" panose="02010600030101010101" pitchFamily="2" charset="-122"/>
              </a:rPr>
              <a:t>T</a:t>
            </a:r>
            <a:r>
              <a:rPr lang="zh-CN" altLang="en-US" b="1" dirty="0">
                <a:latin typeface="Times New Roman" panose="02020603050405020304" pitchFamily="18" charset="0"/>
                <a:ea typeface="宋体" panose="02010600030101010101" pitchFamily="2" charset="-122"/>
              </a:rPr>
              <a:t>，使</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graphicFrame>
        <p:nvGraphicFramePr>
          <p:cNvPr id="12301" name="Object 13"/>
          <p:cNvGraphicFramePr>
            <a:graphicFrameLocks noChangeAspect="1"/>
          </p:cNvGraphicFramePr>
          <p:nvPr/>
        </p:nvGraphicFramePr>
        <p:xfrm>
          <a:off x="1403350" y="764540"/>
          <a:ext cx="2160588" cy="539750"/>
        </p:xfrm>
        <a:graphic>
          <a:graphicData uri="http://schemas.openxmlformats.org/presentationml/2006/ole">
            <mc:AlternateContent xmlns:mc="http://schemas.openxmlformats.org/markup-compatibility/2006">
              <mc:Choice xmlns:v="urn:schemas-microsoft-com:vml" Requires="v">
                <p:oleObj spid="_x0000_s3080" name="" r:id="rId1" imgW="761365" imgH="190500" progId="Equation.3">
                  <p:embed/>
                </p:oleObj>
              </mc:Choice>
              <mc:Fallback>
                <p:oleObj name="" r:id="rId1" imgW="761365" imgH="190500" progId="Equation.3">
                  <p:embed/>
                  <p:pic>
                    <p:nvPicPr>
                      <p:cNvPr id="0" name="图片 3079"/>
                      <p:cNvPicPr/>
                      <p:nvPr/>
                    </p:nvPicPr>
                    <p:blipFill>
                      <a:blip r:embed="rId2"/>
                      <a:stretch>
                        <a:fillRect/>
                      </a:stretch>
                    </p:blipFill>
                    <p:spPr>
                      <a:xfrm>
                        <a:off x="1403350" y="764540"/>
                        <a:ext cx="2160588" cy="539750"/>
                      </a:xfrm>
                      <a:prstGeom prst="rect">
                        <a:avLst/>
                      </a:prstGeom>
                      <a:noFill/>
                      <a:ln w="38100">
                        <a:noFill/>
                        <a:miter/>
                      </a:ln>
                    </p:spPr>
                  </p:pic>
                </p:oleObj>
              </mc:Fallback>
            </mc:AlternateContent>
          </a:graphicData>
        </a:graphic>
      </p:graphicFrame>
      <p:graphicFrame>
        <p:nvGraphicFramePr>
          <p:cNvPr id="12302" name="Object 14"/>
          <p:cNvGraphicFramePr>
            <a:graphicFrameLocks noChangeAspect="1"/>
          </p:cNvGraphicFramePr>
          <p:nvPr/>
        </p:nvGraphicFramePr>
        <p:xfrm>
          <a:off x="4067810" y="764223"/>
          <a:ext cx="2160588" cy="539750"/>
        </p:xfrm>
        <a:graphic>
          <a:graphicData uri="http://schemas.openxmlformats.org/presentationml/2006/ole">
            <mc:AlternateContent xmlns:mc="http://schemas.openxmlformats.org/markup-compatibility/2006">
              <mc:Choice xmlns:v="urn:schemas-microsoft-com:vml" Requires="v">
                <p:oleObj spid="_x0000_s3081" name="" r:id="rId3" imgW="838200" imgH="190500" progId="Equation.3">
                  <p:embed/>
                </p:oleObj>
              </mc:Choice>
              <mc:Fallback>
                <p:oleObj name="" r:id="rId3" imgW="838200" imgH="190500" progId="Equation.3">
                  <p:embed/>
                  <p:pic>
                    <p:nvPicPr>
                      <p:cNvPr id="0" name="图片 3080"/>
                      <p:cNvPicPr/>
                      <p:nvPr/>
                    </p:nvPicPr>
                    <p:blipFill>
                      <a:blip r:embed="rId4"/>
                      <a:stretch>
                        <a:fillRect/>
                      </a:stretch>
                    </p:blipFill>
                    <p:spPr>
                      <a:xfrm>
                        <a:off x="4067810" y="764223"/>
                        <a:ext cx="2160588" cy="539750"/>
                      </a:xfrm>
                      <a:prstGeom prst="rect">
                        <a:avLst/>
                      </a:prstGeom>
                      <a:noFill/>
                      <a:ln w="38100">
                        <a:noFill/>
                        <a:miter/>
                      </a:ln>
                    </p:spPr>
                  </p:pic>
                </p:oleObj>
              </mc:Fallback>
            </mc:AlternateContent>
          </a:graphicData>
        </a:graphic>
      </p:graphicFrame>
      <p:grpSp>
        <p:nvGrpSpPr>
          <p:cNvPr id="2" name="Group 18"/>
          <p:cNvGrpSpPr/>
          <p:nvPr/>
        </p:nvGrpSpPr>
        <p:grpSpPr>
          <a:xfrm>
            <a:off x="971550" y="3097530"/>
            <a:ext cx="6831892" cy="579198"/>
            <a:chOff x="915" y="2719"/>
            <a:chExt cx="4178" cy="548"/>
          </a:xfrm>
        </p:grpSpPr>
        <p:graphicFrame>
          <p:nvGraphicFramePr>
            <p:cNvPr id="33799" name="Object 8"/>
            <p:cNvGraphicFramePr>
              <a:graphicFrameLocks noChangeAspect="1"/>
            </p:cNvGraphicFramePr>
            <p:nvPr/>
          </p:nvGraphicFramePr>
          <p:xfrm>
            <a:off x="915" y="2719"/>
            <a:ext cx="1708" cy="548"/>
          </p:xfrm>
          <a:graphic>
            <a:graphicData uri="http://schemas.openxmlformats.org/presentationml/2006/ole">
              <mc:AlternateContent xmlns:mc="http://schemas.openxmlformats.org/markup-compatibility/2006">
                <mc:Choice xmlns:v="urn:schemas-microsoft-com:vml" Requires="v">
                  <p:oleObj spid="_x0000_s3082" name="" r:id="rId5" imgW="1028700" imgH="330200" progId="Equation.3">
                    <p:embed/>
                  </p:oleObj>
                </mc:Choice>
                <mc:Fallback>
                  <p:oleObj name="" r:id="rId5" imgW="1028700" imgH="330200" progId="Equation.3">
                    <p:embed/>
                    <p:pic>
                      <p:nvPicPr>
                        <p:cNvPr id="0" name="图片 3081"/>
                        <p:cNvPicPr/>
                        <p:nvPr/>
                      </p:nvPicPr>
                      <p:blipFill>
                        <a:blip r:embed="rId6"/>
                        <a:stretch>
                          <a:fillRect/>
                        </a:stretch>
                      </p:blipFill>
                      <p:spPr>
                        <a:xfrm>
                          <a:off x="915" y="2719"/>
                          <a:ext cx="1708" cy="548"/>
                        </a:xfrm>
                        <a:prstGeom prst="rect">
                          <a:avLst/>
                        </a:prstGeom>
                        <a:noFill/>
                        <a:ln w="38100">
                          <a:noFill/>
                          <a:miter/>
                        </a:ln>
                      </p:spPr>
                    </p:pic>
                  </p:oleObj>
                </mc:Fallback>
              </mc:AlternateContent>
            </a:graphicData>
          </a:graphic>
        </p:graphicFrame>
        <p:sp>
          <p:nvSpPr>
            <p:cNvPr id="33800" name="Text Box 15"/>
            <p:cNvSpPr txBox="1"/>
            <p:nvPr/>
          </p:nvSpPr>
          <p:spPr>
            <a:xfrm>
              <a:off x="3249" y="2778"/>
              <a:ext cx="1844" cy="436"/>
            </a:xfrm>
            <a:prstGeom prst="rect">
              <a:avLst/>
            </a:prstGeom>
            <a:solidFill>
              <a:schemeClr val="hlink"/>
            </a:solidFill>
            <a:ln w="9525">
              <a:noFill/>
            </a:ln>
          </p:spPr>
          <p:txBody>
            <a:bodyPr wrap="square" anchor="t" anchorCtr="0">
              <a:spAutoFit/>
            </a:bodyPr>
            <a:p>
              <a:r>
                <a:rPr lang="zh-CN" altLang="en-US" dirty="0">
                  <a:latin typeface="Times New Roman" panose="02020603050405020304" pitchFamily="18" charset="0"/>
                  <a:ea typeface="宋体" panose="02010600030101010101" pitchFamily="2" charset="-122"/>
                </a:rPr>
                <a:t>连续时间信号的能量</a:t>
              </a:r>
              <a:endParaRPr lang="zh-CN" altLang="en-US" dirty="0">
                <a:latin typeface="Times New Roman" panose="02020603050405020304" pitchFamily="18" charset="0"/>
                <a:ea typeface="宋体" panose="02010600030101010101" pitchFamily="2" charset="-122"/>
              </a:endParaRPr>
            </a:p>
          </p:txBody>
        </p:sp>
      </p:grpSp>
      <p:grpSp>
        <p:nvGrpSpPr>
          <p:cNvPr id="3" name="Group 20"/>
          <p:cNvGrpSpPr/>
          <p:nvPr/>
        </p:nvGrpSpPr>
        <p:grpSpPr>
          <a:xfrm>
            <a:off x="971550" y="4669155"/>
            <a:ext cx="6757243" cy="760730"/>
            <a:chOff x="1106" y="3219"/>
            <a:chExt cx="4062" cy="611"/>
          </a:xfrm>
        </p:grpSpPr>
        <p:graphicFrame>
          <p:nvGraphicFramePr>
            <p:cNvPr id="33802" name="Object 9"/>
            <p:cNvGraphicFramePr>
              <a:graphicFrameLocks noChangeAspect="1"/>
            </p:cNvGraphicFramePr>
            <p:nvPr/>
          </p:nvGraphicFramePr>
          <p:xfrm>
            <a:off x="1106" y="3219"/>
            <a:ext cx="1384" cy="611"/>
          </p:xfrm>
          <a:graphic>
            <a:graphicData uri="http://schemas.openxmlformats.org/presentationml/2006/ole">
              <mc:AlternateContent xmlns:mc="http://schemas.openxmlformats.org/markup-compatibility/2006">
                <mc:Choice xmlns:v="urn:schemas-microsoft-com:vml" Requires="v">
                  <p:oleObj spid="_x0000_s3083" name="" r:id="rId7" imgW="812165" imgH="368300" progId="Equation.3">
                    <p:embed/>
                  </p:oleObj>
                </mc:Choice>
                <mc:Fallback>
                  <p:oleObj name="" r:id="rId7" imgW="812165" imgH="368300" progId="Equation.3">
                    <p:embed/>
                    <p:pic>
                      <p:nvPicPr>
                        <p:cNvPr id="0" name="图片 3082"/>
                        <p:cNvPicPr/>
                        <p:nvPr/>
                      </p:nvPicPr>
                      <p:blipFill>
                        <a:blip r:embed="rId8"/>
                        <a:stretch>
                          <a:fillRect/>
                        </a:stretch>
                      </p:blipFill>
                      <p:spPr>
                        <a:xfrm>
                          <a:off x="1106" y="3219"/>
                          <a:ext cx="1384" cy="611"/>
                        </a:xfrm>
                        <a:prstGeom prst="rect">
                          <a:avLst/>
                        </a:prstGeom>
                        <a:noFill/>
                        <a:ln w="38100">
                          <a:noFill/>
                          <a:miter/>
                        </a:ln>
                      </p:spPr>
                    </p:pic>
                  </p:oleObj>
                </mc:Fallback>
              </mc:AlternateContent>
            </a:graphicData>
          </a:graphic>
        </p:graphicFrame>
        <p:sp>
          <p:nvSpPr>
            <p:cNvPr id="33803" name="Text Box 16"/>
            <p:cNvSpPr txBox="1"/>
            <p:nvPr/>
          </p:nvSpPr>
          <p:spPr>
            <a:xfrm>
              <a:off x="3400" y="3293"/>
              <a:ext cx="1768" cy="370"/>
            </a:xfrm>
            <a:prstGeom prst="rect">
              <a:avLst/>
            </a:prstGeom>
            <a:solidFill>
              <a:schemeClr val="hlink"/>
            </a:solidFill>
            <a:ln w="9525">
              <a:noFill/>
            </a:ln>
          </p:spPr>
          <p:txBody>
            <a:bodyPr anchor="t" anchorCtr="0">
              <a:spAutoFit/>
            </a:bodyPr>
            <a:p>
              <a:r>
                <a:rPr lang="zh-CN" altLang="en-US" dirty="0">
                  <a:latin typeface="Times New Roman" panose="02020603050405020304" pitchFamily="18" charset="0"/>
                  <a:ea typeface="宋体" panose="02010600030101010101" pitchFamily="2" charset="-122"/>
                </a:rPr>
                <a:t>离散时间信号的能量</a:t>
              </a:r>
              <a:endParaRPr lang="zh-CN" altLang="en-US" dirty="0">
                <a:latin typeface="Times New Roman" panose="02020603050405020304" pitchFamily="18" charset="0"/>
                <a:ea typeface="宋体" panose="02010600030101010101" pitchFamily="2" charset="-122"/>
              </a:endParaRPr>
            </a:p>
          </p:txBody>
        </p:sp>
      </p:grpSp>
      <p:grpSp>
        <p:nvGrpSpPr>
          <p:cNvPr id="4" name="Group 18"/>
          <p:cNvGrpSpPr/>
          <p:nvPr/>
        </p:nvGrpSpPr>
        <p:grpSpPr>
          <a:xfrm>
            <a:off x="971550" y="3807488"/>
            <a:ext cx="7407267" cy="810787"/>
            <a:chOff x="693" y="2722"/>
            <a:chExt cx="4594" cy="631"/>
          </a:xfrm>
        </p:grpSpPr>
        <p:graphicFrame>
          <p:nvGraphicFramePr>
            <p:cNvPr id="5" name="Object 8"/>
            <p:cNvGraphicFramePr>
              <a:graphicFrameLocks noChangeAspect="1"/>
            </p:cNvGraphicFramePr>
            <p:nvPr/>
          </p:nvGraphicFramePr>
          <p:xfrm>
            <a:off x="693" y="2722"/>
            <a:ext cx="1890" cy="631"/>
          </p:xfrm>
          <a:graphic>
            <a:graphicData uri="http://schemas.openxmlformats.org/presentationml/2006/ole">
              <mc:AlternateContent xmlns:mc="http://schemas.openxmlformats.org/markup-compatibility/2006">
                <mc:Choice xmlns:v="urn:schemas-microsoft-com:vml" Requires="v">
                  <p:oleObj spid="_x0000_s6" name="" r:id="rId9" imgW="1295400" imgH="431800" progId="Equation.3">
                    <p:embed/>
                  </p:oleObj>
                </mc:Choice>
                <mc:Fallback>
                  <p:oleObj name="" r:id="rId9" imgW="1295400" imgH="431800" progId="Equation.3">
                    <p:embed/>
                    <p:pic>
                      <p:nvPicPr>
                        <p:cNvPr id="0" name="图片 3081"/>
                        <p:cNvPicPr/>
                        <p:nvPr/>
                      </p:nvPicPr>
                      <p:blipFill>
                        <a:blip r:embed="rId10"/>
                        <a:stretch>
                          <a:fillRect/>
                        </a:stretch>
                      </p:blipFill>
                      <p:spPr>
                        <a:xfrm>
                          <a:off x="693" y="2722"/>
                          <a:ext cx="1890" cy="631"/>
                        </a:xfrm>
                        <a:prstGeom prst="rect">
                          <a:avLst/>
                        </a:prstGeom>
                        <a:noFill/>
                        <a:ln w="38100">
                          <a:noFill/>
                          <a:miter/>
                        </a:ln>
                      </p:spPr>
                    </p:pic>
                  </p:oleObj>
                </mc:Fallback>
              </mc:AlternateContent>
            </a:graphicData>
          </a:graphic>
        </p:graphicFrame>
        <p:sp>
          <p:nvSpPr>
            <p:cNvPr id="7" name="Text Box 15"/>
            <p:cNvSpPr txBox="1"/>
            <p:nvPr/>
          </p:nvSpPr>
          <p:spPr>
            <a:xfrm>
              <a:off x="3060" y="2820"/>
              <a:ext cx="2227" cy="358"/>
            </a:xfrm>
            <a:prstGeom prst="rect">
              <a:avLst/>
            </a:prstGeom>
            <a:solidFill>
              <a:schemeClr val="hlink"/>
            </a:solidFill>
            <a:ln w="9525">
              <a:noFill/>
            </a:ln>
          </p:spPr>
          <p:txBody>
            <a:bodyPr wrap="square" anchor="t" anchorCtr="0">
              <a:spAutoFit/>
            </a:bodyPr>
            <a:p>
              <a:r>
                <a:rPr lang="zh-CN" altLang="en-US" dirty="0">
                  <a:latin typeface="Times New Roman" panose="02020603050405020304" pitchFamily="18" charset="0"/>
                  <a:ea typeface="宋体" panose="02010600030101010101" pitchFamily="2" charset="-122"/>
                </a:rPr>
                <a:t>连续时间信号的</a:t>
              </a:r>
              <a:r>
                <a:rPr lang="zh-CN" altLang="en-US" dirty="0">
                  <a:latin typeface="Times New Roman" panose="02020603050405020304" pitchFamily="18" charset="0"/>
                  <a:ea typeface="宋体" panose="02010600030101010101" pitchFamily="2" charset="-122"/>
                </a:rPr>
                <a:t>平均功率</a:t>
              </a:r>
              <a:endParaRPr lang="zh-CN" altLang="en-US" dirty="0">
                <a:latin typeface="Times New Roman" panose="02020603050405020304" pitchFamily="18" charset="0"/>
                <a:ea typeface="宋体" panose="02010600030101010101" pitchFamily="2" charset="-122"/>
              </a:endParaRPr>
            </a:p>
          </p:txBody>
        </p:sp>
      </p:grpSp>
      <p:grpSp>
        <p:nvGrpSpPr>
          <p:cNvPr id="8" name="Group 20"/>
          <p:cNvGrpSpPr/>
          <p:nvPr/>
        </p:nvGrpSpPr>
        <p:grpSpPr>
          <a:xfrm>
            <a:off x="971550" y="5516918"/>
            <a:ext cx="7464241" cy="830453"/>
            <a:chOff x="1106" y="3192"/>
            <a:chExt cx="4487" cy="667"/>
          </a:xfrm>
        </p:grpSpPr>
        <p:graphicFrame>
          <p:nvGraphicFramePr>
            <p:cNvPr id="9" name="Object 9"/>
            <p:cNvGraphicFramePr>
              <a:graphicFrameLocks noChangeAspect="1"/>
            </p:cNvGraphicFramePr>
            <p:nvPr/>
          </p:nvGraphicFramePr>
          <p:xfrm>
            <a:off x="1106" y="3192"/>
            <a:ext cx="2035" cy="667"/>
          </p:xfrm>
          <a:graphic>
            <a:graphicData uri="http://schemas.openxmlformats.org/presentationml/2006/ole">
              <mc:AlternateContent xmlns:mc="http://schemas.openxmlformats.org/markup-compatibility/2006">
                <mc:Choice xmlns:v="urn:schemas-microsoft-com:vml" Requires="v">
                  <p:oleObj spid="_x0000_s10" name="" r:id="rId11" imgW="1459865" imgH="469900" progId="Equation.3">
                    <p:embed/>
                  </p:oleObj>
                </mc:Choice>
                <mc:Fallback>
                  <p:oleObj name="" r:id="rId11" imgW="1459865" imgH="469900" progId="Equation.3">
                    <p:embed/>
                    <p:pic>
                      <p:nvPicPr>
                        <p:cNvPr id="0" name="图片 3082"/>
                        <p:cNvPicPr/>
                        <p:nvPr/>
                      </p:nvPicPr>
                      <p:blipFill>
                        <a:blip r:embed="rId12"/>
                        <a:stretch>
                          <a:fillRect/>
                        </a:stretch>
                      </p:blipFill>
                      <p:spPr>
                        <a:xfrm>
                          <a:off x="1106" y="3192"/>
                          <a:ext cx="2035" cy="667"/>
                        </a:xfrm>
                        <a:prstGeom prst="rect">
                          <a:avLst/>
                        </a:prstGeom>
                        <a:noFill/>
                        <a:ln w="38100">
                          <a:noFill/>
                          <a:miter/>
                        </a:ln>
                      </p:spPr>
                    </p:pic>
                  </p:oleObj>
                </mc:Fallback>
              </mc:AlternateContent>
            </a:graphicData>
          </a:graphic>
        </p:graphicFrame>
        <p:sp>
          <p:nvSpPr>
            <p:cNvPr id="11" name="Text Box 16"/>
            <p:cNvSpPr txBox="1"/>
            <p:nvPr/>
          </p:nvSpPr>
          <p:spPr>
            <a:xfrm>
              <a:off x="3400" y="3366"/>
              <a:ext cx="2193" cy="370"/>
            </a:xfrm>
            <a:prstGeom prst="rect">
              <a:avLst/>
            </a:prstGeom>
            <a:solidFill>
              <a:schemeClr val="hlink"/>
            </a:solidFill>
            <a:ln w="9525">
              <a:noFill/>
            </a:ln>
          </p:spPr>
          <p:txBody>
            <a:bodyPr wrap="square" anchor="t" anchorCtr="0">
              <a:spAutoFit/>
            </a:bodyPr>
            <a:p>
              <a:r>
                <a:rPr lang="zh-CN" altLang="en-US" dirty="0">
                  <a:latin typeface="Times New Roman" panose="02020603050405020304" pitchFamily="18" charset="0"/>
                  <a:ea typeface="宋体" panose="02010600030101010101" pitchFamily="2" charset="-122"/>
                </a:rPr>
                <a:t>离散时间信号</a:t>
              </a:r>
              <a:r>
                <a:rPr lang="zh-CN" altLang="en-US" dirty="0">
                  <a:latin typeface="Times New Roman" panose="02020603050405020304" pitchFamily="18" charset="0"/>
                  <a:ea typeface="宋体" panose="02010600030101010101" pitchFamily="2" charset="-122"/>
                </a:rPr>
                <a:t>的平均功率</a:t>
              </a:r>
              <a:endParaRPr lang="zh-CN" altLang="en-US"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29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p:bldP spid="1229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Text Box 4"/>
          <p:cNvSpPr txBox="1"/>
          <p:nvPr/>
        </p:nvSpPr>
        <p:spPr>
          <a:xfrm>
            <a:off x="468313" y="404813"/>
            <a:ext cx="2232025" cy="522287"/>
          </a:xfrm>
          <a:prstGeom prst="rect">
            <a:avLst/>
          </a:prstGeom>
          <a:noFill/>
          <a:ln w="9525">
            <a:noFill/>
          </a:ln>
        </p:spPr>
        <p:txBody>
          <a:bodyPr wrap="none" anchor="t" anchorCtr="0">
            <a:spAutoFit/>
          </a:bodyPr>
          <a:p>
            <a:r>
              <a:rPr lang="en-US" altLang="zh-CN" sz="2800" b="1" dirty="0">
                <a:solidFill>
                  <a:srgbClr val="FF0000"/>
                </a:solidFill>
                <a:latin typeface="Times New Roman" panose="02020603050405020304" pitchFamily="18" charset="0"/>
                <a:ea typeface="宋体" panose="02010600030101010101" pitchFamily="2" charset="-122"/>
              </a:rPr>
              <a:t>3</a:t>
            </a:r>
            <a:r>
              <a:rPr lang="zh-CN" altLang="en-US" sz="2800" b="1" dirty="0">
                <a:solidFill>
                  <a:srgbClr val="FF0000"/>
                </a:solidFill>
                <a:latin typeface="Times New Roman" panose="02020603050405020304" pitchFamily="18" charset="0"/>
                <a:ea typeface="宋体" panose="02010600030101010101" pitchFamily="2" charset="-122"/>
              </a:rPr>
              <a:t>、信号特性</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50181" name="Text Box 5"/>
          <p:cNvSpPr txBox="1"/>
          <p:nvPr/>
        </p:nvSpPr>
        <p:spPr>
          <a:xfrm>
            <a:off x="827088" y="981075"/>
            <a:ext cx="6769100" cy="457200"/>
          </a:xfrm>
          <a:prstGeom prst="rect">
            <a:avLst/>
          </a:prstGeom>
          <a:noFill/>
          <a:ln w="9525">
            <a:noFill/>
          </a:ln>
        </p:spPr>
        <p:txBody>
          <a:bodyPr anchor="t" anchorCtr="0">
            <a:spAutoFit/>
          </a:bodyPr>
          <a:p>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a:t>
            </a:r>
            <a:r>
              <a:rPr lang="zh-CN" altLang="en-US" b="1" dirty="0">
                <a:solidFill>
                  <a:schemeClr val="accent2"/>
                </a:solidFill>
                <a:latin typeface="Times New Roman" panose="02020603050405020304" pitchFamily="18" charset="0"/>
                <a:ea typeface="宋体" panose="02010600030101010101" pitchFamily="2" charset="-122"/>
              </a:rPr>
              <a:t>时间特性</a:t>
            </a:r>
            <a:r>
              <a:rPr lang="zh-CN" altLang="en-US" b="1" dirty="0">
                <a:latin typeface="Times New Roman" panose="02020603050405020304" pitchFamily="18" charset="0"/>
                <a:ea typeface="宋体" panose="02010600030101010101" pitchFamily="2" charset="-122"/>
              </a:rPr>
              <a:t>：波形、周期、信号本身变化速率</a:t>
            </a:r>
            <a:endParaRPr lang="zh-CN" altLang="en-US" b="1" dirty="0">
              <a:latin typeface="Times New Roman" panose="02020603050405020304" pitchFamily="18" charset="0"/>
              <a:ea typeface="宋体" panose="02010600030101010101" pitchFamily="2" charset="-122"/>
            </a:endParaRPr>
          </a:p>
        </p:txBody>
      </p:sp>
      <p:sp>
        <p:nvSpPr>
          <p:cNvPr id="35843" name="Text Box 6"/>
          <p:cNvSpPr txBox="1"/>
          <p:nvPr/>
        </p:nvSpPr>
        <p:spPr>
          <a:xfrm>
            <a:off x="1743075" y="2298700"/>
            <a:ext cx="184150" cy="4572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sp>
        <p:nvSpPr>
          <p:cNvPr id="50184" name="Text Box 8"/>
          <p:cNvSpPr txBox="1"/>
          <p:nvPr/>
        </p:nvSpPr>
        <p:spPr>
          <a:xfrm>
            <a:off x="827088" y="1484313"/>
            <a:ext cx="5905500" cy="457200"/>
          </a:xfrm>
          <a:prstGeom prst="rect">
            <a:avLst/>
          </a:prstGeom>
          <a:noFill/>
          <a:ln w="9525">
            <a:noFill/>
          </a:ln>
        </p:spPr>
        <p:txBody>
          <a:bodyPr anchor="t" anchorCtr="0">
            <a:spAutoFit/>
          </a:bodyPr>
          <a:p>
            <a:r>
              <a:rPr lang="en-US" altLang="zh-CN" b="1" dirty="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a:t>
            </a:r>
            <a:r>
              <a:rPr lang="zh-CN" altLang="en-US" b="1" dirty="0">
                <a:solidFill>
                  <a:schemeClr val="accent2"/>
                </a:solidFill>
                <a:latin typeface="Times New Roman" panose="02020603050405020304" pitchFamily="18" charset="0"/>
                <a:ea typeface="宋体" panose="02010600030101010101" pitchFamily="2" charset="-122"/>
              </a:rPr>
              <a:t>频率特性</a:t>
            </a:r>
            <a:r>
              <a:rPr lang="zh-CN" altLang="en-US" b="1" dirty="0">
                <a:latin typeface="Times New Roman" panose="02020603050405020304" pitchFamily="18" charset="0"/>
                <a:ea typeface="宋体" panose="02010600030101010101" pitchFamily="2" charset="-122"/>
              </a:rPr>
              <a:t>：振幅、相位、频率、频带</a:t>
            </a:r>
            <a:endParaRPr lang="zh-CN" altLang="en-US" b="1" dirty="0">
              <a:latin typeface="Times New Roman" panose="02020603050405020304" pitchFamily="18" charset="0"/>
              <a:ea typeface="宋体" panose="02010600030101010101" pitchFamily="2" charset="-122"/>
            </a:endParaRPr>
          </a:p>
        </p:txBody>
      </p:sp>
      <p:sp>
        <p:nvSpPr>
          <p:cNvPr id="50185" name="Text Box 9"/>
          <p:cNvSpPr txBox="1"/>
          <p:nvPr/>
        </p:nvSpPr>
        <p:spPr>
          <a:xfrm>
            <a:off x="827088" y="1989138"/>
            <a:ext cx="4824412" cy="457200"/>
          </a:xfrm>
          <a:prstGeom prst="rect">
            <a:avLst/>
          </a:prstGeom>
          <a:noFill/>
          <a:ln w="9525">
            <a:noFill/>
          </a:ln>
        </p:spPr>
        <p:txBody>
          <a:bodyPr anchor="t" anchorCtr="0">
            <a:spAutoFit/>
          </a:bodyPr>
          <a:p>
            <a:r>
              <a:rPr lang="en-US" altLang="zh-CN" b="1" dirty="0">
                <a:latin typeface="Times New Roman" panose="02020603050405020304" pitchFamily="18" charset="0"/>
                <a:ea typeface="宋体" panose="02010600030101010101" pitchFamily="2" charset="-122"/>
              </a:rPr>
              <a:t>3</a:t>
            </a:r>
            <a:r>
              <a:rPr lang="zh-CN" altLang="en-US" b="1" dirty="0">
                <a:latin typeface="Times New Roman" panose="02020603050405020304" pitchFamily="18" charset="0"/>
                <a:ea typeface="宋体" panose="02010600030101010101" pitchFamily="2" charset="-122"/>
              </a:rPr>
              <a:t>、时间特性与频率特性的关系</a:t>
            </a:r>
            <a:endParaRPr lang="zh-CN" altLang="en-US" b="1" dirty="0">
              <a:latin typeface="Times New Roman" panose="02020603050405020304" pitchFamily="18" charset="0"/>
              <a:ea typeface="宋体" panose="02010600030101010101" pitchFamily="2" charset="-122"/>
            </a:endParaRPr>
          </a:p>
        </p:txBody>
      </p:sp>
      <p:sp>
        <p:nvSpPr>
          <p:cNvPr id="50186" name="Text Box 10"/>
          <p:cNvSpPr txBox="1"/>
          <p:nvPr/>
        </p:nvSpPr>
        <p:spPr>
          <a:xfrm>
            <a:off x="539750" y="2565400"/>
            <a:ext cx="2947988" cy="522288"/>
          </a:xfrm>
          <a:prstGeom prst="rect">
            <a:avLst/>
          </a:prstGeom>
          <a:noFill/>
          <a:ln w="9525">
            <a:noFill/>
          </a:ln>
        </p:spPr>
        <p:txBody>
          <a:bodyPr wrap="none" anchor="t" anchorCtr="0">
            <a:spAutoFit/>
          </a:bodyPr>
          <a:p>
            <a:r>
              <a:rPr lang="en-US" altLang="zh-CN" sz="2800" b="1" dirty="0">
                <a:solidFill>
                  <a:srgbClr val="FF0000"/>
                </a:solidFill>
                <a:latin typeface="Times New Roman" panose="02020603050405020304" pitchFamily="18" charset="0"/>
                <a:ea typeface="宋体" panose="02010600030101010101" pitchFamily="2" charset="-122"/>
              </a:rPr>
              <a:t>4</a:t>
            </a:r>
            <a:r>
              <a:rPr lang="zh-CN" altLang="en-US" sz="2800" b="1" dirty="0">
                <a:solidFill>
                  <a:srgbClr val="FF0000"/>
                </a:solidFill>
                <a:latin typeface="Times New Roman" panose="02020603050405020304" pitchFamily="18" charset="0"/>
                <a:ea typeface="宋体" panose="02010600030101010101" pitchFamily="2" charset="-122"/>
              </a:rPr>
              <a:t>、信号分析方法</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50187" name="Text Box 11">
            <a:hlinkClick r:id="rId1" action="ppaction://hlinkfile"/>
          </p:cNvPr>
          <p:cNvSpPr txBox="1"/>
          <p:nvPr/>
        </p:nvSpPr>
        <p:spPr>
          <a:xfrm>
            <a:off x="900113" y="3213100"/>
            <a:ext cx="6480175" cy="466725"/>
          </a:xfrm>
          <a:prstGeom prst="rect">
            <a:avLst/>
          </a:prstGeom>
          <a:noFill/>
          <a:ln w="9525" cap="flat" cmpd="sng">
            <a:solidFill>
              <a:srgbClr val="FF6600"/>
            </a:solidFill>
            <a:prstDash val="solid"/>
            <a:miter/>
            <a:headEnd type="none" w="med" len="med"/>
            <a:tailEnd type="none" w="med" len="med"/>
          </a:ln>
        </p:spPr>
        <p:txBody>
          <a:bodyPr anchor="t" anchorCtr="0">
            <a:spAutoFit/>
          </a:bodyPr>
          <a:p>
            <a:r>
              <a:rPr lang="zh-CN" altLang="en-US" b="1" dirty="0">
                <a:latin typeface="Times New Roman" panose="02020603050405020304" pitchFamily="18" charset="0"/>
                <a:ea typeface="宋体" panose="02010600030101010101" pitchFamily="2" charset="-122"/>
              </a:rPr>
              <a:t>基本思想：将</a:t>
            </a:r>
            <a:r>
              <a:rPr lang="zh-CN" altLang="en-US" b="1" dirty="0">
                <a:solidFill>
                  <a:srgbClr val="0000FF"/>
                </a:solidFill>
                <a:latin typeface="Times New Roman" panose="02020603050405020304" pitchFamily="18" charset="0"/>
                <a:ea typeface="宋体" panose="02010600030101010101" pitchFamily="2" charset="-122"/>
              </a:rPr>
              <a:t>信号分解</a:t>
            </a:r>
            <a:r>
              <a:rPr lang="zh-CN" altLang="en-US" b="1" dirty="0">
                <a:latin typeface="Times New Roman" panose="02020603050405020304" pitchFamily="18" charset="0"/>
                <a:ea typeface="宋体" panose="02010600030101010101" pitchFamily="2" charset="-122"/>
              </a:rPr>
              <a:t>为</a:t>
            </a:r>
            <a:r>
              <a:rPr lang="zh-CN" altLang="en-US" b="1" dirty="0">
                <a:solidFill>
                  <a:srgbClr val="FF0000"/>
                </a:solidFill>
                <a:latin typeface="Times New Roman" panose="02020603050405020304" pitchFamily="18" charset="0"/>
                <a:ea typeface="宋体" panose="02010600030101010101" pitchFamily="2" charset="-122"/>
              </a:rPr>
              <a:t>简单信号</a:t>
            </a:r>
            <a:r>
              <a:rPr lang="zh-CN" altLang="en-US" b="1" dirty="0">
                <a:latin typeface="Times New Roman" panose="02020603050405020304" pitchFamily="18" charset="0"/>
                <a:ea typeface="宋体" panose="02010600030101010101" pitchFamily="2" charset="-122"/>
              </a:rPr>
              <a:t>的线性组合</a:t>
            </a:r>
            <a:endParaRPr lang="zh-CN" altLang="en-US" b="1" dirty="0">
              <a:latin typeface="Times New Roman" panose="02020603050405020304" pitchFamily="18" charset="0"/>
              <a:ea typeface="宋体" panose="02010600030101010101" pitchFamily="2" charset="-122"/>
            </a:endParaRPr>
          </a:p>
        </p:txBody>
      </p:sp>
      <p:grpSp>
        <p:nvGrpSpPr>
          <p:cNvPr id="2" name="Group 41"/>
          <p:cNvGrpSpPr/>
          <p:nvPr/>
        </p:nvGrpSpPr>
        <p:grpSpPr>
          <a:xfrm>
            <a:off x="468313" y="4149725"/>
            <a:ext cx="4032250" cy="2319338"/>
            <a:chOff x="295" y="2614"/>
            <a:chExt cx="2540" cy="1461"/>
          </a:xfrm>
        </p:grpSpPr>
        <p:sp>
          <p:nvSpPr>
            <p:cNvPr id="35849" name="Text Box 12"/>
            <p:cNvSpPr txBox="1"/>
            <p:nvPr/>
          </p:nvSpPr>
          <p:spPr>
            <a:xfrm>
              <a:off x="295" y="3158"/>
              <a:ext cx="1088" cy="288"/>
            </a:xfrm>
            <a:prstGeom prst="rect">
              <a:avLst/>
            </a:prstGeom>
            <a:noFill/>
            <a:ln w="9525">
              <a:noFill/>
            </a:ln>
          </p:spPr>
          <p:txBody>
            <a:bodyPr anchor="t" anchorCtr="0">
              <a:spAutoFit/>
            </a:bodyPr>
            <a:p>
              <a:r>
                <a:rPr lang="zh-CN" altLang="en-US" b="1" dirty="0">
                  <a:solidFill>
                    <a:srgbClr val="0000FF"/>
                  </a:solidFill>
                  <a:latin typeface="Times New Roman" panose="02020603050405020304" pitchFamily="18" charset="0"/>
                  <a:ea typeface="宋体" panose="02010600030101010101" pitchFamily="2" charset="-122"/>
                </a:rPr>
                <a:t>信号分解</a:t>
              </a:r>
              <a:endParaRPr lang="zh-CN" altLang="en-US" b="1" dirty="0">
                <a:solidFill>
                  <a:srgbClr val="0000FF"/>
                </a:solidFill>
                <a:latin typeface="Times New Roman" panose="02020603050405020304" pitchFamily="18" charset="0"/>
                <a:ea typeface="宋体" panose="02010600030101010101" pitchFamily="2" charset="-122"/>
              </a:endParaRPr>
            </a:p>
          </p:txBody>
        </p:sp>
        <p:sp>
          <p:nvSpPr>
            <p:cNvPr id="35850" name="AutoShape 13"/>
            <p:cNvSpPr/>
            <p:nvPr/>
          </p:nvSpPr>
          <p:spPr>
            <a:xfrm>
              <a:off x="1247" y="2750"/>
              <a:ext cx="136" cy="1179"/>
            </a:xfrm>
            <a:prstGeom prst="leftBrace">
              <a:avLst>
                <a:gd name="adj1" fmla="val 71881"/>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5851" name="Text Box 14"/>
            <p:cNvSpPr txBox="1"/>
            <p:nvPr/>
          </p:nvSpPr>
          <p:spPr>
            <a:xfrm>
              <a:off x="1383" y="2614"/>
              <a:ext cx="1179" cy="288"/>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时域分解：</a:t>
              </a:r>
              <a:endParaRPr lang="zh-CN" altLang="en-US" b="1" dirty="0">
                <a:latin typeface="Times New Roman" panose="02020603050405020304" pitchFamily="18" charset="0"/>
                <a:ea typeface="宋体" panose="02010600030101010101" pitchFamily="2" charset="-122"/>
              </a:endParaRPr>
            </a:p>
          </p:txBody>
        </p:sp>
        <p:sp>
          <p:nvSpPr>
            <p:cNvPr id="35852" name="Text Box 15"/>
            <p:cNvSpPr txBox="1"/>
            <p:nvPr/>
          </p:nvSpPr>
          <p:spPr>
            <a:xfrm>
              <a:off x="1383" y="3203"/>
              <a:ext cx="1225" cy="288"/>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频域分解：</a:t>
              </a:r>
              <a:endParaRPr lang="zh-CN" altLang="en-US" b="1" dirty="0">
                <a:latin typeface="Times New Roman" panose="02020603050405020304" pitchFamily="18" charset="0"/>
                <a:ea typeface="宋体" panose="02010600030101010101" pitchFamily="2" charset="-122"/>
              </a:endParaRPr>
            </a:p>
          </p:txBody>
        </p:sp>
        <p:sp>
          <p:nvSpPr>
            <p:cNvPr id="35853" name="Text Box 22"/>
            <p:cNvSpPr txBox="1"/>
            <p:nvPr/>
          </p:nvSpPr>
          <p:spPr>
            <a:xfrm>
              <a:off x="1383" y="3785"/>
              <a:ext cx="1452" cy="290"/>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复频域分解：</a:t>
              </a:r>
              <a:endParaRPr lang="zh-CN" altLang="en-US" b="1" dirty="0">
                <a:latin typeface="Times New Roman" panose="02020603050405020304" pitchFamily="18" charset="0"/>
                <a:ea typeface="宋体" panose="02010600030101010101" pitchFamily="2" charset="-122"/>
              </a:endParaRPr>
            </a:p>
          </p:txBody>
        </p:sp>
      </p:grpSp>
      <p:grpSp>
        <p:nvGrpSpPr>
          <p:cNvPr id="3" name="Group 39"/>
          <p:cNvGrpSpPr/>
          <p:nvPr/>
        </p:nvGrpSpPr>
        <p:grpSpPr>
          <a:xfrm>
            <a:off x="4211638" y="5013325"/>
            <a:ext cx="3889375" cy="592138"/>
            <a:chOff x="2653" y="3158"/>
            <a:chExt cx="2450" cy="373"/>
          </a:xfrm>
        </p:grpSpPr>
        <p:sp>
          <p:nvSpPr>
            <p:cNvPr id="35855" name="Text Box 20"/>
            <p:cNvSpPr txBox="1"/>
            <p:nvPr/>
          </p:nvSpPr>
          <p:spPr>
            <a:xfrm>
              <a:off x="2653" y="3203"/>
              <a:ext cx="1076" cy="288"/>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复指数信号</a:t>
              </a:r>
              <a:endParaRPr lang="zh-CN" altLang="en-US" dirty="0">
                <a:latin typeface="Times New Roman" panose="02020603050405020304" pitchFamily="18" charset="0"/>
                <a:ea typeface="宋体" panose="02010600030101010101" pitchFamily="2" charset="-122"/>
              </a:endParaRPr>
            </a:p>
          </p:txBody>
        </p:sp>
        <p:graphicFrame>
          <p:nvGraphicFramePr>
            <p:cNvPr id="35856" name="Object 23"/>
            <p:cNvGraphicFramePr>
              <a:graphicFrameLocks noChangeAspect="1"/>
            </p:cNvGraphicFramePr>
            <p:nvPr/>
          </p:nvGraphicFramePr>
          <p:xfrm>
            <a:off x="3833" y="3158"/>
            <a:ext cx="544" cy="373"/>
          </p:xfrm>
          <a:graphic>
            <a:graphicData uri="http://schemas.openxmlformats.org/presentationml/2006/ole">
              <mc:AlternateContent xmlns:mc="http://schemas.openxmlformats.org/markup-compatibility/2006">
                <mc:Choice xmlns:v="urn:schemas-microsoft-com:vml" Requires="v">
                  <p:oleObj spid="_x0000_s3084" name="" r:id="rId2" imgW="254000" imgH="190500" progId="Equation.3">
                    <p:embed/>
                  </p:oleObj>
                </mc:Choice>
                <mc:Fallback>
                  <p:oleObj name="" r:id="rId2" imgW="254000" imgH="190500" progId="Equation.3">
                    <p:embed/>
                    <p:pic>
                      <p:nvPicPr>
                        <p:cNvPr id="0" name="图片 3083"/>
                        <p:cNvPicPr/>
                        <p:nvPr/>
                      </p:nvPicPr>
                      <p:blipFill>
                        <a:blip r:embed="rId3"/>
                        <a:stretch>
                          <a:fillRect/>
                        </a:stretch>
                      </p:blipFill>
                      <p:spPr>
                        <a:xfrm>
                          <a:off x="3833" y="3158"/>
                          <a:ext cx="544" cy="373"/>
                        </a:xfrm>
                        <a:prstGeom prst="rect">
                          <a:avLst/>
                        </a:prstGeom>
                        <a:noFill/>
                        <a:ln w="38100">
                          <a:noFill/>
                          <a:miter/>
                        </a:ln>
                      </p:spPr>
                    </p:pic>
                  </p:oleObj>
                </mc:Fallback>
              </mc:AlternateContent>
            </a:graphicData>
          </a:graphic>
        </p:graphicFrame>
        <p:graphicFrame>
          <p:nvGraphicFramePr>
            <p:cNvPr id="35857" name="Object 28"/>
            <p:cNvGraphicFramePr>
              <a:graphicFrameLocks noChangeAspect="1"/>
            </p:cNvGraphicFramePr>
            <p:nvPr/>
          </p:nvGraphicFramePr>
          <p:xfrm>
            <a:off x="4513" y="3158"/>
            <a:ext cx="590" cy="356"/>
          </p:xfrm>
          <a:graphic>
            <a:graphicData uri="http://schemas.openxmlformats.org/presentationml/2006/ole">
              <mc:AlternateContent xmlns:mc="http://schemas.openxmlformats.org/markup-compatibility/2006">
                <mc:Choice xmlns:v="urn:schemas-microsoft-com:vml" Requires="v">
                  <p:oleObj spid="_x0000_s3086" name="" r:id="rId4" imgW="266700" imgH="190500" progId="Equation.3">
                    <p:embed/>
                  </p:oleObj>
                </mc:Choice>
                <mc:Fallback>
                  <p:oleObj name="" r:id="rId4" imgW="266700" imgH="190500" progId="Equation.3">
                    <p:embed/>
                    <p:pic>
                      <p:nvPicPr>
                        <p:cNvPr id="0" name="图片 3085"/>
                        <p:cNvPicPr/>
                        <p:nvPr/>
                      </p:nvPicPr>
                      <p:blipFill>
                        <a:blip r:embed="rId5"/>
                        <a:stretch>
                          <a:fillRect/>
                        </a:stretch>
                      </p:blipFill>
                      <p:spPr>
                        <a:xfrm>
                          <a:off x="4513" y="3158"/>
                          <a:ext cx="590" cy="356"/>
                        </a:xfrm>
                        <a:prstGeom prst="rect">
                          <a:avLst/>
                        </a:prstGeom>
                        <a:noFill/>
                        <a:ln w="38100">
                          <a:noFill/>
                          <a:miter/>
                        </a:ln>
                      </p:spPr>
                    </p:pic>
                  </p:oleObj>
                </mc:Fallback>
              </mc:AlternateContent>
            </a:graphicData>
          </a:graphic>
        </p:graphicFrame>
      </p:grpSp>
      <p:grpSp>
        <p:nvGrpSpPr>
          <p:cNvPr id="4" name="Group 40"/>
          <p:cNvGrpSpPr/>
          <p:nvPr/>
        </p:nvGrpSpPr>
        <p:grpSpPr>
          <a:xfrm>
            <a:off x="4211638" y="5783263"/>
            <a:ext cx="3571875" cy="682625"/>
            <a:chOff x="2653" y="3566"/>
            <a:chExt cx="2250" cy="430"/>
          </a:xfrm>
        </p:grpSpPr>
        <p:graphicFrame>
          <p:nvGraphicFramePr>
            <p:cNvPr id="35859" name="Object 31"/>
            <p:cNvGraphicFramePr>
              <a:graphicFrameLocks noChangeAspect="1"/>
            </p:cNvGraphicFramePr>
            <p:nvPr/>
          </p:nvGraphicFramePr>
          <p:xfrm>
            <a:off x="3787" y="3612"/>
            <a:ext cx="359" cy="384"/>
          </p:xfrm>
          <a:graphic>
            <a:graphicData uri="http://schemas.openxmlformats.org/presentationml/2006/ole">
              <mc:AlternateContent xmlns:mc="http://schemas.openxmlformats.org/markup-compatibility/2006">
                <mc:Choice xmlns:v="urn:schemas-microsoft-com:vml" Requires="v">
                  <p:oleObj spid="_x0000_s3087" name="" r:id="rId6" imgW="177800" imgH="190500" progId="Equation.3">
                    <p:embed/>
                  </p:oleObj>
                </mc:Choice>
                <mc:Fallback>
                  <p:oleObj name="" r:id="rId6" imgW="177800" imgH="190500" progId="Equation.3">
                    <p:embed/>
                    <p:pic>
                      <p:nvPicPr>
                        <p:cNvPr id="0" name="图片 3086"/>
                        <p:cNvPicPr/>
                        <p:nvPr/>
                      </p:nvPicPr>
                      <p:blipFill>
                        <a:blip r:embed="rId7"/>
                        <a:stretch>
                          <a:fillRect/>
                        </a:stretch>
                      </p:blipFill>
                      <p:spPr>
                        <a:xfrm>
                          <a:off x="3787" y="3612"/>
                          <a:ext cx="359" cy="384"/>
                        </a:xfrm>
                        <a:prstGeom prst="rect">
                          <a:avLst/>
                        </a:prstGeom>
                        <a:noFill/>
                        <a:ln w="38100">
                          <a:noFill/>
                          <a:miter/>
                        </a:ln>
                      </p:spPr>
                    </p:pic>
                  </p:oleObj>
                </mc:Fallback>
              </mc:AlternateContent>
            </a:graphicData>
          </a:graphic>
        </p:graphicFrame>
        <p:sp>
          <p:nvSpPr>
            <p:cNvPr id="35860" name="Text Box 32"/>
            <p:cNvSpPr txBox="1"/>
            <p:nvPr/>
          </p:nvSpPr>
          <p:spPr>
            <a:xfrm>
              <a:off x="2653" y="3702"/>
              <a:ext cx="1076" cy="288"/>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复指数信号</a:t>
              </a:r>
              <a:endParaRPr lang="zh-CN" altLang="en-US" dirty="0">
                <a:latin typeface="Times New Roman" panose="02020603050405020304" pitchFamily="18" charset="0"/>
                <a:ea typeface="宋体" panose="02010600030101010101" pitchFamily="2" charset="-122"/>
              </a:endParaRPr>
            </a:p>
          </p:txBody>
        </p:sp>
        <p:graphicFrame>
          <p:nvGraphicFramePr>
            <p:cNvPr id="35861" name="Object 34"/>
            <p:cNvGraphicFramePr>
              <a:graphicFrameLocks noChangeAspect="1"/>
            </p:cNvGraphicFramePr>
            <p:nvPr/>
          </p:nvGraphicFramePr>
          <p:xfrm>
            <a:off x="4513" y="3566"/>
            <a:ext cx="390" cy="420"/>
          </p:xfrm>
          <a:graphic>
            <a:graphicData uri="http://schemas.openxmlformats.org/presentationml/2006/ole">
              <mc:AlternateContent xmlns:mc="http://schemas.openxmlformats.org/markup-compatibility/2006">
                <mc:Choice xmlns:v="urn:schemas-microsoft-com:vml" Requires="v">
                  <p:oleObj spid="_x0000_s3088" name="" r:id="rId8" imgW="165100" imgH="177800" progId="Equation.3">
                    <p:embed/>
                  </p:oleObj>
                </mc:Choice>
                <mc:Fallback>
                  <p:oleObj name="" r:id="rId8" imgW="165100" imgH="177800" progId="Equation.3">
                    <p:embed/>
                    <p:pic>
                      <p:nvPicPr>
                        <p:cNvPr id="0" name="图片 3087"/>
                        <p:cNvPicPr/>
                        <p:nvPr/>
                      </p:nvPicPr>
                      <p:blipFill>
                        <a:blip r:embed="rId9"/>
                        <a:stretch>
                          <a:fillRect/>
                        </a:stretch>
                      </p:blipFill>
                      <p:spPr>
                        <a:xfrm>
                          <a:off x="4513" y="3566"/>
                          <a:ext cx="390" cy="420"/>
                        </a:xfrm>
                        <a:prstGeom prst="rect">
                          <a:avLst/>
                        </a:prstGeom>
                        <a:noFill/>
                        <a:ln w="38100">
                          <a:noFill/>
                          <a:miter/>
                        </a:ln>
                      </p:spPr>
                    </p:pic>
                  </p:oleObj>
                </mc:Fallback>
              </mc:AlternateContent>
            </a:graphicData>
          </a:graphic>
        </p:graphicFrame>
      </p:grpSp>
      <p:grpSp>
        <p:nvGrpSpPr>
          <p:cNvPr id="5" name="Group 42"/>
          <p:cNvGrpSpPr/>
          <p:nvPr/>
        </p:nvGrpSpPr>
        <p:grpSpPr>
          <a:xfrm>
            <a:off x="4140200" y="3716338"/>
            <a:ext cx="3090863" cy="1135062"/>
            <a:chOff x="3061" y="2341"/>
            <a:chExt cx="1947" cy="715"/>
          </a:xfrm>
        </p:grpSpPr>
        <p:sp>
          <p:nvSpPr>
            <p:cNvPr id="35863" name="AutoShape 16"/>
            <p:cNvSpPr/>
            <p:nvPr/>
          </p:nvSpPr>
          <p:spPr>
            <a:xfrm>
              <a:off x="3061" y="2478"/>
              <a:ext cx="45" cy="453"/>
            </a:xfrm>
            <a:prstGeom prst="leftBrace">
              <a:avLst>
                <a:gd name="adj1" fmla="val 83469"/>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5864" name="Text Box 18"/>
            <p:cNvSpPr txBox="1"/>
            <p:nvPr/>
          </p:nvSpPr>
          <p:spPr>
            <a:xfrm>
              <a:off x="3107" y="2341"/>
              <a:ext cx="1268" cy="288"/>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单位冲激信号</a:t>
              </a:r>
              <a:endParaRPr lang="zh-CN" altLang="en-US" dirty="0">
                <a:latin typeface="Times New Roman" panose="02020603050405020304" pitchFamily="18" charset="0"/>
                <a:ea typeface="宋体" panose="02010600030101010101" pitchFamily="2" charset="-122"/>
              </a:endParaRPr>
            </a:p>
          </p:txBody>
        </p:sp>
        <p:sp>
          <p:nvSpPr>
            <p:cNvPr id="35865" name="Text Box 19"/>
            <p:cNvSpPr txBox="1"/>
            <p:nvPr/>
          </p:nvSpPr>
          <p:spPr>
            <a:xfrm>
              <a:off x="3107" y="2750"/>
              <a:ext cx="1268" cy="288"/>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单位脉冲序列</a:t>
              </a:r>
              <a:endParaRPr lang="zh-CN" altLang="en-US" dirty="0">
                <a:latin typeface="Times New Roman" panose="02020603050405020304" pitchFamily="18" charset="0"/>
                <a:ea typeface="宋体" panose="02010600030101010101" pitchFamily="2" charset="-122"/>
              </a:endParaRPr>
            </a:p>
          </p:txBody>
        </p:sp>
        <p:graphicFrame>
          <p:nvGraphicFramePr>
            <p:cNvPr id="35866" name="Object 35"/>
            <p:cNvGraphicFramePr>
              <a:graphicFrameLocks noChangeAspect="1"/>
            </p:cNvGraphicFramePr>
            <p:nvPr/>
          </p:nvGraphicFramePr>
          <p:xfrm>
            <a:off x="4559" y="2360"/>
            <a:ext cx="408" cy="306"/>
          </p:xfrm>
          <a:graphic>
            <a:graphicData uri="http://schemas.openxmlformats.org/presentationml/2006/ole">
              <mc:AlternateContent xmlns:mc="http://schemas.openxmlformats.org/markup-compatibility/2006">
                <mc:Choice xmlns:v="urn:schemas-microsoft-com:vml" Requires="v">
                  <p:oleObj spid="_x0000_s3089" name="" r:id="rId10" imgW="254000" imgH="190500" progId="Equation.3">
                    <p:embed/>
                  </p:oleObj>
                </mc:Choice>
                <mc:Fallback>
                  <p:oleObj name="" r:id="rId10" imgW="254000" imgH="190500" progId="Equation.3">
                    <p:embed/>
                    <p:pic>
                      <p:nvPicPr>
                        <p:cNvPr id="0" name="图片 3088"/>
                        <p:cNvPicPr/>
                        <p:nvPr/>
                      </p:nvPicPr>
                      <p:blipFill>
                        <a:blip r:embed="rId11"/>
                        <a:stretch>
                          <a:fillRect/>
                        </a:stretch>
                      </p:blipFill>
                      <p:spPr>
                        <a:xfrm>
                          <a:off x="4559" y="2360"/>
                          <a:ext cx="408" cy="306"/>
                        </a:xfrm>
                        <a:prstGeom prst="rect">
                          <a:avLst/>
                        </a:prstGeom>
                        <a:noFill/>
                        <a:ln w="38100">
                          <a:noFill/>
                          <a:miter/>
                        </a:ln>
                      </p:spPr>
                    </p:pic>
                  </p:oleObj>
                </mc:Fallback>
              </mc:AlternateContent>
            </a:graphicData>
          </a:graphic>
        </p:graphicFrame>
        <p:graphicFrame>
          <p:nvGraphicFramePr>
            <p:cNvPr id="35867" name="Object 36"/>
            <p:cNvGraphicFramePr>
              <a:graphicFrameLocks noChangeAspect="1"/>
            </p:cNvGraphicFramePr>
            <p:nvPr/>
          </p:nvGraphicFramePr>
          <p:xfrm>
            <a:off x="4559" y="2750"/>
            <a:ext cx="449" cy="306"/>
          </p:xfrm>
          <a:graphic>
            <a:graphicData uri="http://schemas.openxmlformats.org/presentationml/2006/ole">
              <mc:AlternateContent xmlns:mc="http://schemas.openxmlformats.org/markup-compatibility/2006">
                <mc:Choice xmlns:v="urn:schemas-microsoft-com:vml" Requires="v">
                  <p:oleObj spid="_x0000_s3090" name="" r:id="rId12" imgW="279400" imgH="190500" progId="Equation.3">
                    <p:embed/>
                  </p:oleObj>
                </mc:Choice>
                <mc:Fallback>
                  <p:oleObj name="" r:id="rId12" imgW="279400" imgH="190500" progId="Equation.3">
                    <p:embed/>
                    <p:pic>
                      <p:nvPicPr>
                        <p:cNvPr id="0" name="图片 3089"/>
                        <p:cNvPicPr/>
                        <p:nvPr/>
                      </p:nvPicPr>
                      <p:blipFill>
                        <a:blip r:embed="rId13"/>
                        <a:stretch>
                          <a:fillRect/>
                        </a:stretch>
                      </p:blipFill>
                      <p:spPr>
                        <a:xfrm>
                          <a:off x="4559" y="2750"/>
                          <a:ext cx="449" cy="306"/>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P spid="50184" grpId="0"/>
      <p:bldP spid="50185" grpId="0"/>
      <p:bldP spid="50186" grpId="0"/>
      <p:bldP spid="5018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6" name="Rectangle 4"/>
          <p:cNvSpPr/>
          <p:nvPr/>
        </p:nvSpPr>
        <p:spPr>
          <a:xfrm>
            <a:off x="539750" y="1484313"/>
            <a:ext cx="7696200" cy="822325"/>
          </a:xfrm>
          <a:prstGeom prst="rect">
            <a:avLst/>
          </a:prstGeom>
          <a:noFill/>
          <a:ln w="9525">
            <a:noFill/>
          </a:ln>
        </p:spPr>
        <p:txBody>
          <a:bodyPr anchor="t" anchorCtr="0">
            <a:spAutoFit/>
          </a:bodyPr>
          <a:p>
            <a:r>
              <a:rPr lang="zh-CN" altLang="en-US" b="1" dirty="0">
                <a:latin typeface="宋体" panose="02010600030101010101" pitchFamily="2" charset="-122"/>
                <a:ea typeface="宋体" panose="02010600030101010101" pitchFamily="2" charset="-122"/>
              </a:rPr>
              <a:t>系统是由若干相互联系的单元组成的、具有某种功能、用以达到某种目的的有机整体。</a:t>
            </a:r>
            <a:r>
              <a:rPr lang="zh-CN" altLang="en-US" sz="1100"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38917" name="Text Box 5"/>
          <p:cNvSpPr txBox="1"/>
          <p:nvPr/>
        </p:nvSpPr>
        <p:spPr>
          <a:xfrm>
            <a:off x="304800" y="866775"/>
            <a:ext cx="2971800" cy="522288"/>
          </a:xfrm>
          <a:prstGeom prst="rect">
            <a:avLst/>
          </a:prstGeom>
          <a:noFill/>
          <a:ln w="9525">
            <a:noFill/>
          </a:ln>
        </p:spPr>
        <p:txBody>
          <a:bodyPr anchor="t" anchorCtr="0">
            <a:spAutoFit/>
          </a:bodyPr>
          <a:p>
            <a:pPr>
              <a:spcBef>
                <a:spcPct val="50000"/>
              </a:spcBef>
              <a:buClr>
                <a:srgbClr val="FF0000"/>
              </a:buClr>
            </a:pPr>
            <a:r>
              <a:rPr lang="en-US" altLang="zh-CN" sz="2800" b="1" dirty="0">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、系统概念</a:t>
            </a:r>
            <a:endParaRPr lang="zh-CN" altLang="en-US" sz="2800" b="1" dirty="0">
              <a:latin typeface="Times New Roman" panose="02020603050405020304" pitchFamily="18" charset="0"/>
              <a:ea typeface="宋体" panose="02010600030101010101" pitchFamily="2" charset="-122"/>
            </a:endParaRPr>
          </a:p>
        </p:txBody>
      </p:sp>
      <p:grpSp>
        <p:nvGrpSpPr>
          <p:cNvPr id="2" name="Group 6"/>
          <p:cNvGrpSpPr/>
          <p:nvPr/>
        </p:nvGrpSpPr>
        <p:grpSpPr>
          <a:xfrm>
            <a:off x="785813" y="2571750"/>
            <a:ext cx="7751762" cy="3832225"/>
            <a:chOff x="792" y="432"/>
            <a:chExt cx="4925" cy="1761"/>
          </a:xfrm>
        </p:grpSpPr>
        <p:sp>
          <p:nvSpPr>
            <p:cNvPr id="37892" name="Text Box 7"/>
            <p:cNvSpPr txBox="1"/>
            <p:nvPr/>
          </p:nvSpPr>
          <p:spPr>
            <a:xfrm>
              <a:off x="792" y="957"/>
              <a:ext cx="269" cy="361"/>
            </a:xfrm>
            <a:prstGeom prst="rect">
              <a:avLst/>
            </a:prstGeom>
            <a:solidFill>
              <a:srgbClr val="CCFF33"/>
            </a:solidFill>
            <a:ln w="9525" cap="flat" cmpd="sng">
              <a:solidFill>
                <a:srgbClr val="000000"/>
              </a:solidFill>
              <a:prstDash val="solid"/>
              <a:miter/>
              <a:headEnd type="none" w="med" len="med"/>
              <a:tailEnd type="none" w="med" len="med"/>
            </a:ln>
          </p:spPr>
          <p:txBody>
            <a:bodyPr vert="eaVert" lIns="0" rIns="0" anchor="t" anchorCtr="0"/>
            <a:p>
              <a:pPr algn="just"/>
              <a:r>
                <a:rPr lang="zh-CN" altLang="en-US" b="1" dirty="0">
                  <a:latin typeface="Times New Roman" panose="02020603050405020304" pitchFamily="18" charset="0"/>
                  <a:ea typeface="宋体" panose="02010600030101010101" pitchFamily="2" charset="-122"/>
                </a:rPr>
                <a:t>系统</a:t>
              </a:r>
              <a:endParaRPr lang="zh-CN" altLang="en-US" b="1" dirty="0">
                <a:latin typeface="Times New Roman" panose="02020603050405020304" pitchFamily="18" charset="0"/>
                <a:ea typeface="宋体" panose="02010600030101010101" pitchFamily="2" charset="-122"/>
              </a:endParaRPr>
            </a:p>
            <a:p>
              <a:pPr eaLnBrk="0" hangingPunct="0"/>
              <a:endParaRPr lang="en-US" altLang="zh-CN" b="1" dirty="0">
                <a:latin typeface="Times New Roman" panose="02020603050405020304" pitchFamily="18" charset="0"/>
                <a:ea typeface="宋体" panose="02010600030101010101" pitchFamily="2" charset="-122"/>
              </a:endParaRPr>
            </a:p>
          </p:txBody>
        </p:sp>
        <p:sp>
          <p:nvSpPr>
            <p:cNvPr id="37893" name="Text Box 8"/>
            <p:cNvSpPr txBox="1"/>
            <p:nvPr/>
          </p:nvSpPr>
          <p:spPr>
            <a:xfrm>
              <a:off x="1310" y="432"/>
              <a:ext cx="274" cy="672"/>
            </a:xfrm>
            <a:prstGeom prst="rect">
              <a:avLst/>
            </a:prstGeom>
            <a:solidFill>
              <a:srgbClr val="CCFF33"/>
            </a:solidFill>
            <a:ln w="9525" cap="flat" cmpd="sng">
              <a:solidFill>
                <a:srgbClr val="000000"/>
              </a:solidFill>
              <a:prstDash val="solid"/>
              <a:miter/>
              <a:headEnd type="none" w="med" len="med"/>
              <a:tailEnd type="none" w="med" len="med"/>
            </a:ln>
          </p:spPr>
          <p:txBody>
            <a:bodyPr vert="eaVert" lIns="0" rIns="0" anchor="t" anchorCtr="0"/>
            <a:p>
              <a:pPr algn="ctr"/>
              <a:r>
                <a:rPr lang="zh-CN" altLang="en-US" dirty="0">
                  <a:latin typeface="Times New Roman" panose="02020603050405020304" pitchFamily="18" charset="0"/>
                  <a:ea typeface="宋体" panose="02010600030101010101" pitchFamily="2" charset="-122"/>
                </a:rPr>
                <a:t>物理系统</a:t>
              </a:r>
              <a:endParaRPr lang="zh-CN" altLang="en-US"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p:txBody>
        </p:sp>
        <p:sp>
          <p:nvSpPr>
            <p:cNvPr id="37894" name="Text Box 9"/>
            <p:cNvSpPr txBox="1"/>
            <p:nvPr/>
          </p:nvSpPr>
          <p:spPr>
            <a:xfrm>
              <a:off x="1310" y="1200"/>
              <a:ext cx="274" cy="768"/>
            </a:xfrm>
            <a:prstGeom prst="rect">
              <a:avLst/>
            </a:prstGeom>
            <a:solidFill>
              <a:srgbClr val="CCFF33"/>
            </a:solidFill>
            <a:ln w="9525" cap="flat" cmpd="sng">
              <a:solidFill>
                <a:srgbClr val="000000"/>
              </a:solidFill>
              <a:prstDash val="solid"/>
              <a:miter/>
              <a:headEnd type="none" w="med" len="med"/>
              <a:tailEnd type="none" w="med" len="med"/>
            </a:ln>
          </p:spPr>
          <p:txBody>
            <a:bodyPr vert="eaVert" lIns="0" rIns="0" anchor="t" anchorCtr="0"/>
            <a:p>
              <a:pPr algn="ctr"/>
              <a:r>
                <a:rPr lang="zh-CN" altLang="en-US" dirty="0">
                  <a:latin typeface="Times New Roman" panose="02020603050405020304" pitchFamily="18" charset="0"/>
                  <a:ea typeface="宋体" panose="02010600030101010101" pitchFamily="2" charset="-122"/>
                </a:rPr>
                <a:t>非物理系统</a:t>
              </a:r>
              <a:endParaRPr lang="zh-CN" altLang="en-US"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p:txBody>
        </p:sp>
        <p:sp>
          <p:nvSpPr>
            <p:cNvPr id="37895" name="Rectangle 10"/>
            <p:cNvSpPr/>
            <p:nvPr/>
          </p:nvSpPr>
          <p:spPr>
            <a:xfrm>
              <a:off x="1745" y="1811"/>
              <a:ext cx="3449" cy="382"/>
            </a:xfrm>
            <a:prstGeom prst="rect">
              <a:avLst/>
            </a:prstGeom>
            <a:noFill/>
            <a:ln w="9525">
              <a:noFill/>
            </a:ln>
          </p:spPr>
          <p:txBody>
            <a:bodyPr anchor="t" anchorCtr="0">
              <a:spAutoFit/>
            </a:bodyPr>
            <a:p>
              <a:pPr algn="just"/>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人工系统：水利，交通，交响乐团</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algn="just"/>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神经系统</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7896" name="Rectangle 11"/>
            <p:cNvSpPr/>
            <p:nvPr/>
          </p:nvSpPr>
          <p:spPr>
            <a:xfrm>
              <a:off x="1776" y="432"/>
              <a:ext cx="3168" cy="210"/>
            </a:xfrm>
            <a:prstGeom prst="rect">
              <a:avLst/>
            </a:prstGeom>
            <a:noFill/>
            <a:ln w="9525">
              <a:noFill/>
            </a:ln>
          </p:spPr>
          <p:txBody>
            <a:bodyPr anchor="t" anchorCtr="0">
              <a:spAutoFit/>
            </a:bodyPr>
            <a:p>
              <a:pPr algn="just"/>
              <a:r>
                <a:rPr lang="zh-CN" altLang="en-US" b="1" dirty="0">
                  <a:latin typeface="Times New Roman" panose="02020603050405020304" pitchFamily="18" charset="0"/>
                  <a:ea typeface="宋体" panose="02010600030101010101" pitchFamily="2" charset="-122"/>
                </a:rPr>
                <a:t>电系统：对电信号进行传输和处理</a:t>
              </a:r>
              <a:endParaRPr lang="zh-CN" altLang="en-US" b="1" dirty="0">
                <a:latin typeface="Times New Roman" panose="02020603050405020304" pitchFamily="18" charset="0"/>
                <a:ea typeface="宋体" panose="02010600030101010101" pitchFamily="2" charset="-122"/>
              </a:endParaRPr>
            </a:p>
          </p:txBody>
        </p:sp>
        <p:sp>
          <p:nvSpPr>
            <p:cNvPr id="37897" name="Rectangle 12"/>
            <p:cNvSpPr/>
            <p:nvPr/>
          </p:nvSpPr>
          <p:spPr>
            <a:xfrm>
              <a:off x="1728" y="816"/>
              <a:ext cx="2880" cy="210"/>
            </a:xfrm>
            <a:prstGeom prst="rect">
              <a:avLst/>
            </a:prstGeom>
            <a:noFill/>
            <a:ln w="9525">
              <a:noFill/>
            </a:ln>
          </p:spPr>
          <p:txBody>
            <a:bodyPr anchor="t" anchorCtr="0">
              <a:spAutoFit/>
            </a:bodyPr>
            <a:p>
              <a:pPr algn="just"/>
              <a:r>
                <a:rPr lang="zh-CN" altLang="en-US" b="1" dirty="0">
                  <a:latin typeface="Times New Roman" panose="02020603050405020304" pitchFamily="18" charset="0"/>
                  <a:ea typeface="宋体" panose="02010600030101010101" pitchFamily="2" charset="-122"/>
                </a:rPr>
                <a:t>非电系统：机械系统，光系统</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37898" name="Rectangle 13"/>
            <p:cNvSpPr/>
            <p:nvPr/>
          </p:nvSpPr>
          <p:spPr>
            <a:xfrm>
              <a:off x="2789" y="1515"/>
              <a:ext cx="2928" cy="210"/>
            </a:xfrm>
            <a:prstGeom prst="rect">
              <a:avLst/>
            </a:prstGeom>
            <a:noFill/>
            <a:ln w="9525">
              <a:noFill/>
            </a:ln>
          </p:spPr>
          <p:txBody>
            <a:bodyPr anchor="t" anchorCtr="0">
              <a:spAutoFit/>
            </a:bodyPr>
            <a:p>
              <a:pPr algn="just"/>
              <a:r>
                <a:rPr lang="zh-CN" altLang="en-US" b="1" dirty="0">
                  <a:latin typeface="Times New Roman" panose="02020603050405020304" pitchFamily="18" charset="0"/>
                  <a:ea typeface="宋体" panose="02010600030101010101" pitchFamily="2" charset="-122"/>
                </a:rPr>
                <a:t>社会</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，生态</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，经济，生产管理</a:t>
              </a:r>
              <a:endParaRPr lang="zh-CN" altLang="en-US" b="1" dirty="0">
                <a:latin typeface="Times New Roman" panose="02020603050405020304" pitchFamily="18" charset="0"/>
                <a:ea typeface="宋体" panose="02010600030101010101" pitchFamily="2" charset="-122"/>
              </a:endParaRPr>
            </a:p>
          </p:txBody>
        </p:sp>
        <p:sp>
          <p:nvSpPr>
            <p:cNvPr id="37899" name="Rectangle 14"/>
            <p:cNvSpPr/>
            <p:nvPr/>
          </p:nvSpPr>
          <p:spPr>
            <a:xfrm>
              <a:off x="1776" y="1248"/>
              <a:ext cx="3072" cy="210"/>
            </a:xfrm>
            <a:prstGeom prst="rect">
              <a:avLst/>
            </a:prstGeom>
            <a:noFill/>
            <a:ln w="9525">
              <a:noFill/>
            </a:ln>
          </p:spPr>
          <p:txBody>
            <a:bodyPr anchor="t" anchorCtr="0">
              <a:spAutoFit/>
            </a:bodyPr>
            <a:p>
              <a:pPr algn="just"/>
              <a:r>
                <a:rPr lang="zh-CN" altLang="en-US" b="1" dirty="0">
                  <a:latin typeface="Times New Roman" panose="02020603050405020304" pitchFamily="18" charset="0"/>
                  <a:ea typeface="宋体" panose="02010600030101010101" pitchFamily="2" charset="-122"/>
                </a:rPr>
                <a:t>自然系统：原子，太阳系，宇宙</a:t>
              </a:r>
              <a:r>
                <a:rPr lang="en-US" altLang="zh-CN" b="1"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37900" name="AutoShape 15"/>
            <p:cNvSpPr/>
            <p:nvPr/>
          </p:nvSpPr>
          <p:spPr>
            <a:xfrm>
              <a:off x="1065" y="662"/>
              <a:ext cx="192" cy="960"/>
            </a:xfrm>
            <a:prstGeom prst="leftBrace">
              <a:avLst>
                <a:gd name="adj1" fmla="val 41458"/>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7901" name="AutoShape 16"/>
            <p:cNvSpPr/>
            <p:nvPr/>
          </p:nvSpPr>
          <p:spPr>
            <a:xfrm>
              <a:off x="1584" y="432"/>
              <a:ext cx="240" cy="672"/>
            </a:xfrm>
            <a:prstGeom prst="leftBrace">
              <a:avLst>
                <a:gd name="adj1" fmla="val 23216"/>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7902" name="AutoShape 17"/>
            <p:cNvSpPr/>
            <p:nvPr/>
          </p:nvSpPr>
          <p:spPr>
            <a:xfrm>
              <a:off x="1584" y="1296"/>
              <a:ext cx="192" cy="672"/>
            </a:xfrm>
            <a:prstGeom prst="leftBrace">
              <a:avLst>
                <a:gd name="adj1" fmla="val 29020"/>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grpSp>
      <p:sp>
        <p:nvSpPr>
          <p:cNvPr id="37903" name="Text Box 31"/>
          <p:cNvSpPr txBox="1"/>
          <p:nvPr/>
        </p:nvSpPr>
        <p:spPr>
          <a:xfrm>
            <a:off x="304800" y="188913"/>
            <a:ext cx="3330575" cy="584200"/>
          </a:xfrm>
          <a:prstGeom prst="rect">
            <a:avLst/>
          </a:prstGeom>
          <a:noFill/>
          <a:ln w="9525">
            <a:noFill/>
          </a:ln>
        </p:spPr>
        <p:txBody>
          <a:bodyPr anchor="t" anchorCtr="0">
            <a:spAutoFit/>
          </a:bodyPr>
          <a:p>
            <a:r>
              <a:rPr lang="en-US" altLang="zh-CN" sz="3200" b="1" dirty="0">
                <a:solidFill>
                  <a:srgbClr val="FF0000"/>
                </a:solidFill>
                <a:latin typeface="Times New Roman" panose="02020603050405020304" pitchFamily="18" charset="0"/>
                <a:ea typeface="宋体" panose="02010600030101010101" pitchFamily="2" charset="-122"/>
              </a:rPr>
              <a:t>1.2 </a:t>
            </a:r>
            <a:r>
              <a:rPr lang="zh-CN" altLang="en-US" sz="3200" b="1" dirty="0">
                <a:solidFill>
                  <a:srgbClr val="FF0000"/>
                </a:solidFill>
                <a:latin typeface="Times New Roman" panose="02020603050405020304" pitchFamily="18" charset="0"/>
                <a:ea typeface="宋体" panose="02010600030101010101" pitchFamily="2" charset="-122"/>
              </a:rPr>
              <a:t>系统分析</a:t>
            </a:r>
            <a:endParaRPr lang="zh-CN" altLang="en-US" sz="32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9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89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Text Box 1029"/>
          <p:cNvSpPr txBox="1"/>
          <p:nvPr/>
        </p:nvSpPr>
        <p:spPr>
          <a:xfrm>
            <a:off x="3105150" y="5218113"/>
            <a:ext cx="2438400" cy="457200"/>
          </a:xfrm>
          <a:prstGeom prst="rect">
            <a:avLst/>
          </a:prstGeom>
          <a:noFill/>
          <a:ln w="9525">
            <a:noFill/>
          </a:ln>
        </p:spPr>
        <p:txBody>
          <a:bodyPr anchor="t" anchorCtr="0">
            <a:spAutoFit/>
          </a:bodyPr>
          <a:p>
            <a:pPr>
              <a:spcBef>
                <a:spcPct val="50000"/>
              </a:spcBef>
            </a:pPr>
            <a:endParaRPr lang="zh-CN" altLang="zh-CN" b="1" dirty="0">
              <a:latin typeface="Times New Roman" panose="02020603050405020304" pitchFamily="18" charset="0"/>
              <a:ea typeface="宋体" panose="02010600030101010101" pitchFamily="2" charset="-122"/>
            </a:endParaRPr>
          </a:p>
        </p:txBody>
      </p:sp>
      <p:sp>
        <p:nvSpPr>
          <p:cNvPr id="39938" name="Text Box 1033"/>
          <p:cNvSpPr txBox="1"/>
          <p:nvPr/>
        </p:nvSpPr>
        <p:spPr>
          <a:xfrm>
            <a:off x="333375" y="163513"/>
            <a:ext cx="2879725" cy="522287"/>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宋体" panose="02010600030101010101" pitchFamily="2" charset="-122"/>
              </a:rPr>
              <a:t>2</a:t>
            </a:r>
            <a:r>
              <a:rPr lang="zh-CN" altLang="en-US" sz="2800" b="1" dirty="0">
                <a:latin typeface="Times New Roman" panose="02020603050405020304" pitchFamily="18" charset="0"/>
                <a:ea typeface="宋体" panose="02010600030101010101" pitchFamily="2" charset="-122"/>
              </a:rPr>
              <a:t>、系统分类</a:t>
            </a:r>
            <a:endParaRPr lang="zh-CN" altLang="en-US" sz="2800" b="1" dirty="0">
              <a:latin typeface="Times New Roman" panose="02020603050405020304" pitchFamily="18" charset="0"/>
              <a:ea typeface="宋体" panose="02010600030101010101" pitchFamily="2" charset="-122"/>
            </a:endParaRPr>
          </a:p>
        </p:txBody>
      </p:sp>
      <p:sp>
        <p:nvSpPr>
          <p:cNvPr id="24595" name="Text Box 1043"/>
          <p:cNvSpPr txBox="1"/>
          <p:nvPr/>
        </p:nvSpPr>
        <p:spPr>
          <a:xfrm>
            <a:off x="2744788" y="825500"/>
            <a:ext cx="4238625" cy="457200"/>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连续系统与离散系统：</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24599" name="Text Box 1047"/>
          <p:cNvSpPr txBox="1"/>
          <p:nvPr/>
        </p:nvSpPr>
        <p:spPr>
          <a:xfrm>
            <a:off x="2771458" y="4867593"/>
            <a:ext cx="6048375" cy="460375"/>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8</a:t>
            </a:r>
            <a:r>
              <a:rPr lang="zh-CN" altLang="en-US" b="1" dirty="0">
                <a:latin typeface="Times New Roman" panose="02020603050405020304" pitchFamily="18" charset="0"/>
                <a:ea typeface="宋体" panose="02010600030101010101" pitchFamily="2" charset="-122"/>
              </a:rPr>
              <a:t>、单输入单输出系统与多输入多输出系统</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p:txBody>
      </p:sp>
      <p:sp>
        <p:nvSpPr>
          <p:cNvPr id="24601" name="Text Box 1049"/>
          <p:cNvSpPr txBox="1"/>
          <p:nvPr/>
        </p:nvSpPr>
        <p:spPr>
          <a:xfrm>
            <a:off x="657225" y="825500"/>
            <a:ext cx="1511300" cy="466725"/>
          </a:xfrm>
          <a:prstGeom prst="rect">
            <a:avLst/>
          </a:prstGeom>
          <a:noFill/>
          <a:ln w="9525" cap="flat" cmpd="sng">
            <a:solidFill>
              <a:schemeClr val="hlink"/>
            </a:solidFill>
            <a:prstDash val="solid"/>
            <a:miter/>
            <a:headEnd type="none" w="med" len="med"/>
            <a:tailEnd type="none" w="med" len="med"/>
          </a:ln>
        </p:spPr>
        <p:txBody>
          <a:bodyPr anchor="t" anchorCtr="0">
            <a:spAutoFit/>
          </a:bodyPr>
          <a:p>
            <a:r>
              <a:rPr lang="zh-CN" altLang="en-US" b="1" dirty="0">
                <a:latin typeface="Times New Roman" panose="02020603050405020304" pitchFamily="18" charset="0"/>
                <a:ea typeface="宋体" panose="02010600030101010101" pitchFamily="2" charset="-122"/>
              </a:rPr>
              <a:t>处理对象</a:t>
            </a:r>
            <a:endParaRPr lang="zh-CN" altLang="en-US" b="1" dirty="0">
              <a:latin typeface="Times New Roman" panose="02020603050405020304" pitchFamily="18" charset="0"/>
              <a:ea typeface="宋体" panose="02010600030101010101" pitchFamily="2" charset="-122"/>
            </a:endParaRPr>
          </a:p>
        </p:txBody>
      </p:sp>
      <p:sp>
        <p:nvSpPr>
          <p:cNvPr id="24578" name="Text Box 1026"/>
          <p:cNvSpPr txBox="1"/>
          <p:nvPr/>
        </p:nvSpPr>
        <p:spPr>
          <a:xfrm>
            <a:off x="2744788" y="1401763"/>
            <a:ext cx="4238625" cy="457200"/>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a:t>
            </a:r>
            <a:r>
              <a:rPr lang="zh-CN" altLang="en-US" b="1" dirty="0">
                <a:solidFill>
                  <a:srgbClr val="0000FF"/>
                </a:solidFill>
                <a:latin typeface="Times New Roman" panose="02020603050405020304" pitchFamily="18" charset="0"/>
                <a:ea typeface="宋体" panose="02010600030101010101" pitchFamily="2" charset="-122"/>
              </a:rPr>
              <a:t>线性系统与非线性系统</a:t>
            </a:r>
            <a:r>
              <a:rPr lang="zh-CN" altLang="en-US" b="1" dirty="0">
                <a:solidFill>
                  <a:schemeClr val="accent2"/>
                </a:solidFill>
                <a:latin typeface="Times New Roman" panose="02020603050405020304" pitchFamily="18" charset="0"/>
                <a:ea typeface="宋体" panose="02010600030101010101" pitchFamily="2" charset="-122"/>
              </a:rPr>
              <a:t>：</a:t>
            </a:r>
            <a:endParaRPr lang="zh-CN" altLang="en-US" b="1" dirty="0">
              <a:solidFill>
                <a:schemeClr val="accent2"/>
              </a:solidFill>
              <a:latin typeface="Times New Roman" panose="02020603050405020304" pitchFamily="18" charset="0"/>
              <a:ea typeface="宋体" panose="02010600030101010101" pitchFamily="2" charset="-122"/>
            </a:endParaRPr>
          </a:p>
        </p:txBody>
      </p:sp>
      <p:sp>
        <p:nvSpPr>
          <p:cNvPr id="24582" name="Text Box 1030"/>
          <p:cNvSpPr txBox="1"/>
          <p:nvPr/>
        </p:nvSpPr>
        <p:spPr>
          <a:xfrm>
            <a:off x="2744788" y="1905000"/>
            <a:ext cx="3805237" cy="457200"/>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3</a:t>
            </a:r>
            <a:r>
              <a:rPr lang="zh-CN" altLang="en-US" b="1" dirty="0">
                <a:latin typeface="Times New Roman" panose="02020603050405020304" pitchFamily="18" charset="0"/>
                <a:ea typeface="宋体" panose="02010600030101010101" pitchFamily="2" charset="-122"/>
              </a:rPr>
              <a:t>、</a:t>
            </a:r>
            <a:r>
              <a:rPr lang="zh-CN" altLang="en-US" b="1" dirty="0">
                <a:solidFill>
                  <a:srgbClr val="0000FF"/>
                </a:solidFill>
                <a:latin typeface="Times New Roman" panose="02020603050405020304" pitchFamily="18" charset="0"/>
                <a:ea typeface="宋体" panose="02010600030101010101" pitchFamily="2" charset="-122"/>
              </a:rPr>
              <a:t>时变系统与时不变系统</a:t>
            </a:r>
            <a:r>
              <a:rPr lang="en-US" altLang="zh-CN" b="1" dirty="0">
                <a:solidFill>
                  <a:srgbClr val="0000FF"/>
                </a:solidFill>
                <a:latin typeface="Times New Roman" panose="02020603050405020304" pitchFamily="18" charset="0"/>
                <a:ea typeface="宋体" panose="02010600030101010101" pitchFamily="2" charset="-122"/>
              </a:rPr>
              <a:t>:</a:t>
            </a:r>
            <a:endParaRPr lang="en-US" altLang="zh-CN" b="1" dirty="0">
              <a:solidFill>
                <a:srgbClr val="0000FF"/>
              </a:solidFill>
              <a:latin typeface="Times New Roman" panose="02020603050405020304" pitchFamily="18" charset="0"/>
              <a:ea typeface="宋体" panose="02010600030101010101" pitchFamily="2" charset="-122"/>
            </a:endParaRPr>
          </a:p>
        </p:txBody>
      </p:sp>
      <p:sp>
        <p:nvSpPr>
          <p:cNvPr id="24583" name="Text Box 1031"/>
          <p:cNvSpPr txBox="1"/>
          <p:nvPr/>
        </p:nvSpPr>
        <p:spPr>
          <a:xfrm>
            <a:off x="2744788" y="3560763"/>
            <a:ext cx="3960812" cy="457200"/>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6</a:t>
            </a:r>
            <a:r>
              <a:rPr lang="zh-CN" altLang="en-US" b="1" dirty="0">
                <a:latin typeface="Times New Roman" panose="02020603050405020304" pitchFamily="18" charset="0"/>
                <a:ea typeface="宋体" panose="02010600030101010101" pitchFamily="2" charset="-122"/>
              </a:rPr>
              <a:t>、</a:t>
            </a:r>
            <a:r>
              <a:rPr lang="zh-CN" altLang="en-US" b="1" dirty="0">
                <a:solidFill>
                  <a:srgbClr val="0000FF"/>
                </a:solidFill>
                <a:latin typeface="Times New Roman" panose="02020603050405020304" pitchFamily="18" charset="0"/>
                <a:ea typeface="宋体" panose="02010600030101010101" pitchFamily="2" charset="-122"/>
              </a:rPr>
              <a:t>因果系统与非因果系统</a:t>
            </a:r>
            <a:r>
              <a:rPr lang="en-US" altLang="zh-CN" b="1" dirty="0">
                <a:solidFill>
                  <a:srgbClr val="0000FF"/>
                </a:solidFill>
                <a:latin typeface="Times New Roman" panose="02020603050405020304" pitchFamily="18" charset="0"/>
                <a:ea typeface="宋体" panose="02010600030101010101" pitchFamily="2" charset="-122"/>
              </a:rPr>
              <a:t>:</a:t>
            </a:r>
            <a:endParaRPr lang="en-US" altLang="zh-CN" b="1" dirty="0">
              <a:solidFill>
                <a:srgbClr val="0000FF"/>
              </a:solidFill>
              <a:latin typeface="Times New Roman" panose="02020603050405020304" pitchFamily="18" charset="0"/>
              <a:ea typeface="宋体" panose="02010600030101010101" pitchFamily="2" charset="-122"/>
            </a:endParaRPr>
          </a:p>
        </p:txBody>
      </p:sp>
      <p:sp>
        <p:nvSpPr>
          <p:cNvPr id="24584" name="Text Box 1032"/>
          <p:cNvSpPr txBox="1"/>
          <p:nvPr/>
        </p:nvSpPr>
        <p:spPr>
          <a:xfrm>
            <a:off x="2744788" y="2984500"/>
            <a:ext cx="3960812" cy="457200"/>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5</a:t>
            </a:r>
            <a:r>
              <a:rPr lang="zh-CN" altLang="en-US" b="1" dirty="0">
                <a:latin typeface="Times New Roman" panose="02020603050405020304" pitchFamily="18" charset="0"/>
                <a:ea typeface="宋体" panose="02010600030101010101" pitchFamily="2" charset="-122"/>
              </a:rPr>
              <a:t>、</a:t>
            </a:r>
            <a:r>
              <a:rPr lang="zh-CN" altLang="en-US" b="1" dirty="0">
                <a:solidFill>
                  <a:srgbClr val="0000FF"/>
                </a:solidFill>
                <a:latin typeface="Times New Roman" panose="02020603050405020304" pitchFamily="18" charset="0"/>
                <a:ea typeface="宋体" panose="02010600030101010101" pitchFamily="2" charset="-122"/>
              </a:rPr>
              <a:t>稳定系统与不稳定系统</a:t>
            </a:r>
            <a:r>
              <a:rPr lang="en-US" altLang="zh-CN" b="1" dirty="0">
                <a:solidFill>
                  <a:srgbClr val="0000FF"/>
                </a:solidFill>
                <a:latin typeface="Times New Roman" panose="02020603050405020304" pitchFamily="18" charset="0"/>
                <a:ea typeface="宋体" panose="02010600030101010101" pitchFamily="2" charset="-122"/>
              </a:rPr>
              <a:t>:</a:t>
            </a:r>
            <a:endParaRPr lang="en-US" altLang="zh-CN" b="1" dirty="0">
              <a:solidFill>
                <a:srgbClr val="0000FF"/>
              </a:solidFill>
              <a:latin typeface="Times New Roman" panose="02020603050405020304" pitchFamily="18" charset="0"/>
              <a:ea typeface="宋体" panose="02010600030101010101" pitchFamily="2" charset="-122"/>
            </a:endParaRPr>
          </a:p>
        </p:txBody>
      </p:sp>
      <p:sp>
        <p:nvSpPr>
          <p:cNvPr id="24596" name="Text Box 1044"/>
          <p:cNvSpPr txBox="1"/>
          <p:nvPr/>
        </p:nvSpPr>
        <p:spPr>
          <a:xfrm>
            <a:off x="2744788" y="2409825"/>
            <a:ext cx="3805237" cy="457200"/>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4</a:t>
            </a:r>
            <a:r>
              <a:rPr lang="zh-CN" altLang="en-US" b="1" dirty="0">
                <a:latin typeface="Times New Roman" panose="02020603050405020304" pitchFamily="18" charset="0"/>
                <a:ea typeface="宋体" panose="02010600030101010101" pitchFamily="2" charset="-122"/>
              </a:rPr>
              <a:t>、</a:t>
            </a:r>
            <a:r>
              <a:rPr lang="zh-CN" altLang="en-US" b="1" dirty="0">
                <a:solidFill>
                  <a:srgbClr val="0000FF"/>
                </a:solidFill>
                <a:latin typeface="Times New Roman" panose="02020603050405020304" pitchFamily="18" charset="0"/>
                <a:ea typeface="宋体" panose="02010600030101010101" pitchFamily="2" charset="-122"/>
              </a:rPr>
              <a:t>即时系统与动态系统</a:t>
            </a:r>
            <a:r>
              <a:rPr lang="en-US" altLang="zh-CN" b="1" dirty="0">
                <a:solidFill>
                  <a:srgbClr val="0000FF"/>
                </a:solidFill>
                <a:latin typeface="Times New Roman" panose="02020603050405020304" pitchFamily="18" charset="0"/>
                <a:ea typeface="宋体" panose="02010600030101010101" pitchFamily="2" charset="-122"/>
              </a:rPr>
              <a:t>:</a:t>
            </a:r>
            <a:endParaRPr lang="en-US" altLang="zh-CN" b="1" dirty="0">
              <a:solidFill>
                <a:srgbClr val="0000FF"/>
              </a:solidFill>
              <a:latin typeface="Times New Roman" panose="02020603050405020304" pitchFamily="18" charset="0"/>
              <a:ea typeface="宋体" panose="02010600030101010101" pitchFamily="2" charset="-122"/>
            </a:endParaRPr>
          </a:p>
        </p:txBody>
      </p:sp>
      <p:sp>
        <p:nvSpPr>
          <p:cNvPr id="24597" name="Text Box 1045"/>
          <p:cNvSpPr txBox="1"/>
          <p:nvPr/>
        </p:nvSpPr>
        <p:spPr>
          <a:xfrm>
            <a:off x="2744788" y="4065588"/>
            <a:ext cx="3805237" cy="457200"/>
          </a:xfrm>
          <a:prstGeom prst="rect">
            <a:avLst/>
          </a:prstGeom>
          <a:noFill/>
          <a:ln w="9525">
            <a:noFill/>
          </a:ln>
        </p:spPr>
        <p:txBody>
          <a:bodyPr anchor="t" anchorCtr="0">
            <a:spAutoFit/>
          </a:bodyPr>
          <a:p>
            <a:pPr>
              <a:spcBef>
                <a:spcPct val="50000"/>
              </a:spcBef>
            </a:pPr>
            <a:r>
              <a:rPr lang="en-US" altLang="zh-CN" b="1" dirty="0">
                <a:latin typeface="Times New Roman" panose="02020603050405020304" pitchFamily="18" charset="0"/>
                <a:ea typeface="宋体" panose="02010600030101010101" pitchFamily="2" charset="-122"/>
              </a:rPr>
              <a:t>7</a:t>
            </a:r>
            <a:r>
              <a:rPr lang="zh-CN" altLang="en-US" b="1" dirty="0">
                <a:latin typeface="Times New Roman" panose="02020603050405020304" pitchFamily="18" charset="0"/>
                <a:ea typeface="宋体" panose="02010600030101010101" pitchFamily="2" charset="-122"/>
              </a:rPr>
              <a:t>、</a:t>
            </a:r>
            <a:r>
              <a:rPr lang="zh-CN" altLang="en-US" b="1" dirty="0">
                <a:solidFill>
                  <a:srgbClr val="0000FF"/>
                </a:solidFill>
                <a:latin typeface="Times New Roman" panose="02020603050405020304" pitchFamily="18" charset="0"/>
                <a:ea typeface="宋体" panose="02010600030101010101" pitchFamily="2" charset="-122"/>
              </a:rPr>
              <a:t>可逆系统与不可逆系统</a:t>
            </a:r>
            <a:r>
              <a:rPr lang="en-US" altLang="zh-CN" b="1" dirty="0">
                <a:solidFill>
                  <a:srgbClr val="0000FF"/>
                </a:solidFill>
                <a:latin typeface="Times New Roman" panose="02020603050405020304" pitchFamily="18" charset="0"/>
                <a:ea typeface="宋体" panose="02010600030101010101" pitchFamily="2" charset="-122"/>
              </a:rPr>
              <a:t>:</a:t>
            </a:r>
            <a:endParaRPr lang="en-US" altLang="zh-CN" b="1" dirty="0">
              <a:solidFill>
                <a:srgbClr val="0000FF"/>
              </a:solidFill>
              <a:latin typeface="Times New Roman" panose="02020603050405020304" pitchFamily="18" charset="0"/>
              <a:ea typeface="宋体" panose="02010600030101010101" pitchFamily="2" charset="-122"/>
            </a:endParaRPr>
          </a:p>
        </p:txBody>
      </p:sp>
      <p:sp>
        <p:nvSpPr>
          <p:cNvPr id="24602" name="AutoShape 1050"/>
          <p:cNvSpPr/>
          <p:nvPr/>
        </p:nvSpPr>
        <p:spPr>
          <a:xfrm>
            <a:off x="2239963" y="1546225"/>
            <a:ext cx="433387" cy="2808288"/>
          </a:xfrm>
          <a:prstGeom prst="leftBrace">
            <a:avLst>
              <a:gd name="adj1" fmla="val 53728"/>
              <a:gd name="adj2" fmla="val 50000"/>
            </a:avLst>
          </a:prstGeom>
          <a:noFill/>
          <a:ln w="9525" cap="flat" cmpd="sng">
            <a:solidFill>
              <a:srgbClr val="0000FF"/>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24603" name="Text Box 1051"/>
          <p:cNvSpPr txBox="1"/>
          <p:nvPr/>
        </p:nvSpPr>
        <p:spPr>
          <a:xfrm>
            <a:off x="657225" y="2697163"/>
            <a:ext cx="1511300" cy="466725"/>
          </a:xfrm>
          <a:prstGeom prst="rect">
            <a:avLst/>
          </a:prstGeom>
          <a:noFill/>
          <a:ln w="9525" cap="flat" cmpd="sng">
            <a:solidFill>
              <a:schemeClr val="hlink"/>
            </a:solidFill>
            <a:prstDash val="solid"/>
            <a:miter/>
            <a:headEnd type="none" w="med" len="med"/>
            <a:tailEnd type="none" w="med" len="med"/>
          </a:ln>
        </p:spPr>
        <p:txBody>
          <a:bodyPr anchor="t" anchorCtr="0">
            <a:spAutoFit/>
          </a:bodyPr>
          <a:p>
            <a:r>
              <a:rPr lang="zh-CN" altLang="en-US" b="1" dirty="0">
                <a:solidFill>
                  <a:srgbClr val="0000FF"/>
                </a:solidFill>
                <a:latin typeface="Times New Roman" panose="02020603050405020304" pitchFamily="18" charset="0"/>
                <a:ea typeface="宋体" panose="02010600030101010101" pitchFamily="2" charset="-122"/>
              </a:rPr>
              <a:t>系统特性</a:t>
            </a:r>
            <a:endParaRPr lang="zh-CN" altLang="en-US" b="1" dirty="0">
              <a:solidFill>
                <a:srgbClr val="0000FF"/>
              </a:solidFill>
              <a:latin typeface="Times New Roman" panose="02020603050405020304" pitchFamily="18" charset="0"/>
              <a:ea typeface="宋体" panose="02010600030101010101" pitchFamily="2" charset="-122"/>
            </a:endParaRPr>
          </a:p>
        </p:txBody>
      </p:sp>
      <p:sp>
        <p:nvSpPr>
          <p:cNvPr id="24605" name="Text Box 1053"/>
          <p:cNvSpPr txBox="1"/>
          <p:nvPr/>
        </p:nvSpPr>
        <p:spPr>
          <a:xfrm>
            <a:off x="683260" y="4868863"/>
            <a:ext cx="1584325" cy="466725"/>
          </a:xfrm>
          <a:prstGeom prst="rect">
            <a:avLst/>
          </a:prstGeom>
          <a:noFill/>
          <a:ln w="9525" cap="flat" cmpd="sng">
            <a:solidFill>
              <a:schemeClr val="hlink"/>
            </a:solidFill>
            <a:prstDash val="solid"/>
            <a:miter/>
            <a:headEnd type="none" w="med" len="med"/>
            <a:tailEnd type="none" w="med" len="med"/>
          </a:ln>
        </p:spPr>
        <p:txBody>
          <a:bodyPr anchor="t" anchorCtr="0">
            <a:spAutoFit/>
          </a:bodyPr>
          <a:p>
            <a:r>
              <a:rPr lang="zh-CN" altLang="en-US" b="1" dirty="0">
                <a:latin typeface="Times New Roman" panose="02020603050405020304" pitchFamily="18" charset="0"/>
                <a:ea typeface="宋体" panose="02010600030101010101" pitchFamily="2" charset="-122"/>
              </a:rPr>
              <a:t>输入输出</a:t>
            </a:r>
            <a:endParaRPr lang="zh-CN" altLang="en-US" b="1" dirty="0">
              <a:latin typeface="Times New Roman" panose="02020603050405020304" pitchFamily="18" charset="0"/>
              <a:ea typeface="宋体" panose="02010600030101010101" pitchFamily="2" charset="-122"/>
            </a:endParaRPr>
          </a:p>
        </p:txBody>
      </p:sp>
      <p:sp>
        <p:nvSpPr>
          <p:cNvPr id="2" name="矩形 1"/>
          <p:cNvSpPr/>
          <p:nvPr/>
        </p:nvSpPr>
        <p:spPr>
          <a:xfrm>
            <a:off x="229870" y="5805170"/>
            <a:ext cx="8990330" cy="521970"/>
          </a:xfrm>
          <a:prstGeom prst="rect">
            <a:avLst/>
          </a:prstGeom>
          <a:noFill/>
          <a:ln w="9525">
            <a:noFill/>
          </a:ln>
        </p:spPr>
        <p:txBody>
          <a:bodyPr wrap="none" anchor="t" anchorCtr="0">
            <a:spAutoFit/>
          </a:bodyPr>
          <a:p>
            <a:pPr algn="l"/>
            <a:r>
              <a:rPr lang="zh-CN" altLang="en-US" sz="2800" b="1" dirty="0">
                <a:latin typeface="Times New Roman" panose="02020603050405020304" pitchFamily="18" charset="0"/>
                <a:ea typeface="宋体" panose="02010600030101010101" pitchFamily="2" charset="-122"/>
              </a:rPr>
              <a:t>本课程研究内容</a:t>
            </a:r>
            <a:r>
              <a:rPr lang="zh-CN" altLang="en-US" sz="2800" dirty="0">
                <a:latin typeface="Times New Roman" panose="02020603050405020304" pitchFamily="18" charset="0"/>
                <a:ea typeface="宋体" panose="02010600030101010101" pitchFamily="2" charset="-122"/>
              </a:rPr>
              <a:t>：</a:t>
            </a:r>
            <a:r>
              <a:rPr lang="zh-CN" altLang="en-US" sz="2800" b="1" dirty="0">
                <a:solidFill>
                  <a:srgbClr val="FF0000"/>
                </a:solidFill>
                <a:latin typeface="Times New Roman" panose="02020603050405020304" pitchFamily="18" charset="0"/>
                <a:ea typeface="宋体" panose="02010600030101010101" pitchFamily="2" charset="-122"/>
              </a:rPr>
              <a:t>线性时不变系统</a:t>
            </a:r>
            <a:r>
              <a:rPr lang="en-US" altLang="zh-CN" sz="2800" dirty="0">
                <a:sym typeface="+mn-ea"/>
              </a:rPr>
              <a:t>(</a:t>
            </a:r>
            <a:r>
              <a:rPr lang="en-US" altLang="zh-CN" sz="2800" dirty="0">
                <a:solidFill>
                  <a:srgbClr val="FF0000"/>
                </a:solidFill>
                <a:sym typeface="+mn-ea"/>
              </a:rPr>
              <a:t>L</a:t>
            </a:r>
            <a:r>
              <a:rPr lang="en-US" altLang="zh-CN" sz="2800" dirty="0">
                <a:sym typeface="+mn-ea"/>
              </a:rPr>
              <a:t>inear </a:t>
            </a:r>
            <a:r>
              <a:rPr lang="en-US" altLang="zh-CN" sz="2800" dirty="0">
                <a:solidFill>
                  <a:srgbClr val="FF0000"/>
                </a:solidFill>
                <a:sym typeface="+mn-ea"/>
              </a:rPr>
              <a:t>T</a:t>
            </a:r>
            <a:r>
              <a:rPr lang="en-US" altLang="zh-CN" sz="2800" dirty="0">
                <a:sym typeface="+mn-ea"/>
              </a:rPr>
              <a:t>ime</a:t>
            </a:r>
            <a:r>
              <a:rPr lang="en-US" altLang="zh-CN" sz="2800" dirty="0">
                <a:solidFill>
                  <a:srgbClr val="FF0000"/>
                </a:solidFill>
                <a:sym typeface="+mn-ea"/>
              </a:rPr>
              <a:t> I</a:t>
            </a:r>
            <a:r>
              <a:rPr lang="en-US" altLang="zh-CN" sz="2800" dirty="0">
                <a:sym typeface="+mn-ea"/>
              </a:rPr>
              <a:t>nvariant) </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45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6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6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5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5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59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5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58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59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60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2459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5" grpId="0"/>
      <p:bldP spid="24599" grpId="0"/>
      <p:bldP spid="24601" grpId="0" animBg="1"/>
      <p:bldP spid="24578" grpId="0"/>
      <p:bldP spid="24582" grpId="0"/>
      <p:bldP spid="24583" grpId="0"/>
      <p:bldP spid="24584" grpId="0"/>
      <p:bldP spid="24596" grpId="0"/>
      <p:bldP spid="24597" grpId="0"/>
      <p:bldP spid="24602" grpId="0" animBg="1"/>
      <p:bldP spid="24603" grpId="0" bldLvl="0" animBg="1"/>
      <p:bldP spid="24605" grpId="0" bldLvl="0" animBg="1"/>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Text Box 15"/>
          <p:cNvSpPr txBox="1"/>
          <p:nvPr/>
        </p:nvSpPr>
        <p:spPr>
          <a:xfrm>
            <a:off x="493713" y="388938"/>
            <a:ext cx="3168650" cy="522287"/>
          </a:xfrm>
          <a:prstGeom prst="rect">
            <a:avLst/>
          </a:prstGeom>
          <a:noFill/>
          <a:ln w="9525">
            <a:noFill/>
          </a:ln>
        </p:spPr>
        <p:txBody>
          <a:bodyPr anchor="t" anchorCtr="0">
            <a:spAutoFit/>
          </a:bodyPr>
          <a:p>
            <a:pPr>
              <a:spcBef>
                <a:spcPct val="50000"/>
              </a:spcBef>
            </a:pPr>
            <a:r>
              <a:rPr lang="en-US" altLang="zh-CN" sz="2800" b="1" dirty="0">
                <a:latin typeface="Times New Roman" panose="02020603050405020304" pitchFamily="18" charset="0"/>
                <a:ea typeface="宋体" panose="02010600030101010101" pitchFamily="2" charset="-122"/>
              </a:rPr>
              <a:t>3</a:t>
            </a:r>
            <a:r>
              <a:rPr lang="zh-CN" altLang="en-US" sz="2800" b="1" dirty="0">
                <a:latin typeface="Times New Roman" panose="02020603050405020304" pitchFamily="18" charset="0"/>
                <a:ea typeface="宋体" panose="02010600030101010101" pitchFamily="2" charset="-122"/>
              </a:rPr>
              <a:t>、系统模型</a:t>
            </a:r>
            <a:endParaRPr lang="zh-CN" altLang="en-US" sz="2800" b="1" dirty="0">
              <a:latin typeface="Times New Roman" panose="02020603050405020304" pitchFamily="18" charset="0"/>
              <a:ea typeface="宋体" panose="02010600030101010101" pitchFamily="2" charset="-122"/>
            </a:endParaRPr>
          </a:p>
        </p:txBody>
      </p:sp>
      <p:sp>
        <p:nvSpPr>
          <p:cNvPr id="87056" name="Rectangle 16"/>
          <p:cNvSpPr/>
          <p:nvPr/>
        </p:nvSpPr>
        <p:spPr>
          <a:xfrm>
            <a:off x="842963" y="2613025"/>
            <a:ext cx="3429000" cy="457200"/>
          </a:xfrm>
          <a:prstGeom prst="rect">
            <a:avLst/>
          </a:prstGeom>
          <a:noFill/>
          <a:ln w="9525">
            <a:noFill/>
          </a:ln>
        </p:spPr>
        <p:txBody>
          <a:bodyPr anchor="t" anchorCtr="0">
            <a:spAutoFit/>
          </a:bodyPr>
          <a:p>
            <a:pPr algn="just" defTabSz="914400">
              <a:tabLst>
                <a:tab pos="930275" algn="l"/>
              </a:tabLst>
            </a:pPr>
            <a:r>
              <a:rPr lang="zh-CN" altLang="en-US" b="1" dirty="0">
                <a:latin typeface="Times New Roman" panose="02020603050405020304" pitchFamily="18" charset="0"/>
                <a:ea typeface="宋体" panose="02010600030101010101" pitchFamily="2" charset="-122"/>
              </a:rPr>
              <a:t>数学模型：</a:t>
            </a:r>
            <a:endParaRPr lang="zh-CN" altLang="en-US" b="1" dirty="0">
              <a:latin typeface="Times New Roman" panose="02020603050405020304" pitchFamily="18" charset="0"/>
              <a:ea typeface="宋体" panose="02010600030101010101" pitchFamily="2" charset="-122"/>
            </a:endParaRPr>
          </a:p>
        </p:txBody>
      </p:sp>
      <p:sp>
        <p:nvSpPr>
          <p:cNvPr id="87057" name="Rectangle 17"/>
          <p:cNvSpPr/>
          <p:nvPr/>
        </p:nvSpPr>
        <p:spPr>
          <a:xfrm>
            <a:off x="842963" y="1893888"/>
            <a:ext cx="1657350" cy="457200"/>
          </a:xfrm>
          <a:prstGeom prst="rect">
            <a:avLst/>
          </a:prstGeom>
          <a:noFill/>
          <a:ln w="9525">
            <a:noFill/>
          </a:ln>
        </p:spPr>
        <p:txBody>
          <a:bodyPr anchor="t" anchorCtr="0">
            <a:spAutoFit/>
          </a:bodyPr>
          <a:p>
            <a:r>
              <a:rPr lang="zh-CN" altLang="en-US" b="1" dirty="0">
                <a:latin typeface="宋体" panose="02010600030101010101" pitchFamily="2" charset="-122"/>
                <a:ea typeface="宋体" panose="02010600030101010101" pitchFamily="2" charset="-122"/>
              </a:rPr>
              <a:t>物理模型</a:t>
            </a:r>
            <a:r>
              <a:rPr lang="en-US" altLang="zh-CN" b="1" dirty="0">
                <a:latin typeface="宋体" panose="02010600030101010101" pitchFamily="2" charset="-122"/>
                <a:ea typeface="宋体" panose="02010600030101010101" pitchFamily="2" charset="-122"/>
              </a:rPr>
              <a:t>:</a:t>
            </a:r>
            <a:r>
              <a:rPr lang="en-US" altLang="zh-CN" sz="1100"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87058" name="Rectangle 18"/>
          <p:cNvSpPr/>
          <p:nvPr/>
        </p:nvSpPr>
        <p:spPr>
          <a:xfrm>
            <a:off x="2643188" y="1893888"/>
            <a:ext cx="1296987" cy="457200"/>
          </a:xfrm>
          <a:prstGeom prst="rect">
            <a:avLst/>
          </a:prstGeom>
          <a:noFill/>
          <a:ln w="9525">
            <a:noFill/>
          </a:ln>
        </p:spPr>
        <p:txBody>
          <a:bodyPr anchor="t" anchorCtr="0">
            <a:spAutoFit/>
          </a:bodyPr>
          <a:p>
            <a:r>
              <a:rPr lang="zh-CN" altLang="en-US" b="1" dirty="0">
                <a:latin typeface="宋体" panose="02010600030101010101" pitchFamily="2" charset="-122"/>
                <a:ea typeface="宋体" panose="02010600030101010101" pitchFamily="2" charset="-122"/>
              </a:rPr>
              <a:t>电路图</a:t>
            </a:r>
            <a:endParaRPr lang="zh-CN" altLang="en-US" dirty="0">
              <a:latin typeface="Times New Roman" panose="02020603050405020304" pitchFamily="18" charset="0"/>
              <a:ea typeface="宋体" panose="02010600030101010101" pitchFamily="2" charset="-122"/>
            </a:endParaRPr>
          </a:p>
        </p:txBody>
      </p:sp>
      <p:graphicFrame>
        <p:nvGraphicFramePr>
          <p:cNvPr id="87065" name="Object 25"/>
          <p:cNvGraphicFramePr>
            <a:graphicFrameLocks noChangeAspect="1"/>
          </p:cNvGraphicFramePr>
          <p:nvPr/>
        </p:nvGraphicFramePr>
        <p:xfrm>
          <a:off x="4338638" y="188913"/>
          <a:ext cx="4479925" cy="2076450"/>
        </p:xfrm>
        <a:graphic>
          <a:graphicData uri="http://schemas.openxmlformats.org/presentationml/2006/ole">
            <mc:AlternateContent xmlns:mc="http://schemas.openxmlformats.org/markup-compatibility/2006">
              <mc:Choice xmlns:v="urn:schemas-microsoft-com:vml" Requires="v">
                <p:oleObj spid="_x0000_s3091" name="" r:id="rId1" imgW="3027045" imgH="1208405" progId="Visio.Drawing.6">
                  <p:embed/>
                </p:oleObj>
              </mc:Choice>
              <mc:Fallback>
                <p:oleObj name="" r:id="rId1" imgW="3027045" imgH="1208405" progId="Visio.Drawing.6">
                  <p:embed/>
                  <p:pic>
                    <p:nvPicPr>
                      <p:cNvPr id="0" name="图片 3090"/>
                      <p:cNvPicPr/>
                      <p:nvPr/>
                    </p:nvPicPr>
                    <p:blipFill>
                      <a:blip r:embed="rId2"/>
                      <a:stretch>
                        <a:fillRect/>
                      </a:stretch>
                    </p:blipFill>
                    <p:spPr>
                      <a:xfrm>
                        <a:off x="4338638" y="188913"/>
                        <a:ext cx="4479925" cy="2076450"/>
                      </a:xfrm>
                      <a:prstGeom prst="rect">
                        <a:avLst/>
                      </a:prstGeom>
                      <a:noFill/>
                      <a:ln w="38100">
                        <a:noFill/>
                        <a:miter/>
                      </a:ln>
                    </p:spPr>
                  </p:pic>
                </p:oleObj>
              </mc:Fallback>
            </mc:AlternateContent>
          </a:graphicData>
        </a:graphic>
      </p:graphicFrame>
      <p:sp>
        <p:nvSpPr>
          <p:cNvPr id="87066" name="Text Box 26"/>
          <p:cNvSpPr txBox="1"/>
          <p:nvPr/>
        </p:nvSpPr>
        <p:spPr>
          <a:xfrm>
            <a:off x="2716213" y="2613025"/>
            <a:ext cx="3600450" cy="457200"/>
          </a:xfrm>
          <a:prstGeom prst="rect">
            <a:avLst/>
          </a:prstGeom>
          <a:noFill/>
          <a:ln w="9525">
            <a:noFill/>
          </a:ln>
        </p:spPr>
        <p:txBody>
          <a:bodyPr anchor="t" anchorCtr="0">
            <a:spAutoFit/>
          </a:bodyPr>
          <a:p>
            <a:r>
              <a:rPr lang="zh-CN" altLang="en-US" b="1" dirty="0">
                <a:solidFill>
                  <a:srgbClr val="FF0000"/>
                </a:solidFill>
                <a:latin typeface="Times New Roman" panose="02020603050405020304" pitchFamily="18" charset="0"/>
                <a:ea typeface="宋体" panose="02010600030101010101" pitchFamily="2" charset="-122"/>
              </a:rPr>
              <a:t>根据基尔霍夫电压定律</a:t>
            </a:r>
            <a:endParaRPr lang="zh-CN" altLang="en-US" b="1" dirty="0">
              <a:solidFill>
                <a:srgbClr val="FF0000"/>
              </a:solidFill>
              <a:latin typeface="Times New Roman" panose="02020603050405020304" pitchFamily="18" charset="0"/>
              <a:ea typeface="宋体" panose="02010600030101010101" pitchFamily="2" charset="-122"/>
            </a:endParaRPr>
          </a:p>
        </p:txBody>
      </p:sp>
      <p:graphicFrame>
        <p:nvGraphicFramePr>
          <p:cNvPr id="87067" name="Object 27"/>
          <p:cNvGraphicFramePr>
            <a:graphicFrameLocks noChangeAspect="1"/>
          </p:cNvGraphicFramePr>
          <p:nvPr/>
        </p:nvGraphicFramePr>
        <p:xfrm>
          <a:off x="842963" y="3317875"/>
          <a:ext cx="4394200" cy="896938"/>
        </p:xfrm>
        <a:graphic>
          <a:graphicData uri="http://schemas.openxmlformats.org/presentationml/2006/ole">
            <mc:AlternateContent xmlns:mc="http://schemas.openxmlformats.org/markup-compatibility/2006">
              <mc:Choice xmlns:v="urn:schemas-microsoft-com:vml" Requires="v">
                <p:oleObj spid="_x0000_s3092" name="" r:id="rId3" imgW="1739900" imgH="355600" progId="Equation.3">
                  <p:embed/>
                </p:oleObj>
              </mc:Choice>
              <mc:Fallback>
                <p:oleObj name="" r:id="rId3" imgW="1739900" imgH="355600" progId="Equation.3">
                  <p:embed/>
                  <p:pic>
                    <p:nvPicPr>
                      <p:cNvPr id="0" name="图片 3091"/>
                      <p:cNvPicPr/>
                      <p:nvPr/>
                    </p:nvPicPr>
                    <p:blipFill>
                      <a:blip r:embed="rId4"/>
                      <a:stretch>
                        <a:fillRect/>
                      </a:stretch>
                    </p:blipFill>
                    <p:spPr>
                      <a:xfrm>
                        <a:off x="842963" y="3317875"/>
                        <a:ext cx="4394200" cy="896938"/>
                      </a:xfrm>
                      <a:prstGeom prst="rect">
                        <a:avLst/>
                      </a:prstGeom>
                      <a:noFill/>
                      <a:ln w="38100">
                        <a:noFill/>
                        <a:miter/>
                      </a:ln>
                    </p:spPr>
                  </p:pic>
                </p:oleObj>
              </mc:Fallback>
            </mc:AlternateContent>
          </a:graphicData>
        </a:graphic>
      </p:graphicFrame>
      <p:graphicFrame>
        <p:nvGraphicFramePr>
          <p:cNvPr id="87068" name="Object 28"/>
          <p:cNvGraphicFramePr>
            <a:graphicFrameLocks noChangeAspect="1"/>
          </p:cNvGraphicFramePr>
          <p:nvPr/>
        </p:nvGraphicFramePr>
        <p:xfrm>
          <a:off x="844550" y="4325938"/>
          <a:ext cx="4681538" cy="928687"/>
        </p:xfrm>
        <a:graphic>
          <a:graphicData uri="http://schemas.openxmlformats.org/presentationml/2006/ole">
            <mc:AlternateContent xmlns:mc="http://schemas.openxmlformats.org/markup-compatibility/2006">
              <mc:Choice xmlns:v="urn:schemas-microsoft-com:vml" Requires="v">
                <p:oleObj spid="_x0000_s3093" name="" r:id="rId5" imgW="1917700" imgH="381000" progId="Equation.3">
                  <p:embed/>
                </p:oleObj>
              </mc:Choice>
              <mc:Fallback>
                <p:oleObj name="" r:id="rId5" imgW="1917700" imgH="381000" progId="Equation.3">
                  <p:embed/>
                  <p:pic>
                    <p:nvPicPr>
                      <p:cNvPr id="0" name="图片 3092"/>
                      <p:cNvPicPr/>
                      <p:nvPr/>
                    </p:nvPicPr>
                    <p:blipFill>
                      <a:blip r:embed="rId6"/>
                      <a:stretch>
                        <a:fillRect/>
                      </a:stretch>
                    </p:blipFill>
                    <p:spPr>
                      <a:xfrm>
                        <a:off x="844550" y="4325938"/>
                        <a:ext cx="4681538" cy="928687"/>
                      </a:xfrm>
                      <a:prstGeom prst="rect">
                        <a:avLst/>
                      </a:prstGeom>
                      <a:noFill/>
                      <a:ln w="38100">
                        <a:noFill/>
                        <a:miter/>
                      </a:ln>
                    </p:spPr>
                  </p:pic>
                </p:oleObj>
              </mc:Fallback>
            </mc:AlternateContent>
          </a:graphicData>
        </a:graphic>
      </p:graphicFrame>
      <p:sp>
        <p:nvSpPr>
          <p:cNvPr id="3" name="矩形 2"/>
          <p:cNvSpPr/>
          <p:nvPr/>
        </p:nvSpPr>
        <p:spPr>
          <a:xfrm>
            <a:off x="5848350" y="4614863"/>
            <a:ext cx="2325688" cy="460375"/>
          </a:xfrm>
          <a:prstGeom prst="rect">
            <a:avLst/>
          </a:prstGeom>
          <a:noFill/>
          <a:ln w="9525">
            <a:noFill/>
          </a:ln>
        </p:spPr>
        <p:txBody>
          <a:bodyPr wrap="none" anchor="t" anchorCtr="0">
            <a:spAutoFit/>
          </a:bodyPr>
          <a:p>
            <a:r>
              <a:rPr lang="zh-CN" altLang="en-US" b="1" dirty="0">
                <a:solidFill>
                  <a:schemeClr val="accent2"/>
                </a:solidFill>
                <a:latin typeface="Times New Roman" panose="02020603050405020304" pitchFamily="18" charset="0"/>
                <a:ea typeface="宋体" panose="02010600030101010101" pitchFamily="2" charset="-122"/>
              </a:rPr>
              <a:t>常系数微分方程</a:t>
            </a:r>
            <a:endParaRPr lang="zh-CN" altLang="en-US" b="1" dirty="0">
              <a:solidFill>
                <a:schemeClr val="accent2"/>
              </a:solidFill>
              <a:latin typeface="Times New Roman" panose="02020603050405020304" pitchFamily="18" charset="0"/>
              <a:ea typeface="宋体" panose="02010600030101010101" pitchFamily="2" charset="-122"/>
            </a:endParaRPr>
          </a:p>
        </p:txBody>
      </p:sp>
      <p:sp>
        <p:nvSpPr>
          <p:cNvPr id="22539" name="文本框 3"/>
          <p:cNvSpPr txBox="1"/>
          <p:nvPr/>
        </p:nvSpPr>
        <p:spPr>
          <a:xfrm>
            <a:off x="581025" y="1095375"/>
            <a:ext cx="3136900" cy="521970"/>
          </a:xfrm>
          <a:prstGeom prst="rect">
            <a:avLst/>
          </a:prstGeom>
          <a:noFill/>
          <a:ln w="9525">
            <a:noFill/>
          </a:ln>
        </p:spPr>
        <p:txBody>
          <a:bodyPr wrap="none" anchor="t" anchorCtr="0">
            <a:spAutoFit/>
          </a:bodyPr>
          <a:p>
            <a:r>
              <a:rPr lang="en-US" altLang="zh-CN" sz="2800" b="1" dirty="0">
                <a:solidFill>
                  <a:srgbClr val="FF0000"/>
                </a:solidFill>
                <a:latin typeface="Times New Roman" panose="02020603050405020304" pitchFamily="18" charset="0"/>
                <a:ea typeface="宋体" panose="02010600030101010101" pitchFamily="2" charset="-122"/>
              </a:rPr>
              <a:t>(1) </a:t>
            </a:r>
            <a:r>
              <a:rPr lang="zh-CN" altLang="en-US" sz="2800" b="1" dirty="0">
                <a:solidFill>
                  <a:srgbClr val="FF0000"/>
                </a:solidFill>
                <a:latin typeface="Times New Roman" panose="02020603050405020304" pitchFamily="18" charset="0"/>
                <a:ea typeface="宋体" panose="02010600030101010101" pitchFamily="2" charset="-122"/>
              </a:rPr>
              <a:t>连续系统模型</a:t>
            </a:r>
            <a:r>
              <a:rPr lang="zh-CN" altLang="en-US" b="1" dirty="0">
                <a:solidFill>
                  <a:srgbClr val="FF0000"/>
                </a:solidFill>
                <a:latin typeface="Times New Roman" panose="02020603050405020304" pitchFamily="18" charset="0"/>
                <a:ea typeface="宋体" panose="02010600030101010101" pitchFamily="2" charset="-122"/>
              </a:rPr>
              <a:t>：</a:t>
            </a:r>
            <a:endParaRPr lang="zh-CN" altLang="en-US"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0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70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70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70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70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0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70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6" grpId="0"/>
      <p:bldP spid="87057" grpId="0"/>
      <p:bldP spid="87058" grpId="0"/>
      <p:bldP spid="87066" grpId="0"/>
      <p:bldP spid="3" grpId="0"/>
      <p:bldP spid="225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55" name="Text Box 15"/>
          <p:cNvSpPr txBox="1"/>
          <p:nvPr/>
        </p:nvSpPr>
        <p:spPr>
          <a:xfrm>
            <a:off x="352425" y="257175"/>
            <a:ext cx="3168650" cy="521970"/>
          </a:xfrm>
          <a:prstGeom prst="rect">
            <a:avLst/>
          </a:prstGeom>
          <a:noFill/>
          <a:ln w="9525">
            <a:noFill/>
          </a:ln>
        </p:spPr>
        <p:txBody>
          <a:bodyPr anchor="t" anchorCtr="0">
            <a:spAutoFit/>
          </a:bodyPr>
          <a:p>
            <a:pPr>
              <a:spcBef>
                <a:spcPct val="50000"/>
              </a:spcBef>
            </a:pPr>
            <a:r>
              <a:rPr lang="en-US" altLang="zh-CN" sz="2800" b="1" dirty="0">
                <a:solidFill>
                  <a:srgbClr val="FF0000"/>
                </a:solidFill>
                <a:latin typeface="Times New Roman" panose="02020603050405020304" pitchFamily="18" charset="0"/>
                <a:ea typeface="宋体" panose="02010600030101010101" pitchFamily="2" charset="-122"/>
              </a:rPr>
              <a:t>(2) </a:t>
            </a:r>
            <a:r>
              <a:rPr lang="zh-CN" altLang="en-US" sz="2800" b="1" dirty="0">
                <a:solidFill>
                  <a:srgbClr val="FF0000"/>
                </a:solidFill>
                <a:latin typeface="Times New Roman" panose="02020603050405020304" pitchFamily="18" charset="0"/>
                <a:ea typeface="宋体" panose="02010600030101010101" pitchFamily="2" charset="-122"/>
              </a:rPr>
              <a:t>离散系统模型：</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2" name="TextBox 10"/>
          <p:cNvSpPr txBox="1"/>
          <p:nvPr/>
        </p:nvSpPr>
        <p:spPr>
          <a:xfrm>
            <a:off x="323850" y="847725"/>
            <a:ext cx="8497888" cy="1322070"/>
          </a:xfrm>
          <a:prstGeom prst="rect">
            <a:avLst/>
          </a:prstGeom>
          <a:noFill/>
          <a:ln w="9525">
            <a:noFill/>
          </a:ln>
        </p:spPr>
        <p:txBody>
          <a:bodyPr anchor="t" anchorCtr="0">
            <a:spAutoFit/>
          </a:bodyPr>
          <a:p>
            <a:pPr algn="just"/>
            <a:r>
              <a:rPr lang="zh-CN" altLang="en-US" sz="2000" dirty="0">
                <a:latin typeface="Arial" panose="020B0604020202020204" pitchFamily="34" charset="0"/>
                <a:sym typeface="+mn-ea"/>
              </a:rPr>
              <a:t>例</a:t>
            </a:r>
            <a:r>
              <a:rPr lang="en-US" altLang="zh-CN" sz="2000" dirty="0">
                <a:latin typeface="Arial" panose="020B0604020202020204" pitchFamily="34" charset="0"/>
                <a:sym typeface="+mn-ea"/>
              </a:rPr>
              <a:t>1</a:t>
            </a:r>
            <a:r>
              <a:rPr lang="zh-CN" altLang="en-US" sz="2000" dirty="0">
                <a:latin typeface="Arial" panose="020B0604020202020204" pitchFamily="34" charset="0"/>
                <a:sym typeface="+mn-ea"/>
              </a:rPr>
              <a:t>：</a:t>
            </a:r>
            <a:r>
              <a:rPr lang="zh-CN" altLang="en-US" sz="2000" dirty="0">
                <a:latin typeface="Arial" panose="020B0604020202020204" pitchFamily="34" charset="0"/>
                <a:ea typeface="宋体" panose="02010600030101010101" pitchFamily="2" charset="-122"/>
              </a:rPr>
              <a:t>一个空运控制系统</a:t>
            </a:r>
            <a:r>
              <a:rPr lang="zh-CN" altLang="en-US" sz="2000" dirty="0">
                <a:latin typeface="Arial" panose="020B0604020202020204" pitchFamily="34" charset="0"/>
                <a:sym typeface="+mn-ea"/>
              </a:rPr>
              <a:t>，</a:t>
            </a:r>
            <a:r>
              <a:rPr lang="zh-CN" altLang="en-US" sz="2000" dirty="0">
                <a:latin typeface="Arial" panose="020B0604020202020204" pitchFamily="34" charset="0"/>
                <a:ea typeface="宋体" panose="02010600030101010101" pitchFamily="2" charset="-122"/>
              </a:rPr>
              <a:t>它用一台计算机每隔一秒计算一次某一飞机应有的高度</a:t>
            </a:r>
            <a:r>
              <a:rPr lang="en-US" altLang="zh-CN" sz="2000" dirty="0">
                <a:latin typeface="Arial" panose="020B0604020202020204" pitchFamily="34" charset="0"/>
                <a:ea typeface="宋体" panose="02010600030101010101" pitchFamily="2" charset="-122"/>
              </a:rPr>
              <a:t>x(n)</a:t>
            </a:r>
            <a:r>
              <a:rPr lang="zh-CN" altLang="en-US" sz="2000" dirty="0">
                <a:latin typeface="Arial" panose="020B0604020202020204" pitchFamily="34" charset="0"/>
                <a:ea typeface="宋体" panose="02010600030101010101" pitchFamily="2" charset="-122"/>
              </a:rPr>
              <a:t>，同时用一雷达测试该飞机的实际高度</a:t>
            </a:r>
            <a:r>
              <a:rPr lang="en-US" altLang="zh-CN" sz="2000" dirty="0">
                <a:latin typeface="Arial" panose="020B0604020202020204" pitchFamily="34" charset="0"/>
                <a:ea typeface="宋体" panose="02010600030101010101" pitchFamily="2" charset="-122"/>
              </a:rPr>
              <a:t>y(n)</a:t>
            </a:r>
            <a:r>
              <a:rPr lang="zh-CN" altLang="en-US" sz="2000" dirty="0">
                <a:latin typeface="Arial" panose="020B0604020202020204" pitchFamily="34" charset="0"/>
                <a:ea typeface="宋体" panose="02010600030101010101" pitchFamily="2" charset="-122"/>
              </a:rPr>
              <a:t>，飞机应有高度</a:t>
            </a:r>
            <a:r>
              <a:rPr lang="en-US" altLang="zh-CN" sz="2000" dirty="0">
                <a:latin typeface="Arial" panose="020B0604020202020204" pitchFamily="34" charset="0"/>
                <a:ea typeface="宋体" panose="02010600030101010101" pitchFamily="2" charset="-122"/>
              </a:rPr>
              <a:t>x(n)</a:t>
            </a:r>
            <a:r>
              <a:rPr lang="zh-CN" altLang="en-US" sz="2000" dirty="0">
                <a:latin typeface="Arial" panose="020B0604020202020204" pitchFamily="34" charset="0"/>
                <a:ea typeface="宋体" panose="02010600030101010101" pitchFamily="2" charset="-122"/>
              </a:rPr>
              <a:t>和前一秒实测高度</a:t>
            </a:r>
            <a:r>
              <a:rPr lang="en-US" altLang="zh-CN" sz="2000" dirty="0">
                <a:latin typeface="Arial" panose="020B0604020202020204" pitchFamily="34" charset="0"/>
                <a:ea typeface="宋体" panose="02010600030101010101" pitchFamily="2" charset="-122"/>
              </a:rPr>
              <a:t>y(n-1)</a:t>
            </a:r>
            <a:r>
              <a:rPr lang="zh-CN" altLang="en-US" sz="2000" dirty="0">
                <a:latin typeface="Arial" panose="020B0604020202020204" pitchFamily="34" charset="0"/>
                <a:ea typeface="宋体" panose="02010600030101010101" pitchFamily="2" charset="-122"/>
              </a:rPr>
              <a:t>之差作为飞机调整飞行高度的依据。设飞机改变高度的速度正比于此差值，即：</a:t>
            </a:r>
            <a:r>
              <a:rPr lang="en-US" altLang="zh-CN" sz="2000" dirty="0">
                <a:latin typeface="Arial" panose="020B0604020202020204" pitchFamily="34" charset="0"/>
                <a:ea typeface="宋体" panose="02010600030101010101" pitchFamily="2" charset="-122"/>
              </a:rPr>
              <a:t>v=a[x(n)-y(n-1)]</a:t>
            </a:r>
            <a:r>
              <a:rPr lang="zh-CN" altLang="en-US" sz="2000" dirty="0">
                <a:latin typeface="Arial" panose="020B0604020202020204" pitchFamily="34" charset="0"/>
                <a:ea typeface="宋体" panose="02010600030101010101" pitchFamily="2" charset="-122"/>
              </a:rPr>
              <a:t>，求该问题的数学模型。</a:t>
            </a:r>
            <a:endParaRPr lang="zh-CN" altLang="en-US" sz="2000" dirty="0">
              <a:latin typeface="Arial" panose="020B0604020202020204" pitchFamily="34" charset="0"/>
              <a:ea typeface="宋体" panose="02010600030101010101" pitchFamily="2" charset="-122"/>
            </a:endParaRPr>
          </a:p>
        </p:txBody>
      </p:sp>
      <p:grpSp>
        <p:nvGrpSpPr>
          <p:cNvPr id="3" name="组合 11"/>
          <p:cNvGrpSpPr/>
          <p:nvPr/>
        </p:nvGrpSpPr>
        <p:grpSpPr>
          <a:xfrm>
            <a:off x="323850" y="2282825"/>
            <a:ext cx="6335713" cy="950677"/>
            <a:chOff x="460996" y="2857500"/>
            <a:chExt cx="4857220" cy="756534"/>
          </a:xfrm>
        </p:grpSpPr>
        <p:sp>
          <p:nvSpPr>
            <p:cNvPr id="44036" name="TextBox 11"/>
            <p:cNvSpPr txBox="1"/>
            <p:nvPr/>
          </p:nvSpPr>
          <p:spPr>
            <a:xfrm>
              <a:off x="460996" y="2857500"/>
              <a:ext cx="646113" cy="366237"/>
            </a:xfrm>
            <a:prstGeom prst="rect">
              <a:avLst/>
            </a:prstGeom>
            <a:noFill/>
            <a:ln w="9525">
              <a:noFill/>
            </a:ln>
          </p:spPr>
          <p:txBody>
            <a:bodyPr anchor="t" anchorCtr="0">
              <a:spAutoFit/>
            </a:bodyPr>
            <a:p>
              <a:r>
                <a:rPr lang="zh-CN" altLang="en-US" dirty="0">
                  <a:latin typeface="Arial" panose="020B0604020202020204" pitchFamily="34" charset="0"/>
                  <a:ea typeface="宋体" panose="02010600030101010101" pitchFamily="2" charset="-122"/>
                </a:rPr>
                <a:t>解：</a:t>
              </a:r>
              <a:endParaRPr lang="zh-CN" altLang="en-US" dirty="0">
                <a:latin typeface="Arial" panose="020B0604020202020204" pitchFamily="34" charset="0"/>
                <a:ea typeface="宋体" panose="02010600030101010101" pitchFamily="2" charset="-122"/>
              </a:endParaRPr>
            </a:p>
          </p:txBody>
        </p:sp>
        <p:sp>
          <p:nvSpPr>
            <p:cNvPr id="44037" name="TextBox 12"/>
            <p:cNvSpPr txBox="1"/>
            <p:nvPr/>
          </p:nvSpPr>
          <p:spPr>
            <a:xfrm>
              <a:off x="928782" y="2857500"/>
              <a:ext cx="4389434" cy="366359"/>
            </a:xfrm>
            <a:prstGeom prst="rect">
              <a:avLst/>
            </a:prstGeom>
            <a:noFill/>
            <a:ln w="9525">
              <a:noFill/>
            </a:ln>
          </p:spPr>
          <p:txBody>
            <a:bodyPr anchor="t" anchorCtr="0">
              <a:spAutoFit/>
            </a:bodyPr>
            <a:p>
              <a:r>
                <a:rPr lang="zh-CN" altLang="en-US" dirty="0">
                  <a:latin typeface="Arial" panose="020B0604020202020204" pitchFamily="34" charset="0"/>
                  <a:ea typeface="宋体" panose="02010600030101010101" pitchFamily="2" charset="-122"/>
                </a:rPr>
                <a:t>从第</a:t>
              </a:r>
              <a:r>
                <a:rPr lang="en-US" altLang="zh-CN" dirty="0">
                  <a:latin typeface="Arial" panose="020B0604020202020204" pitchFamily="34" charset="0"/>
                  <a:ea typeface="宋体" panose="02010600030101010101" pitchFamily="2" charset="-122"/>
                </a:rPr>
                <a:t>n</a:t>
              </a:r>
              <a:r>
                <a:rPr lang="en-US" altLang="zh-CN" dirty="0">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秒到第</a:t>
              </a:r>
              <a:r>
                <a:rPr lang="en-US" altLang="zh-CN" dirty="0">
                  <a:latin typeface="Arial" panose="020B0604020202020204" pitchFamily="34" charset="0"/>
                  <a:ea typeface="宋体" panose="02010600030101010101" pitchFamily="2" charset="-122"/>
                </a:rPr>
                <a:t>n</a:t>
              </a:r>
              <a:r>
                <a:rPr lang="zh-CN" altLang="en-US" dirty="0">
                  <a:latin typeface="Arial" panose="020B0604020202020204" pitchFamily="34" charset="0"/>
                  <a:ea typeface="宋体" panose="02010600030101010101" pitchFamily="2" charset="-122"/>
                </a:rPr>
                <a:t>秒这</a:t>
              </a:r>
              <a:r>
                <a:rPr lang="en-US" altLang="zh-CN" dirty="0">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秒钟内飞机升高为</a:t>
              </a:r>
              <a:endParaRPr lang="zh-CN" altLang="en-US" dirty="0">
                <a:latin typeface="Arial" panose="020B0604020202020204" pitchFamily="34" charset="0"/>
                <a:ea typeface="宋体" panose="02010600030101010101" pitchFamily="2" charset="-122"/>
              </a:endParaRPr>
            </a:p>
          </p:txBody>
        </p:sp>
        <p:graphicFrame>
          <p:nvGraphicFramePr>
            <p:cNvPr id="44038" name="Object 4"/>
            <p:cNvGraphicFramePr>
              <a:graphicFrameLocks noChangeAspect="1"/>
            </p:cNvGraphicFramePr>
            <p:nvPr/>
          </p:nvGraphicFramePr>
          <p:xfrm>
            <a:off x="943797" y="3231504"/>
            <a:ext cx="3918879" cy="382530"/>
          </p:xfrm>
          <a:graphic>
            <a:graphicData uri="http://schemas.openxmlformats.org/presentationml/2006/ole">
              <mc:AlternateContent xmlns:mc="http://schemas.openxmlformats.org/markup-compatibility/2006">
                <mc:Choice xmlns:v="urn:schemas-microsoft-com:vml" Requires="v">
                  <p:oleObj spid="_x0000_s3094" name="" r:id="rId1" imgW="2082800" imgH="203200" progId="Equation.3">
                    <p:embed/>
                  </p:oleObj>
                </mc:Choice>
                <mc:Fallback>
                  <p:oleObj name="" r:id="rId1" imgW="2082800" imgH="203200" progId="Equation.3">
                    <p:embed/>
                    <p:pic>
                      <p:nvPicPr>
                        <p:cNvPr id="0" name="图片 3093"/>
                        <p:cNvPicPr/>
                        <p:nvPr/>
                      </p:nvPicPr>
                      <p:blipFill>
                        <a:blip r:embed="rId2"/>
                        <a:stretch>
                          <a:fillRect/>
                        </a:stretch>
                      </p:blipFill>
                      <p:spPr>
                        <a:xfrm>
                          <a:off x="943797" y="3231504"/>
                          <a:ext cx="3918879" cy="382530"/>
                        </a:xfrm>
                        <a:prstGeom prst="rect">
                          <a:avLst/>
                        </a:prstGeom>
                        <a:noFill/>
                        <a:ln w="38100">
                          <a:noFill/>
                          <a:miter/>
                        </a:ln>
                      </p:spPr>
                    </p:pic>
                  </p:oleObj>
                </mc:Fallback>
              </mc:AlternateContent>
            </a:graphicData>
          </a:graphic>
        </p:graphicFrame>
      </p:grpSp>
      <p:grpSp>
        <p:nvGrpSpPr>
          <p:cNvPr id="4" name="组合 12"/>
          <p:cNvGrpSpPr/>
          <p:nvPr/>
        </p:nvGrpSpPr>
        <p:grpSpPr>
          <a:xfrm>
            <a:off x="968375" y="3303588"/>
            <a:ext cx="4179888" cy="955675"/>
            <a:chOff x="936340" y="3857625"/>
            <a:chExt cx="3997780" cy="626950"/>
          </a:xfrm>
        </p:grpSpPr>
        <p:graphicFrame>
          <p:nvGraphicFramePr>
            <p:cNvPr id="44040" name="Object 3"/>
            <p:cNvGraphicFramePr>
              <a:graphicFrameLocks noChangeAspect="1"/>
            </p:cNvGraphicFramePr>
            <p:nvPr/>
          </p:nvGraphicFramePr>
          <p:xfrm>
            <a:off x="1000125" y="4159644"/>
            <a:ext cx="3933995" cy="324931"/>
          </p:xfrm>
          <a:graphic>
            <a:graphicData uri="http://schemas.openxmlformats.org/presentationml/2006/ole">
              <mc:AlternateContent xmlns:mc="http://schemas.openxmlformats.org/markup-compatibility/2006">
                <mc:Choice xmlns:v="urn:schemas-microsoft-com:vml" Requires="v">
                  <p:oleObj spid="_x0000_s3085" name="" r:id="rId3" imgW="1765300" imgH="203200" progId="Equation.3">
                    <p:embed/>
                  </p:oleObj>
                </mc:Choice>
                <mc:Fallback>
                  <p:oleObj name="" r:id="rId3" imgW="1765300" imgH="203200" progId="Equation.3">
                    <p:embed/>
                    <p:pic>
                      <p:nvPicPr>
                        <p:cNvPr id="0" name="图片 3084"/>
                        <p:cNvPicPr/>
                        <p:nvPr/>
                      </p:nvPicPr>
                      <p:blipFill>
                        <a:blip r:embed="rId4"/>
                        <a:stretch>
                          <a:fillRect/>
                        </a:stretch>
                      </p:blipFill>
                      <p:spPr>
                        <a:xfrm>
                          <a:off x="1000125" y="4159644"/>
                          <a:ext cx="3933995" cy="324931"/>
                        </a:xfrm>
                        <a:prstGeom prst="rect">
                          <a:avLst/>
                        </a:prstGeom>
                        <a:noFill/>
                        <a:ln w="38100">
                          <a:noFill/>
                          <a:miter/>
                        </a:ln>
                      </p:spPr>
                    </p:pic>
                  </p:oleObj>
                </mc:Fallback>
              </mc:AlternateContent>
            </a:graphicData>
          </a:graphic>
        </p:graphicFrame>
        <p:sp>
          <p:nvSpPr>
            <p:cNvPr id="44041" name="TextBox 15"/>
            <p:cNvSpPr txBox="1"/>
            <p:nvPr/>
          </p:nvSpPr>
          <p:spPr>
            <a:xfrm>
              <a:off x="936340" y="3857625"/>
              <a:ext cx="2112058" cy="302019"/>
            </a:xfrm>
            <a:prstGeom prst="rect">
              <a:avLst/>
            </a:prstGeom>
            <a:noFill/>
            <a:ln w="9525">
              <a:noFill/>
            </a:ln>
          </p:spPr>
          <p:txBody>
            <a:bodyPr anchor="t" anchorCtr="0">
              <a:spAutoFit/>
            </a:bodyPr>
            <a:p>
              <a:r>
                <a:rPr lang="zh-CN" altLang="en-US" dirty="0">
                  <a:latin typeface="Arial" panose="020B0604020202020204" pitchFamily="34" charset="0"/>
                  <a:ea typeface="宋体" panose="02010600030101010101" pitchFamily="2" charset="-122"/>
                </a:rPr>
                <a:t>整理可得：</a:t>
              </a:r>
              <a:endParaRPr lang="zh-CN" altLang="en-US" dirty="0">
                <a:latin typeface="Arial" panose="020B0604020202020204" pitchFamily="34" charset="0"/>
                <a:ea typeface="宋体" panose="02010600030101010101" pitchFamily="2" charset="-122"/>
              </a:endParaRPr>
            </a:p>
          </p:txBody>
        </p:sp>
      </p:grpSp>
      <p:sp>
        <p:nvSpPr>
          <p:cNvPr id="23558" name="文本框 4"/>
          <p:cNvSpPr txBox="1"/>
          <p:nvPr/>
        </p:nvSpPr>
        <p:spPr>
          <a:xfrm>
            <a:off x="5699125" y="3781425"/>
            <a:ext cx="2325688" cy="460375"/>
          </a:xfrm>
          <a:prstGeom prst="rect">
            <a:avLst/>
          </a:prstGeom>
          <a:noFill/>
          <a:ln w="9525">
            <a:noFill/>
          </a:ln>
        </p:spPr>
        <p:txBody>
          <a:bodyPr wrap="none" anchor="t" anchorCtr="0">
            <a:spAutoFit/>
          </a:bodyPr>
          <a:p>
            <a:r>
              <a:rPr lang="zh-CN" altLang="en-US" b="1" dirty="0">
                <a:solidFill>
                  <a:schemeClr val="accent2"/>
                </a:solidFill>
                <a:latin typeface="Arial" panose="020B0604020202020204" pitchFamily="34" charset="0"/>
                <a:ea typeface="宋体" panose="02010600030101010101" pitchFamily="2" charset="-122"/>
              </a:rPr>
              <a:t>常系数差分方程</a:t>
            </a:r>
            <a:endParaRPr lang="zh-CN" altLang="en-US" b="1" dirty="0">
              <a:solidFill>
                <a:schemeClr val="accent2"/>
              </a:solidFill>
              <a:latin typeface="Arial" panose="020B0604020202020204" pitchFamily="34" charset="0"/>
              <a:ea typeface="宋体" panose="02010600030101010101" pitchFamily="2" charset="-122"/>
            </a:endParaRPr>
          </a:p>
        </p:txBody>
      </p:sp>
      <p:graphicFrame>
        <p:nvGraphicFramePr>
          <p:cNvPr id="6" name="Object 7"/>
          <p:cNvGraphicFramePr>
            <a:graphicFrameLocks noChangeAspect="1"/>
          </p:cNvGraphicFramePr>
          <p:nvPr/>
        </p:nvGraphicFramePr>
        <p:xfrm>
          <a:off x="968375" y="4514850"/>
          <a:ext cx="3870325" cy="371475"/>
        </p:xfrm>
        <a:graphic>
          <a:graphicData uri="http://schemas.openxmlformats.org/presentationml/2006/ole">
            <mc:AlternateContent xmlns:mc="http://schemas.openxmlformats.org/markup-compatibility/2006">
              <mc:Choice xmlns:v="urn:schemas-microsoft-com:vml" Requires="v">
                <p:oleObj spid="_x0000_s3095" name="" r:id="rId5" imgW="1968500" imgH="215900" progId="Equation.3">
                  <p:embed/>
                </p:oleObj>
              </mc:Choice>
              <mc:Fallback>
                <p:oleObj name="" r:id="rId5" imgW="1968500" imgH="215900" progId="Equation.3">
                  <p:embed/>
                  <p:pic>
                    <p:nvPicPr>
                      <p:cNvPr id="0" name="图片 3094"/>
                      <p:cNvPicPr/>
                      <p:nvPr/>
                    </p:nvPicPr>
                    <p:blipFill>
                      <a:blip r:embed="rId6"/>
                      <a:stretch>
                        <a:fillRect/>
                      </a:stretch>
                    </p:blipFill>
                    <p:spPr>
                      <a:xfrm>
                        <a:off x="968375" y="4514850"/>
                        <a:ext cx="3870325" cy="371475"/>
                      </a:xfrm>
                      <a:prstGeom prst="rect">
                        <a:avLst/>
                      </a:prstGeom>
                      <a:noFill/>
                      <a:ln w="38100">
                        <a:noFill/>
                        <a:miter/>
                      </a:ln>
                    </p:spPr>
                  </p:pic>
                </p:oleObj>
              </mc:Fallback>
            </mc:AlternateContent>
          </a:graphicData>
        </a:graphic>
      </p:graphicFrame>
      <p:graphicFrame>
        <p:nvGraphicFramePr>
          <p:cNvPr id="7" name="Object 8"/>
          <p:cNvGraphicFramePr>
            <a:graphicFrameLocks noChangeAspect="1"/>
          </p:cNvGraphicFramePr>
          <p:nvPr/>
        </p:nvGraphicFramePr>
        <p:xfrm>
          <a:off x="968375" y="5045075"/>
          <a:ext cx="3810000" cy="366713"/>
        </p:xfrm>
        <a:graphic>
          <a:graphicData uri="http://schemas.openxmlformats.org/presentationml/2006/ole">
            <mc:AlternateContent xmlns:mc="http://schemas.openxmlformats.org/markup-compatibility/2006">
              <mc:Choice xmlns:v="urn:schemas-microsoft-com:vml" Requires="v">
                <p:oleObj spid="_x0000_s3097" name="" r:id="rId7" imgW="2743200" imgH="266700" progId="Equation.3">
                  <p:embed/>
                </p:oleObj>
              </mc:Choice>
              <mc:Fallback>
                <p:oleObj name="" r:id="rId7" imgW="2743200" imgH="266700" progId="Equation.3">
                  <p:embed/>
                  <p:pic>
                    <p:nvPicPr>
                      <p:cNvPr id="0" name="图片 3096"/>
                      <p:cNvPicPr/>
                      <p:nvPr/>
                    </p:nvPicPr>
                    <p:blipFill>
                      <a:blip r:embed="rId8"/>
                      <a:stretch>
                        <a:fillRect/>
                      </a:stretch>
                    </p:blipFill>
                    <p:spPr>
                      <a:xfrm>
                        <a:off x="968375" y="5045075"/>
                        <a:ext cx="3810000" cy="366713"/>
                      </a:xfrm>
                      <a:prstGeom prst="rect">
                        <a:avLst/>
                      </a:prstGeom>
                      <a:noFill/>
                      <a:ln w="38100">
                        <a:noFill/>
                        <a:miter/>
                      </a:ln>
                    </p:spPr>
                  </p:pic>
                </p:oleObj>
              </mc:Fallback>
            </mc:AlternateContent>
          </a:graphicData>
        </a:graphic>
      </p:graphicFrame>
      <p:sp>
        <p:nvSpPr>
          <p:cNvPr id="8" name="Text Box 9"/>
          <p:cNvSpPr txBox="1"/>
          <p:nvPr/>
        </p:nvSpPr>
        <p:spPr>
          <a:xfrm>
            <a:off x="466725" y="5656580"/>
            <a:ext cx="8199755" cy="829945"/>
          </a:xfrm>
          <a:prstGeom prst="rect">
            <a:avLst/>
          </a:prstGeom>
          <a:solidFill>
            <a:srgbClr val="EBFCBA"/>
          </a:solidFill>
          <a:ln w="9525">
            <a:noFill/>
          </a:ln>
        </p:spPr>
        <p:txBody>
          <a:bodyPr wrap="square" anchor="t" anchorCtr="0">
            <a:spAutoFit/>
          </a:bodyPr>
          <a:p>
            <a:pPr>
              <a:spcBef>
                <a:spcPct val="50000"/>
              </a:spcBef>
            </a:pPr>
            <a:r>
              <a:rPr lang="zh-CN" altLang="en-US" b="1" dirty="0">
                <a:solidFill>
                  <a:schemeClr val="accent2"/>
                </a:solidFill>
                <a:latin typeface="Times New Roman" panose="02020603050405020304" pitchFamily="18" charset="0"/>
                <a:ea typeface="宋体" panose="02010600030101010101" pitchFamily="2" charset="-122"/>
              </a:rPr>
              <a:t>差分方程</a:t>
            </a:r>
            <a:r>
              <a:rPr lang="zh-CN" altLang="en-US" b="1" dirty="0">
                <a:latin typeface="Times New Roman" panose="02020603050405020304" pitchFamily="18" charset="0"/>
                <a:ea typeface="宋体" panose="02010600030101010101" pitchFamily="2" charset="-122"/>
              </a:rPr>
              <a:t>：表示离散序列中相邻几个数据点之间满足的数学关系。</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0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5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5" grpId="0"/>
      <p:bldP spid="2" grpId="0"/>
      <p:bldP spid="23558" grpId="0"/>
      <p:bldP spid="8"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13"/>
          <p:cNvGrpSpPr/>
          <p:nvPr/>
        </p:nvGrpSpPr>
        <p:grpSpPr>
          <a:xfrm>
            <a:off x="352425" y="247650"/>
            <a:ext cx="8361363" cy="2933700"/>
            <a:chOff x="79134" y="4285598"/>
            <a:chExt cx="9315450" cy="2221061"/>
          </a:xfrm>
        </p:grpSpPr>
        <p:sp>
          <p:nvSpPr>
            <p:cNvPr id="45058" name="TextBox 16"/>
            <p:cNvSpPr txBox="1"/>
            <p:nvPr/>
          </p:nvSpPr>
          <p:spPr>
            <a:xfrm>
              <a:off x="79134" y="4285598"/>
              <a:ext cx="9315450" cy="907458"/>
            </a:xfrm>
            <a:prstGeom prst="rect">
              <a:avLst/>
            </a:prstGeom>
            <a:noFill/>
            <a:ln w="9525">
              <a:noFill/>
            </a:ln>
          </p:spPr>
          <p:txBody>
            <a:bodyPr anchor="t" anchorCtr="0">
              <a:spAutoFit/>
            </a:bodyPr>
            <a:p>
              <a:r>
                <a:rPr lang="zh-CN" altLang="en-US" dirty="0">
                  <a:latin typeface="Arial" panose="020B0604020202020204" pitchFamily="34" charset="0"/>
                  <a:ea typeface="宋体" panose="02010600030101010101" pitchFamily="2" charset="-122"/>
                </a:rPr>
                <a:t>例</a:t>
              </a:r>
              <a:r>
                <a:rPr lang="en-US" altLang="zh-CN" dirty="0">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：如图所示为一电阻的梯形网络，该网络各个节点对公共节点的电压为</a:t>
              </a:r>
              <a:r>
                <a:rPr lang="en-US" altLang="zh-CN" dirty="0">
                  <a:latin typeface="Arial" panose="020B0604020202020204" pitchFamily="34" charset="0"/>
                  <a:ea typeface="宋体" panose="02010600030101010101" pitchFamily="2" charset="-122"/>
                </a:rPr>
                <a:t>U(k)</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k=0</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a:t>
              </a:r>
              <a:r>
                <a:rPr lang="en-US" altLang="zh-CN" dirty="0">
                  <a:latin typeface="Arial" panose="020B0604020202020204" pitchFamily="34" charset="0"/>
                  <a:ea typeface="宋体" panose="02010600030101010101" pitchFamily="2" charset="-122"/>
                </a:rPr>
                <a:t>n</a:t>
              </a:r>
              <a:r>
                <a:rPr lang="zh-CN" altLang="en-US" dirty="0">
                  <a:latin typeface="Arial" panose="020B0604020202020204" pitchFamily="34" charset="0"/>
                  <a:ea typeface="宋体" panose="02010600030101010101" pitchFamily="2" charset="-122"/>
                </a:rPr>
                <a:t>。试写出这个系统的差分方程。</a:t>
              </a:r>
              <a:endParaRPr lang="zh-CN" altLang="en-US" dirty="0">
                <a:latin typeface="Arial" panose="020B0604020202020204" pitchFamily="34" charset="0"/>
                <a:ea typeface="宋体" panose="02010600030101010101" pitchFamily="2" charset="-122"/>
              </a:endParaRPr>
            </a:p>
          </p:txBody>
        </p:sp>
        <p:graphicFrame>
          <p:nvGraphicFramePr>
            <p:cNvPr id="45059" name="Object 12"/>
            <p:cNvGraphicFramePr>
              <a:graphicFrameLocks noChangeAspect="1"/>
            </p:cNvGraphicFramePr>
            <p:nvPr/>
          </p:nvGraphicFramePr>
          <p:xfrm>
            <a:off x="1259218" y="5121440"/>
            <a:ext cx="6408396" cy="1385219"/>
          </p:xfrm>
          <a:graphic>
            <a:graphicData uri="http://schemas.openxmlformats.org/presentationml/2006/ole">
              <mc:AlternateContent xmlns:mc="http://schemas.openxmlformats.org/markup-compatibility/2006">
                <mc:Choice xmlns:v="urn:schemas-microsoft-com:vml" Requires="v">
                  <p:oleObj spid="_x0000_s3098" name="" r:id="rId1" imgW="8366125" imgH="2207260" progId="Visio.Drawing.11">
                    <p:embed/>
                  </p:oleObj>
                </mc:Choice>
                <mc:Fallback>
                  <p:oleObj name="" r:id="rId1" imgW="8366125" imgH="2207260" progId="Visio.Drawing.11">
                    <p:embed/>
                    <p:pic>
                      <p:nvPicPr>
                        <p:cNvPr id="0" name="图片 3097"/>
                        <p:cNvPicPr/>
                        <p:nvPr/>
                      </p:nvPicPr>
                      <p:blipFill>
                        <a:blip r:embed="rId2"/>
                        <a:stretch>
                          <a:fillRect/>
                        </a:stretch>
                      </p:blipFill>
                      <p:spPr>
                        <a:xfrm>
                          <a:off x="1259218" y="5121440"/>
                          <a:ext cx="6408396" cy="1385219"/>
                        </a:xfrm>
                        <a:prstGeom prst="rect">
                          <a:avLst/>
                        </a:prstGeom>
                        <a:noFill/>
                        <a:ln w="38100">
                          <a:noFill/>
                          <a:miter/>
                        </a:ln>
                      </p:spPr>
                    </p:pic>
                  </p:oleObj>
                </mc:Fallback>
              </mc:AlternateContent>
            </a:graphicData>
          </a:graphic>
        </p:graphicFrame>
      </p:grpSp>
      <p:graphicFrame>
        <p:nvGraphicFramePr>
          <p:cNvPr id="24579" name="Object 6"/>
          <p:cNvGraphicFramePr>
            <a:graphicFrameLocks noChangeAspect="1"/>
          </p:cNvGraphicFramePr>
          <p:nvPr/>
        </p:nvGraphicFramePr>
        <p:xfrm>
          <a:off x="5595938" y="3781425"/>
          <a:ext cx="3302000" cy="2095500"/>
        </p:xfrm>
        <a:graphic>
          <a:graphicData uri="http://schemas.openxmlformats.org/presentationml/2006/ole">
            <mc:AlternateContent xmlns:mc="http://schemas.openxmlformats.org/markup-compatibility/2006">
              <mc:Choice xmlns:v="urn:schemas-microsoft-com:vml" Requires="v">
                <p:oleObj spid="_x0000_s3099" name="" r:id="rId3" imgW="3174365" imgH="2018030" progId="Visio.Drawing.11">
                  <p:embed/>
                </p:oleObj>
              </mc:Choice>
              <mc:Fallback>
                <p:oleObj name="" r:id="rId3" imgW="3174365" imgH="2018030" progId="Visio.Drawing.11">
                  <p:embed/>
                  <p:pic>
                    <p:nvPicPr>
                      <p:cNvPr id="0" name="图片 3098"/>
                      <p:cNvPicPr/>
                      <p:nvPr/>
                    </p:nvPicPr>
                    <p:blipFill>
                      <a:blip r:embed="rId4"/>
                      <a:stretch>
                        <a:fillRect/>
                      </a:stretch>
                    </p:blipFill>
                    <p:spPr>
                      <a:xfrm>
                        <a:off x="5595938" y="3781425"/>
                        <a:ext cx="3302000" cy="2095500"/>
                      </a:xfrm>
                      <a:prstGeom prst="rect">
                        <a:avLst/>
                      </a:prstGeom>
                      <a:noFill/>
                      <a:ln w="38100">
                        <a:noFill/>
                        <a:miter/>
                      </a:ln>
                    </p:spPr>
                  </p:pic>
                </p:oleObj>
              </mc:Fallback>
            </mc:AlternateContent>
          </a:graphicData>
        </a:graphic>
      </p:graphicFrame>
      <p:sp>
        <p:nvSpPr>
          <p:cNvPr id="10" name="TextBox 11"/>
          <p:cNvSpPr txBox="1"/>
          <p:nvPr/>
        </p:nvSpPr>
        <p:spPr>
          <a:xfrm>
            <a:off x="352425" y="3438525"/>
            <a:ext cx="646113" cy="369888"/>
          </a:xfrm>
          <a:prstGeom prst="rect">
            <a:avLst/>
          </a:prstGeom>
          <a:noFill/>
          <a:ln w="9525">
            <a:noFill/>
          </a:ln>
        </p:spPr>
        <p:txBody>
          <a:bodyPr wrap="none" anchor="t" anchorCtr="0">
            <a:spAutoFit/>
          </a:bodyPr>
          <a:p>
            <a:r>
              <a:rPr lang="zh-CN" altLang="en-US" dirty="0">
                <a:latin typeface="Arial" panose="020B0604020202020204" pitchFamily="34" charset="0"/>
                <a:ea typeface="宋体" panose="02010600030101010101" pitchFamily="2" charset="-122"/>
              </a:rPr>
              <a:t>解：</a:t>
            </a:r>
            <a:endParaRPr lang="zh-CN" altLang="en-US" dirty="0">
              <a:latin typeface="Arial" panose="020B0604020202020204" pitchFamily="34" charset="0"/>
              <a:ea typeface="宋体" panose="02010600030101010101" pitchFamily="2" charset="-122"/>
            </a:endParaRPr>
          </a:p>
        </p:txBody>
      </p:sp>
      <p:graphicFrame>
        <p:nvGraphicFramePr>
          <p:cNvPr id="77828" name="Object 4"/>
          <p:cNvGraphicFramePr>
            <a:graphicFrameLocks noChangeAspect="1"/>
          </p:cNvGraphicFramePr>
          <p:nvPr/>
        </p:nvGraphicFramePr>
        <p:xfrm>
          <a:off x="1138238" y="3438525"/>
          <a:ext cx="1341437" cy="342900"/>
        </p:xfrm>
        <a:graphic>
          <a:graphicData uri="http://schemas.openxmlformats.org/presentationml/2006/ole">
            <mc:AlternateContent xmlns:mc="http://schemas.openxmlformats.org/markup-compatibility/2006">
              <mc:Choice xmlns:v="urn:schemas-microsoft-com:vml" Requires="v">
                <p:oleObj spid="_x0000_s3100" name="" r:id="rId5" imgW="698500" imgH="177800" progId="Equation.3">
                  <p:embed/>
                </p:oleObj>
              </mc:Choice>
              <mc:Fallback>
                <p:oleObj name="" r:id="rId5" imgW="698500" imgH="177800" progId="Equation.3">
                  <p:embed/>
                  <p:pic>
                    <p:nvPicPr>
                      <p:cNvPr id="0" name="图片 3099"/>
                      <p:cNvPicPr/>
                      <p:nvPr/>
                    </p:nvPicPr>
                    <p:blipFill>
                      <a:blip r:embed="rId6"/>
                      <a:stretch>
                        <a:fillRect/>
                      </a:stretch>
                    </p:blipFill>
                    <p:spPr>
                      <a:xfrm>
                        <a:off x="1138238" y="3438525"/>
                        <a:ext cx="1341437" cy="342900"/>
                      </a:xfrm>
                      <a:prstGeom prst="rect">
                        <a:avLst/>
                      </a:prstGeom>
                      <a:noFill/>
                      <a:ln w="38100">
                        <a:noFill/>
                        <a:miter/>
                      </a:ln>
                    </p:spPr>
                  </p:pic>
                </p:oleObj>
              </mc:Fallback>
            </mc:AlternateContent>
          </a:graphicData>
        </a:graphic>
      </p:graphicFrame>
      <p:graphicFrame>
        <p:nvGraphicFramePr>
          <p:cNvPr id="9" name="Object 12"/>
          <p:cNvGraphicFramePr>
            <a:graphicFrameLocks noChangeAspect="1"/>
          </p:cNvGraphicFramePr>
          <p:nvPr/>
        </p:nvGraphicFramePr>
        <p:xfrm>
          <a:off x="781050" y="4010025"/>
          <a:ext cx="4638675" cy="642938"/>
        </p:xfrm>
        <a:graphic>
          <a:graphicData uri="http://schemas.openxmlformats.org/presentationml/2006/ole">
            <mc:AlternateContent xmlns:mc="http://schemas.openxmlformats.org/markup-compatibility/2006">
              <mc:Choice xmlns:v="urn:schemas-microsoft-com:vml" Requires="v">
                <p:oleObj spid="_x0000_s3101" name="" r:id="rId7" imgW="2857500" imgH="393700" progId="Equation.3">
                  <p:embed/>
                </p:oleObj>
              </mc:Choice>
              <mc:Fallback>
                <p:oleObj name="" r:id="rId7" imgW="2857500" imgH="393700" progId="Equation.3">
                  <p:embed/>
                  <p:pic>
                    <p:nvPicPr>
                      <p:cNvPr id="0" name="图片 3100"/>
                      <p:cNvPicPr/>
                      <p:nvPr/>
                    </p:nvPicPr>
                    <p:blipFill>
                      <a:blip r:embed="rId8"/>
                      <a:stretch>
                        <a:fillRect/>
                      </a:stretch>
                    </p:blipFill>
                    <p:spPr>
                      <a:xfrm>
                        <a:off x="781050" y="4010025"/>
                        <a:ext cx="4638675" cy="642938"/>
                      </a:xfrm>
                      <a:prstGeom prst="rect">
                        <a:avLst/>
                      </a:prstGeom>
                      <a:noFill/>
                      <a:ln w="38100">
                        <a:noFill/>
                        <a:miter/>
                      </a:ln>
                    </p:spPr>
                  </p:pic>
                </p:oleObj>
              </mc:Fallback>
            </mc:AlternateContent>
          </a:graphicData>
        </a:graphic>
      </p:graphicFrame>
      <p:sp>
        <p:nvSpPr>
          <p:cNvPr id="13" name="TextBox 15"/>
          <p:cNvSpPr txBox="1"/>
          <p:nvPr/>
        </p:nvSpPr>
        <p:spPr>
          <a:xfrm>
            <a:off x="781050" y="4724400"/>
            <a:ext cx="1338263" cy="369888"/>
          </a:xfrm>
          <a:prstGeom prst="rect">
            <a:avLst/>
          </a:prstGeom>
          <a:noFill/>
          <a:ln w="9525">
            <a:noFill/>
          </a:ln>
        </p:spPr>
        <p:txBody>
          <a:bodyPr wrap="none" anchor="t" anchorCtr="0">
            <a:spAutoFit/>
          </a:bodyPr>
          <a:p>
            <a:r>
              <a:rPr lang="zh-CN" altLang="en-US" dirty="0">
                <a:latin typeface="Arial" panose="020B0604020202020204" pitchFamily="34" charset="0"/>
                <a:ea typeface="宋体" panose="02010600030101010101" pitchFamily="2" charset="-122"/>
              </a:rPr>
              <a:t>整理可得：</a:t>
            </a:r>
            <a:endParaRPr lang="zh-CN" altLang="en-US" dirty="0">
              <a:latin typeface="Arial" panose="020B0604020202020204" pitchFamily="34" charset="0"/>
              <a:ea typeface="宋体" panose="02010600030101010101" pitchFamily="2" charset="-122"/>
            </a:endParaRPr>
          </a:p>
        </p:txBody>
      </p:sp>
      <p:graphicFrame>
        <p:nvGraphicFramePr>
          <p:cNvPr id="12" name="Object 9"/>
          <p:cNvGraphicFramePr>
            <a:graphicFrameLocks noChangeAspect="1"/>
          </p:cNvGraphicFramePr>
          <p:nvPr/>
        </p:nvGraphicFramePr>
        <p:xfrm>
          <a:off x="852488" y="5224463"/>
          <a:ext cx="4071937" cy="684212"/>
        </p:xfrm>
        <a:graphic>
          <a:graphicData uri="http://schemas.openxmlformats.org/presentationml/2006/ole">
            <mc:AlternateContent xmlns:mc="http://schemas.openxmlformats.org/markup-compatibility/2006">
              <mc:Choice xmlns:v="urn:schemas-microsoft-com:vml" Requires="v">
                <p:oleObj spid="_x0000_s3102" name="" r:id="rId9" imgW="2349500" imgH="393700" progId="Equation.3">
                  <p:embed/>
                </p:oleObj>
              </mc:Choice>
              <mc:Fallback>
                <p:oleObj name="" r:id="rId9" imgW="2349500" imgH="393700" progId="Equation.3">
                  <p:embed/>
                  <p:pic>
                    <p:nvPicPr>
                      <p:cNvPr id="0" name="图片 3101"/>
                      <p:cNvPicPr/>
                      <p:nvPr/>
                    </p:nvPicPr>
                    <p:blipFill>
                      <a:blip r:embed="rId10"/>
                      <a:stretch>
                        <a:fillRect/>
                      </a:stretch>
                    </p:blipFill>
                    <p:spPr>
                      <a:xfrm>
                        <a:off x="852488" y="5224463"/>
                        <a:ext cx="4071937" cy="6842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8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9"/>
          <p:cNvGrpSpPr/>
          <p:nvPr>
            <p:custDataLst>
              <p:tags r:id="rId1"/>
            </p:custDataLst>
          </p:nvPr>
        </p:nvGrpSpPr>
        <p:grpSpPr>
          <a:xfrm>
            <a:off x="819150" y="1046163"/>
            <a:ext cx="2620963" cy="1323975"/>
            <a:chOff x="702" y="3203"/>
            <a:chExt cx="1651" cy="834"/>
          </a:xfrm>
        </p:grpSpPr>
        <p:sp>
          <p:nvSpPr>
            <p:cNvPr id="46082" name="Text Box 20"/>
            <p:cNvSpPr txBox="1"/>
            <p:nvPr>
              <p:custDataLst>
                <p:tags r:id="rId2"/>
              </p:custDataLst>
            </p:nvPr>
          </p:nvSpPr>
          <p:spPr>
            <a:xfrm>
              <a:off x="793" y="3203"/>
              <a:ext cx="1543" cy="288"/>
            </a:xfrm>
            <a:prstGeom prst="rect">
              <a:avLst/>
            </a:prstGeom>
            <a:noFill/>
            <a:ln w="9525">
              <a:noFill/>
            </a:ln>
          </p:spPr>
          <p:txBody>
            <a:bodyPr anchor="t" anchorCtr="0">
              <a:spAutoFit/>
            </a:bodyPr>
            <a:p>
              <a:r>
                <a:rPr lang="zh-CN" altLang="en-US" b="1" dirty="0">
                  <a:solidFill>
                    <a:srgbClr val="0000FF"/>
                  </a:solidFill>
                  <a:latin typeface="Times New Roman" panose="02020603050405020304" pitchFamily="18" charset="0"/>
                  <a:ea typeface="宋体" panose="02010600030101010101" pitchFamily="2" charset="-122"/>
                </a:rPr>
                <a:t>输入输出模型</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6083" name="Text Box 21"/>
            <p:cNvSpPr txBox="1"/>
            <p:nvPr>
              <p:custDataLst>
                <p:tags r:id="rId3"/>
              </p:custDataLst>
            </p:nvPr>
          </p:nvSpPr>
          <p:spPr>
            <a:xfrm>
              <a:off x="793" y="3747"/>
              <a:ext cx="1560" cy="290"/>
            </a:xfrm>
            <a:prstGeom prst="rect">
              <a:avLst/>
            </a:prstGeom>
            <a:noFill/>
            <a:ln w="9525">
              <a:noFill/>
            </a:ln>
          </p:spPr>
          <p:txBody>
            <a:bodyPr wrap="none" anchor="t" anchorCtr="0">
              <a:spAutoFit/>
            </a:bodyPr>
            <a:p>
              <a:r>
                <a:rPr lang="zh-CN" altLang="en-US" b="1" dirty="0">
                  <a:solidFill>
                    <a:srgbClr val="0000FF"/>
                  </a:solidFill>
                  <a:latin typeface="Times New Roman" panose="02020603050405020304" pitchFamily="18" charset="0"/>
                  <a:ea typeface="宋体" panose="02010600030101010101" pitchFamily="2" charset="-122"/>
                </a:rPr>
                <a:t>状态空间模型</a:t>
              </a:r>
              <a:r>
                <a:rPr lang="en-US" altLang="zh-CN" b="1" dirty="0">
                  <a:solidFill>
                    <a:srgbClr val="0000FF"/>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46084" name="AutoShape 22"/>
            <p:cNvSpPr/>
            <p:nvPr>
              <p:custDataLst>
                <p:tags r:id="rId4"/>
              </p:custDataLst>
            </p:nvPr>
          </p:nvSpPr>
          <p:spPr>
            <a:xfrm>
              <a:off x="702" y="3384"/>
              <a:ext cx="49" cy="499"/>
            </a:xfrm>
            <a:prstGeom prst="leftBrace">
              <a:avLst>
                <a:gd name="adj1" fmla="val 84439"/>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grpSp>
      <p:sp>
        <p:nvSpPr>
          <p:cNvPr id="87063" name="Rectangle 23"/>
          <p:cNvSpPr/>
          <p:nvPr>
            <p:custDataLst>
              <p:tags r:id="rId5"/>
            </p:custDataLst>
          </p:nvPr>
        </p:nvSpPr>
        <p:spPr>
          <a:xfrm>
            <a:off x="3268663" y="1046163"/>
            <a:ext cx="292735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微分方程或差分方程</a:t>
            </a:r>
            <a:endParaRPr lang="zh-CN" altLang="en-US" dirty="0">
              <a:latin typeface="Times New Roman" panose="02020603050405020304" pitchFamily="18" charset="0"/>
              <a:ea typeface="宋体" panose="02010600030101010101" pitchFamily="2" charset="-122"/>
            </a:endParaRPr>
          </a:p>
        </p:txBody>
      </p:sp>
      <p:sp>
        <p:nvSpPr>
          <p:cNvPr id="87064" name="Rectangle 24"/>
          <p:cNvSpPr/>
          <p:nvPr>
            <p:custDataLst>
              <p:tags r:id="rId6"/>
            </p:custDataLst>
          </p:nvPr>
        </p:nvSpPr>
        <p:spPr>
          <a:xfrm>
            <a:off x="3268663" y="1909763"/>
            <a:ext cx="3536950" cy="457200"/>
          </a:xfrm>
          <a:prstGeom prst="rect">
            <a:avLst/>
          </a:prstGeom>
          <a:noFill/>
          <a:ln w="9525">
            <a:noFill/>
          </a:ln>
        </p:spPr>
        <p:txBody>
          <a:bodyPr wrap="none" anchor="t" anchorCtr="0">
            <a:spAutoFit/>
          </a:bodyPr>
          <a:p>
            <a:r>
              <a:rPr lang="zh-CN" altLang="en-US" dirty="0">
                <a:latin typeface="Times New Roman" panose="02020603050405020304" pitchFamily="18" charset="0"/>
                <a:ea typeface="宋体" panose="02010600030101010101" pitchFamily="2" charset="-122"/>
              </a:rPr>
              <a:t>微分方程组或差分方程组</a:t>
            </a:r>
            <a:endParaRPr lang="zh-CN" altLang="en-US" dirty="0">
              <a:latin typeface="Times New Roman" panose="02020603050405020304" pitchFamily="18" charset="0"/>
              <a:ea typeface="宋体" panose="02010600030101010101" pitchFamily="2" charset="-122"/>
            </a:endParaRPr>
          </a:p>
        </p:txBody>
      </p:sp>
      <p:sp>
        <p:nvSpPr>
          <p:cNvPr id="46087" name="文本框 2"/>
          <p:cNvSpPr txBox="1"/>
          <p:nvPr>
            <p:custDataLst>
              <p:tags r:id="rId7"/>
            </p:custDataLst>
          </p:nvPr>
        </p:nvSpPr>
        <p:spPr>
          <a:xfrm>
            <a:off x="434975" y="312738"/>
            <a:ext cx="1970088" cy="522287"/>
          </a:xfrm>
          <a:prstGeom prst="rect">
            <a:avLst/>
          </a:prstGeom>
          <a:noFill/>
          <a:ln w="9525">
            <a:noFill/>
          </a:ln>
        </p:spPr>
        <p:txBody>
          <a:bodyPr wrap="none" anchor="t" anchorCtr="0">
            <a:spAutoFit/>
          </a:bodyPr>
          <a:p>
            <a:pPr>
              <a:spcBef>
                <a:spcPct val="50000"/>
              </a:spcBef>
            </a:pPr>
            <a:r>
              <a:rPr lang="zh-CN" altLang="en-US" sz="2800" b="1" dirty="0">
                <a:solidFill>
                  <a:srgbClr val="FF0000"/>
                </a:solidFill>
                <a:latin typeface="Times New Roman" panose="02020603050405020304" pitchFamily="18" charset="0"/>
                <a:ea typeface="宋体" panose="02010600030101010101" pitchFamily="2" charset="-122"/>
              </a:rPr>
              <a:t>系统模型：</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22557" name="Text Box 29"/>
          <p:cNvSpPr txBox="1"/>
          <p:nvPr>
            <p:custDataLst>
              <p:tags r:id="rId8"/>
            </p:custDataLst>
          </p:nvPr>
        </p:nvSpPr>
        <p:spPr>
          <a:xfrm>
            <a:off x="442913" y="2679700"/>
            <a:ext cx="1970087" cy="522288"/>
          </a:xfrm>
          <a:prstGeom prst="rect">
            <a:avLst/>
          </a:prstGeom>
          <a:noFill/>
          <a:ln w="9525">
            <a:noFill/>
          </a:ln>
        </p:spPr>
        <p:txBody>
          <a:bodyPr wrap="none" anchor="t" anchorCtr="0">
            <a:spAutoFit/>
          </a:bodyPr>
          <a:p>
            <a:r>
              <a:rPr lang="zh-CN" altLang="en-US" sz="2800" b="1" dirty="0">
                <a:solidFill>
                  <a:srgbClr val="FF0000"/>
                </a:solidFill>
                <a:latin typeface="Times New Roman" panose="02020603050405020304" pitchFamily="18" charset="0"/>
                <a:ea typeface="宋体" panose="02010600030101010101" pitchFamily="2" charset="-122"/>
              </a:rPr>
              <a:t>系统表示：</a:t>
            </a:r>
            <a:endParaRPr lang="zh-CN" altLang="en-US" sz="2800" b="1" dirty="0">
              <a:solidFill>
                <a:srgbClr val="FF0000"/>
              </a:solidFill>
              <a:latin typeface="Times New Roman" panose="02020603050405020304" pitchFamily="18" charset="0"/>
              <a:ea typeface="宋体" panose="02010600030101010101" pitchFamily="2" charset="-122"/>
            </a:endParaRPr>
          </a:p>
        </p:txBody>
      </p:sp>
      <p:grpSp>
        <p:nvGrpSpPr>
          <p:cNvPr id="4" name="Group 40"/>
          <p:cNvGrpSpPr/>
          <p:nvPr/>
        </p:nvGrpSpPr>
        <p:grpSpPr>
          <a:xfrm>
            <a:off x="1339850" y="3395663"/>
            <a:ext cx="5048250" cy="1168400"/>
            <a:chOff x="930" y="3158"/>
            <a:chExt cx="3180" cy="736"/>
          </a:xfrm>
        </p:grpSpPr>
        <p:sp>
          <p:nvSpPr>
            <p:cNvPr id="46090" name="Rectangle 31"/>
            <p:cNvSpPr/>
            <p:nvPr/>
          </p:nvSpPr>
          <p:spPr>
            <a:xfrm>
              <a:off x="1564" y="3385"/>
              <a:ext cx="1906" cy="27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000" b="1" dirty="0">
                  <a:latin typeface="Times New Roman" panose="02020603050405020304" pitchFamily="18" charset="0"/>
                  <a:ea typeface="宋体" panose="02010600030101010101" pitchFamily="2" charset="-122"/>
                </a:rPr>
                <a:t>连续（离散）时间系统</a:t>
              </a:r>
              <a:endParaRPr lang="zh-CN" altLang="en-US" sz="2000" b="1" dirty="0">
                <a:latin typeface="Times New Roman" panose="02020603050405020304" pitchFamily="18" charset="0"/>
                <a:ea typeface="宋体" panose="02010600030101010101" pitchFamily="2" charset="-122"/>
              </a:endParaRPr>
            </a:p>
          </p:txBody>
        </p:sp>
        <p:sp>
          <p:nvSpPr>
            <p:cNvPr id="46091" name="Line 33"/>
            <p:cNvSpPr/>
            <p:nvPr/>
          </p:nvSpPr>
          <p:spPr>
            <a:xfrm flipV="1">
              <a:off x="975" y="3520"/>
              <a:ext cx="589" cy="1"/>
            </a:xfrm>
            <a:prstGeom prst="line">
              <a:avLst/>
            </a:prstGeom>
            <a:ln w="9525" cap="flat" cmpd="sng">
              <a:solidFill>
                <a:schemeClr val="tx1"/>
              </a:solidFill>
              <a:prstDash val="solid"/>
              <a:round/>
              <a:headEnd type="none" w="med" len="med"/>
              <a:tailEnd type="triangle" w="med" len="med"/>
            </a:ln>
          </p:spPr>
        </p:sp>
        <p:sp>
          <p:nvSpPr>
            <p:cNvPr id="46092" name="Line 34"/>
            <p:cNvSpPr/>
            <p:nvPr/>
          </p:nvSpPr>
          <p:spPr>
            <a:xfrm>
              <a:off x="3470" y="3521"/>
              <a:ext cx="544" cy="0"/>
            </a:xfrm>
            <a:prstGeom prst="line">
              <a:avLst/>
            </a:prstGeom>
            <a:ln w="9525" cap="flat" cmpd="sng">
              <a:solidFill>
                <a:schemeClr val="tx1"/>
              </a:solidFill>
              <a:prstDash val="solid"/>
              <a:round/>
              <a:headEnd type="none" w="med" len="med"/>
              <a:tailEnd type="triangle" w="med" len="med"/>
            </a:ln>
          </p:spPr>
        </p:sp>
        <p:graphicFrame>
          <p:nvGraphicFramePr>
            <p:cNvPr id="46093" name="Object 35"/>
            <p:cNvGraphicFramePr>
              <a:graphicFrameLocks noChangeAspect="1"/>
            </p:cNvGraphicFramePr>
            <p:nvPr/>
          </p:nvGraphicFramePr>
          <p:xfrm>
            <a:off x="930" y="3203"/>
            <a:ext cx="454" cy="301"/>
          </p:xfrm>
          <a:graphic>
            <a:graphicData uri="http://schemas.openxmlformats.org/presentationml/2006/ole">
              <mc:AlternateContent xmlns:mc="http://schemas.openxmlformats.org/markup-compatibility/2006">
                <mc:Choice xmlns:v="urn:schemas-microsoft-com:vml" Requires="v">
                  <p:oleObj spid="_x0000_s3103" name="" r:id="rId9" imgW="317500" imgH="228600" progId="Equation.3">
                    <p:embed/>
                  </p:oleObj>
                </mc:Choice>
                <mc:Fallback>
                  <p:oleObj name="" r:id="rId9" imgW="317500" imgH="228600" progId="Equation.3">
                    <p:embed/>
                    <p:pic>
                      <p:nvPicPr>
                        <p:cNvPr id="0" name="图片 3102"/>
                        <p:cNvPicPr/>
                        <p:nvPr/>
                      </p:nvPicPr>
                      <p:blipFill>
                        <a:blip r:embed="rId10"/>
                        <a:stretch>
                          <a:fillRect/>
                        </a:stretch>
                      </p:blipFill>
                      <p:spPr>
                        <a:xfrm>
                          <a:off x="930" y="3203"/>
                          <a:ext cx="454" cy="301"/>
                        </a:xfrm>
                        <a:prstGeom prst="rect">
                          <a:avLst/>
                        </a:prstGeom>
                        <a:noFill/>
                        <a:ln w="38100">
                          <a:noFill/>
                          <a:miter/>
                        </a:ln>
                      </p:spPr>
                    </p:pic>
                  </p:oleObj>
                </mc:Fallback>
              </mc:AlternateContent>
            </a:graphicData>
          </a:graphic>
        </p:graphicFrame>
        <p:graphicFrame>
          <p:nvGraphicFramePr>
            <p:cNvPr id="46094" name="Object 36"/>
            <p:cNvGraphicFramePr>
              <a:graphicFrameLocks noChangeAspect="1"/>
            </p:cNvGraphicFramePr>
            <p:nvPr/>
          </p:nvGraphicFramePr>
          <p:xfrm>
            <a:off x="3572" y="3158"/>
            <a:ext cx="489" cy="309"/>
          </p:xfrm>
          <a:graphic>
            <a:graphicData uri="http://schemas.openxmlformats.org/presentationml/2006/ole">
              <mc:AlternateContent xmlns:mc="http://schemas.openxmlformats.org/markup-compatibility/2006">
                <mc:Choice xmlns:v="urn:schemas-microsoft-com:vml" Requires="v">
                  <p:oleObj spid="_x0000_s3104" name="" r:id="rId11" imgW="254000" imgH="190500" progId="Equation.3">
                    <p:embed/>
                  </p:oleObj>
                </mc:Choice>
                <mc:Fallback>
                  <p:oleObj name="" r:id="rId11" imgW="254000" imgH="190500" progId="Equation.3">
                    <p:embed/>
                    <p:pic>
                      <p:nvPicPr>
                        <p:cNvPr id="0" name="图片 3103"/>
                        <p:cNvPicPr/>
                        <p:nvPr/>
                      </p:nvPicPr>
                      <p:blipFill>
                        <a:blip r:embed="rId12"/>
                        <a:stretch>
                          <a:fillRect/>
                        </a:stretch>
                      </p:blipFill>
                      <p:spPr>
                        <a:xfrm>
                          <a:off x="3572" y="3158"/>
                          <a:ext cx="489" cy="309"/>
                        </a:xfrm>
                        <a:prstGeom prst="rect">
                          <a:avLst/>
                        </a:prstGeom>
                        <a:noFill/>
                        <a:ln w="38100">
                          <a:noFill/>
                          <a:miter/>
                        </a:ln>
                      </p:spPr>
                    </p:pic>
                  </p:oleObj>
                </mc:Fallback>
              </mc:AlternateContent>
            </a:graphicData>
          </a:graphic>
        </p:graphicFrame>
        <p:graphicFrame>
          <p:nvGraphicFramePr>
            <p:cNvPr id="46095" name="Object 38"/>
            <p:cNvGraphicFramePr>
              <a:graphicFrameLocks noChangeAspect="1"/>
            </p:cNvGraphicFramePr>
            <p:nvPr/>
          </p:nvGraphicFramePr>
          <p:xfrm>
            <a:off x="3572" y="3521"/>
            <a:ext cx="538" cy="309"/>
          </p:xfrm>
          <a:graphic>
            <a:graphicData uri="http://schemas.openxmlformats.org/presentationml/2006/ole">
              <mc:AlternateContent xmlns:mc="http://schemas.openxmlformats.org/markup-compatibility/2006">
                <mc:Choice xmlns:v="urn:schemas-microsoft-com:vml" Requires="v">
                  <p:oleObj spid="_x0000_s3105" name="" r:id="rId13" imgW="279400" imgH="190500" progId="Equation.3">
                    <p:embed/>
                  </p:oleObj>
                </mc:Choice>
                <mc:Fallback>
                  <p:oleObj name="" r:id="rId13" imgW="279400" imgH="190500" progId="Equation.3">
                    <p:embed/>
                    <p:pic>
                      <p:nvPicPr>
                        <p:cNvPr id="0" name="图片 3104"/>
                        <p:cNvPicPr/>
                        <p:nvPr/>
                      </p:nvPicPr>
                      <p:blipFill>
                        <a:blip r:embed="rId14"/>
                        <a:stretch>
                          <a:fillRect/>
                        </a:stretch>
                      </p:blipFill>
                      <p:spPr>
                        <a:xfrm>
                          <a:off x="3572" y="3521"/>
                          <a:ext cx="538" cy="309"/>
                        </a:xfrm>
                        <a:prstGeom prst="rect">
                          <a:avLst/>
                        </a:prstGeom>
                        <a:noFill/>
                        <a:ln w="38100">
                          <a:noFill/>
                          <a:miter/>
                        </a:ln>
                      </p:spPr>
                    </p:pic>
                  </p:oleObj>
                </mc:Fallback>
              </mc:AlternateContent>
            </a:graphicData>
          </a:graphic>
        </p:graphicFrame>
        <p:graphicFrame>
          <p:nvGraphicFramePr>
            <p:cNvPr id="46096" name="Object 39"/>
            <p:cNvGraphicFramePr>
              <a:graphicFrameLocks noChangeAspect="1"/>
            </p:cNvGraphicFramePr>
            <p:nvPr/>
          </p:nvGraphicFramePr>
          <p:xfrm>
            <a:off x="930" y="3566"/>
            <a:ext cx="499" cy="328"/>
          </p:xfrm>
          <a:graphic>
            <a:graphicData uri="http://schemas.openxmlformats.org/presentationml/2006/ole">
              <mc:AlternateContent xmlns:mc="http://schemas.openxmlformats.org/markup-compatibility/2006">
                <mc:Choice xmlns:v="urn:schemas-microsoft-com:vml" Requires="v">
                  <p:oleObj spid="_x0000_s3096" name="" r:id="rId15" imgW="266700" imgH="190500" progId="Equation.3">
                    <p:embed/>
                  </p:oleObj>
                </mc:Choice>
                <mc:Fallback>
                  <p:oleObj name="" r:id="rId15" imgW="266700" imgH="190500" progId="Equation.3">
                    <p:embed/>
                    <p:pic>
                      <p:nvPicPr>
                        <p:cNvPr id="0" name="图片 3095"/>
                        <p:cNvPicPr/>
                        <p:nvPr/>
                      </p:nvPicPr>
                      <p:blipFill>
                        <a:blip r:embed="rId16"/>
                        <a:stretch>
                          <a:fillRect/>
                        </a:stretch>
                      </p:blipFill>
                      <p:spPr>
                        <a:xfrm>
                          <a:off x="930" y="3566"/>
                          <a:ext cx="499" cy="328"/>
                        </a:xfrm>
                        <a:prstGeom prst="rect">
                          <a:avLst/>
                        </a:prstGeom>
                        <a:noFill/>
                        <a:ln w="38100">
                          <a:noFill/>
                          <a:miter/>
                        </a:ln>
                      </p:spPr>
                    </p:pic>
                  </p:oleObj>
                </mc:Fallback>
              </mc:AlternateContent>
            </a:graphicData>
          </a:graphic>
        </p:graphicFrame>
      </p:grpSp>
      <p:grpSp>
        <p:nvGrpSpPr>
          <p:cNvPr id="25" name="组合 24"/>
          <p:cNvGrpSpPr/>
          <p:nvPr/>
        </p:nvGrpSpPr>
        <p:grpSpPr>
          <a:xfrm>
            <a:off x="1249363" y="5062538"/>
            <a:ext cx="7242175" cy="793750"/>
            <a:chOff x="5665" y="1642"/>
            <a:chExt cx="9883" cy="1013"/>
          </a:xfrm>
        </p:grpSpPr>
        <p:sp>
          <p:nvSpPr>
            <p:cNvPr id="46098" name="Rectangle 15"/>
            <p:cNvSpPr/>
            <p:nvPr/>
          </p:nvSpPr>
          <p:spPr>
            <a:xfrm>
              <a:off x="13144" y="1975"/>
              <a:ext cx="926" cy="68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6099" name="Rectangle 15"/>
            <p:cNvSpPr/>
            <p:nvPr/>
          </p:nvSpPr>
          <p:spPr>
            <a:xfrm>
              <a:off x="7251" y="1934"/>
              <a:ext cx="1057" cy="68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grpSp>
          <p:nvGrpSpPr>
            <p:cNvPr id="46100" name="Group 27"/>
            <p:cNvGrpSpPr/>
            <p:nvPr/>
          </p:nvGrpSpPr>
          <p:grpSpPr>
            <a:xfrm>
              <a:off x="5665" y="1642"/>
              <a:ext cx="9883" cy="1012"/>
              <a:chOff x="688" y="723"/>
              <a:chExt cx="3682" cy="405"/>
            </a:xfrm>
          </p:grpSpPr>
          <p:grpSp>
            <p:nvGrpSpPr>
              <p:cNvPr id="46101" name="Group 14"/>
              <p:cNvGrpSpPr/>
              <p:nvPr/>
            </p:nvGrpSpPr>
            <p:grpSpPr>
              <a:xfrm>
                <a:off x="1274" y="839"/>
                <a:ext cx="1760" cy="289"/>
                <a:chOff x="329" y="1202"/>
                <a:chExt cx="1644" cy="289"/>
              </a:xfrm>
            </p:grpSpPr>
            <p:sp>
              <p:nvSpPr>
                <p:cNvPr id="46102" name="Rectangle 15"/>
                <p:cNvSpPr/>
                <p:nvPr/>
              </p:nvSpPr>
              <p:spPr>
                <a:xfrm>
                  <a:off x="1076" y="1202"/>
                  <a:ext cx="897" cy="289"/>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6103" name="Text Box 16"/>
                <p:cNvSpPr txBox="1"/>
                <p:nvPr/>
              </p:nvSpPr>
              <p:spPr>
                <a:xfrm>
                  <a:off x="329" y="1202"/>
                  <a:ext cx="525" cy="235"/>
                </a:xfrm>
                <a:prstGeom prst="rect">
                  <a:avLst/>
                </a:prstGeom>
                <a:noFill/>
                <a:ln w="9525">
                  <a:noFill/>
                </a:ln>
              </p:spPr>
              <p:txBody>
                <a:bodyPr anchor="t" anchorCtr="0">
                  <a:spAutoFit/>
                </a:bodyPr>
                <a:p>
                  <a:r>
                    <a:rPr lang="en-US" altLang="zh-CN" b="1" dirty="0">
                      <a:latin typeface="Times New Roman" panose="02020603050405020304" pitchFamily="18" charset="0"/>
                      <a:ea typeface="宋体" panose="02010600030101010101" pitchFamily="2" charset="-122"/>
                    </a:rPr>
                    <a:t> A/D</a:t>
                  </a:r>
                  <a:endParaRPr lang="en-US" altLang="zh-CN" b="1" dirty="0">
                    <a:latin typeface="Times New Roman" panose="02020603050405020304" pitchFamily="18" charset="0"/>
                    <a:ea typeface="宋体" panose="02010600030101010101" pitchFamily="2" charset="-122"/>
                  </a:endParaRPr>
                </a:p>
              </p:txBody>
            </p:sp>
          </p:grpSp>
          <p:sp>
            <p:nvSpPr>
              <p:cNvPr id="46104" name="Line 18"/>
              <p:cNvSpPr/>
              <p:nvPr/>
            </p:nvSpPr>
            <p:spPr>
              <a:xfrm flipV="1">
                <a:off x="1672" y="956"/>
                <a:ext cx="403" cy="0"/>
              </a:xfrm>
              <a:prstGeom prst="line">
                <a:avLst/>
              </a:prstGeom>
              <a:ln w="9525" cap="flat" cmpd="sng">
                <a:solidFill>
                  <a:schemeClr val="tx1"/>
                </a:solidFill>
                <a:prstDash val="solid"/>
                <a:round/>
                <a:headEnd type="none" w="med" len="med"/>
                <a:tailEnd type="triangle" w="med" len="med"/>
              </a:ln>
            </p:spPr>
          </p:sp>
          <p:sp>
            <p:nvSpPr>
              <p:cNvPr id="46105" name="Line 20"/>
              <p:cNvSpPr/>
              <p:nvPr/>
            </p:nvSpPr>
            <p:spPr>
              <a:xfrm>
                <a:off x="3035" y="981"/>
                <a:ext cx="418" cy="8"/>
              </a:xfrm>
              <a:prstGeom prst="line">
                <a:avLst/>
              </a:prstGeom>
              <a:ln w="9525" cap="flat" cmpd="sng">
                <a:solidFill>
                  <a:schemeClr val="tx1"/>
                </a:solidFill>
                <a:prstDash val="solid"/>
                <a:round/>
                <a:headEnd type="none" w="med" len="med"/>
                <a:tailEnd type="triangle" w="med" len="med"/>
              </a:ln>
            </p:spPr>
          </p:sp>
          <p:graphicFrame>
            <p:nvGraphicFramePr>
              <p:cNvPr id="46106" name="Object 23"/>
              <p:cNvGraphicFramePr>
                <a:graphicFrameLocks noChangeAspect="1"/>
              </p:cNvGraphicFramePr>
              <p:nvPr/>
            </p:nvGraphicFramePr>
            <p:xfrm>
              <a:off x="688" y="818"/>
              <a:ext cx="323" cy="256"/>
            </p:xfrm>
            <a:graphic>
              <a:graphicData uri="http://schemas.openxmlformats.org/presentationml/2006/ole">
                <mc:AlternateContent xmlns:mc="http://schemas.openxmlformats.org/markup-compatibility/2006">
                  <mc:Choice xmlns:v="urn:schemas-microsoft-com:vml" Requires="v">
                    <p:oleObj spid="_x0000_s3106" name="" r:id="rId17" imgW="241300" imgH="190500" progId="Equation.3">
                      <p:embed/>
                    </p:oleObj>
                  </mc:Choice>
                  <mc:Fallback>
                    <p:oleObj name="" r:id="rId17" imgW="241300" imgH="190500" progId="Equation.3">
                      <p:embed/>
                      <p:pic>
                        <p:nvPicPr>
                          <p:cNvPr id="0" name="图片 3105"/>
                          <p:cNvPicPr/>
                          <p:nvPr/>
                        </p:nvPicPr>
                        <p:blipFill>
                          <a:blip r:embed="rId18"/>
                          <a:stretch>
                            <a:fillRect/>
                          </a:stretch>
                        </p:blipFill>
                        <p:spPr>
                          <a:xfrm>
                            <a:off x="688" y="818"/>
                            <a:ext cx="323" cy="256"/>
                          </a:xfrm>
                          <a:prstGeom prst="rect">
                            <a:avLst/>
                          </a:prstGeom>
                          <a:noFill/>
                          <a:ln w="38100">
                            <a:noFill/>
                            <a:miter/>
                          </a:ln>
                        </p:spPr>
                      </p:pic>
                    </p:oleObj>
                  </mc:Fallback>
                </mc:AlternateContent>
              </a:graphicData>
            </a:graphic>
          </p:graphicFrame>
          <p:graphicFrame>
            <p:nvGraphicFramePr>
              <p:cNvPr id="46107" name="Object 24"/>
              <p:cNvGraphicFramePr>
                <a:graphicFrameLocks noChangeAspect="1"/>
              </p:cNvGraphicFramePr>
              <p:nvPr/>
            </p:nvGraphicFramePr>
            <p:xfrm>
              <a:off x="1724" y="739"/>
              <a:ext cx="352" cy="226"/>
            </p:xfrm>
            <a:graphic>
              <a:graphicData uri="http://schemas.openxmlformats.org/presentationml/2006/ole">
                <mc:AlternateContent xmlns:mc="http://schemas.openxmlformats.org/markup-compatibility/2006">
                  <mc:Choice xmlns:v="urn:schemas-microsoft-com:vml" Requires="v">
                    <p:oleObj spid="_x0000_s3107" name="" r:id="rId19" imgW="316865" imgH="203200" progId="Equation.3">
                      <p:embed/>
                    </p:oleObj>
                  </mc:Choice>
                  <mc:Fallback>
                    <p:oleObj name="" r:id="rId19" imgW="316865" imgH="203200" progId="Equation.3">
                      <p:embed/>
                      <p:pic>
                        <p:nvPicPr>
                          <p:cNvPr id="0" name="图片 3106"/>
                          <p:cNvPicPr/>
                          <p:nvPr/>
                        </p:nvPicPr>
                        <p:blipFill>
                          <a:blip r:embed="rId20"/>
                          <a:stretch>
                            <a:fillRect/>
                          </a:stretch>
                        </p:blipFill>
                        <p:spPr>
                          <a:xfrm>
                            <a:off x="1724" y="739"/>
                            <a:ext cx="352" cy="226"/>
                          </a:xfrm>
                          <a:prstGeom prst="rect">
                            <a:avLst/>
                          </a:prstGeom>
                          <a:noFill/>
                          <a:ln w="38100">
                            <a:noFill/>
                            <a:miter/>
                          </a:ln>
                        </p:spPr>
                      </p:pic>
                    </p:oleObj>
                  </mc:Fallback>
                </mc:AlternateContent>
              </a:graphicData>
            </a:graphic>
          </p:graphicFrame>
          <p:graphicFrame>
            <p:nvGraphicFramePr>
              <p:cNvPr id="46108" name="Object 25"/>
              <p:cNvGraphicFramePr>
                <a:graphicFrameLocks noChangeAspect="1"/>
              </p:cNvGraphicFramePr>
              <p:nvPr/>
            </p:nvGraphicFramePr>
            <p:xfrm>
              <a:off x="4056" y="875"/>
              <a:ext cx="314" cy="236"/>
            </p:xfrm>
            <a:graphic>
              <a:graphicData uri="http://schemas.openxmlformats.org/presentationml/2006/ole">
                <mc:AlternateContent xmlns:mc="http://schemas.openxmlformats.org/markup-compatibility/2006">
                  <mc:Choice xmlns:v="urn:schemas-microsoft-com:vml" Requires="v">
                    <p:oleObj spid="_x0000_s3108" name="" r:id="rId21" imgW="254000" imgH="190500" progId="Equation.3">
                      <p:embed/>
                    </p:oleObj>
                  </mc:Choice>
                  <mc:Fallback>
                    <p:oleObj name="" r:id="rId21" imgW="254000" imgH="190500" progId="Equation.3">
                      <p:embed/>
                      <p:pic>
                        <p:nvPicPr>
                          <p:cNvPr id="0" name="图片 3107"/>
                          <p:cNvPicPr/>
                          <p:nvPr/>
                        </p:nvPicPr>
                        <p:blipFill>
                          <a:blip r:embed="rId22"/>
                          <a:stretch>
                            <a:fillRect/>
                          </a:stretch>
                        </p:blipFill>
                        <p:spPr>
                          <a:xfrm>
                            <a:off x="4056" y="875"/>
                            <a:ext cx="314" cy="236"/>
                          </a:xfrm>
                          <a:prstGeom prst="rect">
                            <a:avLst/>
                          </a:prstGeom>
                          <a:noFill/>
                          <a:ln w="38100">
                            <a:noFill/>
                            <a:miter/>
                          </a:ln>
                        </p:spPr>
                      </p:pic>
                    </p:oleObj>
                  </mc:Fallback>
                </mc:AlternateContent>
              </a:graphicData>
            </a:graphic>
          </p:graphicFrame>
          <p:graphicFrame>
            <p:nvGraphicFramePr>
              <p:cNvPr id="46109" name="Object 26"/>
              <p:cNvGraphicFramePr>
                <a:graphicFrameLocks noChangeAspect="1"/>
              </p:cNvGraphicFramePr>
              <p:nvPr/>
            </p:nvGraphicFramePr>
            <p:xfrm>
              <a:off x="3068" y="723"/>
              <a:ext cx="378" cy="258"/>
            </p:xfrm>
            <a:graphic>
              <a:graphicData uri="http://schemas.openxmlformats.org/presentationml/2006/ole">
                <mc:AlternateContent xmlns:mc="http://schemas.openxmlformats.org/markup-compatibility/2006">
                  <mc:Choice xmlns:v="urn:schemas-microsoft-com:vml" Requires="v">
                    <p:oleObj spid="_x0000_s3109" name="" r:id="rId23" imgW="279400" imgH="190500" progId="Equation.3">
                      <p:embed/>
                    </p:oleObj>
                  </mc:Choice>
                  <mc:Fallback>
                    <p:oleObj name="" r:id="rId23" imgW="279400" imgH="190500" progId="Equation.3">
                      <p:embed/>
                      <p:pic>
                        <p:nvPicPr>
                          <p:cNvPr id="0" name="图片 3108"/>
                          <p:cNvPicPr/>
                          <p:nvPr/>
                        </p:nvPicPr>
                        <p:blipFill>
                          <a:blip r:embed="rId24"/>
                          <a:stretch>
                            <a:fillRect/>
                          </a:stretch>
                        </p:blipFill>
                        <p:spPr>
                          <a:xfrm>
                            <a:off x="3068" y="723"/>
                            <a:ext cx="378" cy="258"/>
                          </a:xfrm>
                          <a:prstGeom prst="rect">
                            <a:avLst/>
                          </a:prstGeom>
                          <a:noFill/>
                          <a:ln w="38100">
                            <a:noFill/>
                            <a:miter/>
                          </a:ln>
                        </p:spPr>
                      </p:pic>
                    </p:oleObj>
                  </mc:Fallback>
                </mc:AlternateContent>
              </a:graphicData>
            </a:graphic>
          </p:graphicFrame>
        </p:grpSp>
        <p:sp>
          <p:nvSpPr>
            <p:cNvPr id="46110" name="Text Box 16"/>
            <p:cNvSpPr txBox="1"/>
            <p:nvPr/>
          </p:nvSpPr>
          <p:spPr>
            <a:xfrm>
              <a:off x="9391" y="1980"/>
              <a:ext cx="2664" cy="587"/>
            </a:xfrm>
            <a:prstGeom prst="rect">
              <a:avLst/>
            </a:prstGeom>
            <a:noFill/>
            <a:ln w="9525">
              <a:noFill/>
            </a:ln>
          </p:spPr>
          <p:txBody>
            <a:bodyPr anchor="t" anchorCtr="0">
              <a:spAutoFit/>
            </a:bodyPr>
            <a:p>
              <a:r>
                <a:rPr lang="en-US" altLang="zh-CN" b="1"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离散时间系统</a:t>
              </a:r>
              <a:endParaRPr lang="zh-CN" altLang="en-US" sz="2000" b="1" dirty="0">
                <a:latin typeface="Times New Roman" panose="02020603050405020304" pitchFamily="18" charset="0"/>
                <a:ea typeface="宋体" panose="02010600030101010101" pitchFamily="2" charset="-122"/>
              </a:endParaRPr>
            </a:p>
          </p:txBody>
        </p:sp>
        <p:sp>
          <p:nvSpPr>
            <p:cNvPr id="46111" name="Text Box 16"/>
            <p:cNvSpPr txBox="1"/>
            <p:nvPr/>
          </p:nvSpPr>
          <p:spPr>
            <a:xfrm>
              <a:off x="12991" y="2027"/>
              <a:ext cx="1509" cy="587"/>
            </a:xfrm>
            <a:prstGeom prst="rect">
              <a:avLst/>
            </a:prstGeom>
            <a:noFill/>
            <a:ln w="9525">
              <a:noFill/>
            </a:ln>
          </p:spPr>
          <p:txBody>
            <a:bodyPr anchor="t" anchorCtr="0">
              <a:spAutoFit/>
            </a:bodyPr>
            <a:p>
              <a:r>
                <a:rPr lang="en-US" altLang="zh-CN" b="1" dirty="0">
                  <a:latin typeface="Times New Roman" panose="02020603050405020304" pitchFamily="18" charset="0"/>
                  <a:ea typeface="宋体" panose="02010600030101010101" pitchFamily="2" charset="-122"/>
                </a:rPr>
                <a:t> D/A</a:t>
              </a:r>
              <a:endParaRPr lang="en-US" altLang="zh-CN" b="1" dirty="0">
                <a:latin typeface="Times New Roman" panose="02020603050405020304" pitchFamily="18" charset="0"/>
                <a:ea typeface="宋体" panose="02010600030101010101" pitchFamily="2" charset="-122"/>
              </a:endParaRPr>
            </a:p>
          </p:txBody>
        </p:sp>
        <p:sp>
          <p:nvSpPr>
            <p:cNvPr id="46112" name="Line 20"/>
            <p:cNvSpPr/>
            <p:nvPr/>
          </p:nvSpPr>
          <p:spPr>
            <a:xfrm>
              <a:off x="14070" y="2315"/>
              <a:ext cx="636" cy="0"/>
            </a:xfrm>
            <a:prstGeom prst="line">
              <a:avLst/>
            </a:prstGeom>
            <a:ln w="9525" cap="flat" cmpd="sng">
              <a:solidFill>
                <a:schemeClr val="tx1"/>
              </a:solidFill>
              <a:prstDash val="solid"/>
              <a:round/>
              <a:headEnd type="none" w="med" len="med"/>
              <a:tailEnd type="triangle" w="med" len="med"/>
            </a:ln>
          </p:spPr>
        </p:sp>
        <p:sp>
          <p:nvSpPr>
            <p:cNvPr id="46113" name="Line 18"/>
            <p:cNvSpPr/>
            <p:nvPr/>
          </p:nvSpPr>
          <p:spPr>
            <a:xfrm flipV="1">
              <a:off x="6532" y="2226"/>
              <a:ext cx="721" cy="1"/>
            </a:xfrm>
            <a:prstGeom prst="line">
              <a:avLst/>
            </a:prstGeom>
            <a:ln w="9525" cap="flat" cmpd="sng">
              <a:solidFill>
                <a:schemeClr val="tx1"/>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0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0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63" grpId="0"/>
      <p:bldP spid="87064" grpId="0"/>
      <p:bldP spid="2255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Text Box 4"/>
          <p:cNvSpPr txBox="1"/>
          <p:nvPr/>
        </p:nvSpPr>
        <p:spPr>
          <a:xfrm>
            <a:off x="468313" y="260350"/>
            <a:ext cx="3311525" cy="523875"/>
          </a:xfrm>
          <a:prstGeom prst="rect">
            <a:avLst/>
          </a:prstGeom>
          <a:noFill/>
          <a:ln w="9525">
            <a:noFill/>
          </a:ln>
        </p:spPr>
        <p:txBody>
          <a:bodyPr anchor="t" anchorCtr="0">
            <a:spAutoFit/>
          </a:bodyPr>
          <a:p>
            <a:r>
              <a:rPr lang="en-US" altLang="zh-CN" sz="2800" b="1" dirty="0">
                <a:solidFill>
                  <a:srgbClr val="FF0000"/>
                </a:solidFill>
                <a:latin typeface="宋体" panose="02010600030101010101" pitchFamily="2" charset="-122"/>
                <a:ea typeface="宋体" panose="02010600030101010101" pitchFamily="2" charset="-122"/>
              </a:rPr>
              <a:t>4 系统的互联</a:t>
            </a:r>
            <a:endParaRPr lang="en-US" altLang="zh-CN" sz="2800" b="1" dirty="0">
              <a:solidFill>
                <a:srgbClr val="FF0000"/>
              </a:solidFill>
              <a:latin typeface="宋体" panose="02010600030101010101" pitchFamily="2" charset="-122"/>
              <a:ea typeface="宋体" panose="02010600030101010101" pitchFamily="2" charset="-122"/>
            </a:endParaRPr>
          </a:p>
        </p:txBody>
      </p:sp>
      <p:sp>
        <p:nvSpPr>
          <p:cNvPr id="80901" name="Text Box 5"/>
          <p:cNvSpPr txBox="1"/>
          <p:nvPr/>
        </p:nvSpPr>
        <p:spPr>
          <a:xfrm>
            <a:off x="611188" y="981075"/>
            <a:ext cx="1098550" cy="457200"/>
          </a:xfrm>
          <a:prstGeom prst="rect">
            <a:avLst/>
          </a:prstGeom>
          <a:noFill/>
          <a:ln w="9525">
            <a:noFill/>
          </a:ln>
        </p:spPr>
        <p:txBody>
          <a:bodyPr wrap="none" anchor="t" anchorCtr="0">
            <a:spAutoFit/>
          </a:bodyPr>
          <a:p>
            <a:r>
              <a:rPr lang="en-US" altLang="zh-CN" dirty="0">
                <a:latin typeface="Times New Roman" panose="02020603050405020304" pitchFamily="18" charset="0"/>
                <a:ea typeface="宋体" panose="02010600030101010101" pitchFamily="2" charset="-122"/>
              </a:rPr>
              <a:t>1. </a:t>
            </a:r>
            <a:r>
              <a:rPr lang="zh-CN" altLang="en-US" dirty="0">
                <a:solidFill>
                  <a:srgbClr val="0000FF"/>
                </a:solidFill>
                <a:latin typeface="Times New Roman" panose="02020603050405020304" pitchFamily="18" charset="0"/>
                <a:ea typeface="宋体" panose="02010600030101010101" pitchFamily="2" charset="-122"/>
              </a:rPr>
              <a:t>级联</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80902" name="Text Box 6"/>
          <p:cNvSpPr txBox="1"/>
          <p:nvPr/>
        </p:nvSpPr>
        <p:spPr>
          <a:xfrm>
            <a:off x="684213" y="2781300"/>
            <a:ext cx="1098550" cy="457200"/>
          </a:xfrm>
          <a:prstGeom prst="rect">
            <a:avLst/>
          </a:prstGeom>
          <a:noFill/>
          <a:ln w="9525">
            <a:noFill/>
          </a:ln>
        </p:spPr>
        <p:txBody>
          <a:bodyPr wrap="none" anchor="t" anchorCtr="0">
            <a:spAutoFit/>
          </a:bodyPr>
          <a:p>
            <a:r>
              <a:rPr lang="en-US" altLang="zh-CN" dirty="0">
                <a:latin typeface="Times New Roman" panose="02020603050405020304" pitchFamily="18" charset="0"/>
                <a:ea typeface="宋体" panose="02010600030101010101" pitchFamily="2" charset="-122"/>
              </a:rPr>
              <a:t>2. </a:t>
            </a:r>
            <a:r>
              <a:rPr lang="zh-CN" altLang="en-US" dirty="0">
                <a:solidFill>
                  <a:srgbClr val="0000FF"/>
                </a:solidFill>
                <a:latin typeface="Times New Roman" panose="02020603050405020304" pitchFamily="18" charset="0"/>
                <a:ea typeface="宋体" panose="02010600030101010101" pitchFamily="2" charset="-122"/>
              </a:rPr>
              <a:t>并联</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80903" name="Text Box 7"/>
          <p:cNvSpPr txBox="1"/>
          <p:nvPr/>
        </p:nvSpPr>
        <p:spPr>
          <a:xfrm>
            <a:off x="611188" y="4797425"/>
            <a:ext cx="1706562" cy="457200"/>
          </a:xfrm>
          <a:prstGeom prst="rect">
            <a:avLst/>
          </a:prstGeom>
          <a:noFill/>
          <a:ln w="9525">
            <a:noFill/>
          </a:ln>
        </p:spPr>
        <p:txBody>
          <a:bodyPr wrap="none" anchor="t" anchorCtr="0">
            <a:spAutoFit/>
          </a:bodyPr>
          <a:p>
            <a:r>
              <a:rPr lang="en-US" altLang="zh-CN" dirty="0">
                <a:latin typeface="Times New Roman" panose="02020603050405020304" pitchFamily="18" charset="0"/>
                <a:ea typeface="宋体" panose="02010600030101010101" pitchFamily="2" charset="-122"/>
              </a:rPr>
              <a:t>3. </a:t>
            </a:r>
            <a:r>
              <a:rPr lang="zh-CN" altLang="en-US" dirty="0">
                <a:solidFill>
                  <a:srgbClr val="0000FF"/>
                </a:solidFill>
                <a:latin typeface="Times New Roman" panose="02020603050405020304" pitchFamily="18" charset="0"/>
                <a:ea typeface="宋体" panose="02010600030101010101" pitchFamily="2" charset="-122"/>
              </a:rPr>
              <a:t>反馈联结</a:t>
            </a:r>
            <a:endParaRPr lang="zh-CN" altLang="en-US" dirty="0">
              <a:solidFill>
                <a:srgbClr val="0000FF"/>
              </a:solidFill>
              <a:latin typeface="Times New Roman" panose="02020603050405020304" pitchFamily="18" charset="0"/>
              <a:ea typeface="宋体" panose="02010600030101010101" pitchFamily="2" charset="-122"/>
            </a:endParaRPr>
          </a:p>
        </p:txBody>
      </p:sp>
      <p:grpSp>
        <p:nvGrpSpPr>
          <p:cNvPr id="2" name="Group 77"/>
          <p:cNvGrpSpPr/>
          <p:nvPr/>
        </p:nvGrpSpPr>
        <p:grpSpPr>
          <a:xfrm>
            <a:off x="684213" y="1412875"/>
            <a:ext cx="7343775" cy="746125"/>
            <a:chOff x="567" y="1071"/>
            <a:chExt cx="4427" cy="470"/>
          </a:xfrm>
        </p:grpSpPr>
        <p:grpSp>
          <p:nvGrpSpPr>
            <p:cNvPr id="47110" name="Group 11"/>
            <p:cNvGrpSpPr/>
            <p:nvPr/>
          </p:nvGrpSpPr>
          <p:grpSpPr>
            <a:xfrm>
              <a:off x="1066" y="1253"/>
              <a:ext cx="635" cy="288"/>
              <a:chOff x="1066" y="1253"/>
              <a:chExt cx="635" cy="288"/>
            </a:xfrm>
          </p:grpSpPr>
          <p:sp>
            <p:nvSpPr>
              <p:cNvPr id="47111" name="Rectangle 8"/>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7112" name="Text Box 9"/>
              <p:cNvSpPr txBox="1"/>
              <p:nvPr/>
            </p:nvSpPr>
            <p:spPr>
              <a:xfrm>
                <a:off x="1066" y="1253"/>
                <a:ext cx="618" cy="288"/>
              </a:xfrm>
              <a:prstGeom prst="rect">
                <a:avLst/>
              </a:prstGeom>
              <a:noFill/>
              <a:ln w="9525">
                <a:noFill/>
              </a:ln>
            </p:spPr>
            <p:txBody>
              <a:bodyPr wrap="none" anchor="t" anchorCtr="0">
                <a:spAutoFit/>
              </a:bodyPr>
              <a:p>
                <a:r>
                  <a:rPr lang="zh-CN" altLang="en-US" b="1" dirty="0">
                    <a:latin typeface="Times New Roman" panose="02020603050405020304" pitchFamily="18" charset="0"/>
                    <a:ea typeface="宋体" panose="02010600030101010101" pitchFamily="2" charset="-122"/>
                  </a:rPr>
                  <a:t>系统 </a:t>
                </a:r>
                <a:r>
                  <a:rPr lang="en-US" altLang="zh-CN" b="1" dirty="0">
                    <a:latin typeface="Times New Roman" panose="02020603050405020304" pitchFamily="18" charset="0"/>
                    <a:ea typeface="宋体" panose="02010600030101010101" pitchFamily="2" charset="-122"/>
                  </a:rPr>
                  <a:t>1</a:t>
                </a:r>
                <a:endParaRPr lang="en-US" altLang="zh-CN" b="1" dirty="0">
                  <a:latin typeface="Times New Roman" panose="02020603050405020304" pitchFamily="18" charset="0"/>
                  <a:ea typeface="宋体" panose="02010600030101010101" pitchFamily="2" charset="-122"/>
                </a:endParaRPr>
              </a:p>
            </p:txBody>
          </p:sp>
        </p:grpSp>
        <p:grpSp>
          <p:nvGrpSpPr>
            <p:cNvPr id="47113" name="Group 12"/>
            <p:cNvGrpSpPr/>
            <p:nvPr/>
          </p:nvGrpSpPr>
          <p:grpSpPr>
            <a:xfrm>
              <a:off x="2109" y="1253"/>
              <a:ext cx="635" cy="288"/>
              <a:chOff x="1066" y="1253"/>
              <a:chExt cx="635" cy="288"/>
            </a:xfrm>
          </p:grpSpPr>
          <p:sp>
            <p:nvSpPr>
              <p:cNvPr id="47114" name="Rectangle 13"/>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7115" name="Text Box 14"/>
              <p:cNvSpPr txBox="1"/>
              <p:nvPr/>
            </p:nvSpPr>
            <p:spPr>
              <a:xfrm>
                <a:off x="1066" y="1253"/>
                <a:ext cx="618" cy="288"/>
              </a:xfrm>
              <a:prstGeom prst="rect">
                <a:avLst/>
              </a:prstGeom>
              <a:noFill/>
              <a:ln w="9525">
                <a:noFill/>
              </a:ln>
            </p:spPr>
            <p:txBody>
              <a:bodyPr wrap="none" anchor="t" anchorCtr="0">
                <a:spAutoFit/>
              </a:bodyPr>
              <a:p>
                <a:r>
                  <a:rPr lang="zh-CN" altLang="en-US" b="1" dirty="0">
                    <a:latin typeface="Times New Roman" panose="02020603050405020304" pitchFamily="18" charset="0"/>
                    <a:ea typeface="宋体" panose="02010600030101010101" pitchFamily="2" charset="-122"/>
                  </a:rPr>
                  <a:t>系统 </a:t>
                </a:r>
                <a:r>
                  <a:rPr lang="en-US" altLang="zh-CN" b="1" dirty="0">
                    <a:latin typeface="Times New Roman" panose="02020603050405020304" pitchFamily="18" charset="0"/>
                    <a:ea typeface="宋体" panose="02010600030101010101" pitchFamily="2" charset="-122"/>
                  </a:rPr>
                  <a:t>2</a:t>
                </a:r>
                <a:endParaRPr lang="en-US" altLang="zh-CN" b="1" dirty="0">
                  <a:latin typeface="Times New Roman" panose="02020603050405020304" pitchFamily="18" charset="0"/>
                  <a:ea typeface="宋体" panose="02010600030101010101" pitchFamily="2" charset="-122"/>
                </a:endParaRPr>
              </a:p>
            </p:txBody>
          </p:sp>
        </p:grpSp>
        <p:grpSp>
          <p:nvGrpSpPr>
            <p:cNvPr id="47116" name="Group 15"/>
            <p:cNvGrpSpPr/>
            <p:nvPr/>
          </p:nvGrpSpPr>
          <p:grpSpPr>
            <a:xfrm>
              <a:off x="3833" y="1253"/>
              <a:ext cx="635" cy="288"/>
              <a:chOff x="1066" y="1253"/>
              <a:chExt cx="635" cy="288"/>
            </a:xfrm>
          </p:grpSpPr>
          <p:sp>
            <p:nvSpPr>
              <p:cNvPr id="47117" name="Rectangle 16"/>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7118" name="Text Box 17"/>
              <p:cNvSpPr txBox="1"/>
              <p:nvPr/>
            </p:nvSpPr>
            <p:spPr>
              <a:xfrm>
                <a:off x="1066" y="1253"/>
                <a:ext cx="629" cy="288"/>
              </a:xfrm>
              <a:prstGeom prst="rect">
                <a:avLst/>
              </a:prstGeom>
              <a:noFill/>
              <a:ln w="9525">
                <a:noFill/>
              </a:ln>
            </p:spPr>
            <p:txBody>
              <a:bodyPr wrap="none" anchor="t" anchorCtr="0">
                <a:spAutoFit/>
              </a:bodyPr>
              <a:p>
                <a:r>
                  <a:rPr lang="zh-CN" altLang="en-US" b="1" dirty="0">
                    <a:latin typeface="Times New Roman" panose="02020603050405020304" pitchFamily="18" charset="0"/>
                    <a:ea typeface="宋体" panose="02010600030101010101" pitchFamily="2" charset="-122"/>
                  </a:rPr>
                  <a:t>系统 </a:t>
                </a:r>
                <a:r>
                  <a:rPr lang="en-US" altLang="zh-CN" b="1" dirty="0">
                    <a:latin typeface="Times New Roman" panose="02020603050405020304" pitchFamily="18" charset="0"/>
                    <a:ea typeface="宋体" panose="02010600030101010101" pitchFamily="2" charset="-122"/>
                  </a:rPr>
                  <a:t>n</a:t>
                </a:r>
                <a:endParaRPr lang="en-US" altLang="zh-CN" b="1" dirty="0">
                  <a:latin typeface="Times New Roman" panose="02020603050405020304" pitchFamily="18" charset="0"/>
                  <a:ea typeface="宋体" panose="02010600030101010101" pitchFamily="2" charset="-122"/>
                </a:endParaRPr>
              </a:p>
            </p:txBody>
          </p:sp>
        </p:grpSp>
        <p:sp>
          <p:nvSpPr>
            <p:cNvPr id="47119" name="Line 18"/>
            <p:cNvSpPr/>
            <p:nvPr/>
          </p:nvSpPr>
          <p:spPr>
            <a:xfrm>
              <a:off x="657" y="1389"/>
              <a:ext cx="409" cy="0"/>
            </a:xfrm>
            <a:prstGeom prst="line">
              <a:avLst/>
            </a:prstGeom>
            <a:ln w="9525" cap="flat" cmpd="sng">
              <a:solidFill>
                <a:schemeClr val="tx1"/>
              </a:solidFill>
              <a:prstDash val="solid"/>
              <a:round/>
              <a:headEnd type="none" w="med" len="med"/>
              <a:tailEnd type="triangle" w="med" len="med"/>
            </a:ln>
          </p:spPr>
        </p:sp>
        <p:sp>
          <p:nvSpPr>
            <p:cNvPr id="47120" name="Line 19"/>
            <p:cNvSpPr/>
            <p:nvPr/>
          </p:nvSpPr>
          <p:spPr>
            <a:xfrm>
              <a:off x="1701" y="1389"/>
              <a:ext cx="408" cy="0"/>
            </a:xfrm>
            <a:prstGeom prst="line">
              <a:avLst/>
            </a:prstGeom>
            <a:ln w="9525" cap="flat" cmpd="sng">
              <a:solidFill>
                <a:schemeClr val="tx1"/>
              </a:solidFill>
              <a:prstDash val="solid"/>
              <a:round/>
              <a:headEnd type="none" w="med" len="med"/>
              <a:tailEnd type="triangle" w="med" len="med"/>
            </a:ln>
          </p:spPr>
        </p:sp>
        <p:sp>
          <p:nvSpPr>
            <p:cNvPr id="47121" name="Line 20"/>
            <p:cNvSpPr/>
            <p:nvPr/>
          </p:nvSpPr>
          <p:spPr>
            <a:xfrm>
              <a:off x="2744" y="1389"/>
              <a:ext cx="317" cy="0"/>
            </a:xfrm>
            <a:prstGeom prst="line">
              <a:avLst/>
            </a:prstGeom>
            <a:ln w="9525" cap="flat" cmpd="sng">
              <a:solidFill>
                <a:schemeClr val="tx1"/>
              </a:solidFill>
              <a:prstDash val="solid"/>
              <a:round/>
              <a:headEnd type="none" w="med" len="med"/>
              <a:tailEnd type="triangle" w="med" len="med"/>
            </a:ln>
          </p:spPr>
        </p:sp>
        <p:sp>
          <p:nvSpPr>
            <p:cNvPr id="47122" name="Line 21"/>
            <p:cNvSpPr/>
            <p:nvPr/>
          </p:nvSpPr>
          <p:spPr>
            <a:xfrm>
              <a:off x="3515" y="1389"/>
              <a:ext cx="318" cy="0"/>
            </a:xfrm>
            <a:prstGeom prst="line">
              <a:avLst/>
            </a:prstGeom>
            <a:ln w="9525" cap="flat" cmpd="sng">
              <a:solidFill>
                <a:schemeClr val="tx1"/>
              </a:solidFill>
              <a:prstDash val="solid"/>
              <a:round/>
              <a:headEnd type="none" w="med" len="med"/>
              <a:tailEnd type="triangle" w="med" len="med"/>
            </a:ln>
          </p:spPr>
        </p:sp>
        <p:sp>
          <p:nvSpPr>
            <p:cNvPr id="47123" name="Line 22"/>
            <p:cNvSpPr/>
            <p:nvPr/>
          </p:nvSpPr>
          <p:spPr>
            <a:xfrm>
              <a:off x="3152" y="1389"/>
              <a:ext cx="272" cy="0"/>
            </a:xfrm>
            <a:prstGeom prst="line">
              <a:avLst/>
            </a:prstGeom>
            <a:ln w="28575" cap="flat" cmpd="sng">
              <a:solidFill>
                <a:schemeClr val="tx1"/>
              </a:solidFill>
              <a:prstDash val="sysDot"/>
              <a:round/>
              <a:headEnd type="none" w="med" len="med"/>
              <a:tailEnd type="none" w="med" len="med"/>
            </a:ln>
          </p:spPr>
        </p:sp>
        <p:sp>
          <p:nvSpPr>
            <p:cNvPr id="47124" name="Line 23"/>
            <p:cNvSpPr/>
            <p:nvPr/>
          </p:nvSpPr>
          <p:spPr>
            <a:xfrm>
              <a:off x="4468" y="1389"/>
              <a:ext cx="317" cy="0"/>
            </a:xfrm>
            <a:prstGeom prst="line">
              <a:avLst/>
            </a:prstGeom>
            <a:ln w="9525" cap="flat" cmpd="sng">
              <a:solidFill>
                <a:schemeClr val="tx1"/>
              </a:solidFill>
              <a:prstDash val="solid"/>
              <a:round/>
              <a:headEnd type="none" w="med" len="med"/>
              <a:tailEnd type="triangle" w="med" len="med"/>
            </a:ln>
          </p:spPr>
        </p:sp>
        <p:sp>
          <p:nvSpPr>
            <p:cNvPr id="47125" name="Text Box 69"/>
            <p:cNvSpPr txBox="1"/>
            <p:nvPr/>
          </p:nvSpPr>
          <p:spPr>
            <a:xfrm>
              <a:off x="567" y="1117"/>
              <a:ext cx="419" cy="250"/>
            </a:xfrm>
            <a:prstGeom prst="rect">
              <a:avLst/>
            </a:prstGeom>
            <a:noFill/>
            <a:ln w="9525">
              <a:noFill/>
            </a:ln>
          </p:spPr>
          <p:txBody>
            <a:bodyPr wrap="none" anchor="t" anchorCtr="0">
              <a:spAutoFit/>
            </a:bodyPr>
            <a:p>
              <a:r>
                <a:rPr lang="zh-CN" altLang="en-US" sz="2000" b="1" dirty="0">
                  <a:latin typeface="Times New Roman" panose="02020603050405020304" pitchFamily="18" charset="0"/>
                  <a:ea typeface="宋体" panose="02010600030101010101" pitchFamily="2" charset="-122"/>
                </a:rPr>
                <a:t>输入</a:t>
              </a:r>
              <a:endParaRPr lang="zh-CN" altLang="en-US" sz="2000" b="1" dirty="0">
                <a:latin typeface="Times New Roman" panose="02020603050405020304" pitchFamily="18" charset="0"/>
                <a:ea typeface="宋体" panose="02010600030101010101" pitchFamily="2" charset="-122"/>
              </a:endParaRPr>
            </a:p>
          </p:txBody>
        </p:sp>
        <p:sp>
          <p:nvSpPr>
            <p:cNvPr id="47126" name="Text Box 70"/>
            <p:cNvSpPr txBox="1"/>
            <p:nvPr/>
          </p:nvSpPr>
          <p:spPr>
            <a:xfrm>
              <a:off x="4558" y="1071"/>
              <a:ext cx="436" cy="250"/>
            </a:xfrm>
            <a:prstGeom prst="rect">
              <a:avLst/>
            </a:prstGeom>
            <a:noFill/>
            <a:ln w="9525">
              <a:noFill/>
            </a:ln>
          </p:spPr>
          <p:txBody>
            <a:bodyPr anchor="t" anchorCtr="0">
              <a:spAutoFit/>
            </a:bodyPr>
            <a:p>
              <a:r>
                <a:rPr lang="zh-CN" altLang="en-US" sz="2000" b="1" dirty="0">
                  <a:latin typeface="Times New Roman" panose="02020603050405020304" pitchFamily="18" charset="0"/>
                  <a:ea typeface="宋体" panose="02010600030101010101" pitchFamily="2" charset="-122"/>
                </a:rPr>
                <a:t>输出</a:t>
              </a:r>
              <a:endParaRPr lang="zh-CN" altLang="en-US" sz="2000" b="1" dirty="0">
                <a:latin typeface="Times New Roman" panose="02020603050405020304" pitchFamily="18" charset="0"/>
                <a:ea typeface="宋体" panose="02010600030101010101" pitchFamily="2" charset="-122"/>
              </a:endParaRPr>
            </a:p>
          </p:txBody>
        </p:sp>
      </p:grpSp>
      <p:grpSp>
        <p:nvGrpSpPr>
          <p:cNvPr id="6" name="Group 76"/>
          <p:cNvGrpSpPr/>
          <p:nvPr/>
        </p:nvGrpSpPr>
        <p:grpSpPr>
          <a:xfrm>
            <a:off x="1979613" y="2492375"/>
            <a:ext cx="4824412" cy="2011363"/>
            <a:chOff x="1292" y="2024"/>
            <a:chExt cx="2586" cy="1088"/>
          </a:xfrm>
        </p:grpSpPr>
        <p:grpSp>
          <p:nvGrpSpPr>
            <p:cNvPr id="47128" name="Group 24"/>
            <p:cNvGrpSpPr/>
            <p:nvPr/>
          </p:nvGrpSpPr>
          <p:grpSpPr>
            <a:xfrm>
              <a:off x="2154" y="2024"/>
              <a:ext cx="635" cy="272"/>
              <a:chOff x="1066" y="1253"/>
              <a:chExt cx="635" cy="272"/>
            </a:xfrm>
          </p:grpSpPr>
          <p:sp>
            <p:nvSpPr>
              <p:cNvPr id="47129" name="Rectangle 25"/>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7130" name="Text Box 26"/>
              <p:cNvSpPr txBox="1"/>
              <p:nvPr/>
            </p:nvSpPr>
            <p:spPr>
              <a:xfrm>
                <a:off x="1066" y="1253"/>
                <a:ext cx="550" cy="247"/>
              </a:xfrm>
              <a:prstGeom prst="rect">
                <a:avLst/>
              </a:prstGeom>
              <a:noFill/>
              <a:ln w="9525">
                <a:noFill/>
              </a:ln>
            </p:spPr>
            <p:txBody>
              <a:bodyPr wrap="none" anchor="t" anchorCtr="0">
                <a:spAutoFit/>
              </a:bodyPr>
              <a:p>
                <a:r>
                  <a:rPr lang="zh-CN" altLang="en-US" b="1" dirty="0">
                    <a:latin typeface="Times New Roman" panose="02020603050405020304" pitchFamily="18" charset="0"/>
                    <a:ea typeface="宋体" panose="02010600030101010101" pitchFamily="2" charset="-122"/>
                  </a:rPr>
                  <a:t>系统 </a:t>
                </a:r>
                <a:r>
                  <a:rPr lang="en-US" altLang="zh-CN" b="1" dirty="0">
                    <a:latin typeface="Times New Roman" panose="02020603050405020304" pitchFamily="18" charset="0"/>
                    <a:ea typeface="宋体" panose="02010600030101010101" pitchFamily="2" charset="-122"/>
                  </a:rPr>
                  <a:t>1</a:t>
                </a:r>
                <a:endParaRPr lang="en-US" altLang="zh-CN" b="1" dirty="0">
                  <a:latin typeface="Times New Roman" panose="02020603050405020304" pitchFamily="18" charset="0"/>
                  <a:ea typeface="宋体" panose="02010600030101010101" pitchFamily="2" charset="-122"/>
                </a:endParaRPr>
              </a:p>
            </p:txBody>
          </p:sp>
        </p:grpSp>
        <p:grpSp>
          <p:nvGrpSpPr>
            <p:cNvPr id="47131" name="Group 27"/>
            <p:cNvGrpSpPr/>
            <p:nvPr/>
          </p:nvGrpSpPr>
          <p:grpSpPr>
            <a:xfrm>
              <a:off x="2154" y="2341"/>
              <a:ext cx="644" cy="272"/>
              <a:chOff x="1066" y="1253"/>
              <a:chExt cx="644" cy="272"/>
            </a:xfrm>
          </p:grpSpPr>
          <p:sp>
            <p:nvSpPr>
              <p:cNvPr id="47132" name="Rectangle 28"/>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7133" name="Text Box 29"/>
              <p:cNvSpPr txBox="1"/>
              <p:nvPr/>
            </p:nvSpPr>
            <p:spPr>
              <a:xfrm>
                <a:off x="1066" y="1253"/>
                <a:ext cx="644" cy="247"/>
              </a:xfrm>
              <a:prstGeom prst="rect">
                <a:avLst/>
              </a:prstGeom>
              <a:noFill/>
              <a:ln w="9525">
                <a:noFill/>
              </a:ln>
            </p:spPr>
            <p:txBody>
              <a:bodyPr anchor="t" anchorCtr="0">
                <a:spAutoFit/>
              </a:bodyPr>
              <a:p>
                <a:r>
                  <a:rPr lang="zh-CN" altLang="en-US" b="1" dirty="0">
                    <a:latin typeface="Times New Roman" panose="02020603050405020304" pitchFamily="18" charset="0"/>
                    <a:ea typeface="宋体" panose="02010600030101010101" pitchFamily="2" charset="-122"/>
                  </a:rPr>
                  <a:t>系统 </a:t>
                </a:r>
                <a:r>
                  <a:rPr lang="en-US" altLang="zh-CN" b="1" dirty="0">
                    <a:latin typeface="Times New Roman" panose="02020603050405020304" pitchFamily="18" charset="0"/>
                    <a:ea typeface="宋体" panose="02010600030101010101" pitchFamily="2" charset="-122"/>
                  </a:rPr>
                  <a:t>2</a:t>
                </a:r>
                <a:endParaRPr lang="en-US" altLang="zh-CN" b="1" dirty="0">
                  <a:latin typeface="Times New Roman" panose="02020603050405020304" pitchFamily="18" charset="0"/>
                  <a:ea typeface="宋体" panose="02010600030101010101" pitchFamily="2" charset="-122"/>
                </a:endParaRPr>
              </a:p>
            </p:txBody>
          </p:sp>
        </p:grpSp>
        <p:grpSp>
          <p:nvGrpSpPr>
            <p:cNvPr id="47134" name="Group 30"/>
            <p:cNvGrpSpPr/>
            <p:nvPr/>
          </p:nvGrpSpPr>
          <p:grpSpPr>
            <a:xfrm>
              <a:off x="2154" y="2840"/>
              <a:ext cx="635" cy="272"/>
              <a:chOff x="1066" y="1253"/>
              <a:chExt cx="635" cy="272"/>
            </a:xfrm>
          </p:grpSpPr>
          <p:sp>
            <p:nvSpPr>
              <p:cNvPr id="47135" name="Rectangle 31"/>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7136" name="Text Box 32"/>
              <p:cNvSpPr txBox="1"/>
              <p:nvPr/>
            </p:nvSpPr>
            <p:spPr>
              <a:xfrm>
                <a:off x="1066" y="1253"/>
                <a:ext cx="559" cy="247"/>
              </a:xfrm>
              <a:prstGeom prst="rect">
                <a:avLst/>
              </a:prstGeom>
              <a:noFill/>
              <a:ln w="9525">
                <a:noFill/>
              </a:ln>
            </p:spPr>
            <p:txBody>
              <a:bodyPr wrap="none" anchor="t" anchorCtr="0">
                <a:spAutoFit/>
              </a:bodyPr>
              <a:p>
                <a:r>
                  <a:rPr lang="zh-CN" altLang="en-US" b="1" dirty="0">
                    <a:latin typeface="Times New Roman" panose="02020603050405020304" pitchFamily="18" charset="0"/>
                    <a:ea typeface="宋体" panose="02010600030101010101" pitchFamily="2" charset="-122"/>
                  </a:rPr>
                  <a:t>系统 </a:t>
                </a:r>
                <a:r>
                  <a:rPr lang="en-US" altLang="zh-CN" b="1" dirty="0">
                    <a:latin typeface="Times New Roman" panose="02020603050405020304" pitchFamily="18" charset="0"/>
                    <a:ea typeface="宋体" panose="02010600030101010101" pitchFamily="2" charset="-122"/>
                  </a:rPr>
                  <a:t>n</a:t>
                </a:r>
                <a:endParaRPr lang="en-US" altLang="zh-CN" b="1" dirty="0">
                  <a:latin typeface="Times New Roman" panose="02020603050405020304" pitchFamily="18" charset="0"/>
                  <a:ea typeface="宋体" panose="02010600030101010101" pitchFamily="2" charset="-122"/>
                </a:endParaRPr>
              </a:p>
            </p:txBody>
          </p:sp>
        </p:grpSp>
        <p:sp>
          <p:nvSpPr>
            <p:cNvPr id="47137" name="Line 33"/>
            <p:cNvSpPr/>
            <p:nvPr/>
          </p:nvSpPr>
          <p:spPr>
            <a:xfrm>
              <a:off x="2426" y="2659"/>
              <a:ext cx="0" cy="136"/>
            </a:xfrm>
            <a:prstGeom prst="line">
              <a:avLst/>
            </a:prstGeom>
            <a:ln w="28575" cap="flat" cmpd="sng">
              <a:solidFill>
                <a:schemeClr val="tx1"/>
              </a:solidFill>
              <a:prstDash val="sysDot"/>
              <a:round/>
              <a:headEnd type="none" w="med" len="med"/>
              <a:tailEnd type="none" w="med" len="med"/>
            </a:ln>
          </p:spPr>
        </p:sp>
        <p:sp>
          <p:nvSpPr>
            <p:cNvPr id="47138" name="Line 34"/>
            <p:cNvSpPr/>
            <p:nvPr/>
          </p:nvSpPr>
          <p:spPr>
            <a:xfrm>
              <a:off x="1837" y="2160"/>
              <a:ext cx="317" cy="0"/>
            </a:xfrm>
            <a:prstGeom prst="line">
              <a:avLst/>
            </a:prstGeom>
            <a:ln w="9525" cap="flat" cmpd="sng">
              <a:solidFill>
                <a:schemeClr val="tx1"/>
              </a:solidFill>
              <a:prstDash val="solid"/>
              <a:round/>
              <a:headEnd type="none" w="med" len="med"/>
              <a:tailEnd type="triangle" w="med" len="med"/>
            </a:ln>
          </p:spPr>
        </p:sp>
        <p:sp>
          <p:nvSpPr>
            <p:cNvPr id="47139" name="Line 35"/>
            <p:cNvSpPr/>
            <p:nvPr/>
          </p:nvSpPr>
          <p:spPr>
            <a:xfrm>
              <a:off x="1837" y="2478"/>
              <a:ext cx="317" cy="0"/>
            </a:xfrm>
            <a:prstGeom prst="line">
              <a:avLst/>
            </a:prstGeom>
            <a:ln w="9525" cap="flat" cmpd="sng">
              <a:solidFill>
                <a:schemeClr val="tx1"/>
              </a:solidFill>
              <a:prstDash val="solid"/>
              <a:round/>
              <a:headEnd type="none" w="med" len="med"/>
              <a:tailEnd type="triangle" w="med" len="med"/>
            </a:ln>
          </p:spPr>
        </p:sp>
        <p:sp>
          <p:nvSpPr>
            <p:cNvPr id="47140" name="Line 36"/>
            <p:cNvSpPr/>
            <p:nvPr/>
          </p:nvSpPr>
          <p:spPr>
            <a:xfrm>
              <a:off x="1837" y="2976"/>
              <a:ext cx="317" cy="0"/>
            </a:xfrm>
            <a:prstGeom prst="line">
              <a:avLst/>
            </a:prstGeom>
            <a:ln w="9525" cap="flat" cmpd="sng">
              <a:solidFill>
                <a:schemeClr val="tx1"/>
              </a:solidFill>
              <a:prstDash val="solid"/>
              <a:round/>
              <a:headEnd type="none" w="med" len="med"/>
              <a:tailEnd type="triangle" w="med" len="med"/>
            </a:ln>
          </p:spPr>
        </p:sp>
        <p:sp>
          <p:nvSpPr>
            <p:cNvPr id="47141" name="Line 37"/>
            <p:cNvSpPr/>
            <p:nvPr/>
          </p:nvSpPr>
          <p:spPr>
            <a:xfrm>
              <a:off x="1837" y="2160"/>
              <a:ext cx="0" cy="454"/>
            </a:xfrm>
            <a:prstGeom prst="line">
              <a:avLst/>
            </a:prstGeom>
            <a:ln w="9525" cap="flat" cmpd="sng">
              <a:solidFill>
                <a:schemeClr val="tx1"/>
              </a:solidFill>
              <a:prstDash val="solid"/>
              <a:round/>
              <a:headEnd type="none" w="med" len="med"/>
              <a:tailEnd type="none" w="med" len="med"/>
            </a:ln>
          </p:spPr>
        </p:sp>
        <p:sp>
          <p:nvSpPr>
            <p:cNvPr id="47142" name="Line 38"/>
            <p:cNvSpPr/>
            <p:nvPr/>
          </p:nvSpPr>
          <p:spPr>
            <a:xfrm>
              <a:off x="1338" y="2523"/>
              <a:ext cx="499" cy="0"/>
            </a:xfrm>
            <a:prstGeom prst="line">
              <a:avLst/>
            </a:prstGeom>
            <a:ln w="9525" cap="flat" cmpd="sng">
              <a:solidFill>
                <a:schemeClr val="tx1"/>
              </a:solidFill>
              <a:prstDash val="solid"/>
              <a:round/>
              <a:headEnd type="none" w="med" len="med"/>
              <a:tailEnd type="triangle" w="med" len="med"/>
            </a:ln>
          </p:spPr>
        </p:sp>
        <p:graphicFrame>
          <p:nvGraphicFramePr>
            <p:cNvPr id="47143" name="Object 39"/>
            <p:cNvGraphicFramePr>
              <a:graphicFrameLocks noChangeAspect="1"/>
            </p:cNvGraphicFramePr>
            <p:nvPr/>
          </p:nvGraphicFramePr>
          <p:xfrm>
            <a:off x="3152" y="2341"/>
            <a:ext cx="320" cy="320"/>
          </p:xfrm>
          <a:graphic>
            <a:graphicData uri="http://schemas.openxmlformats.org/presentationml/2006/ole">
              <mc:AlternateContent xmlns:mc="http://schemas.openxmlformats.org/markup-compatibility/2006">
                <mc:Choice xmlns:v="urn:schemas-microsoft-com:vml" Requires="v">
                  <p:oleObj spid="_x0000_s3110" name="" r:id="rId1" imgW="152400" imgH="152400" progId="Equation.3">
                    <p:embed/>
                  </p:oleObj>
                </mc:Choice>
                <mc:Fallback>
                  <p:oleObj name="" r:id="rId1" imgW="152400" imgH="152400" progId="Equation.3">
                    <p:embed/>
                    <p:pic>
                      <p:nvPicPr>
                        <p:cNvPr id="0" name="图片 3109"/>
                        <p:cNvPicPr/>
                        <p:nvPr/>
                      </p:nvPicPr>
                      <p:blipFill>
                        <a:blip r:embed="rId2"/>
                        <a:stretch>
                          <a:fillRect/>
                        </a:stretch>
                      </p:blipFill>
                      <p:spPr>
                        <a:xfrm>
                          <a:off x="3152" y="2341"/>
                          <a:ext cx="320" cy="320"/>
                        </a:xfrm>
                        <a:prstGeom prst="rect">
                          <a:avLst/>
                        </a:prstGeom>
                        <a:noFill/>
                        <a:ln w="38100">
                          <a:noFill/>
                          <a:miter/>
                        </a:ln>
                      </p:spPr>
                    </p:pic>
                  </p:oleObj>
                </mc:Fallback>
              </mc:AlternateContent>
            </a:graphicData>
          </a:graphic>
        </p:graphicFrame>
        <p:sp>
          <p:nvSpPr>
            <p:cNvPr id="47144" name="Line 40"/>
            <p:cNvSpPr/>
            <p:nvPr/>
          </p:nvSpPr>
          <p:spPr>
            <a:xfrm>
              <a:off x="2789" y="2478"/>
              <a:ext cx="409" cy="0"/>
            </a:xfrm>
            <a:prstGeom prst="line">
              <a:avLst/>
            </a:prstGeom>
            <a:ln w="9525" cap="flat" cmpd="sng">
              <a:solidFill>
                <a:schemeClr val="tx1"/>
              </a:solidFill>
              <a:prstDash val="solid"/>
              <a:round/>
              <a:headEnd type="none" w="med" len="med"/>
              <a:tailEnd type="triangle" w="med" len="med"/>
            </a:ln>
          </p:spPr>
        </p:sp>
        <p:sp>
          <p:nvSpPr>
            <p:cNvPr id="47145" name="Line 41"/>
            <p:cNvSpPr/>
            <p:nvPr/>
          </p:nvSpPr>
          <p:spPr>
            <a:xfrm>
              <a:off x="2789" y="2160"/>
              <a:ext cx="499" cy="0"/>
            </a:xfrm>
            <a:prstGeom prst="line">
              <a:avLst/>
            </a:prstGeom>
            <a:ln w="9525" cap="flat" cmpd="sng">
              <a:solidFill>
                <a:schemeClr val="tx1"/>
              </a:solidFill>
              <a:prstDash val="solid"/>
              <a:round/>
              <a:headEnd type="none" w="med" len="med"/>
              <a:tailEnd type="none" w="med" len="med"/>
            </a:ln>
          </p:spPr>
        </p:sp>
        <p:sp>
          <p:nvSpPr>
            <p:cNvPr id="47146" name="Line 44"/>
            <p:cNvSpPr/>
            <p:nvPr/>
          </p:nvSpPr>
          <p:spPr>
            <a:xfrm>
              <a:off x="3288" y="2160"/>
              <a:ext cx="0" cy="227"/>
            </a:xfrm>
            <a:prstGeom prst="line">
              <a:avLst/>
            </a:prstGeom>
            <a:ln w="9525" cap="flat" cmpd="sng">
              <a:solidFill>
                <a:schemeClr val="tx1"/>
              </a:solidFill>
              <a:prstDash val="solid"/>
              <a:round/>
              <a:headEnd type="none" w="med" len="med"/>
              <a:tailEnd type="triangle" w="med" len="med"/>
            </a:ln>
          </p:spPr>
        </p:sp>
        <p:sp>
          <p:nvSpPr>
            <p:cNvPr id="47147" name="Line 45"/>
            <p:cNvSpPr/>
            <p:nvPr/>
          </p:nvSpPr>
          <p:spPr>
            <a:xfrm flipV="1">
              <a:off x="3288" y="2568"/>
              <a:ext cx="0" cy="136"/>
            </a:xfrm>
            <a:prstGeom prst="line">
              <a:avLst/>
            </a:prstGeom>
            <a:ln w="9525" cap="flat" cmpd="sng">
              <a:solidFill>
                <a:schemeClr val="tx1"/>
              </a:solidFill>
              <a:prstDash val="solid"/>
              <a:round/>
              <a:headEnd type="none" w="med" len="med"/>
              <a:tailEnd type="triangle" w="med" len="med"/>
            </a:ln>
          </p:spPr>
        </p:sp>
        <p:sp>
          <p:nvSpPr>
            <p:cNvPr id="47148" name="Line 46"/>
            <p:cNvSpPr/>
            <p:nvPr/>
          </p:nvSpPr>
          <p:spPr>
            <a:xfrm>
              <a:off x="3424" y="2478"/>
              <a:ext cx="454" cy="0"/>
            </a:xfrm>
            <a:prstGeom prst="line">
              <a:avLst/>
            </a:prstGeom>
            <a:ln w="9525" cap="flat" cmpd="sng">
              <a:solidFill>
                <a:schemeClr val="tx1"/>
              </a:solidFill>
              <a:prstDash val="solid"/>
              <a:round/>
              <a:headEnd type="none" w="med" len="med"/>
              <a:tailEnd type="triangle" w="med" len="med"/>
            </a:ln>
          </p:spPr>
        </p:sp>
        <p:sp>
          <p:nvSpPr>
            <p:cNvPr id="47149" name="Line 47"/>
            <p:cNvSpPr/>
            <p:nvPr/>
          </p:nvSpPr>
          <p:spPr>
            <a:xfrm flipV="1">
              <a:off x="1837" y="2840"/>
              <a:ext cx="0" cy="136"/>
            </a:xfrm>
            <a:prstGeom prst="line">
              <a:avLst/>
            </a:prstGeom>
            <a:ln w="9525" cap="flat" cmpd="sng">
              <a:solidFill>
                <a:schemeClr val="tx1"/>
              </a:solidFill>
              <a:prstDash val="solid"/>
              <a:round/>
              <a:headEnd type="none" w="med" len="med"/>
              <a:tailEnd type="none" w="med" len="med"/>
            </a:ln>
          </p:spPr>
        </p:sp>
        <p:sp>
          <p:nvSpPr>
            <p:cNvPr id="47150" name="Line 48"/>
            <p:cNvSpPr/>
            <p:nvPr/>
          </p:nvSpPr>
          <p:spPr>
            <a:xfrm flipV="1">
              <a:off x="3288" y="2840"/>
              <a:ext cx="0" cy="136"/>
            </a:xfrm>
            <a:prstGeom prst="line">
              <a:avLst/>
            </a:prstGeom>
            <a:ln w="9525" cap="flat" cmpd="sng">
              <a:solidFill>
                <a:schemeClr val="tx1"/>
              </a:solidFill>
              <a:prstDash val="solid"/>
              <a:round/>
              <a:headEnd type="none" w="med" len="med"/>
              <a:tailEnd type="none" w="med" len="med"/>
            </a:ln>
          </p:spPr>
        </p:sp>
        <p:sp>
          <p:nvSpPr>
            <p:cNvPr id="47151" name="Line 49"/>
            <p:cNvSpPr/>
            <p:nvPr/>
          </p:nvSpPr>
          <p:spPr>
            <a:xfrm>
              <a:off x="3288" y="2704"/>
              <a:ext cx="0" cy="136"/>
            </a:xfrm>
            <a:prstGeom prst="line">
              <a:avLst/>
            </a:prstGeom>
            <a:ln w="28575" cap="flat" cmpd="sng">
              <a:solidFill>
                <a:schemeClr val="tx1"/>
              </a:solidFill>
              <a:prstDash val="sysDot"/>
              <a:round/>
              <a:headEnd type="none" w="med" len="med"/>
              <a:tailEnd type="none" w="med" len="med"/>
            </a:ln>
          </p:spPr>
        </p:sp>
        <p:sp>
          <p:nvSpPr>
            <p:cNvPr id="47152" name="Line 50"/>
            <p:cNvSpPr/>
            <p:nvPr/>
          </p:nvSpPr>
          <p:spPr>
            <a:xfrm>
              <a:off x="1837" y="2659"/>
              <a:ext cx="0" cy="136"/>
            </a:xfrm>
            <a:prstGeom prst="line">
              <a:avLst/>
            </a:prstGeom>
            <a:ln w="28575" cap="flat" cmpd="sng">
              <a:solidFill>
                <a:schemeClr val="tx1"/>
              </a:solidFill>
              <a:prstDash val="sysDot"/>
              <a:round/>
              <a:headEnd type="none" w="med" len="med"/>
              <a:tailEnd type="none" w="med" len="med"/>
            </a:ln>
          </p:spPr>
        </p:sp>
        <p:sp>
          <p:nvSpPr>
            <p:cNvPr id="47153" name="Line 43"/>
            <p:cNvSpPr/>
            <p:nvPr/>
          </p:nvSpPr>
          <p:spPr>
            <a:xfrm>
              <a:off x="2789" y="2976"/>
              <a:ext cx="499" cy="0"/>
            </a:xfrm>
            <a:prstGeom prst="line">
              <a:avLst/>
            </a:prstGeom>
            <a:ln w="9525" cap="flat" cmpd="sng">
              <a:solidFill>
                <a:schemeClr val="tx1"/>
              </a:solidFill>
              <a:prstDash val="solid"/>
              <a:round/>
              <a:headEnd type="none" w="med" len="med"/>
              <a:tailEnd type="none" w="med" len="med"/>
            </a:ln>
          </p:spPr>
        </p:sp>
        <p:sp>
          <p:nvSpPr>
            <p:cNvPr id="47154" name="Text Box 71"/>
            <p:cNvSpPr txBox="1"/>
            <p:nvPr/>
          </p:nvSpPr>
          <p:spPr>
            <a:xfrm>
              <a:off x="1292" y="2251"/>
              <a:ext cx="373" cy="214"/>
            </a:xfrm>
            <a:prstGeom prst="rect">
              <a:avLst/>
            </a:prstGeom>
            <a:noFill/>
            <a:ln w="9525">
              <a:noFill/>
            </a:ln>
          </p:spPr>
          <p:txBody>
            <a:bodyPr wrap="none" anchor="t" anchorCtr="0">
              <a:spAutoFit/>
            </a:bodyPr>
            <a:p>
              <a:r>
                <a:rPr lang="zh-CN" altLang="en-US" sz="2000" b="1" dirty="0">
                  <a:latin typeface="Times New Roman" panose="02020603050405020304" pitchFamily="18" charset="0"/>
                  <a:ea typeface="宋体" panose="02010600030101010101" pitchFamily="2" charset="-122"/>
                </a:rPr>
                <a:t>输入</a:t>
              </a:r>
              <a:endParaRPr lang="zh-CN" altLang="en-US" sz="2000" b="1" dirty="0">
                <a:latin typeface="Times New Roman" panose="02020603050405020304" pitchFamily="18" charset="0"/>
                <a:ea typeface="宋体" panose="02010600030101010101" pitchFamily="2" charset="-122"/>
              </a:endParaRPr>
            </a:p>
          </p:txBody>
        </p:sp>
        <p:sp>
          <p:nvSpPr>
            <p:cNvPr id="47155" name="Text Box 72"/>
            <p:cNvSpPr txBox="1"/>
            <p:nvPr/>
          </p:nvSpPr>
          <p:spPr>
            <a:xfrm>
              <a:off x="3470" y="2160"/>
              <a:ext cx="407" cy="214"/>
            </a:xfrm>
            <a:prstGeom prst="rect">
              <a:avLst/>
            </a:prstGeom>
            <a:noFill/>
            <a:ln w="9525">
              <a:noFill/>
            </a:ln>
          </p:spPr>
          <p:txBody>
            <a:bodyPr anchor="t" anchorCtr="0">
              <a:spAutoFit/>
            </a:bodyPr>
            <a:p>
              <a:r>
                <a:rPr lang="zh-CN" altLang="en-US" sz="2000" b="1" dirty="0">
                  <a:latin typeface="Times New Roman" panose="02020603050405020304" pitchFamily="18" charset="0"/>
                  <a:ea typeface="宋体" panose="02010600030101010101" pitchFamily="2" charset="-122"/>
                </a:rPr>
                <a:t>输出</a:t>
              </a:r>
              <a:endParaRPr lang="zh-CN" altLang="en-US" sz="2000" b="1" dirty="0">
                <a:latin typeface="Times New Roman" panose="02020603050405020304" pitchFamily="18" charset="0"/>
                <a:ea typeface="宋体" panose="02010600030101010101" pitchFamily="2" charset="-122"/>
              </a:endParaRPr>
            </a:p>
          </p:txBody>
        </p:sp>
      </p:grpSp>
      <p:grpSp>
        <p:nvGrpSpPr>
          <p:cNvPr id="10" name="Group 78"/>
          <p:cNvGrpSpPr/>
          <p:nvPr/>
        </p:nvGrpSpPr>
        <p:grpSpPr>
          <a:xfrm>
            <a:off x="2555875" y="4652963"/>
            <a:ext cx="4968875" cy="1628775"/>
            <a:chOff x="1610" y="2931"/>
            <a:chExt cx="2781" cy="953"/>
          </a:xfrm>
        </p:grpSpPr>
        <p:grpSp>
          <p:nvGrpSpPr>
            <p:cNvPr id="47157" name="Group 52"/>
            <p:cNvGrpSpPr/>
            <p:nvPr/>
          </p:nvGrpSpPr>
          <p:grpSpPr>
            <a:xfrm>
              <a:off x="2744" y="3113"/>
              <a:ext cx="635" cy="272"/>
              <a:chOff x="1066" y="1253"/>
              <a:chExt cx="635" cy="272"/>
            </a:xfrm>
          </p:grpSpPr>
          <p:sp>
            <p:nvSpPr>
              <p:cNvPr id="47158" name="Rectangle 53"/>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7159" name="Text Box 54"/>
              <p:cNvSpPr txBox="1"/>
              <p:nvPr/>
            </p:nvSpPr>
            <p:spPr>
              <a:xfrm>
                <a:off x="1066" y="1253"/>
                <a:ext cx="574" cy="268"/>
              </a:xfrm>
              <a:prstGeom prst="rect">
                <a:avLst/>
              </a:prstGeom>
              <a:noFill/>
              <a:ln w="9525">
                <a:noFill/>
              </a:ln>
            </p:spPr>
            <p:txBody>
              <a:bodyPr wrap="none" anchor="t" anchorCtr="0">
                <a:spAutoFit/>
              </a:bodyPr>
              <a:p>
                <a:r>
                  <a:rPr lang="zh-CN" altLang="en-US" b="1" dirty="0">
                    <a:latin typeface="Times New Roman" panose="02020603050405020304" pitchFamily="18" charset="0"/>
                    <a:ea typeface="宋体" panose="02010600030101010101" pitchFamily="2" charset="-122"/>
                  </a:rPr>
                  <a:t>系统 </a:t>
                </a:r>
                <a:r>
                  <a:rPr lang="en-US" altLang="zh-CN" b="1" dirty="0">
                    <a:latin typeface="Times New Roman" panose="02020603050405020304" pitchFamily="18" charset="0"/>
                    <a:ea typeface="宋体" panose="02010600030101010101" pitchFamily="2" charset="-122"/>
                  </a:rPr>
                  <a:t>1</a:t>
                </a:r>
                <a:endParaRPr lang="en-US" altLang="zh-CN" b="1" dirty="0">
                  <a:latin typeface="Times New Roman" panose="02020603050405020304" pitchFamily="18" charset="0"/>
                  <a:ea typeface="宋体" panose="02010600030101010101" pitchFamily="2" charset="-122"/>
                </a:endParaRPr>
              </a:p>
            </p:txBody>
          </p:sp>
        </p:grpSp>
        <p:grpSp>
          <p:nvGrpSpPr>
            <p:cNvPr id="47160" name="Group 55"/>
            <p:cNvGrpSpPr/>
            <p:nvPr/>
          </p:nvGrpSpPr>
          <p:grpSpPr>
            <a:xfrm>
              <a:off x="2744" y="3612"/>
              <a:ext cx="635" cy="272"/>
              <a:chOff x="1066" y="1253"/>
              <a:chExt cx="635" cy="272"/>
            </a:xfrm>
          </p:grpSpPr>
          <p:sp>
            <p:nvSpPr>
              <p:cNvPr id="47161" name="Rectangle 56"/>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7162" name="Text Box 57"/>
              <p:cNvSpPr txBox="1"/>
              <p:nvPr/>
            </p:nvSpPr>
            <p:spPr>
              <a:xfrm>
                <a:off x="1066" y="1253"/>
                <a:ext cx="574" cy="268"/>
              </a:xfrm>
              <a:prstGeom prst="rect">
                <a:avLst/>
              </a:prstGeom>
              <a:noFill/>
              <a:ln w="9525">
                <a:noFill/>
              </a:ln>
            </p:spPr>
            <p:txBody>
              <a:bodyPr wrap="none" anchor="t" anchorCtr="0">
                <a:spAutoFit/>
              </a:bodyPr>
              <a:p>
                <a:r>
                  <a:rPr lang="zh-CN" altLang="en-US" b="1" dirty="0">
                    <a:latin typeface="Times New Roman" panose="02020603050405020304" pitchFamily="18" charset="0"/>
                    <a:ea typeface="宋体" panose="02010600030101010101" pitchFamily="2" charset="-122"/>
                  </a:rPr>
                  <a:t>系统 </a:t>
                </a:r>
                <a:r>
                  <a:rPr lang="en-US" altLang="zh-CN" b="1" dirty="0">
                    <a:latin typeface="Times New Roman" panose="02020603050405020304" pitchFamily="18" charset="0"/>
                    <a:ea typeface="宋体" panose="02010600030101010101" pitchFamily="2" charset="-122"/>
                  </a:rPr>
                  <a:t>2</a:t>
                </a:r>
                <a:endParaRPr lang="en-US" altLang="zh-CN" b="1" dirty="0">
                  <a:latin typeface="Times New Roman" panose="02020603050405020304" pitchFamily="18" charset="0"/>
                  <a:ea typeface="宋体" panose="02010600030101010101" pitchFamily="2" charset="-122"/>
                </a:endParaRPr>
              </a:p>
            </p:txBody>
          </p:sp>
        </p:grpSp>
        <p:graphicFrame>
          <p:nvGraphicFramePr>
            <p:cNvPr id="47163" name="Object 58"/>
            <p:cNvGraphicFramePr>
              <a:graphicFrameLocks noChangeAspect="1"/>
            </p:cNvGraphicFramePr>
            <p:nvPr/>
          </p:nvGraphicFramePr>
          <p:xfrm>
            <a:off x="2109" y="3113"/>
            <a:ext cx="320" cy="320"/>
          </p:xfrm>
          <a:graphic>
            <a:graphicData uri="http://schemas.openxmlformats.org/presentationml/2006/ole">
              <mc:AlternateContent xmlns:mc="http://schemas.openxmlformats.org/markup-compatibility/2006">
                <mc:Choice xmlns:v="urn:schemas-microsoft-com:vml" Requires="v">
                  <p:oleObj spid="_x0000_s3111" name="" r:id="rId3" imgW="152400" imgH="152400" progId="Equation.3">
                    <p:embed/>
                  </p:oleObj>
                </mc:Choice>
                <mc:Fallback>
                  <p:oleObj name="" r:id="rId3" imgW="152400" imgH="152400" progId="Equation.3">
                    <p:embed/>
                    <p:pic>
                      <p:nvPicPr>
                        <p:cNvPr id="0" name="图片 3110"/>
                        <p:cNvPicPr/>
                        <p:nvPr/>
                      </p:nvPicPr>
                      <p:blipFill>
                        <a:blip r:embed="rId4"/>
                        <a:stretch>
                          <a:fillRect/>
                        </a:stretch>
                      </p:blipFill>
                      <p:spPr>
                        <a:xfrm>
                          <a:off x="2109" y="3113"/>
                          <a:ext cx="320" cy="320"/>
                        </a:xfrm>
                        <a:prstGeom prst="rect">
                          <a:avLst/>
                        </a:prstGeom>
                        <a:noFill/>
                        <a:ln w="38100">
                          <a:noFill/>
                          <a:miter/>
                        </a:ln>
                      </p:spPr>
                    </p:pic>
                  </p:oleObj>
                </mc:Fallback>
              </mc:AlternateContent>
            </a:graphicData>
          </a:graphic>
        </p:graphicFrame>
        <p:sp>
          <p:nvSpPr>
            <p:cNvPr id="47164" name="Line 59"/>
            <p:cNvSpPr/>
            <p:nvPr/>
          </p:nvSpPr>
          <p:spPr>
            <a:xfrm>
              <a:off x="2382" y="3249"/>
              <a:ext cx="362" cy="0"/>
            </a:xfrm>
            <a:prstGeom prst="line">
              <a:avLst/>
            </a:prstGeom>
            <a:ln w="9525" cap="flat" cmpd="sng">
              <a:solidFill>
                <a:schemeClr val="tx1"/>
              </a:solidFill>
              <a:prstDash val="solid"/>
              <a:round/>
              <a:headEnd type="none" w="med" len="med"/>
              <a:tailEnd type="triangle" w="med" len="med"/>
            </a:ln>
          </p:spPr>
        </p:sp>
        <p:sp>
          <p:nvSpPr>
            <p:cNvPr id="47165" name="Line 60"/>
            <p:cNvSpPr/>
            <p:nvPr/>
          </p:nvSpPr>
          <p:spPr>
            <a:xfrm>
              <a:off x="1792" y="3249"/>
              <a:ext cx="363" cy="0"/>
            </a:xfrm>
            <a:prstGeom prst="line">
              <a:avLst/>
            </a:prstGeom>
            <a:ln w="9525" cap="flat" cmpd="sng">
              <a:solidFill>
                <a:schemeClr val="tx1"/>
              </a:solidFill>
              <a:prstDash val="solid"/>
              <a:round/>
              <a:headEnd type="none" w="med" len="med"/>
              <a:tailEnd type="triangle" w="med" len="med"/>
            </a:ln>
          </p:spPr>
        </p:sp>
        <p:sp>
          <p:nvSpPr>
            <p:cNvPr id="47166" name="Line 62"/>
            <p:cNvSpPr/>
            <p:nvPr/>
          </p:nvSpPr>
          <p:spPr>
            <a:xfrm flipH="1" flipV="1">
              <a:off x="2246" y="3385"/>
              <a:ext cx="0" cy="363"/>
            </a:xfrm>
            <a:prstGeom prst="line">
              <a:avLst/>
            </a:prstGeom>
            <a:ln w="9525" cap="flat" cmpd="sng">
              <a:solidFill>
                <a:schemeClr val="tx1"/>
              </a:solidFill>
              <a:prstDash val="solid"/>
              <a:round/>
              <a:headEnd type="none" w="med" len="med"/>
              <a:tailEnd type="triangle" w="med" len="med"/>
            </a:ln>
          </p:spPr>
        </p:sp>
        <p:sp>
          <p:nvSpPr>
            <p:cNvPr id="47167" name="Line 63"/>
            <p:cNvSpPr/>
            <p:nvPr/>
          </p:nvSpPr>
          <p:spPr>
            <a:xfrm>
              <a:off x="2246" y="3748"/>
              <a:ext cx="498" cy="0"/>
            </a:xfrm>
            <a:prstGeom prst="line">
              <a:avLst/>
            </a:prstGeom>
            <a:ln w="9525" cap="flat" cmpd="sng">
              <a:solidFill>
                <a:schemeClr val="tx1"/>
              </a:solidFill>
              <a:prstDash val="solid"/>
              <a:round/>
              <a:headEnd type="none" w="med" len="med"/>
              <a:tailEnd type="none" w="med" len="med"/>
            </a:ln>
          </p:spPr>
        </p:sp>
        <p:sp>
          <p:nvSpPr>
            <p:cNvPr id="47168" name="Line 64"/>
            <p:cNvSpPr/>
            <p:nvPr/>
          </p:nvSpPr>
          <p:spPr>
            <a:xfrm>
              <a:off x="3380" y="3249"/>
              <a:ext cx="816" cy="0"/>
            </a:xfrm>
            <a:prstGeom prst="line">
              <a:avLst/>
            </a:prstGeom>
            <a:ln w="9525" cap="flat" cmpd="sng">
              <a:solidFill>
                <a:schemeClr val="tx1"/>
              </a:solidFill>
              <a:prstDash val="solid"/>
              <a:round/>
              <a:headEnd type="none" w="med" len="med"/>
              <a:tailEnd type="triangle" w="med" len="med"/>
            </a:ln>
          </p:spPr>
        </p:sp>
        <p:sp>
          <p:nvSpPr>
            <p:cNvPr id="47169" name="Line 65"/>
            <p:cNvSpPr/>
            <p:nvPr/>
          </p:nvSpPr>
          <p:spPr>
            <a:xfrm>
              <a:off x="3380" y="3748"/>
              <a:ext cx="498" cy="0"/>
            </a:xfrm>
            <a:prstGeom prst="line">
              <a:avLst/>
            </a:prstGeom>
            <a:ln w="9525" cap="flat" cmpd="sng">
              <a:solidFill>
                <a:schemeClr val="tx1"/>
              </a:solidFill>
              <a:prstDash val="solid"/>
              <a:round/>
              <a:headEnd type="triangle" w="med" len="med"/>
              <a:tailEnd type="none" w="med" len="med"/>
            </a:ln>
          </p:spPr>
        </p:sp>
        <p:sp>
          <p:nvSpPr>
            <p:cNvPr id="47170" name="Line 66"/>
            <p:cNvSpPr/>
            <p:nvPr/>
          </p:nvSpPr>
          <p:spPr>
            <a:xfrm flipV="1">
              <a:off x="3878" y="3249"/>
              <a:ext cx="0" cy="499"/>
            </a:xfrm>
            <a:prstGeom prst="line">
              <a:avLst/>
            </a:prstGeom>
            <a:ln w="9525" cap="flat" cmpd="sng">
              <a:solidFill>
                <a:schemeClr val="tx1"/>
              </a:solidFill>
              <a:prstDash val="solid"/>
              <a:round/>
              <a:headEnd type="none" w="med" len="med"/>
              <a:tailEnd type="none" w="med" len="med"/>
            </a:ln>
          </p:spPr>
        </p:sp>
        <p:sp>
          <p:nvSpPr>
            <p:cNvPr id="47171" name="Text Box 73"/>
            <p:cNvSpPr txBox="1"/>
            <p:nvPr/>
          </p:nvSpPr>
          <p:spPr>
            <a:xfrm>
              <a:off x="3969" y="2931"/>
              <a:ext cx="422" cy="232"/>
            </a:xfrm>
            <a:prstGeom prst="rect">
              <a:avLst/>
            </a:prstGeom>
            <a:noFill/>
            <a:ln w="9525">
              <a:noFill/>
            </a:ln>
          </p:spPr>
          <p:txBody>
            <a:bodyPr anchor="t" anchorCtr="0">
              <a:spAutoFit/>
            </a:bodyPr>
            <a:p>
              <a:r>
                <a:rPr lang="zh-CN" altLang="en-US" sz="2000" b="1" dirty="0">
                  <a:latin typeface="Times New Roman" panose="02020603050405020304" pitchFamily="18" charset="0"/>
                  <a:ea typeface="宋体" panose="02010600030101010101" pitchFamily="2" charset="-122"/>
                </a:rPr>
                <a:t>输出</a:t>
              </a:r>
              <a:endParaRPr lang="zh-CN" altLang="en-US" sz="2000" b="1" dirty="0">
                <a:latin typeface="Times New Roman" panose="02020603050405020304" pitchFamily="18" charset="0"/>
                <a:ea typeface="宋体" panose="02010600030101010101" pitchFamily="2" charset="-122"/>
              </a:endParaRPr>
            </a:p>
          </p:txBody>
        </p:sp>
        <p:sp>
          <p:nvSpPr>
            <p:cNvPr id="47172" name="Text Box 74"/>
            <p:cNvSpPr txBox="1"/>
            <p:nvPr/>
          </p:nvSpPr>
          <p:spPr>
            <a:xfrm>
              <a:off x="1610" y="2976"/>
              <a:ext cx="389" cy="232"/>
            </a:xfrm>
            <a:prstGeom prst="rect">
              <a:avLst/>
            </a:prstGeom>
            <a:noFill/>
            <a:ln w="9525">
              <a:noFill/>
            </a:ln>
          </p:spPr>
          <p:txBody>
            <a:bodyPr wrap="none" anchor="t" anchorCtr="0">
              <a:spAutoFit/>
            </a:bodyPr>
            <a:p>
              <a:r>
                <a:rPr lang="zh-CN" altLang="en-US" sz="2000" b="1" dirty="0">
                  <a:latin typeface="Times New Roman" panose="02020603050405020304" pitchFamily="18" charset="0"/>
                  <a:ea typeface="宋体" panose="02010600030101010101" pitchFamily="2" charset="-122"/>
                </a:rPr>
                <a:t>输入</a:t>
              </a:r>
              <a:endParaRPr lang="zh-CN" altLang="en-US" sz="2000" b="1"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9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9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9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1" grpId="0"/>
      <p:bldP spid="80902" grpId="0"/>
      <p:bldP spid="8090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p:nvPr/>
        </p:nvSpPr>
        <p:spPr>
          <a:xfrm>
            <a:off x="468313" y="404813"/>
            <a:ext cx="5183187" cy="522287"/>
          </a:xfrm>
          <a:prstGeom prst="rect">
            <a:avLst/>
          </a:prstGeom>
          <a:noFill/>
          <a:ln w="9525">
            <a:noFill/>
          </a:ln>
        </p:spPr>
        <p:txBody>
          <a:bodyPr anchor="t" anchorCtr="0">
            <a:spAutoFit/>
          </a:bodyPr>
          <a:p>
            <a:r>
              <a:rPr lang="en-US" altLang="zh-CN" sz="2800" b="1" dirty="0">
                <a:solidFill>
                  <a:srgbClr val="FF0000"/>
                </a:solidFill>
                <a:latin typeface="宋体" panose="02010600030101010101" pitchFamily="2" charset="-122"/>
                <a:ea typeface="宋体" panose="02010600030101010101" pitchFamily="2" charset="-122"/>
              </a:rPr>
              <a:t>5 </a:t>
            </a:r>
            <a:r>
              <a:rPr lang="zh-CN" altLang="en-US" sz="2800" b="1" dirty="0">
                <a:solidFill>
                  <a:srgbClr val="FF0000"/>
                </a:solidFill>
                <a:latin typeface="宋体" panose="02010600030101010101" pitchFamily="2" charset="-122"/>
                <a:ea typeface="宋体" panose="02010600030101010101" pitchFamily="2" charset="-122"/>
              </a:rPr>
              <a:t>系统分析</a:t>
            </a:r>
            <a:endParaRPr lang="zh-CN" altLang="en-US" sz="2800" dirty="0">
              <a:solidFill>
                <a:srgbClr val="0000FF"/>
              </a:solidFill>
              <a:latin typeface="Times New Roman" panose="02020603050405020304" pitchFamily="18" charset="0"/>
              <a:ea typeface="宋体" panose="02010600030101010101" pitchFamily="2" charset="-122"/>
            </a:endParaRPr>
          </a:p>
        </p:txBody>
      </p:sp>
      <p:sp>
        <p:nvSpPr>
          <p:cNvPr id="22531" name="Rectangle 3"/>
          <p:cNvSpPr/>
          <p:nvPr/>
        </p:nvSpPr>
        <p:spPr>
          <a:xfrm>
            <a:off x="971550" y="4149725"/>
            <a:ext cx="6553200" cy="457200"/>
          </a:xfrm>
          <a:prstGeom prst="rect">
            <a:avLst/>
          </a:prstGeom>
          <a:noFill/>
          <a:ln w="9525">
            <a:noFill/>
          </a:ln>
        </p:spPr>
        <p:txBody>
          <a:bodyPr anchor="t" anchorCtr="0">
            <a:spAutoFit/>
          </a:bodyPr>
          <a:p>
            <a:pPr>
              <a:buClr>
                <a:srgbClr val="FF0000"/>
              </a:buClr>
              <a:buFont typeface="Wingdings" panose="05000000000000000000" pitchFamily="2" charset="2"/>
              <a:buChar char="Ø"/>
            </a:pPr>
            <a:r>
              <a:rPr lang="zh-CN" altLang="en-US" b="1" dirty="0">
                <a:latin typeface="宋体" panose="02010600030101010101" pitchFamily="2" charset="-122"/>
                <a:ea typeface="宋体" panose="02010600030101010101" pitchFamily="2" charset="-122"/>
              </a:rPr>
              <a:t>已知系统特性和输入信号，求系统的输出；</a:t>
            </a:r>
            <a:r>
              <a:rPr lang="zh-CN" altLang="en-US" b="1" dirty="0">
                <a:latin typeface="Times New Roman" panose="02020603050405020304" pitchFamily="18" charset="0"/>
                <a:ea typeface="宋体" panose="02010600030101010101" pitchFamily="2" charset="-122"/>
              </a:rPr>
              <a:t> </a:t>
            </a:r>
            <a:endParaRPr lang="zh-CN" altLang="en-US" b="1" dirty="0">
              <a:latin typeface="Times New Roman" panose="02020603050405020304" pitchFamily="18" charset="0"/>
              <a:ea typeface="宋体" panose="02010600030101010101" pitchFamily="2" charset="-122"/>
            </a:endParaRPr>
          </a:p>
        </p:txBody>
      </p:sp>
      <p:sp>
        <p:nvSpPr>
          <p:cNvPr id="22532" name="Rectangle 4"/>
          <p:cNvSpPr/>
          <p:nvPr/>
        </p:nvSpPr>
        <p:spPr>
          <a:xfrm>
            <a:off x="971550" y="4941888"/>
            <a:ext cx="6389688" cy="457200"/>
          </a:xfrm>
          <a:prstGeom prst="rect">
            <a:avLst/>
          </a:prstGeom>
          <a:noFill/>
          <a:ln w="9525">
            <a:noFill/>
          </a:ln>
        </p:spPr>
        <p:txBody>
          <a:bodyPr anchor="t" anchorCtr="0">
            <a:spAutoFit/>
          </a:bodyPr>
          <a:p>
            <a:pPr>
              <a:buClr>
                <a:srgbClr val="FF0000"/>
              </a:buClr>
              <a:buFont typeface="Wingdings" panose="05000000000000000000" pitchFamily="2" charset="2"/>
              <a:buChar char="Ø"/>
            </a:pPr>
            <a:r>
              <a:rPr lang="zh-CN" altLang="en-US" b="1" dirty="0">
                <a:latin typeface="宋体" panose="02010600030101010101" pitchFamily="2" charset="-122"/>
                <a:ea typeface="宋体" panose="02010600030101010101" pitchFamily="2" charset="-122"/>
              </a:rPr>
              <a:t>已知系统的输入和输出信号，求系统特性；</a:t>
            </a:r>
            <a:r>
              <a:rPr lang="zh-CN" altLang="en-US" b="1" dirty="0">
                <a:latin typeface="Times New Roman" panose="02020603050405020304" pitchFamily="18" charset="0"/>
                <a:ea typeface="宋体" panose="02010600030101010101" pitchFamily="2" charset="-122"/>
              </a:rPr>
              <a:t> </a:t>
            </a:r>
            <a:endParaRPr lang="zh-CN" altLang="en-US" b="1" dirty="0">
              <a:latin typeface="Times New Roman" panose="02020603050405020304" pitchFamily="18" charset="0"/>
              <a:ea typeface="宋体" panose="02010600030101010101" pitchFamily="2" charset="-122"/>
            </a:endParaRPr>
          </a:p>
        </p:txBody>
      </p:sp>
      <p:sp>
        <p:nvSpPr>
          <p:cNvPr id="22533" name="Rectangle 5"/>
          <p:cNvSpPr/>
          <p:nvPr/>
        </p:nvSpPr>
        <p:spPr>
          <a:xfrm>
            <a:off x="971550" y="5734050"/>
            <a:ext cx="7832725" cy="460375"/>
          </a:xfrm>
          <a:prstGeom prst="rect">
            <a:avLst/>
          </a:prstGeom>
          <a:noFill/>
          <a:ln w="9525">
            <a:noFill/>
          </a:ln>
        </p:spPr>
        <p:txBody>
          <a:bodyPr anchor="t" anchorCtr="0">
            <a:spAutoFit/>
          </a:bodyPr>
          <a:p>
            <a:pPr algn="just" defTabSz="914400">
              <a:buClr>
                <a:srgbClr val="FF0000"/>
              </a:buClr>
              <a:buFont typeface="Wingdings" panose="05000000000000000000" pitchFamily="2" charset="2"/>
              <a:buChar char="Ø"/>
              <a:tabLst>
                <a:tab pos="685800" algn="l"/>
                <a:tab pos="930275" algn="l"/>
              </a:tabLst>
            </a:pPr>
            <a:r>
              <a:rPr lang="zh-CN" altLang="en-US" b="1" dirty="0">
                <a:latin typeface="Times New Roman" panose="02020603050405020304" pitchFamily="18" charset="0"/>
                <a:ea typeface="宋体" panose="02010600030101010101" pitchFamily="2" charset="-122"/>
              </a:rPr>
              <a:t>已知输入信号和欲得到的输出信号，构造（设计）系统</a:t>
            </a:r>
            <a:r>
              <a:rPr lang="zh-CN" altLang="en-US" sz="1500"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grpSp>
        <p:nvGrpSpPr>
          <p:cNvPr id="2" name="Group 27"/>
          <p:cNvGrpSpPr/>
          <p:nvPr/>
        </p:nvGrpSpPr>
        <p:grpSpPr>
          <a:xfrm>
            <a:off x="2876550" y="923925"/>
            <a:ext cx="3030538" cy="996950"/>
            <a:chOff x="1465" y="709"/>
            <a:chExt cx="1778" cy="628"/>
          </a:xfrm>
        </p:grpSpPr>
        <p:grpSp>
          <p:nvGrpSpPr>
            <p:cNvPr id="48134" name="Group 14"/>
            <p:cNvGrpSpPr/>
            <p:nvPr/>
          </p:nvGrpSpPr>
          <p:grpSpPr>
            <a:xfrm>
              <a:off x="2064" y="890"/>
              <a:ext cx="680" cy="288"/>
              <a:chOff x="1066" y="1253"/>
              <a:chExt cx="635" cy="288"/>
            </a:xfrm>
          </p:grpSpPr>
          <p:sp>
            <p:nvSpPr>
              <p:cNvPr id="48135" name="Rectangle 15"/>
              <p:cNvSpPr/>
              <p:nvPr/>
            </p:nvSpPr>
            <p:spPr>
              <a:xfrm>
                <a:off x="1066" y="1253"/>
                <a:ext cx="635" cy="27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8136" name="Text Box 16"/>
              <p:cNvSpPr txBox="1"/>
              <p:nvPr/>
            </p:nvSpPr>
            <p:spPr>
              <a:xfrm>
                <a:off x="1066" y="1253"/>
                <a:ext cx="478" cy="288"/>
              </a:xfrm>
              <a:prstGeom prst="rect">
                <a:avLst/>
              </a:prstGeom>
              <a:noFill/>
              <a:ln w="9525">
                <a:noFill/>
              </a:ln>
            </p:spPr>
            <p:txBody>
              <a:bodyPr wrap="none" anchor="t" anchorCtr="0">
                <a:spAutoFit/>
              </a:bodyPr>
              <a:p>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系统</a:t>
                </a:r>
                <a:endParaRPr lang="zh-CN" altLang="en-US" b="1" dirty="0">
                  <a:latin typeface="Times New Roman" panose="02020603050405020304" pitchFamily="18" charset="0"/>
                  <a:ea typeface="宋体" panose="02010600030101010101" pitchFamily="2" charset="-122"/>
                </a:endParaRPr>
              </a:p>
            </p:txBody>
          </p:sp>
        </p:grpSp>
        <p:sp>
          <p:nvSpPr>
            <p:cNvPr id="48137" name="Line 18"/>
            <p:cNvSpPr/>
            <p:nvPr/>
          </p:nvSpPr>
          <p:spPr>
            <a:xfrm>
              <a:off x="1519" y="1026"/>
              <a:ext cx="545" cy="0"/>
            </a:xfrm>
            <a:prstGeom prst="line">
              <a:avLst/>
            </a:prstGeom>
            <a:ln w="9525" cap="flat" cmpd="sng">
              <a:solidFill>
                <a:schemeClr val="tx1"/>
              </a:solidFill>
              <a:prstDash val="solid"/>
              <a:round/>
              <a:headEnd type="none" w="med" len="med"/>
              <a:tailEnd type="triangle" w="med" len="med"/>
            </a:ln>
          </p:spPr>
        </p:sp>
        <p:sp>
          <p:nvSpPr>
            <p:cNvPr id="48138" name="Line 20"/>
            <p:cNvSpPr/>
            <p:nvPr/>
          </p:nvSpPr>
          <p:spPr>
            <a:xfrm>
              <a:off x="2744" y="1026"/>
              <a:ext cx="499" cy="0"/>
            </a:xfrm>
            <a:prstGeom prst="line">
              <a:avLst/>
            </a:prstGeom>
            <a:ln w="9525" cap="flat" cmpd="sng">
              <a:solidFill>
                <a:schemeClr val="tx1"/>
              </a:solidFill>
              <a:prstDash val="solid"/>
              <a:round/>
              <a:headEnd type="none" w="med" len="med"/>
              <a:tailEnd type="triangle" w="med" len="med"/>
            </a:ln>
          </p:spPr>
        </p:sp>
        <p:graphicFrame>
          <p:nvGraphicFramePr>
            <p:cNvPr id="48139" name="Object 23"/>
            <p:cNvGraphicFramePr>
              <a:graphicFrameLocks noChangeAspect="1"/>
            </p:cNvGraphicFramePr>
            <p:nvPr/>
          </p:nvGraphicFramePr>
          <p:xfrm>
            <a:off x="1474" y="754"/>
            <a:ext cx="394" cy="311"/>
          </p:xfrm>
          <a:graphic>
            <a:graphicData uri="http://schemas.openxmlformats.org/presentationml/2006/ole">
              <mc:AlternateContent xmlns:mc="http://schemas.openxmlformats.org/markup-compatibility/2006">
                <mc:Choice xmlns:v="urn:schemas-microsoft-com:vml" Requires="v">
                  <p:oleObj spid="_x0000_s3112" name="" r:id="rId1" imgW="241300" imgH="190500" progId="Equation.3">
                    <p:embed/>
                  </p:oleObj>
                </mc:Choice>
                <mc:Fallback>
                  <p:oleObj name="" r:id="rId1" imgW="241300" imgH="190500" progId="Equation.3">
                    <p:embed/>
                    <p:pic>
                      <p:nvPicPr>
                        <p:cNvPr id="0" name="图片 3111"/>
                        <p:cNvPicPr/>
                        <p:nvPr/>
                      </p:nvPicPr>
                      <p:blipFill>
                        <a:blip r:embed="rId2"/>
                        <a:stretch>
                          <a:fillRect/>
                        </a:stretch>
                      </p:blipFill>
                      <p:spPr>
                        <a:xfrm>
                          <a:off x="1474" y="754"/>
                          <a:ext cx="394" cy="311"/>
                        </a:xfrm>
                        <a:prstGeom prst="rect">
                          <a:avLst/>
                        </a:prstGeom>
                        <a:noFill/>
                        <a:ln w="38100">
                          <a:noFill/>
                          <a:miter/>
                        </a:ln>
                      </p:spPr>
                    </p:pic>
                  </p:oleObj>
                </mc:Fallback>
              </mc:AlternateContent>
            </a:graphicData>
          </a:graphic>
        </p:graphicFrame>
        <p:graphicFrame>
          <p:nvGraphicFramePr>
            <p:cNvPr id="48140" name="Object 24"/>
            <p:cNvGraphicFramePr>
              <a:graphicFrameLocks noChangeAspect="1"/>
            </p:cNvGraphicFramePr>
            <p:nvPr/>
          </p:nvGraphicFramePr>
          <p:xfrm>
            <a:off x="1465" y="1075"/>
            <a:ext cx="393" cy="253"/>
          </p:xfrm>
          <a:graphic>
            <a:graphicData uri="http://schemas.openxmlformats.org/presentationml/2006/ole">
              <mc:AlternateContent xmlns:mc="http://schemas.openxmlformats.org/markup-compatibility/2006">
                <mc:Choice xmlns:v="urn:schemas-microsoft-com:vml" Requires="v">
                  <p:oleObj spid="_x0000_s3113" name="" r:id="rId3" imgW="316865" imgH="203200" progId="Equation.3">
                    <p:embed/>
                  </p:oleObj>
                </mc:Choice>
                <mc:Fallback>
                  <p:oleObj name="" r:id="rId3" imgW="316865" imgH="203200" progId="Equation.3">
                    <p:embed/>
                    <p:pic>
                      <p:nvPicPr>
                        <p:cNvPr id="0" name="图片 3112"/>
                        <p:cNvPicPr/>
                        <p:nvPr/>
                      </p:nvPicPr>
                      <p:blipFill>
                        <a:blip r:embed="rId4"/>
                        <a:stretch>
                          <a:fillRect/>
                        </a:stretch>
                      </p:blipFill>
                      <p:spPr>
                        <a:xfrm>
                          <a:off x="1465" y="1075"/>
                          <a:ext cx="393" cy="253"/>
                        </a:xfrm>
                        <a:prstGeom prst="rect">
                          <a:avLst/>
                        </a:prstGeom>
                        <a:noFill/>
                        <a:ln w="38100">
                          <a:noFill/>
                          <a:miter/>
                        </a:ln>
                      </p:spPr>
                    </p:pic>
                  </p:oleObj>
                </mc:Fallback>
              </mc:AlternateContent>
            </a:graphicData>
          </a:graphic>
        </p:graphicFrame>
        <p:graphicFrame>
          <p:nvGraphicFramePr>
            <p:cNvPr id="48141" name="Object 25"/>
            <p:cNvGraphicFramePr>
              <a:graphicFrameLocks noChangeAspect="1"/>
            </p:cNvGraphicFramePr>
            <p:nvPr/>
          </p:nvGraphicFramePr>
          <p:xfrm>
            <a:off x="2825" y="709"/>
            <a:ext cx="415" cy="311"/>
          </p:xfrm>
          <a:graphic>
            <a:graphicData uri="http://schemas.openxmlformats.org/presentationml/2006/ole">
              <mc:AlternateContent xmlns:mc="http://schemas.openxmlformats.org/markup-compatibility/2006">
                <mc:Choice xmlns:v="urn:schemas-microsoft-com:vml" Requires="v">
                  <p:oleObj spid="_x0000_s3114" name="" r:id="rId5" imgW="254000" imgH="190500" progId="Equation.3">
                    <p:embed/>
                  </p:oleObj>
                </mc:Choice>
                <mc:Fallback>
                  <p:oleObj name="" r:id="rId5" imgW="254000" imgH="190500" progId="Equation.3">
                    <p:embed/>
                    <p:pic>
                      <p:nvPicPr>
                        <p:cNvPr id="0" name="图片 3113"/>
                        <p:cNvPicPr/>
                        <p:nvPr/>
                      </p:nvPicPr>
                      <p:blipFill>
                        <a:blip r:embed="rId6"/>
                        <a:stretch>
                          <a:fillRect/>
                        </a:stretch>
                      </p:blipFill>
                      <p:spPr>
                        <a:xfrm>
                          <a:off x="2825" y="709"/>
                          <a:ext cx="415" cy="311"/>
                        </a:xfrm>
                        <a:prstGeom prst="rect">
                          <a:avLst/>
                        </a:prstGeom>
                        <a:noFill/>
                        <a:ln w="38100">
                          <a:noFill/>
                          <a:miter/>
                        </a:ln>
                      </p:spPr>
                    </p:pic>
                  </p:oleObj>
                </mc:Fallback>
              </mc:AlternateContent>
            </a:graphicData>
          </a:graphic>
        </p:graphicFrame>
        <p:graphicFrame>
          <p:nvGraphicFramePr>
            <p:cNvPr id="48142" name="Object 26"/>
            <p:cNvGraphicFramePr>
              <a:graphicFrameLocks noChangeAspect="1"/>
            </p:cNvGraphicFramePr>
            <p:nvPr/>
          </p:nvGraphicFramePr>
          <p:xfrm>
            <a:off x="2835" y="1059"/>
            <a:ext cx="408" cy="278"/>
          </p:xfrm>
          <a:graphic>
            <a:graphicData uri="http://schemas.openxmlformats.org/presentationml/2006/ole">
              <mc:AlternateContent xmlns:mc="http://schemas.openxmlformats.org/markup-compatibility/2006">
                <mc:Choice xmlns:v="urn:schemas-microsoft-com:vml" Requires="v">
                  <p:oleObj spid="_x0000_s3115" name="" r:id="rId7" imgW="279400" imgH="190500" progId="Equation.3">
                    <p:embed/>
                  </p:oleObj>
                </mc:Choice>
                <mc:Fallback>
                  <p:oleObj name="" r:id="rId7" imgW="279400" imgH="190500" progId="Equation.3">
                    <p:embed/>
                    <p:pic>
                      <p:nvPicPr>
                        <p:cNvPr id="0" name="图片 3114"/>
                        <p:cNvPicPr/>
                        <p:nvPr/>
                      </p:nvPicPr>
                      <p:blipFill>
                        <a:blip r:embed="rId8"/>
                        <a:stretch>
                          <a:fillRect/>
                        </a:stretch>
                      </p:blipFill>
                      <p:spPr>
                        <a:xfrm>
                          <a:off x="2835" y="1059"/>
                          <a:ext cx="408" cy="278"/>
                        </a:xfrm>
                        <a:prstGeom prst="rect">
                          <a:avLst/>
                        </a:prstGeom>
                        <a:noFill/>
                        <a:ln w="38100">
                          <a:noFill/>
                          <a:miter/>
                        </a:ln>
                      </p:spPr>
                    </p:pic>
                  </p:oleObj>
                </mc:Fallback>
              </mc:AlternateContent>
            </a:graphicData>
          </a:graphic>
        </p:graphicFrame>
      </p:grpSp>
      <p:grpSp>
        <p:nvGrpSpPr>
          <p:cNvPr id="4" name="Group 36"/>
          <p:cNvGrpSpPr/>
          <p:nvPr/>
        </p:nvGrpSpPr>
        <p:grpSpPr>
          <a:xfrm>
            <a:off x="827088" y="2276475"/>
            <a:ext cx="7562850" cy="466725"/>
            <a:chOff x="521" y="799"/>
            <a:chExt cx="4522" cy="294"/>
          </a:xfrm>
        </p:grpSpPr>
        <p:sp>
          <p:nvSpPr>
            <p:cNvPr id="48144" name="Text Box 28"/>
            <p:cNvSpPr txBox="1"/>
            <p:nvPr/>
          </p:nvSpPr>
          <p:spPr>
            <a:xfrm>
              <a:off x="521" y="799"/>
              <a:ext cx="849" cy="294"/>
            </a:xfrm>
            <a:prstGeom prst="rect">
              <a:avLst/>
            </a:prstGeom>
            <a:noFill/>
            <a:ln w="9525" cap="flat" cmpd="sng">
              <a:solidFill>
                <a:schemeClr val="accent2"/>
              </a:solidFill>
              <a:prstDash val="solid"/>
              <a:miter/>
              <a:headEnd type="none" w="med" len="med"/>
              <a:tailEnd type="none" w="med" len="med"/>
            </a:ln>
          </p:spPr>
          <p:txBody>
            <a:bodyPr wrap="none" anchor="t" anchorCtr="0">
              <a:spAutoFit/>
            </a:bodyPr>
            <a:p>
              <a:r>
                <a:rPr lang="zh-CN" altLang="en-US" b="1" dirty="0">
                  <a:latin typeface="Times New Roman" panose="02020603050405020304" pitchFamily="18" charset="0"/>
                  <a:ea typeface="宋体" panose="02010600030101010101" pitchFamily="2" charset="-122"/>
                </a:rPr>
                <a:t>实际问题</a:t>
              </a:r>
              <a:endParaRPr lang="zh-CN" altLang="en-US" b="1" dirty="0">
                <a:latin typeface="Times New Roman" panose="02020603050405020304" pitchFamily="18" charset="0"/>
                <a:ea typeface="宋体" panose="02010600030101010101" pitchFamily="2" charset="-122"/>
              </a:endParaRPr>
            </a:p>
          </p:txBody>
        </p:sp>
        <p:sp>
          <p:nvSpPr>
            <p:cNvPr id="48145" name="Text Box 30"/>
            <p:cNvSpPr txBox="1"/>
            <p:nvPr/>
          </p:nvSpPr>
          <p:spPr>
            <a:xfrm>
              <a:off x="1746" y="799"/>
              <a:ext cx="849" cy="294"/>
            </a:xfrm>
            <a:prstGeom prst="rect">
              <a:avLst/>
            </a:prstGeom>
            <a:noFill/>
            <a:ln w="9525" cap="flat" cmpd="sng">
              <a:solidFill>
                <a:schemeClr val="accent2"/>
              </a:solidFill>
              <a:prstDash val="solid"/>
              <a:miter/>
              <a:headEnd type="none" w="med" len="med"/>
              <a:tailEnd type="none" w="med" len="med"/>
            </a:ln>
          </p:spPr>
          <p:txBody>
            <a:bodyPr wrap="none" anchor="t" anchorCtr="0">
              <a:spAutoFit/>
            </a:bodyPr>
            <a:p>
              <a:r>
                <a:rPr lang="zh-CN" altLang="en-US" b="1" dirty="0">
                  <a:latin typeface="Times New Roman" panose="02020603050405020304" pitchFamily="18" charset="0"/>
                  <a:ea typeface="宋体" panose="02010600030101010101" pitchFamily="2" charset="-122"/>
                </a:rPr>
                <a:t>数学模型</a:t>
              </a:r>
              <a:endParaRPr lang="zh-CN" altLang="en-US" b="1" dirty="0">
                <a:latin typeface="Times New Roman" panose="02020603050405020304" pitchFamily="18" charset="0"/>
                <a:ea typeface="宋体" panose="02010600030101010101" pitchFamily="2" charset="-122"/>
              </a:endParaRPr>
            </a:p>
          </p:txBody>
        </p:sp>
        <p:sp>
          <p:nvSpPr>
            <p:cNvPr id="48146" name="Text Box 31"/>
            <p:cNvSpPr txBox="1"/>
            <p:nvPr/>
          </p:nvSpPr>
          <p:spPr>
            <a:xfrm>
              <a:off x="2971" y="799"/>
              <a:ext cx="890" cy="294"/>
            </a:xfrm>
            <a:prstGeom prst="rect">
              <a:avLst/>
            </a:prstGeom>
            <a:noFill/>
            <a:ln w="9525" cap="flat" cmpd="sng">
              <a:solidFill>
                <a:schemeClr val="accent2"/>
              </a:solidFill>
              <a:prstDash val="solid"/>
              <a:miter/>
              <a:headEnd type="none" w="med" len="med"/>
              <a:tailEnd type="none" w="med" len="med"/>
            </a:ln>
          </p:spPr>
          <p:txBody>
            <a:bodyPr anchor="t" anchorCtr="0">
              <a:spAutoFit/>
            </a:bodyPr>
            <a:p>
              <a:r>
                <a:rPr lang="zh-CN" altLang="en-US" b="1" dirty="0">
                  <a:latin typeface="Times New Roman" panose="02020603050405020304" pitchFamily="18" charset="0"/>
                  <a:ea typeface="宋体" panose="02010600030101010101" pitchFamily="2" charset="-122"/>
                </a:rPr>
                <a:t>数学分析</a:t>
              </a:r>
              <a:endParaRPr lang="zh-CN" altLang="en-US" b="1" dirty="0">
                <a:latin typeface="Times New Roman" panose="02020603050405020304" pitchFamily="18" charset="0"/>
                <a:ea typeface="宋体" panose="02010600030101010101" pitchFamily="2" charset="-122"/>
              </a:endParaRPr>
            </a:p>
          </p:txBody>
        </p:sp>
        <p:sp>
          <p:nvSpPr>
            <p:cNvPr id="48147" name="AutoShape 32"/>
            <p:cNvSpPr/>
            <p:nvPr/>
          </p:nvSpPr>
          <p:spPr>
            <a:xfrm>
              <a:off x="1474" y="890"/>
              <a:ext cx="181" cy="136"/>
            </a:xfrm>
            <a:prstGeom prst="rightArrow">
              <a:avLst>
                <a:gd name="adj1" fmla="val 50000"/>
                <a:gd name="adj2" fmla="val 33216"/>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8148" name="AutoShape 33"/>
            <p:cNvSpPr/>
            <p:nvPr/>
          </p:nvSpPr>
          <p:spPr>
            <a:xfrm>
              <a:off x="2699" y="890"/>
              <a:ext cx="181" cy="136"/>
            </a:xfrm>
            <a:prstGeom prst="rightArrow">
              <a:avLst>
                <a:gd name="adj1" fmla="val 50000"/>
                <a:gd name="adj2" fmla="val 33216"/>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8149" name="AutoShape 34"/>
            <p:cNvSpPr/>
            <p:nvPr/>
          </p:nvSpPr>
          <p:spPr>
            <a:xfrm>
              <a:off x="3923" y="890"/>
              <a:ext cx="181" cy="136"/>
            </a:xfrm>
            <a:prstGeom prst="rightArrow">
              <a:avLst>
                <a:gd name="adj1" fmla="val 50000"/>
                <a:gd name="adj2" fmla="val 33216"/>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48150" name="Text Box 35"/>
            <p:cNvSpPr txBox="1"/>
            <p:nvPr/>
          </p:nvSpPr>
          <p:spPr>
            <a:xfrm>
              <a:off x="4195" y="799"/>
              <a:ext cx="848" cy="294"/>
            </a:xfrm>
            <a:prstGeom prst="rect">
              <a:avLst/>
            </a:prstGeom>
            <a:noFill/>
            <a:ln w="9525" cap="flat" cmpd="sng">
              <a:solidFill>
                <a:schemeClr val="accent2"/>
              </a:solidFill>
              <a:prstDash val="solid"/>
              <a:miter/>
              <a:headEnd type="none" w="med" len="med"/>
              <a:tailEnd type="none" w="med" len="med"/>
            </a:ln>
          </p:spPr>
          <p:txBody>
            <a:bodyPr wrap="none" anchor="t" anchorCtr="0">
              <a:spAutoFit/>
            </a:bodyPr>
            <a:p>
              <a:r>
                <a:rPr lang="zh-CN" altLang="en-US" b="1" dirty="0">
                  <a:latin typeface="Times New Roman" panose="02020603050405020304" pitchFamily="18" charset="0"/>
                  <a:ea typeface="宋体" panose="02010600030101010101" pitchFamily="2" charset="-122"/>
                </a:rPr>
                <a:t>物理解释</a:t>
              </a:r>
              <a:endParaRPr lang="zh-CN" altLang="en-US" b="1" dirty="0">
                <a:latin typeface="Times New Roman" panose="02020603050405020304" pitchFamily="18" charset="0"/>
                <a:ea typeface="宋体" panose="02010600030101010101" pitchFamily="2" charset="-122"/>
              </a:endParaRPr>
            </a:p>
          </p:txBody>
        </p:sp>
      </p:grpSp>
      <p:sp>
        <p:nvSpPr>
          <p:cNvPr id="22565" name="Text Box 37"/>
          <p:cNvSpPr txBox="1"/>
          <p:nvPr/>
        </p:nvSpPr>
        <p:spPr>
          <a:xfrm>
            <a:off x="1331913" y="3284538"/>
            <a:ext cx="4419600" cy="461962"/>
          </a:xfrm>
          <a:prstGeom prst="rect">
            <a:avLst/>
          </a:prstGeom>
          <a:noFill/>
          <a:ln w="9525" cap="flat" cmpd="sng">
            <a:solidFill>
              <a:srgbClr val="FF0000"/>
            </a:solidFill>
            <a:prstDash val="solid"/>
            <a:miter/>
            <a:headEnd type="none" w="med" len="med"/>
            <a:tailEnd type="none" w="med" len="med"/>
          </a:ln>
        </p:spPr>
        <p:txBody>
          <a:bodyPr anchor="t" anchorCtr="0">
            <a:spAutoFit/>
          </a:bodyPr>
          <a:p>
            <a:pPr>
              <a:spcBef>
                <a:spcPct val="50000"/>
              </a:spcBef>
            </a:pPr>
            <a:r>
              <a:rPr lang="zh-CN" altLang="en-US" b="1" dirty="0">
                <a:solidFill>
                  <a:srgbClr val="FF0000"/>
                </a:solidFill>
                <a:latin typeface="Times New Roman" panose="02020603050405020304" pitchFamily="18" charset="0"/>
                <a:ea typeface="宋体" panose="02010600030101010101" pitchFamily="2" charset="-122"/>
              </a:rPr>
              <a:t>重点</a:t>
            </a:r>
            <a:r>
              <a:rPr lang="zh-CN" altLang="en-US" b="1" dirty="0">
                <a:latin typeface="Times New Roman" panose="02020603050405020304" pitchFamily="18" charset="0"/>
                <a:ea typeface="宋体" panose="02010600030101010101" pitchFamily="2" charset="-122"/>
              </a:rPr>
              <a:t>：输入与输出之间的关系</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25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25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25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2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31" grpId="0"/>
      <p:bldP spid="22532" grpId="0"/>
      <p:bldP spid="22533" grpId="0"/>
      <p:bldP spid="2256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Text Box 2"/>
          <p:cNvSpPr txBox="1"/>
          <p:nvPr/>
        </p:nvSpPr>
        <p:spPr>
          <a:xfrm>
            <a:off x="304800" y="381000"/>
            <a:ext cx="6067425" cy="519113"/>
          </a:xfrm>
          <a:prstGeom prst="rect">
            <a:avLst/>
          </a:prstGeom>
          <a:noFill/>
          <a:ln w="9525">
            <a:noFill/>
          </a:ln>
        </p:spPr>
        <p:txBody>
          <a:bodyPr anchor="t" anchorCtr="0">
            <a:spAutoFit/>
          </a:bodyPr>
          <a:p>
            <a:pPr>
              <a:spcBef>
                <a:spcPct val="50000"/>
              </a:spcBef>
              <a:buClr>
                <a:srgbClr val="FF0000"/>
              </a:buClr>
            </a:pPr>
            <a:r>
              <a:rPr lang="zh-CN" altLang="en-US" sz="2800" b="1" dirty="0">
                <a:solidFill>
                  <a:schemeClr val="accent2"/>
                </a:solidFill>
                <a:latin typeface="Times New Roman" panose="02020603050405020304" pitchFamily="18" charset="0"/>
                <a:ea typeface="宋体" panose="02010600030101010101" pitchFamily="2" charset="-122"/>
              </a:rPr>
              <a:t>线性时不变系统（</a:t>
            </a:r>
            <a:r>
              <a:rPr lang="en-US" altLang="zh-CN" sz="2800" b="1" dirty="0">
                <a:solidFill>
                  <a:schemeClr val="accent2"/>
                </a:solidFill>
                <a:latin typeface="Times New Roman" panose="02020603050405020304" pitchFamily="18" charset="0"/>
                <a:ea typeface="宋体" panose="02010600030101010101" pitchFamily="2" charset="-122"/>
              </a:rPr>
              <a:t>LTI</a:t>
            </a:r>
            <a:r>
              <a:rPr lang="zh-CN" altLang="en-US" sz="2800" b="1" dirty="0">
                <a:solidFill>
                  <a:schemeClr val="accent2"/>
                </a:solidFill>
                <a:latin typeface="Times New Roman" panose="02020603050405020304" pitchFamily="18" charset="0"/>
                <a:ea typeface="宋体" panose="02010600030101010101" pitchFamily="2" charset="-122"/>
              </a:rPr>
              <a:t>）分析方法</a:t>
            </a:r>
            <a:r>
              <a:rPr lang="zh-CN" altLang="en-US" b="1" dirty="0">
                <a:solidFill>
                  <a:schemeClr val="accent2"/>
                </a:solidFill>
                <a:latin typeface="Times New Roman" panose="02020603050405020304" pitchFamily="18" charset="0"/>
                <a:ea typeface="宋体" panose="02010600030101010101" pitchFamily="2" charset="-122"/>
              </a:rPr>
              <a:t>：</a:t>
            </a:r>
            <a:endParaRPr lang="zh-CN" altLang="en-US" b="1" dirty="0">
              <a:solidFill>
                <a:schemeClr val="accent2"/>
              </a:solidFill>
              <a:latin typeface="Times New Roman" panose="02020603050405020304" pitchFamily="18" charset="0"/>
              <a:ea typeface="宋体" panose="02010600030101010101" pitchFamily="2" charset="-122"/>
            </a:endParaRPr>
          </a:p>
        </p:txBody>
      </p:sp>
      <p:sp>
        <p:nvSpPr>
          <p:cNvPr id="26627" name="Text Box 3"/>
          <p:cNvSpPr txBox="1"/>
          <p:nvPr/>
        </p:nvSpPr>
        <p:spPr>
          <a:xfrm>
            <a:off x="1371600" y="1143000"/>
            <a:ext cx="4419600" cy="461963"/>
          </a:xfrm>
          <a:prstGeom prst="rect">
            <a:avLst/>
          </a:prstGeom>
          <a:noFill/>
          <a:ln w="9525" cap="flat" cmpd="sng">
            <a:solidFill>
              <a:srgbClr val="FF0000"/>
            </a:solidFill>
            <a:prstDash val="solid"/>
            <a:miter/>
            <a:headEnd type="none" w="med" len="med"/>
            <a:tailEnd type="none" w="med" len="med"/>
          </a:ln>
        </p:spPr>
        <p:txBody>
          <a:bodyPr anchor="t" anchorCtr="0">
            <a:spAutoFit/>
          </a:bodyPr>
          <a:p>
            <a:pPr>
              <a:spcBef>
                <a:spcPct val="50000"/>
              </a:spcBef>
            </a:pPr>
            <a:r>
              <a:rPr lang="zh-CN" altLang="en-US" b="1" dirty="0">
                <a:solidFill>
                  <a:srgbClr val="FF0000"/>
                </a:solidFill>
                <a:latin typeface="Times New Roman" panose="02020603050405020304" pitchFamily="18" charset="0"/>
                <a:ea typeface="宋体" panose="02010600030101010101" pitchFamily="2" charset="-122"/>
              </a:rPr>
              <a:t>重点</a:t>
            </a:r>
            <a:r>
              <a:rPr lang="zh-CN" altLang="en-US" b="1" dirty="0">
                <a:latin typeface="Times New Roman" panose="02020603050405020304" pitchFamily="18" charset="0"/>
                <a:ea typeface="宋体" panose="02010600030101010101" pitchFamily="2" charset="-122"/>
              </a:rPr>
              <a:t>：输入与输出之间的关系</a:t>
            </a:r>
            <a:endParaRPr lang="zh-CN" altLang="en-US" b="1" dirty="0">
              <a:latin typeface="Times New Roman" panose="02020603050405020304" pitchFamily="18" charset="0"/>
              <a:ea typeface="宋体" panose="02010600030101010101" pitchFamily="2" charset="-122"/>
            </a:endParaRPr>
          </a:p>
        </p:txBody>
      </p:sp>
      <p:sp>
        <p:nvSpPr>
          <p:cNvPr id="26628" name="Text Box 4"/>
          <p:cNvSpPr txBox="1"/>
          <p:nvPr/>
        </p:nvSpPr>
        <p:spPr>
          <a:xfrm>
            <a:off x="468313" y="2708275"/>
            <a:ext cx="2174875" cy="457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连续系统：</a:t>
            </a:r>
            <a:endParaRPr lang="zh-CN" altLang="en-US" b="1" dirty="0">
              <a:latin typeface="Times New Roman" panose="02020603050405020304" pitchFamily="18" charset="0"/>
              <a:ea typeface="宋体" panose="02010600030101010101" pitchFamily="2" charset="-122"/>
            </a:endParaRPr>
          </a:p>
        </p:txBody>
      </p:sp>
      <p:sp>
        <p:nvSpPr>
          <p:cNvPr id="26629" name="AutoShape 5"/>
          <p:cNvSpPr/>
          <p:nvPr/>
        </p:nvSpPr>
        <p:spPr>
          <a:xfrm>
            <a:off x="1979613" y="2060575"/>
            <a:ext cx="576262" cy="1901825"/>
          </a:xfrm>
          <a:prstGeom prst="leftBrace">
            <a:avLst>
              <a:gd name="adj1" fmla="val 27364"/>
              <a:gd name="adj2" fmla="val 48412"/>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26630" name="Text Box 6"/>
          <p:cNvSpPr txBox="1"/>
          <p:nvPr/>
        </p:nvSpPr>
        <p:spPr>
          <a:xfrm>
            <a:off x="2590800" y="1905000"/>
            <a:ext cx="4114800" cy="457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时域分析：　微分方程</a:t>
            </a:r>
            <a:endParaRPr lang="zh-CN" altLang="en-US" b="1" dirty="0">
              <a:latin typeface="Times New Roman" panose="02020603050405020304" pitchFamily="18" charset="0"/>
              <a:ea typeface="宋体" panose="02010600030101010101" pitchFamily="2" charset="-122"/>
            </a:endParaRPr>
          </a:p>
        </p:txBody>
      </p:sp>
      <p:sp>
        <p:nvSpPr>
          <p:cNvPr id="26631" name="Text Box 7"/>
          <p:cNvSpPr txBox="1"/>
          <p:nvPr/>
        </p:nvSpPr>
        <p:spPr>
          <a:xfrm>
            <a:off x="2571750" y="2714625"/>
            <a:ext cx="5256213" cy="457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频域分析：　连续时间傅立叶变换</a:t>
            </a:r>
            <a:endParaRPr lang="zh-CN" altLang="en-US" b="1" dirty="0">
              <a:latin typeface="Times New Roman" panose="02020603050405020304" pitchFamily="18" charset="0"/>
              <a:ea typeface="宋体" panose="02010600030101010101" pitchFamily="2" charset="-122"/>
            </a:endParaRPr>
          </a:p>
        </p:txBody>
      </p:sp>
      <p:sp>
        <p:nvSpPr>
          <p:cNvPr id="26632" name="Text Box 8"/>
          <p:cNvSpPr txBox="1"/>
          <p:nvPr/>
        </p:nvSpPr>
        <p:spPr>
          <a:xfrm>
            <a:off x="2590800" y="3581400"/>
            <a:ext cx="4502150" cy="460375"/>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复频域分析</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：拉普拉斯变换</a:t>
            </a:r>
            <a:endParaRPr lang="zh-CN" altLang="en-US" b="1" dirty="0">
              <a:latin typeface="Times New Roman" panose="02020603050405020304" pitchFamily="18" charset="0"/>
              <a:ea typeface="宋体" panose="02010600030101010101" pitchFamily="2" charset="-122"/>
            </a:endParaRPr>
          </a:p>
        </p:txBody>
      </p:sp>
      <p:sp>
        <p:nvSpPr>
          <p:cNvPr id="26633" name="Text Box 9"/>
          <p:cNvSpPr txBox="1"/>
          <p:nvPr/>
        </p:nvSpPr>
        <p:spPr>
          <a:xfrm>
            <a:off x="539750" y="5157788"/>
            <a:ext cx="2309813" cy="457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离散系统：</a:t>
            </a:r>
            <a:endParaRPr lang="zh-CN" altLang="en-US" b="1" dirty="0">
              <a:latin typeface="Times New Roman" panose="02020603050405020304" pitchFamily="18" charset="0"/>
              <a:ea typeface="宋体" panose="02010600030101010101" pitchFamily="2" charset="-122"/>
            </a:endParaRPr>
          </a:p>
        </p:txBody>
      </p:sp>
      <p:sp>
        <p:nvSpPr>
          <p:cNvPr id="26634" name="AutoShape 10"/>
          <p:cNvSpPr/>
          <p:nvPr/>
        </p:nvSpPr>
        <p:spPr>
          <a:xfrm>
            <a:off x="2124075" y="4508500"/>
            <a:ext cx="493713" cy="1811338"/>
          </a:xfrm>
          <a:prstGeom prst="leftBrace">
            <a:avLst>
              <a:gd name="adj1" fmla="val 30420"/>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26635" name="Text Box 11"/>
          <p:cNvSpPr txBox="1"/>
          <p:nvPr/>
        </p:nvSpPr>
        <p:spPr>
          <a:xfrm>
            <a:off x="2700338" y="4365625"/>
            <a:ext cx="3671887" cy="457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时域分析：　差分方程</a:t>
            </a:r>
            <a:endParaRPr lang="zh-CN" altLang="en-US" b="1" dirty="0">
              <a:latin typeface="Times New Roman" panose="02020603050405020304" pitchFamily="18" charset="0"/>
              <a:ea typeface="宋体" panose="02010600030101010101" pitchFamily="2" charset="-122"/>
            </a:endParaRPr>
          </a:p>
        </p:txBody>
      </p:sp>
      <p:sp>
        <p:nvSpPr>
          <p:cNvPr id="26637" name="Text Box 13"/>
          <p:cNvSpPr txBox="1"/>
          <p:nvPr/>
        </p:nvSpPr>
        <p:spPr>
          <a:xfrm>
            <a:off x="2700338" y="5229225"/>
            <a:ext cx="4824412" cy="829945"/>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频域分析：　离散</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时间</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傅立叶变换</a:t>
            </a:r>
            <a:endParaRPr lang="zh-CN" altLang="en-US" b="1" dirty="0">
              <a:latin typeface="Times New Roman" panose="02020603050405020304" pitchFamily="18" charset="0"/>
              <a:ea typeface="宋体" panose="02010600030101010101" pitchFamily="2" charset="-122"/>
            </a:endParaRPr>
          </a:p>
        </p:txBody>
      </p:sp>
      <p:sp>
        <p:nvSpPr>
          <p:cNvPr id="26638" name="Text Box 14"/>
          <p:cNvSpPr txBox="1"/>
          <p:nvPr/>
        </p:nvSpPr>
        <p:spPr>
          <a:xfrm>
            <a:off x="2700338" y="6021388"/>
            <a:ext cx="4103687" cy="457200"/>
          </a:xfrm>
          <a:prstGeom prst="rect">
            <a:avLst/>
          </a:prstGeom>
          <a:noFill/>
          <a:ln w="9525">
            <a:noFill/>
          </a:ln>
        </p:spPr>
        <p:txBody>
          <a:bodyPr anchor="t" anchorCtr="0">
            <a:spAutoFit/>
          </a:bodyPr>
          <a:p>
            <a:pPr>
              <a:spcBef>
                <a:spcPct val="50000"/>
              </a:spcBef>
            </a:pPr>
            <a:r>
              <a:rPr lang="zh-CN" altLang="en-US" b="1" dirty="0">
                <a:latin typeface="Times New Roman" panose="02020603050405020304" pitchFamily="18" charset="0"/>
                <a:ea typeface="宋体" panose="02010600030101010101" pitchFamily="2" charset="-122"/>
              </a:rPr>
              <a:t>复频域分析：Ｚ变换</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6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66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66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66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66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66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66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66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66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266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26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nimBg="1"/>
      <p:bldP spid="26628" grpId="0"/>
      <p:bldP spid="26629" grpId="0" animBg="1"/>
      <p:bldP spid="26630" grpId="0"/>
      <p:bldP spid="26631" grpId="0"/>
      <p:bldP spid="26632" grpId="0"/>
      <p:bldP spid="26633" grpId="0"/>
      <p:bldP spid="26634" grpId="0" animBg="1"/>
      <p:bldP spid="26635" grpId="0"/>
      <p:bldP spid="26637" grpId="0"/>
      <p:bldP spid="2663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Text Box 4"/>
          <p:cNvSpPr txBox="1"/>
          <p:nvPr/>
        </p:nvSpPr>
        <p:spPr>
          <a:xfrm>
            <a:off x="539750" y="423863"/>
            <a:ext cx="1250950" cy="519112"/>
          </a:xfrm>
          <a:prstGeom prst="rect">
            <a:avLst/>
          </a:prstGeom>
          <a:noFill/>
          <a:ln w="9525">
            <a:noFill/>
          </a:ln>
        </p:spPr>
        <p:txBody>
          <a:bodyPr wrap="none" anchor="t" anchorCtr="0">
            <a:spAutoFit/>
          </a:bodyPr>
          <a:p>
            <a:r>
              <a:rPr lang="zh-CN" altLang="en-US" sz="2800" b="1" dirty="0">
                <a:latin typeface="Times New Roman" panose="02020603050405020304" pitchFamily="18" charset="0"/>
                <a:ea typeface="宋体" panose="02010600030101010101" pitchFamily="2" charset="-122"/>
              </a:rPr>
              <a:t>小结</a:t>
            </a:r>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52226" name="Text Box 5"/>
          <p:cNvSpPr txBox="1"/>
          <p:nvPr/>
        </p:nvSpPr>
        <p:spPr>
          <a:xfrm>
            <a:off x="684213" y="1146175"/>
            <a:ext cx="3562350" cy="2654300"/>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1</a:t>
            </a:r>
            <a:r>
              <a:rPr lang="zh-CN" altLang="en-US" sz="2800" dirty="0">
                <a:latin typeface="Times New Roman" panose="02020603050405020304" pitchFamily="18" charset="0"/>
                <a:ea typeface="宋体" panose="02010600030101010101" pitchFamily="2" charset="-122"/>
              </a:rPr>
              <a:t>、信号与系统的概念</a:t>
            </a:r>
            <a:endParaRPr lang="zh-CN" altLang="en-US" sz="2800" dirty="0">
              <a:latin typeface="Times New Roman" panose="02020603050405020304" pitchFamily="18" charset="0"/>
              <a:ea typeface="宋体" panose="02010600030101010101" pitchFamily="2" charset="-122"/>
            </a:endParaRPr>
          </a:p>
          <a:p>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a:p>
            <a:endParaRPr lang="zh-CN" altLang="en-US" sz="2800" dirty="0">
              <a:latin typeface="Times New Roman" panose="02020603050405020304" pitchFamily="18" charset="0"/>
              <a:ea typeface="宋体" panose="02010600030101010101" pitchFamily="2" charset="-122"/>
            </a:endParaRPr>
          </a:p>
          <a:p>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a:p>
            <a:endParaRPr lang="zh-CN" altLang="en-US" sz="2800" dirty="0">
              <a:latin typeface="Times New Roman" panose="02020603050405020304" pitchFamily="18" charset="0"/>
              <a:ea typeface="宋体" panose="02010600030101010101" pitchFamily="2" charset="-122"/>
            </a:endParaRPr>
          </a:p>
          <a:p>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p:txBody>
      </p:sp>
      <p:sp>
        <p:nvSpPr>
          <p:cNvPr id="52227" name="Rectangle 6"/>
          <p:cNvSpPr/>
          <p:nvPr/>
        </p:nvSpPr>
        <p:spPr>
          <a:xfrm>
            <a:off x="1547813" y="1773238"/>
            <a:ext cx="6480175" cy="946150"/>
          </a:xfrm>
          <a:prstGeom prst="rect">
            <a:avLst/>
          </a:prstGeom>
          <a:noFill/>
          <a:ln w="9525">
            <a:noFill/>
          </a:ln>
        </p:spPr>
        <p:txBody>
          <a:bodyPr anchor="t" anchorCtr="0">
            <a:spAutoFit/>
          </a:bodyPr>
          <a:p>
            <a:r>
              <a:rPr lang="zh-CN" altLang="en-US" sz="2800" dirty="0">
                <a:solidFill>
                  <a:srgbClr val="0000FF"/>
                </a:solidFill>
                <a:latin typeface="Times New Roman" panose="02020603050405020304" pitchFamily="18" charset="0"/>
                <a:ea typeface="宋体" panose="02010600030101010101" pitchFamily="2" charset="-122"/>
              </a:rPr>
              <a:t>信号：信息的表现形式</a:t>
            </a:r>
            <a:endParaRPr lang="zh-CN" altLang="en-US" sz="2800" dirty="0">
              <a:solidFill>
                <a:srgbClr val="0000FF"/>
              </a:solidFill>
              <a:latin typeface="Times New Roman" panose="02020603050405020304" pitchFamily="18" charset="0"/>
              <a:ea typeface="宋体" panose="02010600030101010101" pitchFamily="2" charset="-122"/>
            </a:endParaRPr>
          </a:p>
          <a:p>
            <a:r>
              <a:rPr lang="zh-CN" altLang="en-US" sz="2800" dirty="0">
                <a:solidFill>
                  <a:srgbClr val="0000FF"/>
                </a:solidFill>
                <a:latin typeface="Times New Roman" panose="02020603050405020304" pitchFamily="18" charset="0"/>
                <a:ea typeface="宋体" panose="02010600030101010101" pitchFamily="2" charset="-122"/>
              </a:rPr>
              <a:t>系统：信息的交换、传输、处理与储存</a:t>
            </a:r>
            <a:endParaRPr lang="zh-CN" altLang="en-US" sz="2800" dirty="0">
              <a:solidFill>
                <a:srgbClr val="0000FF"/>
              </a:solidFill>
              <a:latin typeface="Times New Roman" panose="02020603050405020304" pitchFamily="18" charset="0"/>
              <a:ea typeface="宋体" panose="02010600030101010101" pitchFamily="2" charset="-122"/>
            </a:endParaRPr>
          </a:p>
        </p:txBody>
      </p:sp>
      <p:sp>
        <p:nvSpPr>
          <p:cNvPr id="52228" name="Rectangle 7"/>
          <p:cNvSpPr/>
          <p:nvPr/>
        </p:nvSpPr>
        <p:spPr>
          <a:xfrm>
            <a:off x="1547813" y="3429000"/>
            <a:ext cx="5040312" cy="946150"/>
          </a:xfrm>
          <a:prstGeom prst="rect">
            <a:avLst/>
          </a:prstGeom>
          <a:noFill/>
          <a:ln w="9525">
            <a:noFill/>
          </a:ln>
        </p:spPr>
        <p:txBody>
          <a:bodyPr anchor="t" anchorCtr="0">
            <a:spAutoFit/>
          </a:bodyPr>
          <a:p>
            <a:r>
              <a:rPr lang="zh-CN" altLang="en-US" sz="2800" dirty="0">
                <a:solidFill>
                  <a:srgbClr val="0000FF"/>
                </a:solidFill>
                <a:latin typeface="Times New Roman" panose="02020603050405020304" pitchFamily="18" charset="0"/>
                <a:ea typeface="宋体" panose="02010600030101010101" pitchFamily="2" charset="-122"/>
              </a:rPr>
              <a:t>连续时间信号</a:t>
            </a:r>
            <a:r>
              <a:rPr lang="en-US" altLang="zh-CN" sz="2800" dirty="0">
                <a:solidFill>
                  <a:srgbClr val="0000FF"/>
                </a:solidFill>
                <a:latin typeface="Times New Roman" panose="02020603050405020304" pitchFamily="18" charset="0"/>
                <a:ea typeface="宋体" panose="02010600030101010101" pitchFamily="2" charset="-122"/>
              </a:rPr>
              <a:t>—</a:t>
            </a:r>
            <a:r>
              <a:rPr lang="zh-CN" altLang="en-US" sz="2800" dirty="0">
                <a:solidFill>
                  <a:srgbClr val="0000FF"/>
                </a:solidFill>
                <a:latin typeface="Times New Roman" panose="02020603050405020304" pitchFamily="18" charset="0"/>
                <a:ea typeface="宋体" panose="02010600030101010101" pitchFamily="2" charset="-122"/>
              </a:rPr>
              <a:t>连续时间系统</a:t>
            </a:r>
            <a:endParaRPr lang="zh-CN" altLang="en-US" sz="2800" dirty="0">
              <a:solidFill>
                <a:srgbClr val="0000FF"/>
              </a:solidFill>
              <a:latin typeface="Times New Roman" panose="02020603050405020304" pitchFamily="18" charset="0"/>
              <a:ea typeface="宋体" panose="02010600030101010101" pitchFamily="2" charset="-122"/>
            </a:endParaRPr>
          </a:p>
          <a:p>
            <a:r>
              <a:rPr lang="zh-CN" altLang="en-US" sz="2800" dirty="0">
                <a:solidFill>
                  <a:srgbClr val="0000FF"/>
                </a:solidFill>
                <a:latin typeface="Times New Roman" panose="02020603050405020304" pitchFamily="18" charset="0"/>
                <a:ea typeface="宋体" panose="02010600030101010101" pitchFamily="2" charset="-122"/>
              </a:rPr>
              <a:t>离散时间信号</a:t>
            </a:r>
            <a:r>
              <a:rPr lang="en-US" altLang="zh-CN" sz="2800" dirty="0">
                <a:solidFill>
                  <a:srgbClr val="0000FF"/>
                </a:solidFill>
                <a:latin typeface="Times New Roman" panose="02020603050405020304" pitchFamily="18" charset="0"/>
                <a:ea typeface="宋体" panose="02010600030101010101" pitchFamily="2" charset="-122"/>
              </a:rPr>
              <a:t>—</a:t>
            </a:r>
            <a:r>
              <a:rPr lang="zh-CN" altLang="en-US" sz="2800" dirty="0">
                <a:solidFill>
                  <a:srgbClr val="0000FF"/>
                </a:solidFill>
                <a:latin typeface="Times New Roman" panose="02020603050405020304" pitchFamily="18" charset="0"/>
                <a:ea typeface="宋体" panose="02010600030101010101" pitchFamily="2" charset="-122"/>
              </a:rPr>
              <a:t>离散时间系统</a:t>
            </a:r>
            <a:endParaRPr lang="zh-CN" altLang="en-US" sz="2800" dirty="0">
              <a:solidFill>
                <a:srgbClr val="0000FF"/>
              </a:solidFill>
              <a:latin typeface="Times New Roman" panose="02020603050405020304" pitchFamily="18" charset="0"/>
              <a:ea typeface="宋体" panose="02010600030101010101" pitchFamily="2" charset="-122"/>
            </a:endParaRPr>
          </a:p>
        </p:txBody>
      </p:sp>
      <p:sp>
        <p:nvSpPr>
          <p:cNvPr id="52229" name="Rectangle 8"/>
          <p:cNvSpPr/>
          <p:nvPr/>
        </p:nvSpPr>
        <p:spPr>
          <a:xfrm>
            <a:off x="1476375" y="5157788"/>
            <a:ext cx="4362450" cy="946150"/>
          </a:xfrm>
          <a:prstGeom prst="rect">
            <a:avLst/>
          </a:prstGeom>
          <a:noFill/>
          <a:ln w="9525">
            <a:noFill/>
          </a:ln>
        </p:spPr>
        <p:txBody>
          <a:bodyPr anchor="t" anchorCtr="0">
            <a:spAutoFit/>
          </a:bodyPr>
          <a:p>
            <a:r>
              <a:rPr lang="en-US" altLang="zh-CN" sz="2800" dirty="0">
                <a:latin typeface="Times New Roman" panose="02020603050405020304" pitchFamily="18" charset="0"/>
                <a:ea typeface="宋体" panose="02010600030101010101" pitchFamily="2" charset="-122"/>
              </a:rPr>
              <a:t> </a:t>
            </a:r>
            <a:r>
              <a:rPr lang="zh-CN" altLang="en-US" sz="2800" dirty="0">
                <a:solidFill>
                  <a:srgbClr val="0000FF"/>
                </a:solidFill>
                <a:latin typeface="Times New Roman" panose="02020603050405020304" pitchFamily="18" charset="0"/>
                <a:ea typeface="宋体" panose="02010600030101010101" pitchFamily="2" charset="-122"/>
              </a:rPr>
              <a:t>信号分解</a:t>
            </a:r>
            <a:endParaRPr lang="zh-CN" altLang="en-US" sz="2800" dirty="0">
              <a:solidFill>
                <a:srgbClr val="0000FF"/>
              </a:solidFill>
              <a:latin typeface="Times New Roman" panose="02020603050405020304" pitchFamily="18" charset="0"/>
              <a:ea typeface="宋体" panose="02010600030101010101" pitchFamily="2" charset="-122"/>
            </a:endParaRPr>
          </a:p>
          <a:p>
            <a:r>
              <a:rPr lang="zh-CN" altLang="en-US" sz="2800" dirty="0">
                <a:solidFill>
                  <a:srgbClr val="0000FF"/>
                </a:solidFill>
                <a:latin typeface="Times New Roman" panose="02020603050405020304" pitchFamily="18" charset="0"/>
                <a:ea typeface="宋体" panose="02010600030101010101" pitchFamily="2" charset="-122"/>
              </a:rPr>
              <a:t> 时域、频域、复频域</a:t>
            </a:r>
            <a:endParaRPr lang="zh-CN" altLang="en-US" sz="2800" dirty="0">
              <a:solidFill>
                <a:srgbClr val="0000FF"/>
              </a:solidFill>
              <a:latin typeface="Times New Roman" panose="02020603050405020304" pitchFamily="18" charset="0"/>
              <a:ea typeface="宋体" panose="02010600030101010101" pitchFamily="2" charset="-122"/>
            </a:endParaRPr>
          </a:p>
        </p:txBody>
      </p:sp>
      <p:sp>
        <p:nvSpPr>
          <p:cNvPr id="52230" name="Rectangle 9"/>
          <p:cNvSpPr/>
          <p:nvPr/>
        </p:nvSpPr>
        <p:spPr>
          <a:xfrm>
            <a:off x="684213" y="2852738"/>
            <a:ext cx="3562350" cy="519112"/>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2</a:t>
            </a:r>
            <a:r>
              <a:rPr lang="zh-CN" altLang="en-US" sz="2800" dirty="0">
                <a:latin typeface="Times New Roman" panose="02020603050405020304" pitchFamily="18" charset="0"/>
                <a:ea typeface="宋体" panose="02010600030101010101" pitchFamily="2" charset="-122"/>
              </a:rPr>
              <a:t>、信号与系统的分类</a:t>
            </a:r>
            <a:endParaRPr lang="zh-CN" altLang="en-US" sz="2800" dirty="0">
              <a:latin typeface="Times New Roman" panose="02020603050405020304" pitchFamily="18" charset="0"/>
              <a:ea typeface="宋体" panose="02010600030101010101" pitchFamily="2" charset="-122"/>
            </a:endParaRPr>
          </a:p>
        </p:txBody>
      </p:sp>
      <p:sp>
        <p:nvSpPr>
          <p:cNvPr id="52231" name="Rectangle 10"/>
          <p:cNvSpPr/>
          <p:nvPr/>
        </p:nvSpPr>
        <p:spPr>
          <a:xfrm>
            <a:off x="611188" y="4508500"/>
            <a:ext cx="7118350" cy="519113"/>
          </a:xfrm>
          <a:prstGeom prst="rect">
            <a:avLst/>
          </a:prstGeom>
          <a:noFill/>
          <a:ln w="9525">
            <a:noFill/>
          </a:ln>
        </p:spPr>
        <p:txBody>
          <a:bodyPr wrap="none" anchor="t" anchorCtr="0">
            <a:spAutoFit/>
          </a:bodyPr>
          <a:p>
            <a:r>
              <a:rPr lang="en-US" altLang="zh-CN" sz="2800" dirty="0">
                <a:latin typeface="Times New Roman" panose="02020603050405020304" pitchFamily="18" charset="0"/>
                <a:ea typeface="宋体" panose="02010600030101010101" pitchFamily="2" charset="-122"/>
              </a:rPr>
              <a:t>3</a:t>
            </a:r>
            <a:r>
              <a:rPr lang="zh-CN" altLang="en-US" sz="2800" dirty="0">
                <a:latin typeface="Times New Roman" panose="02020603050405020304" pitchFamily="18" charset="0"/>
                <a:ea typeface="宋体" panose="02010600030101010101" pitchFamily="2" charset="-122"/>
              </a:rPr>
              <a:t>、信号与系统的分析方法</a:t>
            </a:r>
            <a:r>
              <a:rPr lang="en-US" altLang="zh-CN" sz="2800" dirty="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线性时不变系统</a:t>
            </a: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DIAGRAM_VIRTUALLY_FRAME" val="{&quot;height&quot;:227.5,&quot;left&quot;:34.25,&quot;top&quot;:24.62503937007874,&quot;width&quot;:501.62503937007875}"/>
</p:tagLst>
</file>

<file path=ppt/tags/tag7.xml><?xml version="1.0" encoding="utf-8"?>
<p:tagLst xmlns:p="http://schemas.openxmlformats.org/presentationml/2006/main">
  <p:tag name="KSO_WM_DIAGRAM_VIRTUALLY_FRAME" val="{&quot;height&quot;:227.5,&quot;left&quot;:34.25,&quot;top&quot;:24.62503937007874,&quot;width&quot;:501.62503937007875}"/>
</p:tagLst>
</file>

<file path=ppt/tags/tag8.xml><?xml version="1.0" encoding="utf-8"?>
<p:tagLst xmlns:p="http://schemas.openxmlformats.org/presentationml/2006/main">
  <p:tag name="KSO_WM_DIAGRAM_VIRTUALLY_FRAME" val="{&quot;height&quot;:227.5,&quot;left&quot;:34.25,&quot;top&quot;:24.62503937007874,&quot;width&quot;:501.62503937007875}"/>
</p:tagLst>
</file>

<file path=ppt/tags/tag9.xml><?xml version="1.0" encoding="utf-8"?>
<p:tagLst xmlns:p="http://schemas.openxmlformats.org/presentationml/2006/main">
  <p:tag name="KSO_WM_DIAGRAM_VIRTUALLY_FRAME" val="{&quot;height&quot;:227.5,&quot;left&quot;:34.25,&quot;top&quot;:24.62503937007874,&quot;width&quot;:501.62503937007875}"/>
</p:tagLst>
</file>

<file path=ppt/tags/tag10.xml><?xml version="1.0" encoding="utf-8"?>
<p:tagLst xmlns:p="http://schemas.openxmlformats.org/presentationml/2006/main">
  <p:tag name="KSO_WM_DIAGRAM_VIRTUALLY_FRAME" val="{&quot;height&quot;:227.5,&quot;left&quot;:34.25,&quot;top&quot;:24.62503937007874,&quot;width&quot;:501.62503937007875}"/>
</p:tagLst>
</file>

<file path=ppt/tags/tag11.xml><?xml version="1.0" encoding="utf-8"?>
<p:tagLst xmlns:p="http://schemas.openxmlformats.org/presentationml/2006/main">
  <p:tag name="KSO_WM_DIAGRAM_VIRTUALLY_FRAME" val="{&quot;height&quot;:227.5,&quot;left&quot;:34.25,&quot;top&quot;:24.62503937007874,&quot;width&quot;:501.62503937007875}"/>
</p:tagLst>
</file>

<file path=ppt/tags/tag12.xml><?xml version="1.0" encoding="utf-8"?>
<p:tagLst xmlns:p="http://schemas.openxmlformats.org/presentationml/2006/main">
  <p:tag name="KSO_WM_DIAGRAM_VIRTUALLY_FRAME" val="{&quot;height&quot;:227.5,&quot;left&quot;:34.25,&quot;top&quot;:24.62503937007874,&quot;width&quot;:501.62503937007875}"/>
</p:tagLst>
</file>

<file path=ppt/tags/tag13.xml><?xml version="1.0" encoding="utf-8"?>
<p:tagLst xmlns:p="http://schemas.openxmlformats.org/presentationml/2006/main">
  <p:tag name="KSO_WM_DIAGRAM_VIRTUALLY_FRAME" val="{&quot;height&quot;:227.5,&quot;left&quot;:34.25,&quot;top&quot;:24.62503937007874,&quot;width&quot;:501.62503937007875}"/>
</p:tagLst>
</file>

<file path=ppt/tags/tag14.xml><?xml version="1.0" encoding="utf-8"?>
<p:tagLst xmlns:p="http://schemas.openxmlformats.org/presentationml/2006/main">
  <p:tag name="KSO_WPP_MARK_KEY" val="691ea80e-1249-45b6-b8f1-344bb4ec95db"/>
  <p:tag name="COMMONDATA" val="eyJoZGlkIjoiNDk0ZDcyN2ZiZjBjNTM3ZDk5MGMwYmJiM2U2N2IzNWQifQ=="/>
</p:tagLst>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Designs\Pulse.pot</Template>
  <TotalTime>0</TotalTime>
  <Words>3957</Words>
  <Application>WPS 演示</Application>
  <PresentationFormat>全屏显示(4:3)</PresentationFormat>
  <Paragraphs>438</Paragraphs>
  <Slides>32</Slides>
  <Notes>21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42</vt:i4>
      </vt:variant>
      <vt:variant>
        <vt:lpstr>幻灯片标题</vt:lpstr>
      </vt:variant>
      <vt:variant>
        <vt:i4>32</vt:i4>
      </vt:variant>
    </vt:vector>
  </HeadingPairs>
  <TitlesOfParts>
    <vt:vector size="85" baseType="lpstr">
      <vt:lpstr>Arial</vt:lpstr>
      <vt:lpstr>宋体</vt:lpstr>
      <vt:lpstr>Wingdings</vt:lpstr>
      <vt:lpstr>Times New Roman</vt:lpstr>
      <vt:lpstr>隶书</vt:lpstr>
      <vt:lpstr>楷体_GB2312</vt:lpstr>
      <vt:lpstr>新宋体</vt:lpstr>
      <vt:lpstr>华文楷体</vt:lpstr>
      <vt:lpstr>微软雅黑</vt:lpstr>
      <vt:lpstr>Arial Unicode MS</vt:lpstr>
      <vt:lpstr>默认设计模板</vt:lpstr>
      <vt:lpstr>Equation.3</vt:lpstr>
      <vt:lpstr>Equation.3</vt:lpstr>
      <vt:lpstr>Equation.3</vt:lpstr>
      <vt:lpstr>Equation.3</vt:lpstr>
      <vt:lpstr>Equation.3</vt:lpstr>
      <vt:lpstr>Equation.3</vt:lpstr>
      <vt:lpstr>Equation.3</vt:lpstr>
      <vt:lpstr>Equation.3</vt:lpstr>
      <vt:lpstr>Visio.Drawing.6</vt:lpstr>
      <vt:lpstr>Equation.3</vt:lpstr>
      <vt:lpstr>Equation.3</vt:lpstr>
      <vt:lpstr>Equation.3</vt:lpstr>
      <vt:lpstr>Equation.3</vt:lpstr>
      <vt:lpstr>Equation.3</vt:lpstr>
      <vt:lpstr>Equation.3</vt:lpstr>
      <vt:lpstr>Equation.3</vt:lpstr>
      <vt:lpstr>Visio.Drawing.11</vt:lpstr>
      <vt:lpstr>Visio.Drawing.11</vt:lpstr>
      <vt:lpstr>Equation.3</vt:lpstr>
      <vt:lpstr>Equation.3</vt:lpstr>
      <vt:lpstr>Equation.3</vt:lpstr>
      <vt:lpstr>Equation.3</vt:lpstr>
      <vt:lpstr>Visio.Drawing.6</vt:lpstr>
      <vt:lpstr>Equation.3</vt:lpstr>
      <vt:lpstr>Equation.3</vt:lpstr>
      <vt:lpstr>Equation.3</vt:lpstr>
      <vt:lpstr>Equation.3</vt:lpstr>
      <vt:lpstr>Equation.3</vt:lpstr>
      <vt:lpstr>Equation.3</vt:lpstr>
      <vt:lpstr>Equation.3</vt:lpstr>
      <vt:lpstr>Equation.3</vt:lpstr>
      <vt:lpstr>Equation.3</vt:lpstr>
      <vt:lpstr>Equation.3</vt:lpstr>
      <vt:lpstr>Visio.Drawing.6</vt:lpstr>
      <vt:lpstr>Equation.3</vt:lpstr>
      <vt:lpstr>Equation.3</vt:lpstr>
      <vt:lpstr>Equation.3</vt:lpstr>
      <vt:lpstr>Equation.3</vt:lpstr>
      <vt:lpstr>Equation.3</vt:lpstr>
      <vt:lpstr>Equation.3</vt:lpstr>
      <vt:lpstr>Equation.3</vt:lpstr>
      <vt:lpstr>Equation.3</vt:lpstr>
      <vt:lpstr>信号与线性系统</vt:lpstr>
      <vt:lpstr>PowerPoint 演示文稿</vt:lpstr>
      <vt:lpstr>信号与系统问题无处不在</vt:lpstr>
      <vt:lpstr>人机交互</vt:lpstr>
      <vt:lpstr>体感交互：手势识别</vt:lpstr>
      <vt:lpstr>基于视觉的手势识别</vt:lpstr>
      <vt:lpstr>基于WiFi信号手势识别应用举例</vt:lpstr>
      <vt:lpstr>基于WiFi信号手势识别应用举例</vt:lpstr>
      <vt:lpstr>基于WiFi信号手势识别应用举例</vt:lpstr>
      <vt:lpstr>脑功能信号检测应用举例</vt:lpstr>
      <vt:lpstr>信息科学已渗透到所有现代 自然科学和社会科学领域</vt:lpstr>
      <vt:lpstr>PowerPoint 演示文稿</vt:lpstr>
      <vt:lpstr>课程内容</vt:lpstr>
      <vt:lpstr>课程内容</vt:lpstr>
      <vt:lpstr>课程内容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信号与线性系统</dc:title>
  <dc:creator>dzf</dc:creator>
  <dc:subject>绪论</dc:subject>
  <cp:lastModifiedBy>john</cp:lastModifiedBy>
  <cp:revision>212</cp:revision>
  <dcterms:created xsi:type="dcterms:W3CDTF">2004-01-23T09:09:00Z</dcterms:created>
  <dcterms:modified xsi:type="dcterms:W3CDTF">2026-03-01T03:10:19Z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C5864083F12E4F9FA6E0EF054F44EC3C</vt:lpwstr>
  </property>
</Properties>
</file>